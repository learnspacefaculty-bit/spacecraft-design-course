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1" r:id="rId15"/>
    <p:sldId id="272" r:id="rId16"/>
    <p:sldId id="273" r:id="rId17"/>
    <p:sldId id="274" r:id="rId18"/>
  </p:sldIdLst>
  <p:sldSz cx="10693400" cy="7556500"/>
  <p:notesSz cx="6858000" cy="9144000"/>
  <p:embeddedFontLst>
    <p:embeddedFont>
      <p:font typeface="Montserrat" panose="00000500000000000000" pitchFamily="2"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138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7588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Day 3, Thursday 15 October. 15:15-17:00, 1 h 45. Follows Lecture 2, Power and thermal.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Mounting the power-generating faces. No code.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jpeg"/><Relationship Id="rId7"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jpeg"/><Relationship Id="rId11" Type="http://schemas.openxmlformats.org/officeDocument/2006/relationships/image" Target="../media/image12.jpeg"/><Relationship Id="rId5" Type="http://schemas.openxmlformats.org/officeDocument/2006/relationships/image" Target="../media/image6.jpeg"/><Relationship Id="rId10" Type="http://schemas.openxmlformats.org/officeDocument/2006/relationships/image" Target="../media/image11.jpeg"/><Relationship Id="rId4" Type="http://schemas.openxmlformats.org/officeDocument/2006/relationships/image" Target="../media/image5.jpeg"/><Relationship Id="rId9"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23.jpeg"/><Relationship Id="rId2"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1.png"/><Relationship Id="rId4" Type="http://schemas.openxmlformats.org/officeDocument/2006/relationships/image" Target="../media/image20.svg"/></Relationships>
</file>

<file path=ppt/slides/_rels/slide9.xml.rels><?xml version="1.0" encoding="UTF-8" standalone="yes"?>
<Relationships xmlns="http://schemas.openxmlformats.org/package/2006/relationships"><Relationship Id="rId26" Type="http://schemas.openxmlformats.org/officeDocument/2006/relationships/image" Target="../media/image47.jpeg"/><Relationship Id="rId21" Type="http://schemas.openxmlformats.org/officeDocument/2006/relationships/image" Target="../media/image42.jpeg"/><Relationship Id="rId42" Type="http://schemas.openxmlformats.org/officeDocument/2006/relationships/image" Target="../media/image63.jpeg"/><Relationship Id="rId47" Type="http://schemas.openxmlformats.org/officeDocument/2006/relationships/image" Target="../media/image68.jpeg"/><Relationship Id="rId63" Type="http://schemas.openxmlformats.org/officeDocument/2006/relationships/image" Target="../media/image84.jpeg"/><Relationship Id="rId68" Type="http://schemas.openxmlformats.org/officeDocument/2006/relationships/image" Target="../media/image89.jpeg"/><Relationship Id="rId7" Type="http://schemas.openxmlformats.org/officeDocument/2006/relationships/image" Target="../media/image28.jpeg"/><Relationship Id="rId2" Type="http://schemas.openxmlformats.org/officeDocument/2006/relationships/image" Target="../media/image1.jpeg"/><Relationship Id="rId16" Type="http://schemas.openxmlformats.org/officeDocument/2006/relationships/image" Target="../media/image37.jpeg"/><Relationship Id="rId29" Type="http://schemas.openxmlformats.org/officeDocument/2006/relationships/image" Target="../media/image50.jpeg"/><Relationship Id="rId11" Type="http://schemas.openxmlformats.org/officeDocument/2006/relationships/image" Target="../media/image32.jpeg"/><Relationship Id="rId24" Type="http://schemas.openxmlformats.org/officeDocument/2006/relationships/image" Target="../media/image45.jpeg"/><Relationship Id="rId32" Type="http://schemas.openxmlformats.org/officeDocument/2006/relationships/image" Target="../media/image53.jpeg"/><Relationship Id="rId37" Type="http://schemas.openxmlformats.org/officeDocument/2006/relationships/image" Target="../media/image58.jpeg"/><Relationship Id="rId40" Type="http://schemas.openxmlformats.org/officeDocument/2006/relationships/image" Target="../media/image61.jpeg"/><Relationship Id="rId45" Type="http://schemas.openxmlformats.org/officeDocument/2006/relationships/image" Target="../media/image66.jpeg"/><Relationship Id="rId53" Type="http://schemas.openxmlformats.org/officeDocument/2006/relationships/image" Target="../media/image74.jpeg"/><Relationship Id="rId58" Type="http://schemas.openxmlformats.org/officeDocument/2006/relationships/image" Target="../media/image79.jpeg"/><Relationship Id="rId66" Type="http://schemas.openxmlformats.org/officeDocument/2006/relationships/image" Target="../media/image87.jpeg"/><Relationship Id="rId5" Type="http://schemas.openxmlformats.org/officeDocument/2006/relationships/image" Target="../media/image26.jpeg"/><Relationship Id="rId61" Type="http://schemas.openxmlformats.org/officeDocument/2006/relationships/image" Target="../media/image82.jpeg"/><Relationship Id="rId19" Type="http://schemas.openxmlformats.org/officeDocument/2006/relationships/image" Target="../media/image40.jpeg"/><Relationship Id="rId14" Type="http://schemas.openxmlformats.org/officeDocument/2006/relationships/image" Target="../media/image35.jpeg"/><Relationship Id="rId22" Type="http://schemas.openxmlformats.org/officeDocument/2006/relationships/image" Target="../media/image43.jpeg"/><Relationship Id="rId27" Type="http://schemas.openxmlformats.org/officeDocument/2006/relationships/image" Target="../media/image48.jpeg"/><Relationship Id="rId30" Type="http://schemas.openxmlformats.org/officeDocument/2006/relationships/image" Target="../media/image51.jpeg"/><Relationship Id="rId35" Type="http://schemas.openxmlformats.org/officeDocument/2006/relationships/image" Target="../media/image56.jpeg"/><Relationship Id="rId43" Type="http://schemas.openxmlformats.org/officeDocument/2006/relationships/image" Target="../media/image64.jpeg"/><Relationship Id="rId48" Type="http://schemas.openxmlformats.org/officeDocument/2006/relationships/image" Target="../media/image69.jpeg"/><Relationship Id="rId56" Type="http://schemas.openxmlformats.org/officeDocument/2006/relationships/image" Target="../media/image77.jpeg"/><Relationship Id="rId64" Type="http://schemas.openxmlformats.org/officeDocument/2006/relationships/image" Target="../media/image85.jpeg"/><Relationship Id="rId69" Type="http://schemas.openxmlformats.org/officeDocument/2006/relationships/image" Target="../media/image90.jpeg"/><Relationship Id="rId8" Type="http://schemas.openxmlformats.org/officeDocument/2006/relationships/image" Target="../media/image29.jpeg"/><Relationship Id="rId51" Type="http://schemas.openxmlformats.org/officeDocument/2006/relationships/image" Target="../media/image72.jpeg"/><Relationship Id="rId3" Type="http://schemas.openxmlformats.org/officeDocument/2006/relationships/image" Target="../media/image2.jpeg"/><Relationship Id="rId12" Type="http://schemas.openxmlformats.org/officeDocument/2006/relationships/image" Target="../media/image33.jpeg"/><Relationship Id="rId17" Type="http://schemas.openxmlformats.org/officeDocument/2006/relationships/image" Target="../media/image38.jpeg"/><Relationship Id="rId25" Type="http://schemas.openxmlformats.org/officeDocument/2006/relationships/image" Target="../media/image46.jpeg"/><Relationship Id="rId33" Type="http://schemas.openxmlformats.org/officeDocument/2006/relationships/image" Target="../media/image54.jpeg"/><Relationship Id="rId38" Type="http://schemas.openxmlformats.org/officeDocument/2006/relationships/image" Target="../media/image59.jpeg"/><Relationship Id="rId46" Type="http://schemas.openxmlformats.org/officeDocument/2006/relationships/image" Target="../media/image67.jpeg"/><Relationship Id="rId59" Type="http://schemas.openxmlformats.org/officeDocument/2006/relationships/image" Target="../media/image80.jpeg"/><Relationship Id="rId67" Type="http://schemas.openxmlformats.org/officeDocument/2006/relationships/image" Target="../media/image88.jpeg"/><Relationship Id="rId20" Type="http://schemas.openxmlformats.org/officeDocument/2006/relationships/image" Target="../media/image41.jpeg"/><Relationship Id="rId41" Type="http://schemas.openxmlformats.org/officeDocument/2006/relationships/image" Target="../media/image62.jpeg"/><Relationship Id="rId54" Type="http://schemas.openxmlformats.org/officeDocument/2006/relationships/image" Target="../media/image75.jpeg"/><Relationship Id="rId62" Type="http://schemas.openxmlformats.org/officeDocument/2006/relationships/image" Target="../media/image83.jpeg"/><Relationship Id="rId70" Type="http://schemas.openxmlformats.org/officeDocument/2006/relationships/image" Target="../media/image91.jpeg"/><Relationship Id="rId1" Type="http://schemas.openxmlformats.org/officeDocument/2006/relationships/slideLayout" Target="../slideLayouts/slideLayout7.xml"/><Relationship Id="rId6" Type="http://schemas.openxmlformats.org/officeDocument/2006/relationships/image" Target="../media/image27.jpeg"/><Relationship Id="rId15" Type="http://schemas.openxmlformats.org/officeDocument/2006/relationships/image" Target="../media/image36.jpeg"/><Relationship Id="rId23" Type="http://schemas.openxmlformats.org/officeDocument/2006/relationships/image" Target="../media/image44.jpeg"/><Relationship Id="rId28" Type="http://schemas.openxmlformats.org/officeDocument/2006/relationships/image" Target="../media/image49.jpeg"/><Relationship Id="rId36" Type="http://schemas.openxmlformats.org/officeDocument/2006/relationships/image" Target="../media/image57.jpeg"/><Relationship Id="rId49" Type="http://schemas.openxmlformats.org/officeDocument/2006/relationships/image" Target="../media/image70.jpeg"/><Relationship Id="rId57" Type="http://schemas.openxmlformats.org/officeDocument/2006/relationships/image" Target="../media/image78.jpeg"/><Relationship Id="rId10" Type="http://schemas.openxmlformats.org/officeDocument/2006/relationships/image" Target="../media/image31.jpeg"/><Relationship Id="rId31" Type="http://schemas.openxmlformats.org/officeDocument/2006/relationships/image" Target="../media/image52.jpeg"/><Relationship Id="rId44" Type="http://schemas.openxmlformats.org/officeDocument/2006/relationships/image" Target="../media/image65.jpeg"/><Relationship Id="rId52" Type="http://schemas.openxmlformats.org/officeDocument/2006/relationships/image" Target="../media/image73.jpeg"/><Relationship Id="rId60" Type="http://schemas.openxmlformats.org/officeDocument/2006/relationships/image" Target="../media/image81.jpeg"/><Relationship Id="rId65" Type="http://schemas.openxmlformats.org/officeDocument/2006/relationships/image" Target="../media/image86.jpeg"/><Relationship Id="rId4" Type="http://schemas.openxmlformats.org/officeDocument/2006/relationships/image" Target="../media/image25.jpeg"/><Relationship Id="rId9" Type="http://schemas.openxmlformats.org/officeDocument/2006/relationships/image" Target="../media/image30.jpeg"/><Relationship Id="rId13" Type="http://schemas.openxmlformats.org/officeDocument/2006/relationships/image" Target="../media/image34.jpeg"/><Relationship Id="rId18" Type="http://schemas.openxmlformats.org/officeDocument/2006/relationships/image" Target="../media/image39.jpeg"/><Relationship Id="rId39" Type="http://schemas.openxmlformats.org/officeDocument/2006/relationships/image" Target="../media/image60.jpeg"/><Relationship Id="rId34" Type="http://schemas.openxmlformats.org/officeDocument/2006/relationships/image" Target="../media/image55.jpeg"/><Relationship Id="rId50" Type="http://schemas.openxmlformats.org/officeDocument/2006/relationships/image" Target="../media/image71.jpeg"/><Relationship Id="rId55" Type="http://schemas.openxmlformats.org/officeDocument/2006/relationships/image" Target="../media/image76.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3.png"/><Relationship Id="rId4" Type="http://schemas.openxmlformats.org/officeDocument/2006/relationships/image" Target="../media/image92.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5.png"/><Relationship Id="rId4" Type="http://schemas.openxmlformats.org/officeDocument/2006/relationships/image" Target="../media/image94.jpe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96.sv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8.jpeg"/><Relationship Id="rId4" Type="http://schemas.openxmlformats.org/officeDocument/2006/relationships/image" Target="../media/image97.jpeg"/></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99.svg"/><Relationship Id="rId5" Type="http://schemas.openxmlformats.org/officeDocument/2006/relationships/image" Target="../media/image21.png"/><Relationship Id="rId4" Type="http://schemas.openxmlformats.org/officeDocument/2006/relationships/image" Target="../media/image20.svg"/></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100.svg"/><Relationship Id="rId5" Type="http://schemas.openxmlformats.org/officeDocument/2006/relationships/image" Target="../media/image21.png"/><Relationship Id="rId4" Type="http://schemas.openxmlformats.org/officeDocument/2006/relationships/image" Target="../media/image20.svg"/></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102.jpeg"/><Relationship Id="rId2"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101.svg"/><Relationship Id="rId5" Type="http://schemas.openxmlformats.org/officeDocument/2006/relationships/image" Target="../media/image21.png"/><Relationship Id="rId4" Type="http://schemas.openxmlformats.org/officeDocument/2006/relationships/image" Target="../media/image20.svg"/></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103.svg"/><Relationship Id="rId5" Type="http://schemas.openxmlformats.org/officeDocument/2006/relationships/image" Target="../media/image21.png"/><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3"/>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4"/>
              <a:stretch>
                <a:fillRect l="-514" b="-206"/>
              </a:stretch>
            </a:blipFill>
          </p:spPr>
          <p:txBody>
            <a:bodyPr/>
            <a:lstStyle/>
            <a:p>
              <a:endParaRPr lang="en-SG"/>
            </a:p>
          </p:txBody>
        </p:sp>
      </p:grpSp>
      <p:grpSp>
        <p:nvGrpSpPr>
          <p:cNvPr id="9" name="Group 9"/>
          <p:cNvGrpSpPr/>
          <p:nvPr/>
        </p:nvGrpSpPr>
        <p:grpSpPr>
          <a:xfrm>
            <a:off x="5506212" y="2859024"/>
            <a:ext cx="1565148" cy="515112"/>
            <a:chOff x="0" y="0"/>
            <a:chExt cx="2086864" cy="686816"/>
          </a:xfrm>
        </p:grpSpPr>
        <p:sp>
          <p:nvSpPr>
            <p:cNvPr id="10" name="Freeform 10"/>
            <p:cNvSpPr/>
            <p:nvPr/>
          </p:nvSpPr>
          <p:spPr>
            <a:xfrm>
              <a:off x="0" y="0"/>
              <a:ext cx="2086864" cy="686816"/>
            </a:xfrm>
            <a:custGeom>
              <a:avLst/>
              <a:gdLst/>
              <a:ahLst/>
              <a:cxnLst/>
              <a:rect l="l" t="t" r="r" b="b"/>
              <a:pathLst>
                <a:path w="2086864" h="686816">
                  <a:moveTo>
                    <a:pt x="0" y="0"/>
                  </a:moveTo>
                  <a:lnTo>
                    <a:pt x="2086864" y="0"/>
                  </a:lnTo>
                  <a:lnTo>
                    <a:pt x="2086864" y="686816"/>
                  </a:lnTo>
                  <a:lnTo>
                    <a:pt x="0" y="686816"/>
                  </a:lnTo>
                  <a:lnTo>
                    <a:pt x="0" y="0"/>
                  </a:lnTo>
                  <a:close/>
                </a:path>
              </a:pathLst>
            </a:custGeom>
            <a:blipFill>
              <a:blip r:embed="rId5"/>
              <a:stretch>
                <a:fillRect l="-97"/>
              </a:stretch>
            </a:blipFill>
          </p:spPr>
          <p:txBody>
            <a:bodyPr/>
            <a:lstStyle/>
            <a:p>
              <a:endParaRPr lang="en-SG"/>
            </a:p>
          </p:txBody>
        </p:sp>
      </p:grpSp>
      <p:grpSp>
        <p:nvGrpSpPr>
          <p:cNvPr id="11" name="Group 11"/>
          <p:cNvGrpSpPr/>
          <p:nvPr/>
        </p:nvGrpSpPr>
        <p:grpSpPr>
          <a:xfrm>
            <a:off x="5506212" y="3371088"/>
            <a:ext cx="1565148" cy="1054608"/>
            <a:chOff x="0" y="0"/>
            <a:chExt cx="2086864" cy="1406144"/>
          </a:xfrm>
        </p:grpSpPr>
        <p:sp>
          <p:nvSpPr>
            <p:cNvPr id="12" name="Freeform 12"/>
            <p:cNvSpPr/>
            <p:nvPr/>
          </p:nvSpPr>
          <p:spPr>
            <a:xfrm>
              <a:off x="0" y="0"/>
              <a:ext cx="2086864" cy="1406144"/>
            </a:xfrm>
            <a:custGeom>
              <a:avLst/>
              <a:gdLst/>
              <a:ahLst/>
              <a:cxnLst/>
              <a:rect l="l" t="t" r="r" b="b"/>
              <a:pathLst>
                <a:path w="2086864" h="1406144">
                  <a:moveTo>
                    <a:pt x="0" y="0"/>
                  </a:moveTo>
                  <a:lnTo>
                    <a:pt x="2086864" y="0"/>
                  </a:lnTo>
                  <a:lnTo>
                    <a:pt x="2086864" y="1406144"/>
                  </a:lnTo>
                  <a:lnTo>
                    <a:pt x="0" y="1406144"/>
                  </a:lnTo>
                  <a:lnTo>
                    <a:pt x="0" y="0"/>
                  </a:lnTo>
                  <a:close/>
                </a:path>
              </a:pathLst>
            </a:custGeom>
            <a:blipFill>
              <a:blip r:embed="rId6"/>
              <a:stretch>
                <a:fillRect/>
              </a:stretch>
            </a:blipFill>
          </p:spPr>
          <p:txBody>
            <a:bodyPr/>
            <a:lstStyle/>
            <a:p>
              <a:endParaRPr lang="en-SG"/>
            </a:p>
          </p:txBody>
        </p:sp>
      </p:grpSp>
      <p:sp>
        <p:nvSpPr>
          <p:cNvPr id="13" name="TextBox 13"/>
          <p:cNvSpPr txBox="1"/>
          <p:nvPr/>
        </p:nvSpPr>
        <p:spPr>
          <a:xfrm>
            <a:off x="1632385" y="1334119"/>
            <a:ext cx="8778240" cy="523504"/>
          </a:xfrm>
          <a:prstGeom prst="rect">
            <a:avLst/>
          </a:prstGeom>
        </p:spPr>
        <p:txBody>
          <a:bodyPr wrap="square"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Design &amp; Integration</a:t>
            </a:r>
          </a:p>
        </p:txBody>
      </p:sp>
      <p:sp>
        <p:nvSpPr>
          <p:cNvPr id="14" name="TextBox 14"/>
          <p:cNvSpPr txBox="1"/>
          <p:nvPr/>
        </p:nvSpPr>
        <p:spPr>
          <a:xfrm>
            <a:off x="1632109" y="2514676"/>
            <a:ext cx="5120640" cy="801776"/>
          </a:xfrm>
          <a:prstGeom prst="rect">
            <a:avLst/>
          </a:prstGeom>
        </p:spPr>
        <p:txBody>
          <a:bodyPr wrap="square" lIns="0" tIns="0" rIns="0" bIns="0" rtlCol="0" anchor="t">
            <a:spAutoFit/>
          </a:bodyPr>
          <a:lstStyle/>
          <a:p>
            <a:pPr algn="l">
              <a:lnSpc>
                <a:spcPts val="6552"/>
              </a:lnSpc>
            </a:pPr>
            <a:r>
              <a:rPr lang="en-US" sz="4000" spc="88">
                <a:solidFill>
                  <a:srgbClr val="2C2C2C"/>
                </a:solidFill>
                <a:latin typeface="Montserrat"/>
                <a:ea typeface="Montserrat"/>
                <a:cs typeface="Montserrat"/>
                <a:sym typeface="Montserrat"/>
              </a:rPr>
              <a:t>Build Session 2</a:t>
            </a:r>
          </a:p>
        </p:txBody>
      </p:sp>
      <p:sp>
        <p:nvSpPr>
          <p:cNvPr id="15" name="TextBox 13"/>
          <p:cNvSpPr txBox="1"/>
          <p:nvPr/>
        </p:nvSpPr>
        <p:spPr>
          <a:xfrm>
            <a:off x="1632385" y="4617720"/>
            <a:ext cx="7863840" cy="1097280"/>
          </a:xfrm>
          <a:prstGeom prst="rect">
            <a:avLst/>
          </a:prstGeom>
        </p:spPr>
        <p:txBody>
          <a:bodyPr wrap="square" lIns="0" tIns="0" rIns="0" bIns="0" rtlCol="0" anchor="t">
            <a:spAutoFit/>
          </a:bodyPr>
          <a:lstStyle/>
          <a:p>
            <a:pPr algn="l">
              <a:lnSpc>
                <a:spcPts val="4267"/>
              </a:lnSpc>
            </a:pPr>
            <a:r>
              <a:rPr lang="en-US" sz="1800">
                <a:solidFill>
                  <a:srgbClr val="2C2C2C"/>
                </a:solidFill>
                <a:latin typeface="Montserrat"/>
                <a:ea typeface="Montserrat"/>
                <a:cs typeface="Montserrat"/>
                <a:sym typeface="Montserrat"/>
              </a:rPr>
              <a:t>Power integration and telemetry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3"/>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4"/>
              <a:stretch>
                <a:fillRect l="-514" b="-206"/>
              </a:stretch>
            </a:blipFill>
          </p:spPr>
          <p:txBody>
            <a:bodyPr/>
            <a:lstStyle/>
            <a:p>
              <a:endParaRPr lang="en-SG"/>
            </a:p>
          </p:txBody>
        </p:sp>
      </p:grpSp>
      <p:grpSp>
        <p:nvGrpSpPr>
          <p:cNvPr id="9" name="Group 9"/>
          <p:cNvGrpSpPr/>
          <p:nvPr/>
        </p:nvGrpSpPr>
        <p:grpSpPr>
          <a:xfrm>
            <a:off x="5506212" y="2859024"/>
            <a:ext cx="1565148" cy="515112"/>
            <a:chOff x="0" y="0"/>
            <a:chExt cx="2086864" cy="686816"/>
          </a:xfrm>
        </p:grpSpPr>
        <p:sp>
          <p:nvSpPr>
            <p:cNvPr id="10" name="Freeform 10"/>
            <p:cNvSpPr/>
            <p:nvPr/>
          </p:nvSpPr>
          <p:spPr>
            <a:xfrm>
              <a:off x="0" y="0"/>
              <a:ext cx="2086864" cy="686816"/>
            </a:xfrm>
            <a:custGeom>
              <a:avLst/>
              <a:gdLst/>
              <a:ahLst/>
              <a:cxnLst/>
              <a:rect l="l" t="t" r="r" b="b"/>
              <a:pathLst>
                <a:path w="2086864" h="686816">
                  <a:moveTo>
                    <a:pt x="0" y="0"/>
                  </a:moveTo>
                  <a:lnTo>
                    <a:pt x="2086864" y="0"/>
                  </a:lnTo>
                  <a:lnTo>
                    <a:pt x="2086864" y="686816"/>
                  </a:lnTo>
                  <a:lnTo>
                    <a:pt x="0" y="686816"/>
                  </a:lnTo>
                  <a:lnTo>
                    <a:pt x="0" y="0"/>
                  </a:lnTo>
                  <a:close/>
                </a:path>
              </a:pathLst>
            </a:custGeom>
            <a:blipFill>
              <a:blip r:embed="rId5"/>
              <a:stretch>
                <a:fillRect l="-97"/>
              </a:stretch>
            </a:blipFill>
          </p:spPr>
          <p:txBody>
            <a:bodyPr/>
            <a:lstStyle/>
            <a:p>
              <a:endParaRPr lang="en-SG"/>
            </a:p>
          </p:txBody>
        </p:sp>
      </p:grpSp>
      <p:grpSp>
        <p:nvGrpSpPr>
          <p:cNvPr id="11" name="Group 11"/>
          <p:cNvGrpSpPr/>
          <p:nvPr/>
        </p:nvGrpSpPr>
        <p:grpSpPr>
          <a:xfrm>
            <a:off x="5506212" y="3371088"/>
            <a:ext cx="1565148" cy="1054608"/>
            <a:chOff x="0" y="0"/>
            <a:chExt cx="2086864" cy="1406144"/>
          </a:xfrm>
        </p:grpSpPr>
        <p:sp>
          <p:nvSpPr>
            <p:cNvPr id="12" name="Freeform 12"/>
            <p:cNvSpPr/>
            <p:nvPr/>
          </p:nvSpPr>
          <p:spPr>
            <a:xfrm>
              <a:off x="0" y="0"/>
              <a:ext cx="2086864" cy="1406144"/>
            </a:xfrm>
            <a:custGeom>
              <a:avLst/>
              <a:gdLst/>
              <a:ahLst/>
              <a:cxnLst/>
              <a:rect l="l" t="t" r="r" b="b"/>
              <a:pathLst>
                <a:path w="2086864" h="1406144">
                  <a:moveTo>
                    <a:pt x="0" y="0"/>
                  </a:moveTo>
                  <a:lnTo>
                    <a:pt x="2086864" y="0"/>
                  </a:lnTo>
                  <a:lnTo>
                    <a:pt x="2086864" y="1406144"/>
                  </a:lnTo>
                  <a:lnTo>
                    <a:pt x="0" y="1406144"/>
                  </a:lnTo>
                  <a:lnTo>
                    <a:pt x="0" y="0"/>
                  </a:lnTo>
                  <a:close/>
                </a:path>
              </a:pathLst>
            </a:custGeom>
            <a:blipFill>
              <a:blip r:embed="rId6"/>
              <a:stretch>
                <a:fillRect/>
              </a:stretch>
            </a:blipFill>
          </p:spPr>
          <p:txBody>
            <a:bodyPr/>
            <a:lstStyle/>
            <a:p>
              <a:endParaRPr lang="en-SG"/>
            </a:p>
          </p:txBody>
        </p:sp>
      </p:grpSp>
      <p:sp>
        <p:nvSpPr>
          <p:cNvPr id="13" name="TextBox 13"/>
          <p:cNvSpPr txBox="1"/>
          <p:nvPr/>
        </p:nvSpPr>
        <p:spPr>
          <a:xfrm>
            <a:off x="1632385" y="1334119"/>
            <a:ext cx="8778240" cy="523504"/>
          </a:xfrm>
          <a:prstGeom prst="rect">
            <a:avLst/>
          </a:prstGeom>
        </p:spPr>
        <p:txBody>
          <a:bodyPr wrap="square"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Build Session 2 — Power integration and telemetry</a:t>
            </a:r>
          </a:p>
        </p:txBody>
      </p:sp>
      <p:sp>
        <p:nvSpPr>
          <p:cNvPr id="14" name="TextBox 14"/>
          <p:cNvSpPr txBox="1"/>
          <p:nvPr/>
        </p:nvSpPr>
        <p:spPr>
          <a:xfrm>
            <a:off x="1632109" y="4572000"/>
            <a:ext cx="8778240" cy="1188720"/>
          </a:xfrm>
          <a:prstGeom prst="rect">
            <a:avLst/>
          </a:prstGeom>
        </p:spPr>
        <p:txBody>
          <a:bodyPr wrap="square" lIns="0" tIns="0" rIns="0" bIns="0" rtlCol="0" anchor="t">
            <a:spAutoFit/>
          </a:bodyPr>
          <a:lstStyle/>
          <a:p>
            <a:pPr algn="l">
              <a:lnSpc>
                <a:spcPts val="6552"/>
              </a:lnSpc>
            </a:pPr>
            <a:r>
              <a:rPr lang="en-US" sz="2800" spc="88">
                <a:solidFill>
                  <a:srgbClr val="2C2C2C"/>
                </a:solidFill>
                <a:latin typeface="Montserrat"/>
                <a:ea typeface="Montserrat"/>
                <a:cs typeface="Montserrat"/>
                <a:sym typeface="Montserrat"/>
              </a:rPr>
              <a:t>Side panels and solar panels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221992" y="2232660"/>
            <a:ext cx="6248400" cy="516636"/>
            <a:chOff x="0" y="0"/>
            <a:chExt cx="8331200" cy="688848"/>
          </a:xfrm>
        </p:grpSpPr>
        <p:sp>
          <p:nvSpPr>
            <p:cNvPr id="10" name="Freeform 10"/>
            <p:cNvSpPr/>
            <p:nvPr/>
          </p:nvSpPr>
          <p:spPr>
            <a:xfrm>
              <a:off x="0" y="0"/>
              <a:ext cx="8331200" cy="688848"/>
            </a:xfrm>
            <a:custGeom>
              <a:avLst/>
              <a:gdLst/>
              <a:ahLst/>
              <a:cxnLst/>
              <a:rect l="l" t="t" r="r" b="b"/>
              <a:pathLst>
                <a:path w="8331200" h="688848">
                  <a:moveTo>
                    <a:pt x="0" y="0"/>
                  </a:moveTo>
                  <a:lnTo>
                    <a:pt x="8331200" y="0"/>
                  </a:lnTo>
                  <a:lnTo>
                    <a:pt x="8331200" y="688848"/>
                  </a:lnTo>
                  <a:lnTo>
                    <a:pt x="0" y="688848"/>
                  </a:lnTo>
                  <a:lnTo>
                    <a:pt x="0" y="0"/>
                  </a:lnTo>
                  <a:close/>
                </a:path>
              </a:pathLst>
            </a:custGeom>
            <a:blipFill>
              <a:blip r:embed="rId4"/>
              <a:stretch>
                <a:fillRect t="-294"/>
              </a:stretch>
            </a:blipFill>
          </p:spPr>
          <p:txBody>
            <a:bodyPr/>
            <a:lstStyle/>
            <a:p>
              <a:endParaRPr lang="en-SG"/>
            </a:p>
          </p:txBody>
        </p:sp>
      </p:grpSp>
      <p:grpSp>
        <p:nvGrpSpPr>
          <p:cNvPr id="11" name="Group 11"/>
          <p:cNvGrpSpPr/>
          <p:nvPr/>
        </p:nvGrpSpPr>
        <p:grpSpPr>
          <a:xfrm>
            <a:off x="2221992" y="2746248"/>
            <a:ext cx="6248400" cy="518160"/>
            <a:chOff x="0" y="0"/>
            <a:chExt cx="8331200" cy="690880"/>
          </a:xfrm>
        </p:grpSpPr>
        <p:sp>
          <p:nvSpPr>
            <p:cNvPr id="12" name="Freeform 12"/>
            <p:cNvSpPr/>
            <p:nvPr/>
          </p:nvSpPr>
          <p:spPr>
            <a:xfrm>
              <a:off x="0" y="0"/>
              <a:ext cx="8331200" cy="690880"/>
            </a:xfrm>
            <a:custGeom>
              <a:avLst/>
              <a:gdLst/>
              <a:ahLst/>
              <a:cxnLst/>
              <a:rect l="l" t="t" r="r" b="b"/>
              <a:pathLst>
                <a:path w="8331200" h="690880">
                  <a:moveTo>
                    <a:pt x="0" y="0"/>
                  </a:moveTo>
                  <a:lnTo>
                    <a:pt x="8331200" y="0"/>
                  </a:lnTo>
                  <a:lnTo>
                    <a:pt x="8331200" y="690880"/>
                  </a:lnTo>
                  <a:lnTo>
                    <a:pt x="0" y="690880"/>
                  </a:lnTo>
                  <a:lnTo>
                    <a:pt x="0" y="0"/>
                  </a:lnTo>
                  <a:close/>
                </a:path>
              </a:pathLst>
            </a:custGeom>
            <a:blipFill>
              <a:blip r:embed="rId5"/>
              <a:stretch>
                <a:fillRect/>
              </a:stretch>
            </a:blipFill>
          </p:spPr>
          <p:txBody>
            <a:bodyPr/>
            <a:lstStyle/>
            <a:p>
              <a:endParaRPr lang="en-SG"/>
            </a:p>
          </p:txBody>
        </p:sp>
      </p:grpSp>
      <p:grpSp>
        <p:nvGrpSpPr>
          <p:cNvPr id="13" name="Group 13"/>
          <p:cNvGrpSpPr/>
          <p:nvPr/>
        </p:nvGrpSpPr>
        <p:grpSpPr>
          <a:xfrm>
            <a:off x="2221992" y="3261360"/>
            <a:ext cx="6248400" cy="518160"/>
            <a:chOff x="0" y="0"/>
            <a:chExt cx="8331200" cy="690880"/>
          </a:xfrm>
        </p:grpSpPr>
        <p:sp>
          <p:nvSpPr>
            <p:cNvPr id="14" name="Freeform 14"/>
            <p:cNvSpPr/>
            <p:nvPr/>
          </p:nvSpPr>
          <p:spPr>
            <a:xfrm>
              <a:off x="0" y="0"/>
              <a:ext cx="8331200" cy="690880"/>
            </a:xfrm>
            <a:custGeom>
              <a:avLst/>
              <a:gdLst/>
              <a:ahLst/>
              <a:cxnLst/>
              <a:rect l="l" t="t" r="r" b="b"/>
              <a:pathLst>
                <a:path w="8331200" h="690880">
                  <a:moveTo>
                    <a:pt x="0" y="0"/>
                  </a:moveTo>
                  <a:lnTo>
                    <a:pt x="8331200" y="0"/>
                  </a:lnTo>
                  <a:lnTo>
                    <a:pt x="8331200" y="690880"/>
                  </a:lnTo>
                  <a:lnTo>
                    <a:pt x="0" y="690880"/>
                  </a:lnTo>
                  <a:lnTo>
                    <a:pt x="0" y="0"/>
                  </a:lnTo>
                  <a:close/>
                </a:path>
              </a:pathLst>
            </a:custGeom>
            <a:blipFill>
              <a:blip r:embed="rId6"/>
              <a:stretch>
                <a:fillRect/>
              </a:stretch>
            </a:blipFill>
          </p:spPr>
          <p:txBody>
            <a:bodyPr/>
            <a:lstStyle/>
            <a:p>
              <a:endParaRPr lang="en-SG"/>
            </a:p>
          </p:txBody>
        </p:sp>
      </p:grpSp>
      <p:grpSp>
        <p:nvGrpSpPr>
          <p:cNvPr id="15" name="Group 15"/>
          <p:cNvGrpSpPr/>
          <p:nvPr/>
        </p:nvGrpSpPr>
        <p:grpSpPr>
          <a:xfrm>
            <a:off x="2221992" y="3776472"/>
            <a:ext cx="6248400" cy="518160"/>
            <a:chOff x="0" y="0"/>
            <a:chExt cx="8331200" cy="690880"/>
          </a:xfrm>
        </p:grpSpPr>
        <p:sp>
          <p:nvSpPr>
            <p:cNvPr id="16" name="Freeform 16"/>
            <p:cNvSpPr/>
            <p:nvPr/>
          </p:nvSpPr>
          <p:spPr>
            <a:xfrm>
              <a:off x="0" y="0"/>
              <a:ext cx="8331200" cy="690880"/>
            </a:xfrm>
            <a:custGeom>
              <a:avLst/>
              <a:gdLst/>
              <a:ahLst/>
              <a:cxnLst/>
              <a:rect l="l" t="t" r="r" b="b"/>
              <a:pathLst>
                <a:path w="8331200" h="690880">
                  <a:moveTo>
                    <a:pt x="0" y="0"/>
                  </a:moveTo>
                  <a:lnTo>
                    <a:pt x="8331200" y="0"/>
                  </a:lnTo>
                  <a:lnTo>
                    <a:pt x="8331200" y="690880"/>
                  </a:lnTo>
                  <a:lnTo>
                    <a:pt x="0" y="690880"/>
                  </a:lnTo>
                  <a:lnTo>
                    <a:pt x="0" y="0"/>
                  </a:lnTo>
                  <a:close/>
                </a:path>
              </a:pathLst>
            </a:custGeom>
            <a:blipFill>
              <a:blip r:embed="rId7"/>
              <a:stretch>
                <a:fillRect/>
              </a:stretch>
            </a:blipFill>
          </p:spPr>
          <p:txBody>
            <a:bodyPr/>
            <a:lstStyle/>
            <a:p>
              <a:endParaRPr lang="en-SG"/>
            </a:p>
          </p:txBody>
        </p:sp>
      </p:grpSp>
      <p:grpSp>
        <p:nvGrpSpPr>
          <p:cNvPr id="17" name="Group 17"/>
          <p:cNvGrpSpPr/>
          <p:nvPr/>
        </p:nvGrpSpPr>
        <p:grpSpPr>
          <a:xfrm>
            <a:off x="2221992" y="4291584"/>
            <a:ext cx="6248400" cy="518160"/>
            <a:chOff x="0" y="0"/>
            <a:chExt cx="8331200" cy="690880"/>
          </a:xfrm>
        </p:grpSpPr>
        <p:sp>
          <p:nvSpPr>
            <p:cNvPr id="18" name="Freeform 18"/>
            <p:cNvSpPr/>
            <p:nvPr/>
          </p:nvSpPr>
          <p:spPr>
            <a:xfrm>
              <a:off x="0" y="0"/>
              <a:ext cx="8331200" cy="690880"/>
            </a:xfrm>
            <a:custGeom>
              <a:avLst/>
              <a:gdLst/>
              <a:ahLst/>
              <a:cxnLst/>
              <a:rect l="l" t="t" r="r" b="b"/>
              <a:pathLst>
                <a:path w="8331200" h="690880">
                  <a:moveTo>
                    <a:pt x="0" y="0"/>
                  </a:moveTo>
                  <a:lnTo>
                    <a:pt x="8331200" y="0"/>
                  </a:lnTo>
                  <a:lnTo>
                    <a:pt x="8331200" y="690880"/>
                  </a:lnTo>
                  <a:lnTo>
                    <a:pt x="0" y="690880"/>
                  </a:lnTo>
                  <a:lnTo>
                    <a:pt x="0" y="0"/>
                  </a:lnTo>
                  <a:close/>
                </a:path>
              </a:pathLst>
            </a:custGeom>
            <a:blipFill>
              <a:blip r:embed="rId8"/>
              <a:stretch>
                <a:fillRect/>
              </a:stretch>
            </a:blipFill>
          </p:spPr>
          <p:txBody>
            <a:bodyPr/>
            <a:lstStyle/>
            <a:p>
              <a:endParaRPr lang="en-SG"/>
            </a:p>
          </p:txBody>
        </p:sp>
      </p:grpSp>
      <p:grpSp>
        <p:nvGrpSpPr>
          <p:cNvPr id="19" name="Group 19"/>
          <p:cNvGrpSpPr/>
          <p:nvPr/>
        </p:nvGrpSpPr>
        <p:grpSpPr>
          <a:xfrm>
            <a:off x="2221992" y="4806696"/>
            <a:ext cx="6248400" cy="518160"/>
            <a:chOff x="0" y="0"/>
            <a:chExt cx="8331200" cy="690880"/>
          </a:xfrm>
        </p:grpSpPr>
        <p:sp>
          <p:nvSpPr>
            <p:cNvPr id="20" name="Freeform 20"/>
            <p:cNvSpPr/>
            <p:nvPr/>
          </p:nvSpPr>
          <p:spPr>
            <a:xfrm>
              <a:off x="0" y="0"/>
              <a:ext cx="8331200" cy="690880"/>
            </a:xfrm>
            <a:custGeom>
              <a:avLst/>
              <a:gdLst/>
              <a:ahLst/>
              <a:cxnLst/>
              <a:rect l="l" t="t" r="r" b="b"/>
              <a:pathLst>
                <a:path w="8331200" h="690880">
                  <a:moveTo>
                    <a:pt x="0" y="0"/>
                  </a:moveTo>
                  <a:lnTo>
                    <a:pt x="8331200" y="0"/>
                  </a:lnTo>
                  <a:lnTo>
                    <a:pt x="8331200" y="690880"/>
                  </a:lnTo>
                  <a:lnTo>
                    <a:pt x="0" y="690880"/>
                  </a:lnTo>
                  <a:lnTo>
                    <a:pt x="0" y="0"/>
                  </a:lnTo>
                  <a:close/>
                </a:path>
              </a:pathLst>
            </a:custGeom>
            <a:blipFill>
              <a:blip r:embed="rId9"/>
              <a:stretch>
                <a:fillRect/>
              </a:stretch>
            </a:blipFill>
          </p:spPr>
          <p:txBody>
            <a:bodyPr/>
            <a:lstStyle/>
            <a:p>
              <a:endParaRPr lang="en-SG"/>
            </a:p>
          </p:txBody>
        </p:sp>
      </p:grpSp>
      <p:grpSp>
        <p:nvGrpSpPr>
          <p:cNvPr id="21" name="Group 21"/>
          <p:cNvGrpSpPr/>
          <p:nvPr/>
        </p:nvGrpSpPr>
        <p:grpSpPr>
          <a:xfrm>
            <a:off x="2221992" y="5321808"/>
            <a:ext cx="6248400" cy="518160"/>
            <a:chOff x="0" y="0"/>
            <a:chExt cx="8331200" cy="690880"/>
          </a:xfrm>
        </p:grpSpPr>
        <p:sp>
          <p:nvSpPr>
            <p:cNvPr id="22" name="Freeform 22"/>
            <p:cNvSpPr/>
            <p:nvPr/>
          </p:nvSpPr>
          <p:spPr>
            <a:xfrm>
              <a:off x="0" y="0"/>
              <a:ext cx="8331200" cy="690880"/>
            </a:xfrm>
            <a:custGeom>
              <a:avLst/>
              <a:gdLst/>
              <a:ahLst/>
              <a:cxnLst/>
              <a:rect l="l" t="t" r="r" b="b"/>
              <a:pathLst>
                <a:path w="8331200" h="690880">
                  <a:moveTo>
                    <a:pt x="0" y="0"/>
                  </a:moveTo>
                  <a:lnTo>
                    <a:pt x="8331200" y="0"/>
                  </a:lnTo>
                  <a:lnTo>
                    <a:pt x="8331200" y="690880"/>
                  </a:lnTo>
                  <a:lnTo>
                    <a:pt x="0" y="690880"/>
                  </a:lnTo>
                  <a:lnTo>
                    <a:pt x="0" y="0"/>
                  </a:lnTo>
                  <a:close/>
                </a:path>
              </a:pathLst>
            </a:custGeom>
            <a:blipFill>
              <a:blip r:embed="rId10"/>
              <a:stretch>
                <a:fillRect/>
              </a:stretch>
            </a:blipFill>
          </p:spPr>
          <p:txBody>
            <a:bodyPr/>
            <a:lstStyle/>
            <a:p>
              <a:endParaRPr lang="en-SG"/>
            </a:p>
          </p:txBody>
        </p:sp>
      </p:grpSp>
      <p:grpSp>
        <p:nvGrpSpPr>
          <p:cNvPr id="23" name="Group 23"/>
          <p:cNvGrpSpPr/>
          <p:nvPr/>
        </p:nvGrpSpPr>
        <p:grpSpPr>
          <a:xfrm>
            <a:off x="2221992" y="5836920"/>
            <a:ext cx="6248400" cy="155448"/>
            <a:chOff x="0" y="0"/>
            <a:chExt cx="8331200" cy="207264"/>
          </a:xfrm>
        </p:grpSpPr>
        <p:sp>
          <p:nvSpPr>
            <p:cNvPr id="24" name="Freeform 24"/>
            <p:cNvSpPr/>
            <p:nvPr/>
          </p:nvSpPr>
          <p:spPr>
            <a:xfrm>
              <a:off x="0" y="0"/>
              <a:ext cx="8331200" cy="207264"/>
            </a:xfrm>
            <a:custGeom>
              <a:avLst/>
              <a:gdLst/>
              <a:ahLst/>
              <a:cxnLst/>
              <a:rect l="l" t="t" r="r" b="b"/>
              <a:pathLst>
                <a:path w="8331200" h="207264">
                  <a:moveTo>
                    <a:pt x="0" y="0"/>
                  </a:moveTo>
                  <a:lnTo>
                    <a:pt x="8331200" y="0"/>
                  </a:lnTo>
                  <a:lnTo>
                    <a:pt x="8331200" y="207264"/>
                  </a:lnTo>
                  <a:lnTo>
                    <a:pt x="0" y="207264"/>
                  </a:lnTo>
                  <a:lnTo>
                    <a:pt x="0" y="0"/>
                  </a:lnTo>
                  <a:close/>
                </a:path>
              </a:pathLst>
            </a:custGeom>
            <a:blipFill>
              <a:blip r:embed="rId11"/>
              <a:stretch>
                <a:fillRect/>
              </a:stretch>
            </a:blipFill>
          </p:spPr>
          <p:txBody>
            <a:bodyPr/>
            <a:lstStyle/>
            <a:p>
              <a:endParaRPr lang="en-SG"/>
            </a:p>
          </p:txBody>
        </p:sp>
      </p:grpSp>
      <p:sp>
        <p:nvSpPr>
          <p:cNvPr id="25" name="TextBox 25"/>
          <p:cNvSpPr txBox="1"/>
          <p:nvPr/>
        </p:nvSpPr>
        <p:spPr>
          <a:xfrm>
            <a:off x="1632385" y="1334119"/>
            <a:ext cx="5552208"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-Side Panel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6760464" y="2167128"/>
            <a:ext cx="3715512" cy="216408"/>
            <a:chOff x="0" y="0"/>
            <a:chExt cx="4954016" cy="288544"/>
          </a:xfrm>
        </p:grpSpPr>
        <p:sp>
          <p:nvSpPr>
            <p:cNvPr id="10" name="Freeform 10"/>
            <p:cNvSpPr/>
            <p:nvPr/>
          </p:nvSpPr>
          <p:spPr>
            <a:xfrm>
              <a:off x="0" y="0"/>
              <a:ext cx="4954016" cy="288544"/>
            </a:xfrm>
            <a:custGeom>
              <a:avLst/>
              <a:gdLst/>
              <a:ahLst/>
              <a:cxnLst/>
              <a:rect l="l" t="t" r="r" b="b"/>
              <a:pathLst>
                <a:path w="4954016" h="288544">
                  <a:moveTo>
                    <a:pt x="0" y="0"/>
                  </a:moveTo>
                  <a:lnTo>
                    <a:pt x="4954016" y="0"/>
                  </a:lnTo>
                  <a:lnTo>
                    <a:pt x="4954016" y="288544"/>
                  </a:lnTo>
                  <a:lnTo>
                    <a:pt x="0" y="288544"/>
                  </a:lnTo>
                  <a:lnTo>
                    <a:pt x="0" y="0"/>
                  </a:lnTo>
                  <a:close/>
                </a:path>
              </a:pathLst>
            </a:custGeom>
            <a:blipFill>
              <a:blip r:embed="rId4"/>
              <a:stretch>
                <a:fillRect/>
              </a:stretch>
            </a:blipFill>
          </p:spPr>
          <p:txBody>
            <a:bodyPr/>
            <a:lstStyle/>
            <a:p>
              <a:endParaRPr lang="en-SG"/>
            </a:p>
          </p:txBody>
        </p:sp>
      </p:grpSp>
      <p:grpSp>
        <p:nvGrpSpPr>
          <p:cNvPr id="11" name="Group 11"/>
          <p:cNvGrpSpPr/>
          <p:nvPr/>
        </p:nvGrpSpPr>
        <p:grpSpPr>
          <a:xfrm>
            <a:off x="6760464" y="2380488"/>
            <a:ext cx="3715512" cy="4056888"/>
            <a:chOff x="0" y="0"/>
            <a:chExt cx="4954016" cy="5409184"/>
          </a:xfrm>
        </p:grpSpPr>
        <p:sp>
          <p:nvSpPr>
            <p:cNvPr id="12" name="Freeform 12"/>
            <p:cNvSpPr/>
            <p:nvPr/>
          </p:nvSpPr>
          <p:spPr>
            <a:xfrm>
              <a:off x="0" y="0"/>
              <a:ext cx="4954016" cy="5409184"/>
            </a:xfrm>
            <a:custGeom>
              <a:avLst/>
              <a:gdLst/>
              <a:ahLst/>
              <a:cxnLst/>
              <a:rect l="l" t="t" r="r" b="b"/>
              <a:pathLst>
                <a:path w="4954016" h="5409184">
                  <a:moveTo>
                    <a:pt x="0" y="0"/>
                  </a:moveTo>
                  <a:lnTo>
                    <a:pt x="4954016" y="0"/>
                  </a:lnTo>
                  <a:lnTo>
                    <a:pt x="4954016" y="5409184"/>
                  </a:lnTo>
                  <a:lnTo>
                    <a:pt x="0" y="5409184"/>
                  </a:lnTo>
                  <a:lnTo>
                    <a:pt x="0" y="0"/>
                  </a:lnTo>
                  <a:close/>
                </a:path>
              </a:pathLst>
            </a:custGeom>
            <a:blipFill>
              <a:blip r:embed="rId5"/>
              <a:stretch>
                <a:fillRect/>
              </a:stretch>
            </a:blipFill>
          </p:spPr>
          <p:txBody>
            <a:bodyPr/>
            <a:lstStyle/>
            <a:p>
              <a:endParaRPr lang="en-SG"/>
            </a:p>
          </p:txBody>
        </p:sp>
      </p:grpSp>
      <p:grpSp>
        <p:nvGrpSpPr>
          <p:cNvPr id="13" name="Group 13"/>
          <p:cNvGrpSpPr/>
          <p:nvPr/>
        </p:nvGrpSpPr>
        <p:grpSpPr>
          <a:xfrm>
            <a:off x="6760464" y="6434328"/>
            <a:ext cx="3715512" cy="88392"/>
            <a:chOff x="0" y="0"/>
            <a:chExt cx="3715512" cy="88392"/>
          </a:xfrm>
        </p:grpSpPr>
        <p:sp>
          <p:nvSpPr>
            <p:cNvPr id="14" name="Freeform 14"/>
            <p:cNvSpPr/>
            <p:nvPr/>
          </p:nvSpPr>
          <p:spPr>
            <a:xfrm>
              <a:off x="0" y="0"/>
              <a:ext cx="3715512" cy="88392"/>
            </a:xfrm>
            <a:custGeom>
              <a:avLst/>
              <a:gdLst/>
              <a:ahLst/>
              <a:cxnLst/>
              <a:rect l="l" t="t" r="r" b="b"/>
              <a:pathLst>
                <a:path w="3715512" h="88392">
                  <a:moveTo>
                    <a:pt x="0" y="88392"/>
                  </a:moveTo>
                  <a:lnTo>
                    <a:pt x="3715512" y="88392"/>
                  </a:lnTo>
                  <a:lnTo>
                    <a:pt x="3715512" y="0"/>
                  </a:lnTo>
                  <a:lnTo>
                    <a:pt x="0" y="0"/>
                  </a:lnTo>
                  <a:lnTo>
                    <a:pt x="0" y="88392"/>
                  </a:lnTo>
                  <a:close/>
                </a:path>
              </a:pathLst>
            </a:custGeom>
            <a:solidFill>
              <a:srgbClr val="FFFFFF"/>
            </a:solidFill>
          </p:spPr>
          <p:txBody>
            <a:bodyPr/>
            <a:lstStyle/>
            <a:p>
              <a:endParaRPr lang="en-SG"/>
            </a:p>
          </p:txBody>
        </p:sp>
      </p:grpSp>
      <p:sp>
        <p:nvSpPr>
          <p:cNvPr id="15" name="TextBox 15"/>
          <p:cNvSpPr txBox="1"/>
          <p:nvPr/>
        </p:nvSpPr>
        <p:spPr>
          <a:xfrm>
            <a:off x="1632109" y="1286494"/>
            <a:ext cx="5552484" cy="1688963"/>
          </a:xfrm>
          <a:prstGeom prst="rect">
            <a:avLst/>
          </a:prstGeom>
        </p:spPr>
        <p:txBody>
          <a:bodyPr lIns="0" tIns="0" rIns="0" bIns="0" rtlCol="0" anchor="t">
            <a:spAutoFit/>
          </a:bodyPr>
          <a:lstStyle/>
          <a:p>
            <a:pPr algn="l">
              <a:lnSpc>
                <a:spcPts val="4709"/>
              </a:lnSpc>
            </a:pPr>
            <a:r>
              <a:rPr lang="en-US" sz="3048">
                <a:solidFill>
                  <a:srgbClr val="2C2C2C"/>
                </a:solidFill>
                <a:latin typeface="Montserrat"/>
                <a:ea typeface="Montserrat"/>
                <a:cs typeface="Montserrat"/>
                <a:sym typeface="Montserrat"/>
              </a:rPr>
              <a:t>Satellite Set-up -Side Panel </a:t>
            </a:r>
          </a:p>
          <a:p>
            <a:pPr algn="l">
              <a:lnSpc>
                <a:spcPts val="2892"/>
              </a:lnSpc>
            </a:pPr>
            <a:r>
              <a:rPr lang="en-US" sz="1872" spc="-14">
                <a:solidFill>
                  <a:srgbClr val="000000"/>
                </a:solidFill>
                <a:latin typeface="Montserrat"/>
                <a:ea typeface="Montserrat"/>
                <a:cs typeface="Montserrat"/>
                <a:sym typeface="Montserrat"/>
              </a:rPr>
              <a:t>To correctly place the panel, we are </a:t>
            </a:r>
          </a:p>
          <a:p>
            <a:pPr algn="l">
              <a:lnSpc>
                <a:spcPts val="2892"/>
              </a:lnSpc>
            </a:pPr>
            <a:r>
              <a:rPr lang="en-US" sz="1872" spc="-14">
                <a:solidFill>
                  <a:srgbClr val="000000"/>
                </a:solidFill>
                <a:latin typeface="Montserrat"/>
                <a:ea typeface="Montserrat"/>
                <a:cs typeface="Montserrat"/>
                <a:sym typeface="Montserrat"/>
              </a:rPr>
              <a:t>going to need back spacers!</a:t>
            </a:r>
          </a:p>
        </p:txBody>
      </p:sp>
      <p:sp>
        <p:nvSpPr>
          <p:cNvPr id="16" name="TextBox 16"/>
          <p:cNvSpPr txBox="1"/>
          <p:nvPr/>
        </p:nvSpPr>
        <p:spPr>
          <a:xfrm>
            <a:off x="1632109" y="3369012"/>
            <a:ext cx="4713446" cy="1079630"/>
          </a:xfrm>
          <a:prstGeom prst="rect">
            <a:avLst/>
          </a:prstGeom>
        </p:spPr>
        <p:txBody>
          <a:bodyPr lIns="0" tIns="0" rIns="0" bIns="0" rtlCol="0" anchor="t">
            <a:spAutoFit/>
          </a:bodyPr>
          <a:lstStyle/>
          <a:p>
            <a:pPr algn="l">
              <a:lnSpc>
                <a:spcPts val="2895"/>
              </a:lnSpc>
            </a:pPr>
            <a:r>
              <a:rPr lang="en-US" sz="1872" spc="-14">
                <a:solidFill>
                  <a:srgbClr val="000000"/>
                </a:solidFill>
                <a:latin typeface="Montserrat"/>
                <a:ea typeface="Montserrat"/>
                <a:cs typeface="Montserrat"/>
                <a:sym typeface="Montserrat"/>
              </a:rPr>
              <a:t>After placing the side panel, take some kapton and label EPS, ADCS, RBF and OBC with a marker.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801368" y="3168396"/>
            <a:ext cx="103632" cy="103632"/>
            <a:chOff x="0" y="0"/>
            <a:chExt cx="103632" cy="103632"/>
          </a:xfrm>
        </p:grpSpPr>
        <p:sp>
          <p:nvSpPr>
            <p:cNvPr id="10" name="Freeform 10"/>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1" name="Group 11"/>
          <p:cNvGrpSpPr/>
          <p:nvPr/>
        </p:nvGrpSpPr>
        <p:grpSpPr>
          <a:xfrm>
            <a:off x="1801368" y="3535680"/>
            <a:ext cx="103632" cy="103632"/>
            <a:chOff x="0" y="0"/>
            <a:chExt cx="103632" cy="103632"/>
          </a:xfrm>
        </p:grpSpPr>
        <p:sp>
          <p:nvSpPr>
            <p:cNvPr id="12" name="Freeform 12"/>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3" name="Group 13"/>
          <p:cNvGrpSpPr/>
          <p:nvPr/>
        </p:nvGrpSpPr>
        <p:grpSpPr>
          <a:xfrm>
            <a:off x="1801368" y="3904488"/>
            <a:ext cx="103632" cy="103632"/>
            <a:chOff x="0" y="0"/>
            <a:chExt cx="103632" cy="103632"/>
          </a:xfrm>
        </p:grpSpPr>
        <p:sp>
          <p:nvSpPr>
            <p:cNvPr id="14" name="Freeform 14"/>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5" name="Group 15"/>
          <p:cNvGrpSpPr/>
          <p:nvPr/>
        </p:nvGrpSpPr>
        <p:grpSpPr>
          <a:xfrm>
            <a:off x="3829812" y="4631436"/>
            <a:ext cx="3034284" cy="1065276"/>
            <a:chOff x="0" y="0"/>
            <a:chExt cx="4045712" cy="1420368"/>
          </a:xfrm>
        </p:grpSpPr>
        <p:sp>
          <p:nvSpPr>
            <p:cNvPr id="16" name="Freeform 16"/>
            <p:cNvSpPr/>
            <p:nvPr/>
          </p:nvSpPr>
          <p:spPr>
            <a:xfrm>
              <a:off x="0" y="0"/>
              <a:ext cx="4045712" cy="1420368"/>
            </a:xfrm>
            <a:custGeom>
              <a:avLst/>
              <a:gdLst/>
              <a:ahLst/>
              <a:cxnLst/>
              <a:rect l="l" t="t" r="r" b="b"/>
              <a:pathLst>
                <a:path w="4045712" h="1420368">
                  <a:moveTo>
                    <a:pt x="0" y="0"/>
                  </a:moveTo>
                  <a:lnTo>
                    <a:pt x="4045712" y="0"/>
                  </a:lnTo>
                  <a:lnTo>
                    <a:pt x="4045712" y="1420368"/>
                  </a:lnTo>
                  <a:lnTo>
                    <a:pt x="0" y="1420368"/>
                  </a:lnTo>
                  <a:lnTo>
                    <a:pt x="0" y="0"/>
                  </a:lnTo>
                  <a:close/>
                </a:path>
              </a:pathLst>
            </a:custGeom>
            <a:blipFill>
              <a:blip r:embed="rId4"/>
              <a:stretch>
                <a:fillRect l="-50" t="-143"/>
              </a:stretch>
            </a:blipFill>
          </p:spPr>
          <p:txBody>
            <a:bodyPr/>
            <a:lstStyle/>
            <a:p>
              <a:endParaRPr lang="en-SG"/>
            </a:p>
          </p:txBody>
        </p:sp>
      </p:grpSp>
      <p:grpSp>
        <p:nvGrpSpPr>
          <p:cNvPr id="17" name="Group 17"/>
          <p:cNvGrpSpPr/>
          <p:nvPr/>
        </p:nvGrpSpPr>
        <p:grpSpPr>
          <a:xfrm>
            <a:off x="3829812" y="5693664"/>
            <a:ext cx="3034284" cy="847344"/>
            <a:chOff x="0" y="0"/>
            <a:chExt cx="4045712" cy="1129792"/>
          </a:xfrm>
        </p:grpSpPr>
        <p:sp>
          <p:nvSpPr>
            <p:cNvPr id="18" name="Freeform 18"/>
            <p:cNvSpPr/>
            <p:nvPr/>
          </p:nvSpPr>
          <p:spPr>
            <a:xfrm>
              <a:off x="0" y="0"/>
              <a:ext cx="4045712" cy="1129792"/>
            </a:xfrm>
            <a:custGeom>
              <a:avLst/>
              <a:gdLst/>
              <a:ahLst/>
              <a:cxnLst/>
              <a:rect l="l" t="t" r="r" b="b"/>
              <a:pathLst>
                <a:path w="4045712" h="1129792">
                  <a:moveTo>
                    <a:pt x="0" y="0"/>
                  </a:moveTo>
                  <a:lnTo>
                    <a:pt x="4045712" y="0"/>
                  </a:lnTo>
                  <a:lnTo>
                    <a:pt x="4045712" y="1129792"/>
                  </a:lnTo>
                  <a:lnTo>
                    <a:pt x="0" y="1129792"/>
                  </a:lnTo>
                  <a:lnTo>
                    <a:pt x="0" y="0"/>
                  </a:lnTo>
                  <a:close/>
                </a:path>
              </a:pathLst>
            </a:custGeom>
            <a:blipFill>
              <a:blip r:embed="rId5"/>
              <a:stretch>
                <a:fillRect l="-50"/>
              </a:stretch>
            </a:blipFill>
          </p:spPr>
          <p:txBody>
            <a:bodyPr/>
            <a:lstStyle/>
            <a:p>
              <a:endParaRPr lang="en-SG"/>
            </a:p>
          </p:txBody>
        </p:sp>
      </p:grpSp>
      <p:grpSp>
        <p:nvGrpSpPr>
          <p:cNvPr id="19" name="Group 19"/>
          <p:cNvGrpSpPr/>
          <p:nvPr/>
        </p:nvGrpSpPr>
        <p:grpSpPr>
          <a:xfrm>
            <a:off x="7121652" y="5061204"/>
            <a:ext cx="768096" cy="771144"/>
            <a:chOff x="0" y="0"/>
            <a:chExt cx="1024128" cy="1028192"/>
          </a:xfrm>
        </p:grpSpPr>
        <p:sp>
          <p:nvSpPr>
            <p:cNvPr id="20" name="Freeform 20"/>
            <p:cNvSpPr/>
            <p:nvPr/>
          </p:nvSpPr>
          <p:spPr>
            <a:xfrm>
              <a:off x="0" y="0"/>
              <a:ext cx="1024128" cy="1028192"/>
            </a:xfrm>
            <a:custGeom>
              <a:avLst/>
              <a:gdLst/>
              <a:ahLst/>
              <a:cxnLst/>
              <a:rect l="l" t="t" r="r" b="b"/>
              <a:pathLst>
                <a:path w="1024128" h="1028192">
                  <a:moveTo>
                    <a:pt x="0" y="0"/>
                  </a:moveTo>
                  <a:lnTo>
                    <a:pt x="1024128" y="0"/>
                  </a:lnTo>
                  <a:lnTo>
                    <a:pt x="1024128" y="1028192"/>
                  </a:lnTo>
                  <a:lnTo>
                    <a:pt x="0" y="1028192"/>
                  </a:lnTo>
                  <a:lnTo>
                    <a:pt x="0" y="0"/>
                  </a:lnTo>
                  <a:close/>
                </a:path>
              </a:pathLst>
            </a:custGeom>
            <a:blipFill>
              <a:blip r:embed="rId6"/>
              <a:stretch>
                <a:fillRect l="-595" t="-197"/>
              </a:stretch>
            </a:blipFill>
          </p:spPr>
          <p:txBody>
            <a:bodyPr/>
            <a:lstStyle/>
            <a:p>
              <a:endParaRPr lang="en-SG"/>
            </a:p>
          </p:txBody>
        </p:sp>
      </p:grpSp>
      <p:sp>
        <p:nvSpPr>
          <p:cNvPr id="21" name="TextBox 21"/>
          <p:cNvSpPr txBox="1"/>
          <p:nvPr/>
        </p:nvSpPr>
        <p:spPr>
          <a:xfrm>
            <a:off x="1632109" y="1286494"/>
            <a:ext cx="8164211" cy="1688963"/>
          </a:xfrm>
          <a:prstGeom prst="rect">
            <a:avLst/>
          </a:prstGeom>
        </p:spPr>
        <p:txBody>
          <a:bodyPr lIns="0" tIns="0" rIns="0" bIns="0" rtlCol="0" anchor="t">
            <a:spAutoFit/>
          </a:bodyPr>
          <a:lstStyle/>
          <a:p>
            <a:pPr algn="l">
              <a:lnSpc>
                <a:spcPts val="4709"/>
              </a:lnSpc>
            </a:pPr>
            <a:r>
              <a:rPr lang="en-US" sz="3048">
                <a:solidFill>
                  <a:srgbClr val="2C2C2C"/>
                </a:solidFill>
                <a:latin typeface="Montserrat"/>
                <a:ea typeface="Montserrat"/>
                <a:cs typeface="Montserrat"/>
                <a:sym typeface="Montserrat"/>
              </a:rPr>
              <a:t>Satellite Set-up -Solar Panels </a:t>
            </a:r>
          </a:p>
          <a:p>
            <a:pPr algn="l">
              <a:lnSpc>
                <a:spcPts val="2892"/>
              </a:lnSpc>
            </a:pPr>
            <a:r>
              <a:rPr lang="en-US" sz="1872" spc="-14">
                <a:solidFill>
                  <a:srgbClr val="000000"/>
                </a:solidFill>
                <a:latin typeface="Montserrat"/>
                <a:ea typeface="Montserrat"/>
                <a:cs typeface="Montserrat"/>
                <a:sym typeface="Montserrat"/>
              </a:rPr>
              <a:t>Solar panel cells are extremely fragile and tend to be broken easily if touched.</a:t>
            </a:r>
          </a:p>
        </p:txBody>
      </p:sp>
      <p:sp>
        <p:nvSpPr>
          <p:cNvPr id="22" name="TextBox 22"/>
          <p:cNvSpPr txBox="1"/>
          <p:nvPr/>
        </p:nvSpPr>
        <p:spPr>
          <a:xfrm>
            <a:off x="2167033" y="3001689"/>
            <a:ext cx="6949288" cy="1446943"/>
          </a:xfrm>
          <a:prstGeom prst="rect">
            <a:avLst/>
          </a:prstGeom>
        </p:spPr>
        <p:txBody>
          <a:bodyPr lIns="0" tIns="0" rIns="0" bIns="0" rtlCol="0" anchor="t">
            <a:spAutoFit/>
          </a:bodyPr>
          <a:lstStyle/>
          <a:p>
            <a:pPr algn="l">
              <a:lnSpc>
                <a:spcPts val="2894"/>
              </a:lnSpc>
            </a:pPr>
            <a:r>
              <a:rPr lang="en-US" sz="1872" spc="-14">
                <a:solidFill>
                  <a:srgbClr val="000000"/>
                </a:solidFill>
                <a:latin typeface="Montserrat"/>
                <a:ea typeface="Montserrat"/>
                <a:cs typeface="Montserrat"/>
                <a:sym typeface="Montserrat"/>
              </a:rPr>
              <a:t>Avoid touching them directly with your fingers.</a:t>
            </a:r>
          </a:p>
          <a:p>
            <a:pPr algn="l">
              <a:lnSpc>
                <a:spcPts val="2894"/>
              </a:lnSpc>
            </a:pPr>
            <a:r>
              <a:rPr lang="en-US" sz="1872" spc="-14">
                <a:solidFill>
                  <a:srgbClr val="000000"/>
                </a:solidFill>
                <a:latin typeface="Montserrat"/>
                <a:ea typeface="Montserrat"/>
                <a:cs typeface="Montserrat"/>
                <a:sym typeface="Montserrat"/>
              </a:rPr>
              <a:t>Be careful not to hit them with tools.</a:t>
            </a:r>
          </a:p>
          <a:p>
            <a:pPr algn="l">
              <a:lnSpc>
                <a:spcPts val="2894"/>
              </a:lnSpc>
            </a:pPr>
            <a:r>
              <a:rPr lang="en-US" sz="1872" spc="-14">
                <a:solidFill>
                  <a:srgbClr val="000000"/>
                </a:solidFill>
                <a:latin typeface="Montserrat"/>
                <a:ea typeface="Montserrat"/>
                <a:cs typeface="Montserrat"/>
                <a:sym typeface="Montserrat"/>
              </a:rPr>
              <a:t>Most importantly, do not place the faces with solar panels directly on the table or onto other components.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801368" y="3168396"/>
            <a:ext cx="103632" cy="103632"/>
            <a:chOff x="0" y="0"/>
            <a:chExt cx="103632" cy="103632"/>
          </a:xfrm>
        </p:grpSpPr>
        <p:sp>
          <p:nvSpPr>
            <p:cNvPr id="10" name="Freeform 10"/>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1" name="Group 11"/>
          <p:cNvGrpSpPr/>
          <p:nvPr/>
        </p:nvGrpSpPr>
        <p:grpSpPr>
          <a:xfrm>
            <a:off x="1801368" y="3904488"/>
            <a:ext cx="103632" cy="103632"/>
            <a:chOff x="0" y="0"/>
            <a:chExt cx="103632" cy="103632"/>
          </a:xfrm>
        </p:grpSpPr>
        <p:sp>
          <p:nvSpPr>
            <p:cNvPr id="12" name="Freeform 12"/>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3" name="Group 13"/>
          <p:cNvGrpSpPr/>
          <p:nvPr/>
        </p:nvGrpSpPr>
        <p:grpSpPr>
          <a:xfrm>
            <a:off x="3829812" y="4631436"/>
            <a:ext cx="3034284" cy="1065276"/>
            <a:chOff x="0" y="0"/>
            <a:chExt cx="4045712" cy="1420368"/>
          </a:xfrm>
        </p:grpSpPr>
        <p:sp>
          <p:nvSpPr>
            <p:cNvPr id="14" name="Freeform 14"/>
            <p:cNvSpPr/>
            <p:nvPr/>
          </p:nvSpPr>
          <p:spPr>
            <a:xfrm>
              <a:off x="0" y="0"/>
              <a:ext cx="4045712" cy="1420368"/>
            </a:xfrm>
            <a:custGeom>
              <a:avLst/>
              <a:gdLst/>
              <a:ahLst/>
              <a:cxnLst/>
              <a:rect l="l" t="t" r="r" b="b"/>
              <a:pathLst>
                <a:path w="4045712" h="1420368">
                  <a:moveTo>
                    <a:pt x="0" y="0"/>
                  </a:moveTo>
                  <a:lnTo>
                    <a:pt x="4045712" y="0"/>
                  </a:lnTo>
                  <a:lnTo>
                    <a:pt x="4045712" y="1420368"/>
                  </a:lnTo>
                  <a:lnTo>
                    <a:pt x="0" y="1420368"/>
                  </a:lnTo>
                  <a:lnTo>
                    <a:pt x="0" y="0"/>
                  </a:lnTo>
                  <a:close/>
                </a:path>
              </a:pathLst>
            </a:custGeom>
            <a:blipFill>
              <a:blip r:embed="rId4"/>
              <a:stretch>
                <a:fillRect l="-50" t="-143"/>
              </a:stretch>
            </a:blipFill>
          </p:spPr>
          <p:txBody>
            <a:bodyPr/>
            <a:lstStyle/>
            <a:p>
              <a:endParaRPr lang="en-SG"/>
            </a:p>
          </p:txBody>
        </p:sp>
      </p:grpSp>
      <p:grpSp>
        <p:nvGrpSpPr>
          <p:cNvPr id="15" name="Group 15"/>
          <p:cNvGrpSpPr/>
          <p:nvPr/>
        </p:nvGrpSpPr>
        <p:grpSpPr>
          <a:xfrm>
            <a:off x="3829812" y="5693664"/>
            <a:ext cx="3034284" cy="847344"/>
            <a:chOff x="0" y="0"/>
            <a:chExt cx="4045712" cy="1129792"/>
          </a:xfrm>
        </p:grpSpPr>
        <p:sp>
          <p:nvSpPr>
            <p:cNvPr id="16" name="Freeform 16"/>
            <p:cNvSpPr/>
            <p:nvPr/>
          </p:nvSpPr>
          <p:spPr>
            <a:xfrm>
              <a:off x="0" y="0"/>
              <a:ext cx="4045712" cy="1129792"/>
            </a:xfrm>
            <a:custGeom>
              <a:avLst/>
              <a:gdLst/>
              <a:ahLst/>
              <a:cxnLst/>
              <a:rect l="l" t="t" r="r" b="b"/>
              <a:pathLst>
                <a:path w="4045712" h="1129792">
                  <a:moveTo>
                    <a:pt x="0" y="0"/>
                  </a:moveTo>
                  <a:lnTo>
                    <a:pt x="4045712" y="0"/>
                  </a:lnTo>
                  <a:lnTo>
                    <a:pt x="4045712" y="1129792"/>
                  </a:lnTo>
                  <a:lnTo>
                    <a:pt x="0" y="1129792"/>
                  </a:lnTo>
                  <a:lnTo>
                    <a:pt x="0" y="0"/>
                  </a:lnTo>
                  <a:close/>
                </a:path>
              </a:pathLst>
            </a:custGeom>
            <a:blipFill>
              <a:blip r:embed="rId5"/>
              <a:stretch>
                <a:fillRect l="-50"/>
              </a:stretch>
            </a:blipFill>
          </p:spPr>
          <p:txBody>
            <a:bodyPr/>
            <a:lstStyle/>
            <a:p>
              <a:endParaRPr lang="en-SG"/>
            </a:p>
          </p:txBody>
        </p:sp>
      </p:grpSp>
      <p:sp>
        <p:nvSpPr>
          <p:cNvPr id="17" name="TextBox 17"/>
          <p:cNvSpPr txBox="1"/>
          <p:nvPr/>
        </p:nvSpPr>
        <p:spPr>
          <a:xfrm>
            <a:off x="1632109" y="1286494"/>
            <a:ext cx="8001733" cy="1688963"/>
          </a:xfrm>
          <a:prstGeom prst="rect">
            <a:avLst/>
          </a:prstGeom>
        </p:spPr>
        <p:txBody>
          <a:bodyPr lIns="0" tIns="0" rIns="0" bIns="0" rtlCol="0" anchor="t">
            <a:spAutoFit/>
          </a:bodyPr>
          <a:lstStyle/>
          <a:p>
            <a:pPr algn="l">
              <a:lnSpc>
                <a:spcPts val="4709"/>
              </a:lnSpc>
            </a:pPr>
            <a:r>
              <a:rPr lang="en-US" sz="3048">
                <a:solidFill>
                  <a:srgbClr val="2C2C2C"/>
                </a:solidFill>
                <a:latin typeface="Montserrat"/>
                <a:ea typeface="Montserrat"/>
                <a:cs typeface="Montserrat"/>
                <a:sym typeface="Montserrat"/>
              </a:rPr>
              <a:t>Satellite Set-up -Solar Panels </a:t>
            </a:r>
          </a:p>
          <a:p>
            <a:pPr algn="l">
              <a:lnSpc>
                <a:spcPts val="2892"/>
              </a:lnSpc>
            </a:pPr>
            <a:r>
              <a:rPr lang="en-US" sz="1872" spc="-14">
                <a:solidFill>
                  <a:srgbClr val="000000"/>
                </a:solidFill>
                <a:latin typeface="Montserrat"/>
                <a:ea typeface="Montserrat"/>
                <a:cs typeface="Montserrat"/>
                <a:sym typeface="Montserrat"/>
              </a:rPr>
              <a:t>Before mounting the solar panels onto the satellite, it's essential to ensure their functionality. </a:t>
            </a:r>
          </a:p>
        </p:txBody>
      </p:sp>
      <p:sp>
        <p:nvSpPr>
          <p:cNvPr id="18" name="TextBox 18"/>
          <p:cNvSpPr txBox="1"/>
          <p:nvPr/>
        </p:nvSpPr>
        <p:spPr>
          <a:xfrm>
            <a:off x="2167033" y="3001689"/>
            <a:ext cx="7531284" cy="1446943"/>
          </a:xfrm>
          <a:prstGeom prst="rect">
            <a:avLst/>
          </a:prstGeom>
        </p:spPr>
        <p:txBody>
          <a:bodyPr lIns="0" tIns="0" rIns="0" bIns="0" rtlCol="0" anchor="t">
            <a:spAutoFit/>
          </a:bodyPr>
          <a:lstStyle/>
          <a:p>
            <a:pPr algn="l">
              <a:lnSpc>
                <a:spcPts val="2894"/>
              </a:lnSpc>
            </a:pPr>
            <a:r>
              <a:rPr lang="en-US" sz="1872" spc="-14">
                <a:solidFill>
                  <a:srgbClr val="000000"/>
                </a:solidFill>
                <a:latin typeface="Montserrat"/>
                <a:ea typeface="Montserrat"/>
                <a:cs typeface="Montserrat"/>
                <a:sym typeface="Montserrat"/>
              </a:rPr>
              <a:t>Begin by using a multimeter to measure voltage output, checking each panel individually using the torchlight. Additionally, inspect the panels to identify any physical defects or anomalies.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371" y="827532"/>
            <a:ext cx="10392661" cy="5901433"/>
          </a:xfrm>
          <a:custGeom>
            <a:avLst/>
            <a:gdLst/>
            <a:ahLst/>
            <a:cxnLst/>
            <a:rect l="l" t="t" r="r" b="b"/>
            <a:pathLst>
              <a:path w="10392661" h="5901433">
                <a:moveTo>
                  <a:pt x="0" y="0"/>
                </a:moveTo>
                <a:lnTo>
                  <a:pt x="10392661" y="0"/>
                </a:lnTo>
                <a:lnTo>
                  <a:pt x="10392661" y="5901433"/>
                </a:lnTo>
                <a:lnTo>
                  <a:pt x="0" y="590143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SG"/>
          </a:p>
        </p:txBody>
      </p:sp>
      <p:grpSp>
        <p:nvGrpSpPr>
          <p:cNvPr id="3" name="Group 3"/>
          <p:cNvGrpSpPr/>
          <p:nvPr/>
        </p:nvGrpSpPr>
        <p:grpSpPr>
          <a:xfrm rot="-5400000">
            <a:off x="55769" y="1405519"/>
            <a:ext cx="1230944" cy="545221"/>
            <a:chOff x="0" y="0"/>
            <a:chExt cx="1641259" cy="726961"/>
          </a:xfrm>
        </p:grpSpPr>
        <p:sp>
          <p:nvSpPr>
            <p:cNvPr id="4" name="Freeform 4"/>
            <p:cNvSpPr/>
            <p:nvPr/>
          </p:nvSpPr>
          <p:spPr>
            <a:xfrm>
              <a:off x="0" y="0"/>
              <a:ext cx="1641221" cy="726948"/>
            </a:xfrm>
            <a:custGeom>
              <a:avLst/>
              <a:gdLst/>
              <a:ahLst/>
              <a:cxnLst/>
              <a:rect l="l" t="t" r="r" b="b"/>
              <a:pathLst>
                <a:path w="1641221" h="726948">
                  <a:moveTo>
                    <a:pt x="0" y="0"/>
                  </a:moveTo>
                  <a:lnTo>
                    <a:pt x="1641221" y="0"/>
                  </a:lnTo>
                  <a:lnTo>
                    <a:pt x="1641221" y="726948"/>
                  </a:lnTo>
                  <a:lnTo>
                    <a:pt x="0" y="726948"/>
                  </a:lnTo>
                  <a:lnTo>
                    <a:pt x="0" y="0"/>
                  </a:lnTo>
                  <a:close/>
                </a:path>
              </a:pathLst>
            </a:custGeom>
            <a:blipFill>
              <a:blip r:embed="rId3"/>
              <a:stretch>
                <a:fillRect t="-54271" r="-2" b="-71512"/>
              </a:stretch>
            </a:blipFill>
          </p:spPr>
          <p:txBody>
            <a:bodyPr/>
            <a:lstStyle/>
            <a:p>
              <a:endParaRPr lang="en-SG"/>
            </a:p>
          </p:txBody>
        </p:sp>
      </p:grpSp>
      <p:sp>
        <p:nvSpPr>
          <p:cNvPr id="5" name="Freeform 5"/>
          <p:cNvSpPr/>
          <p:nvPr/>
        </p:nvSpPr>
        <p:spPr>
          <a:xfrm>
            <a:off x="387963" y="5061566"/>
            <a:ext cx="566557" cy="1416691"/>
          </a:xfrm>
          <a:custGeom>
            <a:avLst/>
            <a:gdLst/>
            <a:ahLst/>
            <a:cxnLst/>
            <a:rect l="l" t="t" r="r" b="b"/>
            <a:pathLst>
              <a:path w="566557" h="1416691">
                <a:moveTo>
                  <a:pt x="0" y="0"/>
                </a:moveTo>
                <a:lnTo>
                  <a:pt x="566556" y="0"/>
                </a:lnTo>
                <a:lnTo>
                  <a:pt x="566556" y="1416691"/>
                </a:lnTo>
                <a:lnTo>
                  <a:pt x="0" y="141669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grpSp>
        <p:nvGrpSpPr>
          <p:cNvPr id="6" name="Group 6"/>
          <p:cNvGrpSpPr/>
          <p:nvPr/>
        </p:nvGrpSpPr>
        <p:grpSpPr>
          <a:xfrm rot="-5400000">
            <a:off x="-37100" y="5486638"/>
            <a:ext cx="1416691" cy="566557"/>
            <a:chOff x="0" y="0"/>
            <a:chExt cx="1888922" cy="755409"/>
          </a:xfrm>
        </p:grpSpPr>
        <p:sp>
          <p:nvSpPr>
            <p:cNvPr id="7" name="Freeform 7"/>
            <p:cNvSpPr/>
            <p:nvPr/>
          </p:nvSpPr>
          <p:spPr>
            <a:xfrm>
              <a:off x="0" y="0"/>
              <a:ext cx="1888871" cy="755396"/>
            </a:xfrm>
            <a:custGeom>
              <a:avLst/>
              <a:gdLst/>
              <a:ahLst/>
              <a:cxnLst/>
              <a:rect l="l" t="t" r="r" b="b"/>
              <a:pathLst>
                <a:path w="1888871" h="755396">
                  <a:moveTo>
                    <a:pt x="0" y="0"/>
                  </a:moveTo>
                  <a:lnTo>
                    <a:pt x="1888871" y="0"/>
                  </a:lnTo>
                  <a:lnTo>
                    <a:pt x="1888871" y="755396"/>
                  </a:lnTo>
                  <a:lnTo>
                    <a:pt x="0" y="755396"/>
                  </a:lnTo>
                  <a:lnTo>
                    <a:pt x="0" y="0"/>
                  </a:lnTo>
                  <a:close/>
                </a:path>
              </a:pathLst>
            </a:custGeom>
            <a:blipFill>
              <a:blip r:embed="rId5"/>
              <a:stretch>
                <a:fillRect r="-2" b="-1"/>
              </a:stretch>
            </a:blipFill>
          </p:spPr>
          <p:txBody>
            <a:bodyPr/>
            <a:lstStyle/>
            <a:p>
              <a:endParaRPr lang="en-SG"/>
            </a:p>
          </p:txBody>
        </p:sp>
      </p:grpSp>
      <p:sp>
        <p:nvSpPr>
          <p:cNvPr id="8" name="Freeform 8"/>
          <p:cNvSpPr/>
          <p:nvPr/>
        </p:nvSpPr>
        <p:spPr>
          <a:xfrm>
            <a:off x="1614945" y="2128390"/>
            <a:ext cx="8831761" cy="4313758"/>
          </a:xfrm>
          <a:custGeom>
            <a:avLst/>
            <a:gdLst/>
            <a:ahLst/>
            <a:cxnLst/>
            <a:rect l="l" t="t" r="r" b="b"/>
            <a:pathLst>
              <a:path w="8831761" h="4313758">
                <a:moveTo>
                  <a:pt x="0" y="0"/>
                </a:moveTo>
                <a:lnTo>
                  <a:pt x="8831761" y="0"/>
                </a:lnTo>
                <a:lnTo>
                  <a:pt x="8831761" y="4313758"/>
                </a:lnTo>
                <a:lnTo>
                  <a:pt x="0" y="431375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SG"/>
          </a:p>
        </p:txBody>
      </p:sp>
      <p:grpSp>
        <p:nvGrpSpPr>
          <p:cNvPr id="9" name="Group 9"/>
          <p:cNvGrpSpPr/>
          <p:nvPr/>
        </p:nvGrpSpPr>
        <p:grpSpPr>
          <a:xfrm>
            <a:off x="7852886" y="3258874"/>
            <a:ext cx="2530326" cy="1483300"/>
            <a:chOff x="0" y="0"/>
            <a:chExt cx="3373768" cy="1977733"/>
          </a:xfrm>
        </p:grpSpPr>
        <p:sp>
          <p:nvSpPr>
            <p:cNvPr id="10" name="Freeform 10"/>
            <p:cNvSpPr/>
            <p:nvPr/>
          </p:nvSpPr>
          <p:spPr>
            <a:xfrm>
              <a:off x="0" y="0"/>
              <a:ext cx="3373755" cy="1977771"/>
            </a:xfrm>
            <a:custGeom>
              <a:avLst/>
              <a:gdLst/>
              <a:ahLst/>
              <a:cxnLst/>
              <a:rect l="l" t="t" r="r" b="b"/>
              <a:pathLst>
                <a:path w="3373755" h="1977771">
                  <a:moveTo>
                    <a:pt x="0" y="0"/>
                  </a:moveTo>
                  <a:lnTo>
                    <a:pt x="3373755" y="0"/>
                  </a:lnTo>
                  <a:lnTo>
                    <a:pt x="3373755" y="1977771"/>
                  </a:lnTo>
                  <a:lnTo>
                    <a:pt x="0" y="1977771"/>
                  </a:lnTo>
                  <a:lnTo>
                    <a:pt x="0" y="0"/>
                  </a:lnTo>
                  <a:close/>
                </a:path>
              </a:pathLst>
            </a:custGeom>
            <a:blipFill>
              <a:blip r:embed="rId7"/>
              <a:stretch>
                <a:fillRect b="1"/>
              </a:stretch>
            </a:blipFill>
          </p:spPr>
          <p:txBody>
            <a:bodyPr/>
            <a:lstStyle/>
            <a:p>
              <a:endParaRPr lang="en-SG"/>
            </a:p>
          </p:txBody>
        </p:sp>
      </p:grpSp>
      <p:sp>
        <p:nvSpPr>
          <p:cNvPr id="11" name="TextBox 11"/>
          <p:cNvSpPr txBox="1"/>
          <p:nvPr/>
        </p:nvSpPr>
        <p:spPr>
          <a:xfrm>
            <a:off x="1774688" y="1439294"/>
            <a:ext cx="4785846" cy="494233"/>
          </a:xfrm>
          <a:prstGeom prst="rect">
            <a:avLst/>
          </a:prstGeom>
        </p:spPr>
        <p:txBody>
          <a:bodyPr lIns="0" tIns="0" rIns="0" bIns="0" rtlCol="0" anchor="t">
            <a:spAutoFit/>
          </a:bodyPr>
          <a:lstStyle/>
          <a:p>
            <a:pPr algn="l">
              <a:lnSpc>
                <a:spcPts val="4086"/>
              </a:lnSpc>
            </a:pPr>
            <a:r>
              <a:rPr lang="en-US" sz="2918" spc="14">
                <a:solidFill>
                  <a:srgbClr val="303030"/>
                </a:solidFill>
                <a:latin typeface="Montserrat"/>
                <a:ea typeface="Montserrat"/>
                <a:cs typeface="Montserrat"/>
                <a:sym typeface="Montserrat"/>
              </a:rPr>
              <a:t>Space Grade Solar Panels</a:t>
            </a:r>
          </a:p>
        </p:txBody>
      </p:sp>
      <p:sp>
        <p:nvSpPr>
          <p:cNvPr id="12" name="TextBox 12"/>
          <p:cNvSpPr txBox="1"/>
          <p:nvPr/>
        </p:nvSpPr>
        <p:spPr>
          <a:xfrm>
            <a:off x="3470291" y="2261254"/>
            <a:ext cx="48587" cy="251879"/>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 </a:t>
            </a:r>
          </a:p>
        </p:txBody>
      </p:sp>
      <p:sp>
        <p:nvSpPr>
          <p:cNvPr id="13" name="TextBox 13"/>
          <p:cNvSpPr txBox="1"/>
          <p:nvPr/>
        </p:nvSpPr>
        <p:spPr>
          <a:xfrm>
            <a:off x="1774688" y="2261254"/>
            <a:ext cx="5724525" cy="251879"/>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Conventional solarcells usedfor civilianapplicationstypically </a:t>
            </a:r>
          </a:p>
        </p:txBody>
      </p:sp>
      <p:sp>
        <p:nvSpPr>
          <p:cNvPr id="14" name="TextBox 14"/>
          <p:cNvSpPr txBox="1"/>
          <p:nvPr/>
        </p:nvSpPr>
        <p:spPr>
          <a:xfrm>
            <a:off x="1774688" y="2528173"/>
            <a:ext cx="6076359" cy="842867"/>
          </a:xfrm>
          <a:prstGeom prst="rect">
            <a:avLst/>
          </a:prstGeom>
        </p:spPr>
        <p:txBody>
          <a:bodyPr lIns="0" tIns="0" rIns="0" bIns="0" rtlCol="0" anchor="t">
            <a:spAutoFit/>
          </a:bodyPr>
          <a:lstStyle/>
          <a:p>
            <a:pPr algn="l">
              <a:lnSpc>
                <a:spcPts val="2251"/>
              </a:lnSpc>
            </a:pPr>
            <a:r>
              <a:rPr lang="en-US" sz="1459" spc="7">
                <a:solidFill>
                  <a:srgbClr val="000000"/>
                </a:solidFill>
                <a:latin typeface="Montserrat"/>
                <a:ea typeface="Montserrat"/>
                <a:cs typeface="Montserrat"/>
                <a:sym typeface="Montserrat"/>
              </a:rPr>
              <a:t>utilize a double-junction design. In contrast, triple-junction solar cells, preferred in space missions, prioritize heightened efﬁciency over concerns of cost and weight. </a:t>
            </a:r>
          </a:p>
        </p:txBody>
      </p:sp>
      <p:sp>
        <p:nvSpPr>
          <p:cNvPr id="15" name="TextBox 15"/>
          <p:cNvSpPr txBox="1"/>
          <p:nvPr/>
        </p:nvSpPr>
        <p:spPr>
          <a:xfrm>
            <a:off x="1774688" y="3643541"/>
            <a:ext cx="6062748" cy="1128846"/>
          </a:xfrm>
          <a:prstGeom prst="rect">
            <a:avLst/>
          </a:prstGeom>
        </p:spPr>
        <p:txBody>
          <a:bodyPr lIns="0" tIns="0" rIns="0" bIns="0" rtlCol="0" anchor="t">
            <a:spAutoFit/>
          </a:bodyPr>
          <a:lstStyle/>
          <a:p>
            <a:pPr algn="l">
              <a:lnSpc>
                <a:spcPts val="2251"/>
              </a:lnSpc>
            </a:pPr>
            <a:r>
              <a:rPr lang="en-US" sz="1459" spc="7">
                <a:solidFill>
                  <a:srgbClr val="000000"/>
                </a:solidFill>
                <a:latin typeface="Montserrat"/>
                <a:ea typeface="Montserrat"/>
                <a:cs typeface="Montserrat"/>
                <a:sym typeface="Montserrat"/>
              </a:rPr>
              <a:t>Engineered to effectively capture a wide spectrum of solar radiation, these cells excel in the challenging conditions of space with limited sunlight. Triple-junction cells signiﬁcantly enhance energy absorption and power generation. </a:t>
            </a:r>
          </a:p>
        </p:txBody>
      </p:sp>
      <p:sp>
        <p:nvSpPr>
          <p:cNvPr id="16" name="TextBox 16"/>
          <p:cNvSpPr txBox="1"/>
          <p:nvPr/>
        </p:nvSpPr>
        <p:spPr>
          <a:xfrm>
            <a:off x="1774688" y="5044888"/>
            <a:ext cx="6190745" cy="1128846"/>
          </a:xfrm>
          <a:prstGeom prst="rect">
            <a:avLst/>
          </a:prstGeom>
        </p:spPr>
        <p:txBody>
          <a:bodyPr lIns="0" tIns="0" rIns="0" bIns="0" rtlCol="0" anchor="t">
            <a:spAutoFit/>
          </a:bodyPr>
          <a:lstStyle/>
          <a:p>
            <a:pPr algn="l">
              <a:lnSpc>
                <a:spcPts val="2251"/>
              </a:lnSpc>
            </a:pPr>
            <a:r>
              <a:rPr lang="en-US" sz="1459" spc="7">
                <a:solidFill>
                  <a:srgbClr val="000000"/>
                </a:solidFill>
                <a:latin typeface="Montserrat"/>
                <a:ea typeface="Montserrat"/>
                <a:cs typeface="Montserrat"/>
                <a:sym typeface="Montserrat"/>
              </a:rPr>
              <a:t>Their durability in harsh space environments, including exposure to radiation and extreme temperatures, positions them as an optimal choice for powering satellites, space probes, and scientiﬁc instruments.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371" y="827532"/>
            <a:ext cx="10392661" cy="5901433"/>
          </a:xfrm>
          <a:custGeom>
            <a:avLst/>
            <a:gdLst/>
            <a:ahLst/>
            <a:cxnLst/>
            <a:rect l="l" t="t" r="r" b="b"/>
            <a:pathLst>
              <a:path w="10392661" h="5901433">
                <a:moveTo>
                  <a:pt x="0" y="0"/>
                </a:moveTo>
                <a:lnTo>
                  <a:pt x="10392661" y="0"/>
                </a:lnTo>
                <a:lnTo>
                  <a:pt x="10392661" y="5901433"/>
                </a:lnTo>
                <a:lnTo>
                  <a:pt x="0" y="590143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SG"/>
          </a:p>
        </p:txBody>
      </p:sp>
      <p:grpSp>
        <p:nvGrpSpPr>
          <p:cNvPr id="3" name="Group 3"/>
          <p:cNvGrpSpPr/>
          <p:nvPr/>
        </p:nvGrpSpPr>
        <p:grpSpPr>
          <a:xfrm rot="-5400000">
            <a:off x="55769" y="1405519"/>
            <a:ext cx="1230944" cy="545221"/>
            <a:chOff x="0" y="0"/>
            <a:chExt cx="1641259" cy="726961"/>
          </a:xfrm>
        </p:grpSpPr>
        <p:sp>
          <p:nvSpPr>
            <p:cNvPr id="4" name="Freeform 4"/>
            <p:cNvSpPr/>
            <p:nvPr/>
          </p:nvSpPr>
          <p:spPr>
            <a:xfrm>
              <a:off x="0" y="0"/>
              <a:ext cx="1641221" cy="726948"/>
            </a:xfrm>
            <a:custGeom>
              <a:avLst/>
              <a:gdLst/>
              <a:ahLst/>
              <a:cxnLst/>
              <a:rect l="l" t="t" r="r" b="b"/>
              <a:pathLst>
                <a:path w="1641221" h="726948">
                  <a:moveTo>
                    <a:pt x="0" y="0"/>
                  </a:moveTo>
                  <a:lnTo>
                    <a:pt x="1641221" y="0"/>
                  </a:lnTo>
                  <a:lnTo>
                    <a:pt x="1641221" y="726948"/>
                  </a:lnTo>
                  <a:lnTo>
                    <a:pt x="0" y="726948"/>
                  </a:lnTo>
                  <a:lnTo>
                    <a:pt x="0" y="0"/>
                  </a:lnTo>
                  <a:close/>
                </a:path>
              </a:pathLst>
            </a:custGeom>
            <a:blipFill>
              <a:blip r:embed="rId3"/>
              <a:stretch>
                <a:fillRect t="-54271" r="-2" b="-71512"/>
              </a:stretch>
            </a:blipFill>
          </p:spPr>
          <p:txBody>
            <a:bodyPr/>
            <a:lstStyle/>
            <a:p>
              <a:endParaRPr lang="en-SG"/>
            </a:p>
          </p:txBody>
        </p:sp>
      </p:grpSp>
      <p:sp>
        <p:nvSpPr>
          <p:cNvPr id="5" name="Freeform 5"/>
          <p:cNvSpPr/>
          <p:nvPr/>
        </p:nvSpPr>
        <p:spPr>
          <a:xfrm>
            <a:off x="387963" y="5061566"/>
            <a:ext cx="566557" cy="1416691"/>
          </a:xfrm>
          <a:custGeom>
            <a:avLst/>
            <a:gdLst/>
            <a:ahLst/>
            <a:cxnLst/>
            <a:rect l="l" t="t" r="r" b="b"/>
            <a:pathLst>
              <a:path w="566557" h="1416691">
                <a:moveTo>
                  <a:pt x="0" y="0"/>
                </a:moveTo>
                <a:lnTo>
                  <a:pt x="566556" y="0"/>
                </a:lnTo>
                <a:lnTo>
                  <a:pt x="566556" y="1416691"/>
                </a:lnTo>
                <a:lnTo>
                  <a:pt x="0" y="141669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grpSp>
        <p:nvGrpSpPr>
          <p:cNvPr id="6" name="Group 6"/>
          <p:cNvGrpSpPr/>
          <p:nvPr/>
        </p:nvGrpSpPr>
        <p:grpSpPr>
          <a:xfrm rot="-5400000">
            <a:off x="-37100" y="5486638"/>
            <a:ext cx="1416691" cy="566557"/>
            <a:chOff x="0" y="0"/>
            <a:chExt cx="1888922" cy="755409"/>
          </a:xfrm>
        </p:grpSpPr>
        <p:sp>
          <p:nvSpPr>
            <p:cNvPr id="7" name="Freeform 7"/>
            <p:cNvSpPr/>
            <p:nvPr/>
          </p:nvSpPr>
          <p:spPr>
            <a:xfrm>
              <a:off x="0" y="0"/>
              <a:ext cx="1888871" cy="755396"/>
            </a:xfrm>
            <a:custGeom>
              <a:avLst/>
              <a:gdLst/>
              <a:ahLst/>
              <a:cxnLst/>
              <a:rect l="l" t="t" r="r" b="b"/>
              <a:pathLst>
                <a:path w="1888871" h="755396">
                  <a:moveTo>
                    <a:pt x="0" y="0"/>
                  </a:moveTo>
                  <a:lnTo>
                    <a:pt x="1888871" y="0"/>
                  </a:lnTo>
                  <a:lnTo>
                    <a:pt x="1888871" y="755396"/>
                  </a:lnTo>
                  <a:lnTo>
                    <a:pt x="0" y="755396"/>
                  </a:lnTo>
                  <a:lnTo>
                    <a:pt x="0" y="0"/>
                  </a:lnTo>
                  <a:close/>
                </a:path>
              </a:pathLst>
            </a:custGeom>
            <a:blipFill>
              <a:blip r:embed="rId5"/>
              <a:stretch>
                <a:fillRect r="-2" b="-1"/>
              </a:stretch>
            </a:blipFill>
          </p:spPr>
          <p:txBody>
            <a:bodyPr/>
            <a:lstStyle/>
            <a:p>
              <a:endParaRPr lang="en-SG"/>
            </a:p>
          </p:txBody>
        </p:sp>
      </p:grpSp>
      <p:sp>
        <p:nvSpPr>
          <p:cNvPr id="8" name="Freeform 8"/>
          <p:cNvSpPr/>
          <p:nvPr/>
        </p:nvSpPr>
        <p:spPr>
          <a:xfrm>
            <a:off x="1678448" y="2191893"/>
            <a:ext cx="8077133" cy="3609146"/>
          </a:xfrm>
          <a:custGeom>
            <a:avLst/>
            <a:gdLst/>
            <a:ahLst/>
            <a:cxnLst/>
            <a:rect l="l" t="t" r="r" b="b"/>
            <a:pathLst>
              <a:path w="8077133" h="3609146">
                <a:moveTo>
                  <a:pt x="0" y="0"/>
                </a:moveTo>
                <a:lnTo>
                  <a:pt x="8077133" y="0"/>
                </a:lnTo>
                <a:lnTo>
                  <a:pt x="8077133" y="3609146"/>
                </a:lnTo>
                <a:lnTo>
                  <a:pt x="0" y="360914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SG"/>
          </a:p>
        </p:txBody>
      </p:sp>
      <p:sp>
        <p:nvSpPr>
          <p:cNvPr id="9" name="TextBox 9"/>
          <p:cNvSpPr txBox="1"/>
          <p:nvPr/>
        </p:nvSpPr>
        <p:spPr>
          <a:xfrm>
            <a:off x="1774688" y="1439294"/>
            <a:ext cx="4785846" cy="494233"/>
          </a:xfrm>
          <a:prstGeom prst="rect">
            <a:avLst/>
          </a:prstGeom>
        </p:spPr>
        <p:txBody>
          <a:bodyPr lIns="0" tIns="0" rIns="0" bIns="0" rtlCol="0" anchor="t">
            <a:spAutoFit/>
          </a:bodyPr>
          <a:lstStyle/>
          <a:p>
            <a:pPr algn="l">
              <a:lnSpc>
                <a:spcPts val="4086"/>
              </a:lnSpc>
            </a:pPr>
            <a:r>
              <a:rPr lang="en-US" sz="2918" spc="14">
                <a:solidFill>
                  <a:srgbClr val="303030"/>
                </a:solidFill>
                <a:latin typeface="Montserrat"/>
                <a:ea typeface="Montserrat"/>
                <a:cs typeface="Montserrat"/>
                <a:sym typeface="Montserrat"/>
              </a:rPr>
              <a:t>Space Grade Solar Panels</a:t>
            </a:r>
          </a:p>
        </p:txBody>
      </p:sp>
      <p:sp>
        <p:nvSpPr>
          <p:cNvPr id="10" name="TextBox 10"/>
          <p:cNvSpPr txBox="1"/>
          <p:nvPr/>
        </p:nvSpPr>
        <p:spPr>
          <a:xfrm>
            <a:off x="1890160" y="2261254"/>
            <a:ext cx="48587" cy="251879"/>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 </a:t>
            </a:r>
          </a:p>
        </p:txBody>
      </p:sp>
      <p:sp>
        <p:nvSpPr>
          <p:cNvPr id="11" name="TextBox 11"/>
          <p:cNvSpPr txBox="1"/>
          <p:nvPr/>
        </p:nvSpPr>
        <p:spPr>
          <a:xfrm>
            <a:off x="1774688" y="2261254"/>
            <a:ext cx="7689609" cy="251879"/>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Ifwe consider adouble row of solar cells oneachface of a CubeSat, the number of </a:t>
            </a:r>
          </a:p>
        </p:txBody>
      </p:sp>
      <p:sp>
        <p:nvSpPr>
          <p:cNvPr id="12" name="TextBox 12"/>
          <p:cNvSpPr txBox="1"/>
          <p:nvPr/>
        </p:nvSpPr>
        <p:spPr>
          <a:xfrm>
            <a:off x="1774688" y="2547223"/>
            <a:ext cx="3259007" cy="251879"/>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cells may be distributed as follows: </a:t>
            </a:r>
          </a:p>
        </p:txBody>
      </p:sp>
      <p:sp>
        <p:nvSpPr>
          <p:cNvPr id="13" name="TextBox 13"/>
          <p:cNvSpPr txBox="1"/>
          <p:nvPr/>
        </p:nvSpPr>
        <p:spPr>
          <a:xfrm>
            <a:off x="1919402" y="2842593"/>
            <a:ext cx="114195" cy="247164"/>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a:t>
            </a:r>
          </a:p>
        </p:txBody>
      </p:sp>
      <p:sp>
        <p:nvSpPr>
          <p:cNvPr id="14" name="TextBox 14"/>
          <p:cNvSpPr txBox="1"/>
          <p:nvPr/>
        </p:nvSpPr>
        <p:spPr>
          <a:xfrm>
            <a:off x="2287972" y="2799883"/>
            <a:ext cx="7435539" cy="2844679"/>
          </a:xfrm>
          <a:prstGeom prst="rect">
            <a:avLst/>
          </a:prstGeom>
        </p:spPr>
        <p:txBody>
          <a:bodyPr lIns="0" tIns="0" rIns="0" bIns="0" rtlCol="0" anchor="t">
            <a:spAutoFit/>
          </a:bodyPr>
          <a:lstStyle/>
          <a:p>
            <a:pPr algn="l">
              <a:lnSpc>
                <a:spcPts val="2251"/>
              </a:lnSpc>
            </a:pPr>
            <a:r>
              <a:rPr lang="en-US" sz="1459" spc="7">
                <a:solidFill>
                  <a:srgbClr val="000000"/>
                </a:solidFill>
                <a:latin typeface="Montserrat"/>
                <a:ea typeface="Montserrat"/>
                <a:cs typeface="Montserrat"/>
                <a:sym typeface="Montserrat"/>
              </a:rPr>
              <a:t>1U CubeSat: A 1U CubeSat with a double row of solar cells might have around 6 to 12 solar cells. </a:t>
            </a:r>
          </a:p>
          <a:p>
            <a:pPr algn="l">
              <a:lnSpc>
                <a:spcPts val="2251"/>
              </a:lnSpc>
            </a:pPr>
            <a:r>
              <a:rPr lang="en-US" sz="1459" spc="7">
                <a:solidFill>
                  <a:srgbClr val="000000"/>
                </a:solidFill>
                <a:latin typeface="Montserrat"/>
                <a:ea typeface="Montserrat"/>
                <a:cs typeface="Montserrat"/>
                <a:sym typeface="Montserrat"/>
              </a:rPr>
              <a:t>2U CubeSat: For a 2U CubeSat, a double row could result in approximately 12 to 24 solar cells. </a:t>
            </a:r>
          </a:p>
          <a:p>
            <a:pPr algn="l">
              <a:lnSpc>
                <a:spcPts val="2251"/>
              </a:lnSpc>
            </a:pPr>
            <a:r>
              <a:rPr lang="en-US" sz="1459" spc="7">
                <a:solidFill>
                  <a:srgbClr val="000000"/>
                </a:solidFill>
                <a:latin typeface="Montserrat"/>
                <a:ea typeface="Montserrat"/>
                <a:cs typeface="Montserrat"/>
                <a:sym typeface="Montserrat"/>
              </a:rPr>
              <a:t>3U CubeSat: A double row on a 3U CubeSat might feature around 18 to 36 solar cells. </a:t>
            </a:r>
          </a:p>
          <a:p>
            <a:pPr algn="l">
              <a:lnSpc>
                <a:spcPts val="2251"/>
              </a:lnSpc>
            </a:pPr>
            <a:r>
              <a:rPr lang="en-US" sz="1459" spc="7">
                <a:solidFill>
                  <a:srgbClr val="000000"/>
                </a:solidFill>
                <a:latin typeface="Montserrat"/>
                <a:ea typeface="Montserrat"/>
                <a:cs typeface="Montserrat"/>
                <a:sym typeface="Montserrat"/>
              </a:rPr>
              <a:t>6U CubeSat: On a 6U CubeSat, a double row conﬁguration could include approximately 36 to 60 solar cells. </a:t>
            </a:r>
          </a:p>
          <a:p>
            <a:pPr algn="l">
              <a:lnSpc>
                <a:spcPts val="2251"/>
              </a:lnSpc>
            </a:pPr>
            <a:r>
              <a:rPr lang="en-US" sz="1459" spc="7">
                <a:solidFill>
                  <a:srgbClr val="000000"/>
                </a:solidFill>
                <a:latin typeface="Montserrat"/>
                <a:ea typeface="Montserrat"/>
                <a:cs typeface="Montserrat"/>
                <a:sym typeface="Montserrat"/>
              </a:rPr>
              <a:t>12U CubeSat: For a 12U CubeSat, with a double row, you might ﬁnd around 60 to 120 solar cells (doployables).</a:t>
            </a:r>
          </a:p>
        </p:txBody>
      </p:sp>
      <p:sp>
        <p:nvSpPr>
          <p:cNvPr id="15" name="TextBox 15"/>
          <p:cNvSpPr txBox="1"/>
          <p:nvPr/>
        </p:nvSpPr>
        <p:spPr>
          <a:xfrm>
            <a:off x="1919402" y="3414541"/>
            <a:ext cx="114195" cy="247164"/>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a:t>
            </a:r>
          </a:p>
        </p:txBody>
      </p:sp>
      <p:sp>
        <p:nvSpPr>
          <p:cNvPr id="16" name="TextBox 16"/>
          <p:cNvSpPr txBox="1"/>
          <p:nvPr/>
        </p:nvSpPr>
        <p:spPr>
          <a:xfrm>
            <a:off x="1919402" y="3986479"/>
            <a:ext cx="114195" cy="247164"/>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a:t>
            </a:r>
          </a:p>
        </p:txBody>
      </p:sp>
      <p:sp>
        <p:nvSpPr>
          <p:cNvPr id="17" name="TextBox 17"/>
          <p:cNvSpPr txBox="1"/>
          <p:nvPr/>
        </p:nvSpPr>
        <p:spPr>
          <a:xfrm>
            <a:off x="1919402" y="4558427"/>
            <a:ext cx="114195" cy="247164"/>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a:t>
            </a:r>
          </a:p>
        </p:txBody>
      </p:sp>
      <p:sp>
        <p:nvSpPr>
          <p:cNvPr id="18" name="TextBox 18"/>
          <p:cNvSpPr txBox="1"/>
          <p:nvPr/>
        </p:nvSpPr>
        <p:spPr>
          <a:xfrm>
            <a:off x="1919402" y="5130365"/>
            <a:ext cx="114195" cy="247164"/>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139952" y="838200"/>
            <a:ext cx="9314688" cy="85344"/>
            <a:chOff x="0" y="0"/>
            <a:chExt cx="12419584" cy="113792"/>
          </a:xfrm>
        </p:grpSpPr>
        <p:sp>
          <p:nvSpPr>
            <p:cNvPr id="10" name="Freeform 10"/>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4"/>
              <a:stretch>
                <a:fillRect/>
              </a:stretch>
            </a:blipFill>
          </p:spPr>
          <p:txBody>
            <a:bodyPr/>
            <a:lstStyle/>
            <a:p>
              <a:endParaRPr lang="en-SG"/>
            </a:p>
          </p:txBody>
        </p:sp>
      </p:grpSp>
      <p:grpSp>
        <p:nvGrpSpPr>
          <p:cNvPr id="11" name="Group 11"/>
          <p:cNvGrpSpPr/>
          <p:nvPr/>
        </p:nvGrpSpPr>
        <p:grpSpPr>
          <a:xfrm>
            <a:off x="1139952" y="920496"/>
            <a:ext cx="9314688" cy="85344"/>
            <a:chOff x="0" y="0"/>
            <a:chExt cx="12419584" cy="113792"/>
          </a:xfrm>
        </p:grpSpPr>
        <p:sp>
          <p:nvSpPr>
            <p:cNvPr id="12" name="Freeform 12"/>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5"/>
              <a:stretch>
                <a:fillRect/>
              </a:stretch>
            </a:blipFill>
          </p:spPr>
          <p:txBody>
            <a:bodyPr/>
            <a:lstStyle/>
            <a:p>
              <a:endParaRPr lang="en-SG"/>
            </a:p>
          </p:txBody>
        </p:sp>
      </p:grpSp>
      <p:grpSp>
        <p:nvGrpSpPr>
          <p:cNvPr id="13" name="Group 13"/>
          <p:cNvGrpSpPr/>
          <p:nvPr/>
        </p:nvGrpSpPr>
        <p:grpSpPr>
          <a:xfrm>
            <a:off x="1139952" y="1002792"/>
            <a:ext cx="9314688" cy="85344"/>
            <a:chOff x="0" y="0"/>
            <a:chExt cx="12419584" cy="113792"/>
          </a:xfrm>
        </p:grpSpPr>
        <p:sp>
          <p:nvSpPr>
            <p:cNvPr id="14" name="Freeform 14"/>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6"/>
              <a:stretch>
                <a:fillRect/>
              </a:stretch>
            </a:blipFill>
          </p:spPr>
          <p:txBody>
            <a:bodyPr/>
            <a:lstStyle/>
            <a:p>
              <a:endParaRPr lang="en-SG"/>
            </a:p>
          </p:txBody>
        </p:sp>
      </p:grpSp>
      <p:grpSp>
        <p:nvGrpSpPr>
          <p:cNvPr id="15" name="Group 15"/>
          <p:cNvGrpSpPr/>
          <p:nvPr/>
        </p:nvGrpSpPr>
        <p:grpSpPr>
          <a:xfrm>
            <a:off x="1139952" y="1085088"/>
            <a:ext cx="9314688" cy="85344"/>
            <a:chOff x="0" y="0"/>
            <a:chExt cx="12419584" cy="113792"/>
          </a:xfrm>
        </p:grpSpPr>
        <p:sp>
          <p:nvSpPr>
            <p:cNvPr id="16" name="Freeform 16"/>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7"/>
              <a:stretch>
                <a:fillRect/>
              </a:stretch>
            </a:blipFill>
          </p:spPr>
          <p:txBody>
            <a:bodyPr/>
            <a:lstStyle/>
            <a:p>
              <a:endParaRPr lang="en-SG"/>
            </a:p>
          </p:txBody>
        </p:sp>
      </p:grpSp>
      <p:grpSp>
        <p:nvGrpSpPr>
          <p:cNvPr id="17" name="Group 17"/>
          <p:cNvGrpSpPr/>
          <p:nvPr/>
        </p:nvGrpSpPr>
        <p:grpSpPr>
          <a:xfrm>
            <a:off x="1139952" y="1167384"/>
            <a:ext cx="9314688" cy="85344"/>
            <a:chOff x="0" y="0"/>
            <a:chExt cx="12419584" cy="113792"/>
          </a:xfrm>
        </p:grpSpPr>
        <p:sp>
          <p:nvSpPr>
            <p:cNvPr id="18" name="Freeform 18"/>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8"/>
              <a:stretch>
                <a:fillRect/>
              </a:stretch>
            </a:blipFill>
          </p:spPr>
          <p:txBody>
            <a:bodyPr/>
            <a:lstStyle/>
            <a:p>
              <a:endParaRPr lang="en-SG"/>
            </a:p>
          </p:txBody>
        </p:sp>
      </p:grpSp>
      <p:grpSp>
        <p:nvGrpSpPr>
          <p:cNvPr id="19" name="Group 19"/>
          <p:cNvGrpSpPr/>
          <p:nvPr/>
        </p:nvGrpSpPr>
        <p:grpSpPr>
          <a:xfrm>
            <a:off x="1139952" y="1249680"/>
            <a:ext cx="9314688" cy="85344"/>
            <a:chOff x="0" y="0"/>
            <a:chExt cx="12419584" cy="113792"/>
          </a:xfrm>
        </p:grpSpPr>
        <p:sp>
          <p:nvSpPr>
            <p:cNvPr id="20" name="Freeform 20"/>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9"/>
              <a:stretch>
                <a:fillRect/>
              </a:stretch>
            </a:blipFill>
          </p:spPr>
          <p:txBody>
            <a:bodyPr/>
            <a:lstStyle/>
            <a:p>
              <a:endParaRPr lang="en-SG"/>
            </a:p>
          </p:txBody>
        </p:sp>
      </p:grpSp>
      <p:grpSp>
        <p:nvGrpSpPr>
          <p:cNvPr id="21" name="Group 21"/>
          <p:cNvGrpSpPr/>
          <p:nvPr/>
        </p:nvGrpSpPr>
        <p:grpSpPr>
          <a:xfrm>
            <a:off x="1139952" y="1331976"/>
            <a:ext cx="9314688" cy="85344"/>
            <a:chOff x="0" y="0"/>
            <a:chExt cx="12419584" cy="113792"/>
          </a:xfrm>
        </p:grpSpPr>
        <p:sp>
          <p:nvSpPr>
            <p:cNvPr id="22" name="Freeform 22"/>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10"/>
              <a:stretch>
                <a:fillRect/>
              </a:stretch>
            </a:blipFill>
          </p:spPr>
          <p:txBody>
            <a:bodyPr/>
            <a:lstStyle/>
            <a:p>
              <a:endParaRPr lang="en-SG"/>
            </a:p>
          </p:txBody>
        </p:sp>
      </p:grpSp>
      <p:grpSp>
        <p:nvGrpSpPr>
          <p:cNvPr id="23" name="Group 23"/>
          <p:cNvGrpSpPr/>
          <p:nvPr/>
        </p:nvGrpSpPr>
        <p:grpSpPr>
          <a:xfrm>
            <a:off x="1139952" y="1414272"/>
            <a:ext cx="9314688" cy="85344"/>
            <a:chOff x="0" y="0"/>
            <a:chExt cx="12419584" cy="113792"/>
          </a:xfrm>
        </p:grpSpPr>
        <p:sp>
          <p:nvSpPr>
            <p:cNvPr id="24" name="Freeform 24"/>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11"/>
              <a:stretch>
                <a:fillRect/>
              </a:stretch>
            </a:blipFill>
          </p:spPr>
          <p:txBody>
            <a:bodyPr/>
            <a:lstStyle/>
            <a:p>
              <a:endParaRPr lang="en-SG"/>
            </a:p>
          </p:txBody>
        </p:sp>
      </p:grpSp>
      <p:grpSp>
        <p:nvGrpSpPr>
          <p:cNvPr id="25" name="Group 25"/>
          <p:cNvGrpSpPr/>
          <p:nvPr/>
        </p:nvGrpSpPr>
        <p:grpSpPr>
          <a:xfrm>
            <a:off x="1139952" y="1496568"/>
            <a:ext cx="9314688" cy="85344"/>
            <a:chOff x="0" y="0"/>
            <a:chExt cx="12419584" cy="113792"/>
          </a:xfrm>
        </p:grpSpPr>
        <p:sp>
          <p:nvSpPr>
            <p:cNvPr id="26" name="Freeform 26"/>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12"/>
              <a:stretch>
                <a:fillRect/>
              </a:stretch>
            </a:blipFill>
          </p:spPr>
          <p:txBody>
            <a:bodyPr/>
            <a:lstStyle/>
            <a:p>
              <a:endParaRPr lang="en-SG"/>
            </a:p>
          </p:txBody>
        </p:sp>
      </p:grpSp>
      <p:grpSp>
        <p:nvGrpSpPr>
          <p:cNvPr id="27" name="Group 27"/>
          <p:cNvGrpSpPr/>
          <p:nvPr/>
        </p:nvGrpSpPr>
        <p:grpSpPr>
          <a:xfrm>
            <a:off x="1139952" y="1578864"/>
            <a:ext cx="9314688" cy="85344"/>
            <a:chOff x="0" y="0"/>
            <a:chExt cx="12419584" cy="113792"/>
          </a:xfrm>
        </p:grpSpPr>
        <p:sp>
          <p:nvSpPr>
            <p:cNvPr id="28" name="Freeform 28"/>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13"/>
              <a:stretch>
                <a:fillRect/>
              </a:stretch>
            </a:blipFill>
          </p:spPr>
          <p:txBody>
            <a:bodyPr/>
            <a:lstStyle/>
            <a:p>
              <a:endParaRPr lang="en-SG"/>
            </a:p>
          </p:txBody>
        </p:sp>
      </p:grpSp>
      <p:grpSp>
        <p:nvGrpSpPr>
          <p:cNvPr id="29" name="Group 29"/>
          <p:cNvGrpSpPr/>
          <p:nvPr/>
        </p:nvGrpSpPr>
        <p:grpSpPr>
          <a:xfrm>
            <a:off x="1139952" y="1661160"/>
            <a:ext cx="9314688" cy="85344"/>
            <a:chOff x="0" y="0"/>
            <a:chExt cx="12419584" cy="113792"/>
          </a:xfrm>
        </p:grpSpPr>
        <p:sp>
          <p:nvSpPr>
            <p:cNvPr id="30" name="Freeform 30"/>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14"/>
              <a:stretch>
                <a:fillRect/>
              </a:stretch>
            </a:blipFill>
          </p:spPr>
          <p:txBody>
            <a:bodyPr/>
            <a:lstStyle/>
            <a:p>
              <a:endParaRPr lang="en-SG"/>
            </a:p>
          </p:txBody>
        </p:sp>
      </p:grpSp>
      <p:grpSp>
        <p:nvGrpSpPr>
          <p:cNvPr id="31" name="Group 31"/>
          <p:cNvGrpSpPr/>
          <p:nvPr/>
        </p:nvGrpSpPr>
        <p:grpSpPr>
          <a:xfrm>
            <a:off x="1139952" y="1743456"/>
            <a:ext cx="9314688" cy="85344"/>
            <a:chOff x="0" y="0"/>
            <a:chExt cx="12419584" cy="113792"/>
          </a:xfrm>
        </p:grpSpPr>
        <p:sp>
          <p:nvSpPr>
            <p:cNvPr id="32" name="Freeform 32"/>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15"/>
              <a:stretch>
                <a:fillRect/>
              </a:stretch>
            </a:blipFill>
          </p:spPr>
          <p:txBody>
            <a:bodyPr/>
            <a:lstStyle/>
            <a:p>
              <a:endParaRPr lang="en-SG"/>
            </a:p>
          </p:txBody>
        </p:sp>
      </p:grpSp>
      <p:grpSp>
        <p:nvGrpSpPr>
          <p:cNvPr id="33" name="Group 33"/>
          <p:cNvGrpSpPr/>
          <p:nvPr/>
        </p:nvGrpSpPr>
        <p:grpSpPr>
          <a:xfrm>
            <a:off x="1139952" y="1825752"/>
            <a:ext cx="9314688" cy="85344"/>
            <a:chOff x="0" y="0"/>
            <a:chExt cx="12419584" cy="113792"/>
          </a:xfrm>
        </p:grpSpPr>
        <p:sp>
          <p:nvSpPr>
            <p:cNvPr id="34" name="Freeform 34"/>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16"/>
              <a:stretch>
                <a:fillRect/>
              </a:stretch>
            </a:blipFill>
          </p:spPr>
          <p:txBody>
            <a:bodyPr/>
            <a:lstStyle/>
            <a:p>
              <a:endParaRPr lang="en-SG"/>
            </a:p>
          </p:txBody>
        </p:sp>
      </p:grpSp>
      <p:grpSp>
        <p:nvGrpSpPr>
          <p:cNvPr id="35" name="Group 35"/>
          <p:cNvGrpSpPr/>
          <p:nvPr/>
        </p:nvGrpSpPr>
        <p:grpSpPr>
          <a:xfrm>
            <a:off x="1139952" y="1908048"/>
            <a:ext cx="9314688" cy="85344"/>
            <a:chOff x="0" y="0"/>
            <a:chExt cx="12419584" cy="113792"/>
          </a:xfrm>
        </p:grpSpPr>
        <p:sp>
          <p:nvSpPr>
            <p:cNvPr id="36" name="Freeform 36"/>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17"/>
              <a:stretch>
                <a:fillRect/>
              </a:stretch>
            </a:blipFill>
          </p:spPr>
          <p:txBody>
            <a:bodyPr/>
            <a:lstStyle/>
            <a:p>
              <a:endParaRPr lang="en-SG"/>
            </a:p>
          </p:txBody>
        </p:sp>
      </p:grpSp>
      <p:grpSp>
        <p:nvGrpSpPr>
          <p:cNvPr id="37" name="Group 37"/>
          <p:cNvGrpSpPr/>
          <p:nvPr/>
        </p:nvGrpSpPr>
        <p:grpSpPr>
          <a:xfrm>
            <a:off x="1139952" y="1990344"/>
            <a:ext cx="9314688" cy="85344"/>
            <a:chOff x="0" y="0"/>
            <a:chExt cx="12419584" cy="113792"/>
          </a:xfrm>
        </p:grpSpPr>
        <p:sp>
          <p:nvSpPr>
            <p:cNvPr id="38" name="Freeform 38"/>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18"/>
              <a:stretch>
                <a:fillRect/>
              </a:stretch>
            </a:blipFill>
          </p:spPr>
          <p:txBody>
            <a:bodyPr/>
            <a:lstStyle/>
            <a:p>
              <a:endParaRPr lang="en-SG"/>
            </a:p>
          </p:txBody>
        </p:sp>
      </p:grpSp>
      <p:grpSp>
        <p:nvGrpSpPr>
          <p:cNvPr id="39" name="Group 39"/>
          <p:cNvGrpSpPr/>
          <p:nvPr/>
        </p:nvGrpSpPr>
        <p:grpSpPr>
          <a:xfrm>
            <a:off x="1139952" y="2072640"/>
            <a:ext cx="9314688" cy="85344"/>
            <a:chOff x="0" y="0"/>
            <a:chExt cx="12419584" cy="113792"/>
          </a:xfrm>
        </p:grpSpPr>
        <p:sp>
          <p:nvSpPr>
            <p:cNvPr id="40" name="Freeform 40"/>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19"/>
              <a:stretch>
                <a:fillRect/>
              </a:stretch>
            </a:blipFill>
          </p:spPr>
          <p:txBody>
            <a:bodyPr/>
            <a:lstStyle/>
            <a:p>
              <a:endParaRPr lang="en-SG"/>
            </a:p>
          </p:txBody>
        </p:sp>
      </p:grpSp>
      <p:grpSp>
        <p:nvGrpSpPr>
          <p:cNvPr id="41" name="Group 41"/>
          <p:cNvGrpSpPr/>
          <p:nvPr/>
        </p:nvGrpSpPr>
        <p:grpSpPr>
          <a:xfrm>
            <a:off x="1139952" y="2154936"/>
            <a:ext cx="9314688" cy="85344"/>
            <a:chOff x="0" y="0"/>
            <a:chExt cx="12419584" cy="113792"/>
          </a:xfrm>
        </p:grpSpPr>
        <p:sp>
          <p:nvSpPr>
            <p:cNvPr id="42" name="Freeform 42"/>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20"/>
              <a:stretch>
                <a:fillRect/>
              </a:stretch>
            </a:blipFill>
          </p:spPr>
          <p:txBody>
            <a:bodyPr/>
            <a:lstStyle/>
            <a:p>
              <a:endParaRPr lang="en-SG"/>
            </a:p>
          </p:txBody>
        </p:sp>
      </p:grpSp>
      <p:grpSp>
        <p:nvGrpSpPr>
          <p:cNvPr id="43" name="Group 43"/>
          <p:cNvGrpSpPr/>
          <p:nvPr/>
        </p:nvGrpSpPr>
        <p:grpSpPr>
          <a:xfrm>
            <a:off x="1139952" y="2237232"/>
            <a:ext cx="9314688" cy="85344"/>
            <a:chOff x="0" y="0"/>
            <a:chExt cx="12419584" cy="113792"/>
          </a:xfrm>
        </p:grpSpPr>
        <p:sp>
          <p:nvSpPr>
            <p:cNvPr id="44" name="Freeform 44"/>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21"/>
              <a:stretch>
                <a:fillRect/>
              </a:stretch>
            </a:blipFill>
          </p:spPr>
          <p:txBody>
            <a:bodyPr/>
            <a:lstStyle/>
            <a:p>
              <a:endParaRPr lang="en-SG"/>
            </a:p>
          </p:txBody>
        </p:sp>
      </p:grpSp>
      <p:grpSp>
        <p:nvGrpSpPr>
          <p:cNvPr id="45" name="Group 45"/>
          <p:cNvGrpSpPr/>
          <p:nvPr/>
        </p:nvGrpSpPr>
        <p:grpSpPr>
          <a:xfrm>
            <a:off x="1139952" y="2319528"/>
            <a:ext cx="9314688" cy="85344"/>
            <a:chOff x="0" y="0"/>
            <a:chExt cx="12419584" cy="113792"/>
          </a:xfrm>
        </p:grpSpPr>
        <p:sp>
          <p:nvSpPr>
            <p:cNvPr id="46" name="Freeform 46"/>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22"/>
              <a:stretch>
                <a:fillRect/>
              </a:stretch>
            </a:blipFill>
          </p:spPr>
          <p:txBody>
            <a:bodyPr/>
            <a:lstStyle/>
            <a:p>
              <a:endParaRPr lang="en-SG"/>
            </a:p>
          </p:txBody>
        </p:sp>
      </p:grpSp>
      <p:grpSp>
        <p:nvGrpSpPr>
          <p:cNvPr id="47" name="Group 47"/>
          <p:cNvGrpSpPr/>
          <p:nvPr/>
        </p:nvGrpSpPr>
        <p:grpSpPr>
          <a:xfrm>
            <a:off x="1139952" y="2401824"/>
            <a:ext cx="9314688" cy="85344"/>
            <a:chOff x="0" y="0"/>
            <a:chExt cx="12419584" cy="113792"/>
          </a:xfrm>
        </p:grpSpPr>
        <p:sp>
          <p:nvSpPr>
            <p:cNvPr id="48" name="Freeform 48"/>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23"/>
              <a:stretch>
                <a:fillRect/>
              </a:stretch>
            </a:blipFill>
          </p:spPr>
          <p:txBody>
            <a:bodyPr/>
            <a:lstStyle/>
            <a:p>
              <a:endParaRPr lang="en-SG"/>
            </a:p>
          </p:txBody>
        </p:sp>
      </p:grpSp>
      <p:grpSp>
        <p:nvGrpSpPr>
          <p:cNvPr id="49" name="Group 49"/>
          <p:cNvGrpSpPr/>
          <p:nvPr/>
        </p:nvGrpSpPr>
        <p:grpSpPr>
          <a:xfrm>
            <a:off x="1139952" y="2484120"/>
            <a:ext cx="9314688" cy="85344"/>
            <a:chOff x="0" y="0"/>
            <a:chExt cx="12419584" cy="113792"/>
          </a:xfrm>
        </p:grpSpPr>
        <p:sp>
          <p:nvSpPr>
            <p:cNvPr id="50" name="Freeform 50"/>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24"/>
              <a:stretch>
                <a:fillRect/>
              </a:stretch>
            </a:blipFill>
          </p:spPr>
          <p:txBody>
            <a:bodyPr/>
            <a:lstStyle/>
            <a:p>
              <a:endParaRPr lang="en-SG"/>
            </a:p>
          </p:txBody>
        </p:sp>
      </p:grpSp>
      <p:grpSp>
        <p:nvGrpSpPr>
          <p:cNvPr id="51" name="Group 51"/>
          <p:cNvGrpSpPr/>
          <p:nvPr/>
        </p:nvGrpSpPr>
        <p:grpSpPr>
          <a:xfrm>
            <a:off x="1139952" y="2566416"/>
            <a:ext cx="9314688" cy="85344"/>
            <a:chOff x="0" y="0"/>
            <a:chExt cx="12419584" cy="113792"/>
          </a:xfrm>
        </p:grpSpPr>
        <p:sp>
          <p:nvSpPr>
            <p:cNvPr id="52" name="Freeform 52"/>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25"/>
              <a:stretch>
                <a:fillRect/>
              </a:stretch>
            </a:blipFill>
          </p:spPr>
          <p:txBody>
            <a:bodyPr/>
            <a:lstStyle/>
            <a:p>
              <a:endParaRPr lang="en-SG"/>
            </a:p>
          </p:txBody>
        </p:sp>
      </p:grpSp>
      <p:grpSp>
        <p:nvGrpSpPr>
          <p:cNvPr id="53" name="Group 53"/>
          <p:cNvGrpSpPr/>
          <p:nvPr/>
        </p:nvGrpSpPr>
        <p:grpSpPr>
          <a:xfrm>
            <a:off x="1139952" y="2648712"/>
            <a:ext cx="9314688" cy="85344"/>
            <a:chOff x="0" y="0"/>
            <a:chExt cx="12419584" cy="113792"/>
          </a:xfrm>
        </p:grpSpPr>
        <p:sp>
          <p:nvSpPr>
            <p:cNvPr id="54" name="Freeform 54"/>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26"/>
              <a:stretch>
                <a:fillRect/>
              </a:stretch>
            </a:blipFill>
          </p:spPr>
          <p:txBody>
            <a:bodyPr/>
            <a:lstStyle/>
            <a:p>
              <a:endParaRPr lang="en-SG"/>
            </a:p>
          </p:txBody>
        </p:sp>
      </p:grpSp>
      <p:grpSp>
        <p:nvGrpSpPr>
          <p:cNvPr id="55" name="Group 55"/>
          <p:cNvGrpSpPr/>
          <p:nvPr/>
        </p:nvGrpSpPr>
        <p:grpSpPr>
          <a:xfrm>
            <a:off x="1139952" y="2731008"/>
            <a:ext cx="9314688" cy="85344"/>
            <a:chOff x="0" y="0"/>
            <a:chExt cx="12419584" cy="113792"/>
          </a:xfrm>
        </p:grpSpPr>
        <p:sp>
          <p:nvSpPr>
            <p:cNvPr id="56" name="Freeform 56"/>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27"/>
              <a:stretch>
                <a:fillRect/>
              </a:stretch>
            </a:blipFill>
          </p:spPr>
          <p:txBody>
            <a:bodyPr/>
            <a:lstStyle/>
            <a:p>
              <a:endParaRPr lang="en-SG"/>
            </a:p>
          </p:txBody>
        </p:sp>
      </p:grpSp>
      <p:grpSp>
        <p:nvGrpSpPr>
          <p:cNvPr id="57" name="Group 57"/>
          <p:cNvGrpSpPr/>
          <p:nvPr/>
        </p:nvGrpSpPr>
        <p:grpSpPr>
          <a:xfrm>
            <a:off x="1139952" y="2813304"/>
            <a:ext cx="9314688" cy="85344"/>
            <a:chOff x="0" y="0"/>
            <a:chExt cx="12419584" cy="113792"/>
          </a:xfrm>
        </p:grpSpPr>
        <p:sp>
          <p:nvSpPr>
            <p:cNvPr id="58" name="Freeform 58"/>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28"/>
              <a:stretch>
                <a:fillRect/>
              </a:stretch>
            </a:blipFill>
          </p:spPr>
          <p:txBody>
            <a:bodyPr/>
            <a:lstStyle/>
            <a:p>
              <a:endParaRPr lang="en-SG"/>
            </a:p>
          </p:txBody>
        </p:sp>
      </p:grpSp>
      <p:grpSp>
        <p:nvGrpSpPr>
          <p:cNvPr id="59" name="Group 59"/>
          <p:cNvGrpSpPr/>
          <p:nvPr/>
        </p:nvGrpSpPr>
        <p:grpSpPr>
          <a:xfrm>
            <a:off x="1139952" y="2895600"/>
            <a:ext cx="9314688" cy="85344"/>
            <a:chOff x="0" y="0"/>
            <a:chExt cx="12419584" cy="113792"/>
          </a:xfrm>
        </p:grpSpPr>
        <p:sp>
          <p:nvSpPr>
            <p:cNvPr id="60" name="Freeform 60"/>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29"/>
              <a:stretch>
                <a:fillRect/>
              </a:stretch>
            </a:blipFill>
          </p:spPr>
          <p:txBody>
            <a:bodyPr/>
            <a:lstStyle/>
            <a:p>
              <a:endParaRPr lang="en-SG"/>
            </a:p>
          </p:txBody>
        </p:sp>
      </p:grpSp>
      <p:grpSp>
        <p:nvGrpSpPr>
          <p:cNvPr id="61" name="Group 61"/>
          <p:cNvGrpSpPr/>
          <p:nvPr/>
        </p:nvGrpSpPr>
        <p:grpSpPr>
          <a:xfrm>
            <a:off x="1139952" y="2977896"/>
            <a:ext cx="9314688" cy="85344"/>
            <a:chOff x="0" y="0"/>
            <a:chExt cx="12419584" cy="113792"/>
          </a:xfrm>
        </p:grpSpPr>
        <p:sp>
          <p:nvSpPr>
            <p:cNvPr id="62" name="Freeform 62"/>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30"/>
              <a:stretch>
                <a:fillRect/>
              </a:stretch>
            </a:blipFill>
          </p:spPr>
          <p:txBody>
            <a:bodyPr/>
            <a:lstStyle/>
            <a:p>
              <a:endParaRPr lang="en-SG"/>
            </a:p>
          </p:txBody>
        </p:sp>
      </p:grpSp>
      <p:grpSp>
        <p:nvGrpSpPr>
          <p:cNvPr id="63" name="Group 63"/>
          <p:cNvGrpSpPr/>
          <p:nvPr/>
        </p:nvGrpSpPr>
        <p:grpSpPr>
          <a:xfrm>
            <a:off x="1139952" y="3060192"/>
            <a:ext cx="9314688" cy="85344"/>
            <a:chOff x="0" y="0"/>
            <a:chExt cx="12419584" cy="113792"/>
          </a:xfrm>
        </p:grpSpPr>
        <p:sp>
          <p:nvSpPr>
            <p:cNvPr id="64" name="Freeform 64"/>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31"/>
              <a:stretch>
                <a:fillRect/>
              </a:stretch>
            </a:blipFill>
          </p:spPr>
          <p:txBody>
            <a:bodyPr/>
            <a:lstStyle/>
            <a:p>
              <a:endParaRPr lang="en-SG"/>
            </a:p>
          </p:txBody>
        </p:sp>
      </p:grpSp>
      <p:grpSp>
        <p:nvGrpSpPr>
          <p:cNvPr id="65" name="Group 65"/>
          <p:cNvGrpSpPr/>
          <p:nvPr/>
        </p:nvGrpSpPr>
        <p:grpSpPr>
          <a:xfrm>
            <a:off x="1139952" y="3142488"/>
            <a:ext cx="9314688" cy="85344"/>
            <a:chOff x="0" y="0"/>
            <a:chExt cx="12419584" cy="113792"/>
          </a:xfrm>
        </p:grpSpPr>
        <p:sp>
          <p:nvSpPr>
            <p:cNvPr id="66" name="Freeform 66"/>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32"/>
              <a:stretch>
                <a:fillRect/>
              </a:stretch>
            </a:blipFill>
          </p:spPr>
          <p:txBody>
            <a:bodyPr/>
            <a:lstStyle/>
            <a:p>
              <a:endParaRPr lang="en-SG"/>
            </a:p>
          </p:txBody>
        </p:sp>
      </p:grpSp>
      <p:grpSp>
        <p:nvGrpSpPr>
          <p:cNvPr id="67" name="Group 67"/>
          <p:cNvGrpSpPr/>
          <p:nvPr/>
        </p:nvGrpSpPr>
        <p:grpSpPr>
          <a:xfrm>
            <a:off x="1139952" y="3224784"/>
            <a:ext cx="9314688" cy="85344"/>
            <a:chOff x="0" y="0"/>
            <a:chExt cx="12419584" cy="113792"/>
          </a:xfrm>
        </p:grpSpPr>
        <p:sp>
          <p:nvSpPr>
            <p:cNvPr id="68" name="Freeform 68"/>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33"/>
              <a:stretch>
                <a:fillRect/>
              </a:stretch>
            </a:blipFill>
          </p:spPr>
          <p:txBody>
            <a:bodyPr/>
            <a:lstStyle/>
            <a:p>
              <a:endParaRPr lang="en-SG"/>
            </a:p>
          </p:txBody>
        </p:sp>
      </p:grpSp>
      <p:grpSp>
        <p:nvGrpSpPr>
          <p:cNvPr id="69" name="Group 69"/>
          <p:cNvGrpSpPr/>
          <p:nvPr/>
        </p:nvGrpSpPr>
        <p:grpSpPr>
          <a:xfrm>
            <a:off x="1139952" y="3307080"/>
            <a:ext cx="9314688" cy="85344"/>
            <a:chOff x="0" y="0"/>
            <a:chExt cx="12419584" cy="113792"/>
          </a:xfrm>
        </p:grpSpPr>
        <p:sp>
          <p:nvSpPr>
            <p:cNvPr id="70" name="Freeform 70"/>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34"/>
              <a:stretch>
                <a:fillRect/>
              </a:stretch>
            </a:blipFill>
          </p:spPr>
          <p:txBody>
            <a:bodyPr/>
            <a:lstStyle/>
            <a:p>
              <a:endParaRPr lang="en-SG"/>
            </a:p>
          </p:txBody>
        </p:sp>
      </p:grpSp>
      <p:grpSp>
        <p:nvGrpSpPr>
          <p:cNvPr id="71" name="Group 71"/>
          <p:cNvGrpSpPr/>
          <p:nvPr/>
        </p:nvGrpSpPr>
        <p:grpSpPr>
          <a:xfrm>
            <a:off x="1139952" y="3389376"/>
            <a:ext cx="9314688" cy="85344"/>
            <a:chOff x="0" y="0"/>
            <a:chExt cx="12419584" cy="113792"/>
          </a:xfrm>
        </p:grpSpPr>
        <p:sp>
          <p:nvSpPr>
            <p:cNvPr id="72" name="Freeform 72"/>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35"/>
              <a:stretch>
                <a:fillRect/>
              </a:stretch>
            </a:blipFill>
          </p:spPr>
          <p:txBody>
            <a:bodyPr/>
            <a:lstStyle/>
            <a:p>
              <a:endParaRPr lang="en-SG"/>
            </a:p>
          </p:txBody>
        </p:sp>
      </p:grpSp>
      <p:grpSp>
        <p:nvGrpSpPr>
          <p:cNvPr id="73" name="Group 73"/>
          <p:cNvGrpSpPr/>
          <p:nvPr/>
        </p:nvGrpSpPr>
        <p:grpSpPr>
          <a:xfrm>
            <a:off x="1139952" y="3471672"/>
            <a:ext cx="9314688" cy="85344"/>
            <a:chOff x="0" y="0"/>
            <a:chExt cx="12419584" cy="113792"/>
          </a:xfrm>
        </p:grpSpPr>
        <p:sp>
          <p:nvSpPr>
            <p:cNvPr id="74" name="Freeform 74"/>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36"/>
              <a:stretch>
                <a:fillRect/>
              </a:stretch>
            </a:blipFill>
          </p:spPr>
          <p:txBody>
            <a:bodyPr/>
            <a:lstStyle/>
            <a:p>
              <a:endParaRPr lang="en-SG"/>
            </a:p>
          </p:txBody>
        </p:sp>
      </p:grpSp>
      <p:grpSp>
        <p:nvGrpSpPr>
          <p:cNvPr id="75" name="Group 75"/>
          <p:cNvGrpSpPr/>
          <p:nvPr/>
        </p:nvGrpSpPr>
        <p:grpSpPr>
          <a:xfrm>
            <a:off x="1139952" y="3553968"/>
            <a:ext cx="9314688" cy="85344"/>
            <a:chOff x="0" y="0"/>
            <a:chExt cx="12419584" cy="113792"/>
          </a:xfrm>
        </p:grpSpPr>
        <p:sp>
          <p:nvSpPr>
            <p:cNvPr id="76" name="Freeform 76"/>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37"/>
              <a:stretch>
                <a:fillRect/>
              </a:stretch>
            </a:blipFill>
          </p:spPr>
          <p:txBody>
            <a:bodyPr/>
            <a:lstStyle/>
            <a:p>
              <a:endParaRPr lang="en-SG"/>
            </a:p>
          </p:txBody>
        </p:sp>
      </p:grpSp>
      <p:grpSp>
        <p:nvGrpSpPr>
          <p:cNvPr id="77" name="Group 77"/>
          <p:cNvGrpSpPr/>
          <p:nvPr/>
        </p:nvGrpSpPr>
        <p:grpSpPr>
          <a:xfrm>
            <a:off x="1139952" y="3636264"/>
            <a:ext cx="9314688" cy="85344"/>
            <a:chOff x="0" y="0"/>
            <a:chExt cx="12419584" cy="113792"/>
          </a:xfrm>
        </p:grpSpPr>
        <p:sp>
          <p:nvSpPr>
            <p:cNvPr id="78" name="Freeform 78"/>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38"/>
              <a:stretch>
                <a:fillRect/>
              </a:stretch>
            </a:blipFill>
          </p:spPr>
          <p:txBody>
            <a:bodyPr/>
            <a:lstStyle/>
            <a:p>
              <a:endParaRPr lang="en-SG"/>
            </a:p>
          </p:txBody>
        </p:sp>
      </p:grpSp>
      <p:grpSp>
        <p:nvGrpSpPr>
          <p:cNvPr id="79" name="Group 79"/>
          <p:cNvGrpSpPr/>
          <p:nvPr/>
        </p:nvGrpSpPr>
        <p:grpSpPr>
          <a:xfrm>
            <a:off x="1139952" y="3718560"/>
            <a:ext cx="9314688" cy="85344"/>
            <a:chOff x="0" y="0"/>
            <a:chExt cx="12419584" cy="113792"/>
          </a:xfrm>
        </p:grpSpPr>
        <p:sp>
          <p:nvSpPr>
            <p:cNvPr id="80" name="Freeform 80"/>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39"/>
              <a:stretch>
                <a:fillRect/>
              </a:stretch>
            </a:blipFill>
          </p:spPr>
          <p:txBody>
            <a:bodyPr/>
            <a:lstStyle/>
            <a:p>
              <a:endParaRPr lang="en-SG"/>
            </a:p>
          </p:txBody>
        </p:sp>
      </p:grpSp>
      <p:grpSp>
        <p:nvGrpSpPr>
          <p:cNvPr id="81" name="Group 81"/>
          <p:cNvGrpSpPr/>
          <p:nvPr/>
        </p:nvGrpSpPr>
        <p:grpSpPr>
          <a:xfrm>
            <a:off x="1139952" y="3800856"/>
            <a:ext cx="9314688" cy="85344"/>
            <a:chOff x="0" y="0"/>
            <a:chExt cx="12419584" cy="113792"/>
          </a:xfrm>
        </p:grpSpPr>
        <p:sp>
          <p:nvSpPr>
            <p:cNvPr id="82" name="Freeform 82"/>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40"/>
              <a:stretch>
                <a:fillRect/>
              </a:stretch>
            </a:blipFill>
          </p:spPr>
          <p:txBody>
            <a:bodyPr/>
            <a:lstStyle/>
            <a:p>
              <a:endParaRPr lang="en-SG"/>
            </a:p>
          </p:txBody>
        </p:sp>
      </p:grpSp>
      <p:grpSp>
        <p:nvGrpSpPr>
          <p:cNvPr id="83" name="Group 83"/>
          <p:cNvGrpSpPr/>
          <p:nvPr/>
        </p:nvGrpSpPr>
        <p:grpSpPr>
          <a:xfrm>
            <a:off x="1139952" y="3883152"/>
            <a:ext cx="9314688" cy="85344"/>
            <a:chOff x="0" y="0"/>
            <a:chExt cx="12419584" cy="113792"/>
          </a:xfrm>
        </p:grpSpPr>
        <p:sp>
          <p:nvSpPr>
            <p:cNvPr id="84" name="Freeform 84"/>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41"/>
              <a:stretch>
                <a:fillRect/>
              </a:stretch>
            </a:blipFill>
          </p:spPr>
          <p:txBody>
            <a:bodyPr/>
            <a:lstStyle/>
            <a:p>
              <a:endParaRPr lang="en-SG"/>
            </a:p>
          </p:txBody>
        </p:sp>
      </p:grpSp>
      <p:grpSp>
        <p:nvGrpSpPr>
          <p:cNvPr id="85" name="Group 85"/>
          <p:cNvGrpSpPr/>
          <p:nvPr/>
        </p:nvGrpSpPr>
        <p:grpSpPr>
          <a:xfrm>
            <a:off x="1139952" y="3965448"/>
            <a:ext cx="9314688" cy="85344"/>
            <a:chOff x="0" y="0"/>
            <a:chExt cx="12419584" cy="113792"/>
          </a:xfrm>
        </p:grpSpPr>
        <p:sp>
          <p:nvSpPr>
            <p:cNvPr id="86" name="Freeform 86"/>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42"/>
              <a:stretch>
                <a:fillRect/>
              </a:stretch>
            </a:blipFill>
          </p:spPr>
          <p:txBody>
            <a:bodyPr/>
            <a:lstStyle/>
            <a:p>
              <a:endParaRPr lang="en-SG"/>
            </a:p>
          </p:txBody>
        </p:sp>
      </p:grpSp>
      <p:grpSp>
        <p:nvGrpSpPr>
          <p:cNvPr id="87" name="Group 87"/>
          <p:cNvGrpSpPr/>
          <p:nvPr/>
        </p:nvGrpSpPr>
        <p:grpSpPr>
          <a:xfrm>
            <a:off x="1139952" y="4047744"/>
            <a:ext cx="9314688" cy="85344"/>
            <a:chOff x="0" y="0"/>
            <a:chExt cx="12419584" cy="113792"/>
          </a:xfrm>
        </p:grpSpPr>
        <p:sp>
          <p:nvSpPr>
            <p:cNvPr id="88" name="Freeform 88"/>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43"/>
              <a:stretch>
                <a:fillRect/>
              </a:stretch>
            </a:blipFill>
          </p:spPr>
          <p:txBody>
            <a:bodyPr/>
            <a:lstStyle/>
            <a:p>
              <a:endParaRPr lang="en-SG"/>
            </a:p>
          </p:txBody>
        </p:sp>
      </p:grpSp>
      <p:grpSp>
        <p:nvGrpSpPr>
          <p:cNvPr id="89" name="Group 89"/>
          <p:cNvGrpSpPr/>
          <p:nvPr/>
        </p:nvGrpSpPr>
        <p:grpSpPr>
          <a:xfrm>
            <a:off x="1139952" y="4130040"/>
            <a:ext cx="9314688" cy="85344"/>
            <a:chOff x="0" y="0"/>
            <a:chExt cx="12419584" cy="113792"/>
          </a:xfrm>
        </p:grpSpPr>
        <p:sp>
          <p:nvSpPr>
            <p:cNvPr id="90" name="Freeform 90"/>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44"/>
              <a:stretch>
                <a:fillRect/>
              </a:stretch>
            </a:blipFill>
          </p:spPr>
          <p:txBody>
            <a:bodyPr/>
            <a:lstStyle/>
            <a:p>
              <a:endParaRPr lang="en-SG"/>
            </a:p>
          </p:txBody>
        </p:sp>
      </p:grpSp>
      <p:grpSp>
        <p:nvGrpSpPr>
          <p:cNvPr id="91" name="Group 91"/>
          <p:cNvGrpSpPr/>
          <p:nvPr/>
        </p:nvGrpSpPr>
        <p:grpSpPr>
          <a:xfrm>
            <a:off x="1139952" y="4212336"/>
            <a:ext cx="9314688" cy="85344"/>
            <a:chOff x="0" y="0"/>
            <a:chExt cx="12419584" cy="113792"/>
          </a:xfrm>
        </p:grpSpPr>
        <p:sp>
          <p:nvSpPr>
            <p:cNvPr id="92" name="Freeform 92"/>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45"/>
              <a:stretch>
                <a:fillRect/>
              </a:stretch>
            </a:blipFill>
          </p:spPr>
          <p:txBody>
            <a:bodyPr/>
            <a:lstStyle/>
            <a:p>
              <a:endParaRPr lang="en-SG"/>
            </a:p>
          </p:txBody>
        </p:sp>
      </p:grpSp>
      <p:grpSp>
        <p:nvGrpSpPr>
          <p:cNvPr id="93" name="Group 93"/>
          <p:cNvGrpSpPr/>
          <p:nvPr/>
        </p:nvGrpSpPr>
        <p:grpSpPr>
          <a:xfrm>
            <a:off x="1139952" y="4294632"/>
            <a:ext cx="9314688" cy="85344"/>
            <a:chOff x="0" y="0"/>
            <a:chExt cx="12419584" cy="113792"/>
          </a:xfrm>
        </p:grpSpPr>
        <p:sp>
          <p:nvSpPr>
            <p:cNvPr id="94" name="Freeform 94"/>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46"/>
              <a:stretch>
                <a:fillRect/>
              </a:stretch>
            </a:blipFill>
          </p:spPr>
          <p:txBody>
            <a:bodyPr/>
            <a:lstStyle/>
            <a:p>
              <a:endParaRPr lang="en-SG"/>
            </a:p>
          </p:txBody>
        </p:sp>
      </p:grpSp>
      <p:grpSp>
        <p:nvGrpSpPr>
          <p:cNvPr id="95" name="Group 95"/>
          <p:cNvGrpSpPr/>
          <p:nvPr/>
        </p:nvGrpSpPr>
        <p:grpSpPr>
          <a:xfrm>
            <a:off x="1139952" y="4376928"/>
            <a:ext cx="9314688" cy="85344"/>
            <a:chOff x="0" y="0"/>
            <a:chExt cx="12419584" cy="113792"/>
          </a:xfrm>
        </p:grpSpPr>
        <p:sp>
          <p:nvSpPr>
            <p:cNvPr id="96" name="Freeform 96"/>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47"/>
              <a:stretch>
                <a:fillRect/>
              </a:stretch>
            </a:blipFill>
          </p:spPr>
          <p:txBody>
            <a:bodyPr/>
            <a:lstStyle/>
            <a:p>
              <a:endParaRPr lang="en-SG"/>
            </a:p>
          </p:txBody>
        </p:sp>
      </p:grpSp>
      <p:grpSp>
        <p:nvGrpSpPr>
          <p:cNvPr id="97" name="Group 97"/>
          <p:cNvGrpSpPr/>
          <p:nvPr/>
        </p:nvGrpSpPr>
        <p:grpSpPr>
          <a:xfrm>
            <a:off x="1139952" y="4459224"/>
            <a:ext cx="9314688" cy="85344"/>
            <a:chOff x="0" y="0"/>
            <a:chExt cx="12419584" cy="113792"/>
          </a:xfrm>
        </p:grpSpPr>
        <p:sp>
          <p:nvSpPr>
            <p:cNvPr id="98" name="Freeform 98"/>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48"/>
              <a:stretch>
                <a:fillRect/>
              </a:stretch>
            </a:blipFill>
          </p:spPr>
          <p:txBody>
            <a:bodyPr/>
            <a:lstStyle/>
            <a:p>
              <a:endParaRPr lang="en-SG"/>
            </a:p>
          </p:txBody>
        </p:sp>
      </p:grpSp>
      <p:grpSp>
        <p:nvGrpSpPr>
          <p:cNvPr id="99" name="Group 99"/>
          <p:cNvGrpSpPr/>
          <p:nvPr/>
        </p:nvGrpSpPr>
        <p:grpSpPr>
          <a:xfrm>
            <a:off x="1139952" y="4541520"/>
            <a:ext cx="9314688" cy="85344"/>
            <a:chOff x="0" y="0"/>
            <a:chExt cx="12419584" cy="113792"/>
          </a:xfrm>
        </p:grpSpPr>
        <p:sp>
          <p:nvSpPr>
            <p:cNvPr id="100" name="Freeform 100"/>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49"/>
              <a:stretch>
                <a:fillRect/>
              </a:stretch>
            </a:blipFill>
          </p:spPr>
          <p:txBody>
            <a:bodyPr/>
            <a:lstStyle/>
            <a:p>
              <a:endParaRPr lang="en-SG"/>
            </a:p>
          </p:txBody>
        </p:sp>
      </p:grpSp>
      <p:grpSp>
        <p:nvGrpSpPr>
          <p:cNvPr id="101" name="Group 101"/>
          <p:cNvGrpSpPr/>
          <p:nvPr/>
        </p:nvGrpSpPr>
        <p:grpSpPr>
          <a:xfrm>
            <a:off x="1139952" y="4623816"/>
            <a:ext cx="9314688" cy="85344"/>
            <a:chOff x="0" y="0"/>
            <a:chExt cx="12419584" cy="113792"/>
          </a:xfrm>
        </p:grpSpPr>
        <p:sp>
          <p:nvSpPr>
            <p:cNvPr id="102" name="Freeform 102"/>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50"/>
              <a:stretch>
                <a:fillRect/>
              </a:stretch>
            </a:blipFill>
          </p:spPr>
          <p:txBody>
            <a:bodyPr/>
            <a:lstStyle/>
            <a:p>
              <a:endParaRPr lang="en-SG"/>
            </a:p>
          </p:txBody>
        </p:sp>
      </p:grpSp>
      <p:grpSp>
        <p:nvGrpSpPr>
          <p:cNvPr id="103" name="Group 103"/>
          <p:cNvGrpSpPr/>
          <p:nvPr/>
        </p:nvGrpSpPr>
        <p:grpSpPr>
          <a:xfrm>
            <a:off x="1139952" y="4706112"/>
            <a:ext cx="9314688" cy="85344"/>
            <a:chOff x="0" y="0"/>
            <a:chExt cx="12419584" cy="113792"/>
          </a:xfrm>
        </p:grpSpPr>
        <p:sp>
          <p:nvSpPr>
            <p:cNvPr id="104" name="Freeform 104"/>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51"/>
              <a:stretch>
                <a:fillRect/>
              </a:stretch>
            </a:blipFill>
          </p:spPr>
          <p:txBody>
            <a:bodyPr/>
            <a:lstStyle/>
            <a:p>
              <a:endParaRPr lang="en-SG"/>
            </a:p>
          </p:txBody>
        </p:sp>
      </p:grpSp>
      <p:grpSp>
        <p:nvGrpSpPr>
          <p:cNvPr id="105" name="Group 105"/>
          <p:cNvGrpSpPr/>
          <p:nvPr/>
        </p:nvGrpSpPr>
        <p:grpSpPr>
          <a:xfrm>
            <a:off x="1139952" y="4788408"/>
            <a:ext cx="9314688" cy="85344"/>
            <a:chOff x="0" y="0"/>
            <a:chExt cx="12419584" cy="113792"/>
          </a:xfrm>
        </p:grpSpPr>
        <p:sp>
          <p:nvSpPr>
            <p:cNvPr id="106" name="Freeform 106"/>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52"/>
              <a:stretch>
                <a:fillRect/>
              </a:stretch>
            </a:blipFill>
          </p:spPr>
          <p:txBody>
            <a:bodyPr/>
            <a:lstStyle/>
            <a:p>
              <a:endParaRPr lang="en-SG"/>
            </a:p>
          </p:txBody>
        </p:sp>
      </p:grpSp>
      <p:grpSp>
        <p:nvGrpSpPr>
          <p:cNvPr id="107" name="Group 107"/>
          <p:cNvGrpSpPr/>
          <p:nvPr/>
        </p:nvGrpSpPr>
        <p:grpSpPr>
          <a:xfrm>
            <a:off x="1139952" y="4870704"/>
            <a:ext cx="9314688" cy="85344"/>
            <a:chOff x="0" y="0"/>
            <a:chExt cx="12419584" cy="113792"/>
          </a:xfrm>
        </p:grpSpPr>
        <p:sp>
          <p:nvSpPr>
            <p:cNvPr id="108" name="Freeform 108"/>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53"/>
              <a:stretch>
                <a:fillRect/>
              </a:stretch>
            </a:blipFill>
          </p:spPr>
          <p:txBody>
            <a:bodyPr/>
            <a:lstStyle/>
            <a:p>
              <a:endParaRPr lang="en-SG"/>
            </a:p>
          </p:txBody>
        </p:sp>
      </p:grpSp>
      <p:grpSp>
        <p:nvGrpSpPr>
          <p:cNvPr id="109" name="Group 109"/>
          <p:cNvGrpSpPr/>
          <p:nvPr/>
        </p:nvGrpSpPr>
        <p:grpSpPr>
          <a:xfrm>
            <a:off x="1139952" y="4953000"/>
            <a:ext cx="9314688" cy="85344"/>
            <a:chOff x="0" y="0"/>
            <a:chExt cx="12419584" cy="113792"/>
          </a:xfrm>
        </p:grpSpPr>
        <p:sp>
          <p:nvSpPr>
            <p:cNvPr id="110" name="Freeform 110"/>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54"/>
              <a:stretch>
                <a:fillRect/>
              </a:stretch>
            </a:blipFill>
          </p:spPr>
          <p:txBody>
            <a:bodyPr/>
            <a:lstStyle/>
            <a:p>
              <a:endParaRPr lang="en-SG"/>
            </a:p>
          </p:txBody>
        </p:sp>
      </p:grpSp>
      <p:grpSp>
        <p:nvGrpSpPr>
          <p:cNvPr id="111" name="Group 111"/>
          <p:cNvGrpSpPr/>
          <p:nvPr/>
        </p:nvGrpSpPr>
        <p:grpSpPr>
          <a:xfrm>
            <a:off x="1139952" y="5035296"/>
            <a:ext cx="9314688" cy="85344"/>
            <a:chOff x="0" y="0"/>
            <a:chExt cx="12419584" cy="113792"/>
          </a:xfrm>
        </p:grpSpPr>
        <p:sp>
          <p:nvSpPr>
            <p:cNvPr id="112" name="Freeform 112"/>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4"/>
              <a:stretch>
                <a:fillRect/>
              </a:stretch>
            </a:blipFill>
          </p:spPr>
          <p:txBody>
            <a:bodyPr/>
            <a:lstStyle/>
            <a:p>
              <a:endParaRPr lang="en-SG"/>
            </a:p>
          </p:txBody>
        </p:sp>
      </p:grpSp>
      <p:grpSp>
        <p:nvGrpSpPr>
          <p:cNvPr id="113" name="Group 113"/>
          <p:cNvGrpSpPr/>
          <p:nvPr/>
        </p:nvGrpSpPr>
        <p:grpSpPr>
          <a:xfrm>
            <a:off x="1139952" y="5117592"/>
            <a:ext cx="9314688" cy="85344"/>
            <a:chOff x="0" y="0"/>
            <a:chExt cx="12419584" cy="113792"/>
          </a:xfrm>
        </p:grpSpPr>
        <p:sp>
          <p:nvSpPr>
            <p:cNvPr id="114" name="Freeform 114"/>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4"/>
              <a:stretch>
                <a:fillRect/>
              </a:stretch>
            </a:blipFill>
          </p:spPr>
          <p:txBody>
            <a:bodyPr/>
            <a:lstStyle/>
            <a:p>
              <a:endParaRPr lang="en-SG"/>
            </a:p>
          </p:txBody>
        </p:sp>
      </p:grpSp>
      <p:grpSp>
        <p:nvGrpSpPr>
          <p:cNvPr id="115" name="Group 115"/>
          <p:cNvGrpSpPr/>
          <p:nvPr/>
        </p:nvGrpSpPr>
        <p:grpSpPr>
          <a:xfrm>
            <a:off x="1139952" y="5199888"/>
            <a:ext cx="9314688" cy="85344"/>
            <a:chOff x="0" y="0"/>
            <a:chExt cx="12419584" cy="113792"/>
          </a:xfrm>
        </p:grpSpPr>
        <p:sp>
          <p:nvSpPr>
            <p:cNvPr id="116" name="Freeform 116"/>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55"/>
              <a:stretch>
                <a:fillRect/>
              </a:stretch>
            </a:blipFill>
          </p:spPr>
          <p:txBody>
            <a:bodyPr/>
            <a:lstStyle/>
            <a:p>
              <a:endParaRPr lang="en-SG"/>
            </a:p>
          </p:txBody>
        </p:sp>
      </p:grpSp>
      <p:grpSp>
        <p:nvGrpSpPr>
          <p:cNvPr id="117" name="Group 117"/>
          <p:cNvGrpSpPr/>
          <p:nvPr/>
        </p:nvGrpSpPr>
        <p:grpSpPr>
          <a:xfrm>
            <a:off x="1139952" y="5282184"/>
            <a:ext cx="9314688" cy="85344"/>
            <a:chOff x="0" y="0"/>
            <a:chExt cx="12419584" cy="113792"/>
          </a:xfrm>
        </p:grpSpPr>
        <p:sp>
          <p:nvSpPr>
            <p:cNvPr id="118" name="Freeform 118"/>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56"/>
              <a:stretch>
                <a:fillRect/>
              </a:stretch>
            </a:blipFill>
          </p:spPr>
          <p:txBody>
            <a:bodyPr/>
            <a:lstStyle/>
            <a:p>
              <a:endParaRPr lang="en-SG"/>
            </a:p>
          </p:txBody>
        </p:sp>
      </p:grpSp>
      <p:grpSp>
        <p:nvGrpSpPr>
          <p:cNvPr id="119" name="Group 119"/>
          <p:cNvGrpSpPr/>
          <p:nvPr/>
        </p:nvGrpSpPr>
        <p:grpSpPr>
          <a:xfrm>
            <a:off x="1139952" y="5364480"/>
            <a:ext cx="9314688" cy="85344"/>
            <a:chOff x="0" y="0"/>
            <a:chExt cx="12419584" cy="113792"/>
          </a:xfrm>
        </p:grpSpPr>
        <p:sp>
          <p:nvSpPr>
            <p:cNvPr id="120" name="Freeform 120"/>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57"/>
              <a:stretch>
                <a:fillRect/>
              </a:stretch>
            </a:blipFill>
          </p:spPr>
          <p:txBody>
            <a:bodyPr/>
            <a:lstStyle/>
            <a:p>
              <a:endParaRPr lang="en-SG"/>
            </a:p>
          </p:txBody>
        </p:sp>
      </p:grpSp>
      <p:grpSp>
        <p:nvGrpSpPr>
          <p:cNvPr id="121" name="Group 121"/>
          <p:cNvGrpSpPr/>
          <p:nvPr/>
        </p:nvGrpSpPr>
        <p:grpSpPr>
          <a:xfrm>
            <a:off x="1139952" y="5446776"/>
            <a:ext cx="9314688" cy="85344"/>
            <a:chOff x="0" y="0"/>
            <a:chExt cx="12419584" cy="113792"/>
          </a:xfrm>
        </p:grpSpPr>
        <p:sp>
          <p:nvSpPr>
            <p:cNvPr id="122" name="Freeform 122"/>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4"/>
              <a:stretch>
                <a:fillRect/>
              </a:stretch>
            </a:blipFill>
          </p:spPr>
          <p:txBody>
            <a:bodyPr/>
            <a:lstStyle/>
            <a:p>
              <a:endParaRPr lang="en-SG"/>
            </a:p>
          </p:txBody>
        </p:sp>
      </p:grpSp>
      <p:grpSp>
        <p:nvGrpSpPr>
          <p:cNvPr id="123" name="Group 123"/>
          <p:cNvGrpSpPr/>
          <p:nvPr/>
        </p:nvGrpSpPr>
        <p:grpSpPr>
          <a:xfrm>
            <a:off x="1139952" y="5529072"/>
            <a:ext cx="9314688" cy="85344"/>
            <a:chOff x="0" y="0"/>
            <a:chExt cx="12419584" cy="113792"/>
          </a:xfrm>
        </p:grpSpPr>
        <p:sp>
          <p:nvSpPr>
            <p:cNvPr id="124" name="Freeform 124"/>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4"/>
              <a:stretch>
                <a:fillRect/>
              </a:stretch>
            </a:blipFill>
          </p:spPr>
          <p:txBody>
            <a:bodyPr/>
            <a:lstStyle/>
            <a:p>
              <a:endParaRPr lang="en-SG"/>
            </a:p>
          </p:txBody>
        </p:sp>
      </p:grpSp>
      <p:grpSp>
        <p:nvGrpSpPr>
          <p:cNvPr id="125" name="Group 125"/>
          <p:cNvGrpSpPr/>
          <p:nvPr/>
        </p:nvGrpSpPr>
        <p:grpSpPr>
          <a:xfrm>
            <a:off x="1139952" y="5611368"/>
            <a:ext cx="9314688" cy="85344"/>
            <a:chOff x="0" y="0"/>
            <a:chExt cx="12419584" cy="113792"/>
          </a:xfrm>
        </p:grpSpPr>
        <p:sp>
          <p:nvSpPr>
            <p:cNvPr id="126" name="Freeform 126"/>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58"/>
              <a:stretch>
                <a:fillRect/>
              </a:stretch>
            </a:blipFill>
          </p:spPr>
          <p:txBody>
            <a:bodyPr/>
            <a:lstStyle/>
            <a:p>
              <a:endParaRPr lang="en-SG"/>
            </a:p>
          </p:txBody>
        </p:sp>
      </p:grpSp>
      <p:grpSp>
        <p:nvGrpSpPr>
          <p:cNvPr id="127" name="Group 127"/>
          <p:cNvGrpSpPr/>
          <p:nvPr/>
        </p:nvGrpSpPr>
        <p:grpSpPr>
          <a:xfrm>
            <a:off x="1139952" y="5693664"/>
            <a:ext cx="9314688" cy="85344"/>
            <a:chOff x="0" y="0"/>
            <a:chExt cx="12419584" cy="113792"/>
          </a:xfrm>
        </p:grpSpPr>
        <p:sp>
          <p:nvSpPr>
            <p:cNvPr id="128" name="Freeform 128"/>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59"/>
              <a:stretch>
                <a:fillRect/>
              </a:stretch>
            </a:blipFill>
          </p:spPr>
          <p:txBody>
            <a:bodyPr/>
            <a:lstStyle/>
            <a:p>
              <a:endParaRPr lang="en-SG"/>
            </a:p>
          </p:txBody>
        </p:sp>
      </p:grpSp>
      <p:grpSp>
        <p:nvGrpSpPr>
          <p:cNvPr id="129" name="Group 129"/>
          <p:cNvGrpSpPr/>
          <p:nvPr/>
        </p:nvGrpSpPr>
        <p:grpSpPr>
          <a:xfrm>
            <a:off x="1139952" y="5775960"/>
            <a:ext cx="9314688" cy="85344"/>
            <a:chOff x="0" y="0"/>
            <a:chExt cx="12419584" cy="113792"/>
          </a:xfrm>
        </p:grpSpPr>
        <p:sp>
          <p:nvSpPr>
            <p:cNvPr id="130" name="Freeform 130"/>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60"/>
              <a:stretch>
                <a:fillRect/>
              </a:stretch>
            </a:blipFill>
          </p:spPr>
          <p:txBody>
            <a:bodyPr/>
            <a:lstStyle/>
            <a:p>
              <a:endParaRPr lang="en-SG"/>
            </a:p>
          </p:txBody>
        </p:sp>
      </p:grpSp>
      <p:grpSp>
        <p:nvGrpSpPr>
          <p:cNvPr id="131" name="Group 131"/>
          <p:cNvGrpSpPr/>
          <p:nvPr/>
        </p:nvGrpSpPr>
        <p:grpSpPr>
          <a:xfrm>
            <a:off x="1139952" y="5858256"/>
            <a:ext cx="9314688" cy="85344"/>
            <a:chOff x="0" y="0"/>
            <a:chExt cx="12419584" cy="113792"/>
          </a:xfrm>
        </p:grpSpPr>
        <p:sp>
          <p:nvSpPr>
            <p:cNvPr id="132" name="Freeform 132"/>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61"/>
              <a:stretch>
                <a:fillRect/>
              </a:stretch>
            </a:blipFill>
          </p:spPr>
          <p:txBody>
            <a:bodyPr/>
            <a:lstStyle/>
            <a:p>
              <a:endParaRPr lang="en-SG"/>
            </a:p>
          </p:txBody>
        </p:sp>
      </p:grpSp>
      <p:grpSp>
        <p:nvGrpSpPr>
          <p:cNvPr id="133" name="Group 133"/>
          <p:cNvGrpSpPr/>
          <p:nvPr/>
        </p:nvGrpSpPr>
        <p:grpSpPr>
          <a:xfrm>
            <a:off x="1139952" y="5940552"/>
            <a:ext cx="9314688" cy="85344"/>
            <a:chOff x="0" y="0"/>
            <a:chExt cx="12419584" cy="113792"/>
          </a:xfrm>
        </p:grpSpPr>
        <p:sp>
          <p:nvSpPr>
            <p:cNvPr id="134" name="Freeform 134"/>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62"/>
              <a:stretch>
                <a:fillRect/>
              </a:stretch>
            </a:blipFill>
          </p:spPr>
          <p:txBody>
            <a:bodyPr/>
            <a:lstStyle/>
            <a:p>
              <a:endParaRPr lang="en-SG"/>
            </a:p>
          </p:txBody>
        </p:sp>
      </p:grpSp>
      <p:grpSp>
        <p:nvGrpSpPr>
          <p:cNvPr id="135" name="Group 135"/>
          <p:cNvGrpSpPr/>
          <p:nvPr/>
        </p:nvGrpSpPr>
        <p:grpSpPr>
          <a:xfrm>
            <a:off x="1139952" y="6022848"/>
            <a:ext cx="9314688" cy="85344"/>
            <a:chOff x="0" y="0"/>
            <a:chExt cx="12419584" cy="113792"/>
          </a:xfrm>
        </p:grpSpPr>
        <p:sp>
          <p:nvSpPr>
            <p:cNvPr id="136" name="Freeform 136"/>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63"/>
              <a:stretch>
                <a:fillRect/>
              </a:stretch>
            </a:blipFill>
          </p:spPr>
          <p:txBody>
            <a:bodyPr/>
            <a:lstStyle/>
            <a:p>
              <a:endParaRPr lang="en-SG"/>
            </a:p>
          </p:txBody>
        </p:sp>
      </p:grpSp>
      <p:grpSp>
        <p:nvGrpSpPr>
          <p:cNvPr id="137" name="Group 137"/>
          <p:cNvGrpSpPr/>
          <p:nvPr/>
        </p:nvGrpSpPr>
        <p:grpSpPr>
          <a:xfrm>
            <a:off x="1139952" y="6105144"/>
            <a:ext cx="9314688" cy="85344"/>
            <a:chOff x="0" y="0"/>
            <a:chExt cx="12419584" cy="113792"/>
          </a:xfrm>
        </p:grpSpPr>
        <p:sp>
          <p:nvSpPr>
            <p:cNvPr id="138" name="Freeform 138"/>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64"/>
              <a:stretch>
                <a:fillRect/>
              </a:stretch>
            </a:blipFill>
          </p:spPr>
          <p:txBody>
            <a:bodyPr/>
            <a:lstStyle/>
            <a:p>
              <a:endParaRPr lang="en-SG"/>
            </a:p>
          </p:txBody>
        </p:sp>
      </p:grpSp>
      <p:grpSp>
        <p:nvGrpSpPr>
          <p:cNvPr id="139" name="Group 139"/>
          <p:cNvGrpSpPr/>
          <p:nvPr/>
        </p:nvGrpSpPr>
        <p:grpSpPr>
          <a:xfrm>
            <a:off x="1139952" y="6187440"/>
            <a:ext cx="9314688" cy="85344"/>
            <a:chOff x="0" y="0"/>
            <a:chExt cx="12419584" cy="113792"/>
          </a:xfrm>
        </p:grpSpPr>
        <p:sp>
          <p:nvSpPr>
            <p:cNvPr id="140" name="Freeform 140"/>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65"/>
              <a:stretch>
                <a:fillRect/>
              </a:stretch>
            </a:blipFill>
          </p:spPr>
          <p:txBody>
            <a:bodyPr/>
            <a:lstStyle/>
            <a:p>
              <a:endParaRPr lang="en-SG"/>
            </a:p>
          </p:txBody>
        </p:sp>
      </p:grpSp>
      <p:grpSp>
        <p:nvGrpSpPr>
          <p:cNvPr id="141" name="Group 141"/>
          <p:cNvGrpSpPr/>
          <p:nvPr/>
        </p:nvGrpSpPr>
        <p:grpSpPr>
          <a:xfrm>
            <a:off x="1139952" y="6269736"/>
            <a:ext cx="9314688" cy="85344"/>
            <a:chOff x="0" y="0"/>
            <a:chExt cx="12419584" cy="113792"/>
          </a:xfrm>
        </p:grpSpPr>
        <p:sp>
          <p:nvSpPr>
            <p:cNvPr id="142" name="Freeform 142"/>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66"/>
              <a:stretch>
                <a:fillRect/>
              </a:stretch>
            </a:blipFill>
          </p:spPr>
          <p:txBody>
            <a:bodyPr/>
            <a:lstStyle/>
            <a:p>
              <a:endParaRPr lang="en-SG"/>
            </a:p>
          </p:txBody>
        </p:sp>
      </p:grpSp>
      <p:grpSp>
        <p:nvGrpSpPr>
          <p:cNvPr id="143" name="Group 143"/>
          <p:cNvGrpSpPr/>
          <p:nvPr/>
        </p:nvGrpSpPr>
        <p:grpSpPr>
          <a:xfrm>
            <a:off x="1139952" y="6352032"/>
            <a:ext cx="9314688" cy="85344"/>
            <a:chOff x="0" y="0"/>
            <a:chExt cx="12419584" cy="113792"/>
          </a:xfrm>
        </p:grpSpPr>
        <p:sp>
          <p:nvSpPr>
            <p:cNvPr id="144" name="Freeform 144"/>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67"/>
              <a:stretch>
                <a:fillRect/>
              </a:stretch>
            </a:blipFill>
          </p:spPr>
          <p:txBody>
            <a:bodyPr/>
            <a:lstStyle/>
            <a:p>
              <a:endParaRPr lang="en-SG"/>
            </a:p>
          </p:txBody>
        </p:sp>
      </p:grpSp>
      <p:grpSp>
        <p:nvGrpSpPr>
          <p:cNvPr id="145" name="Group 145"/>
          <p:cNvGrpSpPr/>
          <p:nvPr/>
        </p:nvGrpSpPr>
        <p:grpSpPr>
          <a:xfrm>
            <a:off x="1139952" y="6434328"/>
            <a:ext cx="9314688" cy="85344"/>
            <a:chOff x="0" y="0"/>
            <a:chExt cx="12419584" cy="113792"/>
          </a:xfrm>
        </p:grpSpPr>
        <p:sp>
          <p:nvSpPr>
            <p:cNvPr id="146" name="Freeform 146"/>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68"/>
              <a:stretch>
                <a:fillRect/>
              </a:stretch>
            </a:blipFill>
          </p:spPr>
          <p:txBody>
            <a:bodyPr/>
            <a:lstStyle/>
            <a:p>
              <a:endParaRPr lang="en-SG"/>
            </a:p>
          </p:txBody>
        </p:sp>
      </p:grpSp>
      <p:grpSp>
        <p:nvGrpSpPr>
          <p:cNvPr id="147" name="Group 147"/>
          <p:cNvGrpSpPr/>
          <p:nvPr/>
        </p:nvGrpSpPr>
        <p:grpSpPr>
          <a:xfrm>
            <a:off x="1139952" y="6516624"/>
            <a:ext cx="9314688" cy="85344"/>
            <a:chOff x="0" y="0"/>
            <a:chExt cx="12419584" cy="113792"/>
          </a:xfrm>
        </p:grpSpPr>
        <p:sp>
          <p:nvSpPr>
            <p:cNvPr id="148" name="Freeform 148"/>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69"/>
              <a:stretch>
                <a:fillRect/>
              </a:stretch>
            </a:blipFill>
          </p:spPr>
          <p:txBody>
            <a:bodyPr/>
            <a:lstStyle/>
            <a:p>
              <a:endParaRPr lang="en-SG"/>
            </a:p>
          </p:txBody>
        </p:sp>
      </p:grpSp>
      <p:grpSp>
        <p:nvGrpSpPr>
          <p:cNvPr id="149" name="Group 149"/>
          <p:cNvGrpSpPr/>
          <p:nvPr/>
        </p:nvGrpSpPr>
        <p:grpSpPr>
          <a:xfrm>
            <a:off x="1139952" y="6598920"/>
            <a:ext cx="9314688" cy="85344"/>
            <a:chOff x="0" y="0"/>
            <a:chExt cx="12419584" cy="113792"/>
          </a:xfrm>
        </p:grpSpPr>
        <p:sp>
          <p:nvSpPr>
            <p:cNvPr id="150" name="Freeform 150"/>
            <p:cNvSpPr/>
            <p:nvPr/>
          </p:nvSpPr>
          <p:spPr>
            <a:xfrm>
              <a:off x="0" y="0"/>
              <a:ext cx="12419584" cy="113792"/>
            </a:xfrm>
            <a:custGeom>
              <a:avLst/>
              <a:gdLst/>
              <a:ahLst/>
              <a:cxnLst/>
              <a:rect l="l" t="t" r="r" b="b"/>
              <a:pathLst>
                <a:path w="12419584" h="113792">
                  <a:moveTo>
                    <a:pt x="0" y="0"/>
                  </a:moveTo>
                  <a:lnTo>
                    <a:pt x="12419584" y="0"/>
                  </a:lnTo>
                  <a:lnTo>
                    <a:pt x="12419584" y="113792"/>
                  </a:lnTo>
                  <a:lnTo>
                    <a:pt x="0" y="113792"/>
                  </a:lnTo>
                  <a:lnTo>
                    <a:pt x="0" y="0"/>
                  </a:lnTo>
                  <a:close/>
                </a:path>
              </a:pathLst>
            </a:custGeom>
            <a:blipFill>
              <a:blip r:embed="rId70"/>
              <a:stretch>
                <a:fillRect/>
              </a:stretch>
            </a:blipFill>
          </p:spPr>
          <p:txBody>
            <a:bodyPr/>
            <a:lstStyle/>
            <a:p>
              <a:endParaRPr lang="en-SG"/>
            </a:p>
          </p:txBody>
        </p:sp>
      </p:grpSp>
      <p:grpSp>
        <p:nvGrpSpPr>
          <p:cNvPr id="151" name="Group 151"/>
          <p:cNvGrpSpPr/>
          <p:nvPr/>
        </p:nvGrpSpPr>
        <p:grpSpPr>
          <a:xfrm>
            <a:off x="1139952" y="6681216"/>
            <a:ext cx="9314688" cy="39624"/>
            <a:chOff x="0" y="0"/>
            <a:chExt cx="9314688" cy="39624"/>
          </a:xfrm>
        </p:grpSpPr>
        <p:sp>
          <p:nvSpPr>
            <p:cNvPr id="152" name="Freeform 152"/>
            <p:cNvSpPr/>
            <p:nvPr/>
          </p:nvSpPr>
          <p:spPr>
            <a:xfrm>
              <a:off x="0" y="0"/>
              <a:ext cx="9314688" cy="39624"/>
            </a:xfrm>
            <a:custGeom>
              <a:avLst/>
              <a:gdLst/>
              <a:ahLst/>
              <a:cxnLst/>
              <a:rect l="l" t="t" r="r" b="b"/>
              <a:pathLst>
                <a:path w="9314688" h="39624">
                  <a:moveTo>
                    <a:pt x="0" y="39624"/>
                  </a:moveTo>
                  <a:lnTo>
                    <a:pt x="9314688" y="39624"/>
                  </a:lnTo>
                  <a:lnTo>
                    <a:pt x="9314688" y="0"/>
                  </a:lnTo>
                  <a:lnTo>
                    <a:pt x="0" y="0"/>
                  </a:lnTo>
                  <a:lnTo>
                    <a:pt x="0" y="39624"/>
                  </a:lnTo>
                  <a:close/>
                </a:path>
              </a:pathLst>
            </a:custGeom>
            <a:solidFill>
              <a:srgbClr val="FFFFFF"/>
            </a:solidFill>
          </p:spPr>
          <p:txBody>
            <a:bodyPr/>
            <a:lstStyle/>
            <a:p>
              <a:endParaRPr lang="en-SG"/>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941576" y="2510028"/>
            <a:ext cx="6809232" cy="473964"/>
            <a:chOff x="0" y="0"/>
            <a:chExt cx="9078976" cy="631952"/>
          </a:xfrm>
        </p:grpSpPr>
        <p:sp>
          <p:nvSpPr>
            <p:cNvPr id="10" name="Freeform 10"/>
            <p:cNvSpPr/>
            <p:nvPr/>
          </p:nvSpPr>
          <p:spPr>
            <a:xfrm>
              <a:off x="0" y="0"/>
              <a:ext cx="9078976" cy="631952"/>
            </a:xfrm>
            <a:custGeom>
              <a:avLst/>
              <a:gdLst/>
              <a:ahLst/>
              <a:cxnLst/>
              <a:rect l="l" t="t" r="r" b="b"/>
              <a:pathLst>
                <a:path w="9078976" h="631952">
                  <a:moveTo>
                    <a:pt x="0" y="0"/>
                  </a:moveTo>
                  <a:lnTo>
                    <a:pt x="9078976" y="0"/>
                  </a:lnTo>
                  <a:lnTo>
                    <a:pt x="9078976" y="631952"/>
                  </a:lnTo>
                  <a:lnTo>
                    <a:pt x="0" y="631952"/>
                  </a:lnTo>
                  <a:lnTo>
                    <a:pt x="0" y="0"/>
                  </a:lnTo>
                  <a:close/>
                </a:path>
              </a:pathLst>
            </a:custGeom>
            <a:blipFill>
              <a:blip r:embed="rId4"/>
              <a:stretch>
                <a:fillRect t="-321"/>
              </a:stretch>
            </a:blipFill>
          </p:spPr>
          <p:txBody>
            <a:bodyPr/>
            <a:lstStyle/>
            <a:p>
              <a:endParaRPr lang="en-SG"/>
            </a:p>
          </p:txBody>
        </p:sp>
      </p:grpSp>
      <p:grpSp>
        <p:nvGrpSpPr>
          <p:cNvPr id="11" name="Group 11"/>
          <p:cNvGrpSpPr/>
          <p:nvPr/>
        </p:nvGrpSpPr>
        <p:grpSpPr>
          <a:xfrm>
            <a:off x="1941576" y="2980944"/>
            <a:ext cx="6809232" cy="3288792"/>
            <a:chOff x="0" y="0"/>
            <a:chExt cx="9078976" cy="4385056"/>
          </a:xfrm>
        </p:grpSpPr>
        <p:sp>
          <p:nvSpPr>
            <p:cNvPr id="12" name="Freeform 12"/>
            <p:cNvSpPr/>
            <p:nvPr/>
          </p:nvSpPr>
          <p:spPr>
            <a:xfrm>
              <a:off x="0" y="0"/>
              <a:ext cx="9078976" cy="4385056"/>
            </a:xfrm>
            <a:custGeom>
              <a:avLst/>
              <a:gdLst/>
              <a:ahLst/>
              <a:cxnLst/>
              <a:rect l="l" t="t" r="r" b="b"/>
              <a:pathLst>
                <a:path w="9078976" h="4385056">
                  <a:moveTo>
                    <a:pt x="0" y="0"/>
                  </a:moveTo>
                  <a:lnTo>
                    <a:pt x="9078976" y="0"/>
                  </a:lnTo>
                  <a:lnTo>
                    <a:pt x="9078976" y="4385056"/>
                  </a:lnTo>
                  <a:lnTo>
                    <a:pt x="0" y="4385056"/>
                  </a:lnTo>
                  <a:lnTo>
                    <a:pt x="0" y="0"/>
                  </a:lnTo>
                  <a:close/>
                </a:path>
              </a:pathLst>
            </a:custGeom>
            <a:blipFill>
              <a:blip r:embed="rId5"/>
              <a:stretch>
                <a:fillRect/>
              </a:stretch>
            </a:blipFill>
          </p:spPr>
          <p:txBody>
            <a:bodyPr/>
            <a:lstStyle/>
            <a:p>
              <a:endParaRPr lang="en-SG"/>
            </a:p>
          </p:txBody>
        </p:sp>
      </p:grpSp>
      <p:sp>
        <p:nvSpPr>
          <p:cNvPr id="13" name="TextBox 13"/>
          <p:cNvSpPr txBox="1"/>
          <p:nvPr/>
        </p:nvSpPr>
        <p:spPr>
          <a:xfrm>
            <a:off x="1632385" y="1334119"/>
            <a:ext cx="5875982"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-Solar Panels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808988" y="3110484"/>
            <a:ext cx="97536" cy="97536"/>
            <a:chOff x="0" y="0"/>
            <a:chExt cx="97536" cy="97536"/>
          </a:xfrm>
        </p:grpSpPr>
        <p:sp>
          <p:nvSpPr>
            <p:cNvPr id="10" name="Freeform 10"/>
            <p:cNvSpPr/>
            <p:nvPr/>
          </p:nvSpPr>
          <p:spPr>
            <a:xfrm>
              <a:off x="0" y="0"/>
              <a:ext cx="97536" cy="97536"/>
            </a:xfrm>
            <a:custGeom>
              <a:avLst/>
              <a:gdLst/>
              <a:ahLst/>
              <a:cxnLst/>
              <a:rect l="l" t="t" r="r" b="b"/>
              <a:pathLst>
                <a:path w="97536" h="97536">
                  <a:moveTo>
                    <a:pt x="24384" y="6096"/>
                  </a:moveTo>
                  <a:cubicBezTo>
                    <a:pt x="16764" y="10668"/>
                    <a:pt x="10668" y="16764"/>
                    <a:pt x="6096" y="24384"/>
                  </a:cubicBezTo>
                  <a:cubicBezTo>
                    <a:pt x="3048" y="32004"/>
                    <a:pt x="0" y="39624"/>
                    <a:pt x="0" y="48768"/>
                  </a:cubicBezTo>
                  <a:cubicBezTo>
                    <a:pt x="0" y="62484"/>
                    <a:pt x="4572" y="73152"/>
                    <a:pt x="15240" y="83820"/>
                  </a:cubicBezTo>
                  <a:cubicBezTo>
                    <a:pt x="24384" y="92964"/>
                    <a:pt x="35052" y="97536"/>
                    <a:pt x="48768" y="97536"/>
                  </a:cubicBezTo>
                  <a:cubicBezTo>
                    <a:pt x="62484" y="97536"/>
                    <a:pt x="74676" y="92964"/>
                    <a:pt x="83820" y="83820"/>
                  </a:cubicBezTo>
                  <a:cubicBezTo>
                    <a:pt x="92964" y="73152"/>
                    <a:pt x="97536" y="62484"/>
                    <a:pt x="97536" y="48768"/>
                  </a:cubicBezTo>
                  <a:cubicBezTo>
                    <a:pt x="97536" y="41148"/>
                    <a:pt x="96012" y="32004"/>
                    <a:pt x="91440" y="24384"/>
                  </a:cubicBezTo>
                  <a:cubicBezTo>
                    <a:pt x="86868" y="16764"/>
                    <a:pt x="80772" y="10668"/>
                    <a:pt x="73152" y="6096"/>
                  </a:cubicBezTo>
                  <a:cubicBezTo>
                    <a:pt x="65532" y="1524"/>
                    <a:pt x="57912" y="0"/>
                    <a:pt x="48768" y="0"/>
                  </a:cubicBezTo>
                  <a:cubicBezTo>
                    <a:pt x="41148" y="0"/>
                    <a:pt x="33528" y="1524"/>
                    <a:pt x="24384" y="6096"/>
                  </a:cubicBezTo>
                  <a:close/>
                </a:path>
              </a:pathLst>
            </a:custGeom>
            <a:solidFill>
              <a:srgbClr val="000000"/>
            </a:solidFill>
          </p:spPr>
          <p:txBody>
            <a:bodyPr/>
            <a:lstStyle/>
            <a:p>
              <a:endParaRPr lang="en-SG"/>
            </a:p>
          </p:txBody>
        </p:sp>
      </p:grpSp>
      <p:grpSp>
        <p:nvGrpSpPr>
          <p:cNvPr id="11" name="Group 11"/>
          <p:cNvGrpSpPr/>
          <p:nvPr/>
        </p:nvGrpSpPr>
        <p:grpSpPr>
          <a:xfrm>
            <a:off x="1808988" y="3800856"/>
            <a:ext cx="97536" cy="97536"/>
            <a:chOff x="0" y="0"/>
            <a:chExt cx="97536" cy="97536"/>
          </a:xfrm>
        </p:grpSpPr>
        <p:sp>
          <p:nvSpPr>
            <p:cNvPr id="12" name="Freeform 12"/>
            <p:cNvSpPr/>
            <p:nvPr/>
          </p:nvSpPr>
          <p:spPr>
            <a:xfrm>
              <a:off x="0" y="0"/>
              <a:ext cx="97536" cy="97536"/>
            </a:xfrm>
            <a:custGeom>
              <a:avLst/>
              <a:gdLst/>
              <a:ahLst/>
              <a:cxnLst/>
              <a:rect l="l" t="t" r="r" b="b"/>
              <a:pathLst>
                <a:path w="97536" h="97536">
                  <a:moveTo>
                    <a:pt x="24384" y="6096"/>
                  </a:moveTo>
                  <a:cubicBezTo>
                    <a:pt x="16764" y="10668"/>
                    <a:pt x="10668" y="16764"/>
                    <a:pt x="6096" y="24384"/>
                  </a:cubicBezTo>
                  <a:cubicBezTo>
                    <a:pt x="3048" y="32004"/>
                    <a:pt x="0" y="39624"/>
                    <a:pt x="0" y="48768"/>
                  </a:cubicBezTo>
                  <a:cubicBezTo>
                    <a:pt x="0" y="62484"/>
                    <a:pt x="4572" y="73152"/>
                    <a:pt x="15240" y="82296"/>
                  </a:cubicBezTo>
                  <a:cubicBezTo>
                    <a:pt x="24384" y="92964"/>
                    <a:pt x="35052" y="97536"/>
                    <a:pt x="48768" y="97536"/>
                  </a:cubicBezTo>
                  <a:cubicBezTo>
                    <a:pt x="62484" y="97536"/>
                    <a:pt x="74676" y="92964"/>
                    <a:pt x="83820" y="82296"/>
                  </a:cubicBezTo>
                  <a:cubicBezTo>
                    <a:pt x="92964" y="73152"/>
                    <a:pt x="97536" y="62484"/>
                    <a:pt x="97536" y="48768"/>
                  </a:cubicBezTo>
                  <a:cubicBezTo>
                    <a:pt x="97536" y="39624"/>
                    <a:pt x="96012" y="32004"/>
                    <a:pt x="91440" y="24384"/>
                  </a:cubicBezTo>
                  <a:cubicBezTo>
                    <a:pt x="86868" y="16764"/>
                    <a:pt x="80772" y="10668"/>
                    <a:pt x="73152" y="6096"/>
                  </a:cubicBezTo>
                  <a:cubicBezTo>
                    <a:pt x="65532" y="1524"/>
                    <a:pt x="57912" y="0"/>
                    <a:pt x="48768" y="0"/>
                  </a:cubicBezTo>
                  <a:cubicBezTo>
                    <a:pt x="41148" y="0"/>
                    <a:pt x="33528" y="1524"/>
                    <a:pt x="24384" y="6096"/>
                  </a:cubicBezTo>
                  <a:close/>
                </a:path>
              </a:pathLst>
            </a:custGeom>
            <a:solidFill>
              <a:srgbClr val="000000"/>
            </a:solidFill>
          </p:spPr>
          <p:txBody>
            <a:bodyPr/>
            <a:lstStyle/>
            <a:p>
              <a:endParaRPr lang="en-SG"/>
            </a:p>
          </p:txBody>
        </p:sp>
      </p:grpSp>
      <p:grpSp>
        <p:nvGrpSpPr>
          <p:cNvPr id="13" name="Group 13"/>
          <p:cNvGrpSpPr/>
          <p:nvPr/>
        </p:nvGrpSpPr>
        <p:grpSpPr>
          <a:xfrm>
            <a:off x="5690616" y="2168652"/>
            <a:ext cx="4808220" cy="672084"/>
            <a:chOff x="0" y="0"/>
            <a:chExt cx="6410960" cy="896112"/>
          </a:xfrm>
        </p:grpSpPr>
        <p:sp>
          <p:nvSpPr>
            <p:cNvPr id="14" name="Freeform 14"/>
            <p:cNvSpPr/>
            <p:nvPr/>
          </p:nvSpPr>
          <p:spPr>
            <a:xfrm>
              <a:off x="0" y="0"/>
              <a:ext cx="6410960" cy="896112"/>
            </a:xfrm>
            <a:custGeom>
              <a:avLst/>
              <a:gdLst/>
              <a:ahLst/>
              <a:cxnLst/>
              <a:rect l="l" t="t" r="r" b="b"/>
              <a:pathLst>
                <a:path w="6410960" h="896112">
                  <a:moveTo>
                    <a:pt x="0" y="0"/>
                  </a:moveTo>
                  <a:lnTo>
                    <a:pt x="6410960" y="0"/>
                  </a:lnTo>
                  <a:lnTo>
                    <a:pt x="6410960" y="896112"/>
                  </a:lnTo>
                  <a:lnTo>
                    <a:pt x="0" y="896112"/>
                  </a:lnTo>
                  <a:lnTo>
                    <a:pt x="0" y="0"/>
                  </a:lnTo>
                  <a:close/>
                </a:path>
              </a:pathLst>
            </a:custGeom>
            <a:blipFill>
              <a:blip r:embed="rId4"/>
              <a:stretch>
                <a:fillRect t="-226" r="-31"/>
              </a:stretch>
            </a:blipFill>
          </p:spPr>
          <p:txBody>
            <a:bodyPr/>
            <a:lstStyle/>
            <a:p>
              <a:endParaRPr lang="en-SG"/>
            </a:p>
          </p:txBody>
        </p:sp>
      </p:grpSp>
      <p:grpSp>
        <p:nvGrpSpPr>
          <p:cNvPr id="15" name="Group 15"/>
          <p:cNvGrpSpPr/>
          <p:nvPr/>
        </p:nvGrpSpPr>
        <p:grpSpPr>
          <a:xfrm>
            <a:off x="5690616" y="2837688"/>
            <a:ext cx="4808220" cy="3755136"/>
            <a:chOff x="0" y="0"/>
            <a:chExt cx="6410960" cy="5006848"/>
          </a:xfrm>
        </p:grpSpPr>
        <p:sp>
          <p:nvSpPr>
            <p:cNvPr id="16" name="Freeform 16"/>
            <p:cNvSpPr/>
            <p:nvPr/>
          </p:nvSpPr>
          <p:spPr>
            <a:xfrm>
              <a:off x="0" y="0"/>
              <a:ext cx="6410960" cy="5006848"/>
            </a:xfrm>
            <a:custGeom>
              <a:avLst/>
              <a:gdLst/>
              <a:ahLst/>
              <a:cxnLst/>
              <a:rect l="l" t="t" r="r" b="b"/>
              <a:pathLst>
                <a:path w="6410960" h="5006848">
                  <a:moveTo>
                    <a:pt x="0" y="0"/>
                  </a:moveTo>
                  <a:lnTo>
                    <a:pt x="6410960" y="0"/>
                  </a:lnTo>
                  <a:lnTo>
                    <a:pt x="6410960" y="5006848"/>
                  </a:lnTo>
                  <a:lnTo>
                    <a:pt x="0" y="5006848"/>
                  </a:lnTo>
                  <a:lnTo>
                    <a:pt x="0" y="0"/>
                  </a:lnTo>
                  <a:close/>
                </a:path>
              </a:pathLst>
            </a:custGeom>
            <a:blipFill>
              <a:blip r:embed="rId5"/>
              <a:stretch>
                <a:fillRect/>
              </a:stretch>
            </a:blipFill>
          </p:spPr>
          <p:txBody>
            <a:bodyPr/>
            <a:lstStyle/>
            <a:p>
              <a:endParaRPr lang="en-SG"/>
            </a:p>
          </p:txBody>
        </p:sp>
      </p:grpSp>
      <p:sp>
        <p:nvSpPr>
          <p:cNvPr id="17" name="TextBox 17"/>
          <p:cNvSpPr txBox="1"/>
          <p:nvPr/>
        </p:nvSpPr>
        <p:spPr>
          <a:xfrm>
            <a:off x="1632290" y="1286494"/>
            <a:ext cx="5876077" cy="1645349"/>
          </a:xfrm>
          <a:prstGeom prst="rect">
            <a:avLst/>
          </a:prstGeom>
        </p:spPr>
        <p:txBody>
          <a:bodyPr lIns="0" tIns="0" rIns="0" bIns="0" rtlCol="0" anchor="t">
            <a:spAutoFit/>
          </a:bodyPr>
          <a:lstStyle/>
          <a:p>
            <a:pPr algn="l">
              <a:lnSpc>
                <a:spcPts val="4718"/>
              </a:lnSpc>
            </a:pPr>
            <a:r>
              <a:rPr lang="en-US" sz="3048">
                <a:solidFill>
                  <a:srgbClr val="2C2C2C"/>
                </a:solidFill>
                <a:latin typeface="Montserrat"/>
                <a:ea typeface="Montserrat"/>
                <a:cs typeface="Montserrat"/>
                <a:sym typeface="Montserrat"/>
              </a:rPr>
              <a:t>Satellite Set-up -Solar Panels </a:t>
            </a:r>
          </a:p>
          <a:p>
            <a:pPr algn="l">
              <a:lnSpc>
                <a:spcPts val="2712"/>
              </a:lnSpc>
            </a:pPr>
            <a:r>
              <a:rPr lang="en-US" sz="1752" spc="-12">
                <a:solidFill>
                  <a:srgbClr val="000000"/>
                </a:solidFill>
                <a:latin typeface="Montserrat"/>
                <a:ea typeface="Montserrat"/>
                <a:cs typeface="Montserrat"/>
                <a:sym typeface="Montserrat"/>
              </a:rPr>
              <a:t>Before placing the solar panels we </a:t>
            </a:r>
          </a:p>
          <a:p>
            <a:pPr algn="l">
              <a:lnSpc>
                <a:spcPts val="2712"/>
              </a:lnSpc>
            </a:pPr>
            <a:r>
              <a:rPr lang="en-US" sz="1752" spc="-12">
                <a:solidFill>
                  <a:srgbClr val="000000"/>
                </a:solidFill>
                <a:latin typeface="Montserrat"/>
                <a:ea typeface="Montserrat"/>
                <a:cs typeface="Montserrat"/>
                <a:sym typeface="Montserrat"/>
              </a:rPr>
              <a:t>need to: </a:t>
            </a:r>
          </a:p>
        </p:txBody>
      </p:sp>
      <p:sp>
        <p:nvSpPr>
          <p:cNvPr id="18" name="TextBox 18"/>
          <p:cNvSpPr txBox="1"/>
          <p:nvPr/>
        </p:nvSpPr>
        <p:spPr>
          <a:xfrm>
            <a:off x="2167185" y="2942720"/>
            <a:ext cx="3122209" cy="1371162"/>
          </a:xfrm>
          <a:prstGeom prst="rect">
            <a:avLst/>
          </a:prstGeom>
        </p:spPr>
        <p:txBody>
          <a:bodyPr lIns="0" tIns="0" rIns="0" bIns="0" rtlCol="0" anchor="t">
            <a:spAutoFit/>
          </a:bodyPr>
          <a:lstStyle/>
          <a:p>
            <a:pPr algn="l">
              <a:lnSpc>
                <a:spcPts val="2720"/>
              </a:lnSpc>
            </a:pPr>
            <a:r>
              <a:rPr lang="en-US" sz="1752" spc="-12">
                <a:solidFill>
                  <a:srgbClr val="000000"/>
                </a:solidFill>
                <a:latin typeface="Montserrat"/>
                <a:ea typeface="Montserrat"/>
                <a:cs typeface="Montserrat"/>
                <a:sym typeface="Montserrat"/>
              </a:rPr>
              <a:t>Connect the solar cells outputs to the EPS. Connect the sun sensors to the ADCS.</a:t>
            </a:r>
          </a:p>
        </p:txBody>
      </p:sp>
      <p:sp>
        <p:nvSpPr>
          <p:cNvPr id="19" name="TextBox 19"/>
          <p:cNvSpPr txBox="1"/>
          <p:nvPr/>
        </p:nvSpPr>
        <p:spPr>
          <a:xfrm>
            <a:off x="1632290" y="4323578"/>
            <a:ext cx="3780377" cy="1023614"/>
          </a:xfrm>
          <a:prstGeom prst="rect">
            <a:avLst/>
          </a:prstGeom>
        </p:spPr>
        <p:txBody>
          <a:bodyPr lIns="0" tIns="0" rIns="0" bIns="0" rtlCol="0" anchor="t">
            <a:spAutoFit/>
          </a:bodyPr>
          <a:lstStyle/>
          <a:p>
            <a:pPr algn="l">
              <a:lnSpc>
                <a:spcPts val="2712"/>
              </a:lnSpc>
            </a:pPr>
            <a:r>
              <a:rPr lang="en-US" sz="1752" spc="-12">
                <a:solidFill>
                  <a:srgbClr val="000000"/>
                </a:solidFill>
                <a:latin typeface="Montserrat"/>
                <a:ea typeface="Montserrat"/>
                <a:cs typeface="Montserrat"/>
                <a:sym typeface="Montserrat"/>
              </a:rPr>
              <a:t>Refer to the EPS and ADCS schematics to understand where to connect each cable.</a:t>
            </a:r>
          </a:p>
        </p:txBody>
      </p:sp>
      <p:sp>
        <p:nvSpPr>
          <p:cNvPr id="20" name="TextBox 20"/>
          <p:cNvSpPr txBox="1"/>
          <p:nvPr/>
        </p:nvSpPr>
        <p:spPr>
          <a:xfrm>
            <a:off x="1632290" y="5702656"/>
            <a:ext cx="3941512" cy="680733"/>
          </a:xfrm>
          <a:prstGeom prst="rect">
            <a:avLst/>
          </a:prstGeom>
        </p:spPr>
        <p:txBody>
          <a:bodyPr lIns="0" tIns="0" rIns="0" bIns="0" rtlCol="0" anchor="t">
            <a:spAutoFit/>
          </a:bodyPr>
          <a:lstStyle/>
          <a:p>
            <a:pPr algn="l">
              <a:lnSpc>
                <a:spcPts val="2724"/>
              </a:lnSpc>
            </a:pPr>
            <a:r>
              <a:rPr lang="en-US" sz="1752" spc="-12">
                <a:solidFill>
                  <a:srgbClr val="000000"/>
                </a:solidFill>
                <a:latin typeface="Montserrat"/>
                <a:ea typeface="Montserrat"/>
                <a:cs typeface="Montserrat"/>
                <a:sym typeface="Montserrat"/>
              </a:rPr>
              <a:t>Use the spacers behind the panels to place them on the satellite.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7690"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1821180" y="2363724"/>
            <a:ext cx="83820" cy="83820"/>
            <a:chOff x="0" y="0"/>
            <a:chExt cx="83820" cy="83820"/>
          </a:xfrm>
        </p:grpSpPr>
        <p:sp>
          <p:nvSpPr>
            <p:cNvPr id="10" name="Freeform 10"/>
            <p:cNvSpPr/>
            <p:nvPr/>
          </p:nvSpPr>
          <p:spPr>
            <a:xfrm>
              <a:off x="0" y="0"/>
              <a:ext cx="83820" cy="83820"/>
            </a:xfrm>
            <a:custGeom>
              <a:avLst/>
              <a:gdLst/>
              <a:ahLst/>
              <a:cxnLst/>
              <a:rect l="l" t="t" r="r" b="b"/>
              <a:pathLst>
                <a:path w="83820" h="83820">
                  <a:moveTo>
                    <a:pt x="21336" y="6096"/>
                  </a:moveTo>
                  <a:cubicBezTo>
                    <a:pt x="13716" y="9144"/>
                    <a:pt x="9144" y="13716"/>
                    <a:pt x="4572" y="21336"/>
                  </a:cubicBezTo>
                  <a:cubicBezTo>
                    <a:pt x="1524" y="27432"/>
                    <a:pt x="0" y="35052"/>
                    <a:pt x="0" y="42672"/>
                  </a:cubicBezTo>
                  <a:cubicBezTo>
                    <a:pt x="0" y="53340"/>
                    <a:pt x="3048" y="64008"/>
                    <a:pt x="12192" y="71628"/>
                  </a:cubicBezTo>
                  <a:cubicBezTo>
                    <a:pt x="19812" y="79248"/>
                    <a:pt x="28956" y="83820"/>
                    <a:pt x="41148" y="83820"/>
                  </a:cubicBezTo>
                  <a:cubicBezTo>
                    <a:pt x="53340" y="83820"/>
                    <a:pt x="62484" y="79248"/>
                    <a:pt x="70104" y="71628"/>
                  </a:cubicBezTo>
                  <a:cubicBezTo>
                    <a:pt x="79248" y="64008"/>
                    <a:pt x="83820" y="53340"/>
                    <a:pt x="83820" y="42672"/>
                  </a:cubicBezTo>
                  <a:cubicBezTo>
                    <a:pt x="83820" y="35052"/>
                    <a:pt x="80772" y="27432"/>
                    <a:pt x="77724" y="21336"/>
                  </a:cubicBezTo>
                  <a:cubicBezTo>
                    <a:pt x="73152" y="13716"/>
                    <a:pt x="68580" y="9144"/>
                    <a:pt x="62484" y="6096"/>
                  </a:cubicBezTo>
                  <a:cubicBezTo>
                    <a:pt x="54864" y="1524"/>
                    <a:pt x="48768" y="0"/>
                    <a:pt x="41148" y="0"/>
                  </a:cubicBezTo>
                  <a:cubicBezTo>
                    <a:pt x="33528" y="0"/>
                    <a:pt x="27432" y="1524"/>
                    <a:pt x="21336" y="6096"/>
                  </a:cubicBezTo>
                  <a:close/>
                </a:path>
              </a:pathLst>
            </a:custGeom>
            <a:solidFill>
              <a:srgbClr val="000000"/>
            </a:solidFill>
          </p:spPr>
          <p:txBody>
            <a:bodyPr/>
            <a:lstStyle/>
            <a:p>
              <a:endParaRPr/>
            </a:p>
          </p:txBody>
        </p:sp>
      </p:grpSp>
      <p:grpSp>
        <p:nvGrpSpPr>
          <p:cNvPr id="11" name="Group 11"/>
          <p:cNvGrpSpPr/>
          <p:nvPr/>
        </p:nvGrpSpPr>
        <p:grpSpPr>
          <a:xfrm>
            <a:off x="1821180" y="3857244"/>
            <a:ext cx="83820" cy="83820"/>
            <a:chOff x="0" y="0"/>
            <a:chExt cx="83820" cy="83820"/>
          </a:xfrm>
        </p:grpSpPr>
        <p:sp>
          <p:nvSpPr>
            <p:cNvPr id="12" name="Freeform 12"/>
            <p:cNvSpPr/>
            <p:nvPr/>
          </p:nvSpPr>
          <p:spPr>
            <a:xfrm>
              <a:off x="0" y="0"/>
              <a:ext cx="83820" cy="83820"/>
            </a:xfrm>
            <a:custGeom>
              <a:avLst/>
              <a:gdLst/>
              <a:ahLst/>
              <a:cxnLst/>
              <a:rect l="l" t="t" r="r" b="b"/>
              <a:pathLst>
                <a:path w="83820" h="83820">
                  <a:moveTo>
                    <a:pt x="21336" y="6096"/>
                  </a:moveTo>
                  <a:cubicBezTo>
                    <a:pt x="13716" y="9144"/>
                    <a:pt x="9144" y="15240"/>
                    <a:pt x="4572" y="21336"/>
                  </a:cubicBezTo>
                  <a:cubicBezTo>
                    <a:pt x="1524" y="27432"/>
                    <a:pt x="0" y="35052"/>
                    <a:pt x="0" y="42672"/>
                  </a:cubicBezTo>
                  <a:cubicBezTo>
                    <a:pt x="0" y="53340"/>
                    <a:pt x="3048" y="64008"/>
                    <a:pt x="12192" y="71628"/>
                  </a:cubicBezTo>
                  <a:cubicBezTo>
                    <a:pt x="19812" y="80772"/>
                    <a:pt x="28956" y="83820"/>
                    <a:pt x="41148" y="83820"/>
                  </a:cubicBezTo>
                  <a:cubicBezTo>
                    <a:pt x="53340" y="83820"/>
                    <a:pt x="62484" y="80772"/>
                    <a:pt x="70104" y="71628"/>
                  </a:cubicBezTo>
                  <a:cubicBezTo>
                    <a:pt x="79248" y="64008"/>
                    <a:pt x="83820" y="53340"/>
                    <a:pt x="83820" y="42672"/>
                  </a:cubicBezTo>
                  <a:cubicBezTo>
                    <a:pt x="83820" y="35052"/>
                    <a:pt x="80772" y="27432"/>
                    <a:pt x="77724" y="21336"/>
                  </a:cubicBezTo>
                  <a:cubicBezTo>
                    <a:pt x="73152" y="15240"/>
                    <a:pt x="68580" y="9144"/>
                    <a:pt x="62484" y="6096"/>
                  </a:cubicBezTo>
                  <a:cubicBezTo>
                    <a:pt x="54864" y="3048"/>
                    <a:pt x="48768" y="0"/>
                    <a:pt x="41148" y="0"/>
                  </a:cubicBezTo>
                  <a:cubicBezTo>
                    <a:pt x="33528" y="0"/>
                    <a:pt x="27432" y="3048"/>
                    <a:pt x="21336" y="6096"/>
                  </a:cubicBezTo>
                  <a:close/>
                </a:path>
              </a:pathLst>
            </a:custGeom>
            <a:solidFill>
              <a:srgbClr val="000000"/>
            </a:solidFill>
          </p:spPr>
          <p:txBody>
            <a:bodyPr/>
            <a:lstStyle/>
            <a:p>
              <a:endParaRPr/>
            </a:p>
          </p:txBody>
        </p:sp>
      </p:grpSp>
      <p:sp>
        <p:nvSpPr>
          <p:cNvPr id="13" name="Freeform 13"/>
          <p:cNvSpPr/>
          <p:nvPr/>
        </p:nvSpPr>
        <p:spPr>
          <a:xfrm>
            <a:off x="2128009" y="3744973"/>
            <a:ext cx="7599169" cy="309877"/>
          </a:xfrm>
          <a:custGeom>
            <a:avLst/>
            <a:gdLst/>
            <a:ahLst/>
            <a:cxnLst/>
            <a:rect l="l" t="t" r="r" b="b"/>
            <a:pathLst>
              <a:path w="7599169" h="309877">
                <a:moveTo>
                  <a:pt x="0" y="0"/>
                </a:moveTo>
                <a:lnTo>
                  <a:pt x="7599169" y="0"/>
                </a:lnTo>
                <a:lnTo>
                  <a:pt x="7599169" y="309877"/>
                </a:lnTo>
                <a:lnTo>
                  <a:pt x="0" y="30987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14" name="TextBox 14"/>
          <p:cNvSpPr txBox="1"/>
          <p:nvPr/>
        </p:nvSpPr>
        <p:spPr>
          <a:xfrm>
            <a:off x="1632385" y="1334119"/>
            <a:ext cx="5120640" cy="523504"/>
          </a:xfrm>
          <a:prstGeom prst="rect">
            <a:avLst/>
          </a:prstGeom>
        </p:spPr>
        <p:txBody>
          <a:bodyPr wrap="square" lIns="0" tIns="0" rIns="0" bIns="0" rtlCol="0" anchor="t">
            <a:spAutoFit/>
          </a:bodyPr>
          <a:lstStyle/>
          <a:p>
            <a:pPr algn="l">
              <a:lnSpc>
                <a:spcPts val="4267"/>
              </a:lnSpc>
            </a:pPr>
            <a:r>
              <a:rPr lang="en-US" sz="2500">
                <a:solidFill>
                  <a:srgbClr val="2C2C2C"/>
                </a:solidFill>
                <a:latin typeface="Montserrat"/>
                <a:ea typeface="Montserrat"/>
                <a:cs typeface="Montserrat"/>
                <a:sym typeface="Montserrat"/>
              </a:rPr>
              <a:t>Reading the EPS temperature</a:t>
            </a:r>
          </a:p>
        </p:txBody>
      </p:sp>
      <p:sp>
        <p:nvSpPr>
          <p:cNvPr id="15" name="TextBox 15"/>
          <p:cNvSpPr txBox="1"/>
          <p:nvPr/>
        </p:nvSpPr>
        <p:spPr>
          <a:xfrm>
            <a:off x="2167185" y="4011863"/>
            <a:ext cx="7497108" cy="579531"/>
          </a:xfrm>
          <a:prstGeom prst="rect">
            <a:avLst/>
          </a:prstGeom>
        </p:spPr>
        <p:txBody>
          <a:bodyPr lIns="0" tIns="0" rIns="0" bIns="0" rtlCol="0" anchor="t">
            <a:spAutoFit/>
          </a:bodyPr>
          <a:lstStyle/>
          <a:p>
            <a:pPr algn="l">
              <a:lnSpc>
                <a:spcPts val="2351"/>
              </a:lnSpc>
            </a:pPr>
            <a:r>
              <a:rPr lang="en-US" sz="1512" spc="-9">
                <a:solidFill>
                  <a:srgbClr val="000000"/>
                </a:solidFill>
                <a:latin typeface="Montserrat"/>
                <a:ea typeface="Montserrat"/>
                <a:cs typeface="Montserrat"/>
                <a:sym typeface="Montserrat"/>
              </a:rPr>
              <a:t>provides the desired information when asked. Remember to create separate functions for each. (Optional)</a:t>
            </a:r>
          </a:p>
        </p:txBody>
      </p:sp>
      <p:sp>
        <p:nvSpPr>
          <p:cNvPr id="16" name="TextBox 16"/>
          <p:cNvSpPr txBox="1"/>
          <p:nvPr/>
        </p:nvSpPr>
        <p:spPr>
          <a:xfrm>
            <a:off x="2167185" y="2218163"/>
            <a:ext cx="7851619" cy="1484805"/>
          </a:xfrm>
          <a:prstGeom prst="rect">
            <a:avLst/>
          </a:prstGeom>
        </p:spPr>
        <p:txBody>
          <a:bodyPr lIns="0" tIns="0" rIns="0" bIns="0" rtlCol="0" anchor="t">
            <a:spAutoFit/>
          </a:bodyPr>
          <a:lstStyle/>
          <a:p>
            <a:pPr algn="l">
              <a:lnSpc>
                <a:spcPts val="2354"/>
              </a:lnSpc>
            </a:pPr>
            <a:r>
              <a:rPr lang="en-US" sz="1512" spc="-9">
                <a:solidFill>
                  <a:srgbClr val="000000"/>
                </a:solidFill>
                <a:latin typeface="Montserrat"/>
                <a:ea typeface="Montserrat"/>
                <a:cs typeface="Montserrat"/>
                <a:sym typeface="Montserrat"/>
              </a:rPr>
              <a:t>Now, referring to the OBC schematics, locate the connection of the EPS temperature sensor on the OBC (no need to send it via LoRa). Write a code to read the temperature of the EPS -the output in your serial monitor should look like: 'TEMPEPS = 20.6.' The EPS utilizes the same temperature sensor as the OBC (LM35).</a:t>
            </a:r>
          </a:p>
        </p:txBody>
      </p:sp>
      <p:sp>
        <p:nvSpPr>
          <p:cNvPr id="17" name="TextBox 17"/>
          <p:cNvSpPr txBox="1"/>
          <p:nvPr/>
        </p:nvSpPr>
        <p:spPr>
          <a:xfrm>
            <a:off x="2167185" y="4731028"/>
            <a:ext cx="7696886" cy="1484805"/>
          </a:xfrm>
          <a:prstGeom prst="rect">
            <a:avLst/>
          </a:prstGeom>
        </p:spPr>
        <p:txBody>
          <a:bodyPr lIns="0" tIns="0" rIns="0" bIns="0" rtlCol="0" anchor="t">
            <a:spAutoFit/>
          </a:bodyPr>
          <a:lstStyle/>
          <a:p>
            <a:pPr algn="l">
              <a:lnSpc>
                <a:spcPts val="2357"/>
              </a:lnSpc>
            </a:pPr>
            <a:r>
              <a:rPr lang="en-US" sz="1512" spc="-9">
                <a:solidFill>
                  <a:srgbClr val="000000"/>
                </a:solidFill>
                <a:latin typeface="Montserrat"/>
                <a:ea typeface="Montserrat"/>
                <a:cs typeface="Montserrat"/>
                <a:sym typeface="Montserrat"/>
              </a:rPr>
              <a:t>Utilize the serial plotter to graphically represent all readings, including TEMPOBC, TEMPEPS, and VBAT. </a:t>
            </a:r>
          </a:p>
          <a:p>
            <a:pPr algn="l">
              <a:lnSpc>
                <a:spcPts val="2357"/>
              </a:lnSpc>
            </a:pPr>
            <a:r>
              <a:rPr lang="en-US" sz="1512" spc="-9">
                <a:solidFill>
                  <a:srgbClr val="000000"/>
                </a:solidFill>
                <a:latin typeface="Montserrat"/>
                <a:ea typeface="Montserrat"/>
                <a:cs typeface="Montserrat"/>
                <a:sym typeface="Montserrat"/>
              </a:rPr>
              <a:t>Remember that the reading must be continuous to correctly plot the values. Find a way to calculate the variability of the sensor readings within a 5 seconds as sample time.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4228146" y="4207764"/>
            <a:ext cx="2235708" cy="1446276"/>
            <a:chOff x="0" y="0"/>
            <a:chExt cx="2980944" cy="1928368"/>
          </a:xfrm>
        </p:grpSpPr>
        <p:sp>
          <p:nvSpPr>
            <p:cNvPr id="10" name="Freeform 10"/>
            <p:cNvSpPr/>
            <p:nvPr/>
          </p:nvSpPr>
          <p:spPr>
            <a:xfrm>
              <a:off x="0" y="0"/>
              <a:ext cx="2980944" cy="1928368"/>
            </a:xfrm>
            <a:custGeom>
              <a:avLst/>
              <a:gdLst/>
              <a:ahLst/>
              <a:cxnLst/>
              <a:rect l="l" t="t" r="r" b="b"/>
              <a:pathLst>
                <a:path w="2980944" h="1928368">
                  <a:moveTo>
                    <a:pt x="0" y="0"/>
                  </a:moveTo>
                  <a:lnTo>
                    <a:pt x="2980944" y="0"/>
                  </a:lnTo>
                  <a:lnTo>
                    <a:pt x="2980944" y="1928368"/>
                  </a:lnTo>
                  <a:lnTo>
                    <a:pt x="0" y="1928368"/>
                  </a:lnTo>
                  <a:lnTo>
                    <a:pt x="0" y="0"/>
                  </a:lnTo>
                  <a:close/>
                </a:path>
              </a:pathLst>
            </a:custGeom>
            <a:blipFill>
              <a:blip r:embed="rId4"/>
              <a:stretch>
                <a:fillRect l="-68" t="-105"/>
              </a:stretch>
            </a:blipFill>
          </p:spPr>
          <p:txBody>
            <a:bodyPr/>
            <a:lstStyle/>
            <a:p>
              <a:endParaRPr/>
            </a:p>
          </p:txBody>
        </p:sp>
      </p:grpSp>
      <p:grpSp>
        <p:nvGrpSpPr>
          <p:cNvPr id="11" name="Group 11"/>
          <p:cNvGrpSpPr/>
          <p:nvPr/>
        </p:nvGrpSpPr>
        <p:grpSpPr>
          <a:xfrm>
            <a:off x="4229100" y="5654040"/>
            <a:ext cx="2235708" cy="362712"/>
            <a:chOff x="0" y="0"/>
            <a:chExt cx="2980944" cy="483616"/>
          </a:xfrm>
        </p:grpSpPr>
        <p:sp>
          <p:nvSpPr>
            <p:cNvPr id="12" name="Freeform 12"/>
            <p:cNvSpPr/>
            <p:nvPr/>
          </p:nvSpPr>
          <p:spPr>
            <a:xfrm>
              <a:off x="0" y="0"/>
              <a:ext cx="2980944" cy="483616"/>
            </a:xfrm>
            <a:custGeom>
              <a:avLst/>
              <a:gdLst/>
              <a:ahLst/>
              <a:cxnLst/>
              <a:rect l="l" t="t" r="r" b="b"/>
              <a:pathLst>
                <a:path w="2980944" h="483616">
                  <a:moveTo>
                    <a:pt x="0" y="0"/>
                  </a:moveTo>
                  <a:lnTo>
                    <a:pt x="2980944" y="0"/>
                  </a:lnTo>
                  <a:lnTo>
                    <a:pt x="2980944" y="483616"/>
                  </a:lnTo>
                  <a:lnTo>
                    <a:pt x="0" y="483616"/>
                  </a:lnTo>
                  <a:lnTo>
                    <a:pt x="0" y="0"/>
                  </a:lnTo>
                  <a:close/>
                </a:path>
              </a:pathLst>
            </a:custGeom>
            <a:blipFill>
              <a:blip r:embed="rId5"/>
              <a:stretch>
                <a:fillRect l="-68"/>
              </a:stretch>
            </a:blipFill>
          </p:spPr>
          <p:txBody>
            <a:bodyPr/>
            <a:lstStyle/>
            <a:p>
              <a:endParaRPr/>
            </a:p>
          </p:txBody>
        </p:sp>
      </p:grpSp>
      <p:sp>
        <p:nvSpPr>
          <p:cNvPr id="13" name="TextBox 13"/>
          <p:cNvSpPr txBox="1"/>
          <p:nvPr/>
        </p:nvSpPr>
        <p:spPr>
          <a:xfrm>
            <a:off x="1632385" y="1334119"/>
            <a:ext cx="5120640" cy="523504"/>
          </a:xfrm>
          <a:prstGeom prst="rect">
            <a:avLst/>
          </a:prstGeom>
        </p:spPr>
        <p:txBody>
          <a:bodyPr wrap="square" lIns="0" tIns="0" rIns="0" bIns="0" rtlCol="0" anchor="t">
            <a:spAutoFit/>
          </a:bodyPr>
          <a:lstStyle/>
          <a:p>
            <a:pPr algn="l">
              <a:lnSpc>
                <a:spcPts val="4267"/>
              </a:lnSpc>
            </a:pPr>
            <a:r>
              <a:rPr lang="en-US" sz="2500">
                <a:solidFill>
                  <a:srgbClr val="2C2C2C"/>
                </a:solidFill>
                <a:latin typeface="Montserrat"/>
                <a:ea typeface="Montserrat"/>
                <a:cs typeface="Montserrat"/>
                <a:sym typeface="Montserrat"/>
              </a:rPr>
              <a:t>Reading the battery voltage</a:t>
            </a:r>
          </a:p>
        </p:txBody>
      </p:sp>
      <p:sp>
        <p:nvSpPr>
          <p:cNvPr id="14" name="TextBox 14"/>
          <p:cNvSpPr txBox="1"/>
          <p:nvPr/>
        </p:nvSpPr>
        <p:spPr>
          <a:xfrm>
            <a:off x="1632385" y="1938585"/>
            <a:ext cx="7766228" cy="1184662"/>
          </a:xfrm>
          <a:prstGeom prst="rect">
            <a:avLst/>
          </a:prstGeom>
        </p:spPr>
        <p:txBody>
          <a:bodyPr lIns="0" tIns="0" rIns="0" bIns="0" rtlCol="0" anchor="t">
            <a:spAutoFit/>
          </a:bodyPr>
          <a:lstStyle/>
          <a:p>
            <a:pPr algn="l">
              <a:lnSpc>
                <a:spcPts val="2355"/>
              </a:lnSpc>
            </a:pPr>
            <a:r>
              <a:rPr lang="en-US" sz="1512" spc="-9">
                <a:solidFill>
                  <a:srgbClr val="000000"/>
                </a:solidFill>
                <a:latin typeface="Montserrat"/>
                <a:ea typeface="Montserrat"/>
                <a:cs typeface="Montserrat"/>
                <a:sym typeface="Montserrat"/>
              </a:rPr>
              <a:t>Refer to the OBC schematics to determine how to read the battery voltage (VBAT) using the Adafruit 4755 solar charger. Consult the datasheet online for accurate calculations of the battery voltage. Enable it to be called via serial by typing 'VBAT'.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371" y="827532"/>
            <a:ext cx="10392661" cy="5901433"/>
          </a:xfrm>
          <a:custGeom>
            <a:avLst/>
            <a:gdLst/>
            <a:ahLst/>
            <a:cxnLst/>
            <a:rect l="l" t="t" r="r" b="b"/>
            <a:pathLst>
              <a:path w="10392661" h="5901433">
                <a:moveTo>
                  <a:pt x="0" y="0"/>
                </a:moveTo>
                <a:lnTo>
                  <a:pt x="10392661" y="0"/>
                </a:lnTo>
                <a:lnTo>
                  <a:pt x="10392661" y="5901433"/>
                </a:lnTo>
                <a:lnTo>
                  <a:pt x="0" y="590143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SG"/>
          </a:p>
        </p:txBody>
      </p:sp>
      <p:grpSp>
        <p:nvGrpSpPr>
          <p:cNvPr id="3" name="Group 3"/>
          <p:cNvGrpSpPr/>
          <p:nvPr/>
        </p:nvGrpSpPr>
        <p:grpSpPr>
          <a:xfrm rot="-5400000">
            <a:off x="55769" y="1405519"/>
            <a:ext cx="1230944" cy="545221"/>
            <a:chOff x="0" y="0"/>
            <a:chExt cx="1641259" cy="726961"/>
          </a:xfrm>
        </p:grpSpPr>
        <p:sp>
          <p:nvSpPr>
            <p:cNvPr id="4" name="Freeform 4"/>
            <p:cNvSpPr/>
            <p:nvPr/>
          </p:nvSpPr>
          <p:spPr>
            <a:xfrm>
              <a:off x="0" y="0"/>
              <a:ext cx="1641221" cy="726948"/>
            </a:xfrm>
            <a:custGeom>
              <a:avLst/>
              <a:gdLst/>
              <a:ahLst/>
              <a:cxnLst/>
              <a:rect l="l" t="t" r="r" b="b"/>
              <a:pathLst>
                <a:path w="1641221" h="726948">
                  <a:moveTo>
                    <a:pt x="0" y="0"/>
                  </a:moveTo>
                  <a:lnTo>
                    <a:pt x="1641221" y="0"/>
                  </a:lnTo>
                  <a:lnTo>
                    <a:pt x="1641221" y="726948"/>
                  </a:lnTo>
                  <a:lnTo>
                    <a:pt x="0" y="726948"/>
                  </a:lnTo>
                  <a:lnTo>
                    <a:pt x="0" y="0"/>
                  </a:lnTo>
                  <a:close/>
                </a:path>
              </a:pathLst>
            </a:custGeom>
            <a:blipFill>
              <a:blip r:embed="rId3"/>
              <a:stretch>
                <a:fillRect t="-54271" r="-2" b="-71512"/>
              </a:stretch>
            </a:blipFill>
          </p:spPr>
          <p:txBody>
            <a:bodyPr/>
            <a:lstStyle/>
            <a:p>
              <a:endParaRPr lang="en-SG"/>
            </a:p>
          </p:txBody>
        </p:sp>
      </p:grpSp>
      <p:sp>
        <p:nvSpPr>
          <p:cNvPr id="5" name="Freeform 5"/>
          <p:cNvSpPr/>
          <p:nvPr/>
        </p:nvSpPr>
        <p:spPr>
          <a:xfrm>
            <a:off x="387963" y="5061566"/>
            <a:ext cx="566557" cy="1416691"/>
          </a:xfrm>
          <a:custGeom>
            <a:avLst/>
            <a:gdLst/>
            <a:ahLst/>
            <a:cxnLst/>
            <a:rect l="l" t="t" r="r" b="b"/>
            <a:pathLst>
              <a:path w="566557" h="1416691">
                <a:moveTo>
                  <a:pt x="0" y="0"/>
                </a:moveTo>
                <a:lnTo>
                  <a:pt x="566556" y="0"/>
                </a:lnTo>
                <a:lnTo>
                  <a:pt x="566556" y="1416691"/>
                </a:lnTo>
                <a:lnTo>
                  <a:pt x="0" y="141669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grpSp>
        <p:nvGrpSpPr>
          <p:cNvPr id="6" name="Group 6"/>
          <p:cNvGrpSpPr/>
          <p:nvPr/>
        </p:nvGrpSpPr>
        <p:grpSpPr>
          <a:xfrm rot="-5400000">
            <a:off x="-37100" y="5486638"/>
            <a:ext cx="1416691" cy="566557"/>
            <a:chOff x="0" y="0"/>
            <a:chExt cx="1888922" cy="755409"/>
          </a:xfrm>
        </p:grpSpPr>
        <p:sp>
          <p:nvSpPr>
            <p:cNvPr id="7" name="Freeform 7"/>
            <p:cNvSpPr/>
            <p:nvPr/>
          </p:nvSpPr>
          <p:spPr>
            <a:xfrm>
              <a:off x="0" y="0"/>
              <a:ext cx="1888871" cy="755396"/>
            </a:xfrm>
            <a:custGeom>
              <a:avLst/>
              <a:gdLst/>
              <a:ahLst/>
              <a:cxnLst/>
              <a:rect l="l" t="t" r="r" b="b"/>
              <a:pathLst>
                <a:path w="1888871" h="755396">
                  <a:moveTo>
                    <a:pt x="0" y="0"/>
                  </a:moveTo>
                  <a:lnTo>
                    <a:pt x="1888871" y="0"/>
                  </a:lnTo>
                  <a:lnTo>
                    <a:pt x="1888871" y="755396"/>
                  </a:lnTo>
                  <a:lnTo>
                    <a:pt x="0" y="755396"/>
                  </a:lnTo>
                  <a:lnTo>
                    <a:pt x="0" y="0"/>
                  </a:lnTo>
                  <a:close/>
                </a:path>
              </a:pathLst>
            </a:custGeom>
            <a:blipFill>
              <a:blip r:embed="rId5"/>
              <a:stretch>
                <a:fillRect r="-2" b="-1"/>
              </a:stretch>
            </a:blipFill>
          </p:spPr>
          <p:txBody>
            <a:bodyPr/>
            <a:lstStyle/>
            <a:p>
              <a:endParaRPr lang="en-SG"/>
            </a:p>
          </p:txBody>
        </p:sp>
      </p:grpSp>
      <p:sp>
        <p:nvSpPr>
          <p:cNvPr id="8" name="Freeform 8"/>
          <p:cNvSpPr/>
          <p:nvPr/>
        </p:nvSpPr>
        <p:spPr>
          <a:xfrm>
            <a:off x="1678448" y="2191893"/>
            <a:ext cx="8274501" cy="3320177"/>
          </a:xfrm>
          <a:custGeom>
            <a:avLst/>
            <a:gdLst/>
            <a:ahLst/>
            <a:cxnLst/>
            <a:rect l="l" t="t" r="r" b="b"/>
            <a:pathLst>
              <a:path w="8274501" h="3320177">
                <a:moveTo>
                  <a:pt x="0" y="0"/>
                </a:moveTo>
                <a:lnTo>
                  <a:pt x="8274501" y="0"/>
                </a:lnTo>
                <a:lnTo>
                  <a:pt x="8274501" y="3320177"/>
                </a:lnTo>
                <a:lnTo>
                  <a:pt x="0" y="332017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SG"/>
          </a:p>
        </p:txBody>
      </p:sp>
      <p:sp>
        <p:nvSpPr>
          <p:cNvPr id="9" name="TextBox 9"/>
          <p:cNvSpPr txBox="1"/>
          <p:nvPr/>
        </p:nvSpPr>
        <p:spPr>
          <a:xfrm>
            <a:off x="1774688" y="1439294"/>
            <a:ext cx="3894677" cy="1020719"/>
          </a:xfrm>
          <a:prstGeom prst="rect">
            <a:avLst/>
          </a:prstGeom>
        </p:spPr>
        <p:txBody>
          <a:bodyPr lIns="0" tIns="0" rIns="0" bIns="0" rtlCol="0" anchor="t">
            <a:spAutoFit/>
          </a:bodyPr>
          <a:lstStyle/>
          <a:p>
            <a:pPr algn="l">
              <a:lnSpc>
                <a:spcPts val="4086"/>
              </a:lnSpc>
            </a:pPr>
            <a:r>
              <a:rPr lang="en-US" sz="2918" spc="14">
                <a:solidFill>
                  <a:srgbClr val="303030"/>
                </a:solidFill>
                <a:latin typeface="Montserrat"/>
                <a:ea typeface="Montserrat"/>
                <a:cs typeface="Montserrat"/>
                <a:sym typeface="Montserrat"/>
              </a:rPr>
              <a:t> </a:t>
            </a:r>
          </a:p>
          <a:p>
            <a:pPr algn="l">
              <a:lnSpc>
                <a:spcPts val="2043"/>
              </a:lnSpc>
            </a:pPr>
            <a:r>
              <a:rPr lang="en-US" sz="1459" spc="7">
                <a:solidFill>
                  <a:srgbClr val="000000"/>
                </a:solidFill>
                <a:latin typeface="Montserrat"/>
                <a:ea typeface="Montserrat"/>
                <a:cs typeface="Montserrat"/>
                <a:sym typeface="Montserrat"/>
              </a:rPr>
              <a:t>Let's integrate warnings in to the satellite! </a:t>
            </a:r>
          </a:p>
        </p:txBody>
      </p:sp>
      <p:sp>
        <p:nvSpPr>
          <p:cNvPr id="10" name="TextBox 10"/>
          <p:cNvSpPr txBox="1"/>
          <p:nvPr/>
        </p:nvSpPr>
        <p:spPr>
          <a:xfrm>
            <a:off x="1774688" y="2785634"/>
            <a:ext cx="8038233" cy="556898"/>
          </a:xfrm>
          <a:prstGeom prst="rect">
            <a:avLst/>
          </a:prstGeom>
        </p:spPr>
        <p:txBody>
          <a:bodyPr lIns="0" tIns="0" rIns="0" bIns="0" rtlCol="0" anchor="t">
            <a:spAutoFit/>
          </a:bodyPr>
          <a:lstStyle/>
          <a:p>
            <a:pPr algn="l">
              <a:lnSpc>
                <a:spcPts val="2251"/>
              </a:lnSpc>
            </a:pPr>
            <a:r>
              <a:rPr lang="en-US" sz="1459" spc="7">
                <a:solidFill>
                  <a:srgbClr val="000000"/>
                </a:solidFill>
                <a:latin typeface="Montserrat"/>
                <a:ea typeface="Montserrat"/>
                <a:cs typeface="Montserrat"/>
                <a:sym typeface="Montserrat"/>
              </a:rPr>
              <a:t>While a satellite remains unmodiﬁable once launched, it can still be operated to some extent by a ground station. </a:t>
            </a:r>
          </a:p>
        </p:txBody>
      </p:sp>
      <p:sp>
        <p:nvSpPr>
          <p:cNvPr id="11" name="TextBox 11"/>
          <p:cNvSpPr txBox="1"/>
          <p:nvPr/>
        </p:nvSpPr>
        <p:spPr>
          <a:xfrm>
            <a:off x="1774688" y="3615033"/>
            <a:ext cx="7584872" cy="556898"/>
          </a:xfrm>
          <a:prstGeom prst="rect">
            <a:avLst/>
          </a:prstGeom>
        </p:spPr>
        <p:txBody>
          <a:bodyPr lIns="0" tIns="0" rIns="0" bIns="0" rtlCol="0" anchor="t">
            <a:spAutoFit/>
          </a:bodyPr>
          <a:lstStyle/>
          <a:p>
            <a:pPr algn="l">
              <a:lnSpc>
                <a:spcPts val="2251"/>
              </a:lnSpc>
            </a:pPr>
            <a:r>
              <a:rPr lang="en-US" sz="1459" spc="7">
                <a:solidFill>
                  <a:srgbClr val="000000"/>
                </a:solidFill>
                <a:latin typeface="Montserrat"/>
                <a:ea typeface="Montserrat"/>
                <a:cs typeface="Montserrat"/>
                <a:sym typeface="Montserrat"/>
              </a:rPr>
              <a:t>In addition to ADCS control and operative modes, we can leverage sensor data to monitor the behavior of subsystems. </a:t>
            </a:r>
          </a:p>
        </p:txBody>
      </p:sp>
      <p:sp>
        <p:nvSpPr>
          <p:cNvPr id="12" name="TextBox 12"/>
          <p:cNvSpPr txBox="1"/>
          <p:nvPr/>
        </p:nvSpPr>
        <p:spPr>
          <a:xfrm>
            <a:off x="1774688" y="4444432"/>
            <a:ext cx="7976787" cy="842877"/>
          </a:xfrm>
          <a:prstGeom prst="rect">
            <a:avLst/>
          </a:prstGeom>
        </p:spPr>
        <p:txBody>
          <a:bodyPr lIns="0" tIns="0" rIns="0" bIns="0" rtlCol="0" anchor="t">
            <a:spAutoFit/>
          </a:bodyPr>
          <a:lstStyle/>
          <a:p>
            <a:pPr algn="l">
              <a:lnSpc>
                <a:spcPts val="2251"/>
              </a:lnSpc>
            </a:pPr>
            <a:r>
              <a:rPr lang="en-US" sz="1459" spc="7">
                <a:solidFill>
                  <a:srgbClr val="000000"/>
                </a:solidFill>
                <a:latin typeface="Montserrat"/>
                <a:ea typeface="Montserrat"/>
                <a:cs typeface="Montserrat"/>
                <a:sym typeface="Montserrat"/>
              </a:rPr>
              <a:t>If the battery level is too low or the temperature is excessively high, we can deactivate certain systems. These decisions are typically made autonomously upon receiving a warning.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371" y="827532"/>
            <a:ext cx="10392661" cy="5901433"/>
          </a:xfrm>
          <a:custGeom>
            <a:avLst/>
            <a:gdLst/>
            <a:ahLst/>
            <a:cxnLst/>
            <a:rect l="l" t="t" r="r" b="b"/>
            <a:pathLst>
              <a:path w="10392661" h="5901433">
                <a:moveTo>
                  <a:pt x="0" y="0"/>
                </a:moveTo>
                <a:lnTo>
                  <a:pt x="10392661" y="0"/>
                </a:lnTo>
                <a:lnTo>
                  <a:pt x="10392661" y="5901433"/>
                </a:lnTo>
                <a:lnTo>
                  <a:pt x="0" y="590143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SG"/>
          </a:p>
        </p:txBody>
      </p:sp>
      <p:grpSp>
        <p:nvGrpSpPr>
          <p:cNvPr id="3" name="Group 3"/>
          <p:cNvGrpSpPr/>
          <p:nvPr/>
        </p:nvGrpSpPr>
        <p:grpSpPr>
          <a:xfrm rot="-5400000">
            <a:off x="55769" y="1405519"/>
            <a:ext cx="1230944" cy="545221"/>
            <a:chOff x="0" y="0"/>
            <a:chExt cx="1641259" cy="726961"/>
          </a:xfrm>
        </p:grpSpPr>
        <p:sp>
          <p:nvSpPr>
            <p:cNvPr id="4" name="Freeform 4"/>
            <p:cNvSpPr/>
            <p:nvPr/>
          </p:nvSpPr>
          <p:spPr>
            <a:xfrm>
              <a:off x="0" y="0"/>
              <a:ext cx="1641221" cy="726948"/>
            </a:xfrm>
            <a:custGeom>
              <a:avLst/>
              <a:gdLst/>
              <a:ahLst/>
              <a:cxnLst/>
              <a:rect l="l" t="t" r="r" b="b"/>
              <a:pathLst>
                <a:path w="1641221" h="726948">
                  <a:moveTo>
                    <a:pt x="0" y="0"/>
                  </a:moveTo>
                  <a:lnTo>
                    <a:pt x="1641221" y="0"/>
                  </a:lnTo>
                  <a:lnTo>
                    <a:pt x="1641221" y="726948"/>
                  </a:lnTo>
                  <a:lnTo>
                    <a:pt x="0" y="726948"/>
                  </a:lnTo>
                  <a:lnTo>
                    <a:pt x="0" y="0"/>
                  </a:lnTo>
                  <a:close/>
                </a:path>
              </a:pathLst>
            </a:custGeom>
            <a:blipFill>
              <a:blip r:embed="rId3"/>
              <a:stretch>
                <a:fillRect t="-54271" r="-2" b="-71512"/>
              </a:stretch>
            </a:blipFill>
          </p:spPr>
          <p:txBody>
            <a:bodyPr/>
            <a:lstStyle/>
            <a:p>
              <a:endParaRPr lang="en-SG"/>
            </a:p>
          </p:txBody>
        </p:sp>
      </p:grpSp>
      <p:sp>
        <p:nvSpPr>
          <p:cNvPr id="5" name="Freeform 5"/>
          <p:cNvSpPr/>
          <p:nvPr/>
        </p:nvSpPr>
        <p:spPr>
          <a:xfrm>
            <a:off x="387963" y="5061566"/>
            <a:ext cx="566557" cy="1416691"/>
          </a:xfrm>
          <a:custGeom>
            <a:avLst/>
            <a:gdLst/>
            <a:ahLst/>
            <a:cxnLst/>
            <a:rect l="l" t="t" r="r" b="b"/>
            <a:pathLst>
              <a:path w="566557" h="1416691">
                <a:moveTo>
                  <a:pt x="0" y="0"/>
                </a:moveTo>
                <a:lnTo>
                  <a:pt x="566556" y="0"/>
                </a:lnTo>
                <a:lnTo>
                  <a:pt x="566556" y="1416691"/>
                </a:lnTo>
                <a:lnTo>
                  <a:pt x="0" y="141669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grpSp>
        <p:nvGrpSpPr>
          <p:cNvPr id="6" name="Group 6"/>
          <p:cNvGrpSpPr/>
          <p:nvPr/>
        </p:nvGrpSpPr>
        <p:grpSpPr>
          <a:xfrm rot="-5400000">
            <a:off x="-37100" y="5486638"/>
            <a:ext cx="1416691" cy="566557"/>
            <a:chOff x="0" y="0"/>
            <a:chExt cx="1888922" cy="755409"/>
          </a:xfrm>
        </p:grpSpPr>
        <p:sp>
          <p:nvSpPr>
            <p:cNvPr id="7" name="Freeform 7"/>
            <p:cNvSpPr/>
            <p:nvPr/>
          </p:nvSpPr>
          <p:spPr>
            <a:xfrm>
              <a:off x="0" y="0"/>
              <a:ext cx="1888871" cy="755396"/>
            </a:xfrm>
            <a:custGeom>
              <a:avLst/>
              <a:gdLst/>
              <a:ahLst/>
              <a:cxnLst/>
              <a:rect l="l" t="t" r="r" b="b"/>
              <a:pathLst>
                <a:path w="1888871" h="755396">
                  <a:moveTo>
                    <a:pt x="0" y="0"/>
                  </a:moveTo>
                  <a:lnTo>
                    <a:pt x="1888871" y="0"/>
                  </a:lnTo>
                  <a:lnTo>
                    <a:pt x="1888871" y="755396"/>
                  </a:lnTo>
                  <a:lnTo>
                    <a:pt x="0" y="755396"/>
                  </a:lnTo>
                  <a:lnTo>
                    <a:pt x="0" y="0"/>
                  </a:lnTo>
                  <a:close/>
                </a:path>
              </a:pathLst>
            </a:custGeom>
            <a:blipFill>
              <a:blip r:embed="rId5"/>
              <a:stretch>
                <a:fillRect r="-2" b="-1"/>
              </a:stretch>
            </a:blipFill>
          </p:spPr>
          <p:txBody>
            <a:bodyPr/>
            <a:lstStyle/>
            <a:p>
              <a:endParaRPr lang="en-SG"/>
            </a:p>
          </p:txBody>
        </p:sp>
      </p:grpSp>
      <p:sp>
        <p:nvSpPr>
          <p:cNvPr id="8" name="Freeform 8"/>
          <p:cNvSpPr/>
          <p:nvPr/>
        </p:nvSpPr>
        <p:spPr>
          <a:xfrm>
            <a:off x="1678448" y="2191893"/>
            <a:ext cx="8274501" cy="4186761"/>
          </a:xfrm>
          <a:custGeom>
            <a:avLst/>
            <a:gdLst/>
            <a:ahLst/>
            <a:cxnLst/>
            <a:rect l="l" t="t" r="r" b="b"/>
            <a:pathLst>
              <a:path w="8274501" h="4186761">
                <a:moveTo>
                  <a:pt x="0" y="0"/>
                </a:moveTo>
                <a:lnTo>
                  <a:pt x="8274501" y="0"/>
                </a:lnTo>
                <a:lnTo>
                  <a:pt x="8274501" y="4186761"/>
                </a:lnTo>
                <a:lnTo>
                  <a:pt x="0" y="418676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SG"/>
          </a:p>
        </p:txBody>
      </p:sp>
      <p:sp>
        <p:nvSpPr>
          <p:cNvPr id="9" name="TextBox 9"/>
          <p:cNvSpPr txBox="1"/>
          <p:nvPr/>
        </p:nvSpPr>
        <p:spPr>
          <a:xfrm>
            <a:off x="1774688" y="1391669"/>
            <a:ext cx="7899844" cy="1714386"/>
          </a:xfrm>
          <a:prstGeom prst="rect">
            <a:avLst/>
          </a:prstGeom>
        </p:spPr>
        <p:txBody>
          <a:bodyPr lIns="0" tIns="0" rIns="0" bIns="0" rtlCol="0" anchor="t">
            <a:spAutoFit/>
          </a:bodyPr>
          <a:lstStyle/>
          <a:p>
            <a:pPr algn="l">
              <a:lnSpc>
                <a:spcPts val="4503"/>
              </a:lnSpc>
            </a:pPr>
            <a:r>
              <a:rPr lang="en-US" sz="2918" spc="14">
                <a:solidFill>
                  <a:srgbClr val="303030"/>
                </a:solidFill>
                <a:latin typeface="Montserrat"/>
                <a:ea typeface="Montserrat"/>
                <a:cs typeface="Montserrat"/>
                <a:sym typeface="Montserrat"/>
              </a:rPr>
              <a:t> </a:t>
            </a:r>
          </a:p>
          <a:p>
            <a:pPr algn="l">
              <a:lnSpc>
                <a:spcPts val="2251"/>
              </a:lnSpc>
            </a:pPr>
            <a:r>
              <a:rPr lang="en-US" sz="1459" spc="7">
                <a:solidFill>
                  <a:srgbClr val="000000"/>
                </a:solidFill>
                <a:latin typeface="Montserrat"/>
                <a:ea typeface="Montserrat"/>
                <a:cs typeface="Montserrat"/>
                <a:sym typeface="Montserrat"/>
              </a:rPr>
              <a:t>Warnings arefunctions thatneed to run in the background, constantly monitoring speciﬁc conditions. Even if the satellite's status is not actively queried (from the serial monitor), these warnings should appear when such conditions undergo a change.</a:t>
            </a:r>
          </a:p>
        </p:txBody>
      </p:sp>
      <p:sp>
        <p:nvSpPr>
          <p:cNvPr id="10" name="TextBox 10"/>
          <p:cNvSpPr txBox="1"/>
          <p:nvPr/>
        </p:nvSpPr>
        <p:spPr>
          <a:xfrm>
            <a:off x="1774688" y="5578850"/>
            <a:ext cx="3361287" cy="251879"/>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We can use the rework to test it out!</a:t>
            </a:r>
          </a:p>
        </p:txBody>
      </p:sp>
      <p:sp>
        <p:nvSpPr>
          <p:cNvPr id="11" name="TextBox 11"/>
          <p:cNvSpPr txBox="1"/>
          <p:nvPr/>
        </p:nvSpPr>
        <p:spPr>
          <a:xfrm>
            <a:off x="1919402" y="3400282"/>
            <a:ext cx="114195" cy="247164"/>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a:t>
            </a:r>
          </a:p>
        </p:txBody>
      </p:sp>
      <p:sp>
        <p:nvSpPr>
          <p:cNvPr id="12" name="TextBox 12"/>
          <p:cNvSpPr txBox="1"/>
          <p:nvPr/>
        </p:nvSpPr>
        <p:spPr>
          <a:xfrm>
            <a:off x="2287972" y="3357572"/>
            <a:ext cx="7655576" cy="842867"/>
          </a:xfrm>
          <a:prstGeom prst="rect">
            <a:avLst/>
          </a:prstGeom>
        </p:spPr>
        <p:txBody>
          <a:bodyPr lIns="0" tIns="0" rIns="0" bIns="0" rtlCol="0" anchor="t">
            <a:spAutoFit/>
          </a:bodyPr>
          <a:lstStyle/>
          <a:p>
            <a:pPr algn="l">
              <a:lnSpc>
                <a:spcPts val="2251"/>
              </a:lnSpc>
            </a:pPr>
            <a:r>
              <a:rPr lang="en-US" sz="1459" spc="7">
                <a:solidFill>
                  <a:srgbClr val="000000"/>
                </a:solidFill>
                <a:latin typeface="Montserrat"/>
                <a:ea typeface="Montserrat"/>
                <a:cs typeface="Montserrat"/>
                <a:sym typeface="Montserrat"/>
              </a:rPr>
              <a:t>Create a warning function that checks the temperatures of both the OBC and the EPS. If either of them detects a temperature higher than 30 degrees Celsius, display the following message in your serial monitor:</a:t>
            </a:r>
          </a:p>
        </p:txBody>
      </p:sp>
      <p:sp>
        <p:nvSpPr>
          <p:cNvPr id="13" name="TextBox 13"/>
          <p:cNvSpPr txBox="1"/>
          <p:nvPr/>
        </p:nvSpPr>
        <p:spPr>
          <a:xfrm>
            <a:off x="1774688" y="4482475"/>
            <a:ext cx="4731401" cy="533114"/>
          </a:xfrm>
          <a:prstGeom prst="rect">
            <a:avLst/>
          </a:prstGeom>
        </p:spPr>
        <p:txBody>
          <a:bodyPr lIns="0" tIns="0" rIns="0" bIns="0" rtlCol="0" anchor="t">
            <a:spAutoFit/>
          </a:bodyPr>
          <a:lstStyle/>
          <a:p>
            <a:pPr algn="l">
              <a:lnSpc>
                <a:spcPts val="2139"/>
              </a:lnSpc>
            </a:pPr>
            <a:r>
              <a:rPr lang="en-US" sz="1459" spc="7">
                <a:solidFill>
                  <a:srgbClr val="000000"/>
                </a:solidFill>
                <a:latin typeface="Montserrat"/>
                <a:ea typeface="Montserrat"/>
                <a:cs typeface="Montserrat"/>
                <a:sym typeface="Montserrat"/>
              </a:rPr>
              <a:t>[3m 43s] WARNING! TEMPOBC is too high: 35 deg! [3m 43s] WARNING! TEMPEPS is too high: 35 deg!</a:t>
            </a:r>
          </a:p>
        </p:txBody>
      </p:sp>
      <p:sp>
        <p:nvSpPr>
          <p:cNvPr id="14" name="TextBox 14"/>
          <p:cNvSpPr txBox="1"/>
          <p:nvPr/>
        </p:nvSpPr>
        <p:spPr>
          <a:xfrm>
            <a:off x="7127843" y="4492000"/>
            <a:ext cx="191710" cy="251879"/>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or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371" y="827532"/>
            <a:ext cx="10392661" cy="5901433"/>
          </a:xfrm>
          <a:custGeom>
            <a:avLst/>
            <a:gdLst/>
            <a:ahLst/>
            <a:cxnLst/>
            <a:rect l="l" t="t" r="r" b="b"/>
            <a:pathLst>
              <a:path w="10392661" h="5901433">
                <a:moveTo>
                  <a:pt x="0" y="0"/>
                </a:moveTo>
                <a:lnTo>
                  <a:pt x="10392661" y="0"/>
                </a:lnTo>
                <a:lnTo>
                  <a:pt x="10392661" y="5901433"/>
                </a:lnTo>
                <a:lnTo>
                  <a:pt x="0" y="590143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SG"/>
          </a:p>
        </p:txBody>
      </p:sp>
      <p:grpSp>
        <p:nvGrpSpPr>
          <p:cNvPr id="3" name="Group 3"/>
          <p:cNvGrpSpPr/>
          <p:nvPr/>
        </p:nvGrpSpPr>
        <p:grpSpPr>
          <a:xfrm rot="-5400000">
            <a:off x="55769" y="1405519"/>
            <a:ext cx="1230944" cy="545221"/>
            <a:chOff x="0" y="0"/>
            <a:chExt cx="1641259" cy="726961"/>
          </a:xfrm>
        </p:grpSpPr>
        <p:sp>
          <p:nvSpPr>
            <p:cNvPr id="4" name="Freeform 4"/>
            <p:cNvSpPr/>
            <p:nvPr/>
          </p:nvSpPr>
          <p:spPr>
            <a:xfrm>
              <a:off x="0" y="0"/>
              <a:ext cx="1641221" cy="726948"/>
            </a:xfrm>
            <a:custGeom>
              <a:avLst/>
              <a:gdLst/>
              <a:ahLst/>
              <a:cxnLst/>
              <a:rect l="l" t="t" r="r" b="b"/>
              <a:pathLst>
                <a:path w="1641221" h="726948">
                  <a:moveTo>
                    <a:pt x="0" y="0"/>
                  </a:moveTo>
                  <a:lnTo>
                    <a:pt x="1641221" y="0"/>
                  </a:lnTo>
                  <a:lnTo>
                    <a:pt x="1641221" y="726948"/>
                  </a:lnTo>
                  <a:lnTo>
                    <a:pt x="0" y="726948"/>
                  </a:lnTo>
                  <a:lnTo>
                    <a:pt x="0" y="0"/>
                  </a:lnTo>
                  <a:close/>
                </a:path>
              </a:pathLst>
            </a:custGeom>
            <a:blipFill>
              <a:blip r:embed="rId3"/>
              <a:stretch>
                <a:fillRect t="-54271" r="-2" b="-71512"/>
              </a:stretch>
            </a:blipFill>
          </p:spPr>
          <p:txBody>
            <a:bodyPr/>
            <a:lstStyle/>
            <a:p>
              <a:endParaRPr lang="en-SG"/>
            </a:p>
          </p:txBody>
        </p:sp>
      </p:grpSp>
      <p:sp>
        <p:nvSpPr>
          <p:cNvPr id="5" name="Freeform 5"/>
          <p:cNvSpPr/>
          <p:nvPr/>
        </p:nvSpPr>
        <p:spPr>
          <a:xfrm>
            <a:off x="387963" y="5061566"/>
            <a:ext cx="566557" cy="1416691"/>
          </a:xfrm>
          <a:custGeom>
            <a:avLst/>
            <a:gdLst/>
            <a:ahLst/>
            <a:cxnLst/>
            <a:rect l="l" t="t" r="r" b="b"/>
            <a:pathLst>
              <a:path w="566557" h="1416691">
                <a:moveTo>
                  <a:pt x="0" y="0"/>
                </a:moveTo>
                <a:lnTo>
                  <a:pt x="566556" y="0"/>
                </a:lnTo>
                <a:lnTo>
                  <a:pt x="566556" y="1416691"/>
                </a:lnTo>
                <a:lnTo>
                  <a:pt x="0" y="141669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grpSp>
        <p:nvGrpSpPr>
          <p:cNvPr id="6" name="Group 6"/>
          <p:cNvGrpSpPr/>
          <p:nvPr/>
        </p:nvGrpSpPr>
        <p:grpSpPr>
          <a:xfrm rot="-5400000">
            <a:off x="-37100" y="5486638"/>
            <a:ext cx="1416691" cy="566557"/>
            <a:chOff x="0" y="0"/>
            <a:chExt cx="1888922" cy="755409"/>
          </a:xfrm>
        </p:grpSpPr>
        <p:sp>
          <p:nvSpPr>
            <p:cNvPr id="7" name="Freeform 7"/>
            <p:cNvSpPr/>
            <p:nvPr/>
          </p:nvSpPr>
          <p:spPr>
            <a:xfrm>
              <a:off x="0" y="0"/>
              <a:ext cx="1888871" cy="755396"/>
            </a:xfrm>
            <a:custGeom>
              <a:avLst/>
              <a:gdLst/>
              <a:ahLst/>
              <a:cxnLst/>
              <a:rect l="l" t="t" r="r" b="b"/>
              <a:pathLst>
                <a:path w="1888871" h="755396">
                  <a:moveTo>
                    <a:pt x="0" y="0"/>
                  </a:moveTo>
                  <a:lnTo>
                    <a:pt x="1888871" y="0"/>
                  </a:lnTo>
                  <a:lnTo>
                    <a:pt x="1888871" y="755396"/>
                  </a:lnTo>
                  <a:lnTo>
                    <a:pt x="0" y="755396"/>
                  </a:lnTo>
                  <a:lnTo>
                    <a:pt x="0" y="0"/>
                  </a:lnTo>
                  <a:close/>
                </a:path>
              </a:pathLst>
            </a:custGeom>
            <a:blipFill>
              <a:blip r:embed="rId5"/>
              <a:stretch>
                <a:fillRect r="-2" b="-1"/>
              </a:stretch>
            </a:blipFill>
          </p:spPr>
          <p:txBody>
            <a:bodyPr/>
            <a:lstStyle/>
            <a:p>
              <a:endParaRPr lang="en-SG"/>
            </a:p>
          </p:txBody>
        </p:sp>
      </p:grpSp>
      <p:sp>
        <p:nvSpPr>
          <p:cNvPr id="8" name="Freeform 8"/>
          <p:cNvSpPr/>
          <p:nvPr/>
        </p:nvSpPr>
        <p:spPr>
          <a:xfrm>
            <a:off x="1614945" y="2128390"/>
            <a:ext cx="8401498" cy="3902869"/>
          </a:xfrm>
          <a:custGeom>
            <a:avLst/>
            <a:gdLst/>
            <a:ahLst/>
            <a:cxnLst/>
            <a:rect l="l" t="t" r="r" b="b"/>
            <a:pathLst>
              <a:path w="8401498" h="3902869">
                <a:moveTo>
                  <a:pt x="0" y="0"/>
                </a:moveTo>
                <a:lnTo>
                  <a:pt x="8401497" y="0"/>
                </a:lnTo>
                <a:lnTo>
                  <a:pt x="8401497" y="3902869"/>
                </a:lnTo>
                <a:lnTo>
                  <a:pt x="0" y="390286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SG"/>
          </a:p>
        </p:txBody>
      </p:sp>
      <p:grpSp>
        <p:nvGrpSpPr>
          <p:cNvPr id="9" name="Group 9"/>
          <p:cNvGrpSpPr/>
          <p:nvPr/>
        </p:nvGrpSpPr>
        <p:grpSpPr>
          <a:xfrm>
            <a:off x="4269372" y="4230129"/>
            <a:ext cx="3092634" cy="1737636"/>
            <a:chOff x="0" y="0"/>
            <a:chExt cx="4123512" cy="2316848"/>
          </a:xfrm>
        </p:grpSpPr>
        <p:sp>
          <p:nvSpPr>
            <p:cNvPr id="10" name="Freeform 10"/>
            <p:cNvSpPr/>
            <p:nvPr/>
          </p:nvSpPr>
          <p:spPr>
            <a:xfrm>
              <a:off x="0" y="0"/>
              <a:ext cx="4123563" cy="2316861"/>
            </a:xfrm>
            <a:custGeom>
              <a:avLst/>
              <a:gdLst/>
              <a:ahLst/>
              <a:cxnLst/>
              <a:rect l="l" t="t" r="r" b="b"/>
              <a:pathLst>
                <a:path w="4123563" h="2316861">
                  <a:moveTo>
                    <a:pt x="0" y="0"/>
                  </a:moveTo>
                  <a:lnTo>
                    <a:pt x="4123563" y="0"/>
                  </a:lnTo>
                  <a:lnTo>
                    <a:pt x="4123563" y="2316861"/>
                  </a:lnTo>
                  <a:lnTo>
                    <a:pt x="0" y="2316861"/>
                  </a:lnTo>
                  <a:lnTo>
                    <a:pt x="0" y="0"/>
                  </a:lnTo>
                  <a:close/>
                </a:path>
              </a:pathLst>
            </a:custGeom>
            <a:blipFill>
              <a:blip r:embed="rId7"/>
              <a:stretch>
                <a:fillRect/>
              </a:stretch>
            </a:blipFill>
          </p:spPr>
          <p:txBody>
            <a:bodyPr/>
            <a:lstStyle/>
            <a:p>
              <a:endParaRPr lang="en-SG"/>
            </a:p>
          </p:txBody>
        </p:sp>
      </p:grpSp>
      <p:sp>
        <p:nvSpPr>
          <p:cNvPr id="11" name="TextBox 11"/>
          <p:cNvSpPr txBox="1"/>
          <p:nvPr/>
        </p:nvSpPr>
        <p:spPr>
          <a:xfrm>
            <a:off x="1919402" y="2284905"/>
            <a:ext cx="114195" cy="247164"/>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a:t>
            </a:r>
          </a:p>
        </p:txBody>
      </p:sp>
      <p:sp>
        <p:nvSpPr>
          <p:cNvPr id="12" name="TextBox 12"/>
          <p:cNvSpPr txBox="1"/>
          <p:nvPr/>
        </p:nvSpPr>
        <p:spPr>
          <a:xfrm>
            <a:off x="2287972" y="2242204"/>
            <a:ext cx="7682798" cy="842877"/>
          </a:xfrm>
          <a:prstGeom prst="rect">
            <a:avLst/>
          </a:prstGeom>
        </p:spPr>
        <p:txBody>
          <a:bodyPr lIns="0" tIns="0" rIns="0" bIns="0" rtlCol="0" anchor="t">
            <a:spAutoFit/>
          </a:bodyPr>
          <a:lstStyle/>
          <a:p>
            <a:pPr algn="l">
              <a:lnSpc>
                <a:spcPts val="2251"/>
              </a:lnSpc>
            </a:pPr>
            <a:r>
              <a:rPr lang="en-US" sz="1459" spc="7">
                <a:solidFill>
                  <a:srgbClr val="000000"/>
                </a:solidFill>
                <a:latin typeface="Montserrat"/>
                <a:ea typeface="Montserrat"/>
                <a:cs typeface="Montserrat"/>
                <a:sym typeface="Montserrat"/>
              </a:rPr>
              <a:t>Create a warning function that checks the voltage of the battery on the EPS. If the value is found to be lower than 3.6 V, display the following message in your serial monitor:</a:t>
            </a:r>
          </a:p>
        </p:txBody>
      </p:sp>
      <p:sp>
        <p:nvSpPr>
          <p:cNvPr id="13" name="TextBox 13"/>
          <p:cNvSpPr txBox="1"/>
          <p:nvPr/>
        </p:nvSpPr>
        <p:spPr>
          <a:xfrm>
            <a:off x="1774688" y="3376622"/>
            <a:ext cx="3898402" cy="251879"/>
          </a:xfrm>
          <a:prstGeom prst="rect">
            <a:avLst/>
          </a:prstGeom>
        </p:spPr>
        <p:txBody>
          <a:bodyPr lIns="0" tIns="0" rIns="0" bIns="0" rtlCol="0" anchor="t">
            <a:spAutoFit/>
          </a:bodyPr>
          <a:lstStyle/>
          <a:p>
            <a:pPr algn="l">
              <a:lnSpc>
                <a:spcPts val="2043"/>
              </a:lnSpc>
            </a:pPr>
            <a:r>
              <a:rPr lang="en-US" sz="1459" spc="7">
                <a:solidFill>
                  <a:srgbClr val="000000"/>
                </a:solidFill>
                <a:latin typeface="Montserrat"/>
                <a:ea typeface="Montserrat"/>
                <a:cs typeface="Montserrat"/>
                <a:sym typeface="Montserrat"/>
              </a:rPr>
              <a:t>[3m 43s] WARNING! VBAT is too low: 3.5 V!</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371" y="827532"/>
            <a:ext cx="10392661" cy="5901433"/>
          </a:xfrm>
          <a:custGeom>
            <a:avLst/>
            <a:gdLst/>
            <a:ahLst/>
            <a:cxnLst/>
            <a:rect l="l" t="t" r="r" b="b"/>
            <a:pathLst>
              <a:path w="10392661" h="5901433">
                <a:moveTo>
                  <a:pt x="0" y="0"/>
                </a:moveTo>
                <a:lnTo>
                  <a:pt x="10392661" y="0"/>
                </a:lnTo>
                <a:lnTo>
                  <a:pt x="10392661" y="5901433"/>
                </a:lnTo>
                <a:lnTo>
                  <a:pt x="0" y="590143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SG"/>
          </a:p>
        </p:txBody>
      </p:sp>
      <p:grpSp>
        <p:nvGrpSpPr>
          <p:cNvPr id="3" name="Group 3"/>
          <p:cNvGrpSpPr/>
          <p:nvPr/>
        </p:nvGrpSpPr>
        <p:grpSpPr>
          <a:xfrm rot="-5400000">
            <a:off x="55769" y="1405519"/>
            <a:ext cx="1230944" cy="545221"/>
            <a:chOff x="0" y="0"/>
            <a:chExt cx="1641259" cy="726961"/>
          </a:xfrm>
        </p:grpSpPr>
        <p:sp>
          <p:nvSpPr>
            <p:cNvPr id="4" name="Freeform 4"/>
            <p:cNvSpPr/>
            <p:nvPr/>
          </p:nvSpPr>
          <p:spPr>
            <a:xfrm>
              <a:off x="0" y="0"/>
              <a:ext cx="1641221" cy="726948"/>
            </a:xfrm>
            <a:custGeom>
              <a:avLst/>
              <a:gdLst/>
              <a:ahLst/>
              <a:cxnLst/>
              <a:rect l="l" t="t" r="r" b="b"/>
              <a:pathLst>
                <a:path w="1641221" h="726948">
                  <a:moveTo>
                    <a:pt x="0" y="0"/>
                  </a:moveTo>
                  <a:lnTo>
                    <a:pt x="1641221" y="0"/>
                  </a:lnTo>
                  <a:lnTo>
                    <a:pt x="1641221" y="726948"/>
                  </a:lnTo>
                  <a:lnTo>
                    <a:pt x="0" y="726948"/>
                  </a:lnTo>
                  <a:lnTo>
                    <a:pt x="0" y="0"/>
                  </a:lnTo>
                  <a:close/>
                </a:path>
              </a:pathLst>
            </a:custGeom>
            <a:blipFill>
              <a:blip r:embed="rId3"/>
              <a:stretch>
                <a:fillRect t="-54271" r="-2" b="-71512"/>
              </a:stretch>
            </a:blipFill>
          </p:spPr>
          <p:txBody>
            <a:bodyPr/>
            <a:lstStyle/>
            <a:p>
              <a:endParaRPr lang="en-SG"/>
            </a:p>
          </p:txBody>
        </p:sp>
      </p:grpSp>
      <p:sp>
        <p:nvSpPr>
          <p:cNvPr id="5" name="Freeform 5"/>
          <p:cNvSpPr/>
          <p:nvPr/>
        </p:nvSpPr>
        <p:spPr>
          <a:xfrm>
            <a:off x="387963" y="5061566"/>
            <a:ext cx="566557" cy="1416691"/>
          </a:xfrm>
          <a:custGeom>
            <a:avLst/>
            <a:gdLst/>
            <a:ahLst/>
            <a:cxnLst/>
            <a:rect l="l" t="t" r="r" b="b"/>
            <a:pathLst>
              <a:path w="566557" h="1416691">
                <a:moveTo>
                  <a:pt x="0" y="0"/>
                </a:moveTo>
                <a:lnTo>
                  <a:pt x="566556" y="0"/>
                </a:lnTo>
                <a:lnTo>
                  <a:pt x="566556" y="1416691"/>
                </a:lnTo>
                <a:lnTo>
                  <a:pt x="0" y="141669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grpSp>
        <p:nvGrpSpPr>
          <p:cNvPr id="6" name="Group 6"/>
          <p:cNvGrpSpPr/>
          <p:nvPr/>
        </p:nvGrpSpPr>
        <p:grpSpPr>
          <a:xfrm rot="-5400000">
            <a:off x="-37100" y="5486638"/>
            <a:ext cx="1416691" cy="566557"/>
            <a:chOff x="0" y="0"/>
            <a:chExt cx="1888922" cy="755409"/>
          </a:xfrm>
        </p:grpSpPr>
        <p:sp>
          <p:nvSpPr>
            <p:cNvPr id="7" name="Freeform 7"/>
            <p:cNvSpPr/>
            <p:nvPr/>
          </p:nvSpPr>
          <p:spPr>
            <a:xfrm>
              <a:off x="0" y="0"/>
              <a:ext cx="1888871" cy="755396"/>
            </a:xfrm>
            <a:custGeom>
              <a:avLst/>
              <a:gdLst/>
              <a:ahLst/>
              <a:cxnLst/>
              <a:rect l="l" t="t" r="r" b="b"/>
              <a:pathLst>
                <a:path w="1888871" h="755396">
                  <a:moveTo>
                    <a:pt x="0" y="0"/>
                  </a:moveTo>
                  <a:lnTo>
                    <a:pt x="1888871" y="0"/>
                  </a:lnTo>
                  <a:lnTo>
                    <a:pt x="1888871" y="755396"/>
                  </a:lnTo>
                  <a:lnTo>
                    <a:pt x="0" y="755396"/>
                  </a:lnTo>
                  <a:lnTo>
                    <a:pt x="0" y="0"/>
                  </a:lnTo>
                  <a:close/>
                </a:path>
              </a:pathLst>
            </a:custGeom>
            <a:blipFill>
              <a:blip r:embed="rId5"/>
              <a:stretch>
                <a:fillRect r="-2" b="-1"/>
              </a:stretch>
            </a:blipFill>
          </p:spPr>
          <p:txBody>
            <a:bodyPr/>
            <a:lstStyle/>
            <a:p>
              <a:endParaRPr lang="en-SG"/>
            </a:p>
          </p:txBody>
        </p:sp>
      </p:grpSp>
      <p:sp>
        <p:nvSpPr>
          <p:cNvPr id="8" name="Freeform 8"/>
          <p:cNvSpPr/>
          <p:nvPr/>
        </p:nvSpPr>
        <p:spPr>
          <a:xfrm>
            <a:off x="1678448" y="2191893"/>
            <a:ext cx="8274501" cy="2453926"/>
          </a:xfrm>
          <a:custGeom>
            <a:avLst/>
            <a:gdLst/>
            <a:ahLst/>
            <a:cxnLst/>
            <a:rect l="l" t="t" r="r" b="b"/>
            <a:pathLst>
              <a:path w="8274501" h="2453926">
                <a:moveTo>
                  <a:pt x="0" y="0"/>
                </a:moveTo>
                <a:lnTo>
                  <a:pt x="8274501" y="0"/>
                </a:lnTo>
                <a:lnTo>
                  <a:pt x="8274501" y="2453926"/>
                </a:lnTo>
                <a:lnTo>
                  <a:pt x="0" y="245392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SG"/>
          </a:p>
        </p:txBody>
      </p:sp>
      <p:sp>
        <p:nvSpPr>
          <p:cNvPr id="9" name="TextBox 9"/>
          <p:cNvSpPr txBox="1"/>
          <p:nvPr/>
        </p:nvSpPr>
        <p:spPr>
          <a:xfrm>
            <a:off x="1774688" y="1439294"/>
            <a:ext cx="7958452" cy="763544"/>
          </a:xfrm>
          <a:prstGeom prst="rect">
            <a:avLst/>
          </a:prstGeom>
        </p:spPr>
        <p:txBody>
          <a:bodyPr lIns="0" tIns="0" rIns="0" bIns="0" rtlCol="0" anchor="t">
            <a:spAutoFit/>
          </a:bodyPr>
          <a:lstStyle/>
          <a:p>
            <a:pPr algn="l">
              <a:lnSpc>
                <a:spcPts val="4086"/>
              </a:lnSpc>
            </a:pPr>
            <a:endParaRPr/>
          </a:p>
          <a:p>
            <a:pPr algn="l">
              <a:lnSpc>
                <a:spcPts val="2043"/>
              </a:lnSpc>
            </a:pPr>
            <a:r>
              <a:rPr lang="en-US" sz="1459" spc="7">
                <a:solidFill>
                  <a:srgbClr val="000000"/>
                </a:solidFill>
                <a:latin typeface="Montserrat"/>
                <a:ea typeface="Montserrat"/>
                <a:cs typeface="Montserrat"/>
                <a:sym typeface="Montserrat"/>
              </a:rPr>
              <a:t>Addtothe codethepossibility of typing “STATUS” to get an output that looks like this:</a:t>
            </a:r>
          </a:p>
        </p:txBody>
      </p:sp>
      <p:sp>
        <p:nvSpPr>
          <p:cNvPr id="10" name="TextBox 10"/>
          <p:cNvSpPr txBox="1"/>
          <p:nvPr/>
        </p:nvSpPr>
        <p:spPr>
          <a:xfrm>
            <a:off x="1919402" y="2537574"/>
            <a:ext cx="114195" cy="838152"/>
          </a:xfrm>
          <a:prstGeom prst="rect">
            <a:avLst/>
          </a:prstGeom>
        </p:spPr>
        <p:txBody>
          <a:bodyPr lIns="0" tIns="0" rIns="0" bIns="0" rtlCol="0" anchor="t">
            <a:spAutoFit/>
          </a:bodyPr>
          <a:lstStyle/>
          <a:p>
            <a:pPr algn="just">
              <a:lnSpc>
                <a:spcPts val="2251"/>
              </a:lnSpc>
            </a:pPr>
            <a:r>
              <a:rPr lang="en-US" sz="1459" spc="7">
                <a:solidFill>
                  <a:srgbClr val="000000"/>
                </a:solidFill>
                <a:latin typeface="Montserrat"/>
                <a:ea typeface="Montserrat"/>
                <a:cs typeface="Montserrat"/>
                <a:sym typeface="Montserrat"/>
              </a:rPr>
              <a:t>● ● ●</a:t>
            </a:r>
          </a:p>
        </p:txBody>
      </p:sp>
      <p:sp>
        <p:nvSpPr>
          <p:cNvPr id="11" name="TextBox 11"/>
          <p:cNvSpPr txBox="1"/>
          <p:nvPr/>
        </p:nvSpPr>
        <p:spPr>
          <a:xfrm>
            <a:off x="2287972" y="2513914"/>
            <a:ext cx="4485056" cy="842867"/>
          </a:xfrm>
          <a:prstGeom prst="rect">
            <a:avLst/>
          </a:prstGeom>
        </p:spPr>
        <p:txBody>
          <a:bodyPr lIns="0" tIns="0" rIns="0" bIns="0" rtlCol="0" anchor="t">
            <a:spAutoFit/>
          </a:bodyPr>
          <a:lstStyle/>
          <a:p>
            <a:pPr algn="l">
              <a:lnSpc>
                <a:spcPts val="2251"/>
              </a:lnSpc>
            </a:pPr>
            <a:r>
              <a:rPr lang="en-US" sz="1459" spc="7">
                <a:solidFill>
                  <a:srgbClr val="000000"/>
                </a:solidFill>
                <a:latin typeface="Montserrat"/>
                <a:ea typeface="Montserrat"/>
                <a:cs typeface="Montserrat"/>
                <a:sym typeface="Montserrat"/>
              </a:rPr>
              <a:t>[3m 43s] NOMINAL </a:t>
            </a:r>
          </a:p>
          <a:p>
            <a:pPr algn="l">
              <a:lnSpc>
                <a:spcPts val="2251"/>
              </a:lnSpc>
            </a:pPr>
            <a:r>
              <a:rPr lang="en-US" sz="1459" spc="7">
                <a:solidFill>
                  <a:srgbClr val="000000"/>
                </a:solidFill>
                <a:latin typeface="Montserrat"/>
                <a:ea typeface="Montserrat"/>
                <a:cs typeface="Montserrat"/>
                <a:sym typeface="Montserrat"/>
              </a:rPr>
              <a:t>[3m 43s] WARNING! TEMPxx is too high: 35 deg! </a:t>
            </a:r>
          </a:p>
          <a:p>
            <a:pPr algn="l">
              <a:lnSpc>
                <a:spcPts val="2251"/>
              </a:lnSpc>
            </a:pPr>
            <a:r>
              <a:rPr lang="en-US" sz="1459" spc="7">
                <a:solidFill>
                  <a:srgbClr val="000000"/>
                </a:solidFill>
                <a:latin typeface="Montserrat"/>
                <a:ea typeface="Montserrat"/>
                <a:cs typeface="Montserrat"/>
                <a:sym typeface="Montserrat"/>
              </a:rPr>
              <a:t>[3m 43s] WARNING! VBAT is too low: 3.5 V! </a:t>
            </a:r>
          </a:p>
        </p:txBody>
      </p:sp>
      <p:sp>
        <p:nvSpPr>
          <p:cNvPr id="12" name="TextBox 12"/>
          <p:cNvSpPr txBox="1"/>
          <p:nvPr/>
        </p:nvSpPr>
        <p:spPr>
          <a:xfrm>
            <a:off x="7253183" y="2513914"/>
            <a:ext cx="2376478" cy="842867"/>
          </a:xfrm>
          <a:prstGeom prst="rect">
            <a:avLst/>
          </a:prstGeom>
        </p:spPr>
        <p:txBody>
          <a:bodyPr lIns="0" tIns="0" rIns="0" bIns="0" rtlCol="0" anchor="t">
            <a:spAutoFit/>
          </a:bodyPr>
          <a:lstStyle/>
          <a:p>
            <a:pPr algn="l">
              <a:lnSpc>
                <a:spcPts val="2251"/>
              </a:lnSpc>
            </a:pPr>
            <a:r>
              <a:rPr lang="en-US" sz="1459" spc="7">
                <a:solidFill>
                  <a:srgbClr val="000000"/>
                </a:solidFill>
                <a:latin typeface="Montserrat"/>
                <a:ea typeface="Montserrat"/>
                <a:cs typeface="Montserrat"/>
                <a:sym typeface="Montserrat"/>
              </a:rPr>
              <a:t>if no warnings are found</a:t>
            </a:r>
          </a:p>
          <a:p>
            <a:pPr algn="l">
              <a:lnSpc>
                <a:spcPts val="2251"/>
              </a:lnSpc>
            </a:pPr>
            <a:r>
              <a:rPr lang="en-US" sz="1459" spc="7">
                <a:solidFill>
                  <a:srgbClr val="000000"/>
                </a:solidFill>
                <a:latin typeface="Montserrat"/>
                <a:ea typeface="Montserrat"/>
                <a:cs typeface="Montserrat"/>
                <a:sym typeface="Montserrat"/>
              </a:rPr>
              <a:t>if temperature is too high</a:t>
            </a:r>
          </a:p>
          <a:p>
            <a:pPr algn="l">
              <a:lnSpc>
                <a:spcPts val="2251"/>
              </a:lnSpc>
            </a:pPr>
            <a:r>
              <a:rPr lang="en-US" sz="1459" spc="7">
                <a:solidFill>
                  <a:srgbClr val="000000"/>
                </a:solidFill>
                <a:latin typeface="Montserrat"/>
                <a:ea typeface="Montserrat"/>
                <a:cs typeface="Montserrat"/>
                <a:sym typeface="Montserrat"/>
              </a:rPr>
              <a:t>if battery is too low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1021</Words>
  <Application>Microsoft Office PowerPoint</Application>
  <PresentationFormat>Custom</PresentationFormat>
  <Paragraphs>78</Paragraphs>
  <Slides>17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Montserrat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Utilize all available online resources to help you figure out how to complete the exercises.</dc:title>
  <cp:lastModifiedBy>Rohini Parthasarathy</cp:lastModifiedBy>
  <cp:revision>3</cp:revision>
  <dcterms:created xsi:type="dcterms:W3CDTF">2006-08-16T00:00:00Z</dcterms:created>
  <dcterms:modified xsi:type="dcterms:W3CDTF">2026-10-14T14:49:58Z</dcterms:modified>
  <dc:identifier>DAHXyX_H0fo</dc:identifier>
</cp:coreProperties>
</file>