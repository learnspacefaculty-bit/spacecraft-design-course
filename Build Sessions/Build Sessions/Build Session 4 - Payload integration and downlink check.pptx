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5.svg" ContentType="image/svg+xml"/>
  <Override PartName="/ppt/media/image16.svg" ContentType="image/svg+xml"/>
  <Override PartName="/ppt/media/image17.svg" ContentType="image/svg+xml"/>
  <Override PartName="/ppt/media/image18.svg" ContentType="image/svg+xml"/>
  <Override PartName="/ppt/media/image19.svg" ContentType="image/svg+xml"/>
  <Override PartName="/ppt/media/image20.svg" ContentType="image/svg+xml"/>
  <Override PartName="/ppt/media/image2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22"/>
  </p:notesMasterIdLst>
  <p:sldIdLst>
    <p:sldId id="256" r:id="rId2"/>
    <p:sldId id="257" r:id="rId3"/>
    <p:sldId id="258" r:id="rId4"/>
    <p:sldId id="259" r:id="rId5"/>
    <p:sldId id="260" r:id="rId6"/>
    <p:sldId id="262" r:id="rId7"/>
    <p:sldId id="264" r:id="rId8"/>
    <p:sldId id="265" r:id="rId9"/>
    <p:sldId id="266" r:id="rId10"/>
    <p:sldId id="267" r:id="rId11"/>
    <p:sldId id="268" r:id="rId12"/>
    <p:sldId id="269" r:id="rId13"/>
    <p:sldId id="271" r:id="rId14"/>
    <p:sldId id="272" r:id="rId15"/>
    <p:sldId id="273" r:id="rId16"/>
    <p:sldId id="275" r:id="rId17"/>
    <p:sldId id="276" r:id="rId18"/>
    <p:sldId id="278" r:id="rId19"/>
    <p:sldId id="279" r:id="rId20"/>
    <p:sldId id="261" r:id="rId21"/>
  </p:sldIdLst>
  <p:sldSz cx="10693400" cy="7556500"/>
  <p:notesSz cx="6858000" cy="9144000"/>
  <p:embeddedFontLst>
    <p:embeddedFont>
      <p:font typeface="Montserrat" panose="00000500000000000000" pitchFamily="2" charset="0"/>
      <p:regular r:id="rId23"/>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p:scale>
          <a:sx n="53" d="100"/>
          <a:sy n="53" d="100"/>
        </p:scale>
        <p:origin x="1400" y="56"/>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font" Target="fonts/font1.fntdata"/><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77839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Day 4, Friday 16 October. 12:00-12:45 and 13:45-14:45, 1 h 30 in total. Follows Lecture 4, Payload and the link to the ground.</a:t>
            </a:r>
          </a:p>
        </p:txBody>
      </p:sp>
      <p:sp>
        <p:nvSpPr>
          <p:cNvPr id="4" name="Slide Number Placeholder 3"/>
          <p:cNvSpPr>
            <a:spLocks noGrp="1"/>
          </p:cNvSpPr>
          <p:nvPr>
            <p:ph type="sldNum" sz="quarter" idx="5"/>
          </p:nvPr>
        </p:nvSpPr>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deployable dipole and the closed satellite. No code.</a:t>
            </a:r>
          </a:p>
        </p:txBody>
      </p:sp>
      <p:sp>
        <p:nvSpPr>
          <p:cNvPr id="4" name="Slide Number Placeholder 3"/>
          <p:cNvSpPr>
            <a:spLocks noGrp="1"/>
          </p:cNvSpPr>
          <p:nvPr>
            <p:ph type="sldNum" sz="quarter" idx="5"/>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pPr>
              <a:defRPr>
                <a:latin typeface="Ubuntu"/>
                <a:ea typeface="Ubuntu"/>
                <a:cs typeface="Ubuntu"/>
              </a:defRPr>
            </a:pPr>
            <a:r>
              <a:rPr lang="en-US">
                <a:latin typeface="Ubuntu"/>
                <a:ea typeface="Ubuntu"/>
                <a:cs typeface="Ubuntu"/>
              </a:rPr>
              <a:t>Click to edit Master subtitle style</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Content Placeholder 2"/>
          <p:cNvSpPr>
            <a:spLocks noGrp="1"/>
          </p:cNvSpPr>
          <p:nvPr>
            <p:ph idx="1"/>
          </p:nvPr>
        </p:nvSpPr>
        <p:spPr/>
        <p:txBody>
          <a:body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pPr>
              <a:defRPr>
                <a:latin typeface="Ubuntu"/>
                <a:ea typeface="Ubuntu"/>
                <a:cs typeface="Ubuntu"/>
              </a:defRPr>
            </a:pPr>
            <a:r>
              <a:rPr lang="en-US">
                <a:latin typeface="Ubuntu"/>
                <a:ea typeface="Ubuntu"/>
                <a:cs typeface="Ubuntu"/>
              </a:rPr>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defRPr>
                <a:latin typeface="Ubuntu"/>
                <a:ea typeface="Ubuntu"/>
                <a:cs typeface="Ubuntu"/>
              </a:defRPr>
            </a:pPr>
            <a:r>
              <a:rPr lang="en-US">
                <a:latin typeface="Ubuntu"/>
                <a:ea typeface="Ubuntu"/>
                <a:cs typeface="Ubuntu"/>
              </a:rPr>
              <a:t>Click to edit Master text styles</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5" name="Date Placeholder 4"/>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pPr>
              <a:defRPr>
                <a:latin typeface="Ubuntu"/>
                <a:ea typeface="Ubuntu"/>
                <a:cs typeface="Ubuntu"/>
              </a:defRPr>
            </a:pPr>
            <a:endParaRPr lang="en-US"/>
          </a:p>
        </p:txBody>
      </p:sp>
      <p:sp>
        <p:nvSpPr>
          <p:cNvPr id="7" name="Slide Number Placeholder 6"/>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pPr>
              <a:defRPr>
                <a:latin typeface="Ubuntu"/>
                <a:ea typeface="Ubuntu"/>
                <a:cs typeface="Ubuntu"/>
              </a:defRPr>
            </a:pPr>
            <a:r>
              <a:rPr lang="en-US">
                <a:latin typeface="Ubuntu"/>
                <a:ea typeface="Ubuntu"/>
                <a:cs typeface="Ubuntu"/>
              </a:rPr>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latin typeface="Ubuntu"/>
                <a:ea typeface="Ubuntu"/>
                <a:cs typeface="Ubuntu"/>
              </a:defRPr>
            </a:pPr>
            <a:r>
              <a:rPr lang="en-US">
                <a:latin typeface="Ubuntu"/>
                <a:ea typeface="Ubuntu"/>
                <a:cs typeface="Ubuntu"/>
              </a:rPr>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defRPr>
                <a:latin typeface="Ubuntu"/>
                <a:ea typeface="Ubuntu"/>
                <a:cs typeface="Ubuntu"/>
              </a:defRPr>
            </a:pPr>
            <a:r>
              <a:rPr lang="en-US">
                <a:latin typeface="Ubuntu"/>
                <a:ea typeface="Ubuntu"/>
                <a:cs typeface="Ubuntu"/>
              </a:rPr>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7" name="Date Placeholder 6"/>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8" name="Footer Placeholder 7"/>
          <p:cNvSpPr>
            <a:spLocks noGrp="1"/>
          </p:cNvSpPr>
          <p:nvPr>
            <p:ph type="ftr" sz="quarter" idx="11"/>
          </p:nvPr>
        </p:nvSpPr>
        <p:spPr/>
        <p:txBody>
          <a:bodyPr/>
          <a:lstStyle/>
          <a:p>
            <a:pPr>
              <a:defRPr>
                <a:latin typeface="Ubuntu"/>
                <a:ea typeface="Ubuntu"/>
                <a:cs typeface="Ubuntu"/>
              </a:defRPr>
            </a:pPr>
            <a:endParaRPr lang="en-US"/>
          </a:p>
        </p:txBody>
      </p:sp>
      <p:sp>
        <p:nvSpPr>
          <p:cNvPr id="9" name="Slide Number Placeholder 8"/>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Date Placeholder 2"/>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4" name="Footer Placeholder 3"/>
          <p:cNvSpPr>
            <a:spLocks noGrp="1"/>
          </p:cNvSpPr>
          <p:nvPr>
            <p:ph type="ftr" sz="quarter" idx="11"/>
          </p:nvPr>
        </p:nvSpPr>
        <p:spPr/>
        <p:txBody>
          <a:bodyPr/>
          <a:lstStyle/>
          <a:p>
            <a:pPr>
              <a:defRPr>
                <a:latin typeface="Ubuntu"/>
                <a:ea typeface="Ubuntu"/>
                <a:cs typeface="Ubuntu"/>
              </a:defRPr>
            </a:pPr>
            <a:endParaRPr lang="en-US"/>
          </a:p>
        </p:txBody>
      </p:sp>
      <p:sp>
        <p:nvSpPr>
          <p:cNvPr id="5" name="Slide Number Placeholder 4"/>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3" name="Footer Placeholder 2"/>
          <p:cNvSpPr>
            <a:spLocks noGrp="1"/>
          </p:cNvSpPr>
          <p:nvPr>
            <p:ph type="ftr" sz="quarter" idx="11"/>
          </p:nvPr>
        </p:nvSpPr>
        <p:spPr/>
        <p:txBody>
          <a:bodyPr/>
          <a:lstStyle/>
          <a:p>
            <a:pPr>
              <a:defRPr>
                <a:latin typeface="Ubuntu"/>
                <a:ea typeface="Ubuntu"/>
                <a:cs typeface="Ubuntu"/>
              </a:defRPr>
            </a:pPr>
            <a:endParaRPr lang="en-US"/>
          </a:p>
        </p:txBody>
      </p:sp>
      <p:sp>
        <p:nvSpPr>
          <p:cNvPr id="4" name="Slide Number Placeholder 3"/>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pPr>
              <a:defRPr>
                <a:latin typeface="Ubuntu"/>
                <a:ea typeface="Ubuntu"/>
                <a:cs typeface="Ubuntu"/>
              </a:defRPr>
            </a:pPr>
            <a:r>
              <a:rPr lang="en-US">
                <a:latin typeface="Ubuntu"/>
                <a:ea typeface="Ubuntu"/>
                <a:cs typeface="Ubuntu"/>
              </a:rPr>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latin typeface="Ubuntu"/>
                <a:ea typeface="Ubuntu"/>
                <a:cs typeface="Ubuntu"/>
              </a:defRPr>
            </a:pPr>
            <a:r>
              <a:rPr lang="en-US">
                <a:latin typeface="Ubuntu"/>
                <a:ea typeface="Ubuntu"/>
                <a:cs typeface="Ubuntu"/>
              </a:rPr>
              <a:t>Click to edit Master text styles</a:t>
            </a:r>
          </a:p>
        </p:txBody>
      </p:sp>
      <p:sp>
        <p:nvSpPr>
          <p:cNvPr id="5" name="Date Placeholder 4"/>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pPr>
              <a:defRPr>
                <a:latin typeface="Ubuntu"/>
                <a:ea typeface="Ubuntu"/>
                <a:cs typeface="Ubuntu"/>
              </a:defRPr>
            </a:pPr>
            <a:endParaRPr lang="en-US"/>
          </a:p>
        </p:txBody>
      </p:sp>
      <p:sp>
        <p:nvSpPr>
          <p:cNvPr id="7" name="Slide Number Placeholder 6"/>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pPr>
              <a:defRPr>
                <a:latin typeface="Ubuntu"/>
                <a:ea typeface="Ubuntu"/>
                <a:cs typeface="Ubuntu"/>
              </a:defRPr>
            </a:pPr>
            <a:r>
              <a:rPr lang="en-US">
                <a:latin typeface="Ubuntu"/>
                <a:ea typeface="Ubuntu"/>
                <a:cs typeface="Ubuntu"/>
              </a:rPr>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a:defRPr>
                <a:latin typeface="Ubuntu"/>
                <a:ea typeface="Ubuntu"/>
                <a:cs typeface="Ubuntu"/>
              </a:defRPr>
            </a:pPr>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defRPr>
                <a:latin typeface="Ubuntu"/>
                <a:ea typeface="Ubuntu"/>
                <a:cs typeface="Ubuntu"/>
              </a:defRPr>
            </a:pPr>
            <a:r>
              <a:rPr lang="en-US">
                <a:latin typeface="Ubuntu"/>
                <a:ea typeface="Ubuntu"/>
                <a:cs typeface="Ubuntu"/>
              </a:rPr>
              <a:t>Click to edit Master text styles</a:t>
            </a:r>
          </a:p>
        </p:txBody>
      </p:sp>
      <p:sp>
        <p:nvSpPr>
          <p:cNvPr id="5" name="Date Placeholder 4"/>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6" name="Footer Placeholder 5"/>
          <p:cNvSpPr>
            <a:spLocks noGrp="1"/>
          </p:cNvSpPr>
          <p:nvPr>
            <p:ph type="ftr" sz="quarter" idx="11"/>
          </p:nvPr>
        </p:nvSpPr>
        <p:spPr/>
        <p:txBody>
          <a:bodyPr/>
          <a:lstStyle/>
          <a:p>
            <a:pPr>
              <a:defRPr>
                <a:latin typeface="Ubuntu"/>
                <a:ea typeface="Ubuntu"/>
                <a:cs typeface="Ubuntu"/>
              </a:defRPr>
            </a:pPr>
            <a:endParaRPr lang="en-US"/>
          </a:p>
        </p:txBody>
      </p:sp>
      <p:sp>
        <p:nvSpPr>
          <p:cNvPr id="7" name="Slide Number Placeholder 6"/>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a:defRPr>
                <a:latin typeface="Ubuntu"/>
                <a:ea typeface="Ubuntu"/>
                <a:cs typeface="Ubuntu"/>
              </a:defRPr>
            </a:pPr>
            <a:r>
              <a:rPr lang="en-US">
                <a:latin typeface="Ubuntu"/>
                <a:ea typeface="Ubuntu"/>
                <a:cs typeface="Ubuntu"/>
              </a:rPr>
              <a:t>Click to edit Master title style</a:t>
            </a:r>
          </a:p>
        </p:txBody>
      </p:sp>
      <p:sp>
        <p:nvSpPr>
          <p:cNvPr id="3" name="Vertical Text Placeholder 2"/>
          <p:cNvSpPr>
            <a:spLocks noGrp="1"/>
          </p:cNvSpPr>
          <p:nvPr>
            <p:ph type="body" orient="vert" idx="1"/>
          </p:nvPr>
        </p:nvSpPr>
        <p:spPr/>
        <p:txBody>
          <a:bodyPr vert="eaVert"/>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pPr>
              <a:defRPr>
                <a:latin typeface="Ubuntu"/>
                <a:ea typeface="Ubuntu"/>
                <a:cs typeface="Ubuntu"/>
              </a:defRPr>
            </a:pPr>
            <a:r>
              <a:rPr lang="en-US">
                <a:latin typeface="Ubuntu"/>
                <a:ea typeface="Ubuntu"/>
                <a:cs typeface="Ubuntu"/>
              </a:rPr>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Date Placeholder 3"/>
          <p:cNvSpPr>
            <a:spLocks noGrp="1"/>
          </p:cNvSpPr>
          <p:nvPr>
            <p:ph type="dt" sz="half" idx="10"/>
          </p:nvPr>
        </p:nvSpPr>
        <p:spPr/>
        <p:txBody>
          <a:body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11"/>
          </p:nvPr>
        </p:nvSpPr>
        <p:spPr/>
        <p:txBody>
          <a:bodyPr/>
          <a:lstStyle/>
          <a:p>
            <a:pPr>
              <a:defRPr>
                <a:latin typeface="Ubuntu"/>
                <a:ea typeface="Ubuntu"/>
                <a:cs typeface="Ubuntu"/>
              </a:defRPr>
            </a:pPr>
            <a:endParaRPr lang="en-US"/>
          </a:p>
        </p:txBody>
      </p:sp>
      <p:sp>
        <p:nvSpPr>
          <p:cNvPr id="6" name="Slide Number Placeholder 5"/>
          <p:cNvSpPr>
            <a:spLocks noGrp="1"/>
          </p:cNvSpPr>
          <p:nvPr>
            <p:ph type="sldNum" sz="quarter" idx="12"/>
          </p:nvPr>
        </p:nvSpPr>
        <p:spPr/>
        <p:txBody>
          <a:bodyPr/>
          <a:lstStyle/>
          <a:p>
            <a:pPr>
              <a:defRPr>
                <a:latin typeface="Ubuntu"/>
                <a:ea typeface="Ubuntu"/>
                <a:cs typeface="Ubuntu"/>
              </a:defRPr>
            </a:pPr>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pPr>
              <a:defRPr>
                <a:latin typeface="Ubuntu"/>
                <a:ea typeface="Ubuntu"/>
                <a:cs typeface="Ubuntu"/>
              </a:defRPr>
            </a:pPr>
            <a:r>
              <a:rPr lang="en-US">
                <a:latin typeface="Ubuntu"/>
                <a:ea typeface="Ubuntu"/>
                <a:cs typeface="Ubuntu"/>
              </a:rPr>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defRPr>
                <a:latin typeface="Ubuntu"/>
                <a:ea typeface="Ubuntu"/>
                <a:cs typeface="Ubuntu"/>
              </a:defRPr>
            </a:pPr>
            <a:r>
              <a:rPr lang="en-US">
                <a:latin typeface="Ubuntu"/>
                <a:ea typeface="Ubuntu"/>
                <a:cs typeface="Ubuntu"/>
              </a:rPr>
              <a:t>Click to edit Master text styles</a:t>
            </a:r>
          </a:p>
          <a:p>
            <a:pPr lvl="1">
              <a:defRPr>
                <a:latin typeface="Ubuntu"/>
                <a:ea typeface="Ubuntu"/>
                <a:cs typeface="Ubuntu"/>
              </a:defRPr>
            </a:pPr>
            <a:r>
              <a:rPr lang="en-US">
                <a:latin typeface="Ubuntu"/>
                <a:ea typeface="Ubuntu"/>
                <a:cs typeface="Ubuntu"/>
              </a:rPr>
              <a:t>Second level</a:t>
            </a:r>
          </a:p>
          <a:p>
            <a:pPr lvl="2">
              <a:defRPr>
                <a:latin typeface="Ubuntu"/>
                <a:ea typeface="Ubuntu"/>
                <a:cs typeface="Ubuntu"/>
              </a:defRPr>
            </a:pPr>
            <a:r>
              <a:rPr lang="en-US">
                <a:latin typeface="Ubuntu"/>
                <a:ea typeface="Ubuntu"/>
                <a:cs typeface="Ubuntu"/>
              </a:rPr>
              <a:t>Third level</a:t>
            </a:r>
          </a:p>
          <a:p>
            <a:pPr lvl="3">
              <a:defRPr>
                <a:latin typeface="Ubuntu"/>
                <a:ea typeface="Ubuntu"/>
                <a:cs typeface="Ubuntu"/>
              </a:defRPr>
            </a:pPr>
            <a:r>
              <a:rPr lang="en-US">
                <a:latin typeface="Ubuntu"/>
                <a:ea typeface="Ubuntu"/>
                <a:cs typeface="Ubuntu"/>
              </a:rPr>
              <a:t>Fourth level</a:t>
            </a:r>
          </a:p>
          <a:p>
            <a:pPr lvl="4">
              <a:defRPr>
                <a:latin typeface="Ubuntu"/>
                <a:ea typeface="Ubuntu"/>
                <a:cs typeface="Ubuntu"/>
              </a:defRPr>
            </a:pPr>
            <a:r>
              <a:rPr lang="en-US">
                <a:latin typeface="Ubuntu"/>
                <a:ea typeface="Ubuntu"/>
                <a:cs typeface="Ubuntu"/>
              </a:rPr>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a:defRPr>
                <a:latin typeface="Ubuntu"/>
                <a:ea typeface="Ubuntu"/>
                <a:cs typeface="Ubuntu"/>
              </a:defRPr>
            </a:pPr>
            <a:fld id="{1D8BD707-D9CF-40AE-B4C6-C98DA3205C09}" type="datetimeFigureOut">
              <a:rPr lang="en-US" smtClean="0"/>
              <a:pPr/>
              <a:t>10/15/2026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a:defRPr>
                <a:latin typeface="Ubuntu"/>
                <a:ea typeface="Ubuntu"/>
                <a:cs typeface="Ubuntu"/>
              </a:defRPr>
            </a:pPr>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a:defRPr>
                <a:latin typeface="Ubuntu"/>
                <a:ea typeface="Ubuntu"/>
                <a:cs typeface="Ubuntu"/>
              </a:defRPr>
            </a:pPr>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1.jpeg"/><Relationship Id="rId4" Type="http://schemas.openxmlformats.org/officeDocument/2006/relationships/image" Target="../media/image2.png"/><Relationship Id="rId5"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eg"/><Relationship Id="rId3" Type="http://schemas.openxmlformats.org/officeDocument/2006/relationships/image" Target="../media/image5.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eg"/><Relationship Id="rId3" Type="http://schemas.openxmlformats.org/officeDocument/2006/relationships/image" Target="../media/image7.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eg"/><Relationship Id="rId3" Type="http://schemas.openxmlformats.org/officeDocument/2006/relationships/image" Target="../media/image9.png"/><Relationship Id="rId4"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eg"/><Relationship Id="rId3" Type="http://schemas.openxmlformats.org/officeDocument/2006/relationships/image" Target="../media/image11.png"/><Relationship Id="rId4"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eg"/><Relationship Id="rId3" Type="http://schemas.openxmlformats.org/officeDocument/2006/relationships/image" Target="../media/image13.jpeg"/><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eg"/><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svg"/><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svg"/><Relationship Id="rId3" Type="http://schemas.openxmlformats.org/officeDocument/2006/relationships/image" Target="../media/image17.sv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svg"/><Relationship Id="rId3" Type="http://schemas.openxmlformats.org/officeDocument/2006/relationships/image" Target="../media/image18.svg"/><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svg"/><Relationship Id="rId3" Type="http://schemas.openxmlformats.org/officeDocument/2006/relationships/image" Target="../media/image19.svg"/><Relationship Id="rId4" Type="http://schemas.openxmlformats.org/officeDocument/2006/relationships/image" Target="../media/image3.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svg"/><Relationship Id="rId3" Type="http://schemas.openxmlformats.org/officeDocument/2006/relationships/image" Target="../media/image21.jpeg"/><Relationship Id="rId4" Type="http://schemas.openxmlformats.org/officeDocument/2006/relationships/image" Target="../media/image22.png"/><Relationship Id="rId5" Type="http://schemas.openxmlformats.org/officeDocument/2006/relationships/image" Target="../media/image3.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svg"/><Relationship Id="rId3" Type="http://schemas.openxmlformats.org/officeDocument/2006/relationships/image" Target="../media/image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eg"/><Relationship Id="rId3" Type="http://schemas.openxmlformats.org/officeDocument/2006/relationships/image" Target="../media/image25.png"/><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eg"/><Relationship Id="rId3" Type="http://schemas.openxmlformats.org/officeDocument/2006/relationships/image" Target="../media/image3.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eg"/><Relationship Id="rId3"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5506212" y="2859024"/>
            <a:ext cx="1565148" cy="515112"/>
            <a:chOff x="0" y="0"/>
            <a:chExt cx="2086864" cy="686816"/>
          </a:xfrm>
        </p:grpSpPr>
        <p:sp>
          <p:nvSpPr>
            <p:cNvPr id="10" name="Freeform 10"/>
            <p:cNvSpPr/>
            <p:nvPr/>
          </p:nvSpPr>
          <p:spPr>
            <a:xfrm>
              <a:off x="0" y="0"/>
              <a:ext cx="2086864" cy="686816"/>
            </a:xfrm>
            <a:custGeom>
              <a:avLst/>
              <a:gdLst/>
              <a:ahLst/>
              <a:cxnLst/>
              <a:rect l="l" t="t" r="r" b="b"/>
              <a:pathLst>
                <a:path w="2086864" h="686816">
                  <a:moveTo>
                    <a:pt x="0" y="0"/>
                  </a:moveTo>
                  <a:lnTo>
                    <a:pt x="2086864" y="0"/>
                  </a:lnTo>
                  <a:lnTo>
                    <a:pt x="2086864" y="686816"/>
                  </a:lnTo>
                  <a:lnTo>
                    <a:pt x="0" y="686816"/>
                  </a:lnTo>
                  <a:lnTo>
                    <a:pt x="0" y="0"/>
                  </a:lnTo>
                  <a:close/>
                </a:path>
              </a:pathLst>
            </a:custGeom>
            <a:blipFill>
              <a:blip r:embed="rId3"/>
              <a:stretch>
                <a:fillRect l="-97"/>
              </a:stretch>
            </a:blipFill>
          </p:spPr>
          <p:txBody>
            <a:bodyPr/>
            <a:lstStyle/>
            <a:p>
              <a:endParaRPr lang="en-SG"/>
            </a:p>
          </p:txBody>
        </p:sp>
      </p:grpSp>
      <p:grpSp>
        <p:nvGrpSpPr>
          <p:cNvPr id="11" name="Group 11"/>
          <p:cNvGrpSpPr/>
          <p:nvPr/>
        </p:nvGrpSpPr>
        <p:grpSpPr>
          <a:xfrm>
            <a:off x="5506212" y="3371088"/>
            <a:ext cx="1565148" cy="1054608"/>
            <a:chOff x="0" y="0"/>
            <a:chExt cx="2086864" cy="1406144"/>
          </a:xfrm>
        </p:grpSpPr>
        <p:sp>
          <p:nvSpPr>
            <p:cNvPr id="12" name="Freeform 12"/>
            <p:cNvSpPr/>
            <p:nvPr/>
          </p:nvSpPr>
          <p:spPr>
            <a:xfrm>
              <a:off x="0" y="0"/>
              <a:ext cx="2086864" cy="1406144"/>
            </a:xfrm>
            <a:custGeom>
              <a:avLst/>
              <a:gdLst/>
              <a:ahLst/>
              <a:cxnLst/>
              <a:rect l="l" t="t" r="r" b="b"/>
              <a:pathLst>
                <a:path w="2086864" h="1406144">
                  <a:moveTo>
                    <a:pt x="0" y="0"/>
                  </a:moveTo>
                  <a:lnTo>
                    <a:pt x="2086864" y="0"/>
                  </a:lnTo>
                  <a:lnTo>
                    <a:pt x="2086864" y="1406144"/>
                  </a:lnTo>
                  <a:lnTo>
                    <a:pt x="0" y="1406144"/>
                  </a:lnTo>
                  <a:lnTo>
                    <a:pt x="0" y="0"/>
                  </a:lnTo>
                  <a:close/>
                </a:path>
              </a:pathLst>
            </a:custGeom>
            <a:blipFill>
              <a:blip r:embed="rId4"/>
              <a:stretch>
                <a:fillRect/>
              </a:stretch>
            </a:blipFill>
          </p:spPr>
          <p:txBody>
            <a:bodyPr/>
            <a:lstStyle/>
            <a:p>
              <a:endParaRPr lang="en-SG"/>
            </a:p>
          </p:txBody>
        </p:sp>
      </p:grpSp>
      <p:sp>
        <p:nvSpPr>
          <p:cNvPr id="13" name="TextBox 13"/>
          <p:cNvSpPr txBox="1"/>
          <p:nvPr/>
        </p:nvSpPr>
        <p:spPr>
          <a:xfrm>
            <a:off x="1632385" y="1334119"/>
            <a:ext cx="8778240" cy="523504"/>
          </a:xfrm>
          <a:prstGeom prst="rect">
            <a:avLst/>
          </a:prstGeom>
        </p:spPr>
        <p:txBody>
          <a:bodyPr wrap="square" lIns="0" tIns="0" rIns="0" bIns="0" rtlCol="0" anchor="t">
            <a:spAutoFit/>
          </a:bodyPr>
          <a:lstStyle/>
          <a:p>
            <a:pPr algn="l">
              <a:lnSpc>
                <a:spcPts val="4267"/>
              </a:lnSpc>
              <a:defRPr>
                <a:latin typeface="Space Mono"/>
                <a:ea typeface="Space Mono"/>
                <a:cs typeface="Space Mono"/>
              </a:defRPr>
            </a:pPr>
            <a:r>
              <a:rPr lang="en-US" sz="3048">
                <a:solidFill>
                  <a:srgbClr val="2C2C2C"/>
                </a:solidFill>
                <a:latin typeface="Space Mono"/>
                <a:ea typeface="Space Mono"/>
                <a:cs typeface="Space Mono"/>
                <a:sym typeface="Montserrat"/>
              </a:rPr>
              <a:t>Satellite Design &amp; Integration</a:t>
            </a:r>
          </a:p>
        </p:txBody>
      </p:sp>
      <p:sp>
        <p:nvSpPr>
          <p:cNvPr id="14" name="TextBox 14"/>
          <p:cNvSpPr txBox="1"/>
          <p:nvPr/>
        </p:nvSpPr>
        <p:spPr>
          <a:xfrm>
            <a:off x="1632109" y="2514676"/>
            <a:ext cx="5120640" cy="801776"/>
          </a:xfrm>
          <a:prstGeom prst="rect">
            <a:avLst/>
          </a:prstGeom>
        </p:spPr>
        <p:txBody>
          <a:bodyPr wrap="square" lIns="0" tIns="0" rIns="0" bIns="0" rtlCol="0" anchor="t">
            <a:spAutoFit/>
          </a:bodyPr>
          <a:lstStyle/>
          <a:p>
            <a:pPr algn="l">
              <a:lnSpc>
                <a:spcPts val="6552"/>
              </a:lnSpc>
              <a:defRPr>
                <a:latin typeface="House Movements Runway"/>
                <a:ea typeface="House Movements Runway"/>
                <a:cs typeface="House Movements Runway"/>
              </a:defRPr>
            </a:pPr>
            <a:r>
              <a:rPr lang="en-US" sz="4000" spc="88">
                <a:solidFill>
                  <a:srgbClr val="2C2C2C"/>
                </a:solidFill>
                <a:latin typeface="House Movements Runway"/>
                <a:ea typeface="House Movements Runway"/>
                <a:cs typeface="House Movements Runway"/>
                <a:sym typeface="Montserrat"/>
              </a:rPr>
              <a:t>Build Session 4</a:t>
            </a:r>
          </a:p>
        </p:txBody>
      </p:sp>
      <p:sp>
        <p:nvSpPr>
          <p:cNvPr id="15" name="TextBox 13"/>
          <p:cNvSpPr txBox="1"/>
          <p:nvPr/>
        </p:nvSpPr>
        <p:spPr>
          <a:xfrm>
            <a:off x="1632385" y="4617720"/>
            <a:ext cx="7863840" cy="1097280"/>
          </a:xfrm>
          <a:prstGeom prst="rect">
            <a:avLst/>
          </a:prstGeom>
        </p:spPr>
        <p:txBody>
          <a:bodyPr wrap="square" lIns="0" tIns="0" rIns="0" bIns="0" rtlCol="0" anchor="t">
            <a:spAutoFit/>
          </a:bodyPr>
          <a:lstStyle/>
          <a:p>
            <a:pPr algn="l">
              <a:lnSpc>
                <a:spcPts val="4267"/>
              </a:lnSpc>
              <a:defRPr>
                <a:latin typeface="Space Mono"/>
                <a:ea typeface="Space Mono"/>
                <a:cs typeface="Space Mono"/>
              </a:defRPr>
            </a:pPr>
            <a:r>
              <a:rPr lang="en-US" sz="1800">
                <a:solidFill>
                  <a:srgbClr val="2C2C2C"/>
                </a:solidFill>
                <a:latin typeface="Space Mono"/>
                <a:ea typeface="Space Mono"/>
                <a:cs typeface="Space Mono"/>
                <a:sym typeface="Montserrat"/>
              </a:rPr>
              <a:t>Payload integration and downlink check</a:t>
            </a:r>
          </a:p>
        </p:txBody>
      </p:sp>
      <p:pic>
        <p:nvPicPr>
          <p:cNvPr id="16" name="MainLogo" descr="MainLogo.png"/>
          <p:cNvPicPr>
            <a:picLocks noChangeAspect="1"/>
          </p:cNvPicPr>
          <p:nvPr/>
        </p:nvPicPr>
        <p:blipFill>
          <a:blip r:embed="rId5"/>
          <a:stretch>
            <a:fillRect/>
          </a:stretch>
        </p:blipFill>
        <p:spPr>
          <a:xfrm>
            <a:off x="8398256" y="301752"/>
            <a:ext cx="1965960" cy="655844"/>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5506212" y="2859024"/>
            <a:ext cx="1565148" cy="515112"/>
            <a:chOff x="0" y="0"/>
            <a:chExt cx="2086864" cy="686816"/>
          </a:xfrm>
        </p:grpSpPr>
        <p:sp>
          <p:nvSpPr>
            <p:cNvPr id="10" name="Freeform 10"/>
            <p:cNvSpPr/>
            <p:nvPr/>
          </p:nvSpPr>
          <p:spPr>
            <a:xfrm>
              <a:off x="0" y="0"/>
              <a:ext cx="2086864" cy="686816"/>
            </a:xfrm>
            <a:custGeom>
              <a:avLst/>
              <a:gdLst/>
              <a:ahLst/>
              <a:cxnLst/>
              <a:rect l="l" t="t" r="r" b="b"/>
              <a:pathLst>
                <a:path w="2086864" h="686816">
                  <a:moveTo>
                    <a:pt x="0" y="0"/>
                  </a:moveTo>
                  <a:lnTo>
                    <a:pt x="2086864" y="0"/>
                  </a:lnTo>
                  <a:lnTo>
                    <a:pt x="2086864" y="686816"/>
                  </a:lnTo>
                  <a:lnTo>
                    <a:pt x="0" y="686816"/>
                  </a:lnTo>
                  <a:lnTo>
                    <a:pt x="0" y="0"/>
                  </a:lnTo>
                  <a:close/>
                </a:path>
              </a:pathLst>
            </a:custGeom>
            <a:blipFill>
              <a:blip r:embed="rId3"/>
              <a:stretch>
                <a:fillRect l="-97"/>
              </a:stretch>
            </a:blipFill>
          </p:spPr>
          <p:txBody>
            <a:bodyPr/>
            <a:lstStyle/>
            <a:p>
              <a:endParaRPr lang="en-SG"/>
            </a:p>
          </p:txBody>
        </p:sp>
      </p:grpSp>
      <p:grpSp>
        <p:nvGrpSpPr>
          <p:cNvPr id="11" name="Group 11"/>
          <p:cNvGrpSpPr/>
          <p:nvPr/>
        </p:nvGrpSpPr>
        <p:grpSpPr>
          <a:xfrm>
            <a:off x="5506212" y="3371088"/>
            <a:ext cx="1565148" cy="1054608"/>
            <a:chOff x="0" y="0"/>
            <a:chExt cx="2086864" cy="1406144"/>
          </a:xfrm>
        </p:grpSpPr>
        <p:sp>
          <p:nvSpPr>
            <p:cNvPr id="12" name="Freeform 12"/>
            <p:cNvSpPr/>
            <p:nvPr/>
          </p:nvSpPr>
          <p:spPr>
            <a:xfrm>
              <a:off x="0" y="0"/>
              <a:ext cx="2086864" cy="1406144"/>
            </a:xfrm>
            <a:custGeom>
              <a:avLst/>
              <a:gdLst/>
              <a:ahLst/>
              <a:cxnLst/>
              <a:rect l="l" t="t" r="r" b="b"/>
              <a:pathLst>
                <a:path w="2086864" h="1406144">
                  <a:moveTo>
                    <a:pt x="0" y="0"/>
                  </a:moveTo>
                  <a:lnTo>
                    <a:pt x="2086864" y="0"/>
                  </a:lnTo>
                  <a:lnTo>
                    <a:pt x="2086864" y="1406144"/>
                  </a:lnTo>
                  <a:lnTo>
                    <a:pt x="0" y="1406144"/>
                  </a:lnTo>
                  <a:lnTo>
                    <a:pt x="0" y="0"/>
                  </a:lnTo>
                  <a:close/>
                </a:path>
              </a:pathLst>
            </a:custGeom>
            <a:blipFill>
              <a:blip r:embed="rId4"/>
              <a:stretch>
                <a:fillRect/>
              </a:stretch>
            </a:blipFill>
          </p:spPr>
          <p:txBody>
            <a:bodyPr/>
            <a:lstStyle/>
            <a:p>
              <a:endParaRPr lang="en-SG"/>
            </a:p>
          </p:txBody>
        </p:sp>
      </p:grpSp>
      <p:sp>
        <p:nvSpPr>
          <p:cNvPr id="13" name="TextBox 13"/>
          <p:cNvSpPr txBox="1"/>
          <p:nvPr/>
        </p:nvSpPr>
        <p:spPr>
          <a:xfrm>
            <a:off x="1632385" y="1334119"/>
            <a:ext cx="8778240" cy="523504"/>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Build Session 4 — Payload integration and downlink check</a:t>
            </a:r>
          </a:p>
        </p:txBody>
      </p:sp>
      <p:sp>
        <p:nvSpPr>
          <p:cNvPr id="14" name="TextBox 14"/>
          <p:cNvSpPr txBox="1"/>
          <p:nvPr/>
        </p:nvSpPr>
        <p:spPr>
          <a:xfrm>
            <a:off x="1632109" y="4572000"/>
            <a:ext cx="8778240" cy="1188720"/>
          </a:xfrm>
          <a:prstGeom prst="rect">
            <a:avLst/>
          </a:prstGeom>
        </p:spPr>
        <p:txBody>
          <a:bodyPr wrap="square" lIns="0" tIns="0" rIns="0" bIns="0" rtlCol="0" anchor="t">
            <a:spAutoFit/>
          </a:bodyPr>
          <a:lstStyle/>
          <a:p>
            <a:pPr algn="l">
              <a:lnSpc>
                <a:spcPts val="6552"/>
              </a:lnSpc>
              <a:defRPr>
                <a:latin typeface="Space Mono"/>
                <a:ea typeface="Space Mono"/>
                <a:cs typeface="Space Mono"/>
              </a:defRPr>
            </a:pPr>
            <a:r>
              <a:rPr lang="en-US" sz="2800" spc="88">
                <a:solidFill>
                  <a:srgbClr val="2C2C2C"/>
                </a:solidFill>
                <a:latin typeface="Space Mono"/>
                <a:ea typeface="Space Mono"/>
                <a:cs typeface="Space Mono"/>
                <a:sym typeface="Montserrat"/>
              </a:rPr>
              <a:t>Fitting the antenna</a:t>
            </a:r>
          </a:p>
        </p:txBody>
      </p:sp>
      <p:pic>
        <p:nvPicPr>
          <p:cNvPr id="15" name="MainLogo" descr="MainLogo.png"/>
          <p:cNvPicPr>
            <a:picLocks noChangeAspect="1"/>
          </p:cNvPicPr>
          <p:nvPr/>
        </p:nvPicPr>
        <p:blipFill>
          <a:blip r:embed="rId5"/>
          <a:stretch>
            <a:fillRect/>
          </a:stretch>
        </p:blipFill>
        <p:spPr>
          <a:xfrm>
            <a:off x="8398256" y="301752"/>
            <a:ext cx="1965960" cy="655844"/>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965704" y="2551176"/>
            <a:ext cx="4760976" cy="167640"/>
            <a:chOff x="0" y="0"/>
            <a:chExt cx="6347968" cy="223520"/>
          </a:xfrm>
        </p:grpSpPr>
        <p:sp>
          <p:nvSpPr>
            <p:cNvPr id="10" name="Freeform 10"/>
            <p:cNvSpPr/>
            <p:nvPr/>
          </p:nvSpPr>
          <p:spPr>
            <a:xfrm>
              <a:off x="0" y="0"/>
              <a:ext cx="6347968" cy="223520"/>
            </a:xfrm>
            <a:custGeom>
              <a:avLst/>
              <a:gdLst/>
              <a:ahLst/>
              <a:cxnLst/>
              <a:rect l="l" t="t" r="r" b="b"/>
              <a:pathLst>
                <a:path w="6347968" h="223520">
                  <a:moveTo>
                    <a:pt x="0" y="0"/>
                  </a:moveTo>
                  <a:lnTo>
                    <a:pt x="6347968" y="0"/>
                  </a:lnTo>
                  <a:lnTo>
                    <a:pt x="6347968" y="223520"/>
                  </a:lnTo>
                  <a:lnTo>
                    <a:pt x="0" y="223520"/>
                  </a:lnTo>
                  <a:lnTo>
                    <a:pt x="0" y="0"/>
                  </a:lnTo>
                  <a:close/>
                </a:path>
              </a:pathLst>
            </a:custGeom>
            <a:blipFill>
              <a:blip r:embed="rId2"/>
              <a:stretch>
                <a:fillRect/>
              </a:stretch>
            </a:blipFill>
          </p:spPr>
          <p:txBody>
            <a:bodyPr/>
            <a:lstStyle/>
            <a:p>
              <a:endParaRPr lang="en-SG"/>
            </a:p>
          </p:txBody>
        </p:sp>
      </p:grpSp>
      <p:grpSp>
        <p:nvGrpSpPr>
          <p:cNvPr id="11" name="Group 11"/>
          <p:cNvGrpSpPr/>
          <p:nvPr/>
        </p:nvGrpSpPr>
        <p:grpSpPr>
          <a:xfrm>
            <a:off x="2965704" y="2715768"/>
            <a:ext cx="4760976" cy="3596640"/>
            <a:chOff x="0" y="0"/>
            <a:chExt cx="6347968" cy="4795520"/>
          </a:xfrm>
        </p:grpSpPr>
        <p:sp>
          <p:nvSpPr>
            <p:cNvPr id="12" name="Freeform 12"/>
            <p:cNvSpPr/>
            <p:nvPr/>
          </p:nvSpPr>
          <p:spPr>
            <a:xfrm>
              <a:off x="0" y="0"/>
              <a:ext cx="6347968" cy="4795520"/>
            </a:xfrm>
            <a:custGeom>
              <a:avLst/>
              <a:gdLst/>
              <a:ahLst/>
              <a:cxnLst/>
              <a:rect l="l" t="t" r="r" b="b"/>
              <a:pathLst>
                <a:path w="6347968" h="4795520">
                  <a:moveTo>
                    <a:pt x="0" y="0"/>
                  </a:moveTo>
                  <a:lnTo>
                    <a:pt x="6347968" y="0"/>
                  </a:lnTo>
                  <a:lnTo>
                    <a:pt x="6347968" y="4795520"/>
                  </a:lnTo>
                  <a:lnTo>
                    <a:pt x="0" y="4795520"/>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91269"/>
            <a:ext cx="6195793" cy="929707"/>
          </a:xfrm>
          <a:prstGeom prst="rect">
            <a:avLst/>
          </a:prstGeom>
        </p:spPr>
        <p:txBody>
          <a:bodyPr lIns="0" tIns="0" rIns="0" bIns="0" rtlCol="0" anchor="t">
            <a:spAutoFit/>
          </a:bodyPr>
          <a:lstStyle/>
          <a:p>
            <a:pPr algn="l">
              <a:lnSpc>
                <a:spcPts val="3648"/>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Satellite Set-up -Antenna OBC Connection</a:t>
            </a:r>
          </a:p>
        </p:txBody>
      </p:sp>
      <p:pic>
        <p:nvPicPr>
          <p:cNvPr id="14"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505456" y="2350008"/>
            <a:ext cx="5681472" cy="569976"/>
            <a:chOff x="0" y="0"/>
            <a:chExt cx="7575296" cy="759968"/>
          </a:xfrm>
        </p:grpSpPr>
        <p:sp>
          <p:nvSpPr>
            <p:cNvPr id="10" name="Freeform 10"/>
            <p:cNvSpPr/>
            <p:nvPr/>
          </p:nvSpPr>
          <p:spPr>
            <a:xfrm>
              <a:off x="0" y="0"/>
              <a:ext cx="7575296" cy="759968"/>
            </a:xfrm>
            <a:custGeom>
              <a:avLst/>
              <a:gdLst/>
              <a:ahLst/>
              <a:cxnLst/>
              <a:rect l="l" t="t" r="r" b="b"/>
              <a:pathLst>
                <a:path w="7575296" h="759968">
                  <a:moveTo>
                    <a:pt x="0" y="0"/>
                  </a:moveTo>
                  <a:lnTo>
                    <a:pt x="7575296" y="0"/>
                  </a:lnTo>
                  <a:lnTo>
                    <a:pt x="7575296" y="759968"/>
                  </a:lnTo>
                  <a:lnTo>
                    <a:pt x="0" y="759968"/>
                  </a:lnTo>
                  <a:lnTo>
                    <a:pt x="0" y="0"/>
                  </a:lnTo>
                  <a:close/>
                </a:path>
              </a:pathLst>
            </a:custGeom>
            <a:blipFill>
              <a:blip r:embed="rId2"/>
              <a:stretch>
                <a:fillRect/>
              </a:stretch>
            </a:blipFill>
          </p:spPr>
          <p:txBody>
            <a:bodyPr/>
            <a:lstStyle/>
            <a:p>
              <a:endParaRPr lang="en-SG"/>
            </a:p>
          </p:txBody>
        </p:sp>
      </p:grpSp>
      <p:grpSp>
        <p:nvGrpSpPr>
          <p:cNvPr id="11" name="Group 11"/>
          <p:cNvGrpSpPr/>
          <p:nvPr/>
        </p:nvGrpSpPr>
        <p:grpSpPr>
          <a:xfrm>
            <a:off x="2505456" y="2916936"/>
            <a:ext cx="5681472" cy="3194304"/>
            <a:chOff x="0" y="0"/>
            <a:chExt cx="7575296" cy="4259072"/>
          </a:xfrm>
        </p:grpSpPr>
        <p:sp>
          <p:nvSpPr>
            <p:cNvPr id="12" name="Freeform 12"/>
            <p:cNvSpPr/>
            <p:nvPr/>
          </p:nvSpPr>
          <p:spPr>
            <a:xfrm>
              <a:off x="0" y="0"/>
              <a:ext cx="7575296" cy="4259072"/>
            </a:xfrm>
            <a:custGeom>
              <a:avLst/>
              <a:gdLst/>
              <a:ahLst/>
              <a:cxnLst/>
              <a:rect l="l" t="t" r="r" b="b"/>
              <a:pathLst>
                <a:path w="7575296" h="4259072">
                  <a:moveTo>
                    <a:pt x="0" y="0"/>
                  </a:moveTo>
                  <a:lnTo>
                    <a:pt x="7575296" y="0"/>
                  </a:lnTo>
                  <a:lnTo>
                    <a:pt x="7575296" y="4259072"/>
                  </a:lnTo>
                  <a:lnTo>
                    <a:pt x="0" y="4259072"/>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5185010" cy="523504"/>
          </a:xfrm>
          <a:prstGeom prst="rect">
            <a:avLst/>
          </a:prstGeom>
        </p:spPr>
        <p:txBody>
          <a:bodyPr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Satellite Set-up -Antenna </a:t>
            </a:r>
          </a:p>
        </p:txBody>
      </p:sp>
      <p:pic>
        <p:nvPicPr>
          <p:cNvPr id="14"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6676644" y="1431036"/>
            <a:ext cx="3896868" cy="205740"/>
            <a:chOff x="0" y="0"/>
            <a:chExt cx="5195824" cy="274320"/>
          </a:xfrm>
        </p:grpSpPr>
        <p:sp>
          <p:nvSpPr>
            <p:cNvPr id="10" name="Freeform 10"/>
            <p:cNvSpPr/>
            <p:nvPr/>
          </p:nvSpPr>
          <p:spPr>
            <a:xfrm>
              <a:off x="0" y="0"/>
              <a:ext cx="5195824" cy="274320"/>
            </a:xfrm>
            <a:custGeom>
              <a:avLst/>
              <a:gdLst/>
              <a:ahLst/>
              <a:cxnLst/>
              <a:rect l="l" t="t" r="r" b="b"/>
              <a:pathLst>
                <a:path w="5195824" h="274320">
                  <a:moveTo>
                    <a:pt x="0" y="0"/>
                  </a:moveTo>
                  <a:lnTo>
                    <a:pt x="5195824" y="0"/>
                  </a:lnTo>
                  <a:lnTo>
                    <a:pt x="5195824" y="274320"/>
                  </a:lnTo>
                  <a:lnTo>
                    <a:pt x="0" y="274320"/>
                  </a:lnTo>
                  <a:lnTo>
                    <a:pt x="0" y="0"/>
                  </a:lnTo>
                  <a:close/>
                </a:path>
              </a:pathLst>
            </a:custGeom>
            <a:blipFill>
              <a:blip r:embed="rId2"/>
              <a:stretch>
                <a:fillRect l="-39" t="-740"/>
              </a:stretch>
            </a:blipFill>
          </p:spPr>
          <p:txBody>
            <a:bodyPr/>
            <a:lstStyle/>
            <a:p>
              <a:endParaRPr lang="en-SG"/>
            </a:p>
          </p:txBody>
        </p:sp>
      </p:grpSp>
      <p:grpSp>
        <p:nvGrpSpPr>
          <p:cNvPr id="11" name="Group 11"/>
          <p:cNvGrpSpPr/>
          <p:nvPr/>
        </p:nvGrpSpPr>
        <p:grpSpPr>
          <a:xfrm>
            <a:off x="6676644" y="1633728"/>
            <a:ext cx="3896868" cy="4700016"/>
            <a:chOff x="0" y="0"/>
            <a:chExt cx="5195824" cy="6266688"/>
          </a:xfrm>
        </p:grpSpPr>
        <p:sp>
          <p:nvSpPr>
            <p:cNvPr id="12" name="Freeform 12"/>
            <p:cNvSpPr/>
            <p:nvPr/>
          </p:nvSpPr>
          <p:spPr>
            <a:xfrm>
              <a:off x="0" y="0"/>
              <a:ext cx="5195824" cy="6266688"/>
            </a:xfrm>
            <a:custGeom>
              <a:avLst/>
              <a:gdLst/>
              <a:ahLst/>
              <a:cxnLst/>
              <a:rect l="l" t="t" r="r" b="b"/>
              <a:pathLst>
                <a:path w="5195824" h="6266688">
                  <a:moveTo>
                    <a:pt x="0" y="0"/>
                  </a:moveTo>
                  <a:lnTo>
                    <a:pt x="5195824" y="0"/>
                  </a:lnTo>
                  <a:lnTo>
                    <a:pt x="5195824" y="6266688"/>
                  </a:lnTo>
                  <a:lnTo>
                    <a:pt x="0" y="6266688"/>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6675120" y="6330696"/>
            <a:ext cx="3898392" cy="70104"/>
            <a:chOff x="0" y="0"/>
            <a:chExt cx="3898392" cy="70104"/>
          </a:xfrm>
        </p:grpSpPr>
        <p:sp>
          <p:nvSpPr>
            <p:cNvPr id="14" name="Freeform 14"/>
            <p:cNvSpPr/>
            <p:nvPr/>
          </p:nvSpPr>
          <p:spPr>
            <a:xfrm>
              <a:off x="0" y="0"/>
              <a:ext cx="3898392" cy="70104"/>
            </a:xfrm>
            <a:custGeom>
              <a:avLst/>
              <a:gdLst/>
              <a:ahLst/>
              <a:cxnLst/>
              <a:rect l="l" t="t" r="r" b="b"/>
              <a:pathLst>
                <a:path w="3898392" h="70104">
                  <a:moveTo>
                    <a:pt x="0" y="70104"/>
                  </a:moveTo>
                  <a:lnTo>
                    <a:pt x="3898392" y="70104"/>
                  </a:lnTo>
                  <a:lnTo>
                    <a:pt x="3898392" y="0"/>
                  </a:lnTo>
                  <a:lnTo>
                    <a:pt x="0" y="0"/>
                  </a:lnTo>
                  <a:lnTo>
                    <a:pt x="0" y="70104"/>
                  </a:lnTo>
                  <a:close/>
                </a:path>
              </a:pathLst>
            </a:custGeom>
            <a:solidFill>
              <a:srgbClr val="FFFFFF"/>
            </a:solidFill>
          </p:spPr>
          <p:txBody>
            <a:bodyPr/>
            <a:lstStyle/>
            <a:p>
              <a:endParaRPr lang="en-SG"/>
            </a:p>
          </p:txBody>
        </p:sp>
      </p:grpSp>
      <p:sp>
        <p:nvSpPr>
          <p:cNvPr id="15" name="TextBox 15"/>
          <p:cNvSpPr txBox="1"/>
          <p:nvPr/>
        </p:nvSpPr>
        <p:spPr>
          <a:xfrm>
            <a:off x="1632109" y="1286494"/>
            <a:ext cx="5185286" cy="1688963"/>
          </a:xfrm>
          <a:prstGeom prst="rect">
            <a:avLst/>
          </a:prstGeom>
        </p:spPr>
        <p:txBody>
          <a:bodyPr lIns="0" tIns="0" rIns="0" bIns="0" rtlCol="0" anchor="t">
            <a:spAutoFit/>
          </a:bodyPr>
          <a:lstStyle/>
          <a:p>
            <a:pPr algn="l">
              <a:lnSpc>
                <a:spcPts val="4709"/>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Satellite Set-up -Antenna </a:t>
            </a:r>
          </a:p>
          <a:p>
            <a:pPr algn="l">
              <a:lnSpc>
                <a:spcPts val="2892"/>
              </a:lnSpc>
              <a:defRPr>
                <a:latin typeface="Space Mono"/>
                <a:ea typeface="Space Mono"/>
                <a:cs typeface="Space Mono"/>
              </a:defRPr>
            </a:pPr>
            <a:r>
              <a:rPr lang="en-US" sz="1872" spc="-14">
                <a:solidFill>
                  <a:srgbClr val="000000"/>
                </a:solidFill>
                <a:latin typeface="Space Mono"/>
                <a:ea typeface="Space Mono"/>
                <a:cs typeface="Space Mono"/>
                <a:sym typeface="Montserrat"/>
              </a:rPr>
              <a:t>To insert the M2.5x6, open manually deploy the antennas!</a:t>
            </a:r>
          </a:p>
        </p:txBody>
      </p:sp>
      <p:sp>
        <p:nvSpPr>
          <p:cNvPr id="16" name="TextBox 16"/>
          <p:cNvSpPr txBox="1"/>
          <p:nvPr/>
        </p:nvSpPr>
        <p:spPr>
          <a:xfrm>
            <a:off x="1632109" y="3359487"/>
            <a:ext cx="4529147" cy="721843"/>
          </a:xfrm>
          <a:prstGeom prst="rect">
            <a:avLst/>
          </a:prstGeom>
        </p:spPr>
        <p:txBody>
          <a:bodyPr lIns="0" tIns="0" rIns="0" bIns="0" rtlCol="0" anchor="t">
            <a:spAutoFit/>
          </a:bodyPr>
          <a:lstStyle/>
          <a:p>
            <a:pPr algn="l">
              <a:lnSpc>
                <a:spcPts val="2903"/>
              </a:lnSpc>
              <a:defRPr>
                <a:latin typeface="Space Mono"/>
                <a:ea typeface="Space Mono"/>
                <a:cs typeface="Space Mono"/>
              </a:defRPr>
            </a:pPr>
            <a:r>
              <a:rPr lang="en-US" sz="1872" spc="-14">
                <a:solidFill>
                  <a:srgbClr val="000000"/>
                </a:solidFill>
                <a:latin typeface="Space Mono"/>
                <a:ea typeface="Space Mono"/>
                <a:cs typeface="Space Mono"/>
                <a:sym typeface="Montserrat"/>
              </a:rPr>
              <a:t>Once done, close them back with the pins.</a:t>
            </a:r>
          </a:p>
        </p:txBody>
      </p:sp>
      <p:pic>
        <p:nvPicPr>
          <p:cNvPr id="17"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2607564" y="2057400"/>
            <a:ext cx="6054852" cy="131064"/>
            <a:chOff x="0" y="0"/>
            <a:chExt cx="8073136" cy="174752"/>
          </a:xfrm>
        </p:grpSpPr>
        <p:sp>
          <p:nvSpPr>
            <p:cNvPr id="10" name="Freeform 10"/>
            <p:cNvSpPr/>
            <p:nvPr/>
          </p:nvSpPr>
          <p:spPr>
            <a:xfrm>
              <a:off x="0" y="0"/>
              <a:ext cx="8073136" cy="174752"/>
            </a:xfrm>
            <a:custGeom>
              <a:avLst/>
              <a:gdLst/>
              <a:ahLst/>
              <a:cxnLst/>
              <a:rect l="l" t="t" r="r" b="b"/>
              <a:pathLst>
                <a:path w="8073136" h="174752">
                  <a:moveTo>
                    <a:pt x="0" y="0"/>
                  </a:moveTo>
                  <a:lnTo>
                    <a:pt x="8073136" y="0"/>
                  </a:lnTo>
                  <a:lnTo>
                    <a:pt x="8073136" y="174752"/>
                  </a:lnTo>
                  <a:lnTo>
                    <a:pt x="0" y="174752"/>
                  </a:lnTo>
                  <a:lnTo>
                    <a:pt x="0" y="0"/>
                  </a:lnTo>
                  <a:close/>
                </a:path>
              </a:pathLst>
            </a:custGeom>
            <a:blipFill>
              <a:blip r:embed="rId2"/>
              <a:stretch>
                <a:fillRect l="-25"/>
              </a:stretch>
            </a:blipFill>
          </p:spPr>
          <p:txBody>
            <a:bodyPr/>
            <a:lstStyle/>
            <a:p>
              <a:endParaRPr lang="en-SG"/>
            </a:p>
          </p:txBody>
        </p:sp>
      </p:grpSp>
      <p:grpSp>
        <p:nvGrpSpPr>
          <p:cNvPr id="11" name="Group 11"/>
          <p:cNvGrpSpPr/>
          <p:nvPr/>
        </p:nvGrpSpPr>
        <p:grpSpPr>
          <a:xfrm>
            <a:off x="2607564" y="2185416"/>
            <a:ext cx="6054852" cy="4361688"/>
            <a:chOff x="0" y="0"/>
            <a:chExt cx="8073136" cy="5815584"/>
          </a:xfrm>
        </p:grpSpPr>
        <p:sp>
          <p:nvSpPr>
            <p:cNvPr id="12" name="Freeform 12"/>
            <p:cNvSpPr/>
            <p:nvPr/>
          </p:nvSpPr>
          <p:spPr>
            <a:xfrm>
              <a:off x="0" y="0"/>
              <a:ext cx="8073136" cy="5815584"/>
            </a:xfrm>
            <a:custGeom>
              <a:avLst/>
              <a:gdLst/>
              <a:ahLst/>
              <a:cxnLst/>
              <a:rect l="l" t="t" r="r" b="b"/>
              <a:pathLst>
                <a:path w="8073136" h="5815584">
                  <a:moveTo>
                    <a:pt x="0" y="0"/>
                  </a:moveTo>
                  <a:lnTo>
                    <a:pt x="8073136" y="0"/>
                  </a:lnTo>
                  <a:lnTo>
                    <a:pt x="8073136" y="5815584"/>
                  </a:lnTo>
                  <a:lnTo>
                    <a:pt x="0" y="5815584"/>
                  </a:lnTo>
                  <a:lnTo>
                    <a:pt x="0" y="0"/>
                  </a:lnTo>
                  <a:close/>
                </a:path>
              </a:pathLst>
            </a:custGeom>
            <a:blipFill>
              <a:blip r:embed="rId3"/>
              <a:stretch>
                <a:fillRect/>
              </a:stretch>
            </a:blipFill>
          </p:spPr>
          <p:txBody>
            <a:bodyPr/>
            <a:lstStyle/>
            <a:p>
              <a:endParaRPr lang="en-SG"/>
            </a:p>
          </p:txBody>
        </p:sp>
      </p:grpSp>
      <p:grpSp>
        <p:nvGrpSpPr>
          <p:cNvPr id="13" name="Group 13"/>
          <p:cNvGrpSpPr/>
          <p:nvPr/>
        </p:nvGrpSpPr>
        <p:grpSpPr>
          <a:xfrm>
            <a:off x="2981449" y="5182105"/>
            <a:ext cx="678685" cy="308353"/>
            <a:chOff x="0" y="0"/>
            <a:chExt cx="678688" cy="308356"/>
          </a:xfrm>
        </p:grpSpPr>
        <p:sp>
          <p:nvSpPr>
            <p:cNvPr id="14" name="Freeform 14"/>
            <p:cNvSpPr/>
            <p:nvPr/>
          </p:nvSpPr>
          <p:spPr>
            <a:xfrm>
              <a:off x="69596" y="68072"/>
              <a:ext cx="541020" cy="172212"/>
            </a:xfrm>
            <a:custGeom>
              <a:avLst/>
              <a:gdLst/>
              <a:ahLst/>
              <a:cxnLst/>
              <a:rect l="l" t="t" r="r" b="b"/>
              <a:pathLst>
                <a:path w="541020" h="172212">
                  <a:moveTo>
                    <a:pt x="0" y="0"/>
                  </a:moveTo>
                  <a:lnTo>
                    <a:pt x="541020" y="0"/>
                  </a:lnTo>
                  <a:lnTo>
                    <a:pt x="541020" y="172212"/>
                  </a:lnTo>
                  <a:lnTo>
                    <a:pt x="0" y="172212"/>
                  </a:lnTo>
                  <a:close/>
                </a:path>
              </a:pathLst>
            </a:custGeom>
            <a:solidFill>
              <a:srgbClr val="1B1B1B"/>
            </a:solidFill>
          </p:spPr>
          <p:txBody>
            <a:bodyPr/>
            <a:lstStyle/>
            <a:p>
              <a:endParaRPr lang="en-SG"/>
            </a:p>
          </p:txBody>
        </p:sp>
        <p:sp>
          <p:nvSpPr>
            <p:cNvPr id="15" name="Freeform 15"/>
            <p:cNvSpPr/>
            <p:nvPr/>
          </p:nvSpPr>
          <p:spPr>
            <a:xfrm>
              <a:off x="63500" y="63500"/>
              <a:ext cx="551688" cy="181356"/>
            </a:xfrm>
            <a:custGeom>
              <a:avLst/>
              <a:gdLst/>
              <a:ahLst/>
              <a:cxnLst/>
              <a:rect l="l" t="t" r="r" b="b"/>
              <a:pathLst>
                <a:path w="551688" h="181356">
                  <a:moveTo>
                    <a:pt x="6096" y="169164"/>
                  </a:moveTo>
                  <a:lnTo>
                    <a:pt x="545592" y="169164"/>
                  </a:lnTo>
                  <a:lnTo>
                    <a:pt x="545592" y="175260"/>
                  </a:lnTo>
                  <a:lnTo>
                    <a:pt x="539496" y="175260"/>
                  </a:lnTo>
                  <a:lnTo>
                    <a:pt x="539496" y="6096"/>
                  </a:lnTo>
                  <a:lnTo>
                    <a:pt x="545592" y="6096"/>
                  </a:lnTo>
                  <a:lnTo>
                    <a:pt x="545592" y="12192"/>
                  </a:lnTo>
                  <a:lnTo>
                    <a:pt x="6096" y="12192"/>
                  </a:lnTo>
                  <a:lnTo>
                    <a:pt x="6096" y="6096"/>
                  </a:lnTo>
                  <a:lnTo>
                    <a:pt x="12192" y="6096"/>
                  </a:lnTo>
                  <a:lnTo>
                    <a:pt x="12192" y="175260"/>
                  </a:lnTo>
                  <a:lnTo>
                    <a:pt x="6096" y="175260"/>
                  </a:lnTo>
                  <a:lnTo>
                    <a:pt x="6096" y="169164"/>
                  </a:lnTo>
                  <a:moveTo>
                    <a:pt x="6096" y="181356"/>
                  </a:moveTo>
                  <a:cubicBezTo>
                    <a:pt x="2667" y="181356"/>
                    <a:pt x="0" y="178689"/>
                    <a:pt x="0" y="175260"/>
                  </a:cubicBezTo>
                  <a:lnTo>
                    <a:pt x="0" y="6096"/>
                  </a:lnTo>
                  <a:cubicBezTo>
                    <a:pt x="0" y="2667"/>
                    <a:pt x="2667" y="0"/>
                    <a:pt x="6096" y="0"/>
                  </a:cubicBezTo>
                  <a:lnTo>
                    <a:pt x="545592" y="0"/>
                  </a:lnTo>
                  <a:cubicBezTo>
                    <a:pt x="549021" y="0"/>
                    <a:pt x="551688" y="2667"/>
                    <a:pt x="551688" y="6096"/>
                  </a:cubicBezTo>
                  <a:lnTo>
                    <a:pt x="551688" y="175260"/>
                  </a:lnTo>
                  <a:cubicBezTo>
                    <a:pt x="551688" y="178689"/>
                    <a:pt x="549021" y="181356"/>
                    <a:pt x="545592" y="181356"/>
                  </a:cubicBezTo>
                  <a:lnTo>
                    <a:pt x="6096" y="181356"/>
                  </a:lnTo>
                  <a:close/>
                </a:path>
              </a:pathLst>
            </a:custGeom>
            <a:solidFill>
              <a:srgbClr val="2C2C2C"/>
            </a:solidFill>
          </p:spPr>
          <p:txBody>
            <a:bodyPr/>
            <a:lstStyle/>
            <a:p>
              <a:endParaRPr lang="en-SG"/>
            </a:p>
          </p:txBody>
        </p:sp>
      </p:grpSp>
      <p:sp>
        <p:nvSpPr>
          <p:cNvPr id="16" name="TextBox 16"/>
          <p:cNvSpPr txBox="1"/>
          <p:nvPr/>
        </p:nvSpPr>
        <p:spPr>
          <a:xfrm>
            <a:off x="1632385" y="1334119"/>
            <a:ext cx="5482723" cy="523504"/>
          </a:xfrm>
          <a:prstGeom prst="rect">
            <a:avLst/>
          </a:prstGeom>
        </p:spPr>
        <p:txBody>
          <a:bodyPr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Satellite Set-up -Discussion</a:t>
            </a:r>
          </a:p>
        </p:txBody>
      </p:sp>
      <p:pic>
        <p:nvPicPr>
          <p:cNvPr id="17"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TextBox 9"/>
          <p:cNvSpPr txBox="1"/>
          <p:nvPr/>
        </p:nvSpPr>
        <p:spPr>
          <a:xfrm>
            <a:off x="1632385" y="1334119"/>
            <a:ext cx="5120640" cy="523504"/>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100">
                <a:solidFill>
                  <a:srgbClr val="2C2C2C"/>
                </a:solidFill>
                <a:latin typeface="House Movements Runway"/>
                <a:ea typeface="House Movements Runway"/>
                <a:cs typeface="House Movements Runway"/>
                <a:sym typeface="Montserrat"/>
              </a:rPr>
              <a:t>First code on the ground station</a:t>
            </a:r>
          </a:p>
        </p:txBody>
      </p:sp>
      <p:sp>
        <p:nvSpPr>
          <p:cNvPr id="10" name="TextBox 10"/>
          <p:cNvSpPr txBox="1"/>
          <p:nvPr/>
        </p:nvSpPr>
        <p:spPr>
          <a:xfrm>
            <a:off x="2066684" y="2111603"/>
            <a:ext cx="7699581" cy="3232203"/>
          </a:xfrm>
          <a:prstGeom prst="rect">
            <a:avLst/>
          </a:prstGeom>
        </p:spPr>
        <p:txBody>
          <a:bodyPr lIns="0" tIns="0" rIns="0" bIns="0" rtlCol="0" anchor="t">
            <a:spAutoFit/>
          </a:bodyPr>
          <a:lstStyle/>
          <a:p>
            <a:pPr algn="just">
              <a:lnSpc>
                <a:spcPts val="2895"/>
              </a:lnSpc>
            </a:pPr>
            <a:endParaRPr/>
          </a:p>
          <a:p>
            <a:pPr algn="just">
              <a:lnSpc>
                <a:spcPts val="2895"/>
              </a:lnSpc>
              <a:defRPr>
                <a:latin typeface="Ubuntu"/>
                <a:ea typeface="Ubuntu"/>
                <a:cs typeface="Ubuntu"/>
              </a:defRPr>
            </a:pPr>
            <a:r>
              <a:rPr lang="en-US" sz="1872" spc="-14">
                <a:solidFill>
                  <a:srgbClr val="000000"/>
                </a:solidFill>
                <a:latin typeface="Ubuntu"/>
                <a:ea typeface="Ubuntu"/>
                <a:cs typeface="Ubuntu"/>
                <a:sym typeface="Montserrat"/>
              </a:rPr>
              <a:t>Write a code to turn on one LED if the serial monitor is available (send whatever letter to see if it works). If nothing is sent, the LED should stay off.</a:t>
            </a:r>
          </a:p>
          <a:p>
            <a:pPr algn="just">
              <a:lnSpc>
                <a:spcPts val="2895"/>
              </a:lnSpc>
              <a:defRPr>
                <a:latin typeface="Ubuntu"/>
                <a:ea typeface="Ubuntu"/>
                <a:cs typeface="Ubuntu"/>
              </a:defRPr>
            </a:pPr>
            <a:r>
              <a:rPr lang="en-US" sz="1872" spc="-14">
                <a:solidFill>
                  <a:srgbClr val="000000"/>
                </a:solidFill>
                <a:latin typeface="Ubuntu"/>
                <a:ea typeface="Ubuntu"/>
                <a:cs typeface="Ubuntu"/>
                <a:sym typeface="Montserrat"/>
              </a:rPr>
              <a:t>Write a code to turn on one LED with a CHARACTER ( serial). E.g. If i send ‘A’ the LED turns on. Similarlym try with string as well.</a:t>
            </a:r>
          </a:p>
          <a:p>
            <a:pPr algn="just">
              <a:lnSpc>
                <a:spcPts val="2895"/>
              </a:lnSpc>
            </a:pPr>
            <a:endParaRPr lang="en-US" sz="1872" spc="-14">
              <a:solidFill>
                <a:srgbClr val="000000"/>
              </a:solidFill>
              <a:latin typeface="Montserrat"/>
              <a:ea typeface="Montserrat"/>
              <a:cs typeface="Montserrat"/>
              <a:sym typeface="Montserrat"/>
            </a:endParaRPr>
          </a:p>
          <a:p>
            <a:pPr algn="just">
              <a:lnSpc>
                <a:spcPts val="2895"/>
              </a:lnSpc>
            </a:pPr>
            <a:endParaRPr lang="en-US" sz="1872" spc="-14">
              <a:solidFill>
                <a:srgbClr val="000000"/>
              </a:solidFill>
              <a:latin typeface="Montserrat"/>
              <a:ea typeface="Montserrat"/>
              <a:cs typeface="Montserrat"/>
              <a:sym typeface="Montserrat"/>
            </a:endParaRPr>
          </a:p>
          <a:p>
            <a:pPr algn="just">
              <a:lnSpc>
                <a:spcPts val="2895"/>
              </a:lnSpc>
            </a:pPr>
            <a:endParaRPr lang="en-US" sz="1872" spc="-14">
              <a:solidFill>
                <a:srgbClr val="000000"/>
              </a:solidFill>
              <a:latin typeface="Montserrat"/>
              <a:ea typeface="Montserrat"/>
              <a:cs typeface="Montserrat"/>
              <a:sym typeface="Montserrat"/>
            </a:endParaRPr>
          </a:p>
        </p:txBody>
      </p:sp>
      <p:pic>
        <p:nvPicPr>
          <p:cNvPr id="11" name="MainLogo" descr="MainLogo.png"/>
          <p:cNvPicPr>
            <a:picLocks noChangeAspect="1"/>
          </p:cNvPicPr>
          <p:nvPr/>
        </p:nvPicPr>
        <p:blipFill>
          <a:blip r:embed="rId2"/>
          <a:stretch>
            <a:fillRect/>
          </a:stretch>
        </p:blipFill>
        <p:spPr>
          <a:xfrm>
            <a:off x="8398256" y="301752"/>
            <a:ext cx="1965960" cy="6558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a:p>
          </p:txBody>
        </p:sp>
      </p:grpSp>
      <p:grpSp>
        <p:nvGrpSpPr>
          <p:cNvPr id="9" name="Group 9"/>
          <p:cNvGrpSpPr/>
          <p:nvPr/>
        </p:nvGrpSpPr>
        <p:grpSpPr>
          <a:xfrm>
            <a:off x="4279392" y="4381500"/>
            <a:ext cx="3112008" cy="1040892"/>
            <a:chOff x="0" y="0"/>
            <a:chExt cx="4149344" cy="1387856"/>
          </a:xfrm>
        </p:grpSpPr>
        <p:sp>
          <p:nvSpPr>
            <p:cNvPr id="10" name="Freeform 10"/>
            <p:cNvSpPr/>
            <p:nvPr/>
          </p:nvSpPr>
          <p:spPr>
            <a:xfrm>
              <a:off x="0" y="0"/>
              <a:ext cx="4149344" cy="1387856"/>
            </a:xfrm>
            <a:custGeom>
              <a:avLst/>
              <a:gdLst/>
              <a:ahLst/>
              <a:cxnLst/>
              <a:rect l="l" t="t" r="r" b="b"/>
              <a:pathLst>
                <a:path w="4149344" h="1387856">
                  <a:moveTo>
                    <a:pt x="0" y="0"/>
                  </a:moveTo>
                  <a:lnTo>
                    <a:pt x="4149344" y="0"/>
                  </a:lnTo>
                  <a:lnTo>
                    <a:pt x="4149344" y="1387856"/>
                  </a:lnTo>
                  <a:lnTo>
                    <a:pt x="0" y="1387856"/>
                  </a:lnTo>
                  <a:lnTo>
                    <a:pt x="0" y="0"/>
                  </a:lnTo>
                  <a:close/>
                </a:path>
              </a:pathLst>
            </a:custGeom>
            <a:blipFill>
              <a:blip r:embed="rId2"/>
              <a:stretch>
                <a:fillRect t="-146"/>
              </a:stretch>
            </a:blipFill>
          </p:spPr>
          <p:txBody>
            <a:bodyPr/>
            <a:lstStyle/>
            <a:p>
              <a:endParaRPr/>
            </a:p>
          </p:txBody>
        </p:sp>
      </p:grpSp>
      <p:grpSp>
        <p:nvGrpSpPr>
          <p:cNvPr id="11" name="Group 11"/>
          <p:cNvGrpSpPr/>
          <p:nvPr/>
        </p:nvGrpSpPr>
        <p:grpSpPr>
          <a:xfrm>
            <a:off x="4279392" y="5419344"/>
            <a:ext cx="3112008" cy="1011936"/>
            <a:chOff x="0" y="0"/>
            <a:chExt cx="4149344" cy="1349248"/>
          </a:xfrm>
        </p:grpSpPr>
        <p:sp>
          <p:nvSpPr>
            <p:cNvPr id="12" name="Freeform 12"/>
            <p:cNvSpPr/>
            <p:nvPr/>
          </p:nvSpPr>
          <p:spPr>
            <a:xfrm>
              <a:off x="0" y="0"/>
              <a:ext cx="4149344" cy="1349248"/>
            </a:xfrm>
            <a:custGeom>
              <a:avLst/>
              <a:gdLst/>
              <a:ahLst/>
              <a:cxnLst/>
              <a:rect l="l" t="t" r="r" b="b"/>
              <a:pathLst>
                <a:path w="4149344" h="1349248">
                  <a:moveTo>
                    <a:pt x="0" y="0"/>
                  </a:moveTo>
                  <a:lnTo>
                    <a:pt x="4149344" y="0"/>
                  </a:lnTo>
                  <a:lnTo>
                    <a:pt x="4149344" y="1349248"/>
                  </a:lnTo>
                  <a:lnTo>
                    <a:pt x="0" y="1349248"/>
                  </a:lnTo>
                  <a:lnTo>
                    <a:pt x="0" y="0"/>
                  </a:lnTo>
                  <a:close/>
                </a:path>
              </a:pathLst>
            </a:custGeom>
            <a:blipFill>
              <a:blip r:embed="rId3"/>
              <a:stretch>
                <a:fillRect/>
              </a:stretch>
            </a:blipFill>
          </p:spPr>
          <p:txBody>
            <a:bodyPr/>
            <a:lstStyle/>
            <a:p>
              <a:endParaRPr/>
            </a:p>
          </p:txBody>
        </p:sp>
      </p:grpSp>
      <p:sp>
        <p:nvSpPr>
          <p:cNvPr id="13" name="TextBox 13"/>
          <p:cNvSpPr txBox="1"/>
          <p:nvPr/>
        </p:nvSpPr>
        <p:spPr>
          <a:xfrm>
            <a:off x="1632204" y="1334119"/>
            <a:ext cx="5120640" cy="1171146"/>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600">
                <a:solidFill>
                  <a:srgbClr val="2C2C2C"/>
                </a:solidFill>
                <a:latin typeface="House Movements Runway"/>
                <a:ea typeface="House Movements Runway"/>
                <a:cs typeface="House Movements Runway"/>
                <a:sym typeface="Montserrat"/>
              </a:rPr>
              <a:t>Over to the ground station</a:t>
            </a:r>
          </a:p>
          <a:p>
            <a:pPr algn="l">
              <a:lnSpc>
                <a:spcPts val="2116"/>
              </a:lnSpc>
              <a:defRPr>
                <a:latin typeface="Ubuntu"/>
                <a:ea typeface="Ubuntu"/>
                <a:cs typeface="Ubuntu"/>
              </a:defRPr>
            </a:pPr>
            <a:r>
              <a:rPr lang="en-US" sz="1512" spc="-9">
                <a:solidFill>
                  <a:srgbClr val="000000"/>
                </a:solidFill>
                <a:latin typeface="Ubuntu"/>
                <a:ea typeface="Ubuntu"/>
                <a:cs typeface="Ubuntu"/>
                <a:sym typeface="Montserrat"/>
              </a:rPr>
              <a:t>Now, let's shift our focus from the CubeSat to the ground station. </a:t>
            </a:r>
          </a:p>
        </p:txBody>
      </p:sp>
      <p:sp>
        <p:nvSpPr>
          <p:cNvPr id="14" name="TextBox 14"/>
          <p:cNvSpPr txBox="1"/>
          <p:nvPr/>
        </p:nvSpPr>
        <p:spPr>
          <a:xfrm>
            <a:off x="1632204" y="3414474"/>
            <a:ext cx="8143456" cy="585549"/>
          </a:xfrm>
          <a:prstGeom prst="rect">
            <a:avLst/>
          </a:prstGeom>
        </p:spPr>
        <p:txBody>
          <a:bodyPr lIns="0" tIns="0" rIns="0" bIns="0" rtlCol="0" anchor="t">
            <a:spAutoFit/>
          </a:bodyPr>
          <a:lstStyle/>
          <a:p>
            <a:pPr algn="l">
              <a:lnSpc>
                <a:spcPts val="2339"/>
              </a:lnSpc>
              <a:defRPr>
                <a:latin typeface="Ubuntu"/>
                <a:ea typeface="Ubuntu"/>
                <a:cs typeface="Ubuntu"/>
              </a:defRPr>
            </a:pPr>
            <a:r>
              <a:rPr lang="en-US" sz="1512" spc="-7">
                <a:solidFill>
                  <a:srgbClr val="000000"/>
                </a:solidFill>
                <a:latin typeface="Ubuntu"/>
                <a:ea typeface="Ubuntu"/>
                <a:cs typeface="Ubuntu"/>
                <a:sym typeface="Montserrat"/>
              </a:rPr>
              <a:t>My ground station will serve as the receiver for all your ground station messages, as there is no cryptography involved.</a:t>
            </a:r>
          </a:p>
        </p:txBody>
      </p:sp>
      <p:sp>
        <p:nvSpPr>
          <p:cNvPr id="15" name="TextBox 15"/>
          <p:cNvSpPr txBox="1"/>
          <p:nvPr/>
        </p:nvSpPr>
        <p:spPr>
          <a:xfrm>
            <a:off x="1632204" y="2834602"/>
            <a:ext cx="8454885"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9">
                <a:solidFill>
                  <a:srgbClr val="000000"/>
                </a:solidFill>
                <a:latin typeface="Ubuntu"/>
                <a:ea typeface="Ubuntu"/>
                <a:cs typeface="Ubuntu"/>
                <a:sym typeface="Montserrat"/>
              </a:rPr>
              <a:t>We will explore data transmission by uploading code exclusively to the ground station. </a:t>
            </a:r>
          </a:p>
        </p:txBody>
      </p:sp>
      <p:pic>
        <p:nvPicPr>
          <p:cNvPr id="16"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a:p>
          </p:txBody>
        </p:sp>
      </p:grpSp>
      <p:grpSp>
        <p:nvGrpSpPr>
          <p:cNvPr id="9" name="Group 9"/>
          <p:cNvGrpSpPr/>
          <p:nvPr/>
        </p:nvGrpSpPr>
        <p:grpSpPr>
          <a:xfrm>
            <a:off x="1821180" y="236372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1" name="Group 11"/>
          <p:cNvGrpSpPr/>
          <p:nvPr/>
        </p:nvGrpSpPr>
        <p:grpSpPr>
          <a:xfrm>
            <a:off x="1821180" y="2961132"/>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21336"/>
                  </a:cubicBezTo>
                  <a:cubicBezTo>
                    <a:pt x="1524" y="27432"/>
                    <a:pt x="0" y="35052"/>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5052"/>
                    <a:pt x="80772" y="27432"/>
                    <a:pt x="77724" y="21336"/>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3" name="Group 13"/>
          <p:cNvGrpSpPr/>
          <p:nvPr/>
        </p:nvGrpSpPr>
        <p:grpSpPr>
          <a:xfrm>
            <a:off x="1821180" y="3560064"/>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5" name="Group 15"/>
          <p:cNvGrpSpPr/>
          <p:nvPr/>
        </p:nvGrpSpPr>
        <p:grpSpPr>
          <a:xfrm>
            <a:off x="1821180" y="4157472"/>
            <a:ext cx="83820" cy="83820"/>
            <a:chOff x="0" y="0"/>
            <a:chExt cx="83820" cy="83820"/>
          </a:xfrm>
        </p:grpSpPr>
        <p:sp>
          <p:nvSpPr>
            <p:cNvPr id="16" name="Freeform 16"/>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7" name="Group 17"/>
          <p:cNvGrpSpPr/>
          <p:nvPr/>
        </p:nvGrpSpPr>
        <p:grpSpPr>
          <a:xfrm>
            <a:off x="1821180" y="4456176"/>
            <a:ext cx="83820" cy="83820"/>
            <a:chOff x="0" y="0"/>
            <a:chExt cx="83820" cy="83820"/>
          </a:xfrm>
        </p:grpSpPr>
        <p:sp>
          <p:nvSpPr>
            <p:cNvPr id="18" name="Freeform 18"/>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8956"/>
                    <a:pt x="0" y="35052"/>
                    <a:pt x="0" y="42672"/>
                  </a:cubicBezTo>
                  <a:cubicBezTo>
                    <a:pt x="0" y="53340"/>
                    <a:pt x="3048" y="64008"/>
                    <a:pt x="12192" y="71628"/>
                  </a:cubicBezTo>
                  <a:cubicBezTo>
                    <a:pt x="19812" y="80772"/>
                    <a:pt x="28956" y="83820"/>
                    <a:pt x="41148" y="83820"/>
                  </a:cubicBezTo>
                  <a:cubicBezTo>
                    <a:pt x="53340" y="83820"/>
                    <a:pt x="62484" y="80772"/>
                    <a:pt x="70104" y="71628"/>
                  </a:cubicBezTo>
                  <a:cubicBezTo>
                    <a:pt x="79248" y="64008"/>
                    <a:pt x="83820" y="53340"/>
                    <a:pt x="83820" y="42672"/>
                  </a:cubicBezTo>
                  <a:cubicBezTo>
                    <a:pt x="83820" y="35052"/>
                    <a:pt x="80772" y="28956"/>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000000"/>
            </a:solidFill>
          </p:spPr>
          <p:txBody>
            <a:bodyPr/>
            <a:lstStyle/>
            <a:p>
              <a:endParaRPr/>
            </a:p>
          </p:txBody>
        </p:sp>
      </p:grpSp>
      <p:sp>
        <p:nvSpPr>
          <p:cNvPr id="19" name="TextBox 19"/>
          <p:cNvSpPr txBox="1"/>
          <p:nvPr/>
        </p:nvSpPr>
        <p:spPr>
          <a:xfrm>
            <a:off x="1632385" y="1334119"/>
            <a:ext cx="5120640" cy="523504"/>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100">
                <a:solidFill>
                  <a:srgbClr val="2C2C2C"/>
                </a:solidFill>
                <a:latin typeface="House Movements Runway"/>
                <a:ea typeface="House Movements Runway"/>
                <a:cs typeface="House Movements Runway"/>
                <a:sym typeface="Montserrat"/>
              </a:rPr>
              <a:t>Sending a first message over LoRa</a:t>
            </a:r>
          </a:p>
        </p:txBody>
      </p:sp>
      <p:sp>
        <p:nvSpPr>
          <p:cNvPr id="20" name="TextBox 20"/>
          <p:cNvSpPr txBox="1"/>
          <p:nvPr/>
        </p:nvSpPr>
        <p:spPr>
          <a:xfrm>
            <a:off x="2167185" y="2218163"/>
            <a:ext cx="7939764" cy="2380783"/>
          </a:xfrm>
          <a:prstGeom prst="rect">
            <a:avLst/>
          </a:prstGeom>
        </p:spPr>
        <p:txBody>
          <a:bodyPr lIns="0" tIns="0" rIns="0" bIns="0" rtlCol="0" anchor="t">
            <a:spAutoFit/>
          </a:bodyPr>
          <a:lstStyle/>
          <a:p>
            <a:pPr algn="l">
              <a:lnSpc>
                <a:spcPts val="2352"/>
              </a:lnSpc>
              <a:defRPr>
                <a:latin typeface="Ubuntu"/>
                <a:ea typeface="Ubuntu"/>
                <a:cs typeface="Ubuntu"/>
              </a:defRPr>
            </a:pPr>
            <a:r>
              <a:rPr lang="en-US" sz="1512" spc="-7">
                <a:solidFill>
                  <a:srgbClr val="000000"/>
                </a:solidFill>
                <a:latin typeface="Ubuntu"/>
                <a:ea typeface="Ubuntu"/>
                <a:cs typeface="Ubuntu"/>
                <a:sym typeface="Montserrat"/>
              </a:rPr>
              <a:t>Find the appropriate LoRa example (File &gt; Examples &gt; LoRa) for transmitting and open it.</a:t>
            </a:r>
          </a:p>
          <a:p>
            <a:pPr algn="l">
              <a:lnSpc>
                <a:spcPts val="2352"/>
              </a:lnSpc>
              <a:defRPr>
                <a:latin typeface="Ubuntu"/>
                <a:ea typeface="Ubuntu"/>
                <a:cs typeface="Ubuntu"/>
              </a:defRPr>
            </a:pPr>
            <a:r>
              <a:rPr lang="en-US" sz="1512" spc="-7">
                <a:solidFill>
                  <a:srgbClr val="000000"/>
                </a:solidFill>
                <a:latin typeface="Ubuntu"/>
                <a:ea typeface="Ubuntu"/>
                <a:cs typeface="Ubuntu"/>
                <a:sym typeface="Montserrat"/>
              </a:rPr>
              <a:t>Always use the LoRa.println() function to send messages to the receiving ground station.</a:t>
            </a:r>
          </a:p>
          <a:p>
            <a:pPr algn="l">
              <a:lnSpc>
                <a:spcPts val="2352"/>
              </a:lnSpc>
              <a:defRPr>
                <a:latin typeface="Ubuntu"/>
                <a:ea typeface="Ubuntu"/>
                <a:cs typeface="Ubuntu"/>
              </a:defRPr>
            </a:pPr>
            <a:r>
              <a:rPr lang="en-US" sz="1512" spc="-7">
                <a:solidFill>
                  <a:srgbClr val="000000"/>
                </a:solidFill>
                <a:latin typeface="Ubuntu"/>
                <a:ea typeface="Ubuntu"/>
                <a:cs typeface="Ubuntu"/>
                <a:sym typeface="Montserrat"/>
              </a:rPr>
              <a:t>In the example you will find a counter, remove it so that you send only one message (one every 5 seconds) -stick to this delay time.</a:t>
            </a:r>
          </a:p>
          <a:p>
            <a:pPr algn="l">
              <a:lnSpc>
                <a:spcPts val="2352"/>
              </a:lnSpc>
              <a:defRPr>
                <a:latin typeface="Space Mono"/>
                <a:ea typeface="Space Mono"/>
                <a:cs typeface="Space Mono"/>
              </a:defRPr>
            </a:pPr>
            <a:r>
              <a:rPr lang="en-US" sz="1512" spc="-7">
                <a:solidFill>
                  <a:srgbClr val="000000"/>
                </a:solidFill>
                <a:latin typeface="Space Mono"/>
                <a:ea typeface="Space Mono"/>
                <a:cs typeface="Space Mono"/>
                <a:sym typeface="Montserrat"/>
              </a:rPr>
              <a:t>The correct frequency is 434E6.</a:t>
            </a:r>
          </a:p>
          <a:p>
            <a:pPr algn="l">
              <a:lnSpc>
                <a:spcPts val="2352"/>
              </a:lnSpc>
              <a:defRPr>
                <a:latin typeface="Space Mono"/>
                <a:ea typeface="Space Mono"/>
                <a:cs typeface="Space Mono"/>
              </a:defRPr>
            </a:pPr>
            <a:r>
              <a:rPr lang="en-US" sz="1512" spc="-7">
                <a:solidFill>
                  <a:srgbClr val="000000"/>
                </a:solidFill>
                <a:latin typeface="Space Mono"/>
                <a:ea typeface="Space Mono"/>
                <a:cs typeface="Space Mono"/>
                <a:sym typeface="Montserrat"/>
              </a:rPr>
              <a:t>Send to my GS a message! Keep it short!</a:t>
            </a:r>
          </a:p>
        </p:txBody>
      </p:sp>
      <p:pic>
        <p:nvPicPr>
          <p:cNvPr id="21" name="MainLogo" descr="MainLogo.png"/>
          <p:cNvPicPr>
            <a:picLocks noChangeAspect="1"/>
          </p:cNvPicPr>
          <p:nvPr/>
        </p:nvPicPr>
        <p:blipFill>
          <a:blip r:embed="rId2"/>
          <a:stretch>
            <a:fillRect/>
          </a:stretch>
        </p:blipFill>
        <p:spPr>
          <a:xfrm>
            <a:off x="8398256" y="301752"/>
            <a:ext cx="1965960" cy="655844"/>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a:p>
          </p:txBody>
        </p:sp>
      </p:grpSp>
      <p:grpSp>
        <p:nvGrpSpPr>
          <p:cNvPr id="9" name="Group 9"/>
          <p:cNvGrpSpPr/>
          <p:nvPr/>
        </p:nvGrpSpPr>
        <p:grpSpPr>
          <a:xfrm>
            <a:off x="4565904" y="4151376"/>
            <a:ext cx="1560576" cy="1562100"/>
            <a:chOff x="0" y="0"/>
            <a:chExt cx="2080768" cy="2082800"/>
          </a:xfrm>
        </p:grpSpPr>
        <p:sp>
          <p:nvSpPr>
            <p:cNvPr id="10" name="Freeform 10"/>
            <p:cNvSpPr/>
            <p:nvPr/>
          </p:nvSpPr>
          <p:spPr>
            <a:xfrm>
              <a:off x="0" y="0"/>
              <a:ext cx="2080768" cy="2082800"/>
            </a:xfrm>
            <a:custGeom>
              <a:avLst/>
              <a:gdLst/>
              <a:ahLst/>
              <a:cxnLst/>
              <a:rect l="l" t="t" r="r" b="b"/>
              <a:pathLst>
                <a:path w="2080768" h="2082800">
                  <a:moveTo>
                    <a:pt x="0" y="0"/>
                  </a:moveTo>
                  <a:lnTo>
                    <a:pt x="2080768" y="0"/>
                  </a:lnTo>
                  <a:lnTo>
                    <a:pt x="2080768" y="2082800"/>
                  </a:lnTo>
                  <a:lnTo>
                    <a:pt x="0" y="2082800"/>
                  </a:lnTo>
                  <a:lnTo>
                    <a:pt x="0" y="0"/>
                  </a:lnTo>
                  <a:close/>
                </a:path>
              </a:pathLst>
            </a:custGeom>
            <a:blipFill>
              <a:blip r:embed="rId2"/>
              <a:stretch>
                <a:fillRect l="-292" t="-195" b="-97"/>
              </a:stretch>
            </a:blipFill>
          </p:spPr>
          <p:txBody>
            <a:bodyPr/>
            <a:lstStyle/>
            <a:p>
              <a:endParaRPr/>
            </a:p>
          </p:txBody>
        </p:sp>
      </p:grpSp>
      <p:sp>
        <p:nvSpPr>
          <p:cNvPr id="11" name="TextBox 11"/>
          <p:cNvSpPr txBox="1"/>
          <p:nvPr/>
        </p:nvSpPr>
        <p:spPr>
          <a:xfrm>
            <a:off x="1632204" y="1286494"/>
            <a:ext cx="5120640" cy="2415083"/>
          </a:xfrm>
          <a:prstGeom prst="rect">
            <a:avLst/>
          </a:prstGeom>
        </p:spPr>
        <p:txBody>
          <a:bodyPr wrap="square" lIns="0" tIns="0" rIns="0" bIns="0" rtlCol="0" anchor="t">
            <a:spAutoFit/>
          </a:bodyPr>
          <a:lstStyle/>
          <a:p>
            <a:pPr algn="just">
              <a:lnSpc>
                <a:spcPts val="4745"/>
              </a:lnSpc>
              <a:defRPr>
                <a:latin typeface="House Movements Runway"/>
                <a:ea typeface="House Movements Runway"/>
                <a:cs typeface="House Movements Runway"/>
              </a:defRPr>
            </a:pPr>
            <a:r>
              <a:rPr lang="en-US" sz="2300">
                <a:solidFill>
                  <a:srgbClr val="2C2C2C"/>
                </a:solidFill>
                <a:latin typeface="House Movements Runway"/>
                <a:ea typeface="House Movements Runway"/>
                <a:cs typeface="House Movements Runway"/>
                <a:sym typeface="Montserrat"/>
              </a:rPr>
              <a:t>Checking the range of the link</a:t>
            </a:r>
          </a:p>
          <a:p>
            <a:pPr algn="just">
              <a:lnSpc>
                <a:spcPts val="2354"/>
              </a:lnSpc>
              <a:defRPr>
                <a:latin typeface="Ubuntu"/>
                <a:ea typeface="Ubuntu"/>
                <a:cs typeface="Ubuntu"/>
              </a:defRPr>
            </a:pPr>
            <a:r>
              <a:rPr lang="en-US" sz="1512" spc="-9">
                <a:solidFill>
                  <a:srgbClr val="000000"/>
                </a:solidFill>
                <a:latin typeface="Ubuntu"/>
                <a:ea typeface="Ubuntu"/>
                <a:cs typeface="Ubuntu"/>
                <a:sym typeface="Montserrat"/>
              </a:rPr>
              <a:t>Now, keep the Arduino connected to your ground station. Take your PC, divide your team, with some members staying inside the room and others going outside to move around the area, checking the range of communication. Use your smartphone to call your teammates and determine exactly when the communication stops. Ensure that the message you send includes your identification.</a:t>
            </a:r>
          </a:p>
        </p:txBody>
      </p:sp>
      <p:pic>
        <p:nvPicPr>
          <p:cNvPr id="12" name="MainLogo" descr="MainLogo.png"/>
          <p:cNvPicPr>
            <a:picLocks noChangeAspect="1"/>
          </p:cNvPicPr>
          <p:nvPr/>
        </p:nvPicPr>
        <p:blipFill>
          <a:blip r:embed="rId3"/>
          <a:stretch>
            <a:fillRect/>
          </a:stretch>
        </p:blipFill>
        <p:spPr>
          <a:xfrm>
            <a:off x="8398256" y="301752"/>
            <a:ext cx="1965960" cy="65584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a:p>
          </p:txBody>
        </p:sp>
      </p:grpSp>
      <p:grpSp>
        <p:nvGrpSpPr>
          <p:cNvPr id="9" name="Group 9"/>
          <p:cNvGrpSpPr/>
          <p:nvPr/>
        </p:nvGrpSpPr>
        <p:grpSpPr>
          <a:xfrm>
            <a:off x="1821180" y="236372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grpSp>
        <p:nvGrpSpPr>
          <p:cNvPr id="11" name="Group 11"/>
          <p:cNvGrpSpPr/>
          <p:nvPr/>
        </p:nvGrpSpPr>
        <p:grpSpPr>
          <a:xfrm>
            <a:off x="1821180" y="3261360"/>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sp>
        <p:nvSpPr>
          <p:cNvPr id="13" name="TextBox 13"/>
          <p:cNvSpPr txBox="1"/>
          <p:nvPr/>
        </p:nvSpPr>
        <p:spPr>
          <a:xfrm>
            <a:off x="1632385" y="1334119"/>
            <a:ext cx="5120640" cy="523504"/>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400">
                <a:solidFill>
                  <a:srgbClr val="2C2C2C"/>
                </a:solidFill>
                <a:latin typeface="House Movements Runway"/>
                <a:ea typeface="House Movements Runway"/>
                <a:cs typeface="House Movements Runway"/>
                <a:sym typeface="Montserrat"/>
              </a:rPr>
              <a:t>Sending a message on command</a:t>
            </a:r>
          </a:p>
        </p:txBody>
      </p:sp>
      <p:sp>
        <p:nvSpPr>
          <p:cNvPr id="14" name="TextBox 14"/>
          <p:cNvSpPr txBox="1"/>
          <p:nvPr/>
        </p:nvSpPr>
        <p:spPr>
          <a:xfrm>
            <a:off x="2167185" y="2218163"/>
            <a:ext cx="8008315" cy="1169697"/>
          </a:xfrm>
          <a:prstGeom prst="rect">
            <a:avLst/>
          </a:prstGeom>
        </p:spPr>
        <p:txBody>
          <a:bodyPr lIns="0" tIns="0" rIns="0" bIns="0" rtlCol="0" anchor="t">
            <a:spAutoFit/>
          </a:bodyPr>
          <a:lstStyle/>
          <a:p>
            <a:pPr algn="l">
              <a:lnSpc>
                <a:spcPts val="2354"/>
              </a:lnSpc>
              <a:defRPr>
                <a:latin typeface="Ubuntu"/>
                <a:ea typeface="Ubuntu"/>
                <a:cs typeface="Ubuntu"/>
              </a:defRPr>
            </a:pPr>
            <a:r>
              <a:rPr lang="en-US" sz="1512" spc="-7">
                <a:solidFill>
                  <a:srgbClr val="000000"/>
                </a:solidFill>
                <a:latin typeface="Ubuntu"/>
                <a:ea typeface="Ubuntu"/>
                <a:cs typeface="Ubuntu"/>
                <a:sym typeface="Montserrat"/>
              </a:rPr>
              <a:t>The code from the previous exercise continuously sends the uploaded message on Arduino. Find a way to input a message in the serial monitor (using Serial.read) and ensure it is sent only once. If possible try to send the message with timestamp along with it. (Time stamp optional)</a:t>
            </a:r>
          </a:p>
        </p:txBody>
      </p:sp>
      <p:sp>
        <p:nvSpPr>
          <p:cNvPr id="15" name="TextBox 15"/>
          <p:cNvSpPr txBox="1"/>
          <p:nvPr/>
        </p:nvSpPr>
        <p:spPr>
          <a:xfrm>
            <a:off x="1429050" y="4793085"/>
            <a:ext cx="2687260" cy="588816"/>
          </a:xfrm>
          <a:prstGeom prst="rect">
            <a:avLst/>
          </a:prstGeom>
        </p:spPr>
        <p:txBody>
          <a:bodyPr lIns="0" tIns="0" rIns="0" bIns="0" rtlCol="0" anchor="t">
            <a:spAutoFit/>
          </a:bodyPr>
          <a:lstStyle/>
          <a:p>
            <a:pPr algn="l">
              <a:lnSpc>
                <a:spcPts val="2364"/>
              </a:lnSpc>
              <a:defRPr>
                <a:latin typeface="Space Mono"/>
                <a:ea typeface="Space Mono"/>
                <a:cs typeface="Space Mono"/>
              </a:defRPr>
            </a:pPr>
            <a:r>
              <a:rPr lang="en-US" sz="1512" spc="-9">
                <a:solidFill>
                  <a:srgbClr val="000000"/>
                </a:solidFill>
                <a:latin typeface="Space Mono"/>
                <a:ea typeface="Space Mono"/>
                <a:cs typeface="Space Mono"/>
                <a:sym typeface="Montserrat"/>
              </a:rPr>
              <a:t>The output should look like: [0m 30s] your_message</a:t>
            </a:r>
          </a:p>
        </p:txBody>
      </p:sp>
      <p:pic>
        <p:nvPicPr>
          <p:cNvPr id="16" name="MainLogo" descr="MainLogo.png"/>
          <p:cNvPicPr>
            <a:picLocks noChangeAspect="1"/>
          </p:cNvPicPr>
          <p:nvPr/>
        </p:nvPicPr>
        <p:blipFill>
          <a:blip r:embed="rId2"/>
          <a:stretch>
            <a:fillRect/>
          </a:stretch>
        </p:blipFill>
        <p:spPr>
          <a:xfrm>
            <a:off x="8398256" y="301752"/>
            <a:ext cx="1965960" cy="655844"/>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a:p>
          </p:txBody>
        </p:sp>
      </p:grpSp>
      <p:grpSp>
        <p:nvGrpSpPr>
          <p:cNvPr id="9" name="Group 9"/>
          <p:cNvGrpSpPr/>
          <p:nvPr/>
        </p:nvGrpSpPr>
        <p:grpSpPr>
          <a:xfrm>
            <a:off x="1821180" y="3261360"/>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1" name="Group 11"/>
          <p:cNvGrpSpPr/>
          <p:nvPr/>
        </p:nvGrpSpPr>
        <p:grpSpPr>
          <a:xfrm>
            <a:off x="1821180" y="4456176"/>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6096"/>
                  </a:moveTo>
                  <a:cubicBezTo>
                    <a:pt x="13716" y="9144"/>
                    <a:pt x="9144" y="15240"/>
                    <a:pt x="4572" y="21336"/>
                  </a:cubicBezTo>
                  <a:cubicBezTo>
                    <a:pt x="1524" y="28956"/>
                    <a:pt x="0" y="35052"/>
                    <a:pt x="0" y="42672"/>
                  </a:cubicBezTo>
                  <a:cubicBezTo>
                    <a:pt x="0" y="53340"/>
                    <a:pt x="3048" y="64008"/>
                    <a:pt x="12192" y="71628"/>
                  </a:cubicBezTo>
                  <a:cubicBezTo>
                    <a:pt x="19812" y="80772"/>
                    <a:pt x="28956" y="83820"/>
                    <a:pt x="41148" y="83820"/>
                  </a:cubicBezTo>
                  <a:cubicBezTo>
                    <a:pt x="53340" y="83820"/>
                    <a:pt x="62484" y="80772"/>
                    <a:pt x="70104" y="71628"/>
                  </a:cubicBezTo>
                  <a:cubicBezTo>
                    <a:pt x="79248" y="64008"/>
                    <a:pt x="83820" y="53340"/>
                    <a:pt x="83820" y="42672"/>
                  </a:cubicBezTo>
                  <a:cubicBezTo>
                    <a:pt x="83820" y="35052"/>
                    <a:pt x="80772" y="28956"/>
                    <a:pt x="77724" y="21336"/>
                  </a:cubicBezTo>
                  <a:cubicBezTo>
                    <a:pt x="73152" y="15240"/>
                    <a:pt x="68580" y="9144"/>
                    <a:pt x="62484" y="6096"/>
                  </a:cubicBezTo>
                  <a:cubicBezTo>
                    <a:pt x="54864" y="3048"/>
                    <a:pt x="48768" y="0"/>
                    <a:pt x="41148" y="0"/>
                  </a:cubicBezTo>
                  <a:cubicBezTo>
                    <a:pt x="33528" y="0"/>
                    <a:pt x="27432" y="3048"/>
                    <a:pt x="21336" y="6096"/>
                  </a:cubicBezTo>
                  <a:close/>
                </a:path>
              </a:pathLst>
            </a:custGeom>
            <a:solidFill>
              <a:srgbClr val="000000"/>
            </a:solidFill>
          </p:spPr>
          <p:txBody>
            <a:bodyPr/>
            <a:lstStyle/>
            <a:p>
              <a:endParaRPr/>
            </a:p>
          </p:txBody>
        </p:sp>
      </p:grpSp>
      <p:sp>
        <p:nvSpPr>
          <p:cNvPr id="13" name="Freeform 13"/>
          <p:cNvSpPr/>
          <p:nvPr/>
        </p:nvSpPr>
        <p:spPr>
          <a:xfrm>
            <a:off x="1586989" y="2551681"/>
            <a:ext cx="2664457" cy="309877"/>
          </a:xfrm>
          <a:custGeom>
            <a:avLst/>
            <a:gdLst/>
            <a:ahLst/>
            <a:cxnLst/>
            <a:rect l="l" t="t" r="r" b="b"/>
            <a:pathLst>
              <a:path w="2664457" h="309877">
                <a:moveTo>
                  <a:pt x="0" y="0"/>
                </a:moveTo>
                <a:lnTo>
                  <a:pt x="2664457" y="0"/>
                </a:lnTo>
                <a:lnTo>
                  <a:pt x="2664457" y="309877"/>
                </a:lnTo>
                <a:lnTo>
                  <a:pt x="0" y="30987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14" name="TextBox 14"/>
          <p:cNvSpPr txBox="1"/>
          <p:nvPr/>
        </p:nvSpPr>
        <p:spPr>
          <a:xfrm>
            <a:off x="1632204" y="1334119"/>
            <a:ext cx="5120640" cy="1171146"/>
          </a:xfrm>
          <a:prstGeom prst="rect">
            <a:avLst/>
          </a:prstGeom>
        </p:spPr>
        <p:txBody>
          <a:bodyPr wrap="square" lIns="0" tIns="0" rIns="0" bIns="0" rtlCol="0" anchor="t">
            <a:spAutoFit/>
          </a:bodyPr>
          <a:lstStyle/>
          <a:p>
            <a:pPr algn="l">
              <a:lnSpc>
                <a:spcPts val="4267"/>
              </a:lnSpc>
              <a:defRPr>
                <a:latin typeface="House Movements Runway"/>
                <a:ea typeface="House Movements Runway"/>
                <a:cs typeface="House Movements Runway"/>
              </a:defRPr>
            </a:pPr>
            <a:r>
              <a:rPr lang="en-US" sz="2100">
                <a:solidFill>
                  <a:srgbClr val="2C2C2C"/>
                </a:solidFill>
                <a:latin typeface="House Movements Runway"/>
                <a:ea typeface="House Movements Runway"/>
                <a:cs typeface="House Movements Runway"/>
                <a:sym typeface="Montserrat"/>
              </a:rPr>
              <a:t>Transmitting the OBC temperature</a:t>
            </a:r>
          </a:p>
          <a:p>
            <a:pPr algn="l">
              <a:lnSpc>
                <a:spcPts val="2116"/>
              </a:lnSpc>
              <a:defRPr>
                <a:latin typeface="Ubuntu"/>
                <a:ea typeface="Ubuntu"/>
                <a:cs typeface="Ubuntu"/>
              </a:defRPr>
            </a:pPr>
            <a:r>
              <a:rPr lang="en-US" sz="1512" spc="-9">
                <a:solidFill>
                  <a:srgbClr val="000000"/>
                </a:solidFill>
                <a:latin typeface="Ubuntu"/>
                <a:ea typeface="Ubuntu"/>
                <a:cs typeface="Ubuntu"/>
                <a:sym typeface="Montserrat"/>
              </a:rPr>
              <a:t>Now, let's configure the LoRa sender on the satellite, ensuring that the RBF is plugged </a:t>
            </a:r>
          </a:p>
        </p:txBody>
      </p:sp>
      <p:sp>
        <p:nvSpPr>
          <p:cNvPr id="15" name="TextBox 15"/>
          <p:cNvSpPr txBox="1"/>
          <p:nvPr/>
        </p:nvSpPr>
        <p:spPr>
          <a:xfrm>
            <a:off x="1632204" y="3115685"/>
            <a:ext cx="8397297" cy="1184662"/>
          </a:xfrm>
          <a:prstGeom prst="rect">
            <a:avLst/>
          </a:prstGeom>
        </p:spPr>
        <p:txBody>
          <a:bodyPr lIns="0" tIns="0" rIns="0" bIns="0" rtlCol="0" anchor="t">
            <a:spAutoFit/>
          </a:bodyPr>
          <a:lstStyle/>
          <a:p>
            <a:pPr algn="l">
              <a:lnSpc>
                <a:spcPts val="2355"/>
              </a:lnSpc>
              <a:defRPr>
                <a:latin typeface="Ubuntu"/>
                <a:ea typeface="Ubuntu"/>
                <a:cs typeface="Ubuntu"/>
              </a:defRPr>
            </a:pPr>
            <a:r>
              <a:rPr lang="en-US" sz="1512" spc="-7">
                <a:solidFill>
                  <a:srgbClr val="000000"/>
                </a:solidFill>
                <a:latin typeface="Ubuntu"/>
                <a:ea typeface="Ubuntu"/>
                <a:cs typeface="Ubuntu"/>
                <a:sym typeface="Montserrat"/>
              </a:rPr>
              <a:t>Transmit the temperature from the OBC via radio, along with a brief message to identify yourself. </a:t>
            </a:r>
          </a:p>
          <a:p>
            <a:pPr algn="l">
              <a:lnSpc>
                <a:spcPts val="2355"/>
              </a:lnSpc>
              <a:defRPr>
                <a:latin typeface="Ubuntu"/>
                <a:ea typeface="Ubuntu"/>
                <a:cs typeface="Ubuntu"/>
              </a:defRPr>
            </a:pPr>
            <a:r>
              <a:rPr lang="en-US" sz="1512" spc="-7">
                <a:solidFill>
                  <a:srgbClr val="000000"/>
                </a:solidFill>
                <a:latin typeface="Ubuntu"/>
                <a:ea typeface="Ubuntu"/>
                <a:cs typeface="Ubuntu"/>
                <a:sym typeface="Montserrat"/>
              </a:rPr>
              <a:t>The output should look like: </a:t>
            </a:r>
          </a:p>
          <a:p>
            <a:pPr algn="l">
              <a:lnSpc>
                <a:spcPts val="2355"/>
              </a:lnSpc>
              <a:defRPr>
                <a:latin typeface="Ubuntu"/>
                <a:ea typeface="Ubuntu"/>
                <a:cs typeface="Ubuntu"/>
              </a:defRPr>
            </a:pPr>
            <a:r>
              <a:rPr lang="en-US" sz="1512" spc="-7">
                <a:solidFill>
                  <a:srgbClr val="000000"/>
                </a:solidFill>
                <a:latin typeface="Ubuntu"/>
                <a:ea typeface="Ubuntu"/>
                <a:cs typeface="Ubuntu"/>
                <a:sym typeface="Montserrat"/>
              </a:rPr>
              <a:t>[NAME OF GROUP] | TEMPOBC = 20.4</a:t>
            </a:r>
          </a:p>
        </p:txBody>
      </p:sp>
      <p:sp>
        <p:nvSpPr>
          <p:cNvPr id="16" name="TextBox 16"/>
          <p:cNvSpPr txBox="1"/>
          <p:nvPr/>
        </p:nvSpPr>
        <p:spPr>
          <a:xfrm>
            <a:off x="2167185" y="4310463"/>
            <a:ext cx="7669473" cy="587283"/>
          </a:xfrm>
          <a:prstGeom prst="rect">
            <a:avLst/>
          </a:prstGeom>
        </p:spPr>
        <p:txBody>
          <a:bodyPr lIns="0" tIns="0" rIns="0" bIns="0" rtlCol="0" anchor="t">
            <a:spAutoFit/>
          </a:bodyPr>
          <a:lstStyle/>
          <a:p>
            <a:pPr algn="l">
              <a:lnSpc>
                <a:spcPts val="2352"/>
              </a:lnSpc>
              <a:defRPr>
                <a:latin typeface="Ubuntu"/>
                <a:ea typeface="Ubuntu"/>
                <a:cs typeface="Ubuntu"/>
              </a:defRPr>
            </a:pPr>
            <a:r>
              <a:rPr lang="en-US" sz="1512" spc="-7">
                <a:solidFill>
                  <a:srgbClr val="000000"/>
                </a:solidFill>
                <a:latin typeface="Ubuntu"/>
                <a:ea typeface="Ubuntu"/>
                <a:cs typeface="Ubuntu"/>
                <a:sym typeface="Montserrat"/>
              </a:rPr>
              <a:t>Now, figure out a way to send the temperature when inputting 'TEMPOBC' via serial. Implement the option to send also the time with 'TIME'.</a:t>
            </a:r>
          </a:p>
        </p:txBody>
      </p:sp>
      <p:sp>
        <p:nvSpPr>
          <p:cNvPr id="17" name="TextBox 17"/>
          <p:cNvSpPr txBox="1"/>
          <p:nvPr/>
        </p:nvSpPr>
        <p:spPr>
          <a:xfrm>
            <a:off x="1632204" y="4907852"/>
            <a:ext cx="5274240" cy="588816"/>
          </a:xfrm>
          <a:prstGeom prst="rect">
            <a:avLst/>
          </a:prstGeom>
        </p:spPr>
        <p:txBody>
          <a:bodyPr lIns="0" tIns="0" rIns="0" bIns="0" rtlCol="0" anchor="t">
            <a:spAutoFit/>
          </a:bodyPr>
          <a:lstStyle/>
          <a:p>
            <a:pPr algn="l">
              <a:lnSpc>
                <a:spcPts val="2364"/>
              </a:lnSpc>
              <a:defRPr>
                <a:latin typeface="Ubuntu"/>
                <a:ea typeface="Ubuntu"/>
                <a:cs typeface="Ubuntu"/>
              </a:defRPr>
            </a:pPr>
            <a:r>
              <a:rPr lang="en-US" sz="1512" spc="-9">
                <a:solidFill>
                  <a:srgbClr val="000000"/>
                </a:solidFill>
                <a:latin typeface="Ubuntu"/>
                <a:ea typeface="Ubuntu"/>
                <a:cs typeface="Ubuntu"/>
                <a:sym typeface="Montserrat"/>
              </a:rPr>
              <a:t>The output should look like: </a:t>
            </a:r>
          </a:p>
          <a:p>
            <a:pPr algn="l">
              <a:lnSpc>
                <a:spcPts val="2364"/>
              </a:lnSpc>
              <a:defRPr>
                <a:latin typeface="Ubuntu"/>
                <a:ea typeface="Ubuntu"/>
                <a:cs typeface="Ubuntu"/>
              </a:defRPr>
            </a:pPr>
            <a:r>
              <a:rPr lang="en-US" sz="1512" spc="-9">
                <a:solidFill>
                  <a:srgbClr val="000000"/>
                </a:solidFill>
                <a:latin typeface="Ubuntu"/>
                <a:ea typeface="Ubuntu"/>
                <a:cs typeface="Ubuntu"/>
                <a:sym typeface="Montserrat"/>
              </a:rPr>
              <a:t>[NAME OF GROUP] | TEMPOBC = 20.4 | TIME = 0m 34s</a:t>
            </a:r>
          </a:p>
        </p:txBody>
      </p:sp>
      <p:sp>
        <p:nvSpPr>
          <p:cNvPr id="18" name="TextBox 18"/>
          <p:cNvSpPr txBox="1"/>
          <p:nvPr/>
        </p:nvSpPr>
        <p:spPr>
          <a:xfrm>
            <a:off x="4248912" y="2537346"/>
            <a:ext cx="1128770" cy="269443"/>
          </a:xfrm>
          <a:prstGeom prst="rect">
            <a:avLst/>
          </a:prstGeom>
        </p:spPr>
        <p:txBody>
          <a:bodyPr lIns="0" tIns="0" rIns="0" bIns="0" rtlCol="0" anchor="t">
            <a:spAutoFit/>
          </a:bodyPr>
          <a:lstStyle/>
          <a:p>
            <a:pPr algn="l">
              <a:lnSpc>
                <a:spcPts val="2116"/>
              </a:lnSpc>
              <a:defRPr>
                <a:latin typeface="Ubuntu"/>
                <a:ea typeface="Ubuntu"/>
                <a:cs typeface="Ubuntu"/>
              </a:defRPr>
            </a:pPr>
            <a:r>
              <a:rPr lang="en-US" sz="1512" spc="31">
                <a:solidFill>
                  <a:srgbClr val="000000"/>
                </a:solidFill>
                <a:latin typeface="Ubuntu"/>
                <a:ea typeface="Ubuntu"/>
                <a:cs typeface="Ubuntu"/>
                <a:sym typeface="Montserrat"/>
              </a:rPr>
              <a:t>OBC ONLY.</a:t>
            </a:r>
          </a:p>
        </p:txBody>
      </p:sp>
      <p:pic>
        <p:nvPicPr>
          <p:cNvPr id="19" name="MainLogo" descr="MainLogo.png"/>
          <p:cNvPicPr>
            <a:picLocks noChangeAspect="1"/>
          </p:cNvPicPr>
          <p:nvPr/>
        </p:nvPicPr>
        <p:blipFill>
          <a:blip r:embed="rId3"/>
          <a:stretch>
            <a:fillRect/>
          </a:stretch>
        </p:blipFill>
        <p:spPr>
          <a:xfrm>
            <a:off x="8398256" y="301752"/>
            <a:ext cx="1965960" cy="655844"/>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0371" y="827532"/>
            <a:ext cx="10392661" cy="5901433"/>
          </a:xfrm>
          <a:custGeom>
            <a:avLst/>
            <a:gdLst/>
            <a:ahLst/>
            <a:cxnLst/>
            <a:rect l="l" t="t" r="r" b="b"/>
            <a:pathLst>
              <a:path w="10392661" h="5901433">
                <a:moveTo>
                  <a:pt x="0" y="0"/>
                </a:moveTo>
                <a:lnTo>
                  <a:pt x="10392661" y="0"/>
                </a:lnTo>
                <a:lnTo>
                  <a:pt x="10392661" y="5901433"/>
                </a:lnTo>
                <a:lnTo>
                  <a:pt x="0" y="590143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sp>
        <p:nvSpPr>
          <p:cNvPr id="8" name="Freeform 8"/>
          <p:cNvSpPr/>
          <p:nvPr/>
        </p:nvSpPr>
        <p:spPr>
          <a:xfrm>
            <a:off x="1678448" y="2191893"/>
            <a:ext cx="8274501" cy="3031541"/>
          </a:xfrm>
          <a:custGeom>
            <a:avLst/>
            <a:gdLst/>
            <a:ahLst/>
            <a:cxnLst/>
            <a:rect l="l" t="t" r="r" b="b"/>
            <a:pathLst>
              <a:path w="8274501" h="3031541">
                <a:moveTo>
                  <a:pt x="0" y="0"/>
                </a:moveTo>
                <a:lnTo>
                  <a:pt x="8274501" y="0"/>
                </a:lnTo>
                <a:lnTo>
                  <a:pt x="8274501" y="3031541"/>
                </a:lnTo>
                <a:lnTo>
                  <a:pt x="0" y="3031541"/>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a:p>
        </p:txBody>
      </p:sp>
      <p:sp>
        <p:nvSpPr>
          <p:cNvPr id="9" name="TextBox 9"/>
          <p:cNvSpPr txBox="1"/>
          <p:nvPr/>
        </p:nvSpPr>
        <p:spPr>
          <a:xfrm>
            <a:off x="1774688" y="1439294"/>
            <a:ext cx="5120640" cy="487834"/>
          </a:xfrm>
          <a:prstGeom prst="rect">
            <a:avLst/>
          </a:prstGeom>
        </p:spPr>
        <p:txBody>
          <a:bodyPr wrap="square" lIns="0" tIns="0" rIns="0" bIns="0" rtlCol="0" anchor="t">
            <a:spAutoFit/>
          </a:bodyPr>
          <a:lstStyle/>
          <a:p>
            <a:pPr algn="l">
              <a:lnSpc>
                <a:spcPts val="4086"/>
              </a:lnSpc>
              <a:defRPr>
                <a:latin typeface="House Movements Runway"/>
                <a:ea typeface="House Movements Runway"/>
                <a:cs typeface="House Movements Runway"/>
              </a:defRPr>
            </a:pPr>
            <a:r>
              <a:rPr lang="en-US" sz="2300" spc="14">
                <a:solidFill>
                  <a:srgbClr val="303030"/>
                </a:solidFill>
                <a:latin typeface="House Movements Runway"/>
                <a:ea typeface="House Movements Runway"/>
                <a:cs typeface="House Movements Runway"/>
                <a:sym typeface="Montserrat"/>
              </a:rPr>
              <a:t>Sending every reading by radio</a:t>
            </a:r>
          </a:p>
        </p:txBody>
      </p:sp>
      <p:sp>
        <p:nvSpPr>
          <p:cNvPr id="10" name="TextBox 10"/>
          <p:cNvSpPr txBox="1"/>
          <p:nvPr/>
        </p:nvSpPr>
        <p:spPr>
          <a:xfrm>
            <a:off x="1919402" y="2284905"/>
            <a:ext cx="114195" cy="247164"/>
          </a:xfrm>
          <a:prstGeom prst="rect">
            <a:avLst/>
          </a:prstGeom>
        </p:spPr>
        <p:txBody>
          <a:bodyPr lIns="0" tIns="0" rIns="0" bIns="0" rtlCol="0" anchor="t">
            <a:spAutoFit/>
          </a:bodyPr>
          <a:lstStyle/>
          <a:p>
            <a:pPr algn="l">
              <a:lnSpc>
                <a:spcPts val="2043"/>
              </a:lnSpc>
              <a:defRPr>
                <a:latin typeface="Ubuntu"/>
                <a:ea typeface="Ubuntu"/>
                <a:cs typeface="Ubuntu"/>
              </a:defRPr>
            </a:pPr>
            <a:r>
              <a:rPr lang="en-US" sz="1459" spc="7">
                <a:solidFill>
                  <a:srgbClr val="000000"/>
                </a:solidFill>
                <a:latin typeface="Ubuntu"/>
                <a:ea typeface="Ubuntu"/>
                <a:cs typeface="Ubuntu"/>
                <a:sym typeface="Montserrat"/>
              </a:rPr>
              <a:t>●</a:t>
            </a:r>
          </a:p>
        </p:txBody>
      </p:sp>
      <p:sp>
        <p:nvSpPr>
          <p:cNvPr id="11" name="TextBox 11"/>
          <p:cNvSpPr txBox="1"/>
          <p:nvPr/>
        </p:nvSpPr>
        <p:spPr>
          <a:xfrm>
            <a:off x="2287972" y="2242204"/>
            <a:ext cx="6898957" cy="556898"/>
          </a:xfrm>
          <a:prstGeom prst="rect">
            <a:avLst/>
          </a:prstGeom>
        </p:spPr>
        <p:txBody>
          <a:bodyPr lIns="0" tIns="0" rIns="0" bIns="0" rtlCol="0" anchor="t">
            <a:spAutoFit/>
          </a:bodyPr>
          <a:lstStyle/>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Send tomy ground station all your readings via LoRa separately by typing TEMPOBC, TEMPEPS, TIME, TEMPCOMPARISON and VBAT.</a:t>
            </a:r>
          </a:p>
        </p:txBody>
      </p:sp>
      <p:sp>
        <p:nvSpPr>
          <p:cNvPr id="12" name="TextBox 12"/>
          <p:cNvSpPr txBox="1"/>
          <p:nvPr/>
        </p:nvSpPr>
        <p:spPr>
          <a:xfrm>
            <a:off x="1774688" y="2809408"/>
            <a:ext cx="3406092" cy="804834"/>
          </a:xfrm>
          <a:prstGeom prst="rect">
            <a:avLst/>
          </a:prstGeom>
        </p:spPr>
        <p:txBody>
          <a:bodyPr lIns="0" tIns="0" rIns="0" bIns="0" rtlCol="0" anchor="t">
            <a:spAutoFit/>
          </a:bodyPr>
          <a:lstStyle/>
          <a:p>
            <a:pPr algn="l">
              <a:lnSpc>
                <a:spcPts val="2139"/>
              </a:lnSpc>
              <a:defRPr>
                <a:latin typeface="Ubuntu"/>
                <a:ea typeface="Ubuntu"/>
                <a:cs typeface="Ubuntu"/>
              </a:defRPr>
            </a:pPr>
            <a:r>
              <a:rPr lang="en-US" sz="1459" spc="7">
                <a:solidFill>
                  <a:srgbClr val="000000"/>
                </a:solidFill>
                <a:latin typeface="Ubuntu"/>
                <a:ea typeface="Ubuntu"/>
                <a:cs typeface="Ubuntu"/>
                <a:sym typeface="Montserrat"/>
              </a:rPr>
              <a:t>The output should look like:</a:t>
            </a:r>
          </a:p>
          <a:p>
            <a:pPr algn="l">
              <a:lnSpc>
                <a:spcPts val="2139"/>
              </a:lnSpc>
              <a:defRPr>
                <a:latin typeface="Ubuntu"/>
                <a:ea typeface="Ubuntu"/>
                <a:cs typeface="Ubuntu"/>
              </a:defRPr>
            </a:pPr>
            <a:r>
              <a:rPr lang="en-US" sz="1459" spc="7">
                <a:solidFill>
                  <a:srgbClr val="000000"/>
                </a:solidFill>
                <a:latin typeface="Ubuntu"/>
                <a:ea typeface="Ubuntu"/>
                <a:cs typeface="Ubuntu"/>
                <a:sym typeface="Montserrat"/>
              </a:rPr>
              <a:t>[Team Name] TEMPEPS = 24.20 deg </a:t>
            </a:r>
          </a:p>
          <a:p>
            <a:pPr algn="l">
              <a:lnSpc>
                <a:spcPts val="2139"/>
              </a:lnSpc>
              <a:defRPr>
                <a:latin typeface="Ubuntu"/>
                <a:ea typeface="Ubuntu"/>
                <a:cs typeface="Ubuntu"/>
              </a:defRPr>
            </a:pPr>
            <a:r>
              <a:rPr lang="en-US" sz="1459" spc="7">
                <a:solidFill>
                  <a:srgbClr val="000000"/>
                </a:solidFill>
                <a:latin typeface="Ubuntu"/>
                <a:ea typeface="Ubuntu"/>
                <a:cs typeface="Ubuntu"/>
                <a:sym typeface="Montserrat"/>
              </a:rPr>
              <a:t>[Team Name] VBAT = 3.67 V </a:t>
            </a:r>
          </a:p>
        </p:txBody>
      </p:sp>
      <p:sp>
        <p:nvSpPr>
          <p:cNvPr id="13" name="TextBox 13"/>
          <p:cNvSpPr txBox="1"/>
          <p:nvPr/>
        </p:nvSpPr>
        <p:spPr>
          <a:xfrm>
            <a:off x="5524357" y="3081128"/>
            <a:ext cx="2458907" cy="533114"/>
          </a:xfrm>
          <a:prstGeom prst="rect">
            <a:avLst/>
          </a:prstGeom>
        </p:spPr>
        <p:txBody>
          <a:bodyPr lIns="0" tIns="0" rIns="0" bIns="0" rtlCol="0" anchor="t">
            <a:spAutoFit/>
          </a:bodyPr>
          <a:lstStyle/>
          <a:p>
            <a:pPr algn="l">
              <a:lnSpc>
                <a:spcPts val="2139"/>
              </a:lnSpc>
              <a:defRPr>
                <a:latin typeface="Ubuntu"/>
                <a:ea typeface="Ubuntu"/>
                <a:cs typeface="Ubuntu"/>
              </a:defRPr>
            </a:pPr>
            <a:r>
              <a:rPr lang="en-US" sz="1459" spc="7">
                <a:solidFill>
                  <a:srgbClr val="000000"/>
                </a:solidFill>
                <a:latin typeface="Ubuntu"/>
                <a:ea typeface="Ubuntu"/>
                <a:cs typeface="Ubuntu"/>
                <a:sym typeface="Montserrat"/>
              </a:rPr>
              <a:t>if you typed “TEMPEPS” or</a:t>
            </a:r>
          </a:p>
          <a:p>
            <a:pPr algn="l">
              <a:lnSpc>
                <a:spcPts val="2139"/>
              </a:lnSpc>
              <a:defRPr>
                <a:latin typeface="Ubuntu"/>
                <a:ea typeface="Ubuntu"/>
                <a:cs typeface="Ubuntu"/>
              </a:defRPr>
            </a:pPr>
            <a:r>
              <a:rPr lang="en-US" sz="1459" spc="7">
                <a:solidFill>
                  <a:srgbClr val="000000"/>
                </a:solidFill>
                <a:latin typeface="Ubuntu"/>
                <a:ea typeface="Ubuntu"/>
                <a:cs typeface="Ubuntu"/>
                <a:sym typeface="Montserrat"/>
              </a:rPr>
              <a:t>if you typed “VBAT” …</a:t>
            </a:r>
          </a:p>
        </p:txBody>
      </p:sp>
      <p:sp>
        <p:nvSpPr>
          <p:cNvPr id="14" name="TextBox 14"/>
          <p:cNvSpPr txBox="1"/>
          <p:nvPr/>
        </p:nvSpPr>
        <p:spPr>
          <a:xfrm>
            <a:off x="1919402" y="3929453"/>
            <a:ext cx="114195" cy="247164"/>
          </a:xfrm>
          <a:prstGeom prst="rect">
            <a:avLst/>
          </a:prstGeom>
        </p:spPr>
        <p:txBody>
          <a:bodyPr lIns="0" tIns="0" rIns="0" bIns="0" rtlCol="0" anchor="t">
            <a:spAutoFit/>
          </a:bodyPr>
          <a:lstStyle/>
          <a:p>
            <a:pPr algn="l">
              <a:lnSpc>
                <a:spcPts val="2043"/>
              </a:lnSpc>
              <a:defRPr>
                <a:latin typeface="Ubuntu"/>
                <a:ea typeface="Ubuntu"/>
                <a:cs typeface="Ubuntu"/>
              </a:defRPr>
            </a:pPr>
            <a:r>
              <a:rPr lang="en-US" sz="1459" spc="7">
                <a:solidFill>
                  <a:srgbClr val="000000"/>
                </a:solidFill>
                <a:latin typeface="Ubuntu"/>
                <a:ea typeface="Ubuntu"/>
                <a:cs typeface="Ubuntu"/>
                <a:sym typeface="Montserrat"/>
              </a:rPr>
              <a:t>●</a:t>
            </a:r>
          </a:p>
        </p:txBody>
      </p:sp>
      <p:sp>
        <p:nvSpPr>
          <p:cNvPr id="15" name="TextBox 15"/>
          <p:cNvSpPr txBox="1"/>
          <p:nvPr/>
        </p:nvSpPr>
        <p:spPr>
          <a:xfrm>
            <a:off x="2287972" y="3886743"/>
            <a:ext cx="7016667" cy="556898"/>
          </a:xfrm>
          <a:prstGeom prst="rect">
            <a:avLst/>
          </a:prstGeom>
        </p:spPr>
        <p:txBody>
          <a:bodyPr lIns="0" tIns="0" rIns="0" bIns="0" rtlCol="0" anchor="t">
            <a:spAutoFit/>
          </a:bodyPr>
          <a:lstStyle/>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Now, write a new function called sendAll() that is capable of sending all the readings in one line. This function has to be activated when typing “ALL”.</a:t>
            </a:r>
          </a:p>
        </p:txBody>
      </p:sp>
      <p:sp>
        <p:nvSpPr>
          <p:cNvPr id="16" name="TextBox 16"/>
          <p:cNvSpPr txBox="1"/>
          <p:nvPr/>
        </p:nvSpPr>
        <p:spPr>
          <a:xfrm>
            <a:off x="1774688" y="4453957"/>
            <a:ext cx="6681168" cy="533114"/>
          </a:xfrm>
          <a:prstGeom prst="rect">
            <a:avLst/>
          </a:prstGeom>
        </p:spPr>
        <p:txBody>
          <a:bodyPr lIns="0" tIns="0" rIns="0" bIns="0" rtlCol="0" anchor="t">
            <a:spAutoFit/>
          </a:bodyPr>
          <a:lstStyle/>
          <a:p>
            <a:pPr algn="l">
              <a:lnSpc>
                <a:spcPts val="2139"/>
              </a:lnSpc>
              <a:defRPr>
                <a:latin typeface="Ubuntu"/>
                <a:ea typeface="Ubuntu"/>
                <a:cs typeface="Ubuntu"/>
              </a:defRPr>
            </a:pPr>
            <a:r>
              <a:rPr lang="en-US" sz="1459" spc="7">
                <a:solidFill>
                  <a:srgbClr val="000000"/>
                </a:solidFill>
                <a:latin typeface="Ubuntu"/>
                <a:ea typeface="Ubuntu"/>
                <a:cs typeface="Ubuntu"/>
                <a:sym typeface="Montserrat"/>
              </a:rPr>
              <a:t>The output should look like:</a:t>
            </a:r>
          </a:p>
          <a:p>
            <a:pPr algn="l">
              <a:lnSpc>
                <a:spcPts val="2139"/>
              </a:lnSpc>
              <a:defRPr>
                <a:latin typeface="Ubuntu"/>
                <a:ea typeface="Ubuntu"/>
                <a:cs typeface="Ubuntu"/>
              </a:defRPr>
            </a:pPr>
            <a:r>
              <a:rPr lang="en-US" sz="1459" spc="7">
                <a:solidFill>
                  <a:srgbClr val="000000"/>
                </a:solidFill>
                <a:latin typeface="Ubuntu"/>
                <a:ea typeface="Ubuntu"/>
                <a:cs typeface="Ubuntu"/>
                <a:sym typeface="Montserrat"/>
              </a:rPr>
              <a:t>[1m 25s][Team Name] TEMPOBC | TEMPEPS = 24.20 deg | VBAT = 3.67 V </a:t>
            </a:r>
          </a:p>
        </p:txBody>
      </p:sp>
      <p:pic>
        <p:nvPicPr>
          <p:cNvPr id="17"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0371" y="827532"/>
            <a:ext cx="10392661" cy="5901433"/>
          </a:xfrm>
          <a:custGeom>
            <a:avLst/>
            <a:gdLst/>
            <a:ahLst/>
            <a:cxnLst/>
            <a:rect l="l" t="t" r="r" b="b"/>
            <a:pathLst>
              <a:path w="10392661" h="5901433">
                <a:moveTo>
                  <a:pt x="0" y="0"/>
                </a:moveTo>
                <a:lnTo>
                  <a:pt x="10392661" y="0"/>
                </a:lnTo>
                <a:lnTo>
                  <a:pt x="10392661" y="5901433"/>
                </a:lnTo>
                <a:lnTo>
                  <a:pt x="0" y="590143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8" name="Freeform 8"/>
          <p:cNvSpPr/>
          <p:nvPr/>
        </p:nvSpPr>
        <p:spPr>
          <a:xfrm>
            <a:off x="1678448" y="2191893"/>
            <a:ext cx="8274501" cy="3320177"/>
          </a:xfrm>
          <a:custGeom>
            <a:avLst/>
            <a:gdLst/>
            <a:ahLst/>
            <a:cxnLst/>
            <a:rect l="l" t="t" r="r" b="b"/>
            <a:pathLst>
              <a:path w="8274501" h="3320177">
                <a:moveTo>
                  <a:pt x="0" y="0"/>
                </a:moveTo>
                <a:lnTo>
                  <a:pt x="8274501" y="0"/>
                </a:lnTo>
                <a:lnTo>
                  <a:pt x="8274501" y="3320177"/>
                </a:lnTo>
                <a:lnTo>
                  <a:pt x="0" y="3320177"/>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sp>
        <p:nvSpPr>
          <p:cNvPr id="9" name="TextBox 9"/>
          <p:cNvSpPr txBox="1"/>
          <p:nvPr/>
        </p:nvSpPr>
        <p:spPr>
          <a:xfrm>
            <a:off x="1774688" y="1439294"/>
            <a:ext cx="7958452" cy="763544"/>
          </a:xfrm>
          <a:prstGeom prst="rect">
            <a:avLst/>
          </a:prstGeom>
        </p:spPr>
        <p:txBody>
          <a:bodyPr lIns="0" tIns="0" rIns="0" bIns="0" rtlCol="0" anchor="t">
            <a:spAutoFit/>
          </a:bodyPr>
          <a:lstStyle/>
          <a:p>
            <a:pPr algn="l">
              <a:lnSpc>
                <a:spcPts val="4086"/>
              </a:lnSpc>
            </a:pPr>
            <a:endParaRPr/>
          </a:p>
          <a:p>
            <a:pPr algn="l">
              <a:lnSpc>
                <a:spcPts val="2043"/>
              </a:lnSpc>
              <a:defRPr>
                <a:latin typeface="Ubuntu"/>
                <a:ea typeface="Ubuntu"/>
                <a:cs typeface="Ubuntu"/>
              </a:defRPr>
            </a:pPr>
            <a:r>
              <a:rPr lang="en-US" sz="1459" spc="7">
                <a:solidFill>
                  <a:srgbClr val="000000"/>
                </a:solidFill>
                <a:latin typeface="Ubuntu"/>
                <a:ea typeface="Ubuntu"/>
                <a:cs typeface="Ubuntu"/>
                <a:sym typeface="Montserrat"/>
              </a:rPr>
              <a:t>Addtothecodethepossibility of typing “STATUS” to get an output that looks like this:</a:t>
            </a:r>
          </a:p>
        </p:txBody>
      </p:sp>
      <p:sp>
        <p:nvSpPr>
          <p:cNvPr id="10" name="TextBox 10"/>
          <p:cNvSpPr txBox="1"/>
          <p:nvPr/>
        </p:nvSpPr>
        <p:spPr>
          <a:xfrm>
            <a:off x="1919402" y="2537574"/>
            <a:ext cx="114195" cy="838152"/>
          </a:xfrm>
          <a:prstGeom prst="rect">
            <a:avLst/>
          </a:prstGeom>
        </p:spPr>
        <p:txBody>
          <a:bodyPr lIns="0" tIns="0" rIns="0" bIns="0" rtlCol="0" anchor="t">
            <a:spAutoFit/>
          </a:bodyPr>
          <a:lstStyle/>
          <a:p>
            <a:pPr algn="just">
              <a:lnSpc>
                <a:spcPts val="2251"/>
              </a:lnSpc>
              <a:defRPr>
                <a:latin typeface="Ubuntu"/>
                <a:ea typeface="Ubuntu"/>
                <a:cs typeface="Ubuntu"/>
              </a:defRPr>
            </a:pPr>
            <a:r>
              <a:rPr lang="en-US" sz="1459" spc="7">
                <a:solidFill>
                  <a:srgbClr val="000000"/>
                </a:solidFill>
                <a:latin typeface="Ubuntu"/>
                <a:ea typeface="Ubuntu"/>
                <a:cs typeface="Ubuntu"/>
                <a:sym typeface="Montserrat"/>
              </a:rPr>
              <a:t>● ● ●</a:t>
            </a:r>
          </a:p>
        </p:txBody>
      </p:sp>
      <p:sp>
        <p:nvSpPr>
          <p:cNvPr id="11" name="TextBox 11"/>
          <p:cNvSpPr txBox="1"/>
          <p:nvPr/>
        </p:nvSpPr>
        <p:spPr>
          <a:xfrm>
            <a:off x="2287972" y="2513914"/>
            <a:ext cx="4485056" cy="842867"/>
          </a:xfrm>
          <a:prstGeom prst="rect">
            <a:avLst/>
          </a:prstGeom>
        </p:spPr>
        <p:txBody>
          <a:bodyPr lIns="0" tIns="0" rIns="0" bIns="0" rtlCol="0" anchor="t">
            <a:spAutoFit/>
          </a:bodyPr>
          <a:lstStyle/>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[3m43s] NOMINAL </a:t>
            </a:r>
          </a:p>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[3m43s] WARNING! TEMPxx is too high: 35 deg! </a:t>
            </a:r>
          </a:p>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[3m43s] WARNING! VBAT is too low: 3.5 V! </a:t>
            </a:r>
          </a:p>
        </p:txBody>
      </p:sp>
      <p:sp>
        <p:nvSpPr>
          <p:cNvPr id="12" name="TextBox 12"/>
          <p:cNvSpPr txBox="1"/>
          <p:nvPr/>
        </p:nvSpPr>
        <p:spPr>
          <a:xfrm>
            <a:off x="7253183" y="2513914"/>
            <a:ext cx="2376478" cy="842867"/>
          </a:xfrm>
          <a:prstGeom prst="rect">
            <a:avLst/>
          </a:prstGeom>
        </p:spPr>
        <p:txBody>
          <a:bodyPr lIns="0" tIns="0" rIns="0" bIns="0" rtlCol="0" anchor="t">
            <a:spAutoFit/>
          </a:bodyPr>
          <a:lstStyle/>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if no warnings are found</a:t>
            </a:r>
          </a:p>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if temperature is too high</a:t>
            </a:r>
          </a:p>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if battery is too low</a:t>
            </a:r>
          </a:p>
        </p:txBody>
      </p:sp>
      <p:sp>
        <p:nvSpPr>
          <p:cNvPr id="13" name="TextBox 13"/>
          <p:cNvSpPr txBox="1"/>
          <p:nvPr/>
        </p:nvSpPr>
        <p:spPr>
          <a:xfrm>
            <a:off x="1774688" y="3648332"/>
            <a:ext cx="7164000" cy="251879"/>
          </a:xfrm>
          <a:prstGeom prst="rect">
            <a:avLst/>
          </a:prstGeom>
        </p:spPr>
        <p:txBody>
          <a:bodyPr lIns="0" tIns="0" rIns="0" bIns="0" rtlCol="0" anchor="t">
            <a:spAutoFit/>
          </a:bodyPr>
          <a:lstStyle/>
          <a:p>
            <a:pPr algn="l">
              <a:lnSpc>
                <a:spcPts val="2043"/>
              </a:lnSpc>
              <a:defRPr>
                <a:latin typeface="Ubuntu"/>
                <a:ea typeface="Ubuntu"/>
                <a:cs typeface="Ubuntu"/>
              </a:defRPr>
            </a:pPr>
            <a:r>
              <a:rPr lang="en-US" sz="1459" spc="7">
                <a:solidFill>
                  <a:srgbClr val="000000"/>
                </a:solidFill>
                <a:latin typeface="Ubuntu"/>
                <a:ea typeface="Ubuntu"/>
                <a:cs typeface="Ubuntu"/>
                <a:sym typeface="Montserrat"/>
              </a:rPr>
              <a:t>Now,inthesendAll() function include the STATUS of the satellite in two lines. </a:t>
            </a:r>
          </a:p>
        </p:txBody>
      </p:sp>
      <p:sp>
        <p:nvSpPr>
          <p:cNvPr id="14" name="TextBox 14"/>
          <p:cNvSpPr txBox="1"/>
          <p:nvPr/>
        </p:nvSpPr>
        <p:spPr>
          <a:xfrm>
            <a:off x="1774688" y="4182237"/>
            <a:ext cx="6870792" cy="533114"/>
          </a:xfrm>
          <a:prstGeom prst="rect">
            <a:avLst/>
          </a:prstGeom>
        </p:spPr>
        <p:txBody>
          <a:bodyPr lIns="0" tIns="0" rIns="0" bIns="0" rtlCol="0" anchor="t">
            <a:spAutoFit/>
          </a:bodyPr>
          <a:lstStyle/>
          <a:p>
            <a:pPr algn="l">
              <a:lnSpc>
                <a:spcPts val="2139"/>
              </a:lnSpc>
              <a:defRPr>
                <a:latin typeface="Ubuntu"/>
                <a:ea typeface="Ubuntu"/>
                <a:cs typeface="Ubuntu"/>
              </a:defRPr>
            </a:pPr>
            <a:r>
              <a:rPr lang="en-US" sz="1459" spc="7">
                <a:solidFill>
                  <a:srgbClr val="000000"/>
                </a:solidFill>
                <a:latin typeface="Ubuntu"/>
                <a:ea typeface="Ubuntu"/>
                <a:cs typeface="Ubuntu"/>
                <a:sym typeface="Montserrat"/>
              </a:rPr>
              <a:t>[2m23s][Team Name] TEMPOBC | TEMPEPS = 24.20 deg | VBAT = 3.67 V | [2m23s][Team Name] STATUS = one_of_the_cases_above</a:t>
            </a:r>
          </a:p>
        </p:txBody>
      </p:sp>
      <p:pic>
        <p:nvPicPr>
          <p:cNvPr id="15"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2"/>
          <p:cNvSpPr/>
          <p:nvPr/>
        </p:nvSpPr>
        <p:spPr>
          <a:xfrm>
            <a:off x="150371" y="827532"/>
            <a:ext cx="10392661" cy="5901433"/>
          </a:xfrm>
          <a:custGeom>
            <a:avLst/>
            <a:gdLst/>
            <a:ahLst/>
            <a:cxnLst/>
            <a:rect l="l" t="t" r="r" b="b"/>
            <a:pathLst>
              <a:path w="10392661" h="5901433">
                <a:moveTo>
                  <a:pt x="0" y="0"/>
                </a:moveTo>
                <a:lnTo>
                  <a:pt x="10392661" y="0"/>
                </a:lnTo>
                <a:lnTo>
                  <a:pt x="10392661" y="5901433"/>
                </a:lnTo>
                <a:lnTo>
                  <a:pt x="0" y="5901433"/>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8" name="Freeform 8"/>
          <p:cNvSpPr/>
          <p:nvPr/>
        </p:nvSpPr>
        <p:spPr>
          <a:xfrm>
            <a:off x="1678448" y="2191893"/>
            <a:ext cx="8274501" cy="3898125"/>
          </a:xfrm>
          <a:custGeom>
            <a:avLst/>
            <a:gdLst/>
            <a:ahLst/>
            <a:cxnLst/>
            <a:rect l="l" t="t" r="r" b="b"/>
            <a:pathLst>
              <a:path w="8274501" h="3898125">
                <a:moveTo>
                  <a:pt x="0" y="0"/>
                </a:moveTo>
                <a:lnTo>
                  <a:pt x="8274501" y="0"/>
                </a:lnTo>
                <a:lnTo>
                  <a:pt x="8274501" y="3898125"/>
                </a:lnTo>
                <a:lnTo>
                  <a:pt x="0" y="3898125"/>
                </a:lnTo>
                <a:lnTo>
                  <a:pt x="0" y="0"/>
                </a:lnTo>
                <a:close/>
              </a:path>
            </a:pathLst>
          </a:custGeom>
          <a:blipFill>
            <a:blip>
              <a:extLst>
                <a:ext uri="{96DAC541-7B7A-43D3-8B79-37D633B846F1}">
                  <asvg:svgBlip xmlns:asvg="http://schemas.microsoft.com/office/drawing/2016/SVG/main" r:embed="rId3"/>
                </a:ext>
              </a:extLst>
            </a:blip>
            <a:stretch>
              <a:fillRect/>
            </a:stretch>
          </a:blipFill>
        </p:spPr>
        <p:txBody>
          <a:bodyPr/>
          <a:lstStyle/>
          <a:p>
            <a:endParaRPr lang="en-SG"/>
          </a:p>
        </p:txBody>
      </p:sp>
      <p:sp>
        <p:nvSpPr>
          <p:cNvPr id="9" name="TextBox 9"/>
          <p:cNvSpPr txBox="1"/>
          <p:nvPr/>
        </p:nvSpPr>
        <p:spPr>
          <a:xfrm>
            <a:off x="1919402" y="2284905"/>
            <a:ext cx="114195" cy="247164"/>
          </a:xfrm>
          <a:prstGeom prst="rect">
            <a:avLst/>
          </a:prstGeom>
        </p:spPr>
        <p:txBody>
          <a:bodyPr lIns="0" tIns="0" rIns="0" bIns="0" rtlCol="0" anchor="t">
            <a:spAutoFit/>
          </a:bodyPr>
          <a:lstStyle/>
          <a:p>
            <a:pPr algn="l">
              <a:lnSpc>
                <a:spcPts val="2043"/>
              </a:lnSpc>
              <a:defRPr>
                <a:latin typeface="Space Mono"/>
                <a:ea typeface="Space Mono"/>
                <a:cs typeface="Space Mono"/>
              </a:defRPr>
            </a:pPr>
            <a:r>
              <a:rPr lang="en-US" sz="1459" spc="7">
                <a:solidFill>
                  <a:srgbClr val="000000"/>
                </a:solidFill>
                <a:latin typeface="Space Mono"/>
                <a:ea typeface="Space Mono"/>
                <a:cs typeface="Space Mono"/>
                <a:sym typeface="Montserrat"/>
              </a:rPr>
              <a:t>●</a:t>
            </a:r>
          </a:p>
        </p:txBody>
      </p:sp>
      <p:sp>
        <p:nvSpPr>
          <p:cNvPr id="10" name="TextBox 10"/>
          <p:cNvSpPr txBox="1"/>
          <p:nvPr/>
        </p:nvSpPr>
        <p:spPr>
          <a:xfrm>
            <a:off x="1774688" y="4463482"/>
            <a:ext cx="5374072" cy="252803"/>
          </a:xfrm>
          <a:prstGeom prst="rect">
            <a:avLst/>
          </a:prstGeom>
        </p:spPr>
        <p:txBody>
          <a:bodyPr lIns="0" tIns="0" rIns="0" bIns="0" rtlCol="0" anchor="t">
            <a:spAutoFit/>
          </a:bodyPr>
          <a:lstStyle/>
          <a:p>
            <a:pPr algn="l">
              <a:lnSpc>
                <a:spcPts val="2043"/>
              </a:lnSpc>
              <a:defRPr>
                <a:latin typeface="Space Mono"/>
                <a:ea typeface="Space Mono"/>
                <a:cs typeface="Space Mono"/>
              </a:defRPr>
            </a:pPr>
            <a:r>
              <a:rPr lang="en-US" sz="1459" spc="7">
                <a:solidFill>
                  <a:srgbClr val="000000"/>
                </a:solidFill>
                <a:latin typeface="Space Mono"/>
                <a:ea typeface="Space Mono"/>
                <a:cs typeface="Space Mono"/>
                <a:sym typeface="Montserrat"/>
              </a:rPr>
              <a:t>When you are done SAVE YOUR SKETCH AS OBC_DAY5!</a:t>
            </a:r>
          </a:p>
        </p:txBody>
      </p:sp>
      <p:sp>
        <p:nvSpPr>
          <p:cNvPr id="11" name="TextBox 11"/>
          <p:cNvSpPr txBox="1"/>
          <p:nvPr/>
        </p:nvSpPr>
        <p:spPr>
          <a:xfrm>
            <a:off x="2287972" y="2242204"/>
            <a:ext cx="7721327" cy="842877"/>
          </a:xfrm>
          <a:prstGeom prst="rect">
            <a:avLst/>
          </a:prstGeom>
        </p:spPr>
        <p:txBody>
          <a:bodyPr lIns="0" tIns="0" rIns="0" bIns="0" rtlCol="0" anchor="t">
            <a:spAutoFit/>
          </a:bodyPr>
          <a:lstStyle/>
          <a:p>
            <a:pPr algn="l">
              <a:lnSpc>
                <a:spcPts val="2251"/>
              </a:lnSpc>
              <a:defRPr>
                <a:latin typeface="Ubuntu"/>
                <a:ea typeface="Ubuntu"/>
                <a:cs typeface="Ubuntu"/>
              </a:defRPr>
            </a:pPr>
            <a:r>
              <a:rPr lang="en-US" sz="1459" spc="7">
                <a:solidFill>
                  <a:srgbClr val="000000"/>
                </a:solidFill>
                <a:latin typeface="Ubuntu"/>
                <a:ea typeface="Ubuntu"/>
                <a:cs typeface="Ubuntu"/>
                <a:sym typeface="Montserrat"/>
              </a:rPr>
              <a:t>Implement a code to monitor the STATUS so that, even when we don't explicitly request 'ALL' or 'STATUS,' if the satellite detects a warning, it will send a message to the ground station via LoRa.</a:t>
            </a:r>
          </a:p>
        </p:txBody>
      </p:sp>
      <p:sp>
        <p:nvSpPr>
          <p:cNvPr id="12" name="TextBox 12"/>
          <p:cNvSpPr txBox="1"/>
          <p:nvPr/>
        </p:nvSpPr>
        <p:spPr>
          <a:xfrm>
            <a:off x="1774688" y="3376622"/>
            <a:ext cx="6127604" cy="251879"/>
          </a:xfrm>
          <a:prstGeom prst="rect">
            <a:avLst/>
          </a:prstGeom>
        </p:spPr>
        <p:txBody>
          <a:bodyPr lIns="0" tIns="0" rIns="0" bIns="0" rtlCol="0" anchor="t">
            <a:spAutoFit/>
          </a:bodyPr>
          <a:lstStyle/>
          <a:p>
            <a:pPr algn="l">
              <a:lnSpc>
                <a:spcPts val="2043"/>
              </a:lnSpc>
              <a:defRPr>
                <a:latin typeface="Ubuntu"/>
                <a:ea typeface="Ubuntu"/>
                <a:cs typeface="Ubuntu"/>
              </a:defRPr>
            </a:pPr>
            <a:r>
              <a:rPr lang="en-US" sz="1459" spc="7">
                <a:solidFill>
                  <a:srgbClr val="000000"/>
                </a:solidFill>
                <a:latin typeface="Ubuntu"/>
                <a:ea typeface="Ubuntu"/>
                <a:cs typeface="Ubuntu"/>
                <a:sym typeface="Montserrat"/>
              </a:rPr>
              <a:t>[6m 15s] [Team Name] STATUS = WARNING! VBAT is too low: 3.5 V! </a:t>
            </a:r>
          </a:p>
        </p:txBody>
      </p:sp>
      <p:pic>
        <p:nvPicPr>
          <p:cNvPr id="13"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a:p>
          </p:txBody>
        </p:sp>
      </p:grpSp>
      <p:grpSp>
        <p:nvGrpSpPr>
          <p:cNvPr id="9" name="Group 9"/>
          <p:cNvGrpSpPr/>
          <p:nvPr/>
        </p:nvGrpSpPr>
        <p:grpSpPr>
          <a:xfrm>
            <a:off x="1821180" y="2961132"/>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4572"/>
                  </a:moveTo>
                  <a:cubicBezTo>
                    <a:pt x="13716" y="9144"/>
                    <a:pt x="9144" y="13716"/>
                    <a:pt x="4572" y="21336"/>
                  </a:cubicBezTo>
                  <a:cubicBezTo>
                    <a:pt x="1524" y="27432"/>
                    <a:pt x="0" y="35052"/>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5052"/>
                    <a:pt x="80772" y="27432"/>
                    <a:pt x="77724" y="21336"/>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1" name="Group 11"/>
          <p:cNvGrpSpPr/>
          <p:nvPr/>
        </p:nvGrpSpPr>
        <p:grpSpPr>
          <a:xfrm>
            <a:off x="1821180" y="3261360"/>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3716" y="9144"/>
                    <a:pt x="9144" y="13716"/>
                    <a:pt x="4572" y="19812"/>
                  </a:cubicBezTo>
                  <a:cubicBezTo>
                    <a:pt x="1524" y="27432"/>
                    <a:pt x="0" y="33528"/>
                    <a:pt x="0" y="41148"/>
                  </a:cubicBezTo>
                  <a:cubicBezTo>
                    <a:pt x="0" y="53340"/>
                    <a:pt x="3048" y="62484"/>
                    <a:pt x="12192" y="71628"/>
                  </a:cubicBezTo>
                  <a:cubicBezTo>
                    <a:pt x="19812" y="79248"/>
                    <a:pt x="28956" y="83820"/>
                    <a:pt x="41148" y="83820"/>
                  </a:cubicBezTo>
                  <a:cubicBezTo>
                    <a:pt x="53340" y="83820"/>
                    <a:pt x="62484" y="79248"/>
                    <a:pt x="70104" y="71628"/>
                  </a:cubicBezTo>
                  <a:cubicBezTo>
                    <a:pt x="79248" y="62484"/>
                    <a:pt x="83820" y="53340"/>
                    <a:pt x="83820" y="41148"/>
                  </a:cubicBezTo>
                  <a:cubicBezTo>
                    <a:pt x="83820" y="33528"/>
                    <a:pt x="80772" y="27432"/>
                    <a:pt x="77724" y="19812"/>
                  </a:cubicBezTo>
                  <a:cubicBezTo>
                    <a:pt x="73152" y="13716"/>
                    <a:pt x="68580" y="9144"/>
                    <a:pt x="62484" y="4572"/>
                  </a:cubicBezTo>
                  <a:cubicBezTo>
                    <a:pt x="54864" y="1524"/>
                    <a:pt x="48768" y="0"/>
                    <a:pt x="41148" y="0"/>
                  </a:cubicBezTo>
                  <a:cubicBezTo>
                    <a:pt x="33528" y="0"/>
                    <a:pt x="27432" y="1524"/>
                    <a:pt x="21336" y="4572"/>
                  </a:cubicBezTo>
                  <a:close/>
                </a:path>
              </a:pathLst>
            </a:custGeom>
            <a:solidFill>
              <a:srgbClr val="000000"/>
            </a:solidFill>
          </p:spPr>
          <p:txBody>
            <a:bodyPr/>
            <a:lstStyle/>
            <a:p>
              <a:endParaRPr/>
            </a:p>
          </p:txBody>
        </p:sp>
      </p:grpSp>
      <p:grpSp>
        <p:nvGrpSpPr>
          <p:cNvPr id="13" name="Group 13"/>
          <p:cNvGrpSpPr/>
          <p:nvPr/>
        </p:nvGrpSpPr>
        <p:grpSpPr>
          <a:xfrm>
            <a:off x="1821180" y="3560064"/>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6096"/>
                  </a:moveTo>
                  <a:cubicBezTo>
                    <a:pt x="13716" y="9144"/>
                    <a:pt x="9144" y="13716"/>
                    <a:pt x="4572" y="21336"/>
                  </a:cubicBezTo>
                  <a:cubicBezTo>
                    <a:pt x="1524" y="27432"/>
                    <a:pt x="0" y="35052"/>
                    <a:pt x="0" y="42672"/>
                  </a:cubicBezTo>
                  <a:cubicBezTo>
                    <a:pt x="0" y="53340"/>
                    <a:pt x="3048" y="64008"/>
                    <a:pt x="12192" y="71628"/>
                  </a:cubicBezTo>
                  <a:cubicBezTo>
                    <a:pt x="19812" y="79248"/>
                    <a:pt x="28956" y="83820"/>
                    <a:pt x="41148" y="83820"/>
                  </a:cubicBezTo>
                  <a:cubicBezTo>
                    <a:pt x="53340" y="83820"/>
                    <a:pt x="62484" y="79248"/>
                    <a:pt x="70104" y="71628"/>
                  </a:cubicBezTo>
                  <a:cubicBezTo>
                    <a:pt x="79248" y="64008"/>
                    <a:pt x="83820" y="53340"/>
                    <a:pt x="83820" y="42672"/>
                  </a:cubicBezTo>
                  <a:cubicBezTo>
                    <a:pt x="83820" y="35052"/>
                    <a:pt x="80772" y="27432"/>
                    <a:pt x="77724" y="21336"/>
                  </a:cubicBezTo>
                  <a:cubicBezTo>
                    <a:pt x="73152" y="13716"/>
                    <a:pt x="68580" y="9144"/>
                    <a:pt x="62484" y="6096"/>
                  </a:cubicBezTo>
                  <a:cubicBezTo>
                    <a:pt x="54864" y="1524"/>
                    <a:pt x="48768" y="0"/>
                    <a:pt x="41148" y="0"/>
                  </a:cubicBezTo>
                  <a:cubicBezTo>
                    <a:pt x="33528" y="0"/>
                    <a:pt x="27432" y="1524"/>
                    <a:pt x="21336" y="6096"/>
                  </a:cubicBezTo>
                  <a:close/>
                </a:path>
              </a:pathLst>
            </a:custGeom>
            <a:solidFill>
              <a:srgbClr val="000000"/>
            </a:solidFill>
          </p:spPr>
          <p:txBody>
            <a:bodyPr/>
            <a:lstStyle/>
            <a:p>
              <a:endParaRPr/>
            </a:p>
          </p:txBody>
        </p:sp>
      </p:grpSp>
      <p:sp>
        <p:nvSpPr>
          <p:cNvPr id="15" name="Freeform 15"/>
          <p:cNvSpPr/>
          <p:nvPr/>
        </p:nvSpPr>
        <p:spPr>
          <a:xfrm>
            <a:off x="2114293" y="3447793"/>
            <a:ext cx="7663177" cy="311401"/>
          </a:xfrm>
          <a:custGeom>
            <a:avLst/>
            <a:gdLst/>
            <a:ahLst/>
            <a:cxnLst/>
            <a:rect l="l" t="t" r="r" b="b"/>
            <a:pathLst>
              <a:path w="7663177" h="311401">
                <a:moveTo>
                  <a:pt x="0" y="0"/>
                </a:moveTo>
                <a:lnTo>
                  <a:pt x="7663177" y="0"/>
                </a:lnTo>
                <a:lnTo>
                  <a:pt x="7663177" y="311401"/>
                </a:lnTo>
                <a:lnTo>
                  <a:pt x="0" y="311401"/>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a:p>
        </p:txBody>
      </p:sp>
      <p:grpSp>
        <p:nvGrpSpPr>
          <p:cNvPr id="16" name="Group 16"/>
          <p:cNvGrpSpPr/>
          <p:nvPr/>
        </p:nvGrpSpPr>
        <p:grpSpPr>
          <a:xfrm>
            <a:off x="2343912" y="4081272"/>
            <a:ext cx="6775704" cy="118872"/>
            <a:chOff x="0" y="0"/>
            <a:chExt cx="9034272" cy="158496"/>
          </a:xfrm>
        </p:grpSpPr>
        <p:sp>
          <p:nvSpPr>
            <p:cNvPr id="17" name="Freeform 17"/>
            <p:cNvSpPr/>
            <p:nvPr/>
          </p:nvSpPr>
          <p:spPr>
            <a:xfrm>
              <a:off x="0" y="0"/>
              <a:ext cx="9034272" cy="158496"/>
            </a:xfrm>
            <a:custGeom>
              <a:avLst/>
              <a:gdLst/>
              <a:ahLst/>
              <a:cxnLst/>
              <a:rect l="l" t="t" r="r" b="b"/>
              <a:pathLst>
                <a:path w="9034272" h="158496">
                  <a:moveTo>
                    <a:pt x="0" y="0"/>
                  </a:moveTo>
                  <a:lnTo>
                    <a:pt x="9034272" y="0"/>
                  </a:lnTo>
                  <a:lnTo>
                    <a:pt x="9034272" y="158496"/>
                  </a:lnTo>
                  <a:lnTo>
                    <a:pt x="0" y="158496"/>
                  </a:lnTo>
                  <a:lnTo>
                    <a:pt x="0" y="0"/>
                  </a:lnTo>
                  <a:close/>
                </a:path>
              </a:pathLst>
            </a:custGeom>
            <a:blipFill>
              <a:blip r:embed="rId3"/>
              <a:stretch>
                <a:fillRect/>
              </a:stretch>
            </a:blipFill>
          </p:spPr>
          <p:txBody>
            <a:bodyPr/>
            <a:lstStyle/>
            <a:p>
              <a:endParaRPr/>
            </a:p>
          </p:txBody>
        </p:sp>
      </p:grpSp>
      <p:grpSp>
        <p:nvGrpSpPr>
          <p:cNvPr id="18" name="Group 18"/>
          <p:cNvGrpSpPr/>
          <p:nvPr/>
        </p:nvGrpSpPr>
        <p:grpSpPr>
          <a:xfrm>
            <a:off x="2343912" y="4197096"/>
            <a:ext cx="6775704" cy="2453640"/>
            <a:chOff x="0" y="0"/>
            <a:chExt cx="9034272" cy="3271520"/>
          </a:xfrm>
        </p:grpSpPr>
        <p:sp>
          <p:nvSpPr>
            <p:cNvPr id="19" name="Freeform 19"/>
            <p:cNvSpPr/>
            <p:nvPr/>
          </p:nvSpPr>
          <p:spPr>
            <a:xfrm>
              <a:off x="0" y="0"/>
              <a:ext cx="9034272" cy="3271520"/>
            </a:xfrm>
            <a:custGeom>
              <a:avLst/>
              <a:gdLst/>
              <a:ahLst/>
              <a:cxnLst/>
              <a:rect l="l" t="t" r="r" b="b"/>
              <a:pathLst>
                <a:path w="9034272" h="3271520">
                  <a:moveTo>
                    <a:pt x="0" y="0"/>
                  </a:moveTo>
                  <a:lnTo>
                    <a:pt x="9034272" y="0"/>
                  </a:lnTo>
                  <a:lnTo>
                    <a:pt x="9034272" y="3271520"/>
                  </a:lnTo>
                  <a:lnTo>
                    <a:pt x="0" y="3271520"/>
                  </a:lnTo>
                  <a:lnTo>
                    <a:pt x="0" y="0"/>
                  </a:lnTo>
                  <a:close/>
                </a:path>
              </a:pathLst>
            </a:custGeom>
            <a:blipFill>
              <a:blip r:embed="rId4"/>
              <a:stretch>
                <a:fillRect/>
              </a:stretch>
            </a:blipFill>
          </p:spPr>
          <p:txBody>
            <a:bodyPr/>
            <a:lstStyle/>
            <a:p>
              <a:endParaRPr/>
            </a:p>
          </p:txBody>
        </p:sp>
      </p:grpSp>
      <p:sp>
        <p:nvSpPr>
          <p:cNvPr id="20" name="TextBox 20"/>
          <p:cNvSpPr txBox="1"/>
          <p:nvPr/>
        </p:nvSpPr>
        <p:spPr>
          <a:xfrm>
            <a:off x="1632204" y="1286494"/>
            <a:ext cx="5120640" cy="1518904"/>
          </a:xfrm>
          <a:prstGeom prst="rect">
            <a:avLst/>
          </a:prstGeom>
        </p:spPr>
        <p:txBody>
          <a:bodyPr wrap="square" lIns="0" tIns="0" rIns="0" bIns="0" rtlCol="0" anchor="t">
            <a:spAutoFit/>
          </a:bodyPr>
          <a:lstStyle/>
          <a:p>
            <a:pPr algn="l">
              <a:lnSpc>
                <a:spcPts val="4764"/>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Taking a picture</a:t>
            </a:r>
          </a:p>
          <a:p>
            <a:pPr algn="l">
              <a:lnSpc>
                <a:spcPts val="2363"/>
              </a:lnSpc>
              <a:defRPr>
                <a:latin typeface="Ubuntu"/>
                <a:ea typeface="Ubuntu"/>
                <a:cs typeface="Ubuntu"/>
              </a:defRPr>
            </a:pPr>
            <a:r>
              <a:rPr lang="en-US" sz="1512" spc="-7">
                <a:solidFill>
                  <a:srgbClr val="000000"/>
                </a:solidFill>
                <a:latin typeface="Ubuntu"/>
                <a:ea typeface="Ubuntu"/>
                <a:cs typeface="Ubuntu"/>
                <a:sym typeface="Montserrat"/>
              </a:rPr>
              <a:t>The satellite has a serial camera module called Adafruit VC0706.</a:t>
            </a:r>
          </a:p>
          <a:p>
            <a:pPr algn="l">
              <a:lnSpc>
                <a:spcPts val="2363"/>
              </a:lnSpc>
              <a:defRPr>
                <a:latin typeface="Space Mono"/>
                <a:ea typeface="Space Mono"/>
                <a:cs typeface="Space Mono"/>
              </a:defRPr>
            </a:pPr>
            <a:r>
              <a:rPr lang="en-US" sz="1512" spc="-7">
                <a:solidFill>
                  <a:srgbClr val="000000"/>
                </a:solidFill>
                <a:latin typeface="Space Mono"/>
                <a:ea typeface="Space Mono"/>
                <a:cs typeface="Space Mono"/>
                <a:sym typeface="Montserrat"/>
              </a:rPr>
              <a:t>By referring to its online documentation:</a:t>
            </a:r>
          </a:p>
        </p:txBody>
      </p:sp>
      <p:sp>
        <p:nvSpPr>
          <p:cNvPr id="21" name="TextBox 21"/>
          <p:cNvSpPr txBox="1"/>
          <p:nvPr/>
        </p:nvSpPr>
        <p:spPr>
          <a:xfrm>
            <a:off x="2167185" y="3730590"/>
            <a:ext cx="3136182" cy="269443"/>
          </a:xfrm>
          <a:prstGeom prst="rect">
            <a:avLst/>
          </a:prstGeom>
        </p:spPr>
        <p:txBody>
          <a:bodyPr lIns="0" tIns="0" rIns="0" bIns="0" rtlCol="0" anchor="t">
            <a:spAutoFit/>
          </a:bodyPr>
          <a:lstStyle/>
          <a:p>
            <a:pPr algn="l">
              <a:lnSpc>
                <a:spcPts val="2116"/>
              </a:lnSpc>
              <a:defRPr>
                <a:latin typeface="Space Mono"/>
                <a:ea typeface="Space Mono"/>
                <a:cs typeface="Space Mono"/>
              </a:defRPr>
            </a:pPr>
            <a:r>
              <a:rPr lang="en-US" sz="1512" spc="-9">
                <a:solidFill>
                  <a:srgbClr val="000000"/>
                </a:solidFill>
                <a:latin typeface="Space Mono"/>
                <a:ea typeface="Space Mono"/>
                <a:cs typeface="Space Mono"/>
                <a:sym typeface="Montserrat"/>
              </a:rPr>
              <a:t>will see how to convert it to JPG!</a:t>
            </a:r>
          </a:p>
        </p:txBody>
      </p:sp>
      <p:sp>
        <p:nvSpPr>
          <p:cNvPr id="22" name="TextBox 22"/>
          <p:cNvSpPr txBox="1"/>
          <p:nvPr/>
        </p:nvSpPr>
        <p:spPr>
          <a:xfrm>
            <a:off x="2167185" y="2815552"/>
            <a:ext cx="7717060" cy="588626"/>
          </a:xfrm>
          <a:prstGeom prst="rect">
            <a:avLst/>
          </a:prstGeom>
        </p:spPr>
        <p:txBody>
          <a:bodyPr lIns="0" tIns="0" rIns="0" bIns="0" rtlCol="0" anchor="t">
            <a:spAutoFit/>
          </a:bodyPr>
          <a:lstStyle/>
          <a:p>
            <a:pPr algn="l">
              <a:lnSpc>
                <a:spcPts val="2363"/>
              </a:lnSpc>
              <a:defRPr>
                <a:latin typeface="Space Mono"/>
                <a:ea typeface="Space Mono"/>
                <a:cs typeface="Space Mono"/>
              </a:defRPr>
            </a:pPr>
            <a:r>
              <a:rPr lang="en-US" sz="1512" spc="-7">
                <a:solidFill>
                  <a:srgbClr val="000000"/>
                </a:solidFill>
                <a:latin typeface="Space Mono"/>
                <a:ea typeface="Space Mono"/>
                <a:cs typeface="Space Mono"/>
                <a:sym typeface="Montserrat"/>
              </a:rPr>
              <a:t>Create a new sketch.</a:t>
            </a:r>
          </a:p>
          <a:p>
            <a:pPr algn="l">
              <a:lnSpc>
                <a:spcPts val="2363"/>
              </a:lnSpc>
              <a:defRPr>
                <a:latin typeface="Ubuntu"/>
                <a:ea typeface="Ubuntu"/>
                <a:cs typeface="Ubuntu"/>
              </a:defRPr>
            </a:pPr>
            <a:r>
              <a:rPr lang="en-US" sz="1512" spc="-7">
                <a:solidFill>
                  <a:srgbClr val="000000"/>
                </a:solidFill>
                <a:latin typeface="Ubuntu"/>
                <a:ea typeface="Ubuntu"/>
                <a:cs typeface="Ubuntu"/>
                <a:sym typeface="Montserrat"/>
              </a:rPr>
              <a:t>Refer to the OBC schematics to understand the camera connection to Arduino.</a:t>
            </a:r>
          </a:p>
        </p:txBody>
      </p:sp>
      <p:pic>
        <p:nvPicPr>
          <p:cNvPr id="23" name="MainLogo" descr="MainLogo.png"/>
          <p:cNvPicPr>
            <a:picLocks noChangeAspect="1"/>
          </p:cNvPicPr>
          <p:nvPr/>
        </p:nvPicPr>
        <p:blipFill>
          <a:blip r:embed="rId5"/>
          <a:stretch>
            <a:fillRect/>
          </a:stretch>
        </p:blipFill>
        <p:spPr>
          <a:xfrm>
            <a:off x="8398256" y="301752"/>
            <a:ext cx="1965960" cy="655844"/>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sp>
        <p:nvSpPr>
          <p:cNvPr id="9" name="Freeform 9"/>
          <p:cNvSpPr/>
          <p:nvPr/>
        </p:nvSpPr>
        <p:spPr>
          <a:xfrm>
            <a:off x="1593085" y="2848861"/>
            <a:ext cx="4042153" cy="271777"/>
          </a:xfrm>
          <a:custGeom>
            <a:avLst/>
            <a:gdLst/>
            <a:ahLst/>
            <a:cxnLst/>
            <a:rect l="l" t="t" r="r" b="b"/>
            <a:pathLst>
              <a:path w="4042153" h="271777">
                <a:moveTo>
                  <a:pt x="0" y="0"/>
                </a:moveTo>
                <a:lnTo>
                  <a:pt x="4042153" y="0"/>
                </a:lnTo>
                <a:lnTo>
                  <a:pt x="4042153" y="271777"/>
                </a:lnTo>
                <a:lnTo>
                  <a:pt x="0" y="271777"/>
                </a:lnTo>
                <a:lnTo>
                  <a:pt x="0" y="0"/>
                </a:lnTo>
                <a:close/>
              </a:path>
            </a:pathLst>
          </a:custGeom>
          <a:blipFill>
            <a:blip>
              <a:extLst>
                <a:ext uri="{96DAC541-7B7A-43D3-8B79-37D633B846F1}">
                  <asvg:svgBlip xmlns:asvg="http://schemas.microsoft.com/office/drawing/2016/SVG/main" r:embed="rId2"/>
                </a:ext>
              </a:extLst>
            </a:blip>
            <a:stretch>
              <a:fillRect/>
            </a:stretch>
          </a:blipFill>
        </p:spPr>
        <p:txBody>
          <a:bodyPr/>
          <a:lstStyle/>
          <a:p>
            <a:endParaRPr lang="en-SG"/>
          </a:p>
        </p:txBody>
      </p:sp>
      <p:sp>
        <p:nvSpPr>
          <p:cNvPr id="10" name="TextBox 10"/>
          <p:cNvSpPr txBox="1"/>
          <p:nvPr/>
        </p:nvSpPr>
        <p:spPr>
          <a:xfrm>
            <a:off x="1632204" y="1334119"/>
            <a:ext cx="6855257" cy="1171146"/>
          </a:xfrm>
          <a:prstGeom prst="rect">
            <a:avLst/>
          </a:prstGeom>
        </p:spPr>
        <p:txBody>
          <a:bodyPr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Camera &amp; CoolTerm</a:t>
            </a:r>
          </a:p>
          <a:p>
            <a:pPr algn="l">
              <a:lnSpc>
                <a:spcPts val="2116"/>
              </a:lnSpc>
              <a:defRPr>
                <a:latin typeface="Ubuntu"/>
                <a:ea typeface="Ubuntu"/>
                <a:cs typeface="Ubuntu"/>
              </a:defRPr>
            </a:pPr>
            <a:r>
              <a:rPr lang="en-US" sz="1512" spc="-7">
                <a:solidFill>
                  <a:srgbClr val="000000"/>
                </a:solidFill>
                <a:latin typeface="Ubuntu"/>
                <a:ea typeface="Ubuntu"/>
                <a:cs typeface="Ubuntu"/>
                <a:sym typeface="Montserrat"/>
              </a:rPr>
              <a:t>To capture a picture with the OBC camera we need to open CoolTerm.</a:t>
            </a:r>
          </a:p>
        </p:txBody>
      </p:sp>
      <p:sp>
        <p:nvSpPr>
          <p:cNvPr id="11" name="TextBox 11"/>
          <p:cNvSpPr txBox="1"/>
          <p:nvPr/>
        </p:nvSpPr>
        <p:spPr>
          <a:xfrm>
            <a:off x="5637247" y="2834602"/>
            <a:ext cx="2188197" cy="269443"/>
          </a:xfrm>
          <a:prstGeom prst="rect">
            <a:avLst/>
          </a:prstGeom>
        </p:spPr>
        <p:txBody>
          <a:bodyPr lIns="0" tIns="0" rIns="0" bIns="0" rtlCol="0" anchor="t">
            <a:spAutoFit/>
          </a:bodyPr>
          <a:lstStyle/>
          <a:p>
            <a:pPr algn="l">
              <a:lnSpc>
                <a:spcPts val="2116"/>
              </a:lnSpc>
              <a:defRPr>
                <a:latin typeface="Space Mono"/>
                <a:ea typeface="Space Mono"/>
                <a:cs typeface="Space Mono"/>
              </a:defRPr>
            </a:pPr>
            <a:r>
              <a:rPr lang="en-US" sz="1512" spc="-10">
                <a:solidFill>
                  <a:srgbClr val="000000"/>
                </a:solidFill>
                <a:latin typeface="Space Mono"/>
                <a:ea typeface="Space Mono"/>
                <a:cs typeface="Space Mono"/>
                <a:sym typeface="Montserrat"/>
              </a:rPr>
              <a:t>-Code Solutions Day6!</a:t>
            </a:r>
          </a:p>
        </p:txBody>
      </p:sp>
      <p:pic>
        <p:nvPicPr>
          <p:cNvPr id="12" name="MainLogo" descr="MainLogo.png"/>
          <p:cNvPicPr>
            <a:picLocks noChangeAspect="1"/>
          </p:cNvPicPr>
          <p:nvPr/>
        </p:nvPicPr>
        <p:blipFill>
          <a:blip r:embed="rId3"/>
          <a:stretch>
            <a:fillRect/>
          </a:stretch>
        </p:blipFill>
        <p:spPr>
          <a:xfrm>
            <a:off x="8398256" y="301752"/>
            <a:ext cx="1965960" cy="655844"/>
          </a:xfrm>
          <a:prstGeom prst="rect">
            <a:avLst/>
          </a:prstGeom>
        </p:spPr>
      </p:pic>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130808" y="3038856"/>
            <a:ext cx="9386316" cy="1383792"/>
            <a:chOff x="0" y="0"/>
            <a:chExt cx="12515088" cy="1845056"/>
          </a:xfrm>
        </p:grpSpPr>
        <p:sp>
          <p:nvSpPr>
            <p:cNvPr id="10" name="Freeform 10"/>
            <p:cNvSpPr/>
            <p:nvPr/>
          </p:nvSpPr>
          <p:spPr>
            <a:xfrm>
              <a:off x="0" y="0"/>
              <a:ext cx="12515088" cy="1845056"/>
            </a:xfrm>
            <a:custGeom>
              <a:avLst/>
              <a:gdLst/>
              <a:ahLst/>
              <a:cxnLst/>
              <a:rect l="l" t="t" r="r" b="b"/>
              <a:pathLst>
                <a:path w="12515088" h="1845056">
                  <a:moveTo>
                    <a:pt x="0" y="0"/>
                  </a:moveTo>
                  <a:lnTo>
                    <a:pt x="12515088" y="0"/>
                  </a:lnTo>
                  <a:lnTo>
                    <a:pt x="12515088" y="1845056"/>
                  </a:lnTo>
                  <a:lnTo>
                    <a:pt x="0" y="1845056"/>
                  </a:lnTo>
                  <a:lnTo>
                    <a:pt x="0" y="0"/>
                  </a:lnTo>
                  <a:close/>
                </a:path>
              </a:pathLst>
            </a:custGeom>
            <a:blipFill>
              <a:blip r:embed="rId2"/>
              <a:stretch>
                <a:fillRect t="-220" r="-16"/>
              </a:stretch>
            </a:blipFill>
          </p:spPr>
          <p:txBody>
            <a:bodyPr/>
            <a:lstStyle/>
            <a:p>
              <a:endParaRPr lang="en-SG"/>
            </a:p>
          </p:txBody>
        </p:sp>
      </p:grpSp>
      <p:grpSp>
        <p:nvGrpSpPr>
          <p:cNvPr id="11" name="Group 11"/>
          <p:cNvGrpSpPr/>
          <p:nvPr/>
        </p:nvGrpSpPr>
        <p:grpSpPr>
          <a:xfrm>
            <a:off x="1130808" y="4416552"/>
            <a:ext cx="9386316" cy="1569720"/>
            <a:chOff x="0" y="0"/>
            <a:chExt cx="12515088" cy="2092960"/>
          </a:xfrm>
        </p:grpSpPr>
        <p:sp>
          <p:nvSpPr>
            <p:cNvPr id="12" name="Freeform 12"/>
            <p:cNvSpPr/>
            <p:nvPr/>
          </p:nvSpPr>
          <p:spPr>
            <a:xfrm>
              <a:off x="0" y="0"/>
              <a:ext cx="12515088" cy="2092960"/>
            </a:xfrm>
            <a:custGeom>
              <a:avLst/>
              <a:gdLst/>
              <a:ahLst/>
              <a:cxnLst/>
              <a:rect l="l" t="t" r="r" b="b"/>
              <a:pathLst>
                <a:path w="12515088" h="2092960">
                  <a:moveTo>
                    <a:pt x="0" y="0"/>
                  </a:moveTo>
                  <a:lnTo>
                    <a:pt x="12515088" y="0"/>
                  </a:lnTo>
                  <a:lnTo>
                    <a:pt x="12515088" y="2092960"/>
                  </a:lnTo>
                  <a:lnTo>
                    <a:pt x="0" y="2092960"/>
                  </a:lnTo>
                  <a:lnTo>
                    <a:pt x="0" y="0"/>
                  </a:lnTo>
                  <a:close/>
                </a:path>
              </a:pathLst>
            </a:custGeom>
            <a:blipFill>
              <a:blip r:embed="rId3"/>
              <a:stretch>
                <a:fillRect/>
              </a:stretch>
            </a:blipFill>
          </p:spPr>
          <p:txBody>
            <a:bodyPr/>
            <a:lstStyle/>
            <a:p>
              <a:endParaRPr lang="en-SG"/>
            </a:p>
          </p:txBody>
        </p:sp>
      </p:grpSp>
      <p:sp>
        <p:nvSpPr>
          <p:cNvPr id="13" name="TextBox 13"/>
          <p:cNvSpPr txBox="1"/>
          <p:nvPr/>
        </p:nvSpPr>
        <p:spPr>
          <a:xfrm>
            <a:off x="1632385" y="1334119"/>
            <a:ext cx="5156587" cy="523504"/>
          </a:xfrm>
          <a:prstGeom prst="rect">
            <a:avLst/>
          </a:prstGeom>
        </p:spPr>
        <p:txBody>
          <a:bodyPr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Final Exercise -Challenge!</a:t>
            </a:r>
          </a:p>
        </p:txBody>
      </p:sp>
      <p:sp>
        <p:nvSpPr>
          <p:cNvPr id="14" name="TextBox 14"/>
          <p:cNvSpPr txBox="1"/>
          <p:nvPr/>
        </p:nvSpPr>
        <p:spPr>
          <a:xfrm>
            <a:off x="1444790" y="2218163"/>
            <a:ext cx="8701678" cy="588626"/>
          </a:xfrm>
          <a:prstGeom prst="rect">
            <a:avLst/>
          </a:prstGeom>
        </p:spPr>
        <p:txBody>
          <a:bodyPr lIns="0" tIns="0" rIns="0" bIns="0" rtlCol="0" anchor="t">
            <a:spAutoFit/>
          </a:bodyPr>
          <a:lstStyle/>
          <a:p>
            <a:pPr algn="l">
              <a:lnSpc>
                <a:spcPts val="2363"/>
              </a:lnSpc>
              <a:defRPr>
                <a:latin typeface="Ubuntu"/>
                <a:ea typeface="Ubuntu"/>
                <a:cs typeface="Ubuntu"/>
              </a:defRPr>
            </a:pPr>
            <a:r>
              <a:rPr lang="en-US" sz="1512" spc="-9">
                <a:solidFill>
                  <a:srgbClr val="000000"/>
                </a:solidFill>
                <a:latin typeface="Ubuntu"/>
                <a:ea typeface="Ubuntu"/>
                <a:cs typeface="Ubuntu"/>
                <a:sym typeface="Montserrat"/>
              </a:rPr>
              <a:t>Configure your entire satellite so that it takes the following commands from your ground stations!</a:t>
            </a:r>
          </a:p>
        </p:txBody>
      </p:sp>
      <p:pic>
        <p:nvPicPr>
          <p:cNvPr id="15" name="MainLogo" descr="MainLogo.png"/>
          <p:cNvPicPr>
            <a:picLocks noChangeAspect="1"/>
          </p:cNvPicPr>
          <p:nvPr/>
        </p:nvPicPr>
        <p:blipFill>
          <a:blip r:embed="rId4"/>
          <a:stretch>
            <a:fillRect/>
          </a:stretch>
        </p:blipFill>
        <p:spPr>
          <a:xfrm>
            <a:off x="8398256" y="301752"/>
            <a:ext cx="1965960" cy="655844"/>
          </a:xfrm>
          <a:prstGeom prst="rect">
            <a:avLst/>
          </a:prstGeom>
        </p:spPr>
      </p:pic>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1632204" y="2363724"/>
            <a:ext cx="83820" cy="83820"/>
            <a:chOff x="0" y="0"/>
            <a:chExt cx="83820" cy="83820"/>
          </a:xfrm>
        </p:grpSpPr>
        <p:sp>
          <p:nvSpPr>
            <p:cNvPr id="10" name="Freeform 10"/>
            <p:cNvSpPr/>
            <p:nvPr/>
          </p:nvSpPr>
          <p:spPr>
            <a:xfrm>
              <a:off x="0" y="0"/>
              <a:ext cx="83820" cy="83820"/>
            </a:xfrm>
            <a:custGeom>
              <a:avLst/>
              <a:gdLst/>
              <a:ahLst/>
              <a:cxnLst/>
              <a:rect l="l" t="t" r="r" b="b"/>
              <a:pathLst>
                <a:path w="83820" h="83820">
                  <a:moveTo>
                    <a:pt x="21336" y="6096"/>
                  </a:moveTo>
                  <a:cubicBezTo>
                    <a:pt x="15240" y="9144"/>
                    <a:pt x="10668" y="13716"/>
                    <a:pt x="6096" y="21336"/>
                  </a:cubicBezTo>
                  <a:cubicBezTo>
                    <a:pt x="3048" y="27432"/>
                    <a:pt x="0" y="35052"/>
                    <a:pt x="0" y="42672"/>
                  </a:cubicBezTo>
                  <a:cubicBezTo>
                    <a:pt x="0" y="53340"/>
                    <a:pt x="4572" y="64008"/>
                    <a:pt x="12192" y="71628"/>
                  </a:cubicBezTo>
                  <a:cubicBezTo>
                    <a:pt x="21336" y="79248"/>
                    <a:pt x="30480" y="83820"/>
                    <a:pt x="42672" y="83820"/>
                  </a:cubicBezTo>
                  <a:cubicBezTo>
                    <a:pt x="53340" y="83820"/>
                    <a:pt x="64008" y="79248"/>
                    <a:pt x="71628" y="71628"/>
                  </a:cubicBezTo>
                  <a:cubicBezTo>
                    <a:pt x="80772" y="64008"/>
                    <a:pt x="83820" y="53340"/>
                    <a:pt x="83820" y="42672"/>
                  </a:cubicBezTo>
                  <a:cubicBezTo>
                    <a:pt x="83820" y="35052"/>
                    <a:pt x="82296" y="27432"/>
                    <a:pt x="79248" y="21336"/>
                  </a:cubicBezTo>
                  <a:cubicBezTo>
                    <a:pt x="74676" y="13716"/>
                    <a:pt x="70104" y="9144"/>
                    <a:pt x="62484" y="6096"/>
                  </a:cubicBezTo>
                  <a:cubicBezTo>
                    <a:pt x="56388" y="1524"/>
                    <a:pt x="48768" y="0"/>
                    <a:pt x="42672" y="0"/>
                  </a:cubicBezTo>
                  <a:cubicBezTo>
                    <a:pt x="35052" y="0"/>
                    <a:pt x="28956" y="1524"/>
                    <a:pt x="21336" y="6096"/>
                  </a:cubicBezTo>
                  <a:close/>
                </a:path>
              </a:pathLst>
            </a:custGeom>
            <a:solidFill>
              <a:srgbClr val="000000"/>
            </a:solidFill>
          </p:spPr>
          <p:txBody>
            <a:bodyPr/>
            <a:lstStyle/>
            <a:p>
              <a:endParaRPr lang="en-SG"/>
            </a:p>
          </p:txBody>
        </p:sp>
      </p:grpSp>
      <p:grpSp>
        <p:nvGrpSpPr>
          <p:cNvPr id="11" name="Group 11"/>
          <p:cNvGrpSpPr/>
          <p:nvPr/>
        </p:nvGrpSpPr>
        <p:grpSpPr>
          <a:xfrm>
            <a:off x="1632204" y="2663952"/>
            <a:ext cx="83820" cy="83820"/>
            <a:chOff x="0" y="0"/>
            <a:chExt cx="83820" cy="83820"/>
          </a:xfrm>
        </p:grpSpPr>
        <p:sp>
          <p:nvSpPr>
            <p:cNvPr id="12" name="Freeform 12"/>
            <p:cNvSpPr/>
            <p:nvPr/>
          </p:nvSpPr>
          <p:spPr>
            <a:xfrm>
              <a:off x="0" y="0"/>
              <a:ext cx="83820" cy="83820"/>
            </a:xfrm>
            <a:custGeom>
              <a:avLst/>
              <a:gdLst/>
              <a:ahLst/>
              <a:cxnLst/>
              <a:rect l="l" t="t" r="r" b="b"/>
              <a:pathLst>
                <a:path w="83820" h="83820">
                  <a:moveTo>
                    <a:pt x="21336" y="4572"/>
                  </a:moveTo>
                  <a:cubicBezTo>
                    <a:pt x="15240" y="9144"/>
                    <a:pt x="10668" y="13716"/>
                    <a:pt x="6096" y="19812"/>
                  </a:cubicBezTo>
                  <a:cubicBezTo>
                    <a:pt x="3048" y="27432"/>
                    <a:pt x="0" y="33528"/>
                    <a:pt x="0" y="41148"/>
                  </a:cubicBezTo>
                  <a:cubicBezTo>
                    <a:pt x="0" y="53340"/>
                    <a:pt x="4572" y="62484"/>
                    <a:pt x="12192" y="71628"/>
                  </a:cubicBezTo>
                  <a:cubicBezTo>
                    <a:pt x="21336" y="79248"/>
                    <a:pt x="30480" y="83820"/>
                    <a:pt x="42672" y="83820"/>
                  </a:cubicBezTo>
                  <a:cubicBezTo>
                    <a:pt x="53340" y="83820"/>
                    <a:pt x="64008" y="79248"/>
                    <a:pt x="71628" y="71628"/>
                  </a:cubicBezTo>
                  <a:cubicBezTo>
                    <a:pt x="80772" y="62484"/>
                    <a:pt x="83820" y="53340"/>
                    <a:pt x="83820" y="41148"/>
                  </a:cubicBezTo>
                  <a:cubicBezTo>
                    <a:pt x="83820" y="33528"/>
                    <a:pt x="82296" y="27432"/>
                    <a:pt x="79248" y="19812"/>
                  </a:cubicBezTo>
                  <a:cubicBezTo>
                    <a:pt x="74676" y="13716"/>
                    <a:pt x="70104" y="9144"/>
                    <a:pt x="62484" y="4572"/>
                  </a:cubicBezTo>
                  <a:cubicBezTo>
                    <a:pt x="56388" y="1524"/>
                    <a:pt x="48768" y="0"/>
                    <a:pt x="42672" y="0"/>
                  </a:cubicBezTo>
                  <a:cubicBezTo>
                    <a:pt x="35052" y="0"/>
                    <a:pt x="28956" y="1524"/>
                    <a:pt x="21336" y="4572"/>
                  </a:cubicBezTo>
                  <a:close/>
                </a:path>
              </a:pathLst>
            </a:custGeom>
            <a:solidFill>
              <a:srgbClr val="000000"/>
            </a:solidFill>
          </p:spPr>
          <p:txBody>
            <a:bodyPr/>
            <a:lstStyle/>
            <a:p>
              <a:endParaRPr lang="en-SG"/>
            </a:p>
          </p:txBody>
        </p:sp>
      </p:grpSp>
      <p:grpSp>
        <p:nvGrpSpPr>
          <p:cNvPr id="13" name="Group 13"/>
          <p:cNvGrpSpPr/>
          <p:nvPr/>
        </p:nvGrpSpPr>
        <p:grpSpPr>
          <a:xfrm>
            <a:off x="1632204" y="3261360"/>
            <a:ext cx="83820" cy="83820"/>
            <a:chOff x="0" y="0"/>
            <a:chExt cx="83820" cy="83820"/>
          </a:xfrm>
        </p:grpSpPr>
        <p:sp>
          <p:nvSpPr>
            <p:cNvPr id="14" name="Freeform 14"/>
            <p:cNvSpPr/>
            <p:nvPr/>
          </p:nvSpPr>
          <p:spPr>
            <a:xfrm>
              <a:off x="0" y="0"/>
              <a:ext cx="83820" cy="83820"/>
            </a:xfrm>
            <a:custGeom>
              <a:avLst/>
              <a:gdLst/>
              <a:ahLst/>
              <a:cxnLst/>
              <a:rect l="l" t="t" r="r" b="b"/>
              <a:pathLst>
                <a:path w="83820" h="83820">
                  <a:moveTo>
                    <a:pt x="21336" y="4572"/>
                  </a:moveTo>
                  <a:cubicBezTo>
                    <a:pt x="15240" y="9144"/>
                    <a:pt x="10668" y="13716"/>
                    <a:pt x="6096" y="19812"/>
                  </a:cubicBezTo>
                  <a:cubicBezTo>
                    <a:pt x="3048" y="27432"/>
                    <a:pt x="0" y="33528"/>
                    <a:pt x="0" y="41148"/>
                  </a:cubicBezTo>
                  <a:cubicBezTo>
                    <a:pt x="0" y="53340"/>
                    <a:pt x="4572" y="62484"/>
                    <a:pt x="12192" y="71628"/>
                  </a:cubicBezTo>
                  <a:cubicBezTo>
                    <a:pt x="21336" y="79248"/>
                    <a:pt x="30480" y="83820"/>
                    <a:pt x="42672" y="83820"/>
                  </a:cubicBezTo>
                  <a:cubicBezTo>
                    <a:pt x="53340" y="83820"/>
                    <a:pt x="64008" y="79248"/>
                    <a:pt x="71628" y="71628"/>
                  </a:cubicBezTo>
                  <a:cubicBezTo>
                    <a:pt x="80772" y="62484"/>
                    <a:pt x="83820" y="53340"/>
                    <a:pt x="83820" y="41148"/>
                  </a:cubicBezTo>
                  <a:cubicBezTo>
                    <a:pt x="83820" y="33528"/>
                    <a:pt x="82296" y="27432"/>
                    <a:pt x="79248" y="19812"/>
                  </a:cubicBezTo>
                  <a:cubicBezTo>
                    <a:pt x="74676" y="13716"/>
                    <a:pt x="70104" y="9144"/>
                    <a:pt x="62484" y="4572"/>
                  </a:cubicBezTo>
                  <a:cubicBezTo>
                    <a:pt x="56388" y="1524"/>
                    <a:pt x="48768" y="0"/>
                    <a:pt x="42672" y="0"/>
                  </a:cubicBezTo>
                  <a:cubicBezTo>
                    <a:pt x="35052" y="0"/>
                    <a:pt x="28956" y="1524"/>
                    <a:pt x="21336" y="4572"/>
                  </a:cubicBezTo>
                  <a:close/>
                </a:path>
              </a:pathLst>
            </a:custGeom>
            <a:solidFill>
              <a:srgbClr val="000000"/>
            </a:solidFill>
          </p:spPr>
          <p:txBody>
            <a:bodyPr/>
            <a:lstStyle/>
            <a:p>
              <a:endParaRPr lang="en-SG"/>
            </a:p>
          </p:txBody>
        </p:sp>
      </p:grpSp>
      <p:grpSp>
        <p:nvGrpSpPr>
          <p:cNvPr id="15" name="Group 15"/>
          <p:cNvGrpSpPr/>
          <p:nvPr/>
        </p:nvGrpSpPr>
        <p:grpSpPr>
          <a:xfrm>
            <a:off x="1886712" y="3584448"/>
            <a:ext cx="5426964" cy="771144"/>
            <a:chOff x="0" y="0"/>
            <a:chExt cx="7235952" cy="1028192"/>
          </a:xfrm>
        </p:grpSpPr>
        <p:sp>
          <p:nvSpPr>
            <p:cNvPr id="16" name="Freeform 16"/>
            <p:cNvSpPr/>
            <p:nvPr/>
          </p:nvSpPr>
          <p:spPr>
            <a:xfrm>
              <a:off x="0" y="0"/>
              <a:ext cx="7235952" cy="1028192"/>
            </a:xfrm>
            <a:custGeom>
              <a:avLst/>
              <a:gdLst/>
              <a:ahLst/>
              <a:cxnLst/>
              <a:rect l="l" t="t" r="r" b="b"/>
              <a:pathLst>
                <a:path w="7235952" h="1028192">
                  <a:moveTo>
                    <a:pt x="0" y="0"/>
                  </a:moveTo>
                  <a:lnTo>
                    <a:pt x="7235952" y="0"/>
                  </a:lnTo>
                  <a:lnTo>
                    <a:pt x="7235952" y="1028192"/>
                  </a:lnTo>
                  <a:lnTo>
                    <a:pt x="0" y="1028192"/>
                  </a:lnTo>
                  <a:lnTo>
                    <a:pt x="0" y="0"/>
                  </a:lnTo>
                  <a:close/>
                </a:path>
              </a:pathLst>
            </a:custGeom>
            <a:blipFill>
              <a:blip r:embed="rId2"/>
              <a:stretch>
                <a:fillRect l="-28" r="-56" b="-592"/>
              </a:stretch>
            </a:blipFill>
          </p:spPr>
          <p:txBody>
            <a:bodyPr/>
            <a:lstStyle/>
            <a:p>
              <a:endParaRPr lang="en-SG"/>
            </a:p>
          </p:txBody>
        </p:sp>
      </p:grpSp>
      <p:sp>
        <p:nvSpPr>
          <p:cNvPr id="17" name="TextBox 17"/>
          <p:cNvSpPr txBox="1"/>
          <p:nvPr/>
        </p:nvSpPr>
        <p:spPr>
          <a:xfrm>
            <a:off x="1632385" y="1334119"/>
            <a:ext cx="4436402" cy="523504"/>
          </a:xfrm>
          <a:prstGeom prst="rect">
            <a:avLst/>
          </a:prstGeom>
        </p:spPr>
        <p:txBody>
          <a:bodyPr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Final Exercise Solution</a:t>
            </a:r>
          </a:p>
        </p:txBody>
      </p:sp>
      <p:sp>
        <p:nvSpPr>
          <p:cNvPr id="18" name="TextBox 18"/>
          <p:cNvSpPr txBox="1"/>
          <p:nvPr/>
        </p:nvSpPr>
        <p:spPr>
          <a:xfrm>
            <a:off x="1979771" y="2218163"/>
            <a:ext cx="8212017" cy="1186015"/>
          </a:xfrm>
          <a:prstGeom prst="rect">
            <a:avLst/>
          </a:prstGeom>
        </p:spPr>
        <p:txBody>
          <a:bodyPr lIns="0" tIns="0" rIns="0" bIns="0" rtlCol="0" anchor="t">
            <a:spAutoFit/>
          </a:bodyPr>
          <a:lstStyle/>
          <a:p>
            <a:pPr algn="l">
              <a:lnSpc>
                <a:spcPts val="2357"/>
              </a:lnSpc>
              <a:defRPr>
                <a:latin typeface="Ubuntu"/>
                <a:ea typeface="Ubuntu"/>
                <a:cs typeface="Ubuntu"/>
              </a:defRPr>
            </a:pPr>
            <a:r>
              <a:rPr lang="en-US" sz="1512" spc="-9">
                <a:solidFill>
                  <a:srgbClr val="000000"/>
                </a:solidFill>
                <a:latin typeface="Ubuntu"/>
                <a:ea typeface="Ubuntu"/>
                <a:cs typeface="Ubuntu"/>
                <a:sym typeface="Montserrat"/>
              </a:rPr>
              <a:t>Upload the OBC, ADCS and GS codes into their respective boards from GitHub. Change the password in OBC, ADCS and GS code, matching them, so that only your ground station is configured with your satellite.</a:t>
            </a:r>
          </a:p>
          <a:p>
            <a:pPr algn="l">
              <a:lnSpc>
                <a:spcPts val="2357"/>
              </a:lnSpc>
              <a:defRPr>
                <a:latin typeface="Space Mono"/>
                <a:ea typeface="Space Mono"/>
                <a:cs typeface="Space Mono"/>
              </a:defRPr>
            </a:pPr>
            <a:r>
              <a:rPr lang="en-US" sz="1512" spc="-9">
                <a:solidFill>
                  <a:srgbClr val="000000"/>
                </a:solidFill>
                <a:latin typeface="Space Mono"/>
                <a:ea typeface="Space Mono"/>
                <a:cs typeface="Space Mono"/>
                <a:sym typeface="Montserrat"/>
              </a:rPr>
              <a:t>Check the code working!</a:t>
            </a:r>
          </a:p>
        </p:txBody>
      </p:sp>
      <p:pic>
        <p:nvPicPr>
          <p:cNvPr id="19" name="MainLogo" descr="MainLogo.png"/>
          <p:cNvPicPr>
            <a:picLocks noChangeAspect="1"/>
          </p:cNvPicPr>
          <p:nvPr/>
        </p:nvPicPr>
        <p:blipFill>
          <a:blip r:embed="rId3"/>
          <a:stretch>
            <a:fillRect/>
          </a:stretch>
        </p:blipFill>
        <p:spPr>
          <a:xfrm>
            <a:off x="8398256" y="301752"/>
            <a:ext cx="1965960" cy="655844"/>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63503" y="709165"/>
            <a:ext cx="10819381" cy="6142225"/>
            <a:chOff x="0" y="0"/>
            <a:chExt cx="10819384" cy="6142228"/>
          </a:xfrm>
        </p:grpSpPr>
        <p:sp>
          <p:nvSpPr>
            <p:cNvPr id="3" name="Freeform 3"/>
            <p:cNvSpPr/>
            <p:nvPr/>
          </p:nvSpPr>
          <p:spPr>
            <a:xfrm>
              <a:off x="63500" y="63500"/>
              <a:ext cx="10692383" cy="6015229"/>
            </a:xfrm>
            <a:custGeom>
              <a:avLst/>
              <a:gdLst/>
              <a:ahLst/>
              <a:cxnLst/>
              <a:rect l="l" t="t" r="r" b="b"/>
              <a:pathLst>
                <a:path w="10692383" h="6015229">
                  <a:moveTo>
                    <a:pt x="0" y="0"/>
                  </a:moveTo>
                  <a:lnTo>
                    <a:pt x="10692383" y="0"/>
                  </a:lnTo>
                  <a:lnTo>
                    <a:pt x="10692383" y="6015229"/>
                  </a:lnTo>
                  <a:lnTo>
                    <a:pt x="0" y="6015229"/>
                  </a:lnTo>
                  <a:close/>
                </a:path>
              </a:pathLst>
            </a:custGeom>
            <a:solidFill>
              <a:srgbClr val="FFFFFF"/>
            </a:solidFill>
          </p:spPr>
          <p:txBody>
            <a:bodyPr/>
            <a:lstStyle/>
            <a:p>
              <a:endParaRPr lang="en-SG"/>
            </a:p>
          </p:txBody>
        </p:sp>
        <p:sp>
          <p:nvSpPr>
            <p:cNvPr id="4" name="Freeform 4"/>
            <p:cNvSpPr/>
            <p:nvPr/>
          </p:nvSpPr>
          <p:spPr>
            <a:xfrm>
              <a:off x="63500" y="63500"/>
              <a:ext cx="954024" cy="6015229"/>
            </a:xfrm>
            <a:custGeom>
              <a:avLst/>
              <a:gdLst/>
              <a:ahLst/>
              <a:cxnLst/>
              <a:rect l="l" t="t" r="r" b="b"/>
              <a:pathLst>
                <a:path w="954024" h="6015229">
                  <a:moveTo>
                    <a:pt x="0" y="0"/>
                  </a:moveTo>
                  <a:lnTo>
                    <a:pt x="954024" y="0"/>
                  </a:lnTo>
                  <a:lnTo>
                    <a:pt x="954024" y="6015229"/>
                  </a:lnTo>
                  <a:lnTo>
                    <a:pt x="0" y="6015229"/>
                  </a:lnTo>
                  <a:close/>
                </a:path>
              </a:pathLst>
            </a:custGeom>
            <a:solidFill>
              <a:srgbClr val="000000"/>
            </a:solidFill>
          </p:spPr>
          <p:txBody>
            <a:bodyPr/>
            <a:lstStyle/>
            <a:p>
              <a:endParaRPr lang="en-SG"/>
            </a:p>
          </p:txBody>
        </p:sp>
      </p:grpSp>
      <p:grpSp>
        <p:nvGrpSpPr>
          <p:cNvPr id="9" name="Group 9"/>
          <p:cNvGrpSpPr/>
          <p:nvPr/>
        </p:nvGrpSpPr>
        <p:grpSpPr>
          <a:xfrm>
            <a:off x="7839456" y="2569464"/>
            <a:ext cx="2734056" cy="1825752"/>
            <a:chOff x="0" y="0"/>
            <a:chExt cx="3645408" cy="2434336"/>
          </a:xfrm>
        </p:grpSpPr>
        <p:sp>
          <p:nvSpPr>
            <p:cNvPr id="10" name="Freeform 10"/>
            <p:cNvSpPr/>
            <p:nvPr/>
          </p:nvSpPr>
          <p:spPr>
            <a:xfrm>
              <a:off x="0" y="0"/>
              <a:ext cx="3645408" cy="2434336"/>
            </a:xfrm>
            <a:custGeom>
              <a:avLst/>
              <a:gdLst/>
              <a:ahLst/>
              <a:cxnLst/>
              <a:rect l="l" t="t" r="r" b="b"/>
              <a:pathLst>
                <a:path w="3645408" h="2434336">
                  <a:moveTo>
                    <a:pt x="0" y="0"/>
                  </a:moveTo>
                  <a:lnTo>
                    <a:pt x="3645408" y="0"/>
                  </a:lnTo>
                  <a:lnTo>
                    <a:pt x="3645408" y="2434336"/>
                  </a:lnTo>
                  <a:lnTo>
                    <a:pt x="0" y="2434336"/>
                  </a:lnTo>
                  <a:lnTo>
                    <a:pt x="0" y="0"/>
                  </a:lnTo>
                  <a:close/>
                </a:path>
              </a:pathLst>
            </a:custGeom>
            <a:blipFill>
              <a:blip r:embed="rId2"/>
              <a:stretch>
                <a:fillRect l="-55" t="-83"/>
              </a:stretch>
            </a:blipFill>
          </p:spPr>
          <p:txBody>
            <a:bodyPr/>
            <a:lstStyle/>
            <a:p>
              <a:endParaRPr lang="en-SG"/>
            </a:p>
          </p:txBody>
        </p:sp>
      </p:grpSp>
      <p:sp>
        <p:nvSpPr>
          <p:cNvPr id="11" name="TextBox 11"/>
          <p:cNvSpPr txBox="1"/>
          <p:nvPr/>
        </p:nvSpPr>
        <p:spPr>
          <a:xfrm>
            <a:off x="1632385" y="1334119"/>
            <a:ext cx="5782008" cy="523504"/>
          </a:xfrm>
          <a:prstGeom prst="rect">
            <a:avLst/>
          </a:prstGeom>
        </p:spPr>
        <p:txBody>
          <a:bodyPr lIns="0" tIns="0" rIns="0" bIns="0" rtlCol="0" anchor="t">
            <a:spAutoFit/>
          </a:bodyPr>
          <a:lstStyle/>
          <a:p>
            <a:pPr algn="l">
              <a:lnSpc>
                <a:spcPts val="4267"/>
              </a:lnSpc>
              <a:defRPr>
                <a:latin typeface="House Movements Runway"/>
                <a:ea typeface="House Movements Runway"/>
                <a:cs typeface="House Movements Runway"/>
              </a:defRPr>
            </a:pPr>
            <a:r>
              <a:rPr lang="en-US" sz="3048">
                <a:solidFill>
                  <a:srgbClr val="2C2C2C"/>
                </a:solidFill>
                <a:latin typeface="House Movements Runway"/>
                <a:ea typeface="House Movements Runway"/>
                <a:cs typeface="House Movements Runway"/>
                <a:sym typeface="Montserrat"/>
              </a:rPr>
              <a:t>Satellite Set-up -Full Satellite</a:t>
            </a:r>
          </a:p>
        </p:txBody>
      </p:sp>
      <p:sp>
        <p:nvSpPr>
          <p:cNvPr id="12" name="TextBox 12"/>
          <p:cNvSpPr txBox="1"/>
          <p:nvPr/>
        </p:nvSpPr>
        <p:spPr>
          <a:xfrm>
            <a:off x="1632109" y="3252311"/>
            <a:ext cx="6237799" cy="324526"/>
          </a:xfrm>
          <a:prstGeom prst="rect">
            <a:avLst/>
          </a:prstGeom>
        </p:spPr>
        <p:txBody>
          <a:bodyPr lIns="0" tIns="0" rIns="0" bIns="0" rtlCol="0" anchor="t">
            <a:spAutoFit/>
          </a:bodyPr>
          <a:lstStyle/>
          <a:p>
            <a:pPr algn="l">
              <a:lnSpc>
                <a:spcPts val="2620"/>
              </a:lnSpc>
              <a:defRPr>
                <a:latin typeface="Space Mono"/>
                <a:ea typeface="Space Mono"/>
                <a:cs typeface="Space Mono"/>
              </a:defRPr>
            </a:pPr>
            <a:r>
              <a:rPr lang="en-US" sz="1872" spc="35">
                <a:solidFill>
                  <a:srgbClr val="E69138"/>
                </a:solidFill>
                <a:latin typeface="Space Mono"/>
                <a:ea typeface="Space Mono"/>
                <a:cs typeface="Space Mono"/>
                <a:sym typeface="Montserrat"/>
              </a:rPr>
              <a:t>Congratulations, you built the entire 1U Cubesat! </a:t>
            </a:r>
          </a:p>
        </p:txBody>
      </p:sp>
      <p:pic>
        <p:nvPicPr>
          <p:cNvPr id="13" name="MainLogo" descr="MainLogo.png"/>
          <p:cNvPicPr>
            <a:picLocks noChangeAspect="1"/>
          </p:cNvPicPr>
          <p:nvPr/>
        </p:nvPicPr>
        <p:blipFill>
          <a:blip r:embed="rId3"/>
          <a:stretch>
            <a:fillRect/>
          </a:stretch>
        </p:blipFill>
        <p:spPr>
          <a:xfrm>
            <a:off x="8398256" y="301752"/>
            <a:ext cx="1965960" cy="655844"/>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14</TotalTime>
  <Words>1038</Words>
  <Application>Microsoft Office PowerPoint</Application>
  <PresentationFormat>Custom</PresentationFormat>
  <Paragraphs>85</Paragraphs>
  <Slides>20</Slides>
  <Notes>2</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20</vt:i4>
      </vt:variant>
    </vt:vector>
  </HeadingPairs>
  <TitlesOfParts>
    <vt:vector size="24" baseType="lpstr">
      <vt:lpstr>Arial</vt:lpstr>
      <vt:lpstr>Montserrat</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Utilize all available online resources to help you figure out how to complete the exercises.</dc:title>
  <cp:lastModifiedBy>Rohini Parthasarathy</cp:lastModifiedBy>
  <cp:revision>4</cp:revision>
  <dcterms:created xsi:type="dcterms:W3CDTF">2006-08-16T00:00:00Z</dcterms:created>
  <dcterms:modified xsi:type="dcterms:W3CDTF">2026-10-15T08:39:59Z</dcterms:modified>
  <dc:identifier>DAHXyX_H0fo</dc:identifier>
</cp:coreProperties>
</file>