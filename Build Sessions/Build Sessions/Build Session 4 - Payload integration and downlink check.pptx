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2"/>
  </p:notesMasterIdLst>
  <p:sldIdLst>
    <p:sldId id="256" r:id="rId2"/>
    <p:sldId id="257" r:id="rId3"/>
    <p:sldId id="258" r:id="rId4"/>
    <p:sldId id="259" r:id="rId5"/>
    <p:sldId id="260" r:id="rId6"/>
    <p:sldId id="262" r:id="rId7"/>
    <p:sldId id="264" r:id="rId8"/>
    <p:sldId id="265" r:id="rId9"/>
    <p:sldId id="266" r:id="rId10"/>
    <p:sldId id="267" r:id="rId11"/>
    <p:sldId id="268" r:id="rId12"/>
    <p:sldId id="269" r:id="rId13"/>
    <p:sldId id="271" r:id="rId14"/>
    <p:sldId id="272" r:id="rId15"/>
    <p:sldId id="273" r:id="rId16"/>
    <p:sldId id="275" r:id="rId17"/>
    <p:sldId id="276" r:id="rId18"/>
    <p:sldId id="278" r:id="rId19"/>
    <p:sldId id="279" r:id="rId20"/>
    <p:sldId id="261" r:id="rId21"/>
  </p:sldIdLst>
  <p:sldSz cx="10693400" cy="7556500"/>
  <p:notesSz cx="6858000" cy="9144000"/>
  <p:embeddedFontLst>
    <p:embeddedFont>
      <p:font typeface="Montserrat" panose="00000500000000000000" pitchFamily="2" charset="0"/>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4" d="100"/>
          <a:sy n="54" d="100"/>
        </p:scale>
        <p:origin x="1380" y="4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438562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Day 4, Friday 16 October. 12:00-12:45 and 13:45-14:45, 1 h 30 in total. Follows Lecture 4, Payload and the link to the ground.</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deployable dipole and the closed satellite. No code.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10/14/2026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jpe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jpeg"/><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jpeg"/></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7.jpeg"/></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9.jpeg"/></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11.jpeg"/></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14.jpeg"/><Relationship Id="rId4" Type="http://schemas.openxmlformats.org/officeDocument/2006/relationships/image" Target="../media/image13.jpeg"/></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15.jpeg"/></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16.svg"/></Relationships>
</file>

<file path=ppt/slides/_rels/slide13.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svg"/><Relationship Id="rId1" Type="http://schemas.openxmlformats.org/officeDocument/2006/relationships/slideLayout" Target="../slideLayouts/slideLayout7.xml"/><Relationship Id="rId6" Type="http://schemas.openxmlformats.org/officeDocument/2006/relationships/image" Target="../media/image21.svg"/><Relationship Id="rId5" Type="http://schemas.openxmlformats.org/officeDocument/2006/relationships/image" Target="../media/image20.png"/><Relationship Id="rId4" Type="http://schemas.openxmlformats.org/officeDocument/2006/relationships/image" Target="../media/image19.svg"/></Relationships>
</file>

<file path=ppt/slides/_rels/slide14.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svg"/><Relationship Id="rId1" Type="http://schemas.openxmlformats.org/officeDocument/2006/relationships/slideLayout" Target="../slideLayouts/slideLayout7.xml"/><Relationship Id="rId6" Type="http://schemas.openxmlformats.org/officeDocument/2006/relationships/image" Target="../media/image22.svg"/><Relationship Id="rId5" Type="http://schemas.openxmlformats.org/officeDocument/2006/relationships/image" Target="../media/image20.png"/><Relationship Id="rId4" Type="http://schemas.openxmlformats.org/officeDocument/2006/relationships/image" Target="../media/image19.svg"/></Relationships>
</file>

<file path=ppt/slides/_rels/slide15.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svg"/><Relationship Id="rId1" Type="http://schemas.openxmlformats.org/officeDocument/2006/relationships/slideLayout" Target="../slideLayouts/slideLayout7.xml"/><Relationship Id="rId6" Type="http://schemas.openxmlformats.org/officeDocument/2006/relationships/image" Target="../media/image23.svg"/><Relationship Id="rId5" Type="http://schemas.openxmlformats.org/officeDocument/2006/relationships/image" Target="../media/image20.png"/><Relationship Id="rId4" Type="http://schemas.openxmlformats.org/officeDocument/2006/relationships/image" Target="../media/image19.svg"/></Relationships>
</file>

<file path=ppt/slides/_rels/slide1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26.png"/><Relationship Id="rId5" Type="http://schemas.openxmlformats.org/officeDocument/2006/relationships/image" Target="../media/image25.jpeg"/><Relationship Id="rId4" Type="http://schemas.openxmlformats.org/officeDocument/2006/relationships/image" Target="../media/image24.svg"/></Relationships>
</file>

<file path=ppt/slides/_rels/slide1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27.svg"/></Relationships>
</file>

<file path=ppt/slides/_rels/slide1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29.png"/><Relationship Id="rId4" Type="http://schemas.openxmlformats.org/officeDocument/2006/relationships/image" Target="../media/image28.jpeg"/></Relationships>
</file>

<file path=ppt/slides/_rels/slide1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0.jpeg"/></Relationships>
</file>

<file path=ppt/slides/_rels/slide2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3503" y="709165"/>
            <a:ext cx="10819381" cy="6142225"/>
            <a:chOff x="0" y="0"/>
            <a:chExt cx="10819384" cy="6142228"/>
          </a:xfrm>
        </p:grpSpPr>
        <p:sp>
          <p:nvSpPr>
            <p:cNvPr id="3" name="Freeform 3"/>
            <p:cNvSpPr/>
            <p:nvPr/>
          </p:nvSpPr>
          <p:spPr>
            <a:xfrm>
              <a:off x="63500" y="63500"/>
              <a:ext cx="10692383" cy="6015229"/>
            </a:xfrm>
            <a:custGeom>
              <a:avLst/>
              <a:gdLst/>
              <a:ahLst/>
              <a:cxnLst/>
              <a:rect l="l" t="t" r="r" b="b"/>
              <a:pathLst>
                <a:path w="10692383" h="6015229">
                  <a:moveTo>
                    <a:pt x="0" y="0"/>
                  </a:moveTo>
                  <a:lnTo>
                    <a:pt x="10692383" y="0"/>
                  </a:lnTo>
                  <a:lnTo>
                    <a:pt x="10692383" y="6015229"/>
                  </a:lnTo>
                  <a:lnTo>
                    <a:pt x="0" y="6015229"/>
                  </a:lnTo>
                  <a:close/>
                </a:path>
              </a:pathLst>
            </a:custGeom>
            <a:solidFill>
              <a:srgbClr val="FFFFFF"/>
            </a:solidFill>
          </p:spPr>
          <p:txBody>
            <a:bodyPr/>
            <a:lstStyle/>
            <a:p>
              <a:endParaRPr lang="en-SG"/>
            </a:p>
          </p:txBody>
        </p:sp>
        <p:sp>
          <p:nvSpPr>
            <p:cNvPr id="4" name="Freeform 4"/>
            <p:cNvSpPr/>
            <p:nvPr/>
          </p:nvSpPr>
          <p:spPr>
            <a:xfrm>
              <a:off x="63500" y="63500"/>
              <a:ext cx="954024" cy="6015229"/>
            </a:xfrm>
            <a:custGeom>
              <a:avLst/>
              <a:gdLst/>
              <a:ahLst/>
              <a:cxnLst/>
              <a:rect l="l" t="t" r="r" b="b"/>
              <a:pathLst>
                <a:path w="954024" h="6015229">
                  <a:moveTo>
                    <a:pt x="0" y="0"/>
                  </a:moveTo>
                  <a:lnTo>
                    <a:pt x="954024" y="0"/>
                  </a:lnTo>
                  <a:lnTo>
                    <a:pt x="954024" y="6015229"/>
                  </a:lnTo>
                  <a:lnTo>
                    <a:pt x="0" y="6015229"/>
                  </a:lnTo>
                  <a:close/>
                </a:path>
              </a:pathLst>
            </a:custGeom>
            <a:solidFill>
              <a:srgbClr val="000000"/>
            </a:solidFill>
          </p:spPr>
          <p:txBody>
            <a:bodyPr/>
            <a:lstStyle/>
            <a:p>
              <a:endParaRPr lang="en-SG"/>
            </a:p>
          </p:txBody>
        </p:sp>
      </p:grpSp>
      <p:grpSp>
        <p:nvGrpSpPr>
          <p:cNvPr id="5" name="Group 5"/>
          <p:cNvGrpSpPr/>
          <p:nvPr/>
        </p:nvGrpSpPr>
        <p:grpSpPr>
          <a:xfrm>
            <a:off x="192024" y="950976"/>
            <a:ext cx="568452" cy="1284732"/>
            <a:chOff x="0" y="0"/>
            <a:chExt cx="757936" cy="1712976"/>
          </a:xfrm>
        </p:grpSpPr>
        <p:sp>
          <p:nvSpPr>
            <p:cNvPr id="6" name="Freeform 6"/>
            <p:cNvSpPr/>
            <p:nvPr/>
          </p:nvSpPr>
          <p:spPr>
            <a:xfrm>
              <a:off x="0" y="0"/>
              <a:ext cx="757936" cy="1712976"/>
            </a:xfrm>
            <a:custGeom>
              <a:avLst/>
              <a:gdLst/>
              <a:ahLst/>
              <a:cxnLst/>
              <a:rect l="l" t="t" r="r" b="b"/>
              <a:pathLst>
                <a:path w="757936" h="1712976">
                  <a:moveTo>
                    <a:pt x="0" y="0"/>
                  </a:moveTo>
                  <a:lnTo>
                    <a:pt x="757936" y="0"/>
                  </a:lnTo>
                  <a:lnTo>
                    <a:pt x="757936" y="1712976"/>
                  </a:lnTo>
                  <a:lnTo>
                    <a:pt x="0" y="1712976"/>
                  </a:lnTo>
                  <a:lnTo>
                    <a:pt x="0" y="0"/>
                  </a:lnTo>
                  <a:close/>
                </a:path>
              </a:pathLst>
            </a:custGeom>
            <a:blipFill>
              <a:blip r:embed="rId3"/>
              <a:stretch>
                <a:fillRect l="-804" b="-237"/>
              </a:stretch>
            </a:blipFill>
          </p:spPr>
          <p:txBody>
            <a:bodyPr/>
            <a:lstStyle/>
            <a:p>
              <a:endParaRPr lang="en-SG"/>
            </a:p>
          </p:txBody>
        </p:sp>
      </p:grpSp>
      <p:grpSp>
        <p:nvGrpSpPr>
          <p:cNvPr id="7" name="Group 7"/>
          <p:cNvGrpSpPr/>
          <p:nvPr/>
        </p:nvGrpSpPr>
        <p:grpSpPr>
          <a:xfrm>
            <a:off x="179832" y="5116068"/>
            <a:ext cx="592836" cy="1478280"/>
            <a:chOff x="0" y="0"/>
            <a:chExt cx="790448" cy="1971040"/>
          </a:xfrm>
        </p:grpSpPr>
        <p:sp>
          <p:nvSpPr>
            <p:cNvPr id="8" name="Freeform 8"/>
            <p:cNvSpPr/>
            <p:nvPr/>
          </p:nvSpPr>
          <p:spPr>
            <a:xfrm>
              <a:off x="0" y="0"/>
              <a:ext cx="790448" cy="1971040"/>
            </a:xfrm>
            <a:custGeom>
              <a:avLst/>
              <a:gdLst/>
              <a:ahLst/>
              <a:cxnLst/>
              <a:rect l="l" t="t" r="r" b="b"/>
              <a:pathLst>
                <a:path w="790448" h="1971040">
                  <a:moveTo>
                    <a:pt x="0" y="0"/>
                  </a:moveTo>
                  <a:lnTo>
                    <a:pt x="790448" y="0"/>
                  </a:lnTo>
                  <a:lnTo>
                    <a:pt x="790448" y="1971040"/>
                  </a:lnTo>
                  <a:lnTo>
                    <a:pt x="0" y="1971040"/>
                  </a:lnTo>
                  <a:lnTo>
                    <a:pt x="0" y="0"/>
                  </a:lnTo>
                  <a:close/>
                </a:path>
              </a:pathLst>
            </a:custGeom>
            <a:blipFill>
              <a:blip r:embed="rId4"/>
              <a:stretch>
                <a:fillRect l="-514" b="-206"/>
              </a:stretch>
            </a:blipFill>
          </p:spPr>
          <p:txBody>
            <a:bodyPr/>
            <a:lstStyle/>
            <a:p>
              <a:endParaRPr lang="en-SG"/>
            </a:p>
          </p:txBody>
        </p:sp>
      </p:grpSp>
      <p:grpSp>
        <p:nvGrpSpPr>
          <p:cNvPr id="9" name="Group 9"/>
          <p:cNvGrpSpPr/>
          <p:nvPr/>
        </p:nvGrpSpPr>
        <p:grpSpPr>
          <a:xfrm>
            <a:off x="5506212" y="2859024"/>
            <a:ext cx="1565148" cy="515112"/>
            <a:chOff x="0" y="0"/>
            <a:chExt cx="2086864" cy="686816"/>
          </a:xfrm>
        </p:grpSpPr>
        <p:sp>
          <p:nvSpPr>
            <p:cNvPr id="10" name="Freeform 10"/>
            <p:cNvSpPr/>
            <p:nvPr/>
          </p:nvSpPr>
          <p:spPr>
            <a:xfrm>
              <a:off x="0" y="0"/>
              <a:ext cx="2086864" cy="686816"/>
            </a:xfrm>
            <a:custGeom>
              <a:avLst/>
              <a:gdLst/>
              <a:ahLst/>
              <a:cxnLst/>
              <a:rect l="l" t="t" r="r" b="b"/>
              <a:pathLst>
                <a:path w="2086864" h="686816">
                  <a:moveTo>
                    <a:pt x="0" y="0"/>
                  </a:moveTo>
                  <a:lnTo>
                    <a:pt x="2086864" y="0"/>
                  </a:lnTo>
                  <a:lnTo>
                    <a:pt x="2086864" y="686816"/>
                  </a:lnTo>
                  <a:lnTo>
                    <a:pt x="0" y="686816"/>
                  </a:lnTo>
                  <a:lnTo>
                    <a:pt x="0" y="0"/>
                  </a:lnTo>
                  <a:close/>
                </a:path>
              </a:pathLst>
            </a:custGeom>
            <a:blipFill>
              <a:blip r:embed="rId5"/>
              <a:stretch>
                <a:fillRect l="-97"/>
              </a:stretch>
            </a:blipFill>
          </p:spPr>
          <p:txBody>
            <a:bodyPr/>
            <a:lstStyle/>
            <a:p>
              <a:endParaRPr lang="en-SG"/>
            </a:p>
          </p:txBody>
        </p:sp>
      </p:grpSp>
      <p:grpSp>
        <p:nvGrpSpPr>
          <p:cNvPr id="11" name="Group 11"/>
          <p:cNvGrpSpPr/>
          <p:nvPr/>
        </p:nvGrpSpPr>
        <p:grpSpPr>
          <a:xfrm>
            <a:off x="5506212" y="3371088"/>
            <a:ext cx="1565148" cy="1054608"/>
            <a:chOff x="0" y="0"/>
            <a:chExt cx="2086864" cy="1406144"/>
          </a:xfrm>
        </p:grpSpPr>
        <p:sp>
          <p:nvSpPr>
            <p:cNvPr id="12" name="Freeform 12"/>
            <p:cNvSpPr/>
            <p:nvPr/>
          </p:nvSpPr>
          <p:spPr>
            <a:xfrm>
              <a:off x="0" y="0"/>
              <a:ext cx="2086864" cy="1406144"/>
            </a:xfrm>
            <a:custGeom>
              <a:avLst/>
              <a:gdLst/>
              <a:ahLst/>
              <a:cxnLst/>
              <a:rect l="l" t="t" r="r" b="b"/>
              <a:pathLst>
                <a:path w="2086864" h="1406144">
                  <a:moveTo>
                    <a:pt x="0" y="0"/>
                  </a:moveTo>
                  <a:lnTo>
                    <a:pt x="2086864" y="0"/>
                  </a:lnTo>
                  <a:lnTo>
                    <a:pt x="2086864" y="1406144"/>
                  </a:lnTo>
                  <a:lnTo>
                    <a:pt x="0" y="1406144"/>
                  </a:lnTo>
                  <a:lnTo>
                    <a:pt x="0" y="0"/>
                  </a:lnTo>
                  <a:close/>
                </a:path>
              </a:pathLst>
            </a:custGeom>
            <a:blipFill>
              <a:blip r:embed="rId6"/>
              <a:stretch>
                <a:fillRect/>
              </a:stretch>
            </a:blipFill>
          </p:spPr>
          <p:txBody>
            <a:bodyPr/>
            <a:lstStyle/>
            <a:p>
              <a:endParaRPr lang="en-SG"/>
            </a:p>
          </p:txBody>
        </p:sp>
      </p:grpSp>
      <p:sp>
        <p:nvSpPr>
          <p:cNvPr id="13" name="TextBox 13"/>
          <p:cNvSpPr txBox="1"/>
          <p:nvPr/>
        </p:nvSpPr>
        <p:spPr>
          <a:xfrm>
            <a:off x="1632385" y="1334119"/>
            <a:ext cx="8778240" cy="523504"/>
          </a:xfrm>
          <a:prstGeom prst="rect">
            <a:avLst/>
          </a:prstGeom>
        </p:spPr>
        <p:txBody>
          <a:bodyPr wrap="square" lIns="0" tIns="0" rIns="0" bIns="0" rtlCol="0" anchor="t">
            <a:spAutoFit/>
          </a:bodyPr>
          <a:lstStyle/>
          <a:p>
            <a:pPr algn="l">
              <a:lnSpc>
                <a:spcPts val="4267"/>
              </a:lnSpc>
            </a:pPr>
            <a:r>
              <a:rPr lang="en-US" sz="3048">
                <a:solidFill>
                  <a:srgbClr val="2C2C2C"/>
                </a:solidFill>
                <a:latin typeface="Montserrat"/>
                <a:ea typeface="Montserrat"/>
                <a:cs typeface="Montserrat"/>
                <a:sym typeface="Montserrat"/>
              </a:rPr>
              <a:t>Satellite Design &amp; Integration</a:t>
            </a:r>
          </a:p>
        </p:txBody>
      </p:sp>
      <p:sp>
        <p:nvSpPr>
          <p:cNvPr id="14" name="TextBox 14"/>
          <p:cNvSpPr txBox="1"/>
          <p:nvPr/>
        </p:nvSpPr>
        <p:spPr>
          <a:xfrm>
            <a:off x="1632109" y="2514676"/>
            <a:ext cx="5120640" cy="801776"/>
          </a:xfrm>
          <a:prstGeom prst="rect">
            <a:avLst/>
          </a:prstGeom>
        </p:spPr>
        <p:txBody>
          <a:bodyPr wrap="square" lIns="0" tIns="0" rIns="0" bIns="0" rtlCol="0" anchor="t">
            <a:spAutoFit/>
          </a:bodyPr>
          <a:lstStyle/>
          <a:p>
            <a:pPr algn="l">
              <a:lnSpc>
                <a:spcPts val="6552"/>
              </a:lnSpc>
            </a:pPr>
            <a:r>
              <a:rPr lang="en-US" sz="4000" spc="88">
                <a:solidFill>
                  <a:srgbClr val="2C2C2C"/>
                </a:solidFill>
                <a:latin typeface="Montserrat"/>
                <a:ea typeface="Montserrat"/>
                <a:cs typeface="Montserrat"/>
                <a:sym typeface="Montserrat"/>
              </a:rPr>
              <a:t>Build Session 4</a:t>
            </a:r>
          </a:p>
        </p:txBody>
      </p:sp>
      <p:sp>
        <p:nvSpPr>
          <p:cNvPr id="15" name="TextBox 13"/>
          <p:cNvSpPr txBox="1"/>
          <p:nvPr/>
        </p:nvSpPr>
        <p:spPr>
          <a:xfrm>
            <a:off x="1632385" y="4617720"/>
            <a:ext cx="7863840" cy="1097280"/>
          </a:xfrm>
          <a:prstGeom prst="rect">
            <a:avLst/>
          </a:prstGeom>
        </p:spPr>
        <p:txBody>
          <a:bodyPr wrap="square" lIns="0" tIns="0" rIns="0" bIns="0" rtlCol="0" anchor="t">
            <a:spAutoFit/>
          </a:bodyPr>
          <a:lstStyle/>
          <a:p>
            <a:pPr algn="l">
              <a:lnSpc>
                <a:spcPts val="4267"/>
              </a:lnSpc>
            </a:pPr>
            <a:r>
              <a:rPr lang="en-US" sz="1800">
                <a:solidFill>
                  <a:srgbClr val="2C2C2C"/>
                </a:solidFill>
                <a:latin typeface="Montserrat"/>
                <a:ea typeface="Montserrat"/>
                <a:cs typeface="Montserrat"/>
                <a:sym typeface="Montserrat"/>
              </a:rPr>
              <a:t>Payload integration and downlink check</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3503" y="709165"/>
            <a:ext cx="10819381" cy="6142225"/>
            <a:chOff x="0" y="0"/>
            <a:chExt cx="10819384" cy="6142228"/>
          </a:xfrm>
        </p:grpSpPr>
        <p:sp>
          <p:nvSpPr>
            <p:cNvPr id="3" name="Freeform 3"/>
            <p:cNvSpPr/>
            <p:nvPr/>
          </p:nvSpPr>
          <p:spPr>
            <a:xfrm>
              <a:off x="63500" y="63500"/>
              <a:ext cx="10692383" cy="6015229"/>
            </a:xfrm>
            <a:custGeom>
              <a:avLst/>
              <a:gdLst/>
              <a:ahLst/>
              <a:cxnLst/>
              <a:rect l="l" t="t" r="r" b="b"/>
              <a:pathLst>
                <a:path w="10692383" h="6015229">
                  <a:moveTo>
                    <a:pt x="0" y="0"/>
                  </a:moveTo>
                  <a:lnTo>
                    <a:pt x="10692383" y="0"/>
                  </a:lnTo>
                  <a:lnTo>
                    <a:pt x="10692383" y="6015229"/>
                  </a:lnTo>
                  <a:lnTo>
                    <a:pt x="0" y="6015229"/>
                  </a:lnTo>
                  <a:close/>
                </a:path>
              </a:pathLst>
            </a:custGeom>
            <a:solidFill>
              <a:srgbClr val="FFFFFF"/>
            </a:solidFill>
          </p:spPr>
          <p:txBody>
            <a:bodyPr/>
            <a:lstStyle/>
            <a:p>
              <a:endParaRPr lang="en-SG"/>
            </a:p>
          </p:txBody>
        </p:sp>
        <p:sp>
          <p:nvSpPr>
            <p:cNvPr id="4" name="Freeform 4"/>
            <p:cNvSpPr/>
            <p:nvPr/>
          </p:nvSpPr>
          <p:spPr>
            <a:xfrm>
              <a:off x="63500" y="63500"/>
              <a:ext cx="954024" cy="6015229"/>
            </a:xfrm>
            <a:custGeom>
              <a:avLst/>
              <a:gdLst/>
              <a:ahLst/>
              <a:cxnLst/>
              <a:rect l="l" t="t" r="r" b="b"/>
              <a:pathLst>
                <a:path w="954024" h="6015229">
                  <a:moveTo>
                    <a:pt x="0" y="0"/>
                  </a:moveTo>
                  <a:lnTo>
                    <a:pt x="954024" y="0"/>
                  </a:lnTo>
                  <a:lnTo>
                    <a:pt x="954024" y="6015229"/>
                  </a:lnTo>
                  <a:lnTo>
                    <a:pt x="0" y="6015229"/>
                  </a:lnTo>
                  <a:close/>
                </a:path>
              </a:pathLst>
            </a:custGeom>
            <a:solidFill>
              <a:srgbClr val="000000"/>
            </a:solidFill>
          </p:spPr>
          <p:txBody>
            <a:bodyPr/>
            <a:lstStyle/>
            <a:p>
              <a:endParaRPr lang="en-SG"/>
            </a:p>
          </p:txBody>
        </p:sp>
      </p:grpSp>
      <p:grpSp>
        <p:nvGrpSpPr>
          <p:cNvPr id="5" name="Group 5"/>
          <p:cNvGrpSpPr/>
          <p:nvPr/>
        </p:nvGrpSpPr>
        <p:grpSpPr>
          <a:xfrm>
            <a:off x="192024" y="950976"/>
            <a:ext cx="568452" cy="1284732"/>
            <a:chOff x="0" y="0"/>
            <a:chExt cx="757936" cy="1712976"/>
          </a:xfrm>
        </p:grpSpPr>
        <p:sp>
          <p:nvSpPr>
            <p:cNvPr id="6" name="Freeform 6"/>
            <p:cNvSpPr/>
            <p:nvPr/>
          </p:nvSpPr>
          <p:spPr>
            <a:xfrm>
              <a:off x="0" y="0"/>
              <a:ext cx="757936" cy="1712976"/>
            </a:xfrm>
            <a:custGeom>
              <a:avLst/>
              <a:gdLst/>
              <a:ahLst/>
              <a:cxnLst/>
              <a:rect l="l" t="t" r="r" b="b"/>
              <a:pathLst>
                <a:path w="757936" h="1712976">
                  <a:moveTo>
                    <a:pt x="0" y="0"/>
                  </a:moveTo>
                  <a:lnTo>
                    <a:pt x="757936" y="0"/>
                  </a:lnTo>
                  <a:lnTo>
                    <a:pt x="757936" y="1712976"/>
                  </a:lnTo>
                  <a:lnTo>
                    <a:pt x="0" y="1712976"/>
                  </a:lnTo>
                  <a:lnTo>
                    <a:pt x="0" y="0"/>
                  </a:lnTo>
                  <a:close/>
                </a:path>
              </a:pathLst>
            </a:custGeom>
            <a:blipFill>
              <a:blip r:embed="rId3"/>
              <a:stretch>
                <a:fillRect l="-804" b="-237"/>
              </a:stretch>
            </a:blipFill>
          </p:spPr>
          <p:txBody>
            <a:bodyPr/>
            <a:lstStyle/>
            <a:p>
              <a:endParaRPr lang="en-SG"/>
            </a:p>
          </p:txBody>
        </p:sp>
      </p:grpSp>
      <p:grpSp>
        <p:nvGrpSpPr>
          <p:cNvPr id="7" name="Group 7"/>
          <p:cNvGrpSpPr/>
          <p:nvPr/>
        </p:nvGrpSpPr>
        <p:grpSpPr>
          <a:xfrm>
            <a:off x="179832" y="5116068"/>
            <a:ext cx="592836" cy="1478280"/>
            <a:chOff x="0" y="0"/>
            <a:chExt cx="790448" cy="1971040"/>
          </a:xfrm>
        </p:grpSpPr>
        <p:sp>
          <p:nvSpPr>
            <p:cNvPr id="8" name="Freeform 8"/>
            <p:cNvSpPr/>
            <p:nvPr/>
          </p:nvSpPr>
          <p:spPr>
            <a:xfrm>
              <a:off x="0" y="0"/>
              <a:ext cx="790448" cy="1971040"/>
            </a:xfrm>
            <a:custGeom>
              <a:avLst/>
              <a:gdLst/>
              <a:ahLst/>
              <a:cxnLst/>
              <a:rect l="l" t="t" r="r" b="b"/>
              <a:pathLst>
                <a:path w="790448" h="1971040">
                  <a:moveTo>
                    <a:pt x="0" y="0"/>
                  </a:moveTo>
                  <a:lnTo>
                    <a:pt x="790448" y="0"/>
                  </a:lnTo>
                  <a:lnTo>
                    <a:pt x="790448" y="1971040"/>
                  </a:lnTo>
                  <a:lnTo>
                    <a:pt x="0" y="1971040"/>
                  </a:lnTo>
                  <a:lnTo>
                    <a:pt x="0" y="0"/>
                  </a:lnTo>
                  <a:close/>
                </a:path>
              </a:pathLst>
            </a:custGeom>
            <a:blipFill>
              <a:blip r:embed="rId4"/>
              <a:stretch>
                <a:fillRect l="-514" b="-206"/>
              </a:stretch>
            </a:blipFill>
          </p:spPr>
          <p:txBody>
            <a:bodyPr/>
            <a:lstStyle/>
            <a:p>
              <a:endParaRPr lang="en-SG"/>
            </a:p>
          </p:txBody>
        </p:sp>
      </p:grpSp>
      <p:grpSp>
        <p:nvGrpSpPr>
          <p:cNvPr id="9" name="Group 9"/>
          <p:cNvGrpSpPr/>
          <p:nvPr/>
        </p:nvGrpSpPr>
        <p:grpSpPr>
          <a:xfrm>
            <a:off x="5506212" y="2859024"/>
            <a:ext cx="1565148" cy="515112"/>
            <a:chOff x="0" y="0"/>
            <a:chExt cx="2086864" cy="686816"/>
          </a:xfrm>
        </p:grpSpPr>
        <p:sp>
          <p:nvSpPr>
            <p:cNvPr id="10" name="Freeform 10"/>
            <p:cNvSpPr/>
            <p:nvPr/>
          </p:nvSpPr>
          <p:spPr>
            <a:xfrm>
              <a:off x="0" y="0"/>
              <a:ext cx="2086864" cy="686816"/>
            </a:xfrm>
            <a:custGeom>
              <a:avLst/>
              <a:gdLst/>
              <a:ahLst/>
              <a:cxnLst/>
              <a:rect l="l" t="t" r="r" b="b"/>
              <a:pathLst>
                <a:path w="2086864" h="686816">
                  <a:moveTo>
                    <a:pt x="0" y="0"/>
                  </a:moveTo>
                  <a:lnTo>
                    <a:pt x="2086864" y="0"/>
                  </a:lnTo>
                  <a:lnTo>
                    <a:pt x="2086864" y="686816"/>
                  </a:lnTo>
                  <a:lnTo>
                    <a:pt x="0" y="686816"/>
                  </a:lnTo>
                  <a:lnTo>
                    <a:pt x="0" y="0"/>
                  </a:lnTo>
                  <a:close/>
                </a:path>
              </a:pathLst>
            </a:custGeom>
            <a:blipFill>
              <a:blip r:embed="rId5"/>
              <a:stretch>
                <a:fillRect l="-97"/>
              </a:stretch>
            </a:blipFill>
          </p:spPr>
          <p:txBody>
            <a:bodyPr/>
            <a:lstStyle/>
            <a:p>
              <a:endParaRPr lang="en-SG"/>
            </a:p>
          </p:txBody>
        </p:sp>
      </p:grpSp>
      <p:grpSp>
        <p:nvGrpSpPr>
          <p:cNvPr id="11" name="Group 11"/>
          <p:cNvGrpSpPr/>
          <p:nvPr/>
        </p:nvGrpSpPr>
        <p:grpSpPr>
          <a:xfrm>
            <a:off x="5506212" y="3371088"/>
            <a:ext cx="1565148" cy="1054608"/>
            <a:chOff x="0" y="0"/>
            <a:chExt cx="2086864" cy="1406144"/>
          </a:xfrm>
        </p:grpSpPr>
        <p:sp>
          <p:nvSpPr>
            <p:cNvPr id="12" name="Freeform 12"/>
            <p:cNvSpPr/>
            <p:nvPr/>
          </p:nvSpPr>
          <p:spPr>
            <a:xfrm>
              <a:off x="0" y="0"/>
              <a:ext cx="2086864" cy="1406144"/>
            </a:xfrm>
            <a:custGeom>
              <a:avLst/>
              <a:gdLst/>
              <a:ahLst/>
              <a:cxnLst/>
              <a:rect l="l" t="t" r="r" b="b"/>
              <a:pathLst>
                <a:path w="2086864" h="1406144">
                  <a:moveTo>
                    <a:pt x="0" y="0"/>
                  </a:moveTo>
                  <a:lnTo>
                    <a:pt x="2086864" y="0"/>
                  </a:lnTo>
                  <a:lnTo>
                    <a:pt x="2086864" y="1406144"/>
                  </a:lnTo>
                  <a:lnTo>
                    <a:pt x="0" y="1406144"/>
                  </a:lnTo>
                  <a:lnTo>
                    <a:pt x="0" y="0"/>
                  </a:lnTo>
                  <a:close/>
                </a:path>
              </a:pathLst>
            </a:custGeom>
            <a:blipFill>
              <a:blip r:embed="rId6"/>
              <a:stretch>
                <a:fillRect/>
              </a:stretch>
            </a:blipFill>
          </p:spPr>
          <p:txBody>
            <a:bodyPr/>
            <a:lstStyle/>
            <a:p>
              <a:endParaRPr lang="en-SG"/>
            </a:p>
          </p:txBody>
        </p:sp>
      </p:grpSp>
      <p:sp>
        <p:nvSpPr>
          <p:cNvPr id="13" name="TextBox 13"/>
          <p:cNvSpPr txBox="1"/>
          <p:nvPr/>
        </p:nvSpPr>
        <p:spPr>
          <a:xfrm>
            <a:off x="1632385" y="1334119"/>
            <a:ext cx="8778240" cy="523504"/>
          </a:xfrm>
          <a:prstGeom prst="rect">
            <a:avLst/>
          </a:prstGeom>
        </p:spPr>
        <p:txBody>
          <a:bodyPr wrap="square" lIns="0" tIns="0" rIns="0" bIns="0" rtlCol="0" anchor="t">
            <a:spAutoFit/>
          </a:bodyPr>
          <a:lstStyle/>
          <a:p>
            <a:pPr algn="l">
              <a:lnSpc>
                <a:spcPts val="4267"/>
              </a:lnSpc>
            </a:pPr>
            <a:r>
              <a:rPr lang="en-US" sz="3048">
                <a:solidFill>
                  <a:srgbClr val="2C2C2C"/>
                </a:solidFill>
                <a:latin typeface="Montserrat"/>
                <a:ea typeface="Montserrat"/>
                <a:cs typeface="Montserrat"/>
                <a:sym typeface="Montserrat"/>
              </a:rPr>
              <a:t>Build Session 4 — Payload integration and downlink check</a:t>
            </a:r>
          </a:p>
        </p:txBody>
      </p:sp>
      <p:sp>
        <p:nvSpPr>
          <p:cNvPr id="14" name="TextBox 14"/>
          <p:cNvSpPr txBox="1"/>
          <p:nvPr/>
        </p:nvSpPr>
        <p:spPr>
          <a:xfrm>
            <a:off x="1632109" y="4572000"/>
            <a:ext cx="8778240" cy="1188720"/>
          </a:xfrm>
          <a:prstGeom prst="rect">
            <a:avLst/>
          </a:prstGeom>
        </p:spPr>
        <p:txBody>
          <a:bodyPr wrap="square" lIns="0" tIns="0" rIns="0" bIns="0" rtlCol="0" anchor="t">
            <a:spAutoFit/>
          </a:bodyPr>
          <a:lstStyle/>
          <a:p>
            <a:pPr algn="l">
              <a:lnSpc>
                <a:spcPts val="6552"/>
              </a:lnSpc>
            </a:pPr>
            <a:r>
              <a:rPr lang="en-US" sz="2800" spc="88">
                <a:solidFill>
                  <a:srgbClr val="2C2C2C"/>
                </a:solidFill>
                <a:latin typeface="Montserrat"/>
                <a:ea typeface="Montserrat"/>
                <a:cs typeface="Montserrat"/>
                <a:sym typeface="Montserrat"/>
              </a:rPr>
              <a:t>Fitting the antenna</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3503" y="709165"/>
            <a:ext cx="10819381" cy="6142225"/>
            <a:chOff x="0" y="0"/>
            <a:chExt cx="10819384" cy="6142228"/>
          </a:xfrm>
        </p:grpSpPr>
        <p:sp>
          <p:nvSpPr>
            <p:cNvPr id="3" name="Freeform 3"/>
            <p:cNvSpPr/>
            <p:nvPr/>
          </p:nvSpPr>
          <p:spPr>
            <a:xfrm>
              <a:off x="63500" y="63500"/>
              <a:ext cx="10692383" cy="6015229"/>
            </a:xfrm>
            <a:custGeom>
              <a:avLst/>
              <a:gdLst/>
              <a:ahLst/>
              <a:cxnLst/>
              <a:rect l="l" t="t" r="r" b="b"/>
              <a:pathLst>
                <a:path w="10692383" h="6015229">
                  <a:moveTo>
                    <a:pt x="0" y="0"/>
                  </a:moveTo>
                  <a:lnTo>
                    <a:pt x="10692383" y="0"/>
                  </a:lnTo>
                  <a:lnTo>
                    <a:pt x="10692383" y="6015229"/>
                  </a:lnTo>
                  <a:lnTo>
                    <a:pt x="0" y="6015229"/>
                  </a:lnTo>
                  <a:close/>
                </a:path>
              </a:pathLst>
            </a:custGeom>
            <a:solidFill>
              <a:srgbClr val="FFFFFF"/>
            </a:solidFill>
          </p:spPr>
          <p:txBody>
            <a:bodyPr/>
            <a:lstStyle/>
            <a:p>
              <a:endParaRPr lang="en-SG"/>
            </a:p>
          </p:txBody>
        </p:sp>
        <p:sp>
          <p:nvSpPr>
            <p:cNvPr id="4" name="Freeform 4"/>
            <p:cNvSpPr/>
            <p:nvPr/>
          </p:nvSpPr>
          <p:spPr>
            <a:xfrm>
              <a:off x="63500" y="63500"/>
              <a:ext cx="954024" cy="6015229"/>
            </a:xfrm>
            <a:custGeom>
              <a:avLst/>
              <a:gdLst/>
              <a:ahLst/>
              <a:cxnLst/>
              <a:rect l="l" t="t" r="r" b="b"/>
              <a:pathLst>
                <a:path w="954024" h="6015229">
                  <a:moveTo>
                    <a:pt x="0" y="0"/>
                  </a:moveTo>
                  <a:lnTo>
                    <a:pt x="954024" y="0"/>
                  </a:lnTo>
                  <a:lnTo>
                    <a:pt x="954024" y="6015229"/>
                  </a:lnTo>
                  <a:lnTo>
                    <a:pt x="0" y="6015229"/>
                  </a:lnTo>
                  <a:close/>
                </a:path>
              </a:pathLst>
            </a:custGeom>
            <a:solidFill>
              <a:srgbClr val="000000"/>
            </a:solidFill>
          </p:spPr>
          <p:txBody>
            <a:bodyPr/>
            <a:lstStyle/>
            <a:p>
              <a:endParaRPr lang="en-SG"/>
            </a:p>
          </p:txBody>
        </p:sp>
      </p:grpSp>
      <p:grpSp>
        <p:nvGrpSpPr>
          <p:cNvPr id="5" name="Group 5"/>
          <p:cNvGrpSpPr/>
          <p:nvPr/>
        </p:nvGrpSpPr>
        <p:grpSpPr>
          <a:xfrm>
            <a:off x="192024" y="950976"/>
            <a:ext cx="568452" cy="1284732"/>
            <a:chOff x="0" y="0"/>
            <a:chExt cx="757936" cy="1712976"/>
          </a:xfrm>
        </p:grpSpPr>
        <p:sp>
          <p:nvSpPr>
            <p:cNvPr id="6" name="Freeform 6"/>
            <p:cNvSpPr/>
            <p:nvPr/>
          </p:nvSpPr>
          <p:spPr>
            <a:xfrm>
              <a:off x="0" y="0"/>
              <a:ext cx="757936" cy="1712976"/>
            </a:xfrm>
            <a:custGeom>
              <a:avLst/>
              <a:gdLst/>
              <a:ahLst/>
              <a:cxnLst/>
              <a:rect l="l" t="t" r="r" b="b"/>
              <a:pathLst>
                <a:path w="757936" h="1712976">
                  <a:moveTo>
                    <a:pt x="0" y="0"/>
                  </a:moveTo>
                  <a:lnTo>
                    <a:pt x="757936" y="0"/>
                  </a:lnTo>
                  <a:lnTo>
                    <a:pt x="757936" y="1712976"/>
                  </a:lnTo>
                  <a:lnTo>
                    <a:pt x="0" y="1712976"/>
                  </a:lnTo>
                  <a:lnTo>
                    <a:pt x="0" y="0"/>
                  </a:lnTo>
                  <a:close/>
                </a:path>
              </a:pathLst>
            </a:custGeom>
            <a:blipFill>
              <a:blip r:embed="rId2"/>
              <a:stretch>
                <a:fillRect l="-804" b="-237"/>
              </a:stretch>
            </a:blipFill>
          </p:spPr>
          <p:txBody>
            <a:bodyPr/>
            <a:lstStyle/>
            <a:p>
              <a:endParaRPr lang="en-SG"/>
            </a:p>
          </p:txBody>
        </p:sp>
      </p:grpSp>
      <p:grpSp>
        <p:nvGrpSpPr>
          <p:cNvPr id="7" name="Group 7"/>
          <p:cNvGrpSpPr/>
          <p:nvPr/>
        </p:nvGrpSpPr>
        <p:grpSpPr>
          <a:xfrm>
            <a:off x="179832" y="5116068"/>
            <a:ext cx="592836" cy="1478280"/>
            <a:chOff x="0" y="0"/>
            <a:chExt cx="790448" cy="1971040"/>
          </a:xfrm>
        </p:grpSpPr>
        <p:sp>
          <p:nvSpPr>
            <p:cNvPr id="8" name="Freeform 8"/>
            <p:cNvSpPr/>
            <p:nvPr/>
          </p:nvSpPr>
          <p:spPr>
            <a:xfrm>
              <a:off x="0" y="0"/>
              <a:ext cx="790448" cy="1971040"/>
            </a:xfrm>
            <a:custGeom>
              <a:avLst/>
              <a:gdLst/>
              <a:ahLst/>
              <a:cxnLst/>
              <a:rect l="l" t="t" r="r" b="b"/>
              <a:pathLst>
                <a:path w="790448" h="1971040">
                  <a:moveTo>
                    <a:pt x="0" y="0"/>
                  </a:moveTo>
                  <a:lnTo>
                    <a:pt x="790448" y="0"/>
                  </a:lnTo>
                  <a:lnTo>
                    <a:pt x="790448" y="1971040"/>
                  </a:lnTo>
                  <a:lnTo>
                    <a:pt x="0" y="1971040"/>
                  </a:lnTo>
                  <a:lnTo>
                    <a:pt x="0" y="0"/>
                  </a:lnTo>
                  <a:close/>
                </a:path>
              </a:pathLst>
            </a:custGeom>
            <a:blipFill>
              <a:blip r:embed="rId3"/>
              <a:stretch>
                <a:fillRect l="-514" b="-206"/>
              </a:stretch>
            </a:blipFill>
          </p:spPr>
          <p:txBody>
            <a:bodyPr/>
            <a:lstStyle/>
            <a:p>
              <a:endParaRPr lang="en-SG"/>
            </a:p>
          </p:txBody>
        </p:sp>
      </p:grpSp>
      <p:grpSp>
        <p:nvGrpSpPr>
          <p:cNvPr id="9" name="Group 9"/>
          <p:cNvGrpSpPr/>
          <p:nvPr/>
        </p:nvGrpSpPr>
        <p:grpSpPr>
          <a:xfrm>
            <a:off x="2965704" y="2551176"/>
            <a:ext cx="4760976" cy="167640"/>
            <a:chOff x="0" y="0"/>
            <a:chExt cx="6347968" cy="223520"/>
          </a:xfrm>
        </p:grpSpPr>
        <p:sp>
          <p:nvSpPr>
            <p:cNvPr id="10" name="Freeform 10"/>
            <p:cNvSpPr/>
            <p:nvPr/>
          </p:nvSpPr>
          <p:spPr>
            <a:xfrm>
              <a:off x="0" y="0"/>
              <a:ext cx="6347968" cy="223520"/>
            </a:xfrm>
            <a:custGeom>
              <a:avLst/>
              <a:gdLst/>
              <a:ahLst/>
              <a:cxnLst/>
              <a:rect l="l" t="t" r="r" b="b"/>
              <a:pathLst>
                <a:path w="6347968" h="223520">
                  <a:moveTo>
                    <a:pt x="0" y="0"/>
                  </a:moveTo>
                  <a:lnTo>
                    <a:pt x="6347968" y="0"/>
                  </a:lnTo>
                  <a:lnTo>
                    <a:pt x="6347968" y="223520"/>
                  </a:lnTo>
                  <a:lnTo>
                    <a:pt x="0" y="223520"/>
                  </a:lnTo>
                  <a:lnTo>
                    <a:pt x="0" y="0"/>
                  </a:lnTo>
                  <a:close/>
                </a:path>
              </a:pathLst>
            </a:custGeom>
            <a:blipFill>
              <a:blip r:embed="rId4"/>
              <a:stretch>
                <a:fillRect/>
              </a:stretch>
            </a:blipFill>
          </p:spPr>
          <p:txBody>
            <a:bodyPr/>
            <a:lstStyle/>
            <a:p>
              <a:endParaRPr lang="en-SG"/>
            </a:p>
          </p:txBody>
        </p:sp>
      </p:grpSp>
      <p:grpSp>
        <p:nvGrpSpPr>
          <p:cNvPr id="11" name="Group 11"/>
          <p:cNvGrpSpPr/>
          <p:nvPr/>
        </p:nvGrpSpPr>
        <p:grpSpPr>
          <a:xfrm>
            <a:off x="2965704" y="2715768"/>
            <a:ext cx="4760976" cy="3596640"/>
            <a:chOff x="0" y="0"/>
            <a:chExt cx="6347968" cy="4795520"/>
          </a:xfrm>
        </p:grpSpPr>
        <p:sp>
          <p:nvSpPr>
            <p:cNvPr id="12" name="Freeform 12"/>
            <p:cNvSpPr/>
            <p:nvPr/>
          </p:nvSpPr>
          <p:spPr>
            <a:xfrm>
              <a:off x="0" y="0"/>
              <a:ext cx="6347968" cy="4795520"/>
            </a:xfrm>
            <a:custGeom>
              <a:avLst/>
              <a:gdLst/>
              <a:ahLst/>
              <a:cxnLst/>
              <a:rect l="l" t="t" r="r" b="b"/>
              <a:pathLst>
                <a:path w="6347968" h="4795520">
                  <a:moveTo>
                    <a:pt x="0" y="0"/>
                  </a:moveTo>
                  <a:lnTo>
                    <a:pt x="6347968" y="0"/>
                  </a:lnTo>
                  <a:lnTo>
                    <a:pt x="6347968" y="4795520"/>
                  </a:lnTo>
                  <a:lnTo>
                    <a:pt x="0" y="4795520"/>
                  </a:lnTo>
                  <a:lnTo>
                    <a:pt x="0" y="0"/>
                  </a:lnTo>
                  <a:close/>
                </a:path>
              </a:pathLst>
            </a:custGeom>
            <a:blipFill>
              <a:blip r:embed="rId5"/>
              <a:stretch>
                <a:fillRect/>
              </a:stretch>
            </a:blipFill>
          </p:spPr>
          <p:txBody>
            <a:bodyPr/>
            <a:lstStyle/>
            <a:p>
              <a:endParaRPr lang="en-SG"/>
            </a:p>
          </p:txBody>
        </p:sp>
      </p:grpSp>
      <p:sp>
        <p:nvSpPr>
          <p:cNvPr id="13" name="TextBox 13"/>
          <p:cNvSpPr txBox="1"/>
          <p:nvPr/>
        </p:nvSpPr>
        <p:spPr>
          <a:xfrm>
            <a:off x="1632385" y="1391269"/>
            <a:ext cx="6195793" cy="929707"/>
          </a:xfrm>
          <a:prstGeom prst="rect">
            <a:avLst/>
          </a:prstGeom>
        </p:spPr>
        <p:txBody>
          <a:bodyPr lIns="0" tIns="0" rIns="0" bIns="0" rtlCol="0" anchor="t">
            <a:spAutoFit/>
          </a:bodyPr>
          <a:lstStyle/>
          <a:p>
            <a:pPr algn="l">
              <a:lnSpc>
                <a:spcPts val="3648"/>
              </a:lnSpc>
            </a:pPr>
            <a:r>
              <a:rPr lang="en-US" sz="3048">
                <a:solidFill>
                  <a:srgbClr val="2C2C2C"/>
                </a:solidFill>
                <a:latin typeface="Montserrat"/>
                <a:ea typeface="Montserrat"/>
                <a:cs typeface="Montserrat"/>
                <a:sym typeface="Montserrat"/>
              </a:rPr>
              <a:t>Satellite Set-up -Antenna OBC Connection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3503" y="709165"/>
            <a:ext cx="10819381" cy="6142225"/>
            <a:chOff x="0" y="0"/>
            <a:chExt cx="10819384" cy="6142228"/>
          </a:xfrm>
        </p:grpSpPr>
        <p:sp>
          <p:nvSpPr>
            <p:cNvPr id="3" name="Freeform 3"/>
            <p:cNvSpPr/>
            <p:nvPr/>
          </p:nvSpPr>
          <p:spPr>
            <a:xfrm>
              <a:off x="63500" y="63500"/>
              <a:ext cx="10692383" cy="6015229"/>
            </a:xfrm>
            <a:custGeom>
              <a:avLst/>
              <a:gdLst/>
              <a:ahLst/>
              <a:cxnLst/>
              <a:rect l="l" t="t" r="r" b="b"/>
              <a:pathLst>
                <a:path w="10692383" h="6015229">
                  <a:moveTo>
                    <a:pt x="0" y="0"/>
                  </a:moveTo>
                  <a:lnTo>
                    <a:pt x="10692383" y="0"/>
                  </a:lnTo>
                  <a:lnTo>
                    <a:pt x="10692383" y="6015229"/>
                  </a:lnTo>
                  <a:lnTo>
                    <a:pt x="0" y="6015229"/>
                  </a:lnTo>
                  <a:close/>
                </a:path>
              </a:pathLst>
            </a:custGeom>
            <a:solidFill>
              <a:srgbClr val="FFFFFF"/>
            </a:solidFill>
          </p:spPr>
          <p:txBody>
            <a:bodyPr/>
            <a:lstStyle/>
            <a:p>
              <a:endParaRPr lang="en-SG"/>
            </a:p>
          </p:txBody>
        </p:sp>
        <p:sp>
          <p:nvSpPr>
            <p:cNvPr id="4" name="Freeform 4"/>
            <p:cNvSpPr/>
            <p:nvPr/>
          </p:nvSpPr>
          <p:spPr>
            <a:xfrm>
              <a:off x="63500" y="63500"/>
              <a:ext cx="954024" cy="6015229"/>
            </a:xfrm>
            <a:custGeom>
              <a:avLst/>
              <a:gdLst/>
              <a:ahLst/>
              <a:cxnLst/>
              <a:rect l="l" t="t" r="r" b="b"/>
              <a:pathLst>
                <a:path w="954024" h="6015229">
                  <a:moveTo>
                    <a:pt x="0" y="0"/>
                  </a:moveTo>
                  <a:lnTo>
                    <a:pt x="954024" y="0"/>
                  </a:lnTo>
                  <a:lnTo>
                    <a:pt x="954024" y="6015229"/>
                  </a:lnTo>
                  <a:lnTo>
                    <a:pt x="0" y="6015229"/>
                  </a:lnTo>
                  <a:close/>
                </a:path>
              </a:pathLst>
            </a:custGeom>
            <a:solidFill>
              <a:srgbClr val="000000"/>
            </a:solidFill>
          </p:spPr>
          <p:txBody>
            <a:bodyPr/>
            <a:lstStyle/>
            <a:p>
              <a:endParaRPr lang="en-SG"/>
            </a:p>
          </p:txBody>
        </p:sp>
      </p:grpSp>
      <p:grpSp>
        <p:nvGrpSpPr>
          <p:cNvPr id="5" name="Group 5"/>
          <p:cNvGrpSpPr/>
          <p:nvPr/>
        </p:nvGrpSpPr>
        <p:grpSpPr>
          <a:xfrm>
            <a:off x="192024" y="950976"/>
            <a:ext cx="568452" cy="1284732"/>
            <a:chOff x="0" y="0"/>
            <a:chExt cx="757936" cy="1712976"/>
          </a:xfrm>
        </p:grpSpPr>
        <p:sp>
          <p:nvSpPr>
            <p:cNvPr id="6" name="Freeform 6"/>
            <p:cNvSpPr/>
            <p:nvPr/>
          </p:nvSpPr>
          <p:spPr>
            <a:xfrm>
              <a:off x="0" y="0"/>
              <a:ext cx="757936" cy="1712976"/>
            </a:xfrm>
            <a:custGeom>
              <a:avLst/>
              <a:gdLst/>
              <a:ahLst/>
              <a:cxnLst/>
              <a:rect l="l" t="t" r="r" b="b"/>
              <a:pathLst>
                <a:path w="757936" h="1712976">
                  <a:moveTo>
                    <a:pt x="0" y="0"/>
                  </a:moveTo>
                  <a:lnTo>
                    <a:pt x="757936" y="0"/>
                  </a:lnTo>
                  <a:lnTo>
                    <a:pt x="757936" y="1712976"/>
                  </a:lnTo>
                  <a:lnTo>
                    <a:pt x="0" y="1712976"/>
                  </a:lnTo>
                  <a:lnTo>
                    <a:pt x="0" y="0"/>
                  </a:lnTo>
                  <a:close/>
                </a:path>
              </a:pathLst>
            </a:custGeom>
            <a:blipFill>
              <a:blip r:embed="rId2"/>
              <a:stretch>
                <a:fillRect l="-804" b="-237"/>
              </a:stretch>
            </a:blipFill>
          </p:spPr>
          <p:txBody>
            <a:bodyPr/>
            <a:lstStyle/>
            <a:p>
              <a:endParaRPr lang="en-SG"/>
            </a:p>
          </p:txBody>
        </p:sp>
      </p:grpSp>
      <p:grpSp>
        <p:nvGrpSpPr>
          <p:cNvPr id="7" name="Group 7"/>
          <p:cNvGrpSpPr/>
          <p:nvPr/>
        </p:nvGrpSpPr>
        <p:grpSpPr>
          <a:xfrm>
            <a:off x="179832" y="5116068"/>
            <a:ext cx="592836" cy="1478280"/>
            <a:chOff x="0" y="0"/>
            <a:chExt cx="790448" cy="1971040"/>
          </a:xfrm>
        </p:grpSpPr>
        <p:sp>
          <p:nvSpPr>
            <p:cNvPr id="8" name="Freeform 8"/>
            <p:cNvSpPr/>
            <p:nvPr/>
          </p:nvSpPr>
          <p:spPr>
            <a:xfrm>
              <a:off x="0" y="0"/>
              <a:ext cx="790448" cy="1971040"/>
            </a:xfrm>
            <a:custGeom>
              <a:avLst/>
              <a:gdLst/>
              <a:ahLst/>
              <a:cxnLst/>
              <a:rect l="l" t="t" r="r" b="b"/>
              <a:pathLst>
                <a:path w="790448" h="1971040">
                  <a:moveTo>
                    <a:pt x="0" y="0"/>
                  </a:moveTo>
                  <a:lnTo>
                    <a:pt x="790448" y="0"/>
                  </a:lnTo>
                  <a:lnTo>
                    <a:pt x="790448" y="1971040"/>
                  </a:lnTo>
                  <a:lnTo>
                    <a:pt x="0" y="1971040"/>
                  </a:lnTo>
                  <a:lnTo>
                    <a:pt x="0" y="0"/>
                  </a:lnTo>
                  <a:close/>
                </a:path>
              </a:pathLst>
            </a:custGeom>
            <a:blipFill>
              <a:blip r:embed="rId3"/>
              <a:stretch>
                <a:fillRect l="-514" b="-206"/>
              </a:stretch>
            </a:blipFill>
          </p:spPr>
          <p:txBody>
            <a:bodyPr/>
            <a:lstStyle/>
            <a:p>
              <a:endParaRPr lang="en-SG"/>
            </a:p>
          </p:txBody>
        </p:sp>
      </p:grpSp>
      <p:grpSp>
        <p:nvGrpSpPr>
          <p:cNvPr id="9" name="Group 9"/>
          <p:cNvGrpSpPr/>
          <p:nvPr/>
        </p:nvGrpSpPr>
        <p:grpSpPr>
          <a:xfrm>
            <a:off x="2505456" y="2350008"/>
            <a:ext cx="5681472" cy="569976"/>
            <a:chOff x="0" y="0"/>
            <a:chExt cx="7575296" cy="759968"/>
          </a:xfrm>
        </p:grpSpPr>
        <p:sp>
          <p:nvSpPr>
            <p:cNvPr id="10" name="Freeform 10"/>
            <p:cNvSpPr/>
            <p:nvPr/>
          </p:nvSpPr>
          <p:spPr>
            <a:xfrm>
              <a:off x="0" y="0"/>
              <a:ext cx="7575296" cy="759968"/>
            </a:xfrm>
            <a:custGeom>
              <a:avLst/>
              <a:gdLst/>
              <a:ahLst/>
              <a:cxnLst/>
              <a:rect l="l" t="t" r="r" b="b"/>
              <a:pathLst>
                <a:path w="7575296" h="759968">
                  <a:moveTo>
                    <a:pt x="0" y="0"/>
                  </a:moveTo>
                  <a:lnTo>
                    <a:pt x="7575296" y="0"/>
                  </a:lnTo>
                  <a:lnTo>
                    <a:pt x="7575296" y="759968"/>
                  </a:lnTo>
                  <a:lnTo>
                    <a:pt x="0" y="759968"/>
                  </a:lnTo>
                  <a:lnTo>
                    <a:pt x="0" y="0"/>
                  </a:lnTo>
                  <a:close/>
                </a:path>
              </a:pathLst>
            </a:custGeom>
            <a:blipFill>
              <a:blip r:embed="rId4"/>
              <a:stretch>
                <a:fillRect/>
              </a:stretch>
            </a:blipFill>
          </p:spPr>
          <p:txBody>
            <a:bodyPr/>
            <a:lstStyle/>
            <a:p>
              <a:endParaRPr lang="en-SG"/>
            </a:p>
          </p:txBody>
        </p:sp>
      </p:grpSp>
      <p:grpSp>
        <p:nvGrpSpPr>
          <p:cNvPr id="11" name="Group 11"/>
          <p:cNvGrpSpPr/>
          <p:nvPr/>
        </p:nvGrpSpPr>
        <p:grpSpPr>
          <a:xfrm>
            <a:off x="2505456" y="2916936"/>
            <a:ext cx="5681472" cy="3194304"/>
            <a:chOff x="0" y="0"/>
            <a:chExt cx="7575296" cy="4259072"/>
          </a:xfrm>
        </p:grpSpPr>
        <p:sp>
          <p:nvSpPr>
            <p:cNvPr id="12" name="Freeform 12"/>
            <p:cNvSpPr/>
            <p:nvPr/>
          </p:nvSpPr>
          <p:spPr>
            <a:xfrm>
              <a:off x="0" y="0"/>
              <a:ext cx="7575296" cy="4259072"/>
            </a:xfrm>
            <a:custGeom>
              <a:avLst/>
              <a:gdLst/>
              <a:ahLst/>
              <a:cxnLst/>
              <a:rect l="l" t="t" r="r" b="b"/>
              <a:pathLst>
                <a:path w="7575296" h="4259072">
                  <a:moveTo>
                    <a:pt x="0" y="0"/>
                  </a:moveTo>
                  <a:lnTo>
                    <a:pt x="7575296" y="0"/>
                  </a:lnTo>
                  <a:lnTo>
                    <a:pt x="7575296" y="4259072"/>
                  </a:lnTo>
                  <a:lnTo>
                    <a:pt x="0" y="4259072"/>
                  </a:lnTo>
                  <a:lnTo>
                    <a:pt x="0" y="0"/>
                  </a:lnTo>
                  <a:close/>
                </a:path>
              </a:pathLst>
            </a:custGeom>
            <a:blipFill>
              <a:blip r:embed="rId5"/>
              <a:stretch>
                <a:fillRect/>
              </a:stretch>
            </a:blipFill>
          </p:spPr>
          <p:txBody>
            <a:bodyPr/>
            <a:lstStyle/>
            <a:p>
              <a:endParaRPr lang="en-SG"/>
            </a:p>
          </p:txBody>
        </p:sp>
      </p:grpSp>
      <p:sp>
        <p:nvSpPr>
          <p:cNvPr id="13" name="TextBox 13"/>
          <p:cNvSpPr txBox="1"/>
          <p:nvPr/>
        </p:nvSpPr>
        <p:spPr>
          <a:xfrm>
            <a:off x="1632385" y="1334119"/>
            <a:ext cx="5185010" cy="523504"/>
          </a:xfrm>
          <a:prstGeom prst="rect">
            <a:avLst/>
          </a:prstGeom>
        </p:spPr>
        <p:txBody>
          <a:bodyPr lIns="0" tIns="0" rIns="0" bIns="0" rtlCol="0" anchor="t">
            <a:spAutoFit/>
          </a:bodyPr>
          <a:lstStyle/>
          <a:p>
            <a:pPr algn="l">
              <a:lnSpc>
                <a:spcPts val="4267"/>
              </a:lnSpc>
            </a:pPr>
            <a:r>
              <a:rPr lang="en-US" sz="3048">
                <a:solidFill>
                  <a:srgbClr val="2C2C2C"/>
                </a:solidFill>
                <a:latin typeface="Montserrat"/>
                <a:ea typeface="Montserrat"/>
                <a:cs typeface="Montserrat"/>
                <a:sym typeface="Montserrat"/>
              </a:rPr>
              <a:t>Satellite Set-up -Antenna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3503" y="709165"/>
            <a:ext cx="10819381" cy="6142225"/>
            <a:chOff x="0" y="0"/>
            <a:chExt cx="10819384" cy="6142228"/>
          </a:xfrm>
        </p:grpSpPr>
        <p:sp>
          <p:nvSpPr>
            <p:cNvPr id="3" name="Freeform 3"/>
            <p:cNvSpPr/>
            <p:nvPr/>
          </p:nvSpPr>
          <p:spPr>
            <a:xfrm>
              <a:off x="63500" y="63500"/>
              <a:ext cx="10692383" cy="6015229"/>
            </a:xfrm>
            <a:custGeom>
              <a:avLst/>
              <a:gdLst/>
              <a:ahLst/>
              <a:cxnLst/>
              <a:rect l="l" t="t" r="r" b="b"/>
              <a:pathLst>
                <a:path w="10692383" h="6015229">
                  <a:moveTo>
                    <a:pt x="0" y="0"/>
                  </a:moveTo>
                  <a:lnTo>
                    <a:pt x="10692383" y="0"/>
                  </a:lnTo>
                  <a:lnTo>
                    <a:pt x="10692383" y="6015229"/>
                  </a:lnTo>
                  <a:lnTo>
                    <a:pt x="0" y="6015229"/>
                  </a:lnTo>
                  <a:close/>
                </a:path>
              </a:pathLst>
            </a:custGeom>
            <a:solidFill>
              <a:srgbClr val="FFFFFF"/>
            </a:solidFill>
          </p:spPr>
          <p:txBody>
            <a:bodyPr/>
            <a:lstStyle/>
            <a:p>
              <a:endParaRPr lang="en-SG"/>
            </a:p>
          </p:txBody>
        </p:sp>
        <p:sp>
          <p:nvSpPr>
            <p:cNvPr id="4" name="Freeform 4"/>
            <p:cNvSpPr/>
            <p:nvPr/>
          </p:nvSpPr>
          <p:spPr>
            <a:xfrm>
              <a:off x="63500" y="63500"/>
              <a:ext cx="954024" cy="6015229"/>
            </a:xfrm>
            <a:custGeom>
              <a:avLst/>
              <a:gdLst/>
              <a:ahLst/>
              <a:cxnLst/>
              <a:rect l="l" t="t" r="r" b="b"/>
              <a:pathLst>
                <a:path w="954024" h="6015229">
                  <a:moveTo>
                    <a:pt x="0" y="0"/>
                  </a:moveTo>
                  <a:lnTo>
                    <a:pt x="954024" y="0"/>
                  </a:lnTo>
                  <a:lnTo>
                    <a:pt x="954024" y="6015229"/>
                  </a:lnTo>
                  <a:lnTo>
                    <a:pt x="0" y="6015229"/>
                  </a:lnTo>
                  <a:close/>
                </a:path>
              </a:pathLst>
            </a:custGeom>
            <a:solidFill>
              <a:srgbClr val="000000"/>
            </a:solidFill>
          </p:spPr>
          <p:txBody>
            <a:bodyPr/>
            <a:lstStyle/>
            <a:p>
              <a:endParaRPr lang="en-SG"/>
            </a:p>
          </p:txBody>
        </p:sp>
      </p:grpSp>
      <p:grpSp>
        <p:nvGrpSpPr>
          <p:cNvPr id="5" name="Group 5"/>
          <p:cNvGrpSpPr/>
          <p:nvPr/>
        </p:nvGrpSpPr>
        <p:grpSpPr>
          <a:xfrm>
            <a:off x="192024" y="950976"/>
            <a:ext cx="568452" cy="1284732"/>
            <a:chOff x="0" y="0"/>
            <a:chExt cx="757936" cy="1712976"/>
          </a:xfrm>
        </p:grpSpPr>
        <p:sp>
          <p:nvSpPr>
            <p:cNvPr id="6" name="Freeform 6"/>
            <p:cNvSpPr/>
            <p:nvPr/>
          </p:nvSpPr>
          <p:spPr>
            <a:xfrm>
              <a:off x="0" y="0"/>
              <a:ext cx="757936" cy="1712976"/>
            </a:xfrm>
            <a:custGeom>
              <a:avLst/>
              <a:gdLst/>
              <a:ahLst/>
              <a:cxnLst/>
              <a:rect l="l" t="t" r="r" b="b"/>
              <a:pathLst>
                <a:path w="757936" h="1712976">
                  <a:moveTo>
                    <a:pt x="0" y="0"/>
                  </a:moveTo>
                  <a:lnTo>
                    <a:pt x="757936" y="0"/>
                  </a:lnTo>
                  <a:lnTo>
                    <a:pt x="757936" y="1712976"/>
                  </a:lnTo>
                  <a:lnTo>
                    <a:pt x="0" y="1712976"/>
                  </a:lnTo>
                  <a:lnTo>
                    <a:pt x="0" y="0"/>
                  </a:lnTo>
                  <a:close/>
                </a:path>
              </a:pathLst>
            </a:custGeom>
            <a:blipFill>
              <a:blip r:embed="rId2"/>
              <a:stretch>
                <a:fillRect l="-804" b="-237"/>
              </a:stretch>
            </a:blipFill>
          </p:spPr>
          <p:txBody>
            <a:bodyPr/>
            <a:lstStyle/>
            <a:p>
              <a:endParaRPr lang="en-SG"/>
            </a:p>
          </p:txBody>
        </p:sp>
      </p:grpSp>
      <p:grpSp>
        <p:nvGrpSpPr>
          <p:cNvPr id="7" name="Group 7"/>
          <p:cNvGrpSpPr/>
          <p:nvPr/>
        </p:nvGrpSpPr>
        <p:grpSpPr>
          <a:xfrm>
            <a:off x="179832" y="5116068"/>
            <a:ext cx="592836" cy="1478280"/>
            <a:chOff x="0" y="0"/>
            <a:chExt cx="790448" cy="1971040"/>
          </a:xfrm>
        </p:grpSpPr>
        <p:sp>
          <p:nvSpPr>
            <p:cNvPr id="8" name="Freeform 8"/>
            <p:cNvSpPr/>
            <p:nvPr/>
          </p:nvSpPr>
          <p:spPr>
            <a:xfrm>
              <a:off x="0" y="0"/>
              <a:ext cx="790448" cy="1971040"/>
            </a:xfrm>
            <a:custGeom>
              <a:avLst/>
              <a:gdLst/>
              <a:ahLst/>
              <a:cxnLst/>
              <a:rect l="l" t="t" r="r" b="b"/>
              <a:pathLst>
                <a:path w="790448" h="1971040">
                  <a:moveTo>
                    <a:pt x="0" y="0"/>
                  </a:moveTo>
                  <a:lnTo>
                    <a:pt x="790448" y="0"/>
                  </a:lnTo>
                  <a:lnTo>
                    <a:pt x="790448" y="1971040"/>
                  </a:lnTo>
                  <a:lnTo>
                    <a:pt x="0" y="1971040"/>
                  </a:lnTo>
                  <a:lnTo>
                    <a:pt x="0" y="0"/>
                  </a:lnTo>
                  <a:close/>
                </a:path>
              </a:pathLst>
            </a:custGeom>
            <a:blipFill>
              <a:blip r:embed="rId3"/>
              <a:stretch>
                <a:fillRect l="-514" b="-206"/>
              </a:stretch>
            </a:blipFill>
          </p:spPr>
          <p:txBody>
            <a:bodyPr/>
            <a:lstStyle/>
            <a:p>
              <a:endParaRPr lang="en-SG"/>
            </a:p>
          </p:txBody>
        </p:sp>
      </p:grpSp>
      <p:grpSp>
        <p:nvGrpSpPr>
          <p:cNvPr id="9" name="Group 9"/>
          <p:cNvGrpSpPr/>
          <p:nvPr/>
        </p:nvGrpSpPr>
        <p:grpSpPr>
          <a:xfrm>
            <a:off x="6676644" y="1431036"/>
            <a:ext cx="3896868" cy="205740"/>
            <a:chOff x="0" y="0"/>
            <a:chExt cx="5195824" cy="274320"/>
          </a:xfrm>
        </p:grpSpPr>
        <p:sp>
          <p:nvSpPr>
            <p:cNvPr id="10" name="Freeform 10"/>
            <p:cNvSpPr/>
            <p:nvPr/>
          </p:nvSpPr>
          <p:spPr>
            <a:xfrm>
              <a:off x="0" y="0"/>
              <a:ext cx="5195824" cy="274320"/>
            </a:xfrm>
            <a:custGeom>
              <a:avLst/>
              <a:gdLst/>
              <a:ahLst/>
              <a:cxnLst/>
              <a:rect l="l" t="t" r="r" b="b"/>
              <a:pathLst>
                <a:path w="5195824" h="274320">
                  <a:moveTo>
                    <a:pt x="0" y="0"/>
                  </a:moveTo>
                  <a:lnTo>
                    <a:pt x="5195824" y="0"/>
                  </a:lnTo>
                  <a:lnTo>
                    <a:pt x="5195824" y="274320"/>
                  </a:lnTo>
                  <a:lnTo>
                    <a:pt x="0" y="274320"/>
                  </a:lnTo>
                  <a:lnTo>
                    <a:pt x="0" y="0"/>
                  </a:lnTo>
                  <a:close/>
                </a:path>
              </a:pathLst>
            </a:custGeom>
            <a:blipFill>
              <a:blip r:embed="rId4"/>
              <a:stretch>
                <a:fillRect l="-39" t="-740"/>
              </a:stretch>
            </a:blipFill>
          </p:spPr>
          <p:txBody>
            <a:bodyPr/>
            <a:lstStyle/>
            <a:p>
              <a:endParaRPr lang="en-SG"/>
            </a:p>
          </p:txBody>
        </p:sp>
      </p:grpSp>
      <p:grpSp>
        <p:nvGrpSpPr>
          <p:cNvPr id="11" name="Group 11"/>
          <p:cNvGrpSpPr/>
          <p:nvPr/>
        </p:nvGrpSpPr>
        <p:grpSpPr>
          <a:xfrm>
            <a:off x="6676644" y="1633728"/>
            <a:ext cx="3896868" cy="4700016"/>
            <a:chOff x="0" y="0"/>
            <a:chExt cx="5195824" cy="6266688"/>
          </a:xfrm>
        </p:grpSpPr>
        <p:sp>
          <p:nvSpPr>
            <p:cNvPr id="12" name="Freeform 12"/>
            <p:cNvSpPr/>
            <p:nvPr/>
          </p:nvSpPr>
          <p:spPr>
            <a:xfrm>
              <a:off x="0" y="0"/>
              <a:ext cx="5195824" cy="6266688"/>
            </a:xfrm>
            <a:custGeom>
              <a:avLst/>
              <a:gdLst/>
              <a:ahLst/>
              <a:cxnLst/>
              <a:rect l="l" t="t" r="r" b="b"/>
              <a:pathLst>
                <a:path w="5195824" h="6266688">
                  <a:moveTo>
                    <a:pt x="0" y="0"/>
                  </a:moveTo>
                  <a:lnTo>
                    <a:pt x="5195824" y="0"/>
                  </a:lnTo>
                  <a:lnTo>
                    <a:pt x="5195824" y="6266688"/>
                  </a:lnTo>
                  <a:lnTo>
                    <a:pt x="0" y="6266688"/>
                  </a:lnTo>
                  <a:lnTo>
                    <a:pt x="0" y="0"/>
                  </a:lnTo>
                  <a:close/>
                </a:path>
              </a:pathLst>
            </a:custGeom>
            <a:blipFill>
              <a:blip r:embed="rId5"/>
              <a:stretch>
                <a:fillRect/>
              </a:stretch>
            </a:blipFill>
          </p:spPr>
          <p:txBody>
            <a:bodyPr/>
            <a:lstStyle/>
            <a:p>
              <a:endParaRPr lang="en-SG"/>
            </a:p>
          </p:txBody>
        </p:sp>
      </p:grpSp>
      <p:grpSp>
        <p:nvGrpSpPr>
          <p:cNvPr id="13" name="Group 13"/>
          <p:cNvGrpSpPr/>
          <p:nvPr/>
        </p:nvGrpSpPr>
        <p:grpSpPr>
          <a:xfrm>
            <a:off x="6675120" y="6330696"/>
            <a:ext cx="3898392" cy="70104"/>
            <a:chOff x="0" y="0"/>
            <a:chExt cx="3898392" cy="70104"/>
          </a:xfrm>
        </p:grpSpPr>
        <p:sp>
          <p:nvSpPr>
            <p:cNvPr id="14" name="Freeform 14"/>
            <p:cNvSpPr/>
            <p:nvPr/>
          </p:nvSpPr>
          <p:spPr>
            <a:xfrm>
              <a:off x="0" y="0"/>
              <a:ext cx="3898392" cy="70104"/>
            </a:xfrm>
            <a:custGeom>
              <a:avLst/>
              <a:gdLst/>
              <a:ahLst/>
              <a:cxnLst/>
              <a:rect l="l" t="t" r="r" b="b"/>
              <a:pathLst>
                <a:path w="3898392" h="70104">
                  <a:moveTo>
                    <a:pt x="0" y="70104"/>
                  </a:moveTo>
                  <a:lnTo>
                    <a:pt x="3898392" y="70104"/>
                  </a:lnTo>
                  <a:lnTo>
                    <a:pt x="3898392" y="0"/>
                  </a:lnTo>
                  <a:lnTo>
                    <a:pt x="0" y="0"/>
                  </a:lnTo>
                  <a:lnTo>
                    <a:pt x="0" y="70104"/>
                  </a:lnTo>
                  <a:close/>
                </a:path>
              </a:pathLst>
            </a:custGeom>
            <a:solidFill>
              <a:srgbClr val="FFFFFF"/>
            </a:solidFill>
          </p:spPr>
          <p:txBody>
            <a:bodyPr/>
            <a:lstStyle/>
            <a:p>
              <a:endParaRPr lang="en-SG"/>
            </a:p>
          </p:txBody>
        </p:sp>
      </p:grpSp>
      <p:sp>
        <p:nvSpPr>
          <p:cNvPr id="15" name="TextBox 15"/>
          <p:cNvSpPr txBox="1"/>
          <p:nvPr/>
        </p:nvSpPr>
        <p:spPr>
          <a:xfrm>
            <a:off x="1632109" y="1286494"/>
            <a:ext cx="5185286" cy="1688963"/>
          </a:xfrm>
          <a:prstGeom prst="rect">
            <a:avLst/>
          </a:prstGeom>
        </p:spPr>
        <p:txBody>
          <a:bodyPr lIns="0" tIns="0" rIns="0" bIns="0" rtlCol="0" anchor="t">
            <a:spAutoFit/>
          </a:bodyPr>
          <a:lstStyle/>
          <a:p>
            <a:pPr algn="l">
              <a:lnSpc>
                <a:spcPts val="4709"/>
              </a:lnSpc>
            </a:pPr>
            <a:r>
              <a:rPr lang="en-US" sz="3048">
                <a:solidFill>
                  <a:srgbClr val="2C2C2C"/>
                </a:solidFill>
                <a:latin typeface="Montserrat"/>
                <a:ea typeface="Montserrat"/>
                <a:cs typeface="Montserrat"/>
                <a:sym typeface="Montserrat"/>
              </a:rPr>
              <a:t>Satellite Set-up -Antenna </a:t>
            </a:r>
          </a:p>
          <a:p>
            <a:pPr algn="l">
              <a:lnSpc>
                <a:spcPts val="2892"/>
              </a:lnSpc>
            </a:pPr>
            <a:r>
              <a:rPr lang="en-US" sz="1872" spc="-14">
                <a:solidFill>
                  <a:srgbClr val="000000"/>
                </a:solidFill>
                <a:latin typeface="Montserrat"/>
                <a:ea typeface="Montserrat"/>
                <a:cs typeface="Montserrat"/>
                <a:sym typeface="Montserrat"/>
              </a:rPr>
              <a:t>To insert the M2.5x6, open manually deploy the antennas!</a:t>
            </a:r>
          </a:p>
        </p:txBody>
      </p:sp>
      <p:sp>
        <p:nvSpPr>
          <p:cNvPr id="16" name="TextBox 16"/>
          <p:cNvSpPr txBox="1"/>
          <p:nvPr/>
        </p:nvSpPr>
        <p:spPr>
          <a:xfrm>
            <a:off x="1632109" y="3359487"/>
            <a:ext cx="4529147" cy="721843"/>
          </a:xfrm>
          <a:prstGeom prst="rect">
            <a:avLst/>
          </a:prstGeom>
        </p:spPr>
        <p:txBody>
          <a:bodyPr lIns="0" tIns="0" rIns="0" bIns="0" rtlCol="0" anchor="t">
            <a:spAutoFit/>
          </a:bodyPr>
          <a:lstStyle/>
          <a:p>
            <a:pPr algn="l">
              <a:lnSpc>
                <a:spcPts val="2903"/>
              </a:lnSpc>
            </a:pPr>
            <a:r>
              <a:rPr lang="en-US" sz="1872" spc="-14">
                <a:solidFill>
                  <a:srgbClr val="000000"/>
                </a:solidFill>
                <a:latin typeface="Montserrat"/>
                <a:ea typeface="Montserrat"/>
                <a:cs typeface="Montserrat"/>
                <a:sym typeface="Montserrat"/>
              </a:rPr>
              <a:t>Once done, close them back with the pins.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3503" y="709165"/>
            <a:ext cx="10819381" cy="6142225"/>
            <a:chOff x="0" y="0"/>
            <a:chExt cx="10819384" cy="6142228"/>
          </a:xfrm>
        </p:grpSpPr>
        <p:sp>
          <p:nvSpPr>
            <p:cNvPr id="3" name="Freeform 3"/>
            <p:cNvSpPr/>
            <p:nvPr/>
          </p:nvSpPr>
          <p:spPr>
            <a:xfrm>
              <a:off x="63500" y="63500"/>
              <a:ext cx="10692383" cy="6015229"/>
            </a:xfrm>
            <a:custGeom>
              <a:avLst/>
              <a:gdLst/>
              <a:ahLst/>
              <a:cxnLst/>
              <a:rect l="l" t="t" r="r" b="b"/>
              <a:pathLst>
                <a:path w="10692383" h="6015229">
                  <a:moveTo>
                    <a:pt x="0" y="0"/>
                  </a:moveTo>
                  <a:lnTo>
                    <a:pt x="10692383" y="0"/>
                  </a:lnTo>
                  <a:lnTo>
                    <a:pt x="10692383" y="6015229"/>
                  </a:lnTo>
                  <a:lnTo>
                    <a:pt x="0" y="6015229"/>
                  </a:lnTo>
                  <a:close/>
                </a:path>
              </a:pathLst>
            </a:custGeom>
            <a:solidFill>
              <a:srgbClr val="FFFFFF"/>
            </a:solidFill>
          </p:spPr>
          <p:txBody>
            <a:bodyPr/>
            <a:lstStyle/>
            <a:p>
              <a:endParaRPr lang="en-SG"/>
            </a:p>
          </p:txBody>
        </p:sp>
        <p:sp>
          <p:nvSpPr>
            <p:cNvPr id="4" name="Freeform 4"/>
            <p:cNvSpPr/>
            <p:nvPr/>
          </p:nvSpPr>
          <p:spPr>
            <a:xfrm>
              <a:off x="63500" y="63500"/>
              <a:ext cx="954024" cy="6015229"/>
            </a:xfrm>
            <a:custGeom>
              <a:avLst/>
              <a:gdLst/>
              <a:ahLst/>
              <a:cxnLst/>
              <a:rect l="l" t="t" r="r" b="b"/>
              <a:pathLst>
                <a:path w="954024" h="6015229">
                  <a:moveTo>
                    <a:pt x="0" y="0"/>
                  </a:moveTo>
                  <a:lnTo>
                    <a:pt x="954024" y="0"/>
                  </a:lnTo>
                  <a:lnTo>
                    <a:pt x="954024" y="6015229"/>
                  </a:lnTo>
                  <a:lnTo>
                    <a:pt x="0" y="6015229"/>
                  </a:lnTo>
                  <a:close/>
                </a:path>
              </a:pathLst>
            </a:custGeom>
            <a:solidFill>
              <a:srgbClr val="000000"/>
            </a:solidFill>
          </p:spPr>
          <p:txBody>
            <a:bodyPr/>
            <a:lstStyle/>
            <a:p>
              <a:endParaRPr lang="en-SG"/>
            </a:p>
          </p:txBody>
        </p:sp>
      </p:grpSp>
      <p:grpSp>
        <p:nvGrpSpPr>
          <p:cNvPr id="5" name="Group 5"/>
          <p:cNvGrpSpPr/>
          <p:nvPr/>
        </p:nvGrpSpPr>
        <p:grpSpPr>
          <a:xfrm>
            <a:off x="192024" y="950976"/>
            <a:ext cx="568452" cy="1284732"/>
            <a:chOff x="0" y="0"/>
            <a:chExt cx="757936" cy="1712976"/>
          </a:xfrm>
        </p:grpSpPr>
        <p:sp>
          <p:nvSpPr>
            <p:cNvPr id="6" name="Freeform 6"/>
            <p:cNvSpPr/>
            <p:nvPr/>
          </p:nvSpPr>
          <p:spPr>
            <a:xfrm>
              <a:off x="0" y="0"/>
              <a:ext cx="757936" cy="1712976"/>
            </a:xfrm>
            <a:custGeom>
              <a:avLst/>
              <a:gdLst/>
              <a:ahLst/>
              <a:cxnLst/>
              <a:rect l="l" t="t" r="r" b="b"/>
              <a:pathLst>
                <a:path w="757936" h="1712976">
                  <a:moveTo>
                    <a:pt x="0" y="0"/>
                  </a:moveTo>
                  <a:lnTo>
                    <a:pt x="757936" y="0"/>
                  </a:lnTo>
                  <a:lnTo>
                    <a:pt x="757936" y="1712976"/>
                  </a:lnTo>
                  <a:lnTo>
                    <a:pt x="0" y="1712976"/>
                  </a:lnTo>
                  <a:lnTo>
                    <a:pt x="0" y="0"/>
                  </a:lnTo>
                  <a:close/>
                </a:path>
              </a:pathLst>
            </a:custGeom>
            <a:blipFill>
              <a:blip r:embed="rId2"/>
              <a:stretch>
                <a:fillRect l="-804" b="-237"/>
              </a:stretch>
            </a:blipFill>
          </p:spPr>
          <p:txBody>
            <a:bodyPr/>
            <a:lstStyle/>
            <a:p>
              <a:endParaRPr lang="en-SG"/>
            </a:p>
          </p:txBody>
        </p:sp>
      </p:grpSp>
      <p:grpSp>
        <p:nvGrpSpPr>
          <p:cNvPr id="7" name="Group 7"/>
          <p:cNvGrpSpPr/>
          <p:nvPr/>
        </p:nvGrpSpPr>
        <p:grpSpPr>
          <a:xfrm>
            <a:off x="179832" y="5116068"/>
            <a:ext cx="592836" cy="1478280"/>
            <a:chOff x="0" y="0"/>
            <a:chExt cx="790448" cy="1971040"/>
          </a:xfrm>
        </p:grpSpPr>
        <p:sp>
          <p:nvSpPr>
            <p:cNvPr id="8" name="Freeform 8"/>
            <p:cNvSpPr/>
            <p:nvPr/>
          </p:nvSpPr>
          <p:spPr>
            <a:xfrm>
              <a:off x="0" y="0"/>
              <a:ext cx="790448" cy="1971040"/>
            </a:xfrm>
            <a:custGeom>
              <a:avLst/>
              <a:gdLst/>
              <a:ahLst/>
              <a:cxnLst/>
              <a:rect l="l" t="t" r="r" b="b"/>
              <a:pathLst>
                <a:path w="790448" h="1971040">
                  <a:moveTo>
                    <a:pt x="0" y="0"/>
                  </a:moveTo>
                  <a:lnTo>
                    <a:pt x="790448" y="0"/>
                  </a:lnTo>
                  <a:lnTo>
                    <a:pt x="790448" y="1971040"/>
                  </a:lnTo>
                  <a:lnTo>
                    <a:pt x="0" y="1971040"/>
                  </a:lnTo>
                  <a:lnTo>
                    <a:pt x="0" y="0"/>
                  </a:lnTo>
                  <a:close/>
                </a:path>
              </a:pathLst>
            </a:custGeom>
            <a:blipFill>
              <a:blip r:embed="rId3"/>
              <a:stretch>
                <a:fillRect l="-514" b="-206"/>
              </a:stretch>
            </a:blipFill>
          </p:spPr>
          <p:txBody>
            <a:bodyPr/>
            <a:lstStyle/>
            <a:p>
              <a:endParaRPr lang="en-SG"/>
            </a:p>
          </p:txBody>
        </p:sp>
      </p:grpSp>
      <p:grpSp>
        <p:nvGrpSpPr>
          <p:cNvPr id="9" name="Group 9"/>
          <p:cNvGrpSpPr/>
          <p:nvPr/>
        </p:nvGrpSpPr>
        <p:grpSpPr>
          <a:xfrm>
            <a:off x="2607564" y="2057400"/>
            <a:ext cx="6054852" cy="131064"/>
            <a:chOff x="0" y="0"/>
            <a:chExt cx="8073136" cy="174752"/>
          </a:xfrm>
        </p:grpSpPr>
        <p:sp>
          <p:nvSpPr>
            <p:cNvPr id="10" name="Freeform 10"/>
            <p:cNvSpPr/>
            <p:nvPr/>
          </p:nvSpPr>
          <p:spPr>
            <a:xfrm>
              <a:off x="0" y="0"/>
              <a:ext cx="8073136" cy="174752"/>
            </a:xfrm>
            <a:custGeom>
              <a:avLst/>
              <a:gdLst/>
              <a:ahLst/>
              <a:cxnLst/>
              <a:rect l="l" t="t" r="r" b="b"/>
              <a:pathLst>
                <a:path w="8073136" h="174752">
                  <a:moveTo>
                    <a:pt x="0" y="0"/>
                  </a:moveTo>
                  <a:lnTo>
                    <a:pt x="8073136" y="0"/>
                  </a:lnTo>
                  <a:lnTo>
                    <a:pt x="8073136" y="174752"/>
                  </a:lnTo>
                  <a:lnTo>
                    <a:pt x="0" y="174752"/>
                  </a:lnTo>
                  <a:lnTo>
                    <a:pt x="0" y="0"/>
                  </a:lnTo>
                  <a:close/>
                </a:path>
              </a:pathLst>
            </a:custGeom>
            <a:blipFill>
              <a:blip r:embed="rId4"/>
              <a:stretch>
                <a:fillRect l="-25"/>
              </a:stretch>
            </a:blipFill>
          </p:spPr>
          <p:txBody>
            <a:bodyPr/>
            <a:lstStyle/>
            <a:p>
              <a:endParaRPr lang="en-SG"/>
            </a:p>
          </p:txBody>
        </p:sp>
      </p:grpSp>
      <p:grpSp>
        <p:nvGrpSpPr>
          <p:cNvPr id="11" name="Group 11"/>
          <p:cNvGrpSpPr/>
          <p:nvPr/>
        </p:nvGrpSpPr>
        <p:grpSpPr>
          <a:xfrm>
            <a:off x="2607564" y="2185416"/>
            <a:ext cx="6054852" cy="4361688"/>
            <a:chOff x="0" y="0"/>
            <a:chExt cx="8073136" cy="5815584"/>
          </a:xfrm>
        </p:grpSpPr>
        <p:sp>
          <p:nvSpPr>
            <p:cNvPr id="12" name="Freeform 12"/>
            <p:cNvSpPr/>
            <p:nvPr/>
          </p:nvSpPr>
          <p:spPr>
            <a:xfrm>
              <a:off x="0" y="0"/>
              <a:ext cx="8073136" cy="5815584"/>
            </a:xfrm>
            <a:custGeom>
              <a:avLst/>
              <a:gdLst/>
              <a:ahLst/>
              <a:cxnLst/>
              <a:rect l="l" t="t" r="r" b="b"/>
              <a:pathLst>
                <a:path w="8073136" h="5815584">
                  <a:moveTo>
                    <a:pt x="0" y="0"/>
                  </a:moveTo>
                  <a:lnTo>
                    <a:pt x="8073136" y="0"/>
                  </a:lnTo>
                  <a:lnTo>
                    <a:pt x="8073136" y="5815584"/>
                  </a:lnTo>
                  <a:lnTo>
                    <a:pt x="0" y="5815584"/>
                  </a:lnTo>
                  <a:lnTo>
                    <a:pt x="0" y="0"/>
                  </a:lnTo>
                  <a:close/>
                </a:path>
              </a:pathLst>
            </a:custGeom>
            <a:blipFill>
              <a:blip r:embed="rId5"/>
              <a:stretch>
                <a:fillRect/>
              </a:stretch>
            </a:blipFill>
          </p:spPr>
          <p:txBody>
            <a:bodyPr/>
            <a:lstStyle/>
            <a:p>
              <a:endParaRPr lang="en-SG"/>
            </a:p>
          </p:txBody>
        </p:sp>
      </p:grpSp>
      <p:grpSp>
        <p:nvGrpSpPr>
          <p:cNvPr id="13" name="Group 13"/>
          <p:cNvGrpSpPr/>
          <p:nvPr/>
        </p:nvGrpSpPr>
        <p:grpSpPr>
          <a:xfrm>
            <a:off x="2981449" y="5182105"/>
            <a:ext cx="678685" cy="308353"/>
            <a:chOff x="0" y="0"/>
            <a:chExt cx="678688" cy="308356"/>
          </a:xfrm>
        </p:grpSpPr>
        <p:sp>
          <p:nvSpPr>
            <p:cNvPr id="14" name="Freeform 14"/>
            <p:cNvSpPr/>
            <p:nvPr/>
          </p:nvSpPr>
          <p:spPr>
            <a:xfrm>
              <a:off x="69596" y="68072"/>
              <a:ext cx="541020" cy="172212"/>
            </a:xfrm>
            <a:custGeom>
              <a:avLst/>
              <a:gdLst/>
              <a:ahLst/>
              <a:cxnLst/>
              <a:rect l="l" t="t" r="r" b="b"/>
              <a:pathLst>
                <a:path w="541020" h="172212">
                  <a:moveTo>
                    <a:pt x="0" y="0"/>
                  </a:moveTo>
                  <a:lnTo>
                    <a:pt x="541020" y="0"/>
                  </a:lnTo>
                  <a:lnTo>
                    <a:pt x="541020" y="172212"/>
                  </a:lnTo>
                  <a:lnTo>
                    <a:pt x="0" y="172212"/>
                  </a:lnTo>
                  <a:close/>
                </a:path>
              </a:pathLst>
            </a:custGeom>
            <a:solidFill>
              <a:srgbClr val="1B1B1B"/>
            </a:solidFill>
          </p:spPr>
          <p:txBody>
            <a:bodyPr/>
            <a:lstStyle/>
            <a:p>
              <a:endParaRPr lang="en-SG"/>
            </a:p>
          </p:txBody>
        </p:sp>
        <p:sp>
          <p:nvSpPr>
            <p:cNvPr id="15" name="Freeform 15"/>
            <p:cNvSpPr/>
            <p:nvPr/>
          </p:nvSpPr>
          <p:spPr>
            <a:xfrm>
              <a:off x="63500" y="63500"/>
              <a:ext cx="551688" cy="181356"/>
            </a:xfrm>
            <a:custGeom>
              <a:avLst/>
              <a:gdLst/>
              <a:ahLst/>
              <a:cxnLst/>
              <a:rect l="l" t="t" r="r" b="b"/>
              <a:pathLst>
                <a:path w="551688" h="181356">
                  <a:moveTo>
                    <a:pt x="6096" y="169164"/>
                  </a:moveTo>
                  <a:lnTo>
                    <a:pt x="545592" y="169164"/>
                  </a:lnTo>
                  <a:lnTo>
                    <a:pt x="545592" y="175260"/>
                  </a:lnTo>
                  <a:lnTo>
                    <a:pt x="539496" y="175260"/>
                  </a:lnTo>
                  <a:lnTo>
                    <a:pt x="539496" y="6096"/>
                  </a:lnTo>
                  <a:lnTo>
                    <a:pt x="545592" y="6096"/>
                  </a:lnTo>
                  <a:lnTo>
                    <a:pt x="545592" y="12192"/>
                  </a:lnTo>
                  <a:lnTo>
                    <a:pt x="6096" y="12192"/>
                  </a:lnTo>
                  <a:lnTo>
                    <a:pt x="6096" y="6096"/>
                  </a:lnTo>
                  <a:lnTo>
                    <a:pt x="12192" y="6096"/>
                  </a:lnTo>
                  <a:lnTo>
                    <a:pt x="12192" y="175260"/>
                  </a:lnTo>
                  <a:lnTo>
                    <a:pt x="6096" y="175260"/>
                  </a:lnTo>
                  <a:lnTo>
                    <a:pt x="6096" y="169164"/>
                  </a:lnTo>
                  <a:moveTo>
                    <a:pt x="6096" y="181356"/>
                  </a:moveTo>
                  <a:cubicBezTo>
                    <a:pt x="2667" y="181356"/>
                    <a:pt x="0" y="178689"/>
                    <a:pt x="0" y="175260"/>
                  </a:cubicBezTo>
                  <a:lnTo>
                    <a:pt x="0" y="6096"/>
                  </a:lnTo>
                  <a:cubicBezTo>
                    <a:pt x="0" y="2667"/>
                    <a:pt x="2667" y="0"/>
                    <a:pt x="6096" y="0"/>
                  </a:cubicBezTo>
                  <a:lnTo>
                    <a:pt x="545592" y="0"/>
                  </a:lnTo>
                  <a:cubicBezTo>
                    <a:pt x="549021" y="0"/>
                    <a:pt x="551688" y="2667"/>
                    <a:pt x="551688" y="6096"/>
                  </a:cubicBezTo>
                  <a:lnTo>
                    <a:pt x="551688" y="175260"/>
                  </a:lnTo>
                  <a:cubicBezTo>
                    <a:pt x="551688" y="178689"/>
                    <a:pt x="549021" y="181356"/>
                    <a:pt x="545592" y="181356"/>
                  </a:cubicBezTo>
                  <a:lnTo>
                    <a:pt x="6096" y="181356"/>
                  </a:lnTo>
                  <a:close/>
                </a:path>
              </a:pathLst>
            </a:custGeom>
            <a:solidFill>
              <a:srgbClr val="2C2C2C"/>
            </a:solidFill>
          </p:spPr>
          <p:txBody>
            <a:bodyPr/>
            <a:lstStyle/>
            <a:p>
              <a:endParaRPr lang="en-SG"/>
            </a:p>
          </p:txBody>
        </p:sp>
      </p:grpSp>
      <p:sp>
        <p:nvSpPr>
          <p:cNvPr id="16" name="TextBox 16"/>
          <p:cNvSpPr txBox="1"/>
          <p:nvPr/>
        </p:nvSpPr>
        <p:spPr>
          <a:xfrm>
            <a:off x="1632385" y="1334119"/>
            <a:ext cx="5482723" cy="523504"/>
          </a:xfrm>
          <a:prstGeom prst="rect">
            <a:avLst/>
          </a:prstGeom>
        </p:spPr>
        <p:txBody>
          <a:bodyPr lIns="0" tIns="0" rIns="0" bIns="0" rtlCol="0" anchor="t">
            <a:spAutoFit/>
          </a:bodyPr>
          <a:lstStyle/>
          <a:p>
            <a:pPr algn="l">
              <a:lnSpc>
                <a:spcPts val="4267"/>
              </a:lnSpc>
            </a:pPr>
            <a:r>
              <a:rPr lang="en-US" sz="3048">
                <a:solidFill>
                  <a:srgbClr val="2C2C2C"/>
                </a:solidFill>
                <a:latin typeface="Montserrat"/>
                <a:ea typeface="Montserrat"/>
                <a:cs typeface="Montserrat"/>
                <a:sym typeface="Montserrat"/>
              </a:rPr>
              <a:t>Satellite Set-up -Discussion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3503" y="709165"/>
            <a:ext cx="10819381" cy="6142225"/>
            <a:chOff x="0" y="0"/>
            <a:chExt cx="10819384" cy="6142228"/>
          </a:xfrm>
        </p:grpSpPr>
        <p:sp>
          <p:nvSpPr>
            <p:cNvPr id="3" name="Freeform 3"/>
            <p:cNvSpPr/>
            <p:nvPr/>
          </p:nvSpPr>
          <p:spPr>
            <a:xfrm>
              <a:off x="63500" y="63500"/>
              <a:ext cx="10692383" cy="6015229"/>
            </a:xfrm>
            <a:custGeom>
              <a:avLst/>
              <a:gdLst/>
              <a:ahLst/>
              <a:cxnLst/>
              <a:rect l="l" t="t" r="r" b="b"/>
              <a:pathLst>
                <a:path w="10692383" h="6015229">
                  <a:moveTo>
                    <a:pt x="0" y="0"/>
                  </a:moveTo>
                  <a:lnTo>
                    <a:pt x="10692383" y="0"/>
                  </a:lnTo>
                  <a:lnTo>
                    <a:pt x="10692383" y="6015229"/>
                  </a:lnTo>
                  <a:lnTo>
                    <a:pt x="0" y="6015229"/>
                  </a:lnTo>
                  <a:close/>
                </a:path>
              </a:pathLst>
            </a:custGeom>
            <a:solidFill>
              <a:srgbClr val="FFFFFF"/>
            </a:solidFill>
          </p:spPr>
          <p:txBody>
            <a:bodyPr/>
            <a:lstStyle/>
            <a:p>
              <a:endParaRPr lang="en-SG"/>
            </a:p>
          </p:txBody>
        </p:sp>
        <p:sp>
          <p:nvSpPr>
            <p:cNvPr id="4" name="Freeform 4"/>
            <p:cNvSpPr/>
            <p:nvPr/>
          </p:nvSpPr>
          <p:spPr>
            <a:xfrm>
              <a:off x="63500" y="63500"/>
              <a:ext cx="954024" cy="6015229"/>
            </a:xfrm>
            <a:custGeom>
              <a:avLst/>
              <a:gdLst/>
              <a:ahLst/>
              <a:cxnLst/>
              <a:rect l="l" t="t" r="r" b="b"/>
              <a:pathLst>
                <a:path w="954024" h="6015229">
                  <a:moveTo>
                    <a:pt x="0" y="0"/>
                  </a:moveTo>
                  <a:lnTo>
                    <a:pt x="954024" y="0"/>
                  </a:lnTo>
                  <a:lnTo>
                    <a:pt x="954024" y="6015229"/>
                  </a:lnTo>
                  <a:lnTo>
                    <a:pt x="0" y="6015229"/>
                  </a:lnTo>
                  <a:close/>
                </a:path>
              </a:pathLst>
            </a:custGeom>
            <a:solidFill>
              <a:srgbClr val="000000"/>
            </a:solidFill>
          </p:spPr>
          <p:txBody>
            <a:bodyPr/>
            <a:lstStyle/>
            <a:p>
              <a:endParaRPr lang="en-SG"/>
            </a:p>
          </p:txBody>
        </p:sp>
      </p:grpSp>
      <p:grpSp>
        <p:nvGrpSpPr>
          <p:cNvPr id="5" name="Group 5"/>
          <p:cNvGrpSpPr/>
          <p:nvPr/>
        </p:nvGrpSpPr>
        <p:grpSpPr>
          <a:xfrm>
            <a:off x="192024" y="950976"/>
            <a:ext cx="568452" cy="1284732"/>
            <a:chOff x="0" y="0"/>
            <a:chExt cx="757936" cy="1712976"/>
          </a:xfrm>
        </p:grpSpPr>
        <p:sp>
          <p:nvSpPr>
            <p:cNvPr id="6" name="Freeform 6"/>
            <p:cNvSpPr/>
            <p:nvPr/>
          </p:nvSpPr>
          <p:spPr>
            <a:xfrm>
              <a:off x="0" y="0"/>
              <a:ext cx="757936" cy="1712976"/>
            </a:xfrm>
            <a:custGeom>
              <a:avLst/>
              <a:gdLst/>
              <a:ahLst/>
              <a:cxnLst/>
              <a:rect l="l" t="t" r="r" b="b"/>
              <a:pathLst>
                <a:path w="757936" h="1712976">
                  <a:moveTo>
                    <a:pt x="0" y="0"/>
                  </a:moveTo>
                  <a:lnTo>
                    <a:pt x="757936" y="0"/>
                  </a:lnTo>
                  <a:lnTo>
                    <a:pt x="757936" y="1712976"/>
                  </a:lnTo>
                  <a:lnTo>
                    <a:pt x="0" y="1712976"/>
                  </a:lnTo>
                  <a:lnTo>
                    <a:pt x="0" y="0"/>
                  </a:lnTo>
                  <a:close/>
                </a:path>
              </a:pathLst>
            </a:custGeom>
            <a:blipFill>
              <a:blip r:embed="rId2"/>
              <a:stretch>
                <a:fillRect l="-804" b="-237"/>
              </a:stretch>
            </a:blipFill>
          </p:spPr>
          <p:txBody>
            <a:bodyPr/>
            <a:lstStyle/>
            <a:p>
              <a:endParaRPr lang="en-SG"/>
            </a:p>
          </p:txBody>
        </p:sp>
      </p:grpSp>
      <p:grpSp>
        <p:nvGrpSpPr>
          <p:cNvPr id="7" name="Group 7"/>
          <p:cNvGrpSpPr/>
          <p:nvPr/>
        </p:nvGrpSpPr>
        <p:grpSpPr>
          <a:xfrm>
            <a:off x="179832" y="5116068"/>
            <a:ext cx="592836" cy="1478280"/>
            <a:chOff x="0" y="0"/>
            <a:chExt cx="790448" cy="1971040"/>
          </a:xfrm>
        </p:grpSpPr>
        <p:sp>
          <p:nvSpPr>
            <p:cNvPr id="8" name="Freeform 8"/>
            <p:cNvSpPr/>
            <p:nvPr/>
          </p:nvSpPr>
          <p:spPr>
            <a:xfrm>
              <a:off x="0" y="0"/>
              <a:ext cx="790448" cy="1971040"/>
            </a:xfrm>
            <a:custGeom>
              <a:avLst/>
              <a:gdLst/>
              <a:ahLst/>
              <a:cxnLst/>
              <a:rect l="l" t="t" r="r" b="b"/>
              <a:pathLst>
                <a:path w="790448" h="1971040">
                  <a:moveTo>
                    <a:pt x="0" y="0"/>
                  </a:moveTo>
                  <a:lnTo>
                    <a:pt x="790448" y="0"/>
                  </a:lnTo>
                  <a:lnTo>
                    <a:pt x="790448" y="1971040"/>
                  </a:lnTo>
                  <a:lnTo>
                    <a:pt x="0" y="1971040"/>
                  </a:lnTo>
                  <a:lnTo>
                    <a:pt x="0" y="0"/>
                  </a:lnTo>
                  <a:close/>
                </a:path>
              </a:pathLst>
            </a:custGeom>
            <a:blipFill>
              <a:blip r:embed="rId3"/>
              <a:stretch>
                <a:fillRect l="-514" b="-206"/>
              </a:stretch>
            </a:blipFill>
          </p:spPr>
          <p:txBody>
            <a:bodyPr/>
            <a:lstStyle/>
            <a:p>
              <a:endParaRPr lang="en-SG"/>
            </a:p>
          </p:txBody>
        </p:sp>
      </p:grpSp>
      <p:sp>
        <p:nvSpPr>
          <p:cNvPr id="9" name="TextBox 9"/>
          <p:cNvSpPr txBox="1"/>
          <p:nvPr/>
        </p:nvSpPr>
        <p:spPr>
          <a:xfrm>
            <a:off x="1632385" y="1334119"/>
            <a:ext cx="5120640" cy="523504"/>
          </a:xfrm>
          <a:prstGeom prst="rect">
            <a:avLst/>
          </a:prstGeom>
        </p:spPr>
        <p:txBody>
          <a:bodyPr wrap="square" lIns="0" tIns="0" rIns="0" bIns="0" rtlCol="0" anchor="t">
            <a:spAutoFit/>
          </a:bodyPr>
          <a:lstStyle/>
          <a:p>
            <a:pPr algn="l">
              <a:lnSpc>
                <a:spcPts val="4267"/>
              </a:lnSpc>
            </a:pPr>
            <a:r>
              <a:rPr lang="en-US" sz="2100">
                <a:solidFill>
                  <a:srgbClr val="2C2C2C"/>
                </a:solidFill>
                <a:latin typeface="Montserrat"/>
                <a:ea typeface="Montserrat"/>
                <a:cs typeface="Montserrat"/>
                <a:sym typeface="Montserrat"/>
              </a:rPr>
              <a:t>First code on the ground station</a:t>
            </a:r>
          </a:p>
        </p:txBody>
      </p:sp>
      <p:sp>
        <p:nvSpPr>
          <p:cNvPr id="10" name="TextBox 10"/>
          <p:cNvSpPr txBox="1"/>
          <p:nvPr/>
        </p:nvSpPr>
        <p:spPr>
          <a:xfrm>
            <a:off x="2066684" y="2111603"/>
            <a:ext cx="7699581" cy="3232203"/>
          </a:xfrm>
          <a:prstGeom prst="rect">
            <a:avLst/>
          </a:prstGeom>
        </p:spPr>
        <p:txBody>
          <a:bodyPr lIns="0" tIns="0" rIns="0" bIns="0" rtlCol="0" anchor="t">
            <a:spAutoFit/>
          </a:bodyPr>
          <a:lstStyle/>
          <a:p>
            <a:pPr algn="just">
              <a:lnSpc>
                <a:spcPts val="2895"/>
              </a:lnSpc>
            </a:pPr>
            <a:endParaRPr/>
          </a:p>
          <a:p>
            <a:pPr algn="just">
              <a:lnSpc>
                <a:spcPts val="2895"/>
              </a:lnSpc>
            </a:pPr>
            <a:r>
              <a:rPr lang="en-US" sz="1872" spc="-14">
                <a:solidFill>
                  <a:srgbClr val="000000"/>
                </a:solidFill>
                <a:latin typeface="Montserrat"/>
                <a:ea typeface="Montserrat"/>
                <a:cs typeface="Montserrat"/>
                <a:sym typeface="Montserrat"/>
              </a:rPr>
              <a:t>Write a code to turn on one LED if the serial monitor is available (send whatever letter to see if it works). If nothing is sent, the LED should stay off.</a:t>
            </a:r>
          </a:p>
          <a:p>
            <a:pPr algn="just">
              <a:lnSpc>
                <a:spcPts val="2895"/>
              </a:lnSpc>
            </a:pPr>
            <a:r>
              <a:rPr lang="en-US" sz="1872" spc="-14">
                <a:solidFill>
                  <a:srgbClr val="000000"/>
                </a:solidFill>
                <a:latin typeface="Montserrat"/>
                <a:ea typeface="Montserrat"/>
                <a:cs typeface="Montserrat"/>
                <a:sym typeface="Montserrat"/>
              </a:rPr>
              <a:t>Write a code to turn on one LED with a CHARACTER ( serial). E.g. If i send ‘A’ the LED turns on. Similarlym try with string as well.</a:t>
            </a:r>
          </a:p>
          <a:p>
            <a:pPr algn="just">
              <a:lnSpc>
                <a:spcPts val="2895"/>
              </a:lnSpc>
            </a:pPr>
            <a:endParaRPr lang="en-US" sz="1872" spc="-14">
              <a:solidFill>
                <a:srgbClr val="000000"/>
              </a:solidFill>
              <a:latin typeface="Montserrat"/>
              <a:ea typeface="Montserrat"/>
              <a:cs typeface="Montserrat"/>
              <a:sym typeface="Montserrat"/>
            </a:endParaRPr>
          </a:p>
          <a:p>
            <a:pPr algn="just">
              <a:lnSpc>
                <a:spcPts val="2895"/>
              </a:lnSpc>
            </a:pPr>
            <a:endParaRPr lang="en-US" sz="1872" spc="-14">
              <a:solidFill>
                <a:srgbClr val="000000"/>
              </a:solidFill>
              <a:latin typeface="Montserrat"/>
              <a:ea typeface="Montserrat"/>
              <a:cs typeface="Montserrat"/>
              <a:sym typeface="Montserrat"/>
            </a:endParaRPr>
          </a:p>
          <a:p>
            <a:pPr algn="just">
              <a:lnSpc>
                <a:spcPts val="2895"/>
              </a:lnSpc>
            </a:pPr>
            <a:endParaRPr lang="en-US" sz="1872" spc="-14">
              <a:solidFill>
                <a:srgbClr val="000000"/>
              </a:solidFill>
              <a:latin typeface="Montserrat"/>
              <a:ea typeface="Montserrat"/>
              <a:cs typeface="Montserrat"/>
              <a:sym typeface="Montserra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3503" y="709165"/>
            <a:ext cx="10819381" cy="6142225"/>
            <a:chOff x="0" y="0"/>
            <a:chExt cx="10819384" cy="6142228"/>
          </a:xfrm>
        </p:grpSpPr>
        <p:sp>
          <p:nvSpPr>
            <p:cNvPr id="3" name="Freeform 3"/>
            <p:cNvSpPr/>
            <p:nvPr/>
          </p:nvSpPr>
          <p:spPr>
            <a:xfrm>
              <a:off x="63500" y="63500"/>
              <a:ext cx="10692383" cy="6015229"/>
            </a:xfrm>
            <a:custGeom>
              <a:avLst/>
              <a:gdLst/>
              <a:ahLst/>
              <a:cxnLst/>
              <a:rect l="l" t="t" r="r" b="b"/>
              <a:pathLst>
                <a:path w="10692383" h="6015229">
                  <a:moveTo>
                    <a:pt x="0" y="0"/>
                  </a:moveTo>
                  <a:lnTo>
                    <a:pt x="10692383" y="0"/>
                  </a:lnTo>
                  <a:lnTo>
                    <a:pt x="10692383" y="6015229"/>
                  </a:lnTo>
                  <a:lnTo>
                    <a:pt x="0" y="6015229"/>
                  </a:lnTo>
                  <a:close/>
                </a:path>
              </a:pathLst>
            </a:custGeom>
            <a:solidFill>
              <a:srgbClr val="FFFFFF"/>
            </a:solidFill>
          </p:spPr>
          <p:txBody>
            <a:bodyPr/>
            <a:lstStyle/>
            <a:p>
              <a:endParaRPr/>
            </a:p>
          </p:txBody>
        </p:sp>
        <p:sp>
          <p:nvSpPr>
            <p:cNvPr id="4" name="Freeform 4"/>
            <p:cNvSpPr/>
            <p:nvPr/>
          </p:nvSpPr>
          <p:spPr>
            <a:xfrm>
              <a:off x="63500" y="63500"/>
              <a:ext cx="954024" cy="6015229"/>
            </a:xfrm>
            <a:custGeom>
              <a:avLst/>
              <a:gdLst/>
              <a:ahLst/>
              <a:cxnLst/>
              <a:rect l="l" t="t" r="r" b="b"/>
              <a:pathLst>
                <a:path w="954024" h="6015229">
                  <a:moveTo>
                    <a:pt x="0" y="0"/>
                  </a:moveTo>
                  <a:lnTo>
                    <a:pt x="954024" y="0"/>
                  </a:lnTo>
                  <a:lnTo>
                    <a:pt x="954024" y="6015229"/>
                  </a:lnTo>
                  <a:lnTo>
                    <a:pt x="0" y="6015229"/>
                  </a:lnTo>
                  <a:close/>
                </a:path>
              </a:pathLst>
            </a:custGeom>
            <a:solidFill>
              <a:srgbClr val="000000"/>
            </a:solidFill>
          </p:spPr>
          <p:txBody>
            <a:bodyPr/>
            <a:lstStyle/>
            <a:p>
              <a:endParaRPr/>
            </a:p>
          </p:txBody>
        </p:sp>
      </p:grpSp>
      <p:grpSp>
        <p:nvGrpSpPr>
          <p:cNvPr id="5" name="Group 5"/>
          <p:cNvGrpSpPr/>
          <p:nvPr/>
        </p:nvGrpSpPr>
        <p:grpSpPr>
          <a:xfrm>
            <a:off x="192024" y="950976"/>
            <a:ext cx="568452" cy="1284732"/>
            <a:chOff x="0" y="0"/>
            <a:chExt cx="757936" cy="1712976"/>
          </a:xfrm>
        </p:grpSpPr>
        <p:sp>
          <p:nvSpPr>
            <p:cNvPr id="6" name="Freeform 6"/>
            <p:cNvSpPr/>
            <p:nvPr/>
          </p:nvSpPr>
          <p:spPr>
            <a:xfrm>
              <a:off x="0" y="0"/>
              <a:ext cx="757936" cy="1712976"/>
            </a:xfrm>
            <a:custGeom>
              <a:avLst/>
              <a:gdLst/>
              <a:ahLst/>
              <a:cxnLst/>
              <a:rect l="l" t="t" r="r" b="b"/>
              <a:pathLst>
                <a:path w="757936" h="1712976">
                  <a:moveTo>
                    <a:pt x="0" y="0"/>
                  </a:moveTo>
                  <a:lnTo>
                    <a:pt x="757936" y="0"/>
                  </a:lnTo>
                  <a:lnTo>
                    <a:pt x="757936" y="1712976"/>
                  </a:lnTo>
                  <a:lnTo>
                    <a:pt x="0" y="1712976"/>
                  </a:lnTo>
                  <a:lnTo>
                    <a:pt x="0" y="0"/>
                  </a:lnTo>
                  <a:close/>
                </a:path>
              </a:pathLst>
            </a:custGeom>
            <a:blipFill>
              <a:blip r:embed="rId2"/>
              <a:stretch>
                <a:fillRect l="-804" b="-237"/>
              </a:stretch>
            </a:blipFill>
          </p:spPr>
          <p:txBody>
            <a:bodyPr/>
            <a:lstStyle/>
            <a:p>
              <a:endParaRPr/>
            </a:p>
          </p:txBody>
        </p:sp>
      </p:grpSp>
      <p:grpSp>
        <p:nvGrpSpPr>
          <p:cNvPr id="7" name="Group 7"/>
          <p:cNvGrpSpPr/>
          <p:nvPr/>
        </p:nvGrpSpPr>
        <p:grpSpPr>
          <a:xfrm>
            <a:off x="179832" y="5116068"/>
            <a:ext cx="592836" cy="1478280"/>
            <a:chOff x="0" y="0"/>
            <a:chExt cx="790448" cy="1971040"/>
          </a:xfrm>
        </p:grpSpPr>
        <p:sp>
          <p:nvSpPr>
            <p:cNvPr id="8" name="Freeform 8"/>
            <p:cNvSpPr/>
            <p:nvPr/>
          </p:nvSpPr>
          <p:spPr>
            <a:xfrm>
              <a:off x="0" y="0"/>
              <a:ext cx="790448" cy="1971040"/>
            </a:xfrm>
            <a:custGeom>
              <a:avLst/>
              <a:gdLst/>
              <a:ahLst/>
              <a:cxnLst/>
              <a:rect l="l" t="t" r="r" b="b"/>
              <a:pathLst>
                <a:path w="790448" h="1971040">
                  <a:moveTo>
                    <a:pt x="0" y="0"/>
                  </a:moveTo>
                  <a:lnTo>
                    <a:pt x="790448" y="0"/>
                  </a:lnTo>
                  <a:lnTo>
                    <a:pt x="790448" y="1971040"/>
                  </a:lnTo>
                  <a:lnTo>
                    <a:pt x="0" y="1971040"/>
                  </a:lnTo>
                  <a:lnTo>
                    <a:pt x="0" y="0"/>
                  </a:lnTo>
                  <a:close/>
                </a:path>
              </a:pathLst>
            </a:custGeom>
            <a:blipFill>
              <a:blip r:embed="rId3"/>
              <a:stretch>
                <a:fillRect l="-514" b="-206"/>
              </a:stretch>
            </a:blipFill>
          </p:spPr>
          <p:txBody>
            <a:bodyPr/>
            <a:lstStyle/>
            <a:p>
              <a:endParaRPr/>
            </a:p>
          </p:txBody>
        </p:sp>
      </p:grpSp>
      <p:grpSp>
        <p:nvGrpSpPr>
          <p:cNvPr id="9" name="Group 9"/>
          <p:cNvGrpSpPr/>
          <p:nvPr/>
        </p:nvGrpSpPr>
        <p:grpSpPr>
          <a:xfrm>
            <a:off x="4279392" y="4381500"/>
            <a:ext cx="3112008" cy="1040892"/>
            <a:chOff x="0" y="0"/>
            <a:chExt cx="4149344" cy="1387856"/>
          </a:xfrm>
        </p:grpSpPr>
        <p:sp>
          <p:nvSpPr>
            <p:cNvPr id="10" name="Freeform 10"/>
            <p:cNvSpPr/>
            <p:nvPr/>
          </p:nvSpPr>
          <p:spPr>
            <a:xfrm>
              <a:off x="0" y="0"/>
              <a:ext cx="4149344" cy="1387856"/>
            </a:xfrm>
            <a:custGeom>
              <a:avLst/>
              <a:gdLst/>
              <a:ahLst/>
              <a:cxnLst/>
              <a:rect l="l" t="t" r="r" b="b"/>
              <a:pathLst>
                <a:path w="4149344" h="1387856">
                  <a:moveTo>
                    <a:pt x="0" y="0"/>
                  </a:moveTo>
                  <a:lnTo>
                    <a:pt x="4149344" y="0"/>
                  </a:lnTo>
                  <a:lnTo>
                    <a:pt x="4149344" y="1387856"/>
                  </a:lnTo>
                  <a:lnTo>
                    <a:pt x="0" y="1387856"/>
                  </a:lnTo>
                  <a:lnTo>
                    <a:pt x="0" y="0"/>
                  </a:lnTo>
                  <a:close/>
                </a:path>
              </a:pathLst>
            </a:custGeom>
            <a:blipFill>
              <a:blip r:embed="rId4"/>
              <a:stretch>
                <a:fillRect t="-146"/>
              </a:stretch>
            </a:blipFill>
          </p:spPr>
          <p:txBody>
            <a:bodyPr/>
            <a:lstStyle/>
            <a:p>
              <a:endParaRPr/>
            </a:p>
          </p:txBody>
        </p:sp>
      </p:grpSp>
      <p:grpSp>
        <p:nvGrpSpPr>
          <p:cNvPr id="11" name="Group 11"/>
          <p:cNvGrpSpPr/>
          <p:nvPr/>
        </p:nvGrpSpPr>
        <p:grpSpPr>
          <a:xfrm>
            <a:off x="4279392" y="5419344"/>
            <a:ext cx="3112008" cy="1011936"/>
            <a:chOff x="0" y="0"/>
            <a:chExt cx="4149344" cy="1349248"/>
          </a:xfrm>
        </p:grpSpPr>
        <p:sp>
          <p:nvSpPr>
            <p:cNvPr id="12" name="Freeform 12"/>
            <p:cNvSpPr/>
            <p:nvPr/>
          </p:nvSpPr>
          <p:spPr>
            <a:xfrm>
              <a:off x="0" y="0"/>
              <a:ext cx="4149344" cy="1349248"/>
            </a:xfrm>
            <a:custGeom>
              <a:avLst/>
              <a:gdLst/>
              <a:ahLst/>
              <a:cxnLst/>
              <a:rect l="l" t="t" r="r" b="b"/>
              <a:pathLst>
                <a:path w="4149344" h="1349248">
                  <a:moveTo>
                    <a:pt x="0" y="0"/>
                  </a:moveTo>
                  <a:lnTo>
                    <a:pt x="4149344" y="0"/>
                  </a:lnTo>
                  <a:lnTo>
                    <a:pt x="4149344" y="1349248"/>
                  </a:lnTo>
                  <a:lnTo>
                    <a:pt x="0" y="1349248"/>
                  </a:lnTo>
                  <a:lnTo>
                    <a:pt x="0" y="0"/>
                  </a:lnTo>
                  <a:close/>
                </a:path>
              </a:pathLst>
            </a:custGeom>
            <a:blipFill>
              <a:blip r:embed="rId5"/>
              <a:stretch>
                <a:fillRect/>
              </a:stretch>
            </a:blipFill>
          </p:spPr>
          <p:txBody>
            <a:bodyPr/>
            <a:lstStyle/>
            <a:p>
              <a:endParaRPr/>
            </a:p>
          </p:txBody>
        </p:sp>
      </p:grpSp>
      <p:sp>
        <p:nvSpPr>
          <p:cNvPr id="13" name="TextBox 13"/>
          <p:cNvSpPr txBox="1"/>
          <p:nvPr/>
        </p:nvSpPr>
        <p:spPr>
          <a:xfrm>
            <a:off x="1632204" y="1334119"/>
            <a:ext cx="5120640" cy="1171146"/>
          </a:xfrm>
          <a:prstGeom prst="rect">
            <a:avLst/>
          </a:prstGeom>
        </p:spPr>
        <p:txBody>
          <a:bodyPr wrap="square" lIns="0" tIns="0" rIns="0" bIns="0" rtlCol="0" anchor="t">
            <a:spAutoFit/>
          </a:bodyPr>
          <a:lstStyle/>
          <a:p>
            <a:pPr algn="l">
              <a:lnSpc>
                <a:spcPts val="4267"/>
              </a:lnSpc>
            </a:pPr>
            <a:r>
              <a:rPr lang="en-US" sz="2600">
                <a:solidFill>
                  <a:srgbClr val="2C2C2C"/>
                </a:solidFill>
                <a:latin typeface="Montserrat"/>
                <a:ea typeface="Montserrat"/>
                <a:cs typeface="Montserrat"/>
                <a:sym typeface="Montserrat"/>
              </a:rPr>
              <a:t>Over to the ground station</a:t>
            </a:r>
          </a:p>
          <a:p>
            <a:pPr algn="l">
              <a:lnSpc>
                <a:spcPts val="2116"/>
              </a:lnSpc>
            </a:pPr>
            <a:r>
              <a:rPr lang="en-US" sz="1512" spc="-9">
                <a:solidFill>
                  <a:srgbClr val="000000"/>
                </a:solidFill>
                <a:latin typeface="Montserrat"/>
                <a:ea typeface="Montserrat"/>
                <a:cs typeface="Montserrat"/>
                <a:sym typeface="Montserrat"/>
              </a:rPr>
              <a:t>Now, let's shift our focus from the CubeSat to the ground station. </a:t>
            </a:r>
          </a:p>
        </p:txBody>
      </p:sp>
      <p:sp>
        <p:nvSpPr>
          <p:cNvPr id="14" name="TextBox 14"/>
          <p:cNvSpPr txBox="1"/>
          <p:nvPr/>
        </p:nvSpPr>
        <p:spPr>
          <a:xfrm>
            <a:off x="1632204" y="3414474"/>
            <a:ext cx="8143456" cy="585549"/>
          </a:xfrm>
          <a:prstGeom prst="rect">
            <a:avLst/>
          </a:prstGeom>
        </p:spPr>
        <p:txBody>
          <a:bodyPr lIns="0" tIns="0" rIns="0" bIns="0" rtlCol="0" anchor="t">
            <a:spAutoFit/>
          </a:bodyPr>
          <a:lstStyle/>
          <a:p>
            <a:pPr algn="l">
              <a:lnSpc>
                <a:spcPts val="2339"/>
              </a:lnSpc>
            </a:pPr>
            <a:r>
              <a:rPr lang="en-US" sz="1512" spc="-7">
                <a:solidFill>
                  <a:srgbClr val="000000"/>
                </a:solidFill>
                <a:latin typeface="Montserrat"/>
                <a:ea typeface="Montserrat"/>
                <a:cs typeface="Montserrat"/>
                <a:sym typeface="Montserrat"/>
              </a:rPr>
              <a:t>My ground station will serve as the receiver for all your ground station messages, as there is no cryptography involved.</a:t>
            </a:r>
          </a:p>
        </p:txBody>
      </p:sp>
      <p:sp>
        <p:nvSpPr>
          <p:cNvPr id="15" name="TextBox 15"/>
          <p:cNvSpPr txBox="1"/>
          <p:nvPr/>
        </p:nvSpPr>
        <p:spPr>
          <a:xfrm>
            <a:off x="1632204" y="2834602"/>
            <a:ext cx="8454885" cy="269443"/>
          </a:xfrm>
          <a:prstGeom prst="rect">
            <a:avLst/>
          </a:prstGeom>
        </p:spPr>
        <p:txBody>
          <a:bodyPr lIns="0" tIns="0" rIns="0" bIns="0" rtlCol="0" anchor="t">
            <a:spAutoFit/>
          </a:bodyPr>
          <a:lstStyle/>
          <a:p>
            <a:pPr algn="l">
              <a:lnSpc>
                <a:spcPts val="2116"/>
              </a:lnSpc>
            </a:pPr>
            <a:r>
              <a:rPr lang="en-US" sz="1512" spc="-9">
                <a:solidFill>
                  <a:srgbClr val="000000"/>
                </a:solidFill>
                <a:latin typeface="Montserrat"/>
                <a:ea typeface="Montserrat"/>
                <a:cs typeface="Montserrat"/>
                <a:sym typeface="Montserrat"/>
              </a:rPr>
              <a:t>We will explore data transmission by uploading code exclusively to the ground station.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3503" y="709165"/>
            <a:ext cx="10819381" cy="6142225"/>
            <a:chOff x="0" y="0"/>
            <a:chExt cx="10819384" cy="6142228"/>
          </a:xfrm>
        </p:grpSpPr>
        <p:sp>
          <p:nvSpPr>
            <p:cNvPr id="3" name="Freeform 3"/>
            <p:cNvSpPr/>
            <p:nvPr/>
          </p:nvSpPr>
          <p:spPr>
            <a:xfrm>
              <a:off x="63500" y="63500"/>
              <a:ext cx="10692383" cy="6015229"/>
            </a:xfrm>
            <a:custGeom>
              <a:avLst/>
              <a:gdLst/>
              <a:ahLst/>
              <a:cxnLst/>
              <a:rect l="l" t="t" r="r" b="b"/>
              <a:pathLst>
                <a:path w="10692383" h="6015229">
                  <a:moveTo>
                    <a:pt x="0" y="0"/>
                  </a:moveTo>
                  <a:lnTo>
                    <a:pt x="10692383" y="0"/>
                  </a:lnTo>
                  <a:lnTo>
                    <a:pt x="10692383" y="6015229"/>
                  </a:lnTo>
                  <a:lnTo>
                    <a:pt x="0" y="6015229"/>
                  </a:lnTo>
                  <a:close/>
                </a:path>
              </a:pathLst>
            </a:custGeom>
            <a:solidFill>
              <a:srgbClr val="FFFFFF"/>
            </a:solidFill>
          </p:spPr>
          <p:txBody>
            <a:bodyPr/>
            <a:lstStyle/>
            <a:p>
              <a:endParaRPr/>
            </a:p>
          </p:txBody>
        </p:sp>
        <p:sp>
          <p:nvSpPr>
            <p:cNvPr id="4" name="Freeform 4"/>
            <p:cNvSpPr/>
            <p:nvPr/>
          </p:nvSpPr>
          <p:spPr>
            <a:xfrm>
              <a:off x="63500" y="63500"/>
              <a:ext cx="954024" cy="6015229"/>
            </a:xfrm>
            <a:custGeom>
              <a:avLst/>
              <a:gdLst/>
              <a:ahLst/>
              <a:cxnLst/>
              <a:rect l="l" t="t" r="r" b="b"/>
              <a:pathLst>
                <a:path w="954024" h="6015229">
                  <a:moveTo>
                    <a:pt x="0" y="0"/>
                  </a:moveTo>
                  <a:lnTo>
                    <a:pt x="954024" y="0"/>
                  </a:lnTo>
                  <a:lnTo>
                    <a:pt x="954024" y="6015229"/>
                  </a:lnTo>
                  <a:lnTo>
                    <a:pt x="0" y="6015229"/>
                  </a:lnTo>
                  <a:close/>
                </a:path>
              </a:pathLst>
            </a:custGeom>
            <a:solidFill>
              <a:srgbClr val="000000"/>
            </a:solidFill>
          </p:spPr>
          <p:txBody>
            <a:bodyPr/>
            <a:lstStyle/>
            <a:p>
              <a:endParaRPr/>
            </a:p>
          </p:txBody>
        </p:sp>
      </p:grpSp>
      <p:grpSp>
        <p:nvGrpSpPr>
          <p:cNvPr id="5" name="Group 5"/>
          <p:cNvGrpSpPr/>
          <p:nvPr/>
        </p:nvGrpSpPr>
        <p:grpSpPr>
          <a:xfrm>
            <a:off x="192024" y="950976"/>
            <a:ext cx="568452" cy="1284732"/>
            <a:chOff x="0" y="0"/>
            <a:chExt cx="757936" cy="1712976"/>
          </a:xfrm>
        </p:grpSpPr>
        <p:sp>
          <p:nvSpPr>
            <p:cNvPr id="6" name="Freeform 6"/>
            <p:cNvSpPr/>
            <p:nvPr/>
          </p:nvSpPr>
          <p:spPr>
            <a:xfrm>
              <a:off x="0" y="0"/>
              <a:ext cx="757936" cy="1712976"/>
            </a:xfrm>
            <a:custGeom>
              <a:avLst/>
              <a:gdLst/>
              <a:ahLst/>
              <a:cxnLst/>
              <a:rect l="l" t="t" r="r" b="b"/>
              <a:pathLst>
                <a:path w="757936" h="1712976">
                  <a:moveTo>
                    <a:pt x="0" y="0"/>
                  </a:moveTo>
                  <a:lnTo>
                    <a:pt x="757936" y="0"/>
                  </a:lnTo>
                  <a:lnTo>
                    <a:pt x="757936" y="1712976"/>
                  </a:lnTo>
                  <a:lnTo>
                    <a:pt x="0" y="1712976"/>
                  </a:lnTo>
                  <a:lnTo>
                    <a:pt x="0" y="0"/>
                  </a:lnTo>
                  <a:close/>
                </a:path>
              </a:pathLst>
            </a:custGeom>
            <a:blipFill>
              <a:blip r:embed="rId2"/>
              <a:stretch>
                <a:fillRect l="-804" b="-237"/>
              </a:stretch>
            </a:blipFill>
          </p:spPr>
          <p:txBody>
            <a:bodyPr/>
            <a:lstStyle/>
            <a:p>
              <a:endParaRPr/>
            </a:p>
          </p:txBody>
        </p:sp>
      </p:grpSp>
      <p:grpSp>
        <p:nvGrpSpPr>
          <p:cNvPr id="7" name="Group 7"/>
          <p:cNvGrpSpPr/>
          <p:nvPr/>
        </p:nvGrpSpPr>
        <p:grpSpPr>
          <a:xfrm>
            <a:off x="179832" y="5116068"/>
            <a:ext cx="592836" cy="1478280"/>
            <a:chOff x="0" y="0"/>
            <a:chExt cx="790448" cy="1971040"/>
          </a:xfrm>
        </p:grpSpPr>
        <p:sp>
          <p:nvSpPr>
            <p:cNvPr id="8" name="Freeform 8"/>
            <p:cNvSpPr/>
            <p:nvPr/>
          </p:nvSpPr>
          <p:spPr>
            <a:xfrm>
              <a:off x="0" y="0"/>
              <a:ext cx="790448" cy="1971040"/>
            </a:xfrm>
            <a:custGeom>
              <a:avLst/>
              <a:gdLst/>
              <a:ahLst/>
              <a:cxnLst/>
              <a:rect l="l" t="t" r="r" b="b"/>
              <a:pathLst>
                <a:path w="790448" h="1971040">
                  <a:moveTo>
                    <a:pt x="0" y="0"/>
                  </a:moveTo>
                  <a:lnTo>
                    <a:pt x="790448" y="0"/>
                  </a:lnTo>
                  <a:lnTo>
                    <a:pt x="790448" y="1971040"/>
                  </a:lnTo>
                  <a:lnTo>
                    <a:pt x="0" y="1971040"/>
                  </a:lnTo>
                  <a:lnTo>
                    <a:pt x="0" y="0"/>
                  </a:lnTo>
                  <a:close/>
                </a:path>
              </a:pathLst>
            </a:custGeom>
            <a:blipFill>
              <a:blip r:embed="rId3"/>
              <a:stretch>
                <a:fillRect l="-514" b="-206"/>
              </a:stretch>
            </a:blipFill>
          </p:spPr>
          <p:txBody>
            <a:bodyPr/>
            <a:lstStyle/>
            <a:p>
              <a:endParaRPr/>
            </a:p>
          </p:txBody>
        </p:sp>
      </p:grpSp>
      <p:grpSp>
        <p:nvGrpSpPr>
          <p:cNvPr id="9" name="Group 9"/>
          <p:cNvGrpSpPr/>
          <p:nvPr/>
        </p:nvGrpSpPr>
        <p:grpSpPr>
          <a:xfrm>
            <a:off x="1821180" y="2363724"/>
            <a:ext cx="83820" cy="83820"/>
            <a:chOff x="0" y="0"/>
            <a:chExt cx="83820" cy="83820"/>
          </a:xfrm>
        </p:grpSpPr>
        <p:sp>
          <p:nvSpPr>
            <p:cNvPr id="10" name="Freeform 10"/>
            <p:cNvSpPr/>
            <p:nvPr/>
          </p:nvSpPr>
          <p:spPr>
            <a:xfrm>
              <a:off x="0" y="0"/>
              <a:ext cx="83820" cy="83820"/>
            </a:xfrm>
            <a:custGeom>
              <a:avLst/>
              <a:gdLst/>
              <a:ahLst/>
              <a:cxnLst/>
              <a:rect l="l" t="t" r="r" b="b"/>
              <a:pathLst>
                <a:path w="83820" h="83820">
                  <a:moveTo>
                    <a:pt x="21336" y="6096"/>
                  </a:moveTo>
                  <a:cubicBezTo>
                    <a:pt x="13716" y="9144"/>
                    <a:pt x="9144" y="13716"/>
                    <a:pt x="4572" y="21336"/>
                  </a:cubicBezTo>
                  <a:cubicBezTo>
                    <a:pt x="1524" y="27432"/>
                    <a:pt x="0" y="35052"/>
                    <a:pt x="0" y="42672"/>
                  </a:cubicBezTo>
                  <a:cubicBezTo>
                    <a:pt x="0" y="53340"/>
                    <a:pt x="3048" y="64008"/>
                    <a:pt x="12192" y="71628"/>
                  </a:cubicBezTo>
                  <a:cubicBezTo>
                    <a:pt x="19812" y="79248"/>
                    <a:pt x="28956" y="83820"/>
                    <a:pt x="41148" y="83820"/>
                  </a:cubicBezTo>
                  <a:cubicBezTo>
                    <a:pt x="53340" y="83820"/>
                    <a:pt x="62484" y="79248"/>
                    <a:pt x="70104" y="71628"/>
                  </a:cubicBezTo>
                  <a:cubicBezTo>
                    <a:pt x="79248" y="64008"/>
                    <a:pt x="83820" y="53340"/>
                    <a:pt x="83820" y="42672"/>
                  </a:cubicBezTo>
                  <a:cubicBezTo>
                    <a:pt x="83820" y="35052"/>
                    <a:pt x="80772" y="27432"/>
                    <a:pt x="77724" y="21336"/>
                  </a:cubicBezTo>
                  <a:cubicBezTo>
                    <a:pt x="73152" y="13716"/>
                    <a:pt x="68580" y="9144"/>
                    <a:pt x="62484" y="6096"/>
                  </a:cubicBezTo>
                  <a:cubicBezTo>
                    <a:pt x="54864" y="1524"/>
                    <a:pt x="48768" y="0"/>
                    <a:pt x="41148" y="0"/>
                  </a:cubicBezTo>
                  <a:cubicBezTo>
                    <a:pt x="33528" y="0"/>
                    <a:pt x="27432" y="1524"/>
                    <a:pt x="21336" y="6096"/>
                  </a:cubicBezTo>
                  <a:close/>
                </a:path>
              </a:pathLst>
            </a:custGeom>
            <a:solidFill>
              <a:srgbClr val="000000"/>
            </a:solidFill>
          </p:spPr>
          <p:txBody>
            <a:bodyPr/>
            <a:lstStyle/>
            <a:p>
              <a:endParaRPr/>
            </a:p>
          </p:txBody>
        </p:sp>
      </p:grpSp>
      <p:grpSp>
        <p:nvGrpSpPr>
          <p:cNvPr id="11" name="Group 11"/>
          <p:cNvGrpSpPr/>
          <p:nvPr/>
        </p:nvGrpSpPr>
        <p:grpSpPr>
          <a:xfrm>
            <a:off x="1821180" y="2961132"/>
            <a:ext cx="83820" cy="83820"/>
            <a:chOff x="0" y="0"/>
            <a:chExt cx="83820" cy="83820"/>
          </a:xfrm>
        </p:grpSpPr>
        <p:sp>
          <p:nvSpPr>
            <p:cNvPr id="12" name="Freeform 12"/>
            <p:cNvSpPr/>
            <p:nvPr/>
          </p:nvSpPr>
          <p:spPr>
            <a:xfrm>
              <a:off x="0" y="0"/>
              <a:ext cx="83820" cy="83820"/>
            </a:xfrm>
            <a:custGeom>
              <a:avLst/>
              <a:gdLst/>
              <a:ahLst/>
              <a:cxnLst/>
              <a:rect l="l" t="t" r="r" b="b"/>
              <a:pathLst>
                <a:path w="83820" h="83820">
                  <a:moveTo>
                    <a:pt x="21336" y="4572"/>
                  </a:moveTo>
                  <a:cubicBezTo>
                    <a:pt x="13716" y="9144"/>
                    <a:pt x="9144" y="13716"/>
                    <a:pt x="4572" y="21336"/>
                  </a:cubicBezTo>
                  <a:cubicBezTo>
                    <a:pt x="1524" y="27432"/>
                    <a:pt x="0" y="35052"/>
                    <a:pt x="0" y="41148"/>
                  </a:cubicBezTo>
                  <a:cubicBezTo>
                    <a:pt x="0" y="53340"/>
                    <a:pt x="3048" y="62484"/>
                    <a:pt x="12192" y="71628"/>
                  </a:cubicBezTo>
                  <a:cubicBezTo>
                    <a:pt x="19812" y="79248"/>
                    <a:pt x="28956" y="83820"/>
                    <a:pt x="41148" y="83820"/>
                  </a:cubicBezTo>
                  <a:cubicBezTo>
                    <a:pt x="53340" y="83820"/>
                    <a:pt x="62484" y="79248"/>
                    <a:pt x="70104" y="71628"/>
                  </a:cubicBezTo>
                  <a:cubicBezTo>
                    <a:pt x="79248" y="62484"/>
                    <a:pt x="83820" y="53340"/>
                    <a:pt x="83820" y="41148"/>
                  </a:cubicBezTo>
                  <a:cubicBezTo>
                    <a:pt x="83820" y="35052"/>
                    <a:pt x="80772" y="27432"/>
                    <a:pt x="77724" y="21336"/>
                  </a:cubicBezTo>
                  <a:cubicBezTo>
                    <a:pt x="73152" y="13716"/>
                    <a:pt x="68580" y="9144"/>
                    <a:pt x="62484" y="4572"/>
                  </a:cubicBezTo>
                  <a:cubicBezTo>
                    <a:pt x="54864" y="1524"/>
                    <a:pt x="48768" y="0"/>
                    <a:pt x="41148" y="0"/>
                  </a:cubicBezTo>
                  <a:cubicBezTo>
                    <a:pt x="33528" y="0"/>
                    <a:pt x="27432" y="1524"/>
                    <a:pt x="21336" y="4572"/>
                  </a:cubicBezTo>
                  <a:close/>
                </a:path>
              </a:pathLst>
            </a:custGeom>
            <a:solidFill>
              <a:srgbClr val="000000"/>
            </a:solidFill>
          </p:spPr>
          <p:txBody>
            <a:bodyPr/>
            <a:lstStyle/>
            <a:p>
              <a:endParaRPr/>
            </a:p>
          </p:txBody>
        </p:sp>
      </p:grpSp>
      <p:grpSp>
        <p:nvGrpSpPr>
          <p:cNvPr id="13" name="Group 13"/>
          <p:cNvGrpSpPr/>
          <p:nvPr/>
        </p:nvGrpSpPr>
        <p:grpSpPr>
          <a:xfrm>
            <a:off x="1821180" y="3560064"/>
            <a:ext cx="83820" cy="83820"/>
            <a:chOff x="0" y="0"/>
            <a:chExt cx="83820" cy="83820"/>
          </a:xfrm>
        </p:grpSpPr>
        <p:sp>
          <p:nvSpPr>
            <p:cNvPr id="14" name="Freeform 14"/>
            <p:cNvSpPr/>
            <p:nvPr/>
          </p:nvSpPr>
          <p:spPr>
            <a:xfrm>
              <a:off x="0" y="0"/>
              <a:ext cx="83820" cy="83820"/>
            </a:xfrm>
            <a:custGeom>
              <a:avLst/>
              <a:gdLst/>
              <a:ahLst/>
              <a:cxnLst/>
              <a:rect l="l" t="t" r="r" b="b"/>
              <a:pathLst>
                <a:path w="83820" h="83820">
                  <a:moveTo>
                    <a:pt x="21336" y="6096"/>
                  </a:moveTo>
                  <a:cubicBezTo>
                    <a:pt x="13716" y="9144"/>
                    <a:pt x="9144" y="13716"/>
                    <a:pt x="4572" y="21336"/>
                  </a:cubicBezTo>
                  <a:cubicBezTo>
                    <a:pt x="1524" y="27432"/>
                    <a:pt x="0" y="35052"/>
                    <a:pt x="0" y="42672"/>
                  </a:cubicBezTo>
                  <a:cubicBezTo>
                    <a:pt x="0" y="53340"/>
                    <a:pt x="3048" y="64008"/>
                    <a:pt x="12192" y="71628"/>
                  </a:cubicBezTo>
                  <a:cubicBezTo>
                    <a:pt x="19812" y="79248"/>
                    <a:pt x="28956" y="83820"/>
                    <a:pt x="41148" y="83820"/>
                  </a:cubicBezTo>
                  <a:cubicBezTo>
                    <a:pt x="53340" y="83820"/>
                    <a:pt x="62484" y="79248"/>
                    <a:pt x="70104" y="71628"/>
                  </a:cubicBezTo>
                  <a:cubicBezTo>
                    <a:pt x="79248" y="64008"/>
                    <a:pt x="83820" y="53340"/>
                    <a:pt x="83820" y="42672"/>
                  </a:cubicBezTo>
                  <a:cubicBezTo>
                    <a:pt x="83820" y="35052"/>
                    <a:pt x="80772" y="27432"/>
                    <a:pt x="77724" y="21336"/>
                  </a:cubicBezTo>
                  <a:cubicBezTo>
                    <a:pt x="73152" y="13716"/>
                    <a:pt x="68580" y="9144"/>
                    <a:pt x="62484" y="6096"/>
                  </a:cubicBezTo>
                  <a:cubicBezTo>
                    <a:pt x="54864" y="1524"/>
                    <a:pt x="48768" y="0"/>
                    <a:pt x="41148" y="0"/>
                  </a:cubicBezTo>
                  <a:cubicBezTo>
                    <a:pt x="33528" y="0"/>
                    <a:pt x="27432" y="1524"/>
                    <a:pt x="21336" y="6096"/>
                  </a:cubicBezTo>
                  <a:close/>
                </a:path>
              </a:pathLst>
            </a:custGeom>
            <a:solidFill>
              <a:srgbClr val="000000"/>
            </a:solidFill>
          </p:spPr>
          <p:txBody>
            <a:bodyPr/>
            <a:lstStyle/>
            <a:p>
              <a:endParaRPr/>
            </a:p>
          </p:txBody>
        </p:sp>
      </p:grpSp>
      <p:grpSp>
        <p:nvGrpSpPr>
          <p:cNvPr id="15" name="Group 15"/>
          <p:cNvGrpSpPr/>
          <p:nvPr/>
        </p:nvGrpSpPr>
        <p:grpSpPr>
          <a:xfrm>
            <a:off x="1821180" y="4157472"/>
            <a:ext cx="83820" cy="83820"/>
            <a:chOff x="0" y="0"/>
            <a:chExt cx="83820" cy="83820"/>
          </a:xfrm>
        </p:grpSpPr>
        <p:sp>
          <p:nvSpPr>
            <p:cNvPr id="16" name="Freeform 16"/>
            <p:cNvSpPr/>
            <p:nvPr/>
          </p:nvSpPr>
          <p:spPr>
            <a:xfrm>
              <a:off x="0" y="0"/>
              <a:ext cx="83820" cy="83820"/>
            </a:xfrm>
            <a:custGeom>
              <a:avLst/>
              <a:gdLst/>
              <a:ahLst/>
              <a:cxnLst/>
              <a:rect l="l" t="t" r="r" b="b"/>
              <a:pathLst>
                <a:path w="83820" h="83820">
                  <a:moveTo>
                    <a:pt x="21336" y="4572"/>
                  </a:moveTo>
                  <a:cubicBezTo>
                    <a:pt x="13716" y="9144"/>
                    <a:pt x="9144" y="13716"/>
                    <a:pt x="4572" y="19812"/>
                  </a:cubicBezTo>
                  <a:cubicBezTo>
                    <a:pt x="1524" y="27432"/>
                    <a:pt x="0" y="33528"/>
                    <a:pt x="0" y="41148"/>
                  </a:cubicBezTo>
                  <a:cubicBezTo>
                    <a:pt x="0" y="53340"/>
                    <a:pt x="3048" y="62484"/>
                    <a:pt x="12192" y="71628"/>
                  </a:cubicBezTo>
                  <a:cubicBezTo>
                    <a:pt x="19812" y="79248"/>
                    <a:pt x="28956" y="83820"/>
                    <a:pt x="41148" y="83820"/>
                  </a:cubicBezTo>
                  <a:cubicBezTo>
                    <a:pt x="53340" y="83820"/>
                    <a:pt x="62484" y="79248"/>
                    <a:pt x="70104" y="71628"/>
                  </a:cubicBezTo>
                  <a:cubicBezTo>
                    <a:pt x="79248" y="62484"/>
                    <a:pt x="83820" y="53340"/>
                    <a:pt x="83820" y="41148"/>
                  </a:cubicBezTo>
                  <a:cubicBezTo>
                    <a:pt x="83820" y="33528"/>
                    <a:pt x="80772" y="27432"/>
                    <a:pt x="77724" y="19812"/>
                  </a:cubicBezTo>
                  <a:cubicBezTo>
                    <a:pt x="73152" y="13716"/>
                    <a:pt x="68580" y="9144"/>
                    <a:pt x="62484" y="4572"/>
                  </a:cubicBezTo>
                  <a:cubicBezTo>
                    <a:pt x="54864" y="1524"/>
                    <a:pt x="48768" y="0"/>
                    <a:pt x="41148" y="0"/>
                  </a:cubicBezTo>
                  <a:cubicBezTo>
                    <a:pt x="33528" y="0"/>
                    <a:pt x="27432" y="1524"/>
                    <a:pt x="21336" y="4572"/>
                  </a:cubicBezTo>
                  <a:close/>
                </a:path>
              </a:pathLst>
            </a:custGeom>
            <a:solidFill>
              <a:srgbClr val="000000"/>
            </a:solidFill>
          </p:spPr>
          <p:txBody>
            <a:bodyPr/>
            <a:lstStyle/>
            <a:p>
              <a:endParaRPr/>
            </a:p>
          </p:txBody>
        </p:sp>
      </p:grpSp>
      <p:grpSp>
        <p:nvGrpSpPr>
          <p:cNvPr id="17" name="Group 17"/>
          <p:cNvGrpSpPr/>
          <p:nvPr/>
        </p:nvGrpSpPr>
        <p:grpSpPr>
          <a:xfrm>
            <a:off x="1821180" y="4456176"/>
            <a:ext cx="83820" cy="83820"/>
            <a:chOff x="0" y="0"/>
            <a:chExt cx="83820" cy="83820"/>
          </a:xfrm>
        </p:grpSpPr>
        <p:sp>
          <p:nvSpPr>
            <p:cNvPr id="18" name="Freeform 18"/>
            <p:cNvSpPr/>
            <p:nvPr/>
          </p:nvSpPr>
          <p:spPr>
            <a:xfrm>
              <a:off x="0" y="0"/>
              <a:ext cx="83820" cy="83820"/>
            </a:xfrm>
            <a:custGeom>
              <a:avLst/>
              <a:gdLst/>
              <a:ahLst/>
              <a:cxnLst/>
              <a:rect l="l" t="t" r="r" b="b"/>
              <a:pathLst>
                <a:path w="83820" h="83820">
                  <a:moveTo>
                    <a:pt x="21336" y="6096"/>
                  </a:moveTo>
                  <a:cubicBezTo>
                    <a:pt x="13716" y="9144"/>
                    <a:pt x="9144" y="15240"/>
                    <a:pt x="4572" y="21336"/>
                  </a:cubicBezTo>
                  <a:cubicBezTo>
                    <a:pt x="1524" y="28956"/>
                    <a:pt x="0" y="35052"/>
                    <a:pt x="0" y="42672"/>
                  </a:cubicBezTo>
                  <a:cubicBezTo>
                    <a:pt x="0" y="53340"/>
                    <a:pt x="3048" y="64008"/>
                    <a:pt x="12192" y="71628"/>
                  </a:cubicBezTo>
                  <a:cubicBezTo>
                    <a:pt x="19812" y="80772"/>
                    <a:pt x="28956" y="83820"/>
                    <a:pt x="41148" y="83820"/>
                  </a:cubicBezTo>
                  <a:cubicBezTo>
                    <a:pt x="53340" y="83820"/>
                    <a:pt x="62484" y="80772"/>
                    <a:pt x="70104" y="71628"/>
                  </a:cubicBezTo>
                  <a:cubicBezTo>
                    <a:pt x="79248" y="64008"/>
                    <a:pt x="83820" y="53340"/>
                    <a:pt x="83820" y="42672"/>
                  </a:cubicBezTo>
                  <a:cubicBezTo>
                    <a:pt x="83820" y="35052"/>
                    <a:pt x="80772" y="28956"/>
                    <a:pt x="77724" y="21336"/>
                  </a:cubicBezTo>
                  <a:cubicBezTo>
                    <a:pt x="73152" y="15240"/>
                    <a:pt x="68580" y="9144"/>
                    <a:pt x="62484" y="6096"/>
                  </a:cubicBezTo>
                  <a:cubicBezTo>
                    <a:pt x="54864" y="3048"/>
                    <a:pt x="48768" y="0"/>
                    <a:pt x="41148" y="0"/>
                  </a:cubicBezTo>
                  <a:cubicBezTo>
                    <a:pt x="33528" y="0"/>
                    <a:pt x="27432" y="3048"/>
                    <a:pt x="21336" y="6096"/>
                  </a:cubicBezTo>
                  <a:close/>
                </a:path>
              </a:pathLst>
            </a:custGeom>
            <a:solidFill>
              <a:srgbClr val="000000"/>
            </a:solidFill>
          </p:spPr>
          <p:txBody>
            <a:bodyPr/>
            <a:lstStyle/>
            <a:p>
              <a:endParaRPr/>
            </a:p>
          </p:txBody>
        </p:sp>
      </p:grpSp>
      <p:sp>
        <p:nvSpPr>
          <p:cNvPr id="19" name="TextBox 19"/>
          <p:cNvSpPr txBox="1"/>
          <p:nvPr/>
        </p:nvSpPr>
        <p:spPr>
          <a:xfrm>
            <a:off x="1632385" y="1334119"/>
            <a:ext cx="5120640" cy="523504"/>
          </a:xfrm>
          <a:prstGeom prst="rect">
            <a:avLst/>
          </a:prstGeom>
        </p:spPr>
        <p:txBody>
          <a:bodyPr wrap="square" lIns="0" tIns="0" rIns="0" bIns="0" rtlCol="0" anchor="t">
            <a:spAutoFit/>
          </a:bodyPr>
          <a:lstStyle/>
          <a:p>
            <a:pPr algn="l">
              <a:lnSpc>
                <a:spcPts val="4267"/>
              </a:lnSpc>
            </a:pPr>
            <a:r>
              <a:rPr lang="en-US" sz="2100">
                <a:solidFill>
                  <a:srgbClr val="2C2C2C"/>
                </a:solidFill>
                <a:latin typeface="Montserrat"/>
                <a:ea typeface="Montserrat"/>
                <a:cs typeface="Montserrat"/>
                <a:sym typeface="Montserrat"/>
              </a:rPr>
              <a:t>Sending a first message over LoRa</a:t>
            </a:r>
          </a:p>
        </p:txBody>
      </p:sp>
      <p:sp>
        <p:nvSpPr>
          <p:cNvPr id="20" name="TextBox 20"/>
          <p:cNvSpPr txBox="1"/>
          <p:nvPr/>
        </p:nvSpPr>
        <p:spPr>
          <a:xfrm>
            <a:off x="2167185" y="2218163"/>
            <a:ext cx="7939764" cy="2380783"/>
          </a:xfrm>
          <a:prstGeom prst="rect">
            <a:avLst/>
          </a:prstGeom>
        </p:spPr>
        <p:txBody>
          <a:bodyPr lIns="0" tIns="0" rIns="0" bIns="0" rtlCol="0" anchor="t">
            <a:spAutoFit/>
          </a:bodyPr>
          <a:lstStyle/>
          <a:p>
            <a:pPr algn="l">
              <a:lnSpc>
                <a:spcPts val="2352"/>
              </a:lnSpc>
            </a:pPr>
            <a:r>
              <a:rPr lang="en-US" sz="1512" spc="-7">
                <a:solidFill>
                  <a:srgbClr val="000000"/>
                </a:solidFill>
                <a:latin typeface="Montserrat"/>
                <a:ea typeface="Montserrat"/>
                <a:cs typeface="Montserrat"/>
                <a:sym typeface="Montserrat"/>
              </a:rPr>
              <a:t>Find the appropriate LoRa example (File &gt; Examples &gt; LoRa) for transmitting and open it.</a:t>
            </a:r>
          </a:p>
          <a:p>
            <a:pPr algn="l">
              <a:lnSpc>
                <a:spcPts val="2352"/>
              </a:lnSpc>
            </a:pPr>
            <a:r>
              <a:rPr lang="en-US" sz="1512" spc="-7">
                <a:solidFill>
                  <a:srgbClr val="000000"/>
                </a:solidFill>
                <a:latin typeface="Montserrat"/>
                <a:ea typeface="Montserrat"/>
                <a:cs typeface="Montserrat"/>
                <a:sym typeface="Montserrat"/>
              </a:rPr>
              <a:t>Always use the LoRa.println() function to send messages to the receiving ground station.</a:t>
            </a:r>
          </a:p>
          <a:p>
            <a:pPr algn="l">
              <a:lnSpc>
                <a:spcPts val="2352"/>
              </a:lnSpc>
            </a:pPr>
            <a:r>
              <a:rPr lang="en-US" sz="1512" spc="-7">
                <a:solidFill>
                  <a:srgbClr val="000000"/>
                </a:solidFill>
                <a:latin typeface="Montserrat"/>
                <a:ea typeface="Montserrat"/>
                <a:cs typeface="Montserrat"/>
                <a:sym typeface="Montserrat"/>
              </a:rPr>
              <a:t>In the example you will find a counter, remove it so that you send only one message (one every 5 seconds) -stick to this delay time.</a:t>
            </a:r>
          </a:p>
          <a:p>
            <a:pPr algn="l">
              <a:lnSpc>
                <a:spcPts val="2352"/>
              </a:lnSpc>
            </a:pPr>
            <a:r>
              <a:rPr lang="en-US" sz="1512" spc="-7">
                <a:solidFill>
                  <a:srgbClr val="000000"/>
                </a:solidFill>
                <a:latin typeface="Montserrat"/>
                <a:ea typeface="Montserrat"/>
                <a:cs typeface="Montserrat"/>
                <a:sym typeface="Montserrat"/>
              </a:rPr>
              <a:t>The correct frequency is 434E6.</a:t>
            </a:r>
          </a:p>
          <a:p>
            <a:pPr algn="l">
              <a:lnSpc>
                <a:spcPts val="2352"/>
              </a:lnSpc>
            </a:pPr>
            <a:r>
              <a:rPr lang="en-US" sz="1512" spc="-7">
                <a:solidFill>
                  <a:srgbClr val="000000"/>
                </a:solidFill>
                <a:latin typeface="Montserrat"/>
                <a:ea typeface="Montserrat"/>
                <a:cs typeface="Montserrat"/>
                <a:sym typeface="Montserrat"/>
              </a:rPr>
              <a:t>Send to my GS a message! Keep it short!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3503" y="709165"/>
            <a:ext cx="10819381" cy="6142225"/>
            <a:chOff x="0" y="0"/>
            <a:chExt cx="10819384" cy="6142228"/>
          </a:xfrm>
        </p:grpSpPr>
        <p:sp>
          <p:nvSpPr>
            <p:cNvPr id="3" name="Freeform 3"/>
            <p:cNvSpPr/>
            <p:nvPr/>
          </p:nvSpPr>
          <p:spPr>
            <a:xfrm>
              <a:off x="63500" y="63500"/>
              <a:ext cx="10692383" cy="6015229"/>
            </a:xfrm>
            <a:custGeom>
              <a:avLst/>
              <a:gdLst/>
              <a:ahLst/>
              <a:cxnLst/>
              <a:rect l="l" t="t" r="r" b="b"/>
              <a:pathLst>
                <a:path w="10692383" h="6015229">
                  <a:moveTo>
                    <a:pt x="0" y="0"/>
                  </a:moveTo>
                  <a:lnTo>
                    <a:pt x="10692383" y="0"/>
                  </a:lnTo>
                  <a:lnTo>
                    <a:pt x="10692383" y="6015229"/>
                  </a:lnTo>
                  <a:lnTo>
                    <a:pt x="0" y="6015229"/>
                  </a:lnTo>
                  <a:close/>
                </a:path>
              </a:pathLst>
            </a:custGeom>
            <a:solidFill>
              <a:srgbClr val="FFFFFF"/>
            </a:solidFill>
          </p:spPr>
          <p:txBody>
            <a:bodyPr/>
            <a:lstStyle/>
            <a:p>
              <a:endParaRPr/>
            </a:p>
          </p:txBody>
        </p:sp>
        <p:sp>
          <p:nvSpPr>
            <p:cNvPr id="4" name="Freeform 4"/>
            <p:cNvSpPr/>
            <p:nvPr/>
          </p:nvSpPr>
          <p:spPr>
            <a:xfrm>
              <a:off x="63500" y="63500"/>
              <a:ext cx="954024" cy="6015229"/>
            </a:xfrm>
            <a:custGeom>
              <a:avLst/>
              <a:gdLst/>
              <a:ahLst/>
              <a:cxnLst/>
              <a:rect l="l" t="t" r="r" b="b"/>
              <a:pathLst>
                <a:path w="954024" h="6015229">
                  <a:moveTo>
                    <a:pt x="0" y="0"/>
                  </a:moveTo>
                  <a:lnTo>
                    <a:pt x="954024" y="0"/>
                  </a:lnTo>
                  <a:lnTo>
                    <a:pt x="954024" y="6015229"/>
                  </a:lnTo>
                  <a:lnTo>
                    <a:pt x="0" y="6015229"/>
                  </a:lnTo>
                  <a:close/>
                </a:path>
              </a:pathLst>
            </a:custGeom>
            <a:solidFill>
              <a:srgbClr val="000000"/>
            </a:solidFill>
          </p:spPr>
          <p:txBody>
            <a:bodyPr/>
            <a:lstStyle/>
            <a:p>
              <a:endParaRPr/>
            </a:p>
          </p:txBody>
        </p:sp>
      </p:grpSp>
      <p:grpSp>
        <p:nvGrpSpPr>
          <p:cNvPr id="5" name="Group 5"/>
          <p:cNvGrpSpPr/>
          <p:nvPr/>
        </p:nvGrpSpPr>
        <p:grpSpPr>
          <a:xfrm>
            <a:off x="192024" y="950976"/>
            <a:ext cx="568452" cy="1284732"/>
            <a:chOff x="0" y="0"/>
            <a:chExt cx="757936" cy="1712976"/>
          </a:xfrm>
        </p:grpSpPr>
        <p:sp>
          <p:nvSpPr>
            <p:cNvPr id="6" name="Freeform 6"/>
            <p:cNvSpPr/>
            <p:nvPr/>
          </p:nvSpPr>
          <p:spPr>
            <a:xfrm>
              <a:off x="0" y="0"/>
              <a:ext cx="757936" cy="1712976"/>
            </a:xfrm>
            <a:custGeom>
              <a:avLst/>
              <a:gdLst/>
              <a:ahLst/>
              <a:cxnLst/>
              <a:rect l="l" t="t" r="r" b="b"/>
              <a:pathLst>
                <a:path w="757936" h="1712976">
                  <a:moveTo>
                    <a:pt x="0" y="0"/>
                  </a:moveTo>
                  <a:lnTo>
                    <a:pt x="757936" y="0"/>
                  </a:lnTo>
                  <a:lnTo>
                    <a:pt x="757936" y="1712976"/>
                  </a:lnTo>
                  <a:lnTo>
                    <a:pt x="0" y="1712976"/>
                  </a:lnTo>
                  <a:lnTo>
                    <a:pt x="0" y="0"/>
                  </a:lnTo>
                  <a:close/>
                </a:path>
              </a:pathLst>
            </a:custGeom>
            <a:blipFill>
              <a:blip r:embed="rId2"/>
              <a:stretch>
                <a:fillRect l="-804" b="-237"/>
              </a:stretch>
            </a:blipFill>
          </p:spPr>
          <p:txBody>
            <a:bodyPr/>
            <a:lstStyle/>
            <a:p>
              <a:endParaRPr/>
            </a:p>
          </p:txBody>
        </p:sp>
      </p:grpSp>
      <p:grpSp>
        <p:nvGrpSpPr>
          <p:cNvPr id="7" name="Group 7"/>
          <p:cNvGrpSpPr/>
          <p:nvPr/>
        </p:nvGrpSpPr>
        <p:grpSpPr>
          <a:xfrm>
            <a:off x="179832" y="5116068"/>
            <a:ext cx="592836" cy="1478280"/>
            <a:chOff x="0" y="0"/>
            <a:chExt cx="790448" cy="1971040"/>
          </a:xfrm>
        </p:grpSpPr>
        <p:sp>
          <p:nvSpPr>
            <p:cNvPr id="8" name="Freeform 8"/>
            <p:cNvSpPr/>
            <p:nvPr/>
          </p:nvSpPr>
          <p:spPr>
            <a:xfrm>
              <a:off x="0" y="0"/>
              <a:ext cx="790448" cy="1971040"/>
            </a:xfrm>
            <a:custGeom>
              <a:avLst/>
              <a:gdLst/>
              <a:ahLst/>
              <a:cxnLst/>
              <a:rect l="l" t="t" r="r" b="b"/>
              <a:pathLst>
                <a:path w="790448" h="1971040">
                  <a:moveTo>
                    <a:pt x="0" y="0"/>
                  </a:moveTo>
                  <a:lnTo>
                    <a:pt x="790448" y="0"/>
                  </a:lnTo>
                  <a:lnTo>
                    <a:pt x="790448" y="1971040"/>
                  </a:lnTo>
                  <a:lnTo>
                    <a:pt x="0" y="1971040"/>
                  </a:lnTo>
                  <a:lnTo>
                    <a:pt x="0" y="0"/>
                  </a:lnTo>
                  <a:close/>
                </a:path>
              </a:pathLst>
            </a:custGeom>
            <a:blipFill>
              <a:blip r:embed="rId3"/>
              <a:stretch>
                <a:fillRect l="-514" b="-206"/>
              </a:stretch>
            </a:blipFill>
          </p:spPr>
          <p:txBody>
            <a:bodyPr/>
            <a:lstStyle/>
            <a:p>
              <a:endParaRPr/>
            </a:p>
          </p:txBody>
        </p:sp>
      </p:grpSp>
      <p:grpSp>
        <p:nvGrpSpPr>
          <p:cNvPr id="9" name="Group 9"/>
          <p:cNvGrpSpPr/>
          <p:nvPr/>
        </p:nvGrpSpPr>
        <p:grpSpPr>
          <a:xfrm>
            <a:off x="4565904" y="4151376"/>
            <a:ext cx="1560576" cy="1562100"/>
            <a:chOff x="0" y="0"/>
            <a:chExt cx="2080768" cy="2082800"/>
          </a:xfrm>
        </p:grpSpPr>
        <p:sp>
          <p:nvSpPr>
            <p:cNvPr id="10" name="Freeform 10"/>
            <p:cNvSpPr/>
            <p:nvPr/>
          </p:nvSpPr>
          <p:spPr>
            <a:xfrm>
              <a:off x="0" y="0"/>
              <a:ext cx="2080768" cy="2082800"/>
            </a:xfrm>
            <a:custGeom>
              <a:avLst/>
              <a:gdLst/>
              <a:ahLst/>
              <a:cxnLst/>
              <a:rect l="l" t="t" r="r" b="b"/>
              <a:pathLst>
                <a:path w="2080768" h="2082800">
                  <a:moveTo>
                    <a:pt x="0" y="0"/>
                  </a:moveTo>
                  <a:lnTo>
                    <a:pt x="2080768" y="0"/>
                  </a:lnTo>
                  <a:lnTo>
                    <a:pt x="2080768" y="2082800"/>
                  </a:lnTo>
                  <a:lnTo>
                    <a:pt x="0" y="2082800"/>
                  </a:lnTo>
                  <a:lnTo>
                    <a:pt x="0" y="0"/>
                  </a:lnTo>
                  <a:close/>
                </a:path>
              </a:pathLst>
            </a:custGeom>
            <a:blipFill>
              <a:blip r:embed="rId4"/>
              <a:stretch>
                <a:fillRect l="-292" t="-195" b="-97"/>
              </a:stretch>
            </a:blipFill>
          </p:spPr>
          <p:txBody>
            <a:bodyPr/>
            <a:lstStyle/>
            <a:p>
              <a:endParaRPr/>
            </a:p>
          </p:txBody>
        </p:sp>
      </p:grpSp>
      <p:sp>
        <p:nvSpPr>
          <p:cNvPr id="11" name="TextBox 11"/>
          <p:cNvSpPr txBox="1"/>
          <p:nvPr/>
        </p:nvSpPr>
        <p:spPr>
          <a:xfrm>
            <a:off x="1632204" y="1286494"/>
            <a:ext cx="5120640" cy="2415083"/>
          </a:xfrm>
          <a:prstGeom prst="rect">
            <a:avLst/>
          </a:prstGeom>
        </p:spPr>
        <p:txBody>
          <a:bodyPr wrap="square" lIns="0" tIns="0" rIns="0" bIns="0" rtlCol="0" anchor="t">
            <a:spAutoFit/>
          </a:bodyPr>
          <a:lstStyle/>
          <a:p>
            <a:pPr algn="just">
              <a:lnSpc>
                <a:spcPts val="4745"/>
              </a:lnSpc>
            </a:pPr>
            <a:r>
              <a:rPr lang="en-US" sz="2300">
                <a:solidFill>
                  <a:srgbClr val="2C2C2C"/>
                </a:solidFill>
                <a:latin typeface="Montserrat"/>
                <a:ea typeface="Montserrat"/>
                <a:cs typeface="Montserrat"/>
                <a:sym typeface="Montserrat"/>
              </a:rPr>
              <a:t>Checking the range of the link</a:t>
            </a:r>
          </a:p>
          <a:p>
            <a:pPr algn="just">
              <a:lnSpc>
                <a:spcPts val="2354"/>
              </a:lnSpc>
            </a:pPr>
            <a:r>
              <a:rPr lang="en-US" sz="1512" spc="-9">
                <a:solidFill>
                  <a:srgbClr val="000000"/>
                </a:solidFill>
                <a:latin typeface="Montserrat"/>
                <a:ea typeface="Montserrat"/>
                <a:cs typeface="Montserrat"/>
                <a:sym typeface="Montserrat"/>
              </a:rPr>
              <a:t>Now, keep the Arduino connected to your ground station. Take your PC, divide your team, with some members staying inside the room and others going outside to move around the area, checking the range of communication. Use your smartphone to call your teammates and determine exactly when the communication stops. Ensure that the message you send includes your identification.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3503" y="709165"/>
            <a:ext cx="10819381" cy="6142225"/>
            <a:chOff x="0" y="0"/>
            <a:chExt cx="10819384" cy="6142228"/>
          </a:xfrm>
        </p:grpSpPr>
        <p:sp>
          <p:nvSpPr>
            <p:cNvPr id="3" name="Freeform 3"/>
            <p:cNvSpPr/>
            <p:nvPr/>
          </p:nvSpPr>
          <p:spPr>
            <a:xfrm>
              <a:off x="63500" y="63500"/>
              <a:ext cx="10692383" cy="6015229"/>
            </a:xfrm>
            <a:custGeom>
              <a:avLst/>
              <a:gdLst/>
              <a:ahLst/>
              <a:cxnLst/>
              <a:rect l="l" t="t" r="r" b="b"/>
              <a:pathLst>
                <a:path w="10692383" h="6015229">
                  <a:moveTo>
                    <a:pt x="0" y="0"/>
                  </a:moveTo>
                  <a:lnTo>
                    <a:pt x="10692383" y="0"/>
                  </a:lnTo>
                  <a:lnTo>
                    <a:pt x="10692383" y="6015229"/>
                  </a:lnTo>
                  <a:lnTo>
                    <a:pt x="0" y="6015229"/>
                  </a:lnTo>
                  <a:close/>
                </a:path>
              </a:pathLst>
            </a:custGeom>
            <a:solidFill>
              <a:srgbClr val="FFFFFF"/>
            </a:solidFill>
          </p:spPr>
          <p:txBody>
            <a:bodyPr/>
            <a:lstStyle/>
            <a:p>
              <a:endParaRPr/>
            </a:p>
          </p:txBody>
        </p:sp>
        <p:sp>
          <p:nvSpPr>
            <p:cNvPr id="4" name="Freeform 4"/>
            <p:cNvSpPr/>
            <p:nvPr/>
          </p:nvSpPr>
          <p:spPr>
            <a:xfrm>
              <a:off x="63500" y="63500"/>
              <a:ext cx="954024" cy="6015229"/>
            </a:xfrm>
            <a:custGeom>
              <a:avLst/>
              <a:gdLst/>
              <a:ahLst/>
              <a:cxnLst/>
              <a:rect l="l" t="t" r="r" b="b"/>
              <a:pathLst>
                <a:path w="954024" h="6015229">
                  <a:moveTo>
                    <a:pt x="0" y="0"/>
                  </a:moveTo>
                  <a:lnTo>
                    <a:pt x="954024" y="0"/>
                  </a:lnTo>
                  <a:lnTo>
                    <a:pt x="954024" y="6015229"/>
                  </a:lnTo>
                  <a:lnTo>
                    <a:pt x="0" y="6015229"/>
                  </a:lnTo>
                  <a:close/>
                </a:path>
              </a:pathLst>
            </a:custGeom>
            <a:solidFill>
              <a:srgbClr val="000000"/>
            </a:solidFill>
          </p:spPr>
          <p:txBody>
            <a:bodyPr/>
            <a:lstStyle/>
            <a:p>
              <a:endParaRPr/>
            </a:p>
          </p:txBody>
        </p:sp>
      </p:grpSp>
      <p:grpSp>
        <p:nvGrpSpPr>
          <p:cNvPr id="5" name="Group 5"/>
          <p:cNvGrpSpPr/>
          <p:nvPr/>
        </p:nvGrpSpPr>
        <p:grpSpPr>
          <a:xfrm>
            <a:off x="192024" y="950976"/>
            <a:ext cx="568452" cy="1284732"/>
            <a:chOff x="0" y="0"/>
            <a:chExt cx="757936" cy="1712976"/>
          </a:xfrm>
        </p:grpSpPr>
        <p:sp>
          <p:nvSpPr>
            <p:cNvPr id="6" name="Freeform 6"/>
            <p:cNvSpPr/>
            <p:nvPr/>
          </p:nvSpPr>
          <p:spPr>
            <a:xfrm>
              <a:off x="0" y="0"/>
              <a:ext cx="757936" cy="1712976"/>
            </a:xfrm>
            <a:custGeom>
              <a:avLst/>
              <a:gdLst/>
              <a:ahLst/>
              <a:cxnLst/>
              <a:rect l="l" t="t" r="r" b="b"/>
              <a:pathLst>
                <a:path w="757936" h="1712976">
                  <a:moveTo>
                    <a:pt x="0" y="0"/>
                  </a:moveTo>
                  <a:lnTo>
                    <a:pt x="757936" y="0"/>
                  </a:lnTo>
                  <a:lnTo>
                    <a:pt x="757936" y="1712976"/>
                  </a:lnTo>
                  <a:lnTo>
                    <a:pt x="0" y="1712976"/>
                  </a:lnTo>
                  <a:lnTo>
                    <a:pt x="0" y="0"/>
                  </a:lnTo>
                  <a:close/>
                </a:path>
              </a:pathLst>
            </a:custGeom>
            <a:blipFill>
              <a:blip r:embed="rId2"/>
              <a:stretch>
                <a:fillRect l="-804" b="-237"/>
              </a:stretch>
            </a:blipFill>
          </p:spPr>
          <p:txBody>
            <a:bodyPr/>
            <a:lstStyle/>
            <a:p>
              <a:endParaRPr/>
            </a:p>
          </p:txBody>
        </p:sp>
      </p:grpSp>
      <p:grpSp>
        <p:nvGrpSpPr>
          <p:cNvPr id="7" name="Group 7"/>
          <p:cNvGrpSpPr/>
          <p:nvPr/>
        </p:nvGrpSpPr>
        <p:grpSpPr>
          <a:xfrm>
            <a:off x="179832" y="5116068"/>
            <a:ext cx="592836" cy="1478280"/>
            <a:chOff x="0" y="0"/>
            <a:chExt cx="790448" cy="1971040"/>
          </a:xfrm>
        </p:grpSpPr>
        <p:sp>
          <p:nvSpPr>
            <p:cNvPr id="8" name="Freeform 8"/>
            <p:cNvSpPr/>
            <p:nvPr/>
          </p:nvSpPr>
          <p:spPr>
            <a:xfrm>
              <a:off x="0" y="0"/>
              <a:ext cx="790448" cy="1971040"/>
            </a:xfrm>
            <a:custGeom>
              <a:avLst/>
              <a:gdLst/>
              <a:ahLst/>
              <a:cxnLst/>
              <a:rect l="l" t="t" r="r" b="b"/>
              <a:pathLst>
                <a:path w="790448" h="1971040">
                  <a:moveTo>
                    <a:pt x="0" y="0"/>
                  </a:moveTo>
                  <a:lnTo>
                    <a:pt x="790448" y="0"/>
                  </a:lnTo>
                  <a:lnTo>
                    <a:pt x="790448" y="1971040"/>
                  </a:lnTo>
                  <a:lnTo>
                    <a:pt x="0" y="1971040"/>
                  </a:lnTo>
                  <a:lnTo>
                    <a:pt x="0" y="0"/>
                  </a:lnTo>
                  <a:close/>
                </a:path>
              </a:pathLst>
            </a:custGeom>
            <a:blipFill>
              <a:blip r:embed="rId3"/>
              <a:stretch>
                <a:fillRect l="-514" b="-206"/>
              </a:stretch>
            </a:blipFill>
          </p:spPr>
          <p:txBody>
            <a:bodyPr/>
            <a:lstStyle/>
            <a:p>
              <a:endParaRPr/>
            </a:p>
          </p:txBody>
        </p:sp>
      </p:grpSp>
      <p:grpSp>
        <p:nvGrpSpPr>
          <p:cNvPr id="9" name="Group 9"/>
          <p:cNvGrpSpPr/>
          <p:nvPr/>
        </p:nvGrpSpPr>
        <p:grpSpPr>
          <a:xfrm>
            <a:off x="1821180" y="2363724"/>
            <a:ext cx="83820" cy="83820"/>
            <a:chOff x="0" y="0"/>
            <a:chExt cx="83820" cy="83820"/>
          </a:xfrm>
        </p:grpSpPr>
        <p:sp>
          <p:nvSpPr>
            <p:cNvPr id="10" name="Freeform 10"/>
            <p:cNvSpPr/>
            <p:nvPr/>
          </p:nvSpPr>
          <p:spPr>
            <a:xfrm>
              <a:off x="0" y="0"/>
              <a:ext cx="83820" cy="83820"/>
            </a:xfrm>
            <a:custGeom>
              <a:avLst/>
              <a:gdLst/>
              <a:ahLst/>
              <a:cxnLst/>
              <a:rect l="l" t="t" r="r" b="b"/>
              <a:pathLst>
                <a:path w="83820" h="83820">
                  <a:moveTo>
                    <a:pt x="21336" y="6096"/>
                  </a:moveTo>
                  <a:cubicBezTo>
                    <a:pt x="13716" y="9144"/>
                    <a:pt x="9144" y="13716"/>
                    <a:pt x="4572" y="21336"/>
                  </a:cubicBezTo>
                  <a:cubicBezTo>
                    <a:pt x="1524" y="27432"/>
                    <a:pt x="0" y="35052"/>
                    <a:pt x="0" y="42672"/>
                  </a:cubicBezTo>
                  <a:cubicBezTo>
                    <a:pt x="0" y="53340"/>
                    <a:pt x="3048" y="64008"/>
                    <a:pt x="12192" y="71628"/>
                  </a:cubicBezTo>
                  <a:cubicBezTo>
                    <a:pt x="19812" y="79248"/>
                    <a:pt x="28956" y="83820"/>
                    <a:pt x="41148" y="83820"/>
                  </a:cubicBezTo>
                  <a:cubicBezTo>
                    <a:pt x="53340" y="83820"/>
                    <a:pt x="62484" y="79248"/>
                    <a:pt x="70104" y="71628"/>
                  </a:cubicBezTo>
                  <a:cubicBezTo>
                    <a:pt x="79248" y="64008"/>
                    <a:pt x="83820" y="53340"/>
                    <a:pt x="83820" y="42672"/>
                  </a:cubicBezTo>
                  <a:cubicBezTo>
                    <a:pt x="83820" y="35052"/>
                    <a:pt x="80772" y="27432"/>
                    <a:pt x="77724" y="21336"/>
                  </a:cubicBezTo>
                  <a:cubicBezTo>
                    <a:pt x="73152" y="13716"/>
                    <a:pt x="68580" y="9144"/>
                    <a:pt x="62484" y="6096"/>
                  </a:cubicBezTo>
                  <a:cubicBezTo>
                    <a:pt x="54864" y="1524"/>
                    <a:pt x="48768" y="0"/>
                    <a:pt x="41148" y="0"/>
                  </a:cubicBezTo>
                  <a:cubicBezTo>
                    <a:pt x="33528" y="0"/>
                    <a:pt x="27432" y="1524"/>
                    <a:pt x="21336" y="6096"/>
                  </a:cubicBezTo>
                  <a:close/>
                </a:path>
              </a:pathLst>
            </a:custGeom>
            <a:solidFill>
              <a:srgbClr val="000000"/>
            </a:solidFill>
          </p:spPr>
          <p:txBody>
            <a:bodyPr/>
            <a:lstStyle/>
            <a:p>
              <a:endParaRPr/>
            </a:p>
          </p:txBody>
        </p:sp>
      </p:grpSp>
      <p:grpSp>
        <p:nvGrpSpPr>
          <p:cNvPr id="11" name="Group 11"/>
          <p:cNvGrpSpPr/>
          <p:nvPr/>
        </p:nvGrpSpPr>
        <p:grpSpPr>
          <a:xfrm>
            <a:off x="1821180" y="3261360"/>
            <a:ext cx="83820" cy="83820"/>
            <a:chOff x="0" y="0"/>
            <a:chExt cx="83820" cy="83820"/>
          </a:xfrm>
        </p:grpSpPr>
        <p:sp>
          <p:nvSpPr>
            <p:cNvPr id="12" name="Freeform 12"/>
            <p:cNvSpPr/>
            <p:nvPr/>
          </p:nvSpPr>
          <p:spPr>
            <a:xfrm>
              <a:off x="0" y="0"/>
              <a:ext cx="83820" cy="83820"/>
            </a:xfrm>
            <a:custGeom>
              <a:avLst/>
              <a:gdLst/>
              <a:ahLst/>
              <a:cxnLst/>
              <a:rect l="l" t="t" r="r" b="b"/>
              <a:pathLst>
                <a:path w="83820" h="83820">
                  <a:moveTo>
                    <a:pt x="21336" y="4572"/>
                  </a:moveTo>
                  <a:cubicBezTo>
                    <a:pt x="13716" y="9144"/>
                    <a:pt x="9144" y="13716"/>
                    <a:pt x="4572" y="19812"/>
                  </a:cubicBezTo>
                  <a:cubicBezTo>
                    <a:pt x="1524" y="27432"/>
                    <a:pt x="0" y="33528"/>
                    <a:pt x="0" y="41148"/>
                  </a:cubicBezTo>
                  <a:cubicBezTo>
                    <a:pt x="0" y="53340"/>
                    <a:pt x="3048" y="62484"/>
                    <a:pt x="12192" y="71628"/>
                  </a:cubicBezTo>
                  <a:cubicBezTo>
                    <a:pt x="19812" y="79248"/>
                    <a:pt x="28956" y="83820"/>
                    <a:pt x="41148" y="83820"/>
                  </a:cubicBezTo>
                  <a:cubicBezTo>
                    <a:pt x="53340" y="83820"/>
                    <a:pt x="62484" y="79248"/>
                    <a:pt x="70104" y="71628"/>
                  </a:cubicBezTo>
                  <a:cubicBezTo>
                    <a:pt x="79248" y="62484"/>
                    <a:pt x="83820" y="53340"/>
                    <a:pt x="83820" y="41148"/>
                  </a:cubicBezTo>
                  <a:cubicBezTo>
                    <a:pt x="83820" y="33528"/>
                    <a:pt x="80772" y="27432"/>
                    <a:pt x="77724" y="19812"/>
                  </a:cubicBezTo>
                  <a:cubicBezTo>
                    <a:pt x="73152" y="13716"/>
                    <a:pt x="68580" y="9144"/>
                    <a:pt x="62484" y="4572"/>
                  </a:cubicBezTo>
                  <a:cubicBezTo>
                    <a:pt x="54864" y="1524"/>
                    <a:pt x="48768" y="0"/>
                    <a:pt x="41148" y="0"/>
                  </a:cubicBezTo>
                  <a:cubicBezTo>
                    <a:pt x="33528" y="0"/>
                    <a:pt x="27432" y="1524"/>
                    <a:pt x="21336" y="4572"/>
                  </a:cubicBezTo>
                  <a:close/>
                </a:path>
              </a:pathLst>
            </a:custGeom>
            <a:solidFill>
              <a:srgbClr val="000000"/>
            </a:solidFill>
          </p:spPr>
          <p:txBody>
            <a:bodyPr/>
            <a:lstStyle/>
            <a:p>
              <a:endParaRPr/>
            </a:p>
          </p:txBody>
        </p:sp>
      </p:grpSp>
      <p:sp>
        <p:nvSpPr>
          <p:cNvPr id="13" name="TextBox 13"/>
          <p:cNvSpPr txBox="1"/>
          <p:nvPr/>
        </p:nvSpPr>
        <p:spPr>
          <a:xfrm>
            <a:off x="1632385" y="1334119"/>
            <a:ext cx="5120640" cy="523504"/>
          </a:xfrm>
          <a:prstGeom prst="rect">
            <a:avLst/>
          </a:prstGeom>
        </p:spPr>
        <p:txBody>
          <a:bodyPr wrap="square" lIns="0" tIns="0" rIns="0" bIns="0" rtlCol="0" anchor="t">
            <a:spAutoFit/>
          </a:bodyPr>
          <a:lstStyle/>
          <a:p>
            <a:pPr algn="l">
              <a:lnSpc>
                <a:spcPts val="4267"/>
              </a:lnSpc>
            </a:pPr>
            <a:r>
              <a:rPr lang="en-US" sz="2400">
                <a:solidFill>
                  <a:srgbClr val="2C2C2C"/>
                </a:solidFill>
                <a:latin typeface="Montserrat"/>
                <a:ea typeface="Montserrat"/>
                <a:cs typeface="Montserrat"/>
                <a:sym typeface="Montserrat"/>
              </a:rPr>
              <a:t>Sending a message on command</a:t>
            </a:r>
          </a:p>
        </p:txBody>
      </p:sp>
      <p:sp>
        <p:nvSpPr>
          <p:cNvPr id="14" name="TextBox 14"/>
          <p:cNvSpPr txBox="1"/>
          <p:nvPr/>
        </p:nvSpPr>
        <p:spPr>
          <a:xfrm>
            <a:off x="2167185" y="2218163"/>
            <a:ext cx="8008315" cy="1169697"/>
          </a:xfrm>
          <a:prstGeom prst="rect">
            <a:avLst/>
          </a:prstGeom>
        </p:spPr>
        <p:txBody>
          <a:bodyPr lIns="0" tIns="0" rIns="0" bIns="0" rtlCol="0" anchor="t">
            <a:spAutoFit/>
          </a:bodyPr>
          <a:lstStyle/>
          <a:p>
            <a:pPr algn="l">
              <a:lnSpc>
                <a:spcPts val="2354"/>
              </a:lnSpc>
            </a:pPr>
            <a:r>
              <a:rPr lang="en-US" sz="1512" spc="-7">
                <a:solidFill>
                  <a:srgbClr val="000000"/>
                </a:solidFill>
                <a:latin typeface="Montserrat"/>
                <a:ea typeface="Montserrat"/>
                <a:cs typeface="Montserrat"/>
                <a:sym typeface="Montserrat"/>
              </a:rPr>
              <a:t>The code from the previous exercise continuously sends the uploaded message on Arduino. Find a way to input a message in the serial monitor (using Serial.read) and ensure it is sent only once. If possible try to send the message with timestamp along with it. (Time stamp optional)</a:t>
            </a:r>
          </a:p>
        </p:txBody>
      </p:sp>
      <p:sp>
        <p:nvSpPr>
          <p:cNvPr id="15" name="TextBox 15"/>
          <p:cNvSpPr txBox="1"/>
          <p:nvPr/>
        </p:nvSpPr>
        <p:spPr>
          <a:xfrm>
            <a:off x="1429050" y="4793085"/>
            <a:ext cx="2687260" cy="588816"/>
          </a:xfrm>
          <a:prstGeom prst="rect">
            <a:avLst/>
          </a:prstGeom>
        </p:spPr>
        <p:txBody>
          <a:bodyPr lIns="0" tIns="0" rIns="0" bIns="0" rtlCol="0" anchor="t">
            <a:spAutoFit/>
          </a:bodyPr>
          <a:lstStyle/>
          <a:p>
            <a:pPr algn="l">
              <a:lnSpc>
                <a:spcPts val="2364"/>
              </a:lnSpc>
            </a:pPr>
            <a:r>
              <a:rPr lang="en-US" sz="1512" spc="-9">
                <a:solidFill>
                  <a:srgbClr val="000000"/>
                </a:solidFill>
                <a:latin typeface="Montserrat"/>
                <a:ea typeface="Montserrat"/>
                <a:cs typeface="Montserrat"/>
                <a:sym typeface="Montserrat"/>
              </a:rPr>
              <a:t>The output should look like: [0m 30s] your_message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3503" y="709165"/>
            <a:ext cx="10819381" cy="6142225"/>
            <a:chOff x="0" y="0"/>
            <a:chExt cx="10819384" cy="6142228"/>
          </a:xfrm>
        </p:grpSpPr>
        <p:sp>
          <p:nvSpPr>
            <p:cNvPr id="3" name="Freeform 3"/>
            <p:cNvSpPr/>
            <p:nvPr/>
          </p:nvSpPr>
          <p:spPr>
            <a:xfrm>
              <a:off x="63500" y="63500"/>
              <a:ext cx="10692383" cy="6015229"/>
            </a:xfrm>
            <a:custGeom>
              <a:avLst/>
              <a:gdLst/>
              <a:ahLst/>
              <a:cxnLst/>
              <a:rect l="l" t="t" r="r" b="b"/>
              <a:pathLst>
                <a:path w="10692383" h="6015229">
                  <a:moveTo>
                    <a:pt x="0" y="0"/>
                  </a:moveTo>
                  <a:lnTo>
                    <a:pt x="10692383" y="0"/>
                  </a:lnTo>
                  <a:lnTo>
                    <a:pt x="10692383" y="6015229"/>
                  </a:lnTo>
                  <a:lnTo>
                    <a:pt x="0" y="6015229"/>
                  </a:lnTo>
                  <a:close/>
                </a:path>
              </a:pathLst>
            </a:custGeom>
            <a:solidFill>
              <a:srgbClr val="FFFFFF"/>
            </a:solidFill>
          </p:spPr>
          <p:txBody>
            <a:bodyPr/>
            <a:lstStyle/>
            <a:p>
              <a:endParaRPr/>
            </a:p>
          </p:txBody>
        </p:sp>
        <p:sp>
          <p:nvSpPr>
            <p:cNvPr id="4" name="Freeform 4"/>
            <p:cNvSpPr/>
            <p:nvPr/>
          </p:nvSpPr>
          <p:spPr>
            <a:xfrm>
              <a:off x="63500" y="63500"/>
              <a:ext cx="954024" cy="6015229"/>
            </a:xfrm>
            <a:custGeom>
              <a:avLst/>
              <a:gdLst/>
              <a:ahLst/>
              <a:cxnLst/>
              <a:rect l="l" t="t" r="r" b="b"/>
              <a:pathLst>
                <a:path w="954024" h="6015229">
                  <a:moveTo>
                    <a:pt x="0" y="0"/>
                  </a:moveTo>
                  <a:lnTo>
                    <a:pt x="954024" y="0"/>
                  </a:lnTo>
                  <a:lnTo>
                    <a:pt x="954024" y="6015229"/>
                  </a:lnTo>
                  <a:lnTo>
                    <a:pt x="0" y="6015229"/>
                  </a:lnTo>
                  <a:close/>
                </a:path>
              </a:pathLst>
            </a:custGeom>
            <a:solidFill>
              <a:srgbClr val="000000"/>
            </a:solidFill>
          </p:spPr>
          <p:txBody>
            <a:bodyPr/>
            <a:lstStyle/>
            <a:p>
              <a:endParaRPr/>
            </a:p>
          </p:txBody>
        </p:sp>
      </p:grpSp>
      <p:grpSp>
        <p:nvGrpSpPr>
          <p:cNvPr id="5" name="Group 5"/>
          <p:cNvGrpSpPr/>
          <p:nvPr/>
        </p:nvGrpSpPr>
        <p:grpSpPr>
          <a:xfrm>
            <a:off x="192024" y="950976"/>
            <a:ext cx="568452" cy="1284732"/>
            <a:chOff x="0" y="0"/>
            <a:chExt cx="757936" cy="1712976"/>
          </a:xfrm>
        </p:grpSpPr>
        <p:sp>
          <p:nvSpPr>
            <p:cNvPr id="6" name="Freeform 6"/>
            <p:cNvSpPr/>
            <p:nvPr/>
          </p:nvSpPr>
          <p:spPr>
            <a:xfrm>
              <a:off x="0" y="0"/>
              <a:ext cx="757936" cy="1712976"/>
            </a:xfrm>
            <a:custGeom>
              <a:avLst/>
              <a:gdLst/>
              <a:ahLst/>
              <a:cxnLst/>
              <a:rect l="l" t="t" r="r" b="b"/>
              <a:pathLst>
                <a:path w="757936" h="1712976">
                  <a:moveTo>
                    <a:pt x="0" y="0"/>
                  </a:moveTo>
                  <a:lnTo>
                    <a:pt x="757936" y="0"/>
                  </a:lnTo>
                  <a:lnTo>
                    <a:pt x="757936" y="1712976"/>
                  </a:lnTo>
                  <a:lnTo>
                    <a:pt x="0" y="1712976"/>
                  </a:lnTo>
                  <a:lnTo>
                    <a:pt x="0" y="0"/>
                  </a:lnTo>
                  <a:close/>
                </a:path>
              </a:pathLst>
            </a:custGeom>
            <a:blipFill>
              <a:blip r:embed="rId2"/>
              <a:stretch>
                <a:fillRect l="-804" b="-237"/>
              </a:stretch>
            </a:blipFill>
          </p:spPr>
          <p:txBody>
            <a:bodyPr/>
            <a:lstStyle/>
            <a:p>
              <a:endParaRPr/>
            </a:p>
          </p:txBody>
        </p:sp>
      </p:grpSp>
      <p:grpSp>
        <p:nvGrpSpPr>
          <p:cNvPr id="7" name="Group 7"/>
          <p:cNvGrpSpPr/>
          <p:nvPr/>
        </p:nvGrpSpPr>
        <p:grpSpPr>
          <a:xfrm>
            <a:off x="179832" y="5116068"/>
            <a:ext cx="592836" cy="1478280"/>
            <a:chOff x="0" y="0"/>
            <a:chExt cx="790448" cy="1971040"/>
          </a:xfrm>
        </p:grpSpPr>
        <p:sp>
          <p:nvSpPr>
            <p:cNvPr id="8" name="Freeform 8"/>
            <p:cNvSpPr/>
            <p:nvPr/>
          </p:nvSpPr>
          <p:spPr>
            <a:xfrm>
              <a:off x="0" y="0"/>
              <a:ext cx="790448" cy="1971040"/>
            </a:xfrm>
            <a:custGeom>
              <a:avLst/>
              <a:gdLst/>
              <a:ahLst/>
              <a:cxnLst/>
              <a:rect l="l" t="t" r="r" b="b"/>
              <a:pathLst>
                <a:path w="790448" h="1971040">
                  <a:moveTo>
                    <a:pt x="0" y="0"/>
                  </a:moveTo>
                  <a:lnTo>
                    <a:pt x="790448" y="0"/>
                  </a:lnTo>
                  <a:lnTo>
                    <a:pt x="790448" y="1971040"/>
                  </a:lnTo>
                  <a:lnTo>
                    <a:pt x="0" y="1971040"/>
                  </a:lnTo>
                  <a:lnTo>
                    <a:pt x="0" y="0"/>
                  </a:lnTo>
                  <a:close/>
                </a:path>
              </a:pathLst>
            </a:custGeom>
            <a:blipFill>
              <a:blip r:embed="rId3"/>
              <a:stretch>
                <a:fillRect l="-514" b="-206"/>
              </a:stretch>
            </a:blipFill>
          </p:spPr>
          <p:txBody>
            <a:bodyPr/>
            <a:lstStyle/>
            <a:p>
              <a:endParaRPr/>
            </a:p>
          </p:txBody>
        </p:sp>
      </p:grpSp>
      <p:grpSp>
        <p:nvGrpSpPr>
          <p:cNvPr id="9" name="Group 9"/>
          <p:cNvGrpSpPr/>
          <p:nvPr/>
        </p:nvGrpSpPr>
        <p:grpSpPr>
          <a:xfrm>
            <a:off x="1821180" y="3261360"/>
            <a:ext cx="83820" cy="83820"/>
            <a:chOff x="0" y="0"/>
            <a:chExt cx="83820" cy="83820"/>
          </a:xfrm>
        </p:grpSpPr>
        <p:sp>
          <p:nvSpPr>
            <p:cNvPr id="10" name="Freeform 10"/>
            <p:cNvSpPr/>
            <p:nvPr/>
          </p:nvSpPr>
          <p:spPr>
            <a:xfrm>
              <a:off x="0" y="0"/>
              <a:ext cx="83820" cy="83820"/>
            </a:xfrm>
            <a:custGeom>
              <a:avLst/>
              <a:gdLst/>
              <a:ahLst/>
              <a:cxnLst/>
              <a:rect l="l" t="t" r="r" b="b"/>
              <a:pathLst>
                <a:path w="83820" h="83820">
                  <a:moveTo>
                    <a:pt x="21336" y="4572"/>
                  </a:moveTo>
                  <a:cubicBezTo>
                    <a:pt x="13716" y="9144"/>
                    <a:pt x="9144" y="13716"/>
                    <a:pt x="4572" y="19812"/>
                  </a:cubicBezTo>
                  <a:cubicBezTo>
                    <a:pt x="1524" y="27432"/>
                    <a:pt x="0" y="33528"/>
                    <a:pt x="0" y="41148"/>
                  </a:cubicBezTo>
                  <a:cubicBezTo>
                    <a:pt x="0" y="53340"/>
                    <a:pt x="3048" y="62484"/>
                    <a:pt x="12192" y="71628"/>
                  </a:cubicBezTo>
                  <a:cubicBezTo>
                    <a:pt x="19812" y="79248"/>
                    <a:pt x="28956" y="83820"/>
                    <a:pt x="41148" y="83820"/>
                  </a:cubicBezTo>
                  <a:cubicBezTo>
                    <a:pt x="53340" y="83820"/>
                    <a:pt x="62484" y="79248"/>
                    <a:pt x="70104" y="71628"/>
                  </a:cubicBezTo>
                  <a:cubicBezTo>
                    <a:pt x="79248" y="62484"/>
                    <a:pt x="83820" y="53340"/>
                    <a:pt x="83820" y="41148"/>
                  </a:cubicBezTo>
                  <a:cubicBezTo>
                    <a:pt x="83820" y="33528"/>
                    <a:pt x="80772" y="27432"/>
                    <a:pt x="77724" y="19812"/>
                  </a:cubicBezTo>
                  <a:cubicBezTo>
                    <a:pt x="73152" y="13716"/>
                    <a:pt x="68580" y="9144"/>
                    <a:pt x="62484" y="4572"/>
                  </a:cubicBezTo>
                  <a:cubicBezTo>
                    <a:pt x="54864" y="1524"/>
                    <a:pt x="48768" y="0"/>
                    <a:pt x="41148" y="0"/>
                  </a:cubicBezTo>
                  <a:cubicBezTo>
                    <a:pt x="33528" y="0"/>
                    <a:pt x="27432" y="1524"/>
                    <a:pt x="21336" y="4572"/>
                  </a:cubicBezTo>
                  <a:close/>
                </a:path>
              </a:pathLst>
            </a:custGeom>
            <a:solidFill>
              <a:srgbClr val="000000"/>
            </a:solidFill>
          </p:spPr>
          <p:txBody>
            <a:bodyPr/>
            <a:lstStyle/>
            <a:p>
              <a:endParaRPr/>
            </a:p>
          </p:txBody>
        </p:sp>
      </p:grpSp>
      <p:grpSp>
        <p:nvGrpSpPr>
          <p:cNvPr id="11" name="Group 11"/>
          <p:cNvGrpSpPr/>
          <p:nvPr/>
        </p:nvGrpSpPr>
        <p:grpSpPr>
          <a:xfrm>
            <a:off x="1821180" y="4456176"/>
            <a:ext cx="83820" cy="83820"/>
            <a:chOff x="0" y="0"/>
            <a:chExt cx="83820" cy="83820"/>
          </a:xfrm>
        </p:grpSpPr>
        <p:sp>
          <p:nvSpPr>
            <p:cNvPr id="12" name="Freeform 12"/>
            <p:cNvSpPr/>
            <p:nvPr/>
          </p:nvSpPr>
          <p:spPr>
            <a:xfrm>
              <a:off x="0" y="0"/>
              <a:ext cx="83820" cy="83820"/>
            </a:xfrm>
            <a:custGeom>
              <a:avLst/>
              <a:gdLst/>
              <a:ahLst/>
              <a:cxnLst/>
              <a:rect l="l" t="t" r="r" b="b"/>
              <a:pathLst>
                <a:path w="83820" h="83820">
                  <a:moveTo>
                    <a:pt x="21336" y="6096"/>
                  </a:moveTo>
                  <a:cubicBezTo>
                    <a:pt x="13716" y="9144"/>
                    <a:pt x="9144" y="15240"/>
                    <a:pt x="4572" y="21336"/>
                  </a:cubicBezTo>
                  <a:cubicBezTo>
                    <a:pt x="1524" y="28956"/>
                    <a:pt x="0" y="35052"/>
                    <a:pt x="0" y="42672"/>
                  </a:cubicBezTo>
                  <a:cubicBezTo>
                    <a:pt x="0" y="53340"/>
                    <a:pt x="3048" y="64008"/>
                    <a:pt x="12192" y="71628"/>
                  </a:cubicBezTo>
                  <a:cubicBezTo>
                    <a:pt x="19812" y="80772"/>
                    <a:pt x="28956" y="83820"/>
                    <a:pt x="41148" y="83820"/>
                  </a:cubicBezTo>
                  <a:cubicBezTo>
                    <a:pt x="53340" y="83820"/>
                    <a:pt x="62484" y="80772"/>
                    <a:pt x="70104" y="71628"/>
                  </a:cubicBezTo>
                  <a:cubicBezTo>
                    <a:pt x="79248" y="64008"/>
                    <a:pt x="83820" y="53340"/>
                    <a:pt x="83820" y="42672"/>
                  </a:cubicBezTo>
                  <a:cubicBezTo>
                    <a:pt x="83820" y="35052"/>
                    <a:pt x="80772" y="28956"/>
                    <a:pt x="77724" y="21336"/>
                  </a:cubicBezTo>
                  <a:cubicBezTo>
                    <a:pt x="73152" y="15240"/>
                    <a:pt x="68580" y="9144"/>
                    <a:pt x="62484" y="6096"/>
                  </a:cubicBezTo>
                  <a:cubicBezTo>
                    <a:pt x="54864" y="3048"/>
                    <a:pt x="48768" y="0"/>
                    <a:pt x="41148" y="0"/>
                  </a:cubicBezTo>
                  <a:cubicBezTo>
                    <a:pt x="33528" y="0"/>
                    <a:pt x="27432" y="3048"/>
                    <a:pt x="21336" y="6096"/>
                  </a:cubicBezTo>
                  <a:close/>
                </a:path>
              </a:pathLst>
            </a:custGeom>
            <a:solidFill>
              <a:srgbClr val="000000"/>
            </a:solidFill>
          </p:spPr>
          <p:txBody>
            <a:bodyPr/>
            <a:lstStyle/>
            <a:p>
              <a:endParaRPr/>
            </a:p>
          </p:txBody>
        </p:sp>
      </p:grpSp>
      <p:sp>
        <p:nvSpPr>
          <p:cNvPr id="13" name="Freeform 13"/>
          <p:cNvSpPr/>
          <p:nvPr/>
        </p:nvSpPr>
        <p:spPr>
          <a:xfrm>
            <a:off x="1586989" y="2551681"/>
            <a:ext cx="2664457" cy="309877"/>
          </a:xfrm>
          <a:custGeom>
            <a:avLst/>
            <a:gdLst/>
            <a:ahLst/>
            <a:cxnLst/>
            <a:rect l="l" t="t" r="r" b="b"/>
            <a:pathLst>
              <a:path w="2664457" h="309877">
                <a:moveTo>
                  <a:pt x="0" y="0"/>
                </a:moveTo>
                <a:lnTo>
                  <a:pt x="2664457" y="0"/>
                </a:lnTo>
                <a:lnTo>
                  <a:pt x="2664457" y="309877"/>
                </a:lnTo>
                <a:lnTo>
                  <a:pt x="0" y="30987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a:p>
        </p:txBody>
      </p:sp>
      <p:sp>
        <p:nvSpPr>
          <p:cNvPr id="14" name="TextBox 14"/>
          <p:cNvSpPr txBox="1"/>
          <p:nvPr/>
        </p:nvSpPr>
        <p:spPr>
          <a:xfrm>
            <a:off x="1632204" y="1334119"/>
            <a:ext cx="5120640" cy="1171146"/>
          </a:xfrm>
          <a:prstGeom prst="rect">
            <a:avLst/>
          </a:prstGeom>
        </p:spPr>
        <p:txBody>
          <a:bodyPr wrap="square" lIns="0" tIns="0" rIns="0" bIns="0" rtlCol="0" anchor="t">
            <a:spAutoFit/>
          </a:bodyPr>
          <a:lstStyle/>
          <a:p>
            <a:pPr algn="l">
              <a:lnSpc>
                <a:spcPts val="4267"/>
              </a:lnSpc>
            </a:pPr>
            <a:r>
              <a:rPr lang="en-US" sz="2100">
                <a:solidFill>
                  <a:srgbClr val="2C2C2C"/>
                </a:solidFill>
                <a:latin typeface="Montserrat"/>
                <a:ea typeface="Montserrat"/>
                <a:cs typeface="Montserrat"/>
                <a:sym typeface="Montserrat"/>
              </a:rPr>
              <a:t>Transmitting the OBC temperature</a:t>
            </a:r>
          </a:p>
          <a:p>
            <a:pPr algn="l">
              <a:lnSpc>
                <a:spcPts val="2116"/>
              </a:lnSpc>
            </a:pPr>
            <a:r>
              <a:rPr lang="en-US" sz="1512" spc="-9">
                <a:solidFill>
                  <a:srgbClr val="000000"/>
                </a:solidFill>
                <a:latin typeface="Montserrat"/>
                <a:ea typeface="Montserrat"/>
                <a:cs typeface="Montserrat"/>
                <a:sym typeface="Montserrat"/>
              </a:rPr>
              <a:t>Now, let's configure the LoRa sender on the satellite, ensuring that the RBF is plugged </a:t>
            </a:r>
          </a:p>
        </p:txBody>
      </p:sp>
      <p:sp>
        <p:nvSpPr>
          <p:cNvPr id="15" name="TextBox 15"/>
          <p:cNvSpPr txBox="1"/>
          <p:nvPr/>
        </p:nvSpPr>
        <p:spPr>
          <a:xfrm>
            <a:off x="1632204" y="3115685"/>
            <a:ext cx="8397297" cy="1184662"/>
          </a:xfrm>
          <a:prstGeom prst="rect">
            <a:avLst/>
          </a:prstGeom>
        </p:spPr>
        <p:txBody>
          <a:bodyPr lIns="0" tIns="0" rIns="0" bIns="0" rtlCol="0" anchor="t">
            <a:spAutoFit/>
          </a:bodyPr>
          <a:lstStyle/>
          <a:p>
            <a:pPr algn="l">
              <a:lnSpc>
                <a:spcPts val="2355"/>
              </a:lnSpc>
            </a:pPr>
            <a:r>
              <a:rPr lang="en-US" sz="1512" spc="-7">
                <a:solidFill>
                  <a:srgbClr val="000000"/>
                </a:solidFill>
                <a:latin typeface="Montserrat"/>
                <a:ea typeface="Montserrat"/>
                <a:cs typeface="Montserrat"/>
                <a:sym typeface="Montserrat"/>
              </a:rPr>
              <a:t>Transmit the temperature from the OBC via radio, along with a brief message to identify yourself. </a:t>
            </a:r>
          </a:p>
          <a:p>
            <a:pPr algn="l">
              <a:lnSpc>
                <a:spcPts val="2355"/>
              </a:lnSpc>
            </a:pPr>
            <a:r>
              <a:rPr lang="en-US" sz="1512" spc="-7">
                <a:solidFill>
                  <a:srgbClr val="000000"/>
                </a:solidFill>
                <a:latin typeface="Montserrat"/>
                <a:ea typeface="Montserrat"/>
                <a:cs typeface="Montserrat"/>
                <a:sym typeface="Montserrat"/>
              </a:rPr>
              <a:t>The output should look like: </a:t>
            </a:r>
          </a:p>
          <a:p>
            <a:pPr algn="l">
              <a:lnSpc>
                <a:spcPts val="2355"/>
              </a:lnSpc>
            </a:pPr>
            <a:r>
              <a:rPr lang="en-US" sz="1512" spc="-7">
                <a:solidFill>
                  <a:srgbClr val="000000"/>
                </a:solidFill>
                <a:latin typeface="Montserrat"/>
                <a:ea typeface="Montserrat"/>
                <a:cs typeface="Montserrat"/>
                <a:sym typeface="Montserrat"/>
              </a:rPr>
              <a:t>[NAME OF GROUP] | TEMPOBC = 20.4</a:t>
            </a:r>
          </a:p>
        </p:txBody>
      </p:sp>
      <p:sp>
        <p:nvSpPr>
          <p:cNvPr id="16" name="TextBox 16"/>
          <p:cNvSpPr txBox="1"/>
          <p:nvPr/>
        </p:nvSpPr>
        <p:spPr>
          <a:xfrm>
            <a:off x="2167185" y="4310463"/>
            <a:ext cx="7669473" cy="587283"/>
          </a:xfrm>
          <a:prstGeom prst="rect">
            <a:avLst/>
          </a:prstGeom>
        </p:spPr>
        <p:txBody>
          <a:bodyPr lIns="0" tIns="0" rIns="0" bIns="0" rtlCol="0" anchor="t">
            <a:spAutoFit/>
          </a:bodyPr>
          <a:lstStyle/>
          <a:p>
            <a:pPr algn="l">
              <a:lnSpc>
                <a:spcPts val="2352"/>
              </a:lnSpc>
            </a:pPr>
            <a:r>
              <a:rPr lang="en-US" sz="1512" spc="-7">
                <a:solidFill>
                  <a:srgbClr val="000000"/>
                </a:solidFill>
                <a:latin typeface="Montserrat"/>
                <a:ea typeface="Montserrat"/>
                <a:cs typeface="Montserrat"/>
                <a:sym typeface="Montserrat"/>
              </a:rPr>
              <a:t>Now, figure out a way to send the temperature when inputting 'TEMPOBC' via serial. Implement the option to send also the time with 'TIME'.</a:t>
            </a:r>
          </a:p>
        </p:txBody>
      </p:sp>
      <p:sp>
        <p:nvSpPr>
          <p:cNvPr id="17" name="TextBox 17"/>
          <p:cNvSpPr txBox="1"/>
          <p:nvPr/>
        </p:nvSpPr>
        <p:spPr>
          <a:xfrm>
            <a:off x="1632204" y="4907852"/>
            <a:ext cx="5274240" cy="588816"/>
          </a:xfrm>
          <a:prstGeom prst="rect">
            <a:avLst/>
          </a:prstGeom>
        </p:spPr>
        <p:txBody>
          <a:bodyPr lIns="0" tIns="0" rIns="0" bIns="0" rtlCol="0" anchor="t">
            <a:spAutoFit/>
          </a:bodyPr>
          <a:lstStyle/>
          <a:p>
            <a:pPr algn="l">
              <a:lnSpc>
                <a:spcPts val="2364"/>
              </a:lnSpc>
            </a:pPr>
            <a:r>
              <a:rPr lang="en-US" sz="1512" spc="-9">
                <a:solidFill>
                  <a:srgbClr val="000000"/>
                </a:solidFill>
                <a:latin typeface="Montserrat"/>
                <a:ea typeface="Montserrat"/>
                <a:cs typeface="Montserrat"/>
                <a:sym typeface="Montserrat"/>
              </a:rPr>
              <a:t>The output should look like: </a:t>
            </a:r>
          </a:p>
          <a:p>
            <a:pPr algn="l">
              <a:lnSpc>
                <a:spcPts val="2364"/>
              </a:lnSpc>
            </a:pPr>
            <a:r>
              <a:rPr lang="en-US" sz="1512" spc="-9">
                <a:solidFill>
                  <a:srgbClr val="000000"/>
                </a:solidFill>
                <a:latin typeface="Montserrat"/>
                <a:ea typeface="Montserrat"/>
                <a:cs typeface="Montserrat"/>
                <a:sym typeface="Montserrat"/>
              </a:rPr>
              <a:t>[NAME OF GROUP] | TEMPOBC = 20.4 | TIME = 0m 34s</a:t>
            </a:r>
          </a:p>
        </p:txBody>
      </p:sp>
      <p:sp>
        <p:nvSpPr>
          <p:cNvPr id="18" name="TextBox 18"/>
          <p:cNvSpPr txBox="1"/>
          <p:nvPr/>
        </p:nvSpPr>
        <p:spPr>
          <a:xfrm>
            <a:off x="4248912" y="2537346"/>
            <a:ext cx="1128770" cy="269443"/>
          </a:xfrm>
          <a:prstGeom prst="rect">
            <a:avLst/>
          </a:prstGeom>
        </p:spPr>
        <p:txBody>
          <a:bodyPr lIns="0" tIns="0" rIns="0" bIns="0" rtlCol="0" anchor="t">
            <a:spAutoFit/>
          </a:bodyPr>
          <a:lstStyle/>
          <a:p>
            <a:pPr algn="l">
              <a:lnSpc>
                <a:spcPts val="2116"/>
              </a:lnSpc>
            </a:pPr>
            <a:r>
              <a:rPr lang="en-US" sz="1512" spc="31">
                <a:solidFill>
                  <a:srgbClr val="000000"/>
                </a:solidFill>
                <a:latin typeface="Montserrat"/>
                <a:ea typeface="Montserrat"/>
                <a:cs typeface="Montserrat"/>
                <a:sym typeface="Montserrat"/>
              </a:rPr>
              <a:t>OBC ONLY.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50371" y="827532"/>
            <a:ext cx="10392661" cy="5901433"/>
          </a:xfrm>
          <a:custGeom>
            <a:avLst/>
            <a:gdLst/>
            <a:ahLst/>
            <a:cxnLst/>
            <a:rect l="l" t="t" r="r" b="b"/>
            <a:pathLst>
              <a:path w="10392661" h="5901433">
                <a:moveTo>
                  <a:pt x="0" y="0"/>
                </a:moveTo>
                <a:lnTo>
                  <a:pt x="10392661" y="0"/>
                </a:lnTo>
                <a:lnTo>
                  <a:pt x="10392661" y="5901433"/>
                </a:lnTo>
                <a:lnTo>
                  <a:pt x="0" y="5901433"/>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a:p>
        </p:txBody>
      </p:sp>
      <p:grpSp>
        <p:nvGrpSpPr>
          <p:cNvPr id="3" name="Group 3"/>
          <p:cNvGrpSpPr/>
          <p:nvPr/>
        </p:nvGrpSpPr>
        <p:grpSpPr>
          <a:xfrm rot="-5400000">
            <a:off x="55769" y="1405519"/>
            <a:ext cx="1230944" cy="545221"/>
            <a:chOff x="0" y="0"/>
            <a:chExt cx="1641259" cy="726961"/>
          </a:xfrm>
        </p:grpSpPr>
        <p:sp>
          <p:nvSpPr>
            <p:cNvPr id="4" name="Freeform 4"/>
            <p:cNvSpPr/>
            <p:nvPr/>
          </p:nvSpPr>
          <p:spPr>
            <a:xfrm>
              <a:off x="0" y="0"/>
              <a:ext cx="1641221" cy="726948"/>
            </a:xfrm>
            <a:custGeom>
              <a:avLst/>
              <a:gdLst/>
              <a:ahLst/>
              <a:cxnLst/>
              <a:rect l="l" t="t" r="r" b="b"/>
              <a:pathLst>
                <a:path w="1641221" h="726948">
                  <a:moveTo>
                    <a:pt x="0" y="0"/>
                  </a:moveTo>
                  <a:lnTo>
                    <a:pt x="1641221" y="0"/>
                  </a:lnTo>
                  <a:lnTo>
                    <a:pt x="1641221" y="726948"/>
                  </a:lnTo>
                  <a:lnTo>
                    <a:pt x="0" y="726948"/>
                  </a:lnTo>
                  <a:lnTo>
                    <a:pt x="0" y="0"/>
                  </a:lnTo>
                  <a:close/>
                </a:path>
              </a:pathLst>
            </a:custGeom>
            <a:blipFill>
              <a:blip r:embed="rId3"/>
              <a:stretch>
                <a:fillRect t="-54271" r="-2" b="-71512"/>
              </a:stretch>
            </a:blipFill>
          </p:spPr>
          <p:txBody>
            <a:bodyPr/>
            <a:lstStyle/>
            <a:p>
              <a:endParaRPr/>
            </a:p>
          </p:txBody>
        </p:sp>
      </p:grpSp>
      <p:sp>
        <p:nvSpPr>
          <p:cNvPr id="5" name="Freeform 5"/>
          <p:cNvSpPr/>
          <p:nvPr/>
        </p:nvSpPr>
        <p:spPr>
          <a:xfrm>
            <a:off x="387963" y="5061566"/>
            <a:ext cx="566557" cy="1416691"/>
          </a:xfrm>
          <a:custGeom>
            <a:avLst/>
            <a:gdLst/>
            <a:ahLst/>
            <a:cxnLst/>
            <a:rect l="l" t="t" r="r" b="b"/>
            <a:pathLst>
              <a:path w="566557" h="1416691">
                <a:moveTo>
                  <a:pt x="0" y="0"/>
                </a:moveTo>
                <a:lnTo>
                  <a:pt x="566556" y="0"/>
                </a:lnTo>
                <a:lnTo>
                  <a:pt x="566556" y="1416691"/>
                </a:lnTo>
                <a:lnTo>
                  <a:pt x="0" y="141669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a:p>
        </p:txBody>
      </p:sp>
      <p:grpSp>
        <p:nvGrpSpPr>
          <p:cNvPr id="6" name="Group 6"/>
          <p:cNvGrpSpPr/>
          <p:nvPr/>
        </p:nvGrpSpPr>
        <p:grpSpPr>
          <a:xfrm rot="-5400000">
            <a:off x="-37100" y="5486638"/>
            <a:ext cx="1416691" cy="566557"/>
            <a:chOff x="0" y="0"/>
            <a:chExt cx="1888922" cy="755409"/>
          </a:xfrm>
        </p:grpSpPr>
        <p:sp>
          <p:nvSpPr>
            <p:cNvPr id="7" name="Freeform 7"/>
            <p:cNvSpPr/>
            <p:nvPr/>
          </p:nvSpPr>
          <p:spPr>
            <a:xfrm>
              <a:off x="0" y="0"/>
              <a:ext cx="1888871" cy="755396"/>
            </a:xfrm>
            <a:custGeom>
              <a:avLst/>
              <a:gdLst/>
              <a:ahLst/>
              <a:cxnLst/>
              <a:rect l="l" t="t" r="r" b="b"/>
              <a:pathLst>
                <a:path w="1888871" h="755396">
                  <a:moveTo>
                    <a:pt x="0" y="0"/>
                  </a:moveTo>
                  <a:lnTo>
                    <a:pt x="1888871" y="0"/>
                  </a:lnTo>
                  <a:lnTo>
                    <a:pt x="1888871" y="755396"/>
                  </a:lnTo>
                  <a:lnTo>
                    <a:pt x="0" y="755396"/>
                  </a:lnTo>
                  <a:lnTo>
                    <a:pt x="0" y="0"/>
                  </a:lnTo>
                  <a:close/>
                </a:path>
              </a:pathLst>
            </a:custGeom>
            <a:blipFill>
              <a:blip r:embed="rId5"/>
              <a:stretch>
                <a:fillRect r="-2" b="-1"/>
              </a:stretch>
            </a:blipFill>
          </p:spPr>
          <p:txBody>
            <a:bodyPr/>
            <a:lstStyle/>
            <a:p>
              <a:endParaRPr/>
            </a:p>
          </p:txBody>
        </p:sp>
      </p:grpSp>
      <p:sp>
        <p:nvSpPr>
          <p:cNvPr id="8" name="Freeform 8"/>
          <p:cNvSpPr/>
          <p:nvPr/>
        </p:nvSpPr>
        <p:spPr>
          <a:xfrm>
            <a:off x="1678448" y="2191893"/>
            <a:ext cx="8274501" cy="3031541"/>
          </a:xfrm>
          <a:custGeom>
            <a:avLst/>
            <a:gdLst/>
            <a:ahLst/>
            <a:cxnLst/>
            <a:rect l="l" t="t" r="r" b="b"/>
            <a:pathLst>
              <a:path w="8274501" h="3031541">
                <a:moveTo>
                  <a:pt x="0" y="0"/>
                </a:moveTo>
                <a:lnTo>
                  <a:pt x="8274501" y="0"/>
                </a:lnTo>
                <a:lnTo>
                  <a:pt x="8274501" y="3031541"/>
                </a:lnTo>
                <a:lnTo>
                  <a:pt x="0" y="3031541"/>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a:p>
        </p:txBody>
      </p:sp>
      <p:sp>
        <p:nvSpPr>
          <p:cNvPr id="9" name="TextBox 9"/>
          <p:cNvSpPr txBox="1"/>
          <p:nvPr/>
        </p:nvSpPr>
        <p:spPr>
          <a:xfrm>
            <a:off x="1774688" y="1439294"/>
            <a:ext cx="5120640" cy="487834"/>
          </a:xfrm>
          <a:prstGeom prst="rect">
            <a:avLst/>
          </a:prstGeom>
        </p:spPr>
        <p:txBody>
          <a:bodyPr wrap="square" lIns="0" tIns="0" rIns="0" bIns="0" rtlCol="0" anchor="t">
            <a:spAutoFit/>
          </a:bodyPr>
          <a:lstStyle/>
          <a:p>
            <a:pPr algn="l">
              <a:lnSpc>
                <a:spcPts val="4086"/>
              </a:lnSpc>
            </a:pPr>
            <a:r>
              <a:rPr lang="en-US" sz="2300" spc="14">
                <a:solidFill>
                  <a:srgbClr val="303030"/>
                </a:solidFill>
                <a:latin typeface="Montserrat"/>
                <a:ea typeface="Montserrat"/>
                <a:cs typeface="Montserrat"/>
                <a:sym typeface="Montserrat"/>
              </a:rPr>
              <a:t>Sending every reading by radio</a:t>
            </a:r>
          </a:p>
        </p:txBody>
      </p:sp>
      <p:sp>
        <p:nvSpPr>
          <p:cNvPr id="10" name="TextBox 10"/>
          <p:cNvSpPr txBox="1"/>
          <p:nvPr/>
        </p:nvSpPr>
        <p:spPr>
          <a:xfrm>
            <a:off x="1919402" y="2284905"/>
            <a:ext cx="114195" cy="247164"/>
          </a:xfrm>
          <a:prstGeom prst="rect">
            <a:avLst/>
          </a:prstGeom>
        </p:spPr>
        <p:txBody>
          <a:bodyPr lIns="0" tIns="0" rIns="0" bIns="0" rtlCol="0" anchor="t">
            <a:spAutoFit/>
          </a:bodyPr>
          <a:lstStyle/>
          <a:p>
            <a:pPr algn="l">
              <a:lnSpc>
                <a:spcPts val="2043"/>
              </a:lnSpc>
            </a:pPr>
            <a:r>
              <a:rPr lang="en-US" sz="1459" spc="7">
                <a:solidFill>
                  <a:srgbClr val="000000"/>
                </a:solidFill>
                <a:latin typeface="Montserrat"/>
                <a:ea typeface="Montserrat"/>
                <a:cs typeface="Montserrat"/>
                <a:sym typeface="Montserrat"/>
              </a:rPr>
              <a:t>●</a:t>
            </a:r>
          </a:p>
        </p:txBody>
      </p:sp>
      <p:sp>
        <p:nvSpPr>
          <p:cNvPr id="11" name="TextBox 11"/>
          <p:cNvSpPr txBox="1"/>
          <p:nvPr/>
        </p:nvSpPr>
        <p:spPr>
          <a:xfrm>
            <a:off x="2287972" y="2242204"/>
            <a:ext cx="6898957" cy="556898"/>
          </a:xfrm>
          <a:prstGeom prst="rect">
            <a:avLst/>
          </a:prstGeom>
        </p:spPr>
        <p:txBody>
          <a:bodyPr lIns="0" tIns="0" rIns="0" bIns="0" rtlCol="0" anchor="t">
            <a:spAutoFit/>
          </a:bodyPr>
          <a:lstStyle/>
          <a:p>
            <a:pPr algn="l">
              <a:lnSpc>
                <a:spcPts val="2251"/>
              </a:lnSpc>
            </a:pPr>
            <a:r>
              <a:rPr lang="en-US" sz="1459" spc="7">
                <a:solidFill>
                  <a:srgbClr val="000000"/>
                </a:solidFill>
                <a:latin typeface="Montserrat"/>
                <a:ea typeface="Montserrat"/>
                <a:cs typeface="Montserrat"/>
                <a:sym typeface="Montserrat"/>
              </a:rPr>
              <a:t>Send tomy ground station all your readings via LoRa separately by typing TEMPOBC, TEMPEPS, TIME, TEMPCOMPARISON and VBAT.</a:t>
            </a:r>
          </a:p>
        </p:txBody>
      </p:sp>
      <p:sp>
        <p:nvSpPr>
          <p:cNvPr id="12" name="TextBox 12"/>
          <p:cNvSpPr txBox="1"/>
          <p:nvPr/>
        </p:nvSpPr>
        <p:spPr>
          <a:xfrm>
            <a:off x="1774688" y="2809408"/>
            <a:ext cx="3406092" cy="804834"/>
          </a:xfrm>
          <a:prstGeom prst="rect">
            <a:avLst/>
          </a:prstGeom>
        </p:spPr>
        <p:txBody>
          <a:bodyPr lIns="0" tIns="0" rIns="0" bIns="0" rtlCol="0" anchor="t">
            <a:spAutoFit/>
          </a:bodyPr>
          <a:lstStyle/>
          <a:p>
            <a:pPr algn="l">
              <a:lnSpc>
                <a:spcPts val="2139"/>
              </a:lnSpc>
            </a:pPr>
            <a:r>
              <a:rPr lang="en-US" sz="1459" spc="7">
                <a:solidFill>
                  <a:srgbClr val="000000"/>
                </a:solidFill>
                <a:latin typeface="Montserrat"/>
                <a:ea typeface="Montserrat"/>
                <a:cs typeface="Montserrat"/>
                <a:sym typeface="Montserrat"/>
              </a:rPr>
              <a:t>The output should look like:</a:t>
            </a:r>
          </a:p>
          <a:p>
            <a:pPr algn="l">
              <a:lnSpc>
                <a:spcPts val="2139"/>
              </a:lnSpc>
            </a:pPr>
            <a:r>
              <a:rPr lang="en-US" sz="1459" spc="7">
                <a:solidFill>
                  <a:srgbClr val="000000"/>
                </a:solidFill>
                <a:latin typeface="Montserrat"/>
                <a:ea typeface="Montserrat"/>
                <a:cs typeface="Montserrat"/>
                <a:sym typeface="Montserrat"/>
              </a:rPr>
              <a:t>[Team Name] TEMPEPS = 24.20 deg </a:t>
            </a:r>
          </a:p>
          <a:p>
            <a:pPr algn="l">
              <a:lnSpc>
                <a:spcPts val="2139"/>
              </a:lnSpc>
            </a:pPr>
            <a:r>
              <a:rPr lang="en-US" sz="1459" spc="7">
                <a:solidFill>
                  <a:srgbClr val="000000"/>
                </a:solidFill>
                <a:latin typeface="Montserrat"/>
                <a:ea typeface="Montserrat"/>
                <a:cs typeface="Montserrat"/>
                <a:sym typeface="Montserrat"/>
              </a:rPr>
              <a:t>[Team Name] VBAT = 3.67 V </a:t>
            </a:r>
          </a:p>
        </p:txBody>
      </p:sp>
      <p:sp>
        <p:nvSpPr>
          <p:cNvPr id="13" name="TextBox 13"/>
          <p:cNvSpPr txBox="1"/>
          <p:nvPr/>
        </p:nvSpPr>
        <p:spPr>
          <a:xfrm>
            <a:off x="5524357" y="3081128"/>
            <a:ext cx="2458907" cy="533114"/>
          </a:xfrm>
          <a:prstGeom prst="rect">
            <a:avLst/>
          </a:prstGeom>
        </p:spPr>
        <p:txBody>
          <a:bodyPr lIns="0" tIns="0" rIns="0" bIns="0" rtlCol="0" anchor="t">
            <a:spAutoFit/>
          </a:bodyPr>
          <a:lstStyle/>
          <a:p>
            <a:pPr algn="l">
              <a:lnSpc>
                <a:spcPts val="2139"/>
              </a:lnSpc>
            </a:pPr>
            <a:r>
              <a:rPr lang="en-US" sz="1459" spc="7">
                <a:solidFill>
                  <a:srgbClr val="000000"/>
                </a:solidFill>
                <a:latin typeface="Montserrat"/>
                <a:ea typeface="Montserrat"/>
                <a:cs typeface="Montserrat"/>
                <a:sym typeface="Montserrat"/>
              </a:rPr>
              <a:t>if you typed “TEMPEPS” or</a:t>
            </a:r>
          </a:p>
          <a:p>
            <a:pPr algn="l">
              <a:lnSpc>
                <a:spcPts val="2139"/>
              </a:lnSpc>
            </a:pPr>
            <a:r>
              <a:rPr lang="en-US" sz="1459" spc="7">
                <a:solidFill>
                  <a:srgbClr val="000000"/>
                </a:solidFill>
                <a:latin typeface="Montserrat"/>
                <a:ea typeface="Montserrat"/>
                <a:cs typeface="Montserrat"/>
                <a:sym typeface="Montserrat"/>
              </a:rPr>
              <a:t>if you typed “VBAT” …</a:t>
            </a:r>
          </a:p>
        </p:txBody>
      </p:sp>
      <p:sp>
        <p:nvSpPr>
          <p:cNvPr id="14" name="TextBox 14"/>
          <p:cNvSpPr txBox="1"/>
          <p:nvPr/>
        </p:nvSpPr>
        <p:spPr>
          <a:xfrm>
            <a:off x="1919402" y="3929453"/>
            <a:ext cx="114195" cy="247164"/>
          </a:xfrm>
          <a:prstGeom prst="rect">
            <a:avLst/>
          </a:prstGeom>
        </p:spPr>
        <p:txBody>
          <a:bodyPr lIns="0" tIns="0" rIns="0" bIns="0" rtlCol="0" anchor="t">
            <a:spAutoFit/>
          </a:bodyPr>
          <a:lstStyle/>
          <a:p>
            <a:pPr algn="l">
              <a:lnSpc>
                <a:spcPts val="2043"/>
              </a:lnSpc>
            </a:pPr>
            <a:r>
              <a:rPr lang="en-US" sz="1459" spc="7">
                <a:solidFill>
                  <a:srgbClr val="000000"/>
                </a:solidFill>
                <a:latin typeface="Montserrat"/>
                <a:ea typeface="Montserrat"/>
                <a:cs typeface="Montserrat"/>
                <a:sym typeface="Montserrat"/>
              </a:rPr>
              <a:t>●</a:t>
            </a:r>
          </a:p>
        </p:txBody>
      </p:sp>
      <p:sp>
        <p:nvSpPr>
          <p:cNvPr id="15" name="TextBox 15"/>
          <p:cNvSpPr txBox="1"/>
          <p:nvPr/>
        </p:nvSpPr>
        <p:spPr>
          <a:xfrm>
            <a:off x="2287972" y="3886743"/>
            <a:ext cx="7016667" cy="556898"/>
          </a:xfrm>
          <a:prstGeom prst="rect">
            <a:avLst/>
          </a:prstGeom>
        </p:spPr>
        <p:txBody>
          <a:bodyPr lIns="0" tIns="0" rIns="0" bIns="0" rtlCol="0" anchor="t">
            <a:spAutoFit/>
          </a:bodyPr>
          <a:lstStyle/>
          <a:p>
            <a:pPr algn="l">
              <a:lnSpc>
                <a:spcPts val="2251"/>
              </a:lnSpc>
            </a:pPr>
            <a:r>
              <a:rPr lang="en-US" sz="1459" spc="7">
                <a:solidFill>
                  <a:srgbClr val="000000"/>
                </a:solidFill>
                <a:latin typeface="Montserrat"/>
                <a:ea typeface="Montserrat"/>
                <a:cs typeface="Montserrat"/>
                <a:sym typeface="Montserrat"/>
              </a:rPr>
              <a:t>Now, write a new function called sendAll() that is capable of sending all the readings in one line. This function has to be activated when typing “ALL”.</a:t>
            </a:r>
          </a:p>
        </p:txBody>
      </p:sp>
      <p:sp>
        <p:nvSpPr>
          <p:cNvPr id="16" name="TextBox 16"/>
          <p:cNvSpPr txBox="1"/>
          <p:nvPr/>
        </p:nvSpPr>
        <p:spPr>
          <a:xfrm>
            <a:off x="1774688" y="4453957"/>
            <a:ext cx="6681168" cy="533114"/>
          </a:xfrm>
          <a:prstGeom prst="rect">
            <a:avLst/>
          </a:prstGeom>
        </p:spPr>
        <p:txBody>
          <a:bodyPr lIns="0" tIns="0" rIns="0" bIns="0" rtlCol="0" anchor="t">
            <a:spAutoFit/>
          </a:bodyPr>
          <a:lstStyle/>
          <a:p>
            <a:pPr algn="l">
              <a:lnSpc>
                <a:spcPts val="2139"/>
              </a:lnSpc>
            </a:pPr>
            <a:r>
              <a:rPr lang="en-US" sz="1459" spc="7">
                <a:solidFill>
                  <a:srgbClr val="000000"/>
                </a:solidFill>
                <a:latin typeface="Montserrat"/>
                <a:ea typeface="Montserrat"/>
                <a:cs typeface="Montserrat"/>
                <a:sym typeface="Montserrat"/>
              </a:rPr>
              <a:t>The output should look like:</a:t>
            </a:r>
          </a:p>
          <a:p>
            <a:pPr algn="l">
              <a:lnSpc>
                <a:spcPts val="2139"/>
              </a:lnSpc>
            </a:pPr>
            <a:r>
              <a:rPr lang="en-US" sz="1459" spc="7">
                <a:solidFill>
                  <a:srgbClr val="000000"/>
                </a:solidFill>
                <a:latin typeface="Montserrat"/>
                <a:ea typeface="Montserrat"/>
                <a:cs typeface="Montserrat"/>
                <a:sym typeface="Montserrat"/>
              </a:rPr>
              <a:t>[1m 25s][Team Name] TEMPOBC | TEMPEPS = 24.20 deg | VBAT = 3.67 V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50371" y="827532"/>
            <a:ext cx="10392661" cy="5901433"/>
          </a:xfrm>
          <a:custGeom>
            <a:avLst/>
            <a:gdLst/>
            <a:ahLst/>
            <a:cxnLst/>
            <a:rect l="l" t="t" r="r" b="b"/>
            <a:pathLst>
              <a:path w="10392661" h="5901433">
                <a:moveTo>
                  <a:pt x="0" y="0"/>
                </a:moveTo>
                <a:lnTo>
                  <a:pt x="10392661" y="0"/>
                </a:lnTo>
                <a:lnTo>
                  <a:pt x="10392661" y="5901433"/>
                </a:lnTo>
                <a:lnTo>
                  <a:pt x="0" y="5901433"/>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SG"/>
          </a:p>
        </p:txBody>
      </p:sp>
      <p:grpSp>
        <p:nvGrpSpPr>
          <p:cNvPr id="3" name="Group 3"/>
          <p:cNvGrpSpPr/>
          <p:nvPr/>
        </p:nvGrpSpPr>
        <p:grpSpPr>
          <a:xfrm rot="-5400000">
            <a:off x="55769" y="1405519"/>
            <a:ext cx="1230944" cy="545221"/>
            <a:chOff x="0" y="0"/>
            <a:chExt cx="1641259" cy="726961"/>
          </a:xfrm>
        </p:grpSpPr>
        <p:sp>
          <p:nvSpPr>
            <p:cNvPr id="4" name="Freeform 4"/>
            <p:cNvSpPr/>
            <p:nvPr/>
          </p:nvSpPr>
          <p:spPr>
            <a:xfrm>
              <a:off x="0" y="0"/>
              <a:ext cx="1641221" cy="726948"/>
            </a:xfrm>
            <a:custGeom>
              <a:avLst/>
              <a:gdLst/>
              <a:ahLst/>
              <a:cxnLst/>
              <a:rect l="l" t="t" r="r" b="b"/>
              <a:pathLst>
                <a:path w="1641221" h="726948">
                  <a:moveTo>
                    <a:pt x="0" y="0"/>
                  </a:moveTo>
                  <a:lnTo>
                    <a:pt x="1641221" y="0"/>
                  </a:lnTo>
                  <a:lnTo>
                    <a:pt x="1641221" y="726948"/>
                  </a:lnTo>
                  <a:lnTo>
                    <a:pt x="0" y="726948"/>
                  </a:lnTo>
                  <a:lnTo>
                    <a:pt x="0" y="0"/>
                  </a:lnTo>
                  <a:close/>
                </a:path>
              </a:pathLst>
            </a:custGeom>
            <a:blipFill>
              <a:blip r:embed="rId3"/>
              <a:stretch>
                <a:fillRect t="-54271" r="-2" b="-71512"/>
              </a:stretch>
            </a:blipFill>
          </p:spPr>
          <p:txBody>
            <a:bodyPr/>
            <a:lstStyle/>
            <a:p>
              <a:endParaRPr lang="en-SG"/>
            </a:p>
          </p:txBody>
        </p:sp>
      </p:grpSp>
      <p:sp>
        <p:nvSpPr>
          <p:cNvPr id="5" name="Freeform 5"/>
          <p:cNvSpPr/>
          <p:nvPr/>
        </p:nvSpPr>
        <p:spPr>
          <a:xfrm>
            <a:off x="387963" y="5061566"/>
            <a:ext cx="566557" cy="1416691"/>
          </a:xfrm>
          <a:custGeom>
            <a:avLst/>
            <a:gdLst/>
            <a:ahLst/>
            <a:cxnLst/>
            <a:rect l="l" t="t" r="r" b="b"/>
            <a:pathLst>
              <a:path w="566557" h="1416691">
                <a:moveTo>
                  <a:pt x="0" y="0"/>
                </a:moveTo>
                <a:lnTo>
                  <a:pt x="566556" y="0"/>
                </a:lnTo>
                <a:lnTo>
                  <a:pt x="566556" y="1416691"/>
                </a:lnTo>
                <a:lnTo>
                  <a:pt x="0" y="141669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SG"/>
          </a:p>
        </p:txBody>
      </p:sp>
      <p:grpSp>
        <p:nvGrpSpPr>
          <p:cNvPr id="6" name="Group 6"/>
          <p:cNvGrpSpPr/>
          <p:nvPr/>
        </p:nvGrpSpPr>
        <p:grpSpPr>
          <a:xfrm rot="-5400000">
            <a:off x="-37100" y="5486638"/>
            <a:ext cx="1416691" cy="566557"/>
            <a:chOff x="0" y="0"/>
            <a:chExt cx="1888922" cy="755409"/>
          </a:xfrm>
        </p:grpSpPr>
        <p:sp>
          <p:nvSpPr>
            <p:cNvPr id="7" name="Freeform 7"/>
            <p:cNvSpPr/>
            <p:nvPr/>
          </p:nvSpPr>
          <p:spPr>
            <a:xfrm>
              <a:off x="0" y="0"/>
              <a:ext cx="1888871" cy="755396"/>
            </a:xfrm>
            <a:custGeom>
              <a:avLst/>
              <a:gdLst/>
              <a:ahLst/>
              <a:cxnLst/>
              <a:rect l="l" t="t" r="r" b="b"/>
              <a:pathLst>
                <a:path w="1888871" h="755396">
                  <a:moveTo>
                    <a:pt x="0" y="0"/>
                  </a:moveTo>
                  <a:lnTo>
                    <a:pt x="1888871" y="0"/>
                  </a:lnTo>
                  <a:lnTo>
                    <a:pt x="1888871" y="755396"/>
                  </a:lnTo>
                  <a:lnTo>
                    <a:pt x="0" y="755396"/>
                  </a:lnTo>
                  <a:lnTo>
                    <a:pt x="0" y="0"/>
                  </a:lnTo>
                  <a:close/>
                </a:path>
              </a:pathLst>
            </a:custGeom>
            <a:blipFill>
              <a:blip r:embed="rId5"/>
              <a:stretch>
                <a:fillRect r="-2" b="-1"/>
              </a:stretch>
            </a:blipFill>
          </p:spPr>
          <p:txBody>
            <a:bodyPr/>
            <a:lstStyle/>
            <a:p>
              <a:endParaRPr lang="en-SG"/>
            </a:p>
          </p:txBody>
        </p:sp>
      </p:grpSp>
      <p:sp>
        <p:nvSpPr>
          <p:cNvPr id="8" name="Freeform 8"/>
          <p:cNvSpPr/>
          <p:nvPr/>
        </p:nvSpPr>
        <p:spPr>
          <a:xfrm>
            <a:off x="1678448" y="2191893"/>
            <a:ext cx="8274501" cy="3320177"/>
          </a:xfrm>
          <a:custGeom>
            <a:avLst/>
            <a:gdLst/>
            <a:ahLst/>
            <a:cxnLst/>
            <a:rect l="l" t="t" r="r" b="b"/>
            <a:pathLst>
              <a:path w="8274501" h="3320177">
                <a:moveTo>
                  <a:pt x="0" y="0"/>
                </a:moveTo>
                <a:lnTo>
                  <a:pt x="8274501" y="0"/>
                </a:lnTo>
                <a:lnTo>
                  <a:pt x="8274501" y="3320177"/>
                </a:lnTo>
                <a:lnTo>
                  <a:pt x="0" y="3320177"/>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SG"/>
          </a:p>
        </p:txBody>
      </p:sp>
      <p:sp>
        <p:nvSpPr>
          <p:cNvPr id="9" name="TextBox 9"/>
          <p:cNvSpPr txBox="1"/>
          <p:nvPr/>
        </p:nvSpPr>
        <p:spPr>
          <a:xfrm>
            <a:off x="1774688" y="1439294"/>
            <a:ext cx="7958452" cy="763544"/>
          </a:xfrm>
          <a:prstGeom prst="rect">
            <a:avLst/>
          </a:prstGeom>
        </p:spPr>
        <p:txBody>
          <a:bodyPr lIns="0" tIns="0" rIns="0" bIns="0" rtlCol="0" anchor="t">
            <a:spAutoFit/>
          </a:bodyPr>
          <a:lstStyle/>
          <a:p>
            <a:pPr algn="l">
              <a:lnSpc>
                <a:spcPts val="4086"/>
              </a:lnSpc>
            </a:pPr>
            <a:endParaRPr/>
          </a:p>
          <a:p>
            <a:pPr algn="l">
              <a:lnSpc>
                <a:spcPts val="2043"/>
              </a:lnSpc>
            </a:pPr>
            <a:r>
              <a:rPr lang="en-US" sz="1459" spc="7">
                <a:solidFill>
                  <a:srgbClr val="000000"/>
                </a:solidFill>
                <a:latin typeface="Montserrat"/>
                <a:ea typeface="Montserrat"/>
                <a:cs typeface="Montserrat"/>
                <a:sym typeface="Montserrat"/>
              </a:rPr>
              <a:t>Addtothecodethepossibility of typing “STATUS” to get an output that looks like this:</a:t>
            </a:r>
          </a:p>
        </p:txBody>
      </p:sp>
      <p:sp>
        <p:nvSpPr>
          <p:cNvPr id="10" name="TextBox 10"/>
          <p:cNvSpPr txBox="1"/>
          <p:nvPr/>
        </p:nvSpPr>
        <p:spPr>
          <a:xfrm>
            <a:off x="1919402" y="2537574"/>
            <a:ext cx="114195" cy="838152"/>
          </a:xfrm>
          <a:prstGeom prst="rect">
            <a:avLst/>
          </a:prstGeom>
        </p:spPr>
        <p:txBody>
          <a:bodyPr lIns="0" tIns="0" rIns="0" bIns="0" rtlCol="0" anchor="t">
            <a:spAutoFit/>
          </a:bodyPr>
          <a:lstStyle/>
          <a:p>
            <a:pPr algn="just">
              <a:lnSpc>
                <a:spcPts val="2251"/>
              </a:lnSpc>
            </a:pPr>
            <a:r>
              <a:rPr lang="en-US" sz="1459" spc="7">
                <a:solidFill>
                  <a:srgbClr val="000000"/>
                </a:solidFill>
                <a:latin typeface="Montserrat"/>
                <a:ea typeface="Montserrat"/>
                <a:cs typeface="Montserrat"/>
                <a:sym typeface="Montserrat"/>
              </a:rPr>
              <a:t>● ● ●</a:t>
            </a:r>
          </a:p>
        </p:txBody>
      </p:sp>
      <p:sp>
        <p:nvSpPr>
          <p:cNvPr id="11" name="TextBox 11"/>
          <p:cNvSpPr txBox="1"/>
          <p:nvPr/>
        </p:nvSpPr>
        <p:spPr>
          <a:xfrm>
            <a:off x="2287972" y="2513914"/>
            <a:ext cx="4485056" cy="842867"/>
          </a:xfrm>
          <a:prstGeom prst="rect">
            <a:avLst/>
          </a:prstGeom>
        </p:spPr>
        <p:txBody>
          <a:bodyPr lIns="0" tIns="0" rIns="0" bIns="0" rtlCol="0" anchor="t">
            <a:spAutoFit/>
          </a:bodyPr>
          <a:lstStyle/>
          <a:p>
            <a:pPr algn="l">
              <a:lnSpc>
                <a:spcPts val="2251"/>
              </a:lnSpc>
            </a:pPr>
            <a:r>
              <a:rPr lang="en-US" sz="1459" spc="7">
                <a:solidFill>
                  <a:srgbClr val="000000"/>
                </a:solidFill>
                <a:latin typeface="Montserrat"/>
                <a:ea typeface="Montserrat"/>
                <a:cs typeface="Montserrat"/>
                <a:sym typeface="Montserrat"/>
              </a:rPr>
              <a:t>[3m43s] NOMINAL </a:t>
            </a:r>
          </a:p>
          <a:p>
            <a:pPr algn="l">
              <a:lnSpc>
                <a:spcPts val="2251"/>
              </a:lnSpc>
            </a:pPr>
            <a:r>
              <a:rPr lang="en-US" sz="1459" spc="7">
                <a:solidFill>
                  <a:srgbClr val="000000"/>
                </a:solidFill>
                <a:latin typeface="Montserrat"/>
                <a:ea typeface="Montserrat"/>
                <a:cs typeface="Montserrat"/>
                <a:sym typeface="Montserrat"/>
              </a:rPr>
              <a:t>[3m43s] WARNING! TEMPxx is too high: 35 deg! </a:t>
            </a:r>
          </a:p>
          <a:p>
            <a:pPr algn="l">
              <a:lnSpc>
                <a:spcPts val="2251"/>
              </a:lnSpc>
            </a:pPr>
            <a:r>
              <a:rPr lang="en-US" sz="1459" spc="7">
                <a:solidFill>
                  <a:srgbClr val="000000"/>
                </a:solidFill>
                <a:latin typeface="Montserrat"/>
                <a:ea typeface="Montserrat"/>
                <a:cs typeface="Montserrat"/>
                <a:sym typeface="Montserrat"/>
              </a:rPr>
              <a:t>[3m43s] WARNING! VBAT is too low: 3.5 V! </a:t>
            </a:r>
          </a:p>
        </p:txBody>
      </p:sp>
      <p:sp>
        <p:nvSpPr>
          <p:cNvPr id="12" name="TextBox 12"/>
          <p:cNvSpPr txBox="1"/>
          <p:nvPr/>
        </p:nvSpPr>
        <p:spPr>
          <a:xfrm>
            <a:off x="7253183" y="2513914"/>
            <a:ext cx="2376478" cy="842867"/>
          </a:xfrm>
          <a:prstGeom prst="rect">
            <a:avLst/>
          </a:prstGeom>
        </p:spPr>
        <p:txBody>
          <a:bodyPr lIns="0" tIns="0" rIns="0" bIns="0" rtlCol="0" anchor="t">
            <a:spAutoFit/>
          </a:bodyPr>
          <a:lstStyle/>
          <a:p>
            <a:pPr algn="l">
              <a:lnSpc>
                <a:spcPts val="2251"/>
              </a:lnSpc>
            </a:pPr>
            <a:r>
              <a:rPr lang="en-US" sz="1459" spc="7">
                <a:solidFill>
                  <a:srgbClr val="000000"/>
                </a:solidFill>
                <a:latin typeface="Montserrat"/>
                <a:ea typeface="Montserrat"/>
                <a:cs typeface="Montserrat"/>
                <a:sym typeface="Montserrat"/>
              </a:rPr>
              <a:t>if no warnings are found</a:t>
            </a:r>
          </a:p>
          <a:p>
            <a:pPr algn="l">
              <a:lnSpc>
                <a:spcPts val="2251"/>
              </a:lnSpc>
            </a:pPr>
            <a:r>
              <a:rPr lang="en-US" sz="1459" spc="7">
                <a:solidFill>
                  <a:srgbClr val="000000"/>
                </a:solidFill>
                <a:latin typeface="Montserrat"/>
                <a:ea typeface="Montserrat"/>
                <a:cs typeface="Montserrat"/>
                <a:sym typeface="Montserrat"/>
              </a:rPr>
              <a:t>if temperature is too high</a:t>
            </a:r>
          </a:p>
          <a:p>
            <a:pPr algn="l">
              <a:lnSpc>
                <a:spcPts val="2251"/>
              </a:lnSpc>
            </a:pPr>
            <a:r>
              <a:rPr lang="en-US" sz="1459" spc="7">
                <a:solidFill>
                  <a:srgbClr val="000000"/>
                </a:solidFill>
                <a:latin typeface="Montserrat"/>
                <a:ea typeface="Montserrat"/>
                <a:cs typeface="Montserrat"/>
                <a:sym typeface="Montserrat"/>
              </a:rPr>
              <a:t>if battery is too low</a:t>
            </a:r>
          </a:p>
        </p:txBody>
      </p:sp>
      <p:sp>
        <p:nvSpPr>
          <p:cNvPr id="13" name="TextBox 13"/>
          <p:cNvSpPr txBox="1"/>
          <p:nvPr/>
        </p:nvSpPr>
        <p:spPr>
          <a:xfrm>
            <a:off x="1774688" y="3648332"/>
            <a:ext cx="7164000" cy="251879"/>
          </a:xfrm>
          <a:prstGeom prst="rect">
            <a:avLst/>
          </a:prstGeom>
        </p:spPr>
        <p:txBody>
          <a:bodyPr lIns="0" tIns="0" rIns="0" bIns="0" rtlCol="0" anchor="t">
            <a:spAutoFit/>
          </a:bodyPr>
          <a:lstStyle/>
          <a:p>
            <a:pPr algn="l">
              <a:lnSpc>
                <a:spcPts val="2043"/>
              </a:lnSpc>
            </a:pPr>
            <a:r>
              <a:rPr lang="en-US" sz="1459" spc="7">
                <a:solidFill>
                  <a:srgbClr val="000000"/>
                </a:solidFill>
                <a:latin typeface="Montserrat"/>
                <a:ea typeface="Montserrat"/>
                <a:cs typeface="Montserrat"/>
                <a:sym typeface="Montserrat"/>
              </a:rPr>
              <a:t>Now,inthesendAll() function include the STATUS of the satellite in two lines. </a:t>
            </a:r>
          </a:p>
        </p:txBody>
      </p:sp>
      <p:sp>
        <p:nvSpPr>
          <p:cNvPr id="14" name="TextBox 14"/>
          <p:cNvSpPr txBox="1"/>
          <p:nvPr/>
        </p:nvSpPr>
        <p:spPr>
          <a:xfrm>
            <a:off x="1774688" y="4182237"/>
            <a:ext cx="6870792" cy="533114"/>
          </a:xfrm>
          <a:prstGeom prst="rect">
            <a:avLst/>
          </a:prstGeom>
        </p:spPr>
        <p:txBody>
          <a:bodyPr lIns="0" tIns="0" rIns="0" bIns="0" rtlCol="0" anchor="t">
            <a:spAutoFit/>
          </a:bodyPr>
          <a:lstStyle/>
          <a:p>
            <a:pPr algn="l">
              <a:lnSpc>
                <a:spcPts val="2139"/>
              </a:lnSpc>
            </a:pPr>
            <a:r>
              <a:rPr lang="en-US" sz="1459" spc="7">
                <a:solidFill>
                  <a:srgbClr val="000000"/>
                </a:solidFill>
                <a:latin typeface="Montserrat"/>
                <a:ea typeface="Montserrat"/>
                <a:cs typeface="Montserrat"/>
                <a:sym typeface="Montserrat"/>
              </a:rPr>
              <a:t>[2m23s][Team Name] TEMPOBC | TEMPEPS = 24.20 deg | VBAT = 3.67 V | [2m23s][Team Name] STATUS = one_of_the_cases_above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50371" y="827532"/>
            <a:ext cx="10392661" cy="5901433"/>
          </a:xfrm>
          <a:custGeom>
            <a:avLst/>
            <a:gdLst/>
            <a:ahLst/>
            <a:cxnLst/>
            <a:rect l="l" t="t" r="r" b="b"/>
            <a:pathLst>
              <a:path w="10392661" h="5901433">
                <a:moveTo>
                  <a:pt x="0" y="0"/>
                </a:moveTo>
                <a:lnTo>
                  <a:pt x="10392661" y="0"/>
                </a:lnTo>
                <a:lnTo>
                  <a:pt x="10392661" y="5901433"/>
                </a:lnTo>
                <a:lnTo>
                  <a:pt x="0" y="5901433"/>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SG"/>
          </a:p>
        </p:txBody>
      </p:sp>
      <p:grpSp>
        <p:nvGrpSpPr>
          <p:cNvPr id="3" name="Group 3"/>
          <p:cNvGrpSpPr/>
          <p:nvPr/>
        </p:nvGrpSpPr>
        <p:grpSpPr>
          <a:xfrm rot="-5400000">
            <a:off x="55769" y="1405519"/>
            <a:ext cx="1230944" cy="545221"/>
            <a:chOff x="0" y="0"/>
            <a:chExt cx="1641259" cy="726961"/>
          </a:xfrm>
        </p:grpSpPr>
        <p:sp>
          <p:nvSpPr>
            <p:cNvPr id="4" name="Freeform 4"/>
            <p:cNvSpPr/>
            <p:nvPr/>
          </p:nvSpPr>
          <p:spPr>
            <a:xfrm>
              <a:off x="0" y="0"/>
              <a:ext cx="1641221" cy="726948"/>
            </a:xfrm>
            <a:custGeom>
              <a:avLst/>
              <a:gdLst/>
              <a:ahLst/>
              <a:cxnLst/>
              <a:rect l="l" t="t" r="r" b="b"/>
              <a:pathLst>
                <a:path w="1641221" h="726948">
                  <a:moveTo>
                    <a:pt x="0" y="0"/>
                  </a:moveTo>
                  <a:lnTo>
                    <a:pt x="1641221" y="0"/>
                  </a:lnTo>
                  <a:lnTo>
                    <a:pt x="1641221" y="726948"/>
                  </a:lnTo>
                  <a:lnTo>
                    <a:pt x="0" y="726948"/>
                  </a:lnTo>
                  <a:lnTo>
                    <a:pt x="0" y="0"/>
                  </a:lnTo>
                  <a:close/>
                </a:path>
              </a:pathLst>
            </a:custGeom>
            <a:blipFill>
              <a:blip r:embed="rId3"/>
              <a:stretch>
                <a:fillRect t="-54271" r="-2" b="-71512"/>
              </a:stretch>
            </a:blipFill>
          </p:spPr>
          <p:txBody>
            <a:bodyPr/>
            <a:lstStyle/>
            <a:p>
              <a:endParaRPr lang="en-SG"/>
            </a:p>
          </p:txBody>
        </p:sp>
      </p:grpSp>
      <p:sp>
        <p:nvSpPr>
          <p:cNvPr id="5" name="Freeform 5"/>
          <p:cNvSpPr/>
          <p:nvPr/>
        </p:nvSpPr>
        <p:spPr>
          <a:xfrm>
            <a:off x="387963" y="5061566"/>
            <a:ext cx="566557" cy="1416691"/>
          </a:xfrm>
          <a:custGeom>
            <a:avLst/>
            <a:gdLst/>
            <a:ahLst/>
            <a:cxnLst/>
            <a:rect l="l" t="t" r="r" b="b"/>
            <a:pathLst>
              <a:path w="566557" h="1416691">
                <a:moveTo>
                  <a:pt x="0" y="0"/>
                </a:moveTo>
                <a:lnTo>
                  <a:pt x="566556" y="0"/>
                </a:lnTo>
                <a:lnTo>
                  <a:pt x="566556" y="1416691"/>
                </a:lnTo>
                <a:lnTo>
                  <a:pt x="0" y="141669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SG"/>
          </a:p>
        </p:txBody>
      </p:sp>
      <p:grpSp>
        <p:nvGrpSpPr>
          <p:cNvPr id="6" name="Group 6"/>
          <p:cNvGrpSpPr/>
          <p:nvPr/>
        </p:nvGrpSpPr>
        <p:grpSpPr>
          <a:xfrm rot="-5400000">
            <a:off x="-37100" y="5486638"/>
            <a:ext cx="1416691" cy="566557"/>
            <a:chOff x="0" y="0"/>
            <a:chExt cx="1888922" cy="755409"/>
          </a:xfrm>
        </p:grpSpPr>
        <p:sp>
          <p:nvSpPr>
            <p:cNvPr id="7" name="Freeform 7"/>
            <p:cNvSpPr/>
            <p:nvPr/>
          </p:nvSpPr>
          <p:spPr>
            <a:xfrm>
              <a:off x="0" y="0"/>
              <a:ext cx="1888871" cy="755396"/>
            </a:xfrm>
            <a:custGeom>
              <a:avLst/>
              <a:gdLst/>
              <a:ahLst/>
              <a:cxnLst/>
              <a:rect l="l" t="t" r="r" b="b"/>
              <a:pathLst>
                <a:path w="1888871" h="755396">
                  <a:moveTo>
                    <a:pt x="0" y="0"/>
                  </a:moveTo>
                  <a:lnTo>
                    <a:pt x="1888871" y="0"/>
                  </a:lnTo>
                  <a:lnTo>
                    <a:pt x="1888871" y="755396"/>
                  </a:lnTo>
                  <a:lnTo>
                    <a:pt x="0" y="755396"/>
                  </a:lnTo>
                  <a:lnTo>
                    <a:pt x="0" y="0"/>
                  </a:lnTo>
                  <a:close/>
                </a:path>
              </a:pathLst>
            </a:custGeom>
            <a:blipFill>
              <a:blip r:embed="rId5"/>
              <a:stretch>
                <a:fillRect r="-2" b="-1"/>
              </a:stretch>
            </a:blipFill>
          </p:spPr>
          <p:txBody>
            <a:bodyPr/>
            <a:lstStyle/>
            <a:p>
              <a:endParaRPr lang="en-SG"/>
            </a:p>
          </p:txBody>
        </p:sp>
      </p:grpSp>
      <p:sp>
        <p:nvSpPr>
          <p:cNvPr id="8" name="Freeform 8"/>
          <p:cNvSpPr/>
          <p:nvPr/>
        </p:nvSpPr>
        <p:spPr>
          <a:xfrm>
            <a:off x="1678448" y="2191893"/>
            <a:ext cx="8274501" cy="3898125"/>
          </a:xfrm>
          <a:custGeom>
            <a:avLst/>
            <a:gdLst/>
            <a:ahLst/>
            <a:cxnLst/>
            <a:rect l="l" t="t" r="r" b="b"/>
            <a:pathLst>
              <a:path w="8274501" h="3898125">
                <a:moveTo>
                  <a:pt x="0" y="0"/>
                </a:moveTo>
                <a:lnTo>
                  <a:pt x="8274501" y="0"/>
                </a:lnTo>
                <a:lnTo>
                  <a:pt x="8274501" y="3898125"/>
                </a:lnTo>
                <a:lnTo>
                  <a:pt x="0" y="3898125"/>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SG"/>
          </a:p>
        </p:txBody>
      </p:sp>
      <p:sp>
        <p:nvSpPr>
          <p:cNvPr id="9" name="TextBox 9"/>
          <p:cNvSpPr txBox="1"/>
          <p:nvPr/>
        </p:nvSpPr>
        <p:spPr>
          <a:xfrm>
            <a:off x="1919402" y="2284905"/>
            <a:ext cx="114195" cy="247164"/>
          </a:xfrm>
          <a:prstGeom prst="rect">
            <a:avLst/>
          </a:prstGeom>
        </p:spPr>
        <p:txBody>
          <a:bodyPr lIns="0" tIns="0" rIns="0" bIns="0" rtlCol="0" anchor="t">
            <a:spAutoFit/>
          </a:bodyPr>
          <a:lstStyle/>
          <a:p>
            <a:pPr algn="l">
              <a:lnSpc>
                <a:spcPts val="2043"/>
              </a:lnSpc>
            </a:pPr>
            <a:r>
              <a:rPr lang="en-US" sz="1459" spc="7">
                <a:solidFill>
                  <a:srgbClr val="000000"/>
                </a:solidFill>
                <a:latin typeface="Montserrat"/>
                <a:ea typeface="Montserrat"/>
                <a:cs typeface="Montserrat"/>
                <a:sym typeface="Montserrat"/>
              </a:rPr>
              <a:t>●</a:t>
            </a:r>
          </a:p>
        </p:txBody>
      </p:sp>
      <p:sp>
        <p:nvSpPr>
          <p:cNvPr id="10" name="TextBox 10"/>
          <p:cNvSpPr txBox="1"/>
          <p:nvPr/>
        </p:nvSpPr>
        <p:spPr>
          <a:xfrm>
            <a:off x="1774688" y="4463482"/>
            <a:ext cx="5374072" cy="252803"/>
          </a:xfrm>
          <a:prstGeom prst="rect">
            <a:avLst/>
          </a:prstGeom>
        </p:spPr>
        <p:txBody>
          <a:bodyPr lIns="0" tIns="0" rIns="0" bIns="0" rtlCol="0" anchor="t">
            <a:spAutoFit/>
          </a:bodyPr>
          <a:lstStyle/>
          <a:p>
            <a:pPr algn="l">
              <a:lnSpc>
                <a:spcPts val="2043"/>
              </a:lnSpc>
            </a:pPr>
            <a:r>
              <a:rPr lang="en-US" sz="1459" spc="7">
                <a:solidFill>
                  <a:srgbClr val="000000"/>
                </a:solidFill>
                <a:latin typeface="Montserrat"/>
                <a:ea typeface="Montserrat"/>
                <a:cs typeface="Montserrat"/>
                <a:sym typeface="Montserrat"/>
              </a:rPr>
              <a:t>When you are done SAVE YOUR SKETCH AS OBC_DAY5!</a:t>
            </a:r>
          </a:p>
        </p:txBody>
      </p:sp>
      <p:sp>
        <p:nvSpPr>
          <p:cNvPr id="11" name="TextBox 11"/>
          <p:cNvSpPr txBox="1"/>
          <p:nvPr/>
        </p:nvSpPr>
        <p:spPr>
          <a:xfrm>
            <a:off x="2287972" y="2242204"/>
            <a:ext cx="7721327" cy="842877"/>
          </a:xfrm>
          <a:prstGeom prst="rect">
            <a:avLst/>
          </a:prstGeom>
        </p:spPr>
        <p:txBody>
          <a:bodyPr lIns="0" tIns="0" rIns="0" bIns="0" rtlCol="0" anchor="t">
            <a:spAutoFit/>
          </a:bodyPr>
          <a:lstStyle/>
          <a:p>
            <a:pPr algn="l">
              <a:lnSpc>
                <a:spcPts val="2251"/>
              </a:lnSpc>
            </a:pPr>
            <a:r>
              <a:rPr lang="en-US" sz="1459" spc="7">
                <a:solidFill>
                  <a:srgbClr val="000000"/>
                </a:solidFill>
                <a:latin typeface="Montserrat"/>
                <a:ea typeface="Montserrat"/>
                <a:cs typeface="Montserrat"/>
                <a:sym typeface="Montserrat"/>
              </a:rPr>
              <a:t>Implement a code to monitor the STATUS so that, even when we don't explicitly request 'ALL' or 'STATUS,' if the satellite detects a warning, it will send a message to the ground station via LoRa.</a:t>
            </a:r>
          </a:p>
        </p:txBody>
      </p:sp>
      <p:sp>
        <p:nvSpPr>
          <p:cNvPr id="12" name="TextBox 12"/>
          <p:cNvSpPr txBox="1"/>
          <p:nvPr/>
        </p:nvSpPr>
        <p:spPr>
          <a:xfrm>
            <a:off x="1774688" y="3376622"/>
            <a:ext cx="6127604" cy="251879"/>
          </a:xfrm>
          <a:prstGeom prst="rect">
            <a:avLst/>
          </a:prstGeom>
        </p:spPr>
        <p:txBody>
          <a:bodyPr lIns="0" tIns="0" rIns="0" bIns="0" rtlCol="0" anchor="t">
            <a:spAutoFit/>
          </a:bodyPr>
          <a:lstStyle/>
          <a:p>
            <a:pPr algn="l">
              <a:lnSpc>
                <a:spcPts val="2043"/>
              </a:lnSpc>
            </a:pPr>
            <a:r>
              <a:rPr lang="en-US" sz="1459" spc="7">
                <a:solidFill>
                  <a:srgbClr val="000000"/>
                </a:solidFill>
                <a:latin typeface="Montserrat"/>
                <a:ea typeface="Montserrat"/>
                <a:cs typeface="Montserrat"/>
                <a:sym typeface="Montserrat"/>
              </a:rPr>
              <a:t>[6m 15s] [Team Name] STATUS = WARNING! VBAT is too low: 3.5 V!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3503" y="709165"/>
            <a:ext cx="10819381" cy="6142225"/>
            <a:chOff x="0" y="0"/>
            <a:chExt cx="10819384" cy="6142228"/>
          </a:xfrm>
        </p:grpSpPr>
        <p:sp>
          <p:nvSpPr>
            <p:cNvPr id="3" name="Freeform 3"/>
            <p:cNvSpPr/>
            <p:nvPr/>
          </p:nvSpPr>
          <p:spPr>
            <a:xfrm>
              <a:off x="63500" y="63500"/>
              <a:ext cx="10692383" cy="6015229"/>
            </a:xfrm>
            <a:custGeom>
              <a:avLst/>
              <a:gdLst/>
              <a:ahLst/>
              <a:cxnLst/>
              <a:rect l="l" t="t" r="r" b="b"/>
              <a:pathLst>
                <a:path w="10692383" h="6015229">
                  <a:moveTo>
                    <a:pt x="0" y="0"/>
                  </a:moveTo>
                  <a:lnTo>
                    <a:pt x="10692383" y="0"/>
                  </a:lnTo>
                  <a:lnTo>
                    <a:pt x="10692383" y="6015229"/>
                  </a:lnTo>
                  <a:lnTo>
                    <a:pt x="0" y="6015229"/>
                  </a:lnTo>
                  <a:close/>
                </a:path>
              </a:pathLst>
            </a:custGeom>
            <a:solidFill>
              <a:srgbClr val="FFFFFF"/>
            </a:solidFill>
          </p:spPr>
          <p:txBody>
            <a:bodyPr/>
            <a:lstStyle/>
            <a:p>
              <a:endParaRPr/>
            </a:p>
          </p:txBody>
        </p:sp>
        <p:sp>
          <p:nvSpPr>
            <p:cNvPr id="4" name="Freeform 4"/>
            <p:cNvSpPr/>
            <p:nvPr/>
          </p:nvSpPr>
          <p:spPr>
            <a:xfrm>
              <a:off x="63500" y="63500"/>
              <a:ext cx="954024" cy="6015229"/>
            </a:xfrm>
            <a:custGeom>
              <a:avLst/>
              <a:gdLst/>
              <a:ahLst/>
              <a:cxnLst/>
              <a:rect l="l" t="t" r="r" b="b"/>
              <a:pathLst>
                <a:path w="954024" h="6015229">
                  <a:moveTo>
                    <a:pt x="0" y="0"/>
                  </a:moveTo>
                  <a:lnTo>
                    <a:pt x="954024" y="0"/>
                  </a:lnTo>
                  <a:lnTo>
                    <a:pt x="954024" y="6015229"/>
                  </a:lnTo>
                  <a:lnTo>
                    <a:pt x="0" y="6015229"/>
                  </a:lnTo>
                  <a:close/>
                </a:path>
              </a:pathLst>
            </a:custGeom>
            <a:solidFill>
              <a:srgbClr val="000000"/>
            </a:solidFill>
          </p:spPr>
          <p:txBody>
            <a:bodyPr/>
            <a:lstStyle/>
            <a:p>
              <a:endParaRPr/>
            </a:p>
          </p:txBody>
        </p:sp>
      </p:grpSp>
      <p:grpSp>
        <p:nvGrpSpPr>
          <p:cNvPr id="5" name="Group 5"/>
          <p:cNvGrpSpPr/>
          <p:nvPr/>
        </p:nvGrpSpPr>
        <p:grpSpPr>
          <a:xfrm>
            <a:off x="192024" y="950976"/>
            <a:ext cx="568452" cy="1284732"/>
            <a:chOff x="0" y="0"/>
            <a:chExt cx="757936" cy="1712976"/>
          </a:xfrm>
        </p:grpSpPr>
        <p:sp>
          <p:nvSpPr>
            <p:cNvPr id="6" name="Freeform 6"/>
            <p:cNvSpPr/>
            <p:nvPr/>
          </p:nvSpPr>
          <p:spPr>
            <a:xfrm>
              <a:off x="0" y="0"/>
              <a:ext cx="757936" cy="1712976"/>
            </a:xfrm>
            <a:custGeom>
              <a:avLst/>
              <a:gdLst/>
              <a:ahLst/>
              <a:cxnLst/>
              <a:rect l="l" t="t" r="r" b="b"/>
              <a:pathLst>
                <a:path w="757936" h="1712976">
                  <a:moveTo>
                    <a:pt x="0" y="0"/>
                  </a:moveTo>
                  <a:lnTo>
                    <a:pt x="757936" y="0"/>
                  </a:lnTo>
                  <a:lnTo>
                    <a:pt x="757936" y="1712976"/>
                  </a:lnTo>
                  <a:lnTo>
                    <a:pt x="0" y="1712976"/>
                  </a:lnTo>
                  <a:lnTo>
                    <a:pt x="0" y="0"/>
                  </a:lnTo>
                  <a:close/>
                </a:path>
              </a:pathLst>
            </a:custGeom>
            <a:blipFill>
              <a:blip r:embed="rId2"/>
              <a:stretch>
                <a:fillRect l="-804" b="-237"/>
              </a:stretch>
            </a:blipFill>
          </p:spPr>
          <p:txBody>
            <a:bodyPr/>
            <a:lstStyle/>
            <a:p>
              <a:endParaRPr/>
            </a:p>
          </p:txBody>
        </p:sp>
      </p:grpSp>
      <p:grpSp>
        <p:nvGrpSpPr>
          <p:cNvPr id="7" name="Group 7"/>
          <p:cNvGrpSpPr/>
          <p:nvPr/>
        </p:nvGrpSpPr>
        <p:grpSpPr>
          <a:xfrm>
            <a:off x="179832" y="5116068"/>
            <a:ext cx="592836" cy="1478280"/>
            <a:chOff x="0" y="0"/>
            <a:chExt cx="790448" cy="1971040"/>
          </a:xfrm>
        </p:grpSpPr>
        <p:sp>
          <p:nvSpPr>
            <p:cNvPr id="8" name="Freeform 8"/>
            <p:cNvSpPr/>
            <p:nvPr/>
          </p:nvSpPr>
          <p:spPr>
            <a:xfrm>
              <a:off x="0" y="0"/>
              <a:ext cx="790448" cy="1971040"/>
            </a:xfrm>
            <a:custGeom>
              <a:avLst/>
              <a:gdLst/>
              <a:ahLst/>
              <a:cxnLst/>
              <a:rect l="l" t="t" r="r" b="b"/>
              <a:pathLst>
                <a:path w="790448" h="1971040">
                  <a:moveTo>
                    <a:pt x="0" y="0"/>
                  </a:moveTo>
                  <a:lnTo>
                    <a:pt x="790448" y="0"/>
                  </a:lnTo>
                  <a:lnTo>
                    <a:pt x="790448" y="1971040"/>
                  </a:lnTo>
                  <a:lnTo>
                    <a:pt x="0" y="1971040"/>
                  </a:lnTo>
                  <a:lnTo>
                    <a:pt x="0" y="0"/>
                  </a:lnTo>
                  <a:close/>
                </a:path>
              </a:pathLst>
            </a:custGeom>
            <a:blipFill>
              <a:blip r:embed="rId3"/>
              <a:stretch>
                <a:fillRect l="-514" b="-206"/>
              </a:stretch>
            </a:blipFill>
          </p:spPr>
          <p:txBody>
            <a:bodyPr/>
            <a:lstStyle/>
            <a:p>
              <a:endParaRPr/>
            </a:p>
          </p:txBody>
        </p:sp>
      </p:grpSp>
      <p:grpSp>
        <p:nvGrpSpPr>
          <p:cNvPr id="9" name="Group 9"/>
          <p:cNvGrpSpPr/>
          <p:nvPr/>
        </p:nvGrpSpPr>
        <p:grpSpPr>
          <a:xfrm>
            <a:off x="1821180" y="2961132"/>
            <a:ext cx="83820" cy="83820"/>
            <a:chOff x="0" y="0"/>
            <a:chExt cx="83820" cy="83820"/>
          </a:xfrm>
        </p:grpSpPr>
        <p:sp>
          <p:nvSpPr>
            <p:cNvPr id="10" name="Freeform 10"/>
            <p:cNvSpPr/>
            <p:nvPr/>
          </p:nvSpPr>
          <p:spPr>
            <a:xfrm>
              <a:off x="0" y="0"/>
              <a:ext cx="83820" cy="83820"/>
            </a:xfrm>
            <a:custGeom>
              <a:avLst/>
              <a:gdLst/>
              <a:ahLst/>
              <a:cxnLst/>
              <a:rect l="l" t="t" r="r" b="b"/>
              <a:pathLst>
                <a:path w="83820" h="83820">
                  <a:moveTo>
                    <a:pt x="21336" y="4572"/>
                  </a:moveTo>
                  <a:cubicBezTo>
                    <a:pt x="13716" y="9144"/>
                    <a:pt x="9144" y="13716"/>
                    <a:pt x="4572" y="21336"/>
                  </a:cubicBezTo>
                  <a:cubicBezTo>
                    <a:pt x="1524" y="27432"/>
                    <a:pt x="0" y="35052"/>
                    <a:pt x="0" y="41148"/>
                  </a:cubicBezTo>
                  <a:cubicBezTo>
                    <a:pt x="0" y="53340"/>
                    <a:pt x="3048" y="62484"/>
                    <a:pt x="12192" y="71628"/>
                  </a:cubicBezTo>
                  <a:cubicBezTo>
                    <a:pt x="19812" y="79248"/>
                    <a:pt x="28956" y="83820"/>
                    <a:pt x="41148" y="83820"/>
                  </a:cubicBezTo>
                  <a:cubicBezTo>
                    <a:pt x="53340" y="83820"/>
                    <a:pt x="62484" y="79248"/>
                    <a:pt x="70104" y="71628"/>
                  </a:cubicBezTo>
                  <a:cubicBezTo>
                    <a:pt x="79248" y="62484"/>
                    <a:pt x="83820" y="53340"/>
                    <a:pt x="83820" y="41148"/>
                  </a:cubicBezTo>
                  <a:cubicBezTo>
                    <a:pt x="83820" y="35052"/>
                    <a:pt x="80772" y="27432"/>
                    <a:pt x="77724" y="21336"/>
                  </a:cubicBezTo>
                  <a:cubicBezTo>
                    <a:pt x="73152" y="13716"/>
                    <a:pt x="68580" y="9144"/>
                    <a:pt x="62484" y="4572"/>
                  </a:cubicBezTo>
                  <a:cubicBezTo>
                    <a:pt x="54864" y="1524"/>
                    <a:pt x="48768" y="0"/>
                    <a:pt x="41148" y="0"/>
                  </a:cubicBezTo>
                  <a:cubicBezTo>
                    <a:pt x="33528" y="0"/>
                    <a:pt x="27432" y="1524"/>
                    <a:pt x="21336" y="4572"/>
                  </a:cubicBezTo>
                  <a:close/>
                </a:path>
              </a:pathLst>
            </a:custGeom>
            <a:solidFill>
              <a:srgbClr val="000000"/>
            </a:solidFill>
          </p:spPr>
          <p:txBody>
            <a:bodyPr/>
            <a:lstStyle/>
            <a:p>
              <a:endParaRPr/>
            </a:p>
          </p:txBody>
        </p:sp>
      </p:grpSp>
      <p:grpSp>
        <p:nvGrpSpPr>
          <p:cNvPr id="11" name="Group 11"/>
          <p:cNvGrpSpPr/>
          <p:nvPr/>
        </p:nvGrpSpPr>
        <p:grpSpPr>
          <a:xfrm>
            <a:off x="1821180" y="3261360"/>
            <a:ext cx="83820" cy="83820"/>
            <a:chOff x="0" y="0"/>
            <a:chExt cx="83820" cy="83820"/>
          </a:xfrm>
        </p:grpSpPr>
        <p:sp>
          <p:nvSpPr>
            <p:cNvPr id="12" name="Freeform 12"/>
            <p:cNvSpPr/>
            <p:nvPr/>
          </p:nvSpPr>
          <p:spPr>
            <a:xfrm>
              <a:off x="0" y="0"/>
              <a:ext cx="83820" cy="83820"/>
            </a:xfrm>
            <a:custGeom>
              <a:avLst/>
              <a:gdLst/>
              <a:ahLst/>
              <a:cxnLst/>
              <a:rect l="l" t="t" r="r" b="b"/>
              <a:pathLst>
                <a:path w="83820" h="83820">
                  <a:moveTo>
                    <a:pt x="21336" y="4572"/>
                  </a:moveTo>
                  <a:cubicBezTo>
                    <a:pt x="13716" y="9144"/>
                    <a:pt x="9144" y="13716"/>
                    <a:pt x="4572" y="19812"/>
                  </a:cubicBezTo>
                  <a:cubicBezTo>
                    <a:pt x="1524" y="27432"/>
                    <a:pt x="0" y="33528"/>
                    <a:pt x="0" y="41148"/>
                  </a:cubicBezTo>
                  <a:cubicBezTo>
                    <a:pt x="0" y="53340"/>
                    <a:pt x="3048" y="62484"/>
                    <a:pt x="12192" y="71628"/>
                  </a:cubicBezTo>
                  <a:cubicBezTo>
                    <a:pt x="19812" y="79248"/>
                    <a:pt x="28956" y="83820"/>
                    <a:pt x="41148" y="83820"/>
                  </a:cubicBezTo>
                  <a:cubicBezTo>
                    <a:pt x="53340" y="83820"/>
                    <a:pt x="62484" y="79248"/>
                    <a:pt x="70104" y="71628"/>
                  </a:cubicBezTo>
                  <a:cubicBezTo>
                    <a:pt x="79248" y="62484"/>
                    <a:pt x="83820" y="53340"/>
                    <a:pt x="83820" y="41148"/>
                  </a:cubicBezTo>
                  <a:cubicBezTo>
                    <a:pt x="83820" y="33528"/>
                    <a:pt x="80772" y="27432"/>
                    <a:pt x="77724" y="19812"/>
                  </a:cubicBezTo>
                  <a:cubicBezTo>
                    <a:pt x="73152" y="13716"/>
                    <a:pt x="68580" y="9144"/>
                    <a:pt x="62484" y="4572"/>
                  </a:cubicBezTo>
                  <a:cubicBezTo>
                    <a:pt x="54864" y="1524"/>
                    <a:pt x="48768" y="0"/>
                    <a:pt x="41148" y="0"/>
                  </a:cubicBezTo>
                  <a:cubicBezTo>
                    <a:pt x="33528" y="0"/>
                    <a:pt x="27432" y="1524"/>
                    <a:pt x="21336" y="4572"/>
                  </a:cubicBezTo>
                  <a:close/>
                </a:path>
              </a:pathLst>
            </a:custGeom>
            <a:solidFill>
              <a:srgbClr val="000000"/>
            </a:solidFill>
          </p:spPr>
          <p:txBody>
            <a:bodyPr/>
            <a:lstStyle/>
            <a:p>
              <a:endParaRPr/>
            </a:p>
          </p:txBody>
        </p:sp>
      </p:grpSp>
      <p:grpSp>
        <p:nvGrpSpPr>
          <p:cNvPr id="13" name="Group 13"/>
          <p:cNvGrpSpPr/>
          <p:nvPr/>
        </p:nvGrpSpPr>
        <p:grpSpPr>
          <a:xfrm>
            <a:off x="1821180" y="3560064"/>
            <a:ext cx="83820" cy="83820"/>
            <a:chOff x="0" y="0"/>
            <a:chExt cx="83820" cy="83820"/>
          </a:xfrm>
        </p:grpSpPr>
        <p:sp>
          <p:nvSpPr>
            <p:cNvPr id="14" name="Freeform 14"/>
            <p:cNvSpPr/>
            <p:nvPr/>
          </p:nvSpPr>
          <p:spPr>
            <a:xfrm>
              <a:off x="0" y="0"/>
              <a:ext cx="83820" cy="83820"/>
            </a:xfrm>
            <a:custGeom>
              <a:avLst/>
              <a:gdLst/>
              <a:ahLst/>
              <a:cxnLst/>
              <a:rect l="l" t="t" r="r" b="b"/>
              <a:pathLst>
                <a:path w="83820" h="83820">
                  <a:moveTo>
                    <a:pt x="21336" y="6096"/>
                  </a:moveTo>
                  <a:cubicBezTo>
                    <a:pt x="13716" y="9144"/>
                    <a:pt x="9144" y="13716"/>
                    <a:pt x="4572" y="21336"/>
                  </a:cubicBezTo>
                  <a:cubicBezTo>
                    <a:pt x="1524" y="27432"/>
                    <a:pt x="0" y="35052"/>
                    <a:pt x="0" y="42672"/>
                  </a:cubicBezTo>
                  <a:cubicBezTo>
                    <a:pt x="0" y="53340"/>
                    <a:pt x="3048" y="64008"/>
                    <a:pt x="12192" y="71628"/>
                  </a:cubicBezTo>
                  <a:cubicBezTo>
                    <a:pt x="19812" y="79248"/>
                    <a:pt x="28956" y="83820"/>
                    <a:pt x="41148" y="83820"/>
                  </a:cubicBezTo>
                  <a:cubicBezTo>
                    <a:pt x="53340" y="83820"/>
                    <a:pt x="62484" y="79248"/>
                    <a:pt x="70104" y="71628"/>
                  </a:cubicBezTo>
                  <a:cubicBezTo>
                    <a:pt x="79248" y="64008"/>
                    <a:pt x="83820" y="53340"/>
                    <a:pt x="83820" y="42672"/>
                  </a:cubicBezTo>
                  <a:cubicBezTo>
                    <a:pt x="83820" y="35052"/>
                    <a:pt x="80772" y="27432"/>
                    <a:pt x="77724" y="21336"/>
                  </a:cubicBezTo>
                  <a:cubicBezTo>
                    <a:pt x="73152" y="13716"/>
                    <a:pt x="68580" y="9144"/>
                    <a:pt x="62484" y="6096"/>
                  </a:cubicBezTo>
                  <a:cubicBezTo>
                    <a:pt x="54864" y="1524"/>
                    <a:pt x="48768" y="0"/>
                    <a:pt x="41148" y="0"/>
                  </a:cubicBezTo>
                  <a:cubicBezTo>
                    <a:pt x="33528" y="0"/>
                    <a:pt x="27432" y="1524"/>
                    <a:pt x="21336" y="6096"/>
                  </a:cubicBezTo>
                  <a:close/>
                </a:path>
              </a:pathLst>
            </a:custGeom>
            <a:solidFill>
              <a:srgbClr val="000000"/>
            </a:solidFill>
          </p:spPr>
          <p:txBody>
            <a:bodyPr/>
            <a:lstStyle/>
            <a:p>
              <a:endParaRPr/>
            </a:p>
          </p:txBody>
        </p:sp>
      </p:grpSp>
      <p:sp>
        <p:nvSpPr>
          <p:cNvPr id="15" name="Freeform 15"/>
          <p:cNvSpPr/>
          <p:nvPr/>
        </p:nvSpPr>
        <p:spPr>
          <a:xfrm>
            <a:off x="2114293" y="3447793"/>
            <a:ext cx="7663177" cy="311401"/>
          </a:xfrm>
          <a:custGeom>
            <a:avLst/>
            <a:gdLst/>
            <a:ahLst/>
            <a:cxnLst/>
            <a:rect l="l" t="t" r="r" b="b"/>
            <a:pathLst>
              <a:path w="7663177" h="311401">
                <a:moveTo>
                  <a:pt x="0" y="0"/>
                </a:moveTo>
                <a:lnTo>
                  <a:pt x="7663177" y="0"/>
                </a:lnTo>
                <a:lnTo>
                  <a:pt x="7663177" y="311401"/>
                </a:lnTo>
                <a:lnTo>
                  <a:pt x="0" y="31140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a:p>
        </p:txBody>
      </p:sp>
      <p:grpSp>
        <p:nvGrpSpPr>
          <p:cNvPr id="16" name="Group 16"/>
          <p:cNvGrpSpPr/>
          <p:nvPr/>
        </p:nvGrpSpPr>
        <p:grpSpPr>
          <a:xfrm>
            <a:off x="2343912" y="4081272"/>
            <a:ext cx="6775704" cy="118872"/>
            <a:chOff x="0" y="0"/>
            <a:chExt cx="9034272" cy="158496"/>
          </a:xfrm>
        </p:grpSpPr>
        <p:sp>
          <p:nvSpPr>
            <p:cNvPr id="17" name="Freeform 17"/>
            <p:cNvSpPr/>
            <p:nvPr/>
          </p:nvSpPr>
          <p:spPr>
            <a:xfrm>
              <a:off x="0" y="0"/>
              <a:ext cx="9034272" cy="158496"/>
            </a:xfrm>
            <a:custGeom>
              <a:avLst/>
              <a:gdLst/>
              <a:ahLst/>
              <a:cxnLst/>
              <a:rect l="l" t="t" r="r" b="b"/>
              <a:pathLst>
                <a:path w="9034272" h="158496">
                  <a:moveTo>
                    <a:pt x="0" y="0"/>
                  </a:moveTo>
                  <a:lnTo>
                    <a:pt x="9034272" y="0"/>
                  </a:lnTo>
                  <a:lnTo>
                    <a:pt x="9034272" y="158496"/>
                  </a:lnTo>
                  <a:lnTo>
                    <a:pt x="0" y="158496"/>
                  </a:lnTo>
                  <a:lnTo>
                    <a:pt x="0" y="0"/>
                  </a:lnTo>
                  <a:close/>
                </a:path>
              </a:pathLst>
            </a:custGeom>
            <a:blipFill>
              <a:blip r:embed="rId5"/>
              <a:stretch>
                <a:fillRect/>
              </a:stretch>
            </a:blipFill>
          </p:spPr>
          <p:txBody>
            <a:bodyPr/>
            <a:lstStyle/>
            <a:p>
              <a:endParaRPr/>
            </a:p>
          </p:txBody>
        </p:sp>
      </p:grpSp>
      <p:grpSp>
        <p:nvGrpSpPr>
          <p:cNvPr id="18" name="Group 18"/>
          <p:cNvGrpSpPr/>
          <p:nvPr/>
        </p:nvGrpSpPr>
        <p:grpSpPr>
          <a:xfrm>
            <a:off x="2343912" y="4197096"/>
            <a:ext cx="6775704" cy="2453640"/>
            <a:chOff x="0" y="0"/>
            <a:chExt cx="9034272" cy="3271520"/>
          </a:xfrm>
        </p:grpSpPr>
        <p:sp>
          <p:nvSpPr>
            <p:cNvPr id="19" name="Freeform 19"/>
            <p:cNvSpPr/>
            <p:nvPr/>
          </p:nvSpPr>
          <p:spPr>
            <a:xfrm>
              <a:off x="0" y="0"/>
              <a:ext cx="9034272" cy="3271520"/>
            </a:xfrm>
            <a:custGeom>
              <a:avLst/>
              <a:gdLst/>
              <a:ahLst/>
              <a:cxnLst/>
              <a:rect l="l" t="t" r="r" b="b"/>
              <a:pathLst>
                <a:path w="9034272" h="3271520">
                  <a:moveTo>
                    <a:pt x="0" y="0"/>
                  </a:moveTo>
                  <a:lnTo>
                    <a:pt x="9034272" y="0"/>
                  </a:lnTo>
                  <a:lnTo>
                    <a:pt x="9034272" y="3271520"/>
                  </a:lnTo>
                  <a:lnTo>
                    <a:pt x="0" y="3271520"/>
                  </a:lnTo>
                  <a:lnTo>
                    <a:pt x="0" y="0"/>
                  </a:lnTo>
                  <a:close/>
                </a:path>
              </a:pathLst>
            </a:custGeom>
            <a:blipFill>
              <a:blip r:embed="rId6"/>
              <a:stretch>
                <a:fillRect/>
              </a:stretch>
            </a:blipFill>
          </p:spPr>
          <p:txBody>
            <a:bodyPr/>
            <a:lstStyle/>
            <a:p>
              <a:endParaRPr/>
            </a:p>
          </p:txBody>
        </p:sp>
      </p:grpSp>
      <p:sp>
        <p:nvSpPr>
          <p:cNvPr id="20" name="TextBox 20"/>
          <p:cNvSpPr txBox="1"/>
          <p:nvPr/>
        </p:nvSpPr>
        <p:spPr>
          <a:xfrm>
            <a:off x="1632204" y="1286494"/>
            <a:ext cx="5120640" cy="1518904"/>
          </a:xfrm>
          <a:prstGeom prst="rect">
            <a:avLst/>
          </a:prstGeom>
        </p:spPr>
        <p:txBody>
          <a:bodyPr wrap="square" lIns="0" tIns="0" rIns="0" bIns="0" rtlCol="0" anchor="t">
            <a:spAutoFit/>
          </a:bodyPr>
          <a:lstStyle/>
          <a:p>
            <a:pPr algn="l">
              <a:lnSpc>
                <a:spcPts val="4764"/>
              </a:lnSpc>
            </a:pPr>
            <a:r>
              <a:rPr lang="en-US" sz="3048">
                <a:solidFill>
                  <a:srgbClr val="2C2C2C"/>
                </a:solidFill>
                <a:latin typeface="Montserrat"/>
                <a:ea typeface="Montserrat"/>
                <a:cs typeface="Montserrat"/>
                <a:sym typeface="Montserrat"/>
              </a:rPr>
              <a:t>Taking a picture</a:t>
            </a:r>
          </a:p>
          <a:p>
            <a:pPr algn="l">
              <a:lnSpc>
                <a:spcPts val="2363"/>
              </a:lnSpc>
            </a:pPr>
            <a:r>
              <a:rPr lang="en-US" sz="1512" spc="-7">
                <a:solidFill>
                  <a:srgbClr val="000000"/>
                </a:solidFill>
                <a:latin typeface="Montserrat"/>
                <a:ea typeface="Montserrat"/>
                <a:cs typeface="Montserrat"/>
                <a:sym typeface="Montserrat"/>
              </a:rPr>
              <a:t>The satellite has a serial camera module called Adafruit VC0706.</a:t>
            </a:r>
          </a:p>
          <a:p>
            <a:pPr algn="l">
              <a:lnSpc>
                <a:spcPts val="2363"/>
              </a:lnSpc>
            </a:pPr>
            <a:r>
              <a:rPr lang="en-US" sz="1512" spc="-7">
                <a:solidFill>
                  <a:srgbClr val="000000"/>
                </a:solidFill>
                <a:latin typeface="Montserrat"/>
                <a:ea typeface="Montserrat"/>
                <a:cs typeface="Montserrat"/>
                <a:sym typeface="Montserrat"/>
              </a:rPr>
              <a:t>By referring to its online documentation:</a:t>
            </a:r>
          </a:p>
        </p:txBody>
      </p:sp>
      <p:sp>
        <p:nvSpPr>
          <p:cNvPr id="21" name="TextBox 21"/>
          <p:cNvSpPr txBox="1"/>
          <p:nvPr/>
        </p:nvSpPr>
        <p:spPr>
          <a:xfrm>
            <a:off x="2167185" y="3730590"/>
            <a:ext cx="3136182" cy="269443"/>
          </a:xfrm>
          <a:prstGeom prst="rect">
            <a:avLst/>
          </a:prstGeom>
        </p:spPr>
        <p:txBody>
          <a:bodyPr lIns="0" tIns="0" rIns="0" bIns="0" rtlCol="0" anchor="t">
            <a:spAutoFit/>
          </a:bodyPr>
          <a:lstStyle/>
          <a:p>
            <a:pPr algn="l">
              <a:lnSpc>
                <a:spcPts val="2116"/>
              </a:lnSpc>
            </a:pPr>
            <a:r>
              <a:rPr lang="en-US" sz="1512" spc="-9">
                <a:solidFill>
                  <a:srgbClr val="000000"/>
                </a:solidFill>
                <a:latin typeface="Montserrat"/>
                <a:ea typeface="Montserrat"/>
                <a:cs typeface="Montserrat"/>
                <a:sym typeface="Montserrat"/>
              </a:rPr>
              <a:t>will see how to convert it to JPG!</a:t>
            </a:r>
          </a:p>
        </p:txBody>
      </p:sp>
      <p:sp>
        <p:nvSpPr>
          <p:cNvPr id="22" name="TextBox 22"/>
          <p:cNvSpPr txBox="1"/>
          <p:nvPr/>
        </p:nvSpPr>
        <p:spPr>
          <a:xfrm>
            <a:off x="2167185" y="2815552"/>
            <a:ext cx="7717060" cy="588626"/>
          </a:xfrm>
          <a:prstGeom prst="rect">
            <a:avLst/>
          </a:prstGeom>
        </p:spPr>
        <p:txBody>
          <a:bodyPr lIns="0" tIns="0" rIns="0" bIns="0" rtlCol="0" anchor="t">
            <a:spAutoFit/>
          </a:bodyPr>
          <a:lstStyle/>
          <a:p>
            <a:pPr algn="l">
              <a:lnSpc>
                <a:spcPts val="2363"/>
              </a:lnSpc>
            </a:pPr>
            <a:r>
              <a:rPr lang="en-US" sz="1512" spc="-7">
                <a:solidFill>
                  <a:srgbClr val="000000"/>
                </a:solidFill>
                <a:latin typeface="Montserrat"/>
                <a:ea typeface="Montserrat"/>
                <a:cs typeface="Montserrat"/>
                <a:sym typeface="Montserrat"/>
              </a:rPr>
              <a:t>Create a new sketch.</a:t>
            </a:r>
          </a:p>
          <a:p>
            <a:pPr algn="l">
              <a:lnSpc>
                <a:spcPts val="2363"/>
              </a:lnSpc>
            </a:pPr>
            <a:r>
              <a:rPr lang="en-US" sz="1512" spc="-7">
                <a:solidFill>
                  <a:srgbClr val="000000"/>
                </a:solidFill>
                <a:latin typeface="Montserrat"/>
                <a:ea typeface="Montserrat"/>
                <a:cs typeface="Montserrat"/>
                <a:sym typeface="Montserrat"/>
              </a:rPr>
              <a:t>Refer to the OBC schematics to understand the camera connection to Arduino.</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3503" y="709165"/>
            <a:ext cx="10819381" cy="6142225"/>
            <a:chOff x="0" y="0"/>
            <a:chExt cx="10819384" cy="6142228"/>
          </a:xfrm>
        </p:grpSpPr>
        <p:sp>
          <p:nvSpPr>
            <p:cNvPr id="3" name="Freeform 3"/>
            <p:cNvSpPr/>
            <p:nvPr/>
          </p:nvSpPr>
          <p:spPr>
            <a:xfrm>
              <a:off x="63500" y="63500"/>
              <a:ext cx="10692383" cy="6015229"/>
            </a:xfrm>
            <a:custGeom>
              <a:avLst/>
              <a:gdLst/>
              <a:ahLst/>
              <a:cxnLst/>
              <a:rect l="l" t="t" r="r" b="b"/>
              <a:pathLst>
                <a:path w="10692383" h="6015229">
                  <a:moveTo>
                    <a:pt x="0" y="0"/>
                  </a:moveTo>
                  <a:lnTo>
                    <a:pt x="10692383" y="0"/>
                  </a:lnTo>
                  <a:lnTo>
                    <a:pt x="10692383" y="6015229"/>
                  </a:lnTo>
                  <a:lnTo>
                    <a:pt x="0" y="6015229"/>
                  </a:lnTo>
                  <a:close/>
                </a:path>
              </a:pathLst>
            </a:custGeom>
            <a:solidFill>
              <a:srgbClr val="FFFFFF"/>
            </a:solidFill>
          </p:spPr>
          <p:txBody>
            <a:bodyPr/>
            <a:lstStyle/>
            <a:p>
              <a:endParaRPr lang="en-SG"/>
            </a:p>
          </p:txBody>
        </p:sp>
        <p:sp>
          <p:nvSpPr>
            <p:cNvPr id="4" name="Freeform 4"/>
            <p:cNvSpPr/>
            <p:nvPr/>
          </p:nvSpPr>
          <p:spPr>
            <a:xfrm>
              <a:off x="63500" y="63500"/>
              <a:ext cx="954024" cy="6015229"/>
            </a:xfrm>
            <a:custGeom>
              <a:avLst/>
              <a:gdLst/>
              <a:ahLst/>
              <a:cxnLst/>
              <a:rect l="l" t="t" r="r" b="b"/>
              <a:pathLst>
                <a:path w="954024" h="6015229">
                  <a:moveTo>
                    <a:pt x="0" y="0"/>
                  </a:moveTo>
                  <a:lnTo>
                    <a:pt x="954024" y="0"/>
                  </a:lnTo>
                  <a:lnTo>
                    <a:pt x="954024" y="6015229"/>
                  </a:lnTo>
                  <a:lnTo>
                    <a:pt x="0" y="6015229"/>
                  </a:lnTo>
                  <a:close/>
                </a:path>
              </a:pathLst>
            </a:custGeom>
            <a:solidFill>
              <a:srgbClr val="000000"/>
            </a:solidFill>
          </p:spPr>
          <p:txBody>
            <a:bodyPr/>
            <a:lstStyle/>
            <a:p>
              <a:endParaRPr lang="en-SG"/>
            </a:p>
          </p:txBody>
        </p:sp>
      </p:grpSp>
      <p:grpSp>
        <p:nvGrpSpPr>
          <p:cNvPr id="5" name="Group 5"/>
          <p:cNvGrpSpPr/>
          <p:nvPr/>
        </p:nvGrpSpPr>
        <p:grpSpPr>
          <a:xfrm>
            <a:off x="192024" y="950976"/>
            <a:ext cx="568452" cy="1284732"/>
            <a:chOff x="0" y="0"/>
            <a:chExt cx="757936" cy="1712976"/>
          </a:xfrm>
        </p:grpSpPr>
        <p:sp>
          <p:nvSpPr>
            <p:cNvPr id="6" name="Freeform 6"/>
            <p:cNvSpPr/>
            <p:nvPr/>
          </p:nvSpPr>
          <p:spPr>
            <a:xfrm>
              <a:off x="0" y="0"/>
              <a:ext cx="757936" cy="1712976"/>
            </a:xfrm>
            <a:custGeom>
              <a:avLst/>
              <a:gdLst/>
              <a:ahLst/>
              <a:cxnLst/>
              <a:rect l="l" t="t" r="r" b="b"/>
              <a:pathLst>
                <a:path w="757936" h="1712976">
                  <a:moveTo>
                    <a:pt x="0" y="0"/>
                  </a:moveTo>
                  <a:lnTo>
                    <a:pt x="757936" y="0"/>
                  </a:lnTo>
                  <a:lnTo>
                    <a:pt x="757936" y="1712976"/>
                  </a:lnTo>
                  <a:lnTo>
                    <a:pt x="0" y="1712976"/>
                  </a:lnTo>
                  <a:lnTo>
                    <a:pt x="0" y="0"/>
                  </a:lnTo>
                  <a:close/>
                </a:path>
              </a:pathLst>
            </a:custGeom>
            <a:blipFill>
              <a:blip r:embed="rId2"/>
              <a:stretch>
                <a:fillRect l="-804" b="-237"/>
              </a:stretch>
            </a:blipFill>
          </p:spPr>
          <p:txBody>
            <a:bodyPr/>
            <a:lstStyle/>
            <a:p>
              <a:endParaRPr lang="en-SG"/>
            </a:p>
          </p:txBody>
        </p:sp>
      </p:grpSp>
      <p:grpSp>
        <p:nvGrpSpPr>
          <p:cNvPr id="7" name="Group 7"/>
          <p:cNvGrpSpPr/>
          <p:nvPr/>
        </p:nvGrpSpPr>
        <p:grpSpPr>
          <a:xfrm>
            <a:off x="179832" y="5116068"/>
            <a:ext cx="592836" cy="1478280"/>
            <a:chOff x="0" y="0"/>
            <a:chExt cx="790448" cy="1971040"/>
          </a:xfrm>
        </p:grpSpPr>
        <p:sp>
          <p:nvSpPr>
            <p:cNvPr id="8" name="Freeform 8"/>
            <p:cNvSpPr/>
            <p:nvPr/>
          </p:nvSpPr>
          <p:spPr>
            <a:xfrm>
              <a:off x="0" y="0"/>
              <a:ext cx="790448" cy="1971040"/>
            </a:xfrm>
            <a:custGeom>
              <a:avLst/>
              <a:gdLst/>
              <a:ahLst/>
              <a:cxnLst/>
              <a:rect l="l" t="t" r="r" b="b"/>
              <a:pathLst>
                <a:path w="790448" h="1971040">
                  <a:moveTo>
                    <a:pt x="0" y="0"/>
                  </a:moveTo>
                  <a:lnTo>
                    <a:pt x="790448" y="0"/>
                  </a:lnTo>
                  <a:lnTo>
                    <a:pt x="790448" y="1971040"/>
                  </a:lnTo>
                  <a:lnTo>
                    <a:pt x="0" y="1971040"/>
                  </a:lnTo>
                  <a:lnTo>
                    <a:pt x="0" y="0"/>
                  </a:lnTo>
                  <a:close/>
                </a:path>
              </a:pathLst>
            </a:custGeom>
            <a:blipFill>
              <a:blip r:embed="rId3"/>
              <a:stretch>
                <a:fillRect l="-514" b="-206"/>
              </a:stretch>
            </a:blipFill>
          </p:spPr>
          <p:txBody>
            <a:bodyPr/>
            <a:lstStyle/>
            <a:p>
              <a:endParaRPr lang="en-SG"/>
            </a:p>
          </p:txBody>
        </p:sp>
      </p:grpSp>
      <p:sp>
        <p:nvSpPr>
          <p:cNvPr id="9" name="Freeform 9"/>
          <p:cNvSpPr/>
          <p:nvPr/>
        </p:nvSpPr>
        <p:spPr>
          <a:xfrm>
            <a:off x="1593085" y="2848861"/>
            <a:ext cx="4042153" cy="271777"/>
          </a:xfrm>
          <a:custGeom>
            <a:avLst/>
            <a:gdLst/>
            <a:ahLst/>
            <a:cxnLst/>
            <a:rect l="l" t="t" r="r" b="b"/>
            <a:pathLst>
              <a:path w="4042153" h="271777">
                <a:moveTo>
                  <a:pt x="0" y="0"/>
                </a:moveTo>
                <a:lnTo>
                  <a:pt x="4042153" y="0"/>
                </a:lnTo>
                <a:lnTo>
                  <a:pt x="4042153" y="271777"/>
                </a:lnTo>
                <a:lnTo>
                  <a:pt x="0" y="27177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SG"/>
          </a:p>
        </p:txBody>
      </p:sp>
      <p:sp>
        <p:nvSpPr>
          <p:cNvPr id="10" name="TextBox 10"/>
          <p:cNvSpPr txBox="1"/>
          <p:nvPr/>
        </p:nvSpPr>
        <p:spPr>
          <a:xfrm>
            <a:off x="1632204" y="1334119"/>
            <a:ext cx="6855257" cy="1171146"/>
          </a:xfrm>
          <a:prstGeom prst="rect">
            <a:avLst/>
          </a:prstGeom>
        </p:spPr>
        <p:txBody>
          <a:bodyPr lIns="0" tIns="0" rIns="0" bIns="0" rtlCol="0" anchor="t">
            <a:spAutoFit/>
          </a:bodyPr>
          <a:lstStyle/>
          <a:p>
            <a:pPr algn="l">
              <a:lnSpc>
                <a:spcPts val="4267"/>
              </a:lnSpc>
            </a:pPr>
            <a:r>
              <a:rPr lang="en-US" sz="3048">
                <a:solidFill>
                  <a:srgbClr val="2C2C2C"/>
                </a:solidFill>
                <a:latin typeface="Montserrat"/>
                <a:ea typeface="Montserrat"/>
                <a:cs typeface="Montserrat"/>
                <a:sym typeface="Montserrat"/>
              </a:rPr>
              <a:t>Camera &amp; CoolTerm</a:t>
            </a:r>
          </a:p>
          <a:p>
            <a:pPr algn="l">
              <a:lnSpc>
                <a:spcPts val="2116"/>
              </a:lnSpc>
            </a:pPr>
            <a:r>
              <a:rPr lang="en-US" sz="1512" spc="-7">
                <a:solidFill>
                  <a:srgbClr val="000000"/>
                </a:solidFill>
                <a:latin typeface="Montserrat"/>
                <a:ea typeface="Montserrat"/>
                <a:cs typeface="Montserrat"/>
                <a:sym typeface="Montserrat"/>
              </a:rPr>
              <a:t>To capture a picture with the OBC camera we need to open CoolTerm.</a:t>
            </a:r>
          </a:p>
        </p:txBody>
      </p:sp>
      <p:sp>
        <p:nvSpPr>
          <p:cNvPr id="11" name="TextBox 11"/>
          <p:cNvSpPr txBox="1"/>
          <p:nvPr/>
        </p:nvSpPr>
        <p:spPr>
          <a:xfrm>
            <a:off x="5637247" y="2834602"/>
            <a:ext cx="2188197" cy="269443"/>
          </a:xfrm>
          <a:prstGeom prst="rect">
            <a:avLst/>
          </a:prstGeom>
        </p:spPr>
        <p:txBody>
          <a:bodyPr lIns="0" tIns="0" rIns="0" bIns="0" rtlCol="0" anchor="t">
            <a:spAutoFit/>
          </a:bodyPr>
          <a:lstStyle/>
          <a:p>
            <a:pPr algn="l">
              <a:lnSpc>
                <a:spcPts val="2116"/>
              </a:lnSpc>
            </a:pPr>
            <a:r>
              <a:rPr lang="en-US" sz="1512" spc="-10">
                <a:solidFill>
                  <a:srgbClr val="000000"/>
                </a:solidFill>
                <a:latin typeface="Montserrat"/>
                <a:ea typeface="Montserrat"/>
                <a:cs typeface="Montserrat"/>
                <a:sym typeface="Montserrat"/>
              </a:rPr>
              <a:t>-Code Solutions Day6!</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3503" y="709165"/>
            <a:ext cx="10819381" cy="6142225"/>
            <a:chOff x="0" y="0"/>
            <a:chExt cx="10819384" cy="6142228"/>
          </a:xfrm>
        </p:grpSpPr>
        <p:sp>
          <p:nvSpPr>
            <p:cNvPr id="3" name="Freeform 3"/>
            <p:cNvSpPr/>
            <p:nvPr/>
          </p:nvSpPr>
          <p:spPr>
            <a:xfrm>
              <a:off x="63500" y="63500"/>
              <a:ext cx="10692383" cy="6015229"/>
            </a:xfrm>
            <a:custGeom>
              <a:avLst/>
              <a:gdLst/>
              <a:ahLst/>
              <a:cxnLst/>
              <a:rect l="l" t="t" r="r" b="b"/>
              <a:pathLst>
                <a:path w="10692383" h="6015229">
                  <a:moveTo>
                    <a:pt x="0" y="0"/>
                  </a:moveTo>
                  <a:lnTo>
                    <a:pt x="10692383" y="0"/>
                  </a:lnTo>
                  <a:lnTo>
                    <a:pt x="10692383" y="6015229"/>
                  </a:lnTo>
                  <a:lnTo>
                    <a:pt x="0" y="6015229"/>
                  </a:lnTo>
                  <a:close/>
                </a:path>
              </a:pathLst>
            </a:custGeom>
            <a:solidFill>
              <a:srgbClr val="FFFFFF"/>
            </a:solidFill>
          </p:spPr>
          <p:txBody>
            <a:bodyPr/>
            <a:lstStyle/>
            <a:p>
              <a:endParaRPr lang="en-SG"/>
            </a:p>
          </p:txBody>
        </p:sp>
        <p:sp>
          <p:nvSpPr>
            <p:cNvPr id="4" name="Freeform 4"/>
            <p:cNvSpPr/>
            <p:nvPr/>
          </p:nvSpPr>
          <p:spPr>
            <a:xfrm>
              <a:off x="63500" y="63500"/>
              <a:ext cx="954024" cy="6015229"/>
            </a:xfrm>
            <a:custGeom>
              <a:avLst/>
              <a:gdLst/>
              <a:ahLst/>
              <a:cxnLst/>
              <a:rect l="l" t="t" r="r" b="b"/>
              <a:pathLst>
                <a:path w="954024" h="6015229">
                  <a:moveTo>
                    <a:pt x="0" y="0"/>
                  </a:moveTo>
                  <a:lnTo>
                    <a:pt x="954024" y="0"/>
                  </a:lnTo>
                  <a:lnTo>
                    <a:pt x="954024" y="6015229"/>
                  </a:lnTo>
                  <a:lnTo>
                    <a:pt x="0" y="6015229"/>
                  </a:lnTo>
                  <a:close/>
                </a:path>
              </a:pathLst>
            </a:custGeom>
            <a:solidFill>
              <a:srgbClr val="000000"/>
            </a:solidFill>
          </p:spPr>
          <p:txBody>
            <a:bodyPr/>
            <a:lstStyle/>
            <a:p>
              <a:endParaRPr lang="en-SG"/>
            </a:p>
          </p:txBody>
        </p:sp>
      </p:grpSp>
      <p:grpSp>
        <p:nvGrpSpPr>
          <p:cNvPr id="5" name="Group 5"/>
          <p:cNvGrpSpPr/>
          <p:nvPr/>
        </p:nvGrpSpPr>
        <p:grpSpPr>
          <a:xfrm>
            <a:off x="192024" y="950976"/>
            <a:ext cx="568452" cy="1284732"/>
            <a:chOff x="0" y="0"/>
            <a:chExt cx="757936" cy="1712976"/>
          </a:xfrm>
        </p:grpSpPr>
        <p:sp>
          <p:nvSpPr>
            <p:cNvPr id="6" name="Freeform 6"/>
            <p:cNvSpPr/>
            <p:nvPr/>
          </p:nvSpPr>
          <p:spPr>
            <a:xfrm>
              <a:off x="0" y="0"/>
              <a:ext cx="757936" cy="1712976"/>
            </a:xfrm>
            <a:custGeom>
              <a:avLst/>
              <a:gdLst/>
              <a:ahLst/>
              <a:cxnLst/>
              <a:rect l="l" t="t" r="r" b="b"/>
              <a:pathLst>
                <a:path w="757936" h="1712976">
                  <a:moveTo>
                    <a:pt x="0" y="0"/>
                  </a:moveTo>
                  <a:lnTo>
                    <a:pt x="757936" y="0"/>
                  </a:lnTo>
                  <a:lnTo>
                    <a:pt x="757936" y="1712976"/>
                  </a:lnTo>
                  <a:lnTo>
                    <a:pt x="0" y="1712976"/>
                  </a:lnTo>
                  <a:lnTo>
                    <a:pt x="0" y="0"/>
                  </a:lnTo>
                  <a:close/>
                </a:path>
              </a:pathLst>
            </a:custGeom>
            <a:blipFill>
              <a:blip r:embed="rId2"/>
              <a:stretch>
                <a:fillRect l="-804" b="-237"/>
              </a:stretch>
            </a:blipFill>
          </p:spPr>
          <p:txBody>
            <a:bodyPr/>
            <a:lstStyle/>
            <a:p>
              <a:endParaRPr lang="en-SG"/>
            </a:p>
          </p:txBody>
        </p:sp>
      </p:grpSp>
      <p:grpSp>
        <p:nvGrpSpPr>
          <p:cNvPr id="7" name="Group 7"/>
          <p:cNvGrpSpPr/>
          <p:nvPr/>
        </p:nvGrpSpPr>
        <p:grpSpPr>
          <a:xfrm>
            <a:off x="179832" y="5116068"/>
            <a:ext cx="592836" cy="1478280"/>
            <a:chOff x="0" y="0"/>
            <a:chExt cx="790448" cy="1971040"/>
          </a:xfrm>
        </p:grpSpPr>
        <p:sp>
          <p:nvSpPr>
            <p:cNvPr id="8" name="Freeform 8"/>
            <p:cNvSpPr/>
            <p:nvPr/>
          </p:nvSpPr>
          <p:spPr>
            <a:xfrm>
              <a:off x="0" y="0"/>
              <a:ext cx="790448" cy="1971040"/>
            </a:xfrm>
            <a:custGeom>
              <a:avLst/>
              <a:gdLst/>
              <a:ahLst/>
              <a:cxnLst/>
              <a:rect l="l" t="t" r="r" b="b"/>
              <a:pathLst>
                <a:path w="790448" h="1971040">
                  <a:moveTo>
                    <a:pt x="0" y="0"/>
                  </a:moveTo>
                  <a:lnTo>
                    <a:pt x="790448" y="0"/>
                  </a:lnTo>
                  <a:lnTo>
                    <a:pt x="790448" y="1971040"/>
                  </a:lnTo>
                  <a:lnTo>
                    <a:pt x="0" y="1971040"/>
                  </a:lnTo>
                  <a:lnTo>
                    <a:pt x="0" y="0"/>
                  </a:lnTo>
                  <a:close/>
                </a:path>
              </a:pathLst>
            </a:custGeom>
            <a:blipFill>
              <a:blip r:embed="rId3"/>
              <a:stretch>
                <a:fillRect l="-514" b="-206"/>
              </a:stretch>
            </a:blipFill>
          </p:spPr>
          <p:txBody>
            <a:bodyPr/>
            <a:lstStyle/>
            <a:p>
              <a:endParaRPr lang="en-SG"/>
            </a:p>
          </p:txBody>
        </p:sp>
      </p:grpSp>
      <p:grpSp>
        <p:nvGrpSpPr>
          <p:cNvPr id="9" name="Group 9"/>
          <p:cNvGrpSpPr/>
          <p:nvPr/>
        </p:nvGrpSpPr>
        <p:grpSpPr>
          <a:xfrm>
            <a:off x="1130808" y="3038856"/>
            <a:ext cx="9386316" cy="1383792"/>
            <a:chOff x="0" y="0"/>
            <a:chExt cx="12515088" cy="1845056"/>
          </a:xfrm>
        </p:grpSpPr>
        <p:sp>
          <p:nvSpPr>
            <p:cNvPr id="10" name="Freeform 10"/>
            <p:cNvSpPr/>
            <p:nvPr/>
          </p:nvSpPr>
          <p:spPr>
            <a:xfrm>
              <a:off x="0" y="0"/>
              <a:ext cx="12515088" cy="1845056"/>
            </a:xfrm>
            <a:custGeom>
              <a:avLst/>
              <a:gdLst/>
              <a:ahLst/>
              <a:cxnLst/>
              <a:rect l="l" t="t" r="r" b="b"/>
              <a:pathLst>
                <a:path w="12515088" h="1845056">
                  <a:moveTo>
                    <a:pt x="0" y="0"/>
                  </a:moveTo>
                  <a:lnTo>
                    <a:pt x="12515088" y="0"/>
                  </a:lnTo>
                  <a:lnTo>
                    <a:pt x="12515088" y="1845056"/>
                  </a:lnTo>
                  <a:lnTo>
                    <a:pt x="0" y="1845056"/>
                  </a:lnTo>
                  <a:lnTo>
                    <a:pt x="0" y="0"/>
                  </a:lnTo>
                  <a:close/>
                </a:path>
              </a:pathLst>
            </a:custGeom>
            <a:blipFill>
              <a:blip r:embed="rId4"/>
              <a:stretch>
                <a:fillRect t="-220" r="-16"/>
              </a:stretch>
            </a:blipFill>
          </p:spPr>
          <p:txBody>
            <a:bodyPr/>
            <a:lstStyle/>
            <a:p>
              <a:endParaRPr lang="en-SG"/>
            </a:p>
          </p:txBody>
        </p:sp>
      </p:grpSp>
      <p:grpSp>
        <p:nvGrpSpPr>
          <p:cNvPr id="11" name="Group 11"/>
          <p:cNvGrpSpPr/>
          <p:nvPr/>
        </p:nvGrpSpPr>
        <p:grpSpPr>
          <a:xfrm>
            <a:off x="1130808" y="4416552"/>
            <a:ext cx="9386316" cy="1569720"/>
            <a:chOff x="0" y="0"/>
            <a:chExt cx="12515088" cy="2092960"/>
          </a:xfrm>
        </p:grpSpPr>
        <p:sp>
          <p:nvSpPr>
            <p:cNvPr id="12" name="Freeform 12"/>
            <p:cNvSpPr/>
            <p:nvPr/>
          </p:nvSpPr>
          <p:spPr>
            <a:xfrm>
              <a:off x="0" y="0"/>
              <a:ext cx="12515088" cy="2092960"/>
            </a:xfrm>
            <a:custGeom>
              <a:avLst/>
              <a:gdLst/>
              <a:ahLst/>
              <a:cxnLst/>
              <a:rect l="l" t="t" r="r" b="b"/>
              <a:pathLst>
                <a:path w="12515088" h="2092960">
                  <a:moveTo>
                    <a:pt x="0" y="0"/>
                  </a:moveTo>
                  <a:lnTo>
                    <a:pt x="12515088" y="0"/>
                  </a:lnTo>
                  <a:lnTo>
                    <a:pt x="12515088" y="2092960"/>
                  </a:lnTo>
                  <a:lnTo>
                    <a:pt x="0" y="2092960"/>
                  </a:lnTo>
                  <a:lnTo>
                    <a:pt x="0" y="0"/>
                  </a:lnTo>
                  <a:close/>
                </a:path>
              </a:pathLst>
            </a:custGeom>
            <a:blipFill>
              <a:blip r:embed="rId5"/>
              <a:stretch>
                <a:fillRect/>
              </a:stretch>
            </a:blipFill>
          </p:spPr>
          <p:txBody>
            <a:bodyPr/>
            <a:lstStyle/>
            <a:p>
              <a:endParaRPr lang="en-SG"/>
            </a:p>
          </p:txBody>
        </p:sp>
      </p:grpSp>
      <p:sp>
        <p:nvSpPr>
          <p:cNvPr id="13" name="TextBox 13"/>
          <p:cNvSpPr txBox="1"/>
          <p:nvPr/>
        </p:nvSpPr>
        <p:spPr>
          <a:xfrm>
            <a:off x="1632385" y="1334119"/>
            <a:ext cx="5156587" cy="523504"/>
          </a:xfrm>
          <a:prstGeom prst="rect">
            <a:avLst/>
          </a:prstGeom>
        </p:spPr>
        <p:txBody>
          <a:bodyPr lIns="0" tIns="0" rIns="0" bIns="0" rtlCol="0" anchor="t">
            <a:spAutoFit/>
          </a:bodyPr>
          <a:lstStyle/>
          <a:p>
            <a:pPr algn="l">
              <a:lnSpc>
                <a:spcPts val="4267"/>
              </a:lnSpc>
            </a:pPr>
            <a:r>
              <a:rPr lang="en-US" sz="3048">
                <a:solidFill>
                  <a:srgbClr val="2C2C2C"/>
                </a:solidFill>
                <a:latin typeface="Montserrat"/>
                <a:ea typeface="Montserrat"/>
                <a:cs typeface="Montserrat"/>
                <a:sym typeface="Montserrat"/>
              </a:rPr>
              <a:t>Final Exercise -Challenge!</a:t>
            </a:r>
          </a:p>
        </p:txBody>
      </p:sp>
      <p:sp>
        <p:nvSpPr>
          <p:cNvPr id="14" name="TextBox 14"/>
          <p:cNvSpPr txBox="1"/>
          <p:nvPr/>
        </p:nvSpPr>
        <p:spPr>
          <a:xfrm>
            <a:off x="1444790" y="2218163"/>
            <a:ext cx="8701678" cy="588626"/>
          </a:xfrm>
          <a:prstGeom prst="rect">
            <a:avLst/>
          </a:prstGeom>
        </p:spPr>
        <p:txBody>
          <a:bodyPr lIns="0" tIns="0" rIns="0" bIns="0" rtlCol="0" anchor="t">
            <a:spAutoFit/>
          </a:bodyPr>
          <a:lstStyle/>
          <a:p>
            <a:pPr algn="l">
              <a:lnSpc>
                <a:spcPts val="2363"/>
              </a:lnSpc>
            </a:pPr>
            <a:r>
              <a:rPr lang="en-US" sz="1512" spc="-9">
                <a:solidFill>
                  <a:srgbClr val="000000"/>
                </a:solidFill>
                <a:latin typeface="Montserrat"/>
                <a:ea typeface="Montserrat"/>
                <a:cs typeface="Montserrat"/>
                <a:sym typeface="Montserrat"/>
              </a:rPr>
              <a:t>Configure your entire satellite so that it takes the following commands from your ground stations!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3503" y="709165"/>
            <a:ext cx="10819381" cy="6142225"/>
            <a:chOff x="0" y="0"/>
            <a:chExt cx="10819384" cy="6142228"/>
          </a:xfrm>
        </p:grpSpPr>
        <p:sp>
          <p:nvSpPr>
            <p:cNvPr id="3" name="Freeform 3"/>
            <p:cNvSpPr/>
            <p:nvPr/>
          </p:nvSpPr>
          <p:spPr>
            <a:xfrm>
              <a:off x="63500" y="63500"/>
              <a:ext cx="10692383" cy="6015229"/>
            </a:xfrm>
            <a:custGeom>
              <a:avLst/>
              <a:gdLst/>
              <a:ahLst/>
              <a:cxnLst/>
              <a:rect l="l" t="t" r="r" b="b"/>
              <a:pathLst>
                <a:path w="10692383" h="6015229">
                  <a:moveTo>
                    <a:pt x="0" y="0"/>
                  </a:moveTo>
                  <a:lnTo>
                    <a:pt x="10692383" y="0"/>
                  </a:lnTo>
                  <a:lnTo>
                    <a:pt x="10692383" y="6015229"/>
                  </a:lnTo>
                  <a:lnTo>
                    <a:pt x="0" y="6015229"/>
                  </a:lnTo>
                  <a:close/>
                </a:path>
              </a:pathLst>
            </a:custGeom>
            <a:solidFill>
              <a:srgbClr val="FFFFFF"/>
            </a:solidFill>
          </p:spPr>
          <p:txBody>
            <a:bodyPr/>
            <a:lstStyle/>
            <a:p>
              <a:endParaRPr lang="en-SG"/>
            </a:p>
          </p:txBody>
        </p:sp>
        <p:sp>
          <p:nvSpPr>
            <p:cNvPr id="4" name="Freeform 4"/>
            <p:cNvSpPr/>
            <p:nvPr/>
          </p:nvSpPr>
          <p:spPr>
            <a:xfrm>
              <a:off x="63500" y="63500"/>
              <a:ext cx="954024" cy="6015229"/>
            </a:xfrm>
            <a:custGeom>
              <a:avLst/>
              <a:gdLst/>
              <a:ahLst/>
              <a:cxnLst/>
              <a:rect l="l" t="t" r="r" b="b"/>
              <a:pathLst>
                <a:path w="954024" h="6015229">
                  <a:moveTo>
                    <a:pt x="0" y="0"/>
                  </a:moveTo>
                  <a:lnTo>
                    <a:pt x="954024" y="0"/>
                  </a:lnTo>
                  <a:lnTo>
                    <a:pt x="954024" y="6015229"/>
                  </a:lnTo>
                  <a:lnTo>
                    <a:pt x="0" y="6015229"/>
                  </a:lnTo>
                  <a:close/>
                </a:path>
              </a:pathLst>
            </a:custGeom>
            <a:solidFill>
              <a:srgbClr val="000000"/>
            </a:solidFill>
          </p:spPr>
          <p:txBody>
            <a:bodyPr/>
            <a:lstStyle/>
            <a:p>
              <a:endParaRPr lang="en-SG"/>
            </a:p>
          </p:txBody>
        </p:sp>
      </p:grpSp>
      <p:grpSp>
        <p:nvGrpSpPr>
          <p:cNvPr id="5" name="Group 5"/>
          <p:cNvGrpSpPr/>
          <p:nvPr/>
        </p:nvGrpSpPr>
        <p:grpSpPr>
          <a:xfrm>
            <a:off x="192024" y="950976"/>
            <a:ext cx="568452" cy="1284732"/>
            <a:chOff x="0" y="0"/>
            <a:chExt cx="757936" cy="1712976"/>
          </a:xfrm>
        </p:grpSpPr>
        <p:sp>
          <p:nvSpPr>
            <p:cNvPr id="6" name="Freeform 6"/>
            <p:cNvSpPr/>
            <p:nvPr/>
          </p:nvSpPr>
          <p:spPr>
            <a:xfrm>
              <a:off x="0" y="0"/>
              <a:ext cx="757936" cy="1712976"/>
            </a:xfrm>
            <a:custGeom>
              <a:avLst/>
              <a:gdLst/>
              <a:ahLst/>
              <a:cxnLst/>
              <a:rect l="l" t="t" r="r" b="b"/>
              <a:pathLst>
                <a:path w="757936" h="1712976">
                  <a:moveTo>
                    <a:pt x="0" y="0"/>
                  </a:moveTo>
                  <a:lnTo>
                    <a:pt x="757936" y="0"/>
                  </a:lnTo>
                  <a:lnTo>
                    <a:pt x="757936" y="1712976"/>
                  </a:lnTo>
                  <a:lnTo>
                    <a:pt x="0" y="1712976"/>
                  </a:lnTo>
                  <a:lnTo>
                    <a:pt x="0" y="0"/>
                  </a:lnTo>
                  <a:close/>
                </a:path>
              </a:pathLst>
            </a:custGeom>
            <a:blipFill>
              <a:blip r:embed="rId2"/>
              <a:stretch>
                <a:fillRect l="-804" b="-237"/>
              </a:stretch>
            </a:blipFill>
          </p:spPr>
          <p:txBody>
            <a:bodyPr/>
            <a:lstStyle/>
            <a:p>
              <a:endParaRPr lang="en-SG"/>
            </a:p>
          </p:txBody>
        </p:sp>
      </p:grpSp>
      <p:grpSp>
        <p:nvGrpSpPr>
          <p:cNvPr id="7" name="Group 7"/>
          <p:cNvGrpSpPr/>
          <p:nvPr/>
        </p:nvGrpSpPr>
        <p:grpSpPr>
          <a:xfrm>
            <a:off x="179832" y="5116068"/>
            <a:ext cx="592836" cy="1478280"/>
            <a:chOff x="0" y="0"/>
            <a:chExt cx="790448" cy="1971040"/>
          </a:xfrm>
        </p:grpSpPr>
        <p:sp>
          <p:nvSpPr>
            <p:cNvPr id="8" name="Freeform 8"/>
            <p:cNvSpPr/>
            <p:nvPr/>
          </p:nvSpPr>
          <p:spPr>
            <a:xfrm>
              <a:off x="0" y="0"/>
              <a:ext cx="790448" cy="1971040"/>
            </a:xfrm>
            <a:custGeom>
              <a:avLst/>
              <a:gdLst/>
              <a:ahLst/>
              <a:cxnLst/>
              <a:rect l="l" t="t" r="r" b="b"/>
              <a:pathLst>
                <a:path w="790448" h="1971040">
                  <a:moveTo>
                    <a:pt x="0" y="0"/>
                  </a:moveTo>
                  <a:lnTo>
                    <a:pt x="790448" y="0"/>
                  </a:lnTo>
                  <a:lnTo>
                    <a:pt x="790448" y="1971040"/>
                  </a:lnTo>
                  <a:lnTo>
                    <a:pt x="0" y="1971040"/>
                  </a:lnTo>
                  <a:lnTo>
                    <a:pt x="0" y="0"/>
                  </a:lnTo>
                  <a:close/>
                </a:path>
              </a:pathLst>
            </a:custGeom>
            <a:blipFill>
              <a:blip r:embed="rId3"/>
              <a:stretch>
                <a:fillRect l="-514" b="-206"/>
              </a:stretch>
            </a:blipFill>
          </p:spPr>
          <p:txBody>
            <a:bodyPr/>
            <a:lstStyle/>
            <a:p>
              <a:endParaRPr lang="en-SG"/>
            </a:p>
          </p:txBody>
        </p:sp>
      </p:grpSp>
      <p:grpSp>
        <p:nvGrpSpPr>
          <p:cNvPr id="9" name="Group 9"/>
          <p:cNvGrpSpPr/>
          <p:nvPr/>
        </p:nvGrpSpPr>
        <p:grpSpPr>
          <a:xfrm>
            <a:off x="1632204" y="2363724"/>
            <a:ext cx="83820" cy="83820"/>
            <a:chOff x="0" y="0"/>
            <a:chExt cx="83820" cy="83820"/>
          </a:xfrm>
        </p:grpSpPr>
        <p:sp>
          <p:nvSpPr>
            <p:cNvPr id="10" name="Freeform 10"/>
            <p:cNvSpPr/>
            <p:nvPr/>
          </p:nvSpPr>
          <p:spPr>
            <a:xfrm>
              <a:off x="0" y="0"/>
              <a:ext cx="83820" cy="83820"/>
            </a:xfrm>
            <a:custGeom>
              <a:avLst/>
              <a:gdLst/>
              <a:ahLst/>
              <a:cxnLst/>
              <a:rect l="l" t="t" r="r" b="b"/>
              <a:pathLst>
                <a:path w="83820" h="83820">
                  <a:moveTo>
                    <a:pt x="21336" y="6096"/>
                  </a:moveTo>
                  <a:cubicBezTo>
                    <a:pt x="15240" y="9144"/>
                    <a:pt x="10668" y="13716"/>
                    <a:pt x="6096" y="21336"/>
                  </a:cubicBezTo>
                  <a:cubicBezTo>
                    <a:pt x="3048" y="27432"/>
                    <a:pt x="0" y="35052"/>
                    <a:pt x="0" y="42672"/>
                  </a:cubicBezTo>
                  <a:cubicBezTo>
                    <a:pt x="0" y="53340"/>
                    <a:pt x="4572" y="64008"/>
                    <a:pt x="12192" y="71628"/>
                  </a:cubicBezTo>
                  <a:cubicBezTo>
                    <a:pt x="21336" y="79248"/>
                    <a:pt x="30480" y="83820"/>
                    <a:pt x="42672" y="83820"/>
                  </a:cubicBezTo>
                  <a:cubicBezTo>
                    <a:pt x="53340" y="83820"/>
                    <a:pt x="64008" y="79248"/>
                    <a:pt x="71628" y="71628"/>
                  </a:cubicBezTo>
                  <a:cubicBezTo>
                    <a:pt x="80772" y="64008"/>
                    <a:pt x="83820" y="53340"/>
                    <a:pt x="83820" y="42672"/>
                  </a:cubicBezTo>
                  <a:cubicBezTo>
                    <a:pt x="83820" y="35052"/>
                    <a:pt x="82296" y="27432"/>
                    <a:pt x="79248" y="21336"/>
                  </a:cubicBezTo>
                  <a:cubicBezTo>
                    <a:pt x="74676" y="13716"/>
                    <a:pt x="70104" y="9144"/>
                    <a:pt x="62484" y="6096"/>
                  </a:cubicBezTo>
                  <a:cubicBezTo>
                    <a:pt x="56388" y="1524"/>
                    <a:pt x="48768" y="0"/>
                    <a:pt x="42672" y="0"/>
                  </a:cubicBezTo>
                  <a:cubicBezTo>
                    <a:pt x="35052" y="0"/>
                    <a:pt x="28956" y="1524"/>
                    <a:pt x="21336" y="6096"/>
                  </a:cubicBezTo>
                  <a:close/>
                </a:path>
              </a:pathLst>
            </a:custGeom>
            <a:solidFill>
              <a:srgbClr val="000000"/>
            </a:solidFill>
          </p:spPr>
          <p:txBody>
            <a:bodyPr/>
            <a:lstStyle/>
            <a:p>
              <a:endParaRPr lang="en-SG"/>
            </a:p>
          </p:txBody>
        </p:sp>
      </p:grpSp>
      <p:grpSp>
        <p:nvGrpSpPr>
          <p:cNvPr id="11" name="Group 11"/>
          <p:cNvGrpSpPr/>
          <p:nvPr/>
        </p:nvGrpSpPr>
        <p:grpSpPr>
          <a:xfrm>
            <a:off x="1632204" y="2663952"/>
            <a:ext cx="83820" cy="83820"/>
            <a:chOff x="0" y="0"/>
            <a:chExt cx="83820" cy="83820"/>
          </a:xfrm>
        </p:grpSpPr>
        <p:sp>
          <p:nvSpPr>
            <p:cNvPr id="12" name="Freeform 12"/>
            <p:cNvSpPr/>
            <p:nvPr/>
          </p:nvSpPr>
          <p:spPr>
            <a:xfrm>
              <a:off x="0" y="0"/>
              <a:ext cx="83820" cy="83820"/>
            </a:xfrm>
            <a:custGeom>
              <a:avLst/>
              <a:gdLst/>
              <a:ahLst/>
              <a:cxnLst/>
              <a:rect l="l" t="t" r="r" b="b"/>
              <a:pathLst>
                <a:path w="83820" h="83820">
                  <a:moveTo>
                    <a:pt x="21336" y="4572"/>
                  </a:moveTo>
                  <a:cubicBezTo>
                    <a:pt x="15240" y="9144"/>
                    <a:pt x="10668" y="13716"/>
                    <a:pt x="6096" y="19812"/>
                  </a:cubicBezTo>
                  <a:cubicBezTo>
                    <a:pt x="3048" y="27432"/>
                    <a:pt x="0" y="33528"/>
                    <a:pt x="0" y="41148"/>
                  </a:cubicBezTo>
                  <a:cubicBezTo>
                    <a:pt x="0" y="53340"/>
                    <a:pt x="4572" y="62484"/>
                    <a:pt x="12192" y="71628"/>
                  </a:cubicBezTo>
                  <a:cubicBezTo>
                    <a:pt x="21336" y="79248"/>
                    <a:pt x="30480" y="83820"/>
                    <a:pt x="42672" y="83820"/>
                  </a:cubicBezTo>
                  <a:cubicBezTo>
                    <a:pt x="53340" y="83820"/>
                    <a:pt x="64008" y="79248"/>
                    <a:pt x="71628" y="71628"/>
                  </a:cubicBezTo>
                  <a:cubicBezTo>
                    <a:pt x="80772" y="62484"/>
                    <a:pt x="83820" y="53340"/>
                    <a:pt x="83820" y="41148"/>
                  </a:cubicBezTo>
                  <a:cubicBezTo>
                    <a:pt x="83820" y="33528"/>
                    <a:pt x="82296" y="27432"/>
                    <a:pt x="79248" y="19812"/>
                  </a:cubicBezTo>
                  <a:cubicBezTo>
                    <a:pt x="74676" y="13716"/>
                    <a:pt x="70104" y="9144"/>
                    <a:pt x="62484" y="4572"/>
                  </a:cubicBezTo>
                  <a:cubicBezTo>
                    <a:pt x="56388" y="1524"/>
                    <a:pt x="48768" y="0"/>
                    <a:pt x="42672" y="0"/>
                  </a:cubicBezTo>
                  <a:cubicBezTo>
                    <a:pt x="35052" y="0"/>
                    <a:pt x="28956" y="1524"/>
                    <a:pt x="21336" y="4572"/>
                  </a:cubicBezTo>
                  <a:close/>
                </a:path>
              </a:pathLst>
            </a:custGeom>
            <a:solidFill>
              <a:srgbClr val="000000"/>
            </a:solidFill>
          </p:spPr>
          <p:txBody>
            <a:bodyPr/>
            <a:lstStyle/>
            <a:p>
              <a:endParaRPr lang="en-SG"/>
            </a:p>
          </p:txBody>
        </p:sp>
      </p:grpSp>
      <p:grpSp>
        <p:nvGrpSpPr>
          <p:cNvPr id="13" name="Group 13"/>
          <p:cNvGrpSpPr/>
          <p:nvPr/>
        </p:nvGrpSpPr>
        <p:grpSpPr>
          <a:xfrm>
            <a:off x="1632204" y="3261360"/>
            <a:ext cx="83820" cy="83820"/>
            <a:chOff x="0" y="0"/>
            <a:chExt cx="83820" cy="83820"/>
          </a:xfrm>
        </p:grpSpPr>
        <p:sp>
          <p:nvSpPr>
            <p:cNvPr id="14" name="Freeform 14"/>
            <p:cNvSpPr/>
            <p:nvPr/>
          </p:nvSpPr>
          <p:spPr>
            <a:xfrm>
              <a:off x="0" y="0"/>
              <a:ext cx="83820" cy="83820"/>
            </a:xfrm>
            <a:custGeom>
              <a:avLst/>
              <a:gdLst/>
              <a:ahLst/>
              <a:cxnLst/>
              <a:rect l="l" t="t" r="r" b="b"/>
              <a:pathLst>
                <a:path w="83820" h="83820">
                  <a:moveTo>
                    <a:pt x="21336" y="4572"/>
                  </a:moveTo>
                  <a:cubicBezTo>
                    <a:pt x="15240" y="9144"/>
                    <a:pt x="10668" y="13716"/>
                    <a:pt x="6096" y="19812"/>
                  </a:cubicBezTo>
                  <a:cubicBezTo>
                    <a:pt x="3048" y="27432"/>
                    <a:pt x="0" y="33528"/>
                    <a:pt x="0" y="41148"/>
                  </a:cubicBezTo>
                  <a:cubicBezTo>
                    <a:pt x="0" y="53340"/>
                    <a:pt x="4572" y="62484"/>
                    <a:pt x="12192" y="71628"/>
                  </a:cubicBezTo>
                  <a:cubicBezTo>
                    <a:pt x="21336" y="79248"/>
                    <a:pt x="30480" y="83820"/>
                    <a:pt x="42672" y="83820"/>
                  </a:cubicBezTo>
                  <a:cubicBezTo>
                    <a:pt x="53340" y="83820"/>
                    <a:pt x="64008" y="79248"/>
                    <a:pt x="71628" y="71628"/>
                  </a:cubicBezTo>
                  <a:cubicBezTo>
                    <a:pt x="80772" y="62484"/>
                    <a:pt x="83820" y="53340"/>
                    <a:pt x="83820" y="41148"/>
                  </a:cubicBezTo>
                  <a:cubicBezTo>
                    <a:pt x="83820" y="33528"/>
                    <a:pt x="82296" y="27432"/>
                    <a:pt x="79248" y="19812"/>
                  </a:cubicBezTo>
                  <a:cubicBezTo>
                    <a:pt x="74676" y="13716"/>
                    <a:pt x="70104" y="9144"/>
                    <a:pt x="62484" y="4572"/>
                  </a:cubicBezTo>
                  <a:cubicBezTo>
                    <a:pt x="56388" y="1524"/>
                    <a:pt x="48768" y="0"/>
                    <a:pt x="42672" y="0"/>
                  </a:cubicBezTo>
                  <a:cubicBezTo>
                    <a:pt x="35052" y="0"/>
                    <a:pt x="28956" y="1524"/>
                    <a:pt x="21336" y="4572"/>
                  </a:cubicBezTo>
                  <a:close/>
                </a:path>
              </a:pathLst>
            </a:custGeom>
            <a:solidFill>
              <a:srgbClr val="000000"/>
            </a:solidFill>
          </p:spPr>
          <p:txBody>
            <a:bodyPr/>
            <a:lstStyle/>
            <a:p>
              <a:endParaRPr lang="en-SG"/>
            </a:p>
          </p:txBody>
        </p:sp>
      </p:grpSp>
      <p:grpSp>
        <p:nvGrpSpPr>
          <p:cNvPr id="15" name="Group 15"/>
          <p:cNvGrpSpPr/>
          <p:nvPr/>
        </p:nvGrpSpPr>
        <p:grpSpPr>
          <a:xfrm>
            <a:off x="1886712" y="3584448"/>
            <a:ext cx="5426964" cy="771144"/>
            <a:chOff x="0" y="0"/>
            <a:chExt cx="7235952" cy="1028192"/>
          </a:xfrm>
        </p:grpSpPr>
        <p:sp>
          <p:nvSpPr>
            <p:cNvPr id="16" name="Freeform 16"/>
            <p:cNvSpPr/>
            <p:nvPr/>
          </p:nvSpPr>
          <p:spPr>
            <a:xfrm>
              <a:off x="0" y="0"/>
              <a:ext cx="7235952" cy="1028192"/>
            </a:xfrm>
            <a:custGeom>
              <a:avLst/>
              <a:gdLst/>
              <a:ahLst/>
              <a:cxnLst/>
              <a:rect l="l" t="t" r="r" b="b"/>
              <a:pathLst>
                <a:path w="7235952" h="1028192">
                  <a:moveTo>
                    <a:pt x="0" y="0"/>
                  </a:moveTo>
                  <a:lnTo>
                    <a:pt x="7235952" y="0"/>
                  </a:lnTo>
                  <a:lnTo>
                    <a:pt x="7235952" y="1028192"/>
                  </a:lnTo>
                  <a:lnTo>
                    <a:pt x="0" y="1028192"/>
                  </a:lnTo>
                  <a:lnTo>
                    <a:pt x="0" y="0"/>
                  </a:lnTo>
                  <a:close/>
                </a:path>
              </a:pathLst>
            </a:custGeom>
            <a:blipFill>
              <a:blip r:embed="rId4"/>
              <a:stretch>
                <a:fillRect l="-28" r="-56" b="-592"/>
              </a:stretch>
            </a:blipFill>
          </p:spPr>
          <p:txBody>
            <a:bodyPr/>
            <a:lstStyle/>
            <a:p>
              <a:endParaRPr lang="en-SG"/>
            </a:p>
          </p:txBody>
        </p:sp>
      </p:grpSp>
      <p:sp>
        <p:nvSpPr>
          <p:cNvPr id="17" name="TextBox 17"/>
          <p:cNvSpPr txBox="1"/>
          <p:nvPr/>
        </p:nvSpPr>
        <p:spPr>
          <a:xfrm>
            <a:off x="1632385" y="1334119"/>
            <a:ext cx="4436402" cy="523504"/>
          </a:xfrm>
          <a:prstGeom prst="rect">
            <a:avLst/>
          </a:prstGeom>
        </p:spPr>
        <p:txBody>
          <a:bodyPr lIns="0" tIns="0" rIns="0" bIns="0" rtlCol="0" anchor="t">
            <a:spAutoFit/>
          </a:bodyPr>
          <a:lstStyle/>
          <a:p>
            <a:pPr algn="l">
              <a:lnSpc>
                <a:spcPts val="4267"/>
              </a:lnSpc>
            </a:pPr>
            <a:r>
              <a:rPr lang="en-US" sz="3048">
                <a:solidFill>
                  <a:srgbClr val="2C2C2C"/>
                </a:solidFill>
                <a:latin typeface="Montserrat"/>
                <a:ea typeface="Montserrat"/>
                <a:cs typeface="Montserrat"/>
                <a:sym typeface="Montserrat"/>
              </a:rPr>
              <a:t>Final Exercise Solution</a:t>
            </a:r>
          </a:p>
        </p:txBody>
      </p:sp>
      <p:sp>
        <p:nvSpPr>
          <p:cNvPr id="18" name="TextBox 18"/>
          <p:cNvSpPr txBox="1"/>
          <p:nvPr/>
        </p:nvSpPr>
        <p:spPr>
          <a:xfrm>
            <a:off x="1979771" y="2218163"/>
            <a:ext cx="8212017" cy="1186015"/>
          </a:xfrm>
          <a:prstGeom prst="rect">
            <a:avLst/>
          </a:prstGeom>
        </p:spPr>
        <p:txBody>
          <a:bodyPr lIns="0" tIns="0" rIns="0" bIns="0" rtlCol="0" anchor="t">
            <a:spAutoFit/>
          </a:bodyPr>
          <a:lstStyle/>
          <a:p>
            <a:pPr algn="l">
              <a:lnSpc>
                <a:spcPts val="2357"/>
              </a:lnSpc>
            </a:pPr>
            <a:r>
              <a:rPr lang="en-US" sz="1512" spc="-9">
                <a:solidFill>
                  <a:srgbClr val="000000"/>
                </a:solidFill>
                <a:latin typeface="Montserrat"/>
                <a:ea typeface="Montserrat"/>
                <a:cs typeface="Montserrat"/>
                <a:sym typeface="Montserrat"/>
              </a:rPr>
              <a:t>Upload the OBC, ADCS and GS codes into their respective boards from GitHub. Change the password in OBC, ADCS and GS code, matching them, so that only your ground station is configured with your satellite.</a:t>
            </a:r>
          </a:p>
          <a:p>
            <a:pPr algn="l">
              <a:lnSpc>
                <a:spcPts val="2357"/>
              </a:lnSpc>
            </a:pPr>
            <a:r>
              <a:rPr lang="en-US" sz="1512" spc="-9">
                <a:solidFill>
                  <a:srgbClr val="000000"/>
                </a:solidFill>
                <a:latin typeface="Montserrat"/>
                <a:ea typeface="Montserrat"/>
                <a:cs typeface="Montserrat"/>
                <a:sym typeface="Montserrat"/>
              </a:rPr>
              <a:t>Check the code working!</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3503" y="709165"/>
            <a:ext cx="10819381" cy="6142225"/>
            <a:chOff x="0" y="0"/>
            <a:chExt cx="10819384" cy="6142228"/>
          </a:xfrm>
        </p:grpSpPr>
        <p:sp>
          <p:nvSpPr>
            <p:cNvPr id="3" name="Freeform 3"/>
            <p:cNvSpPr/>
            <p:nvPr/>
          </p:nvSpPr>
          <p:spPr>
            <a:xfrm>
              <a:off x="63500" y="63500"/>
              <a:ext cx="10692383" cy="6015229"/>
            </a:xfrm>
            <a:custGeom>
              <a:avLst/>
              <a:gdLst/>
              <a:ahLst/>
              <a:cxnLst/>
              <a:rect l="l" t="t" r="r" b="b"/>
              <a:pathLst>
                <a:path w="10692383" h="6015229">
                  <a:moveTo>
                    <a:pt x="0" y="0"/>
                  </a:moveTo>
                  <a:lnTo>
                    <a:pt x="10692383" y="0"/>
                  </a:lnTo>
                  <a:lnTo>
                    <a:pt x="10692383" y="6015229"/>
                  </a:lnTo>
                  <a:lnTo>
                    <a:pt x="0" y="6015229"/>
                  </a:lnTo>
                  <a:close/>
                </a:path>
              </a:pathLst>
            </a:custGeom>
            <a:solidFill>
              <a:srgbClr val="FFFFFF"/>
            </a:solidFill>
          </p:spPr>
          <p:txBody>
            <a:bodyPr/>
            <a:lstStyle/>
            <a:p>
              <a:endParaRPr lang="en-SG"/>
            </a:p>
          </p:txBody>
        </p:sp>
        <p:sp>
          <p:nvSpPr>
            <p:cNvPr id="4" name="Freeform 4"/>
            <p:cNvSpPr/>
            <p:nvPr/>
          </p:nvSpPr>
          <p:spPr>
            <a:xfrm>
              <a:off x="63500" y="63500"/>
              <a:ext cx="954024" cy="6015229"/>
            </a:xfrm>
            <a:custGeom>
              <a:avLst/>
              <a:gdLst/>
              <a:ahLst/>
              <a:cxnLst/>
              <a:rect l="l" t="t" r="r" b="b"/>
              <a:pathLst>
                <a:path w="954024" h="6015229">
                  <a:moveTo>
                    <a:pt x="0" y="0"/>
                  </a:moveTo>
                  <a:lnTo>
                    <a:pt x="954024" y="0"/>
                  </a:lnTo>
                  <a:lnTo>
                    <a:pt x="954024" y="6015229"/>
                  </a:lnTo>
                  <a:lnTo>
                    <a:pt x="0" y="6015229"/>
                  </a:lnTo>
                  <a:close/>
                </a:path>
              </a:pathLst>
            </a:custGeom>
            <a:solidFill>
              <a:srgbClr val="000000"/>
            </a:solidFill>
          </p:spPr>
          <p:txBody>
            <a:bodyPr/>
            <a:lstStyle/>
            <a:p>
              <a:endParaRPr lang="en-SG"/>
            </a:p>
          </p:txBody>
        </p:sp>
      </p:grpSp>
      <p:grpSp>
        <p:nvGrpSpPr>
          <p:cNvPr id="5" name="Group 5"/>
          <p:cNvGrpSpPr/>
          <p:nvPr/>
        </p:nvGrpSpPr>
        <p:grpSpPr>
          <a:xfrm>
            <a:off x="192024" y="950976"/>
            <a:ext cx="568452" cy="1284732"/>
            <a:chOff x="0" y="0"/>
            <a:chExt cx="757936" cy="1712976"/>
          </a:xfrm>
        </p:grpSpPr>
        <p:sp>
          <p:nvSpPr>
            <p:cNvPr id="6" name="Freeform 6"/>
            <p:cNvSpPr/>
            <p:nvPr/>
          </p:nvSpPr>
          <p:spPr>
            <a:xfrm>
              <a:off x="0" y="0"/>
              <a:ext cx="757936" cy="1712976"/>
            </a:xfrm>
            <a:custGeom>
              <a:avLst/>
              <a:gdLst/>
              <a:ahLst/>
              <a:cxnLst/>
              <a:rect l="l" t="t" r="r" b="b"/>
              <a:pathLst>
                <a:path w="757936" h="1712976">
                  <a:moveTo>
                    <a:pt x="0" y="0"/>
                  </a:moveTo>
                  <a:lnTo>
                    <a:pt x="757936" y="0"/>
                  </a:lnTo>
                  <a:lnTo>
                    <a:pt x="757936" y="1712976"/>
                  </a:lnTo>
                  <a:lnTo>
                    <a:pt x="0" y="1712976"/>
                  </a:lnTo>
                  <a:lnTo>
                    <a:pt x="0" y="0"/>
                  </a:lnTo>
                  <a:close/>
                </a:path>
              </a:pathLst>
            </a:custGeom>
            <a:blipFill>
              <a:blip r:embed="rId2"/>
              <a:stretch>
                <a:fillRect l="-804" b="-237"/>
              </a:stretch>
            </a:blipFill>
          </p:spPr>
          <p:txBody>
            <a:bodyPr/>
            <a:lstStyle/>
            <a:p>
              <a:endParaRPr lang="en-SG"/>
            </a:p>
          </p:txBody>
        </p:sp>
      </p:grpSp>
      <p:grpSp>
        <p:nvGrpSpPr>
          <p:cNvPr id="7" name="Group 7"/>
          <p:cNvGrpSpPr/>
          <p:nvPr/>
        </p:nvGrpSpPr>
        <p:grpSpPr>
          <a:xfrm>
            <a:off x="179832" y="5116068"/>
            <a:ext cx="592836" cy="1478280"/>
            <a:chOff x="0" y="0"/>
            <a:chExt cx="790448" cy="1971040"/>
          </a:xfrm>
        </p:grpSpPr>
        <p:sp>
          <p:nvSpPr>
            <p:cNvPr id="8" name="Freeform 8"/>
            <p:cNvSpPr/>
            <p:nvPr/>
          </p:nvSpPr>
          <p:spPr>
            <a:xfrm>
              <a:off x="0" y="0"/>
              <a:ext cx="790448" cy="1971040"/>
            </a:xfrm>
            <a:custGeom>
              <a:avLst/>
              <a:gdLst/>
              <a:ahLst/>
              <a:cxnLst/>
              <a:rect l="l" t="t" r="r" b="b"/>
              <a:pathLst>
                <a:path w="790448" h="1971040">
                  <a:moveTo>
                    <a:pt x="0" y="0"/>
                  </a:moveTo>
                  <a:lnTo>
                    <a:pt x="790448" y="0"/>
                  </a:lnTo>
                  <a:lnTo>
                    <a:pt x="790448" y="1971040"/>
                  </a:lnTo>
                  <a:lnTo>
                    <a:pt x="0" y="1971040"/>
                  </a:lnTo>
                  <a:lnTo>
                    <a:pt x="0" y="0"/>
                  </a:lnTo>
                  <a:close/>
                </a:path>
              </a:pathLst>
            </a:custGeom>
            <a:blipFill>
              <a:blip r:embed="rId3"/>
              <a:stretch>
                <a:fillRect l="-514" b="-206"/>
              </a:stretch>
            </a:blipFill>
          </p:spPr>
          <p:txBody>
            <a:bodyPr/>
            <a:lstStyle/>
            <a:p>
              <a:endParaRPr lang="en-SG"/>
            </a:p>
          </p:txBody>
        </p:sp>
      </p:grpSp>
      <p:grpSp>
        <p:nvGrpSpPr>
          <p:cNvPr id="9" name="Group 9"/>
          <p:cNvGrpSpPr/>
          <p:nvPr/>
        </p:nvGrpSpPr>
        <p:grpSpPr>
          <a:xfrm>
            <a:off x="7839456" y="2569464"/>
            <a:ext cx="2734056" cy="1825752"/>
            <a:chOff x="0" y="0"/>
            <a:chExt cx="3645408" cy="2434336"/>
          </a:xfrm>
        </p:grpSpPr>
        <p:sp>
          <p:nvSpPr>
            <p:cNvPr id="10" name="Freeform 10"/>
            <p:cNvSpPr/>
            <p:nvPr/>
          </p:nvSpPr>
          <p:spPr>
            <a:xfrm>
              <a:off x="0" y="0"/>
              <a:ext cx="3645408" cy="2434336"/>
            </a:xfrm>
            <a:custGeom>
              <a:avLst/>
              <a:gdLst/>
              <a:ahLst/>
              <a:cxnLst/>
              <a:rect l="l" t="t" r="r" b="b"/>
              <a:pathLst>
                <a:path w="3645408" h="2434336">
                  <a:moveTo>
                    <a:pt x="0" y="0"/>
                  </a:moveTo>
                  <a:lnTo>
                    <a:pt x="3645408" y="0"/>
                  </a:lnTo>
                  <a:lnTo>
                    <a:pt x="3645408" y="2434336"/>
                  </a:lnTo>
                  <a:lnTo>
                    <a:pt x="0" y="2434336"/>
                  </a:lnTo>
                  <a:lnTo>
                    <a:pt x="0" y="0"/>
                  </a:lnTo>
                  <a:close/>
                </a:path>
              </a:pathLst>
            </a:custGeom>
            <a:blipFill>
              <a:blip r:embed="rId4"/>
              <a:stretch>
                <a:fillRect l="-55" t="-83"/>
              </a:stretch>
            </a:blipFill>
          </p:spPr>
          <p:txBody>
            <a:bodyPr/>
            <a:lstStyle/>
            <a:p>
              <a:endParaRPr lang="en-SG"/>
            </a:p>
          </p:txBody>
        </p:sp>
      </p:grpSp>
      <p:sp>
        <p:nvSpPr>
          <p:cNvPr id="11" name="TextBox 11"/>
          <p:cNvSpPr txBox="1"/>
          <p:nvPr/>
        </p:nvSpPr>
        <p:spPr>
          <a:xfrm>
            <a:off x="1632385" y="1334119"/>
            <a:ext cx="5782008" cy="523504"/>
          </a:xfrm>
          <a:prstGeom prst="rect">
            <a:avLst/>
          </a:prstGeom>
        </p:spPr>
        <p:txBody>
          <a:bodyPr lIns="0" tIns="0" rIns="0" bIns="0" rtlCol="0" anchor="t">
            <a:spAutoFit/>
          </a:bodyPr>
          <a:lstStyle/>
          <a:p>
            <a:pPr algn="l">
              <a:lnSpc>
                <a:spcPts val="4267"/>
              </a:lnSpc>
            </a:pPr>
            <a:r>
              <a:rPr lang="en-US" sz="3048">
                <a:solidFill>
                  <a:srgbClr val="2C2C2C"/>
                </a:solidFill>
                <a:latin typeface="Montserrat"/>
                <a:ea typeface="Montserrat"/>
                <a:cs typeface="Montserrat"/>
                <a:sym typeface="Montserrat"/>
              </a:rPr>
              <a:t>Satellite Set-up -Full Satellite</a:t>
            </a:r>
          </a:p>
        </p:txBody>
      </p:sp>
      <p:sp>
        <p:nvSpPr>
          <p:cNvPr id="12" name="TextBox 12"/>
          <p:cNvSpPr txBox="1"/>
          <p:nvPr/>
        </p:nvSpPr>
        <p:spPr>
          <a:xfrm>
            <a:off x="1632109" y="3252311"/>
            <a:ext cx="6237799" cy="324526"/>
          </a:xfrm>
          <a:prstGeom prst="rect">
            <a:avLst/>
          </a:prstGeom>
        </p:spPr>
        <p:txBody>
          <a:bodyPr lIns="0" tIns="0" rIns="0" bIns="0" rtlCol="0" anchor="t">
            <a:spAutoFit/>
          </a:bodyPr>
          <a:lstStyle/>
          <a:p>
            <a:pPr algn="l">
              <a:lnSpc>
                <a:spcPts val="2620"/>
              </a:lnSpc>
            </a:pPr>
            <a:r>
              <a:rPr lang="en-US" sz="1872" spc="35">
                <a:solidFill>
                  <a:srgbClr val="E69138"/>
                </a:solidFill>
                <a:latin typeface="Montserrat"/>
                <a:ea typeface="Montserrat"/>
                <a:cs typeface="Montserrat"/>
                <a:sym typeface="Montserrat"/>
              </a:rPr>
              <a:t>Congratulations, you built the entire 1U Cubesat!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TotalTime>
  <Words>1038</Words>
  <Application>Microsoft Office PowerPoint</Application>
  <PresentationFormat>Custom</PresentationFormat>
  <Paragraphs>85</Paragraphs>
  <Slides>20</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Montserrat</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Utilize all available online resources to help you figure out how to complete the exercises.</dc:title>
  <cp:lastModifiedBy>Rohini Parthasarathy</cp:lastModifiedBy>
  <cp:revision>3</cp:revision>
  <dcterms:created xsi:type="dcterms:W3CDTF">2006-08-16T00:00:00Z</dcterms:created>
  <dcterms:modified xsi:type="dcterms:W3CDTF">2026-10-14T14:52:10Z</dcterms:modified>
  <dc:identifier>DAHXyX_H0fo</dc:identifier>
</cp:coreProperties>
</file>