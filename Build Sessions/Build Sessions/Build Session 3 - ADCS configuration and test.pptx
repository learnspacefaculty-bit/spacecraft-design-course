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70" r:id="rId14"/>
    <p:sldId id="271" r:id="rId15"/>
    <p:sldId id="272" r:id="rId16"/>
    <p:sldId id="273" r:id="rId17"/>
  </p:sldIdLst>
  <p:sldSz cx="10693400" cy="7556500"/>
  <p:notesSz cx="6858000" cy="9144000"/>
  <p:embeddedFontLst>
    <p:embeddedFont>
      <p:font typeface="Montserrat" panose="00000500000000000000" pitchFamily="2"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138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8589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Day 4, Friday 16 October. 10:15-11:15, 1 h. Follows Lecture 3, Pointing and attitude control.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Result: the reaction wheel responds. Code: Day6_Exercises EX1, EX2, EX3</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jpe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18.svg"/><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1.sv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5.jpeg"/><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26.sv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0.svg"/><Relationship Id="rId4" Type="http://schemas.openxmlformats.org/officeDocument/2006/relationships/image" Target="../media/image29.sv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3"/>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4"/>
              <a:stretch>
                <a:fillRect l="-514" b="-206"/>
              </a:stretch>
            </a:blipFill>
          </p:spPr>
          <p:txBody>
            <a:bodyPr/>
            <a:lstStyle/>
            <a:p>
              <a:endParaRPr lang="en-SG"/>
            </a:p>
          </p:txBody>
        </p:sp>
      </p:grpSp>
      <p:grpSp>
        <p:nvGrpSpPr>
          <p:cNvPr id="9" name="Group 9"/>
          <p:cNvGrpSpPr/>
          <p:nvPr/>
        </p:nvGrpSpPr>
        <p:grpSpPr>
          <a:xfrm>
            <a:off x="5506212" y="2859024"/>
            <a:ext cx="1565148" cy="515112"/>
            <a:chOff x="0" y="0"/>
            <a:chExt cx="2086864" cy="686816"/>
          </a:xfrm>
        </p:grpSpPr>
        <p:sp>
          <p:nvSpPr>
            <p:cNvPr id="10" name="Freeform 10"/>
            <p:cNvSpPr/>
            <p:nvPr/>
          </p:nvSpPr>
          <p:spPr>
            <a:xfrm>
              <a:off x="0" y="0"/>
              <a:ext cx="2086864" cy="686816"/>
            </a:xfrm>
            <a:custGeom>
              <a:avLst/>
              <a:gdLst/>
              <a:ahLst/>
              <a:cxnLst/>
              <a:rect l="l" t="t" r="r" b="b"/>
              <a:pathLst>
                <a:path w="2086864" h="686816">
                  <a:moveTo>
                    <a:pt x="0" y="0"/>
                  </a:moveTo>
                  <a:lnTo>
                    <a:pt x="2086864" y="0"/>
                  </a:lnTo>
                  <a:lnTo>
                    <a:pt x="2086864" y="686816"/>
                  </a:lnTo>
                  <a:lnTo>
                    <a:pt x="0" y="686816"/>
                  </a:lnTo>
                  <a:lnTo>
                    <a:pt x="0" y="0"/>
                  </a:lnTo>
                  <a:close/>
                </a:path>
              </a:pathLst>
            </a:custGeom>
            <a:blipFill>
              <a:blip r:embed="rId5"/>
              <a:stretch>
                <a:fillRect l="-97"/>
              </a:stretch>
            </a:blipFill>
          </p:spPr>
          <p:txBody>
            <a:bodyPr/>
            <a:lstStyle/>
            <a:p>
              <a:endParaRPr lang="en-SG"/>
            </a:p>
          </p:txBody>
        </p:sp>
      </p:grpSp>
      <p:grpSp>
        <p:nvGrpSpPr>
          <p:cNvPr id="11" name="Group 11"/>
          <p:cNvGrpSpPr/>
          <p:nvPr/>
        </p:nvGrpSpPr>
        <p:grpSpPr>
          <a:xfrm>
            <a:off x="5506212" y="3371088"/>
            <a:ext cx="1565148" cy="1054608"/>
            <a:chOff x="0" y="0"/>
            <a:chExt cx="2086864" cy="1406144"/>
          </a:xfrm>
        </p:grpSpPr>
        <p:sp>
          <p:nvSpPr>
            <p:cNvPr id="12" name="Freeform 12"/>
            <p:cNvSpPr/>
            <p:nvPr/>
          </p:nvSpPr>
          <p:spPr>
            <a:xfrm>
              <a:off x="0" y="0"/>
              <a:ext cx="2086864" cy="1406144"/>
            </a:xfrm>
            <a:custGeom>
              <a:avLst/>
              <a:gdLst/>
              <a:ahLst/>
              <a:cxnLst/>
              <a:rect l="l" t="t" r="r" b="b"/>
              <a:pathLst>
                <a:path w="2086864" h="1406144">
                  <a:moveTo>
                    <a:pt x="0" y="0"/>
                  </a:moveTo>
                  <a:lnTo>
                    <a:pt x="2086864" y="0"/>
                  </a:lnTo>
                  <a:lnTo>
                    <a:pt x="2086864" y="1406144"/>
                  </a:lnTo>
                  <a:lnTo>
                    <a:pt x="0" y="1406144"/>
                  </a:lnTo>
                  <a:lnTo>
                    <a:pt x="0" y="0"/>
                  </a:lnTo>
                  <a:close/>
                </a:path>
              </a:pathLst>
            </a:custGeom>
            <a:blipFill>
              <a:blip r:embed="rId6"/>
              <a:stretch>
                <a:fillRect/>
              </a:stretch>
            </a:blipFill>
          </p:spPr>
          <p:txBody>
            <a:bodyPr/>
            <a:lstStyle/>
            <a:p>
              <a:endParaRPr lang="en-SG"/>
            </a:p>
          </p:txBody>
        </p:sp>
      </p:grpSp>
      <p:sp>
        <p:nvSpPr>
          <p:cNvPr id="13" name="TextBox 13"/>
          <p:cNvSpPr txBox="1"/>
          <p:nvPr/>
        </p:nvSpPr>
        <p:spPr>
          <a:xfrm>
            <a:off x="1632385" y="1334119"/>
            <a:ext cx="8778240" cy="523504"/>
          </a:xfrm>
          <a:prstGeom prst="rect">
            <a:avLst/>
          </a:prstGeom>
        </p:spPr>
        <p:txBody>
          <a:bodyPr wrap="square"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Satellite Design &amp; Integration</a:t>
            </a:r>
          </a:p>
        </p:txBody>
      </p:sp>
      <p:sp>
        <p:nvSpPr>
          <p:cNvPr id="14" name="TextBox 14"/>
          <p:cNvSpPr txBox="1"/>
          <p:nvPr/>
        </p:nvSpPr>
        <p:spPr>
          <a:xfrm>
            <a:off x="1632109" y="2514676"/>
            <a:ext cx="5120640" cy="801776"/>
          </a:xfrm>
          <a:prstGeom prst="rect">
            <a:avLst/>
          </a:prstGeom>
        </p:spPr>
        <p:txBody>
          <a:bodyPr wrap="square" lIns="0" tIns="0" rIns="0" bIns="0" rtlCol="0" anchor="t">
            <a:spAutoFit/>
          </a:bodyPr>
          <a:lstStyle/>
          <a:p>
            <a:pPr algn="l">
              <a:lnSpc>
                <a:spcPts val="6552"/>
              </a:lnSpc>
            </a:pPr>
            <a:r>
              <a:rPr lang="en-US" sz="4000" spc="88">
                <a:solidFill>
                  <a:srgbClr val="2C2C2C"/>
                </a:solidFill>
                <a:latin typeface="Montserrat"/>
                <a:ea typeface="Montserrat"/>
                <a:cs typeface="Montserrat"/>
                <a:sym typeface="Montserrat"/>
              </a:rPr>
              <a:t>Build Session 3</a:t>
            </a:r>
          </a:p>
        </p:txBody>
      </p:sp>
      <p:sp>
        <p:nvSpPr>
          <p:cNvPr id="15" name="TextBox 13"/>
          <p:cNvSpPr txBox="1"/>
          <p:nvPr/>
        </p:nvSpPr>
        <p:spPr>
          <a:xfrm>
            <a:off x="1632385" y="4617720"/>
            <a:ext cx="7863840" cy="1097280"/>
          </a:xfrm>
          <a:prstGeom prst="rect">
            <a:avLst/>
          </a:prstGeom>
        </p:spPr>
        <p:txBody>
          <a:bodyPr wrap="square" lIns="0" tIns="0" rIns="0" bIns="0" rtlCol="0" anchor="t">
            <a:spAutoFit/>
          </a:bodyPr>
          <a:lstStyle/>
          <a:p>
            <a:pPr algn="l">
              <a:lnSpc>
                <a:spcPts val="4267"/>
              </a:lnSpc>
            </a:pPr>
            <a:r>
              <a:rPr lang="en-US" sz="1800">
                <a:solidFill>
                  <a:srgbClr val="2C2C2C"/>
                </a:solidFill>
                <a:latin typeface="Montserrat"/>
                <a:ea typeface="Montserrat"/>
                <a:cs typeface="Montserrat"/>
                <a:sym typeface="Montserrat"/>
              </a:rPr>
              <a:t>ADCS configuration and test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lang="en-SG"/>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lang="en-SG"/>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3"/>
              <a:stretch>
                <a:fillRect l="-804" b="-237"/>
              </a:stretch>
            </a:blipFill>
          </p:spPr>
          <p:txBody>
            <a:bodyPr/>
            <a:lstStyle/>
            <a:p>
              <a:endParaRPr lang="en-SG"/>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4"/>
              <a:stretch>
                <a:fillRect l="-514" b="-206"/>
              </a:stretch>
            </a:blipFill>
          </p:spPr>
          <p:txBody>
            <a:bodyPr/>
            <a:lstStyle/>
            <a:p>
              <a:endParaRPr lang="en-SG"/>
            </a:p>
          </p:txBody>
        </p:sp>
      </p:grpSp>
      <p:grpSp>
        <p:nvGrpSpPr>
          <p:cNvPr id="9" name="Group 9"/>
          <p:cNvGrpSpPr/>
          <p:nvPr/>
        </p:nvGrpSpPr>
        <p:grpSpPr>
          <a:xfrm>
            <a:off x="5506212" y="2859024"/>
            <a:ext cx="1565148" cy="515112"/>
            <a:chOff x="0" y="0"/>
            <a:chExt cx="2086864" cy="686816"/>
          </a:xfrm>
        </p:grpSpPr>
        <p:sp>
          <p:nvSpPr>
            <p:cNvPr id="10" name="Freeform 10"/>
            <p:cNvSpPr/>
            <p:nvPr/>
          </p:nvSpPr>
          <p:spPr>
            <a:xfrm>
              <a:off x="0" y="0"/>
              <a:ext cx="2086864" cy="686816"/>
            </a:xfrm>
            <a:custGeom>
              <a:avLst/>
              <a:gdLst/>
              <a:ahLst/>
              <a:cxnLst/>
              <a:rect l="l" t="t" r="r" b="b"/>
              <a:pathLst>
                <a:path w="2086864" h="686816">
                  <a:moveTo>
                    <a:pt x="0" y="0"/>
                  </a:moveTo>
                  <a:lnTo>
                    <a:pt x="2086864" y="0"/>
                  </a:lnTo>
                  <a:lnTo>
                    <a:pt x="2086864" y="686816"/>
                  </a:lnTo>
                  <a:lnTo>
                    <a:pt x="0" y="686816"/>
                  </a:lnTo>
                  <a:lnTo>
                    <a:pt x="0" y="0"/>
                  </a:lnTo>
                  <a:close/>
                </a:path>
              </a:pathLst>
            </a:custGeom>
            <a:blipFill>
              <a:blip r:embed="rId5"/>
              <a:stretch>
                <a:fillRect l="-97"/>
              </a:stretch>
            </a:blipFill>
          </p:spPr>
          <p:txBody>
            <a:bodyPr/>
            <a:lstStyle/>
            <a:p>
              <a:endParaRPr lang="en-SG"/>
            </a:p>
          </p:txBody>
        </p:sp>
      </p:grpSp>
      <p:grpSp>
        <p:nvGrpSpPr>
          <p:cNvPr id="11" name="Group 11"/>
          <p:cNvGrpSpPr/>
          <p:nvPr/>
        </p:nvGrpSpPr>
        <p:grpSpPr>
          <a:xfrm>
            <a:off x="5506212" y="3371088"/>
            <a:ext cx="1565148" cy="1054608"/>
            <a:chOff x="0" y="0"/>
            <a:chExt cx="2086864" cy="1406144"/>
          </a:xfrm>
        </p:grpSpPr>
        <p:sp>
          <p:nvSpPr>
            <p:cNvPr id="12" name="Freeform 12"/>
            <p:cNvSpPr/>
            <p:nvPr/>
          </p:nvSpPr>
          <p:spPr>
            <a:xfrm>
              <a:off x="0" y="0"/>
              <a:ext cx="2086864" cy="1406144"/>
            </a:xfrm>
            <a:custGeom>
              <a:avLst/>
              <a:gdLst/>
              <a:ahLst/>
              <a:cxnLst/>
              <a:rect l="l" t="t" r="r" b="b"/>
              <a:pathLst>
                <a:path w="2086864" h="1406144">
                  <a:moveTo>
                    <a:pt x="0" y="0"/>
                  </a:moveTo>
                  <a:lnTo>
                    <a:pt x="2086864" y="0"/>
                  </a:lnTo>
                  <a:lnTo>
                    <a:pt x="2086864" y="1406144"/>
                  </a:lnTo>
                  <a:lnTo>
                    <a:pt x="0" y="1406144"/>
                  </a:lnTo>
                  <a:lnTo>
                    <a:pt x="0" y="0"/>
                  </a:lnTo>
                  <a:close/>
                </a:path>
              </a:pathLst>
            </a:custGeom>
            <a:blipFill>
              <a:blip r:embed="rId6"/>
              <a:stretch>
                <a:fillRect/>
              </a:stretch>
            </a:blipFill>
          </p:spPr>
          <p:txBody>
            <a:bodyPr/>
            <a:lstStyle/>
            <a:p>
              <a:endParaRPr lang="en-SG"/>
            </a:p>
          </p:txBody>
        </p:sp>
      </p:grpSp>
      <p:sp>
        <p:nvSpPr>
          <p:cNvPr id="13" name="TextBox 13"/>
          <p:cNvSpPr txBox="1"/>
          <p:nvPr/>
        </p:nvSpPr>
        <p:spPr>
          <a:xfrm>
            <a:off x="1632385" y="1334119"/>
            <a:ext cx="8778240" cy="523504"/>
          </a:xfrm>
          <a:prstGeom prst="rect">
            <a:avLst/>
          </a:prstGeom>
        </p:spPr>
        <p:txBody>
          <a:bodyPr wrap="square"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Build Session 3 — ADCS configuration and test</a:t>
            </a:r>
          </a:p>
        </p:txBody>
      </p:sp>
      <p:sp>
        <p:nvSpPr>
          <p:cNvPr id="14" name="TextBox 14"/>
          <p:cNvSpPr txBox="1"/>
          <p:nvPr/>
        </p:nvSpPr>
        <p:spPr>
          <a:xfrm>
            <a:off x="1632109" y="4572000"/>
            <a:ext cx="8778240" cy="1188720"/>
          </a:xfrm>
          <a:prstGeom prst="rect">
            <a:avLst/>
          </a:prstGeom>
        </p:spPr>
        <p:txBody>
          <a:bodyPr wrap="square" lIns="0" tIns="0" rIns="0" bIns="0" rtlCol="0" anchor="t">
            <a:spAutoFit/>
          </a:bodyPr>
          <a:lstStyle/>
          <a:p>
            <a:pPr algn="l">
              <a:lnSpc>
                <a:spcPts val="6552"/>
              </a:lnSpc>
            </a:pPr>
            <a:r>
              <a:rPr lang="en-US" sz="2800" spc="88">
                <a:solidFill>
                  <a:srgbClr val="2C2C2C"/>
                </a:solidFill>
                <a:latin typeface="Montserrat"/>
                <a:ea typeface="Montserrat"/>
                <a:cs typeface="Montserrat"/>
                <a:sym typeface="Montserrat"/>
              </a:rPr>
              <a:t>Sun sensors and the reaction wheel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3857244"/>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6096"/>
                  </a:moveTo>
                  <a:cubicBezTo>
                    <a:pt x="13716" y="9144"/>
                    <a:pt x="9144" y="15240"/>
                    <a:pt x="4572" y="21336"/>
                  </a:cubicBezTo>
                  <a:cubicBezTo>
                    <a:pt x="1524" y="27432"/>
                    <a:pt x="0" y="35052"/>
                    <a:pt x="0" y="42672"/>
                  </a:cubicBezTo>
                  <a:cubicBezTo>
                    <a:pt x="0" y="53340"/>
                    <a:pt x="3048" y="64008"/>
                    <a:pt x="12192" y="71628"/>
                  </a:cubicBezTo>
                  <a:cubicBezTo>
                    <a:pt x="19812" y="80772"/>
                    <a:pt x="28956" y="83820"/>
                    <a:pt x="41148" y="83820"/>
                  </a:cubicBezTo>
                  <a:cubicBezTo>
                    <a:pt x="53340" y="83820"/>
                    <a:pt x="62484" y="80772"/>
                    <a:pt x="70104" y="71628"/>
                  </a:cubicBezTo>
                  <a:cubicBezTo>
                    <a:pt x="79248" y="64008"/>
                    <a:pt x="83820" y="53340"/>
                    <a:pt x="83820" y="42672"/>
                  </a:cubicBezTo>
                  <a:cubicBezTo>
                    <a:pt x="83820" y="35052"/>
                    <a:pt x="80772" y="27432"/>
                    <a:pt x="77724" y="21336"/>
                  </a:cubicBezTo>
                  <a:cubicBezTo>
                    <a:pt x="73152" y="15240"/>
                    <a:pt x="68580" y="9144"/>
                    <a:pt x="62484" y="6096"/>
                  </a:cubicBezTo>
                  <a:cubicBezTo>
                    <a:pt x="54864" y="3048"/>
                    <a:pt x="48768" y="0"/>
                    <a:pt x="41148" y="0"/>
                  </a:cubicBezTo>
                  <a:cubicBezTo>
                    <a:pt x="33528" y="0"/>
                    <a:pt x="27432" y="3048"/>
                    <a:pt x="21336" y="6096"/>
                  </a:cubicBezTo>
                  <a:close/>
                </a:path>
              </a:pathLst>
            </a:custGeom>
            <a:solidFill>
              <a:srgbClr val="FF0000"/>
            </a:solidFill>
          </p:spPr>
          <p:txBody>
            <a:bodyPr/>
            <a:lstStyle/>
            <a:p>
              <a:endParaRPr/>
            </a:p>
          </p:txBody>
        </p:sp>
      </p:grpSp>
      <p:grpSp>
        <p:nvGrpSpPr>
          <p:cNvPr id="11" name="Group 11"/>
          <p:cNvGrpSpPr/>
          <p:nvPr/>
        </p:nvGrpSpPr>
        <p:grpSpPr>
          <a:xfrm>
            <a:off x="1821180" y="4456176"/>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6096"/>
                  </a:moveTo>
                  <a:cubicBezTo>
                    <a:pt x="13716" y="9144"/>
                    <a:pt x="9144" y="15240"/>
                    <a:pt x="4572" y="21336"/>
                  </a:cubicBezTo>
                  <a:cubicBezTo>
                    <a:pt x="1524" y="28956"/>
                    <a:pt x="0" y="35052"/>
                    <a:pt x="0" y="42672"/>
                  </a:cubicBezTo>
                  <a:cubicBezTo>
                    <a:pt x="0" y="53340"/>
                    <a:pt x="3048" y="64008"/>
                    <a:pt x="12192" y="71628"/>
                  </a:cubicBezTo>
                  <a:cubicBezTo>
                    <a:pt x="19812" y="80772"/>
                    <a:pt x="28956" y="83820"/>
                    <a:pt x="41148" y="83820"/>
                  </a:cubicBezTo>
                  <a:cubicBezTo>
                    <a:pt x="53340" y="83820"/>
                    <a:pt x="62484" y="80772"/>
                    <a:pt x="70104" y="71628"/>
                  </a:cubicBezTo>
                  <a:cubicBezTo>
                    <a:pt x="79248" y="64008"/>
                    <a:pt x="83820" y="53340"/>
                    <a:pt x="83820" y="42672"/>
                  </a:cubicBezTo>
                  <a:cubicBezTo>
                    <a:pt x="83820" y="35052"/>
                    <a:pt x="80772" y="28956"/>
                    <a:pt x="77724" y="21336"/>
                  </a:cubicBezTo>
                  <a:cubicBezTo>
                    <a:pt x="73152" y="15240"/>
                    <a:pt x="68580" y="9144"/>
                    <a:pt x="62484" y="6096"/>
                  </a:cubicBezTo>
                  <a:cubicBezTo>
                    <a:pt x="54864" y="3048"/>
                    <a:pt x="48768" y="0"/>
                    <a:pt x="41148" y="0"/>
                  </a:cubicBezTo>
                  <a:cubicBezTo>
                    <a:pt x="33528" y="0"/>
                    <a:pt x="27432" y="3048"/>
                    <a:pt x="21336" y="6096"/>
                  </a:cubicBezTo>
                  <a:close/>
                </a:path>
              </a:pathLst>
            </a:custGeom>
            <a:solidFill>
              <a:srgbClr val="FF0000"/>
            </a:solidFill>
          </p:spPr>
          <p:txBody>
            <a:bodyPr/>
            <a:lstStyle/>
            <a:p>
              <a:endParaRPr/>
            </a:p>
          </p:txBody>
        </p:sp>
      </p:grpSp>
      <p:sp>
        <p:nvSpPr>
          <p:cNvPr id="13" name="Freeform 13"/>
          <p:cNvSpPr/>
          <p:nvPr/>
        </p:nvSpPr>
        <p:spPr>
          <a:xfrm>
            <a:off x="2167128" y="4570476"/>
            <a:ext cx="6288024" cy="9525"/>
          </a:xfrm>
          <a:custGeom>
            <a:avLst/>
            <a:gdLst/>
            <a:ahLst/>
            <a:cxnLst/>
            <a:rect l="l" t="t" r="r" b="b"/>
            <a:pathLst>
              <a:path w="6288024" h="9525">
                <a:moveTo>
                  <a:pt x="0" y="0"/>
                </a:moveTo>
                <a:lnTo>
                  <a:pt x="6288024" y="0"/>
                </a:lnTo>
                <a:lnTo>
                  <a:pt x="6288024" y="9525"/>
                </a:lnTo>
                <a:lnTo>
                  <a:pt x="0" y="952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14" name="Freeform 14"/>
          <p:cNvSpPr/>
          <p:nvPr/>
        </p:nvSpPr>
        <p:spPr>
          <a:xfrm>
            <a:off x="1593085" y="2251453"/>
            <a:ext cx="2870197" cy="299209"/>
          </a:xfrm>
          <a:custGeom>
            <a:avLst/>
            <a:gdLst/>
            <a:ahLst/>
            <a:cxnLst/>
            <a:rect l="l" t="t" r="r" b="b"/>
            <a:pathLst>
              <a:path w="2870197" h="299209">
                <a:moveTo>
                  <a:pt x="0" y="0"/>
                </a:moveTo>
                <a:lnTo>
                  <a:pt x="2870197" y="0"/>
                </a:lnTo>
                <a:lnTo>
                  <a:pt x="2870197" y="299209"/>
                </a:lnTo>
                <a:lnTo>
                  <a:pt x="0" y="29920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grpSp>
        <p:nvGrpSpPr>
          <p:cNvPr id="15" name="Group 15"/>
          <p:cNvGrpSpPr/>
          <p:nvPr/>
        </p:nvGrpSpPr>
        <p:grpSpPr>
          <a:xfrm>
            <a:off x="4207764" y="4992624"/>
            <a:ext cx="2278380" cy="353568"/>
            <a:chOff x="0" y="0"/>
            <a:chExt cx="3037840" cy="471424"/>
          </a:xfrm>
        </p:grpSpPr>
        <p:sp>
          <p:nvSpPr>
            <p:cNvPr id="16" name="Freeform 16"/>
            <p:cNvSpPr/>
            <p:nvPr/>
          </p:nvSpPr>
          <p:spPr>
            <a:xfrm>
              <a:off x="0" y="0"/>
              <a:ext cx="3037840" cy="471424"/>
            </a:xfrm>
            <a:custGeom>
              <a:avLst/>
              <a:gdLst/>
              <a:ahLst/>
              <a:cxnLst/>
              <a:rect l="l" t="t" r="r" b="b"/>
              <a:pathLst>
                <a:path w="3037840" h="471424">
                  <a:moveTo>
                    <a:pt x="0" y="0"/>
                  </a:moveTo>
                  <a:lnTo>
                    <a:pt x="3037840" y="0"/>
                  </a:lnTo>
                  <a:lnTo>
                    <a:pt x="3037840" y="471424"/>
                  </a:lnTo>
                  <a:lnTo>
                    <a:pt x="0" y="471424"/>
                  </a:lnTo>
                  <a:lnTo>
                    <a:pt x="0" y="0"/>
                  </a:lnTo>
                  <a:close/>
                </a:path>
              </a:pathLst>
            </a:custGeom>
            <a:blipFill>
              <a:blip r:embed="rId6"/>
              <a:stretch>
                <a:fillRect l="-66"/>
              </a:stretch>
            </a:blipFill>
          </p:spPr>
          <p:txBody>
            <a:bodyPr/>
            <a:lstStyle/>
            <a:p>
              <a:endParaRPr/>
            </a:p>
          </p:txBody>
        </p:sp>
      </p:grpSp>
      <p:grpSp>
        <p:nvGrpSpPr>
          <p:cNvPr id="17" name="Group 17"/>
          <p:cNvGrpSpPr/>
          <p:nvPr/>
        </p:nvGrpSpPr>
        <p:grpSpPr>
          <a:xfrm>
            <a:off x="4207764" y="5343144"/>
            <a:ext cx="2278380" cy="826008"/>
            <a:chOff x="0" y="0"/>
            <a:chExt cx="3037840" cy="1101344"/>
          </a:xfrm>
        </p:grpSpPr>
        <p:sp>
          <p:nvSpPr>
            <p:cNvPr id="18" name="Freeform 18"/>
            <p:cNvSpPr/>
            <p:nvPr/>
          </p:nvSpPr>
          <p:spPr>
            <a:xfrm>
              <a:off x="0" y="0"/>
              <a:ext cx="3037840" cy="1101344"/>
            </a:xfrm>
            <a:custGeom>
              <a:avLst/>
              <a:gdLst/>
              <a:ahLst/>
              <a:cxnLst/>
              <a:rect l="l" t="t" r="r" b="b"/>
              <a:pathLst>
                <a:path w="3037840" h="1101344">
                  <a:moveTo>
                    <a:pt x="0" y="0"/>
                  </a:moveTo>
                  <a:lnTo>
                    <a:pt x="3037840" y="0"/>
                  </a:lnTo>
                  <a:lnTo>
                    <a:pt x="3037840" y="1101344"/>
                  </a:lnTo>
                  <a:lnTo>
                    <a:pt x="0" y="1101344"/>
                  </a:lnTo>
                  <a:lnTo>
                    <a:pt x="0" y="0"/>
                  </a:lnTo>
                  <a:close/>
                </a:path>
              </a:pathLst>
            </a:custGeom>
            <a:blipFill>
              <a:blip r:embed="rId7"/>
              <a:stretch>
                <a:fillRect/>
              </a:stretch>
            </a:blipFill>
          </p:spPr>
          <p:txBody>
            <a:bodyPr/>
            <a:lstStyle/>
            <a:p>
              <a:endParaRPr/>
            </a:p>
          </p:txBody>
        </p:sp>
      </p:grpSp>
      <p:sp>
        <p:nvSpPr>
          <p:cNvPr id="19" name="TextBox 19"/>
          <p:cNvSpPr txBox="1"/>
          <p:nvPr/>
        </p:nvSpPr>
        <p:spPr>
          <a:xfrm>
            <a:off x="1632385" y="1334119"/>
            <a:ext cx="3592250" cy="523504"/>
          </a:xfrm>
          <a:prstGeom prst="rect">
            <a:avLst/>
          </a:prstGeom>
        </p:spPr>
        <p:txBody>
          <a:bodyPr wrap="square" lIns="0" tIns="0" rIns="0" bIns="0" rtlCol="0" anchor="t">
            <a:spAutoFit/>
          </a:bodyPr>
          <a:lstStyle/>
          <a:p>
            <a:pPr algn="l">
              <a:lnSpc>
                <a:spcPts val="4267"/>
              </a:lnSpc>
            </a:pPr>
            <a:r>
              <a:rPr lang="en-US" sz="3000">
                <a:solidFill>
                  <a:srgbClr val="2C2C2C"/>
                </a:solidFill>
                <a:latin typeface="Montserrat"/>
                <a:ea typeface="Montserrat"/>
                <a:cs typeface="Montserrat"/>
                <a:sym typeface="Montserrat"/>
              </a:rPr>
              <a:t>Before you start</a:t>
            </a:r>
          </a:p>
        </p:txBody>
      </p:sp>
      <p:sp>
        <p:nvSpPr>
          <p:cNvPr id="20" name="TextBox 20"/>
          <p:cNvSpPr txBox="1"/>
          <p:nvPr/>
        </p:nvSpPr>
        <p:spPr>
          <a:xfrm>
            <a:off x="1632204" y="2834602"/>
            <a:ext cx="6500746" cy="269443"/>
          </a:xfrm>
          <a:prstGeom prst="rect">
            <a:avLst/>
          </a:prstGeom>
        </p:spPr>
        <p:txBody>
          <a:bodyPr lIns="0" tIns="0" rIns="0" bIns="0" rtlCol="0" anchor="t">
            <a:spAutoFit/>
          </a:bodyPr>
          <a:lstStyle/>
          <a:p>
            <a:pPr algn="l">
              <a:lnSpc>
                <a:spcPts val="2116"/>
              </a:lnSpc>
            </a:pPr>
            <a:r>
              <a:rPr lang="en-US" sz="1512" spc="-7">
                <a:solidFill>
                  <a:srgbClr val="000000"/>
                </a:solidFill>
                <a:latin typeface="Montserrat"/>
                <a:ea typeface="Montserrat"/>
                <a:cs typeface="Montserrat"/>
                <a:sym typeface="Montserrat"/>
              </a:rPr>
              <a:t>Remember that the ADCS has an Arduino Nano Every (USB Micro).</a:t>
            </a:r>
          </a:p>
        </p:txBody>
      </p:sp>
      <p:sp>
        <p:nvSpPr>
          <p:cNvPr id="21" name="TextBox 21"/>
          <p:cNvSpPr txBox="1"/>
          <p:nvPr/>
        </p:nvSpPr>
        <p:spPr>
          <a:xfrm>
            <a:off x="1632204" y="3433524"/>
            <a:ext cx="1306811" cy="269443"/>
          </a:xfrm>
          <a:prstGeom prst="rect">
            <a:avLst/>
          </a:prstGeom>
        </p:spPr>
        <p:txBody>
          <a:bodyPr lIns="0" tIns="0" rIns="0" bIns="0" rtlCol="0" anchor="t">
            <a:spAutoFit/>
          </a:bodyPr>
          <a:lstStyle/>
          <a:p>
            <a:pPr algn="l">
              <a:lnSpc>
                <a:spcPts val="2116"/>
              </a:lnSpc>
            </a:pPr>
            <a:r>
              <a:rPr lang="en-US" sz="1512" spc="30">
                <a:solidFill>
                  <a:srgbClr val="FF0000"/>
                </a:solidFill>
                <a:latin typeface="Montserrat"/>
                <a:ea typeface="Montserrat"/>
                <a:cs typeface="Montserrat"/>
                <a:sym typeface="Montserrat"/>
              </a:rPr>
              <a:t>IMPORTANT:</a:t>
            </a:r>
          </a:p>
        </p:txBody>
      </p:sp>
      <p:sp>
        <p:nvSpPr>
          <p:cNvPr id="22" name="TextBox 22"/>
          <p:cNvSpPr txBox="1"/>
          <p:nvPr/>
        </p:nvSpPr>
        <p:spPr>
          <a:xfrm>
            <a:off x="2167185" y="3711540"/>
            <a:ext cx="7731357" cy="887416"/>
          </a:xfrm>
          <a:prstGeom prst="rect">
            <a:avLst/>
          </a:prstGeom>
        </p:spPr>
        <p:txBody>
          <a:bodyPr lIns="0" tIns="0" rIns="0" bIns="0" rtlCol="0" anchor="t">
            <a:spAutoFit/>
          </a:bodyPr>
          <a:lstStyle/>
          <a:p>
            <a:pPr algn="l">
              <a:lnSpc>
                <a:spcPts val="2355"/>
              </a:lnSpc>
            </a:pPr>
            <a:r>
              <a:rPr lang="en-US" sz="1512" spc="31">
                <a:solidFill>
                  <a:srgbClr val="FF0000"/>
                </a:solidFill>
                <a:latin typeface="Montserrat"/>
                <a:ea typeface="Montserrat"/>
                <a:cs typeface="Montserrat"/>
                <a:sym typeface="Montserrat"/>
              </a:rPr>
              <a:t>Keep the USB C connected to charge the battery for all the exercises since the ADCS draws a lot of current.</a:t>
            </a:r>
          </a:p>
          <a:p>
            <a:pPr algn="l">
              <a:lnSpc>
                <a:spcPts val="2355"/>
              </a:lnSpc>
            </a:pPr>
            <a:r>
              <a:rPr lang="en-US" sz="1512" spc="31">
                <a:solidFill>
                  <a:srgbClr val="FF0000"/>
                </a:solidFill>
                <a:latin typeface="Montserrat"/>
                <a:ea typeface="Montserrat"/>
                <a:cs typeface="Montserrat"/>
                <a:sym typeface="Montserrat"/>
              </a:rPr>
              <a:t>DO NOT UPLOAD ANY OF THE OBC PROGRAMS ON THE ADCS.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821180" y="3560064"/>
            <a:ext cx="83820" cy="83820"/>
            <a:chOff x="0" y="0"/>
            <a:chExt cx="83820" cy="83820"/>
          </a:xfrm>
        </p:grpSpPr>
        <p:sp>
          <p:nvSpPr>
            <p:cNvPr id="6" name="Freeform 6"/>
            <p:cNvSpPr/>
            <p:nvPr/>
          </p:nvSpPr>
          <p:spPr>
            <a:xfrm>
              <a:off x="0" y="0"/>
              <a:ext cx="83820" cy="83820"/>
            </a:xfrm>
            <a:custGeom>
              <a:avLst/>
              <a:gdLst/>
              <a:ahLst/>
              <a:cxnLst/>
              <a:rect l="l" t="t" r="r" b="b"/>
              <a:pathLst>
                <a:path w="83820" h="83820">
                  <a:moveTo>
                    <a:pt x="21336" y="6096"/>
                  </a:moveTo>
                  <a:cubicBezTo>
                    <a:pt x="13716" y="9144"/>
                    <a:pt x="9144" y="13716"/>
                    <a:pt x="4572" y="21336"/>
                  </a:cubicBezTo>
                  <a:cubicBezTo>
                    <a:pt x="1524" y="27432"/>
                    <a:pt x="0" y="35052"/>
                    <a:pt x="0" y="42672"/>
                  </a:cubicBezTo>
                  <a:cubicBezTo>
                    <a:pt x="0" y="53340"/>
                    <a:pt x="3048" y="64008"/>
                    <a:pt x="12192" y="71628"/>
                  </a:cubicBezTo>
                  <a:cubicBezTo>
                    <a:pt x="19812" y="79248"/>
                    <a:pt x="28956" y="83820"/>
                    <a:pt x="41148" y="83820"/>
                  </a:cubicBezTo>
                  <a:cubicBezTo>
                    <a:pt x="53340" y="83820"/>
                    <a:pt x="62484" y="79248"/>
                    <a:pt x="70104" y="71628"/>
                  </a:cubicBezTo>
                  <a:cubicBezTo>
                    <a:pt x="79248" y="64008"/>
                    <a:pt x="83820" y="53340"/>
                    <a:pt x="83820" y="42672"/>
                  </a:cubicBezTo>
                  <a:cubicBezTo>
                    <a:pt x="83820" y="35052"/>
                    <a:pt x="80772" y="27432"/>
                    <a:pt x="77724" y="21336"/>
                  </a:cubicBezTo>
                  <a:cubicBezTo>
                    <a:pt x="73152" y="13716"/>
                    <a:pt x="68580" y="9144"/>
                    <a:pt x="62484" y="6096"/>
                  </a:cubicBezTo>
                  <a:cubicBezTo>
                    <a:pt x="54864" y="1524"/>
                    <a:pt x="48768" y="0"/>
                    <a:pt x="41148" y="0"/>
                  </a:cubicBezTo>
                  <a:cubicBezTo>
                    <a:pt x="33528" y="0"/>
                    <a:pt x="27432" y="1524"/>
                    <a:pt x="21336" y="6096"/>
                  </a:cubicBezTo>
                  <a:close/>
                </a:path>
              </a:pathLst>
            </a:custGeom>
            <a:solidFill>
              <a:srgbClr val="000000"/>
            </a:solidFill>
          </p:spPr>
          <p:txBody>
            <a:bodyPr/>
            <a:lstStyle/>
            <a:p>
              <a:endParaRPr/>
            </a:p>
          </p:txBody>
        </p:sp>
      </p:grpSp>
      <p:sp>
        <p:nvSpPr>
          <p:cNvPr id="7" name="Freeform 7"/>
          <p:cNvSpPr/>
          <p:nvPr/>
        </p:nvSpPr>
        <p:spPr>
          <a:xfrm>
            <a:off x="4923025" y="2259073"/>
            <a:ext cx="1815589" cy="280921"/>
          </a:xfrm>
          <a:custGeom>
            <a:avLst/>
            <a:gdLst/>
            <a:ahLst/>
            <a:cxnLst/>
            <a:rect l="l" t="t" r="r" b="b"/>
            <a:pathLst>
              <a:path w="1815589" h="280921">
                <a:moveTo>
                  <a:pt x="0" y="0"/>
                </a:moveTo>
                <a:lnTo>
                  <a:pt x="1815589" y="0"/>
                </a:lnTo>
                <a:lnTo>
                  <a:pt x="1815589" y="280921"/>
                </a:lnTo>
                <a:lnTo>
                  <a:pt x="0" y="2809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a:p>
        </p:txBody>
      </p:sp>
      <p:grpSp>
        <p:nvGrpSpPr>
          <p:cNvPr id="8" name="Group 8"/>
          <p:cNvGrpSpPr/>
          <p:nvPr/>
        </p:nvGrpSpPr>
        <p:grpSpPr>
          <a:xfrm>
            <a:off x="192024" y="950976"/>
            <a:ext cx="568452" cy="1284732"/>
            <a:chOff x="0" y="0"/>
            <a:chExt cx="757936" cy="1712976"/>
          </a:xfrm>
        </p:grpSpPr>
        <p:sp>
          <p:nvSpPr>
            <p:cNvPr id="9" name="Freeform 9"/>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3"/>
              <a:stretch>
                <a:fillRect l="-804" b="-237"/>
              </a:stretch>
            </a:blipFill>
          </p:spPr>
          <p:txBody>
            <a:bodyPr/>
            <a:lstStyle/>
            <a:p>
              <a:endParaRPr/>
            </a:p>
          </p:txBody>
        </p:sp>
      </p:grpSp>
      <p:grpSp>
        <p:nvGrpSpPr>
          <p:cNvPr id="10" name="Group 10"/>
          <p:cNvGrpSpPr/>
          <p:nvPr/>
        </p:nvGrpSpPr>
        <p:grpSpPr>
          <a:xfrm>
            <a:off x="179832" y="5116068"/>
            <a:ext cx="592836" cy="1478280"/>
            <a:chOff x="0" y="0"/>
            <a:chExt cx="790448" cy="1971040"/>
          </a:xfrm>
        </p:grpSpPr>
        <p:sp>
          <p:nvSpPr>
            <p:cNvPr id="11" name="Freeform 11"/>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4"/>
              <a:stretch>
                <a:fillRect l="-514" b="-206"/>
              </a:stretch>
            </a:blipFill>
          </p:spPr>
          <p:txBody>
            <a:bodyPr/>
            <a:lstStyle/>
            <a:p>
              <a:endParaRPr/>
            </a:p>
          </p:txBody>
        </p:sp>
      </p:grpSp>
      <p:grpSp>
        <p:nvGrpSpPr>
          <p:cNvPr id="12" name="Group 12"/>
          <p:cNvGrpSpPr/>
          <p:nvPr/>
        </p:nvGrpSpPr>
        <p:grpSpPr>
          <a:xfrm>
            <a:off x="8753856" y="950976"/>
            <a:ext cx="1709928" cy="472440"/>
            <a:chOff x="0" y="0"/>
            <a:chExt cx="2279904" cy="629920"/>
          </a:xfrm>
        </p:grpSpPr>
        <p:sp>
          <p:nvSpPr>
            <p:cNvPr id="13" name="Freeform 13"/>
            <p:cNvSpPr/>
            <p:nvPr/>
          </p:nvSpPr>
          <p:spPr>
            <a:xfrm>
              <a:off x="0" y="0"/>
              <a:ext cx="2279904" cy="629920"/>
            </a:xfrm>
            <a:custGeom>
              <a:avLst/>
              <a:gdLst/>
              <a:ahLst/>
              <a:cxnLst/>
              <a:rect l="l" t="t" r="r" b="b"/>
              <a:pathLst>
                <a:path w="2279904" h="629920">
                  <a:moveTo>
                    <a:pt x="0" y="0"/>
                  </a:moveTo>
                  <a:lnTo>
                    <a:pt x="2279904" y="0"/>
                  </a:lnTo>
                  <a:lnTo>
                    <a:pt x="2279904" y="629920"/>
                  </a:lnTo>
                  <a:lnTo>
                    <a:pt x="0" y="629920"/>
                  </a:lnTo>
                  <a:lnTo>
                    <a:pt x="0" y="0"/>
                  </a:lnTo>
                  <a:close/>
                </a:path>
              </a:pathLst>
            </a:custGeom>
            <a:blipFill>
              <a:blip r:embed="rId5"/>
              <a:stretch>
                <a:fillRect/>
              </a:stretch>
            </a:blipFill>
          </p:spPr>
          <p:txBody>
            <a:bodyPr/>
            <a:lstStyle/>
            <a:p>
              <a:endParaRPr/>
            </a:p>
          </p:txBody>
        </p:sp>
      </p:grpSp>
      <p:grpSp>
        <p:nvGrpSpPr>
          <p:cNvPr id="14" name="Group 14"/>
          <p:cNvGrpSpPr/>
          <p:nvPr/>
        </p:nvGrpSpPr>
        <p:grpSpPr>
          <a:xfrm>
            <a:off x="8753856" y="1420368"/>
            <a:ext cx="1709928" cy="472440"/>
            <a:chOff x="0" y="0"/>
            <a:chExt cx="2279904" cy="629920"/>
          </a:xfrm>
        </p:grpSpPr>
        <p:sp>
          <p:nvSpPr>
            <p:cNvPr id="15" name="Freeform 15"/>
            <p:cNvSpPr/>
            <p:nvPr/>
          </p:nvSpPr>
          <p:spPr>
            <a:xfrm>
              <a:off x="0" y="0"/>
              <a:ext cx="2279904" cy="629920"/>
            </a:xfrm>
            <a:custGeom>
              <a:avLst/>
              <a:gdLst/>
              <a:ahLst/>
              <a:cxnLst/>
              <a:rect l="l" t="t" r="r" b="b"/>
              <a:pathLst>
                <a:path w="2279904" h="629920">
                  <a:moveTo>
                    <a:pt x="0" y="0"/>
                  </a:moveTo>
                  <a:lnTo>
                    <a:pt x="2279904" y="0"/>
                  </a:lnTo>
                  <a:lnTo>
                    <a:pt x="2279904" y="629920"/>
                  </a:lnTo>
                  <a:lnTo>
                    <a:pt x="0" y="629920"/>
                  </a:lnTo>
                  <a:lnTo>
                    <a:pt x="0" y="0"/>
                  </a:lnTo>
                  <a:close/>
                </a:path>
              </a:pathLst>
            </a:custGeom>
            <a:blipFill>
              <a:blip r:embed="rId6"/>
              <a:stretch>
                <a:fillRect/>
              </a:stretch>
            </a:blipFill>
          </p:spPr>
          <p:txBody>
            <a:bodyPr/>
            <a:lstStyle/>
            <a:p>
              <a:endParaRPr/>
            </a:p>
          </p:txBody>
        </p:sp>
      </p:grpSp>
      <p:grpSp>
        <p:nvGrpSpPr>
          <p:cNvPr id="16" name="Group 16"/>
          <p:cNvGrpSpPr/>
          <p:nvPr/>
        </p:nvGrpSpPr>
        <p:grpSpPr>
          <a:xfrm>
            <a:off x="8753856" y="1889760"/>
            <a:ext cx="1709928" cy="344424"/>
            <a:chOff x="0" y="0"/>
            <a:chExt cx="2279904" cy="459232"/>
          </a:xfrm>
        </p:grpSpPr>
        <p:sp>
          <p:nvSpPr>
            <p:cNvPr id="17" name="Freeform 17"/>
            <p:cNvSpPr/>
            <p:nvPr/>
          </p:nvSpPr>
          <p:spPr>
            <a:xfrm>
              <a:off x="0" y="0"/>
              <a:ext cx="2279904" cy="459232"/>
            </a:xfrm>
            <a:custGeom>
              <a:avLst/>
              <a:gdLst/>
              <a:ahLst/>
              <a:cxnLst/>
              <a:rect l="l" t="t" r="r" b="b"/>
              <a:pathLst>
                <a:path w="2279904" h="459232">
                  <a:moveTo>
                    <a:pt x="0" y="0"/>
                  </a:moveTo>
                  <a:lnTo>
                    <a:pt x="2279904" y="0"/>
                  </a:lnTo>
                  <a:lnTo>
                    <a:pt x="2279904" y="459232"/>
                  </a:lnTo>
                  <a:lnTo>
                    <a:pt x="0" y="459232"/>
                  </a:lnTo>
                  <a:lnTo>
                    <a:pt x="0" y="0"/>
                  </a:lnTo>
                  <a:close/>
                </a:path>
              </a:pathLst>
            </a:custGeom>
            <a:blipFill>
              <a:blip r:embed="rId7"/>
              <a:stretch>
                <a:fillRect/>
              </a:stretch>
            </a:blipFill>
          </p:spPr>
          <p:txBody>
            <a:bodyPr/>
            <a:lstStyle/>
            <a:p>
              <a:endParaRPr/>
            </a:p>
          </p:txBody>
        </p:sp>
      </p:grpSp>
      <p:sp>
        <p:nvSpPr>
          <p:cNvPr id="18" name="TextBox 18"/>
          <p:cNvSpPr txBox="1"/>
          <p:nvPr/>
        </p:nvSpPr>
        <p:spPr>
          <a:xfrm>
            <a:off x="1632204" y="1334119"/>
            <a:ext cx="4939344" cy="1171146"/>
          </a:xfrm>
          <a:prstGeom prst="rect">
            <a:avLst/>
          </a:prstGeom>
        </p:spPr>
        <p:txBody>
          <a:bodyPr wrap="square" lIns="0" tIns="0" rIns="0" bIns="0" rtlCol="0" anchor="t">
            <a:spAutoFit/>
          </a:bodyPr>
          <a:lstStyle/>
          <a:p>
            <a:pPr algn="l">
              <a:lnSpc>
                <a:spcPts val="4267"/>
              </a:lnSpc>
            </a:pPr>
            <a:r>
              <a:rPr lang="en-US" sz="3000">
                <a:solidFill>
                  <a:srgbClr val="2C2C2C"/>
                </a:solidFill>
                <a:latin typeface="Montserrat"/>
                <a:ea typeface="Montserrat"/>
                <a:cs typeface="Montserrat"/>
                <a:sym typeface="Montserrat"/>
              </a:rPr>
              <a:t>Reading one sun sensor</a:t>
            </a:r>
          </a:p>
          <a:p>
            <a:pPr algn="l">
              <a:lnSpc>
                <a:spcPts val="2116"/>
              </a:lnSpc>
            </a:pPr>
            <a:r>
              <a:rPr lang="en-US" sz="1512" spc="31">
                <a:solidFill>
                  <a:srgbClr val="000000"/>
                </a:solidFill>
                <a:latin typeface="Montserrat"/>
                <a:ea typeface="Montserrat"/>
                <a:cs typeface="Montserrat"/>
                <a:sym typeface="Montserrat"/>
              </a:rPr>
              <a:t>CREATE A NEW SKETCH CALLED </a:t>
            </a:r>
          </a:p>
        </p:txBody>
      </p:sp>
      <p:sp>
        <p:nvSpPr>
          <p:cNvPr id="19" name="TextBox 19"/>
          <p:cNvSpPr txBox="1"/>
          <p:nvPr/>
        </p:nvSpPr>
        <p:spPr>
          <a:xfrm>
            <a:off x="1632204" y="2815552"/>
            <a:ext cx="7922914" cy="588626"/>
          </a:xfrm>
          <a:prstGeom prst="rect">
            <a:avLst/>
          </a:prstGeom>
        </p:spPr>
        <p:txBody>
          <a:bodyPr lIns="0" tIns="0" rIns="0" bIns="0" rtlCol="0" anchor="t">
            <a:spAutoFit/>
          </a:bodyPr>
          <a:lstStyle/>
          <a:p>
            <a:pPr algn="l">
              <a:lnSpc>
                <a:spcPts val="2363"/>
              </a:lnSpc>
            </a:pPr>
            <a:r>
              <a:rPr lang="en-US" sz="1512" spc="-7">
                <a:solidFill>
                  <a:srgbClr val="000000"/>
                </a:solidFill>
                <a:latin typeface="Montserrat"/>
                <a:ea typeface="Montserrat"/>
                <a:cs typeface="Montserrat"/>
                <a:sym typeface="Montserrat"/>
              </a:rPr>
              <a:t>The ADCS can read values from 3 analog sun sensors (Adafruit ALS-PT19) placed inside the solar panels:</a:t>
            </a:r>
          </a:p>
        </p:txBody>
      </p:sp>
      <p:sp>
        <p:nvSpPr>
          <p:cNvPr id="20" name="TextBox 20"/>
          <p:cNvSpPr txBox="1"/>
          <p:nvPr/>
        </p:nvSpPr>
        <p:spPr>
          <a:xfrm>
            <a:off x="2167185" y="3414474"/>
            <a:ext cx="7579366" cy="885882"/>
          </a:xfrm>
          <a:prstGeom prst="rect">
            <a:avLst/>
          </a:prstGeom>
        </p:spPr>
        <p:txBody>
          <a:bodyPr lIns="0" tIns="0" rIns="0" bIns="0" rtlCol="0" anchor="t">
            <a:spAutoFit/>
          </a:bodyPr>
          <a:lstStyle/>
          <a:p>
            <a:pPr algn="l">
              <a:lnSpc>
                <a:spcPts val="2355"/>
              </a:lnSpc>
            </a:pPr>
            <a:r>
              <a:rPr lang="en-US" sz="1512" spc="-9">
                <a:solidFill>
                  <a:srgbClr val="000000"/>
                </a:solidFill>
                <a:latin typeface="Montserrat"/>
                <a:ea typeface="Montserrat"/>
                <a:cs typeface="Montserrat"/>
                <a:sym typeface="Montserrat"/>
              </a:rPr>
              <a:t>Look at the online documentation of the sun sensors and create a function to read one of them first to see what the output looks like in the serial monitor. Refer to the ADCS schematics to see the pin connection of the sensor.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3560064"/>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6096"/>
                  </a:moveTo>
                  <a:cubicBezTo>
                    <a:pt x="13716" y="9144"/>
                    <a:pt x="9144" y="13716"/>
                    <a:pt x="4572" y="21336"/>
                  </a:cubicBezTo>
                  <a:cubicBezTo>
                    <a:pt x="1524" y="27432"/>
                    <a:pt x="0" y="35052"/>
                    <a:pt x="0" y="42672"/>
                  </a:cubicBezTo>
                  <a:cubicBezTo>
                    <a:pt x="0" y="53340"/>
                    <a:pt x="3048" y="64008"/>
                    <a:pt x="12192" y="71628"/>
                  </a:cubicBezTo>
                  <a:cubicBezTo>
                    <a:pt x="19812" y="79248"/>
                    <a:pt x="28956" y="83820"/>
                    <a:pt x="41148" y="83820"/>
                  </a:cubicBezTo>
                  <a:cubicBezTo>
                    <a:pt x="53340" y="83820"/>
                    <a:pt x="62484" y="79248"/>
                    <a:pt x="70104" y="71628"/>
                  </a:cubicBezTo>
                  <a:cubicBezTo>
                    <a:pt x="79248" y="64008"/>
                    <a:pt x="83820" y="53340"/>
                    <a:pt x="83820" y="42672"/>
                  </a:cubicBezTo>
                  <a:cubicBezTo>
                    <a:pt x="83820" y="35052"/>
                    <a:pt x="80772" y="27432"/>
                    <a:pt x="77724" y="21336"/>
                  </a:cubicBezTo>
                  <a:cubicBezTo>
                    <a:pt x="73152" y="13716"/>
                    <a:pt x="68580" y="9144"/>
                    <a:pt x="62484" y="6096"/>
                  </a:cubicBezTo>
                  <a:cubicBezTo>
                    <a:pt x="54864" y="1524"/>
                    <a:pt x="48768" y="0"/>
                    <a:pt x="41148" y="0"/>
                  </a:cubicBezTo>
                  <a:cubicBezTo>
                    <a:pt x="33528" y="0"/>
                    <a:pt x="27432" y="1524"/>
                    <a:pt x="21336" y="6096"/>
                  </a:cubicBezTo>
                  <a:close/>
                </a:path>
              </a:pathLst>
            </a:custGeom>
            <a:solidFill>
              <a:srgbClr val="000000"/>
            </a:solidFill>
          </p:spPr>
          <p:txBody>
            <a:bodyPr/>
            <a:lstStyle/>
            <a:p>
              <a:endParaRPr/>
            </a:p>
          </p:txBody>
        </p:sp>
      </p:grpSp>
      <p:grpSp>
        <p:nvGrpSpPr>
          <p:cNvPr id="11" name="Group 11"/>
          <p:cNvGrpSpPr/>
          <p:nvPr/>
        </p:nvGrpSpPr>
        <p:grpSpPr>
          <a:xfrm>
            <a:off x="1821180" y="4456176"/>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6096"/>
                  </a:moveTo>
                  <a:cubicBezTo>
                    <a:pt x="13716" y="9144"/>
                    <a:pt x="9144" y="15240"/>
                    <a:pt x="4572" y="21336"/>
                  </a:cubicBezTo>
                  <a:cubicBezTo>
                    <a:pt x="1524" y="28956"/>
                    <a:pt x="0" y="35052"/>
                    <a:pt x="0" y="42672"/>
                  </a:cubicBezTo>
                  <a:cubicBezTo>
                    <a:pt x="0" y="53340"/>
                    <a:pt x="3048" y="64008"/>
                    <a:pt x="12192" y="71628"/>
                  </a:cubicBezTo>
                  <a:cubicBezTo>
                    <a:pt x="19812" y="80772"/>
                    <a:pt x="28956" y="83820"/>
                    <a:pt x="41148" y="83820"/>
                  </a:cubicBezTo>
                  <a:cubicBezTo>
                    <a:pt x="53340" y="83820"/>
                    <a:pt x="62484" y="80772"/>
                    <a:pt x="70104" y="71628"/>
                  </a:cubicBezTo>
                  <a:cubicBezTo>
                    <a:pt x="79248" y="64008"/>
                    <a:pt x="83820" y="53340"/>
                    <a:pt x="83820" y="42672"/>
                  </a:cubicBezTo>
                  <a:cubicBezTo>
                    <a:pt x="83820" y="35052"/>
                    <a:pt x="80772" y="28956"/>
                    <a:pt x="77724" y="21336"/>
                  </a:cubicBezTo>
                  <a:cubicBezTo>
                    <a:pt x="73152" y="15240"/>
                    <a:pt x="68580" y="9144"/>
                    <a:pt x="62484" y="6096"/>
                  </a:cubicBezTo>
                  <a:cubicBezTo>
                    <a:pt x="54864" y="3048"/>
                    <a:pt x="48768" y="0"/>
                    <a:pt x="41148" y="0"/>
                  </a:cubicBezTo>
                  <a:cubicBezTo>
                    <a:pt x="33528" y="0"/>
                    <a:pt x="27432" y="3048"/>
                    <a:pt x="21336" y="6096"/>
                  </a:cubicBezTo>
                  <a:close/>
                </a:path>
              </a:pathLst>
            </a:custGeom>
            <a:solidFill>
              <a:srgbClr val="000000"/>
            </a:solidFill>
          </p:spPr>
          <p:txBody>
            <a:bodyPr/>
            <a:lstStyle/>
            <a:p>
              <a:endParaRPr/>
            </a:p>
          </p:txBody>
        </p:sp>
      </p:grpSp>
      <p:grpSp>
        <p:nvGrpSpPr>
          <p:cNvPr id="13" name="Group 13"/>
          <p:cNvGrpSpPr/>
          <p:nvPr/>
        </p:nvGrpSpPr>
        <p:grpSpPr>
          <a:xfrm>
            <a:off x="1821180" y="6548628"/>
            <a:ext cx="83820" cy="83820"/>
            <a:chOff x="0" y="0"/>
            <a:chExt cx="83820" cy="83820"/>
          </a:xfrm>
        </p:grpSpPr>
        <p:sp>
          <p:nvSpPr>
            <p:cNvPr id="14" name="Freeform 14"/>
            <p:cNvSpPr/>
            <p:nvPr/>
          </p:nvSpPr>
          <p:spPr>
            <a:xfrm>
              <a:off x="0" y="0"/>
              <a:ext cx="83820" cy="83820"/>
            </a:xfrm>
            <a:custGeom>
              <a:avLst/>
              <a:gdLst/>
              <a:ahLst/>
              <a:cxnLst/>
              <a:rect l="l" t="t" r="r" b="b"/>
              <a:pathLst>
                <a:path w="83820" h="83820">
                  <a:moveTo>
                    <a:pt x="21336" y="6096"/>
                  </a:moveTo>
                  <a:cubicBezTo>
                    <a:pt x="13716" y="9144"/>
                    <a:pt x="9144" y="15240"/>
                    <a:pt x="4572" y="21336"/>
                  </a:cubicBezTo>
                  <a:cubicBezTo>
                    <a:pt x="1524" y="28956"/>
                    <a:pt x="0" y="35052"/>
                    <a:pt x="0" y="42672"/>
                  </a:cubicBezTo>
                  <a:cubicBezTo>
                    <a:pt x="0" y="54864"/>
                    <a:pt x="3048" y="64008"/>
                    <a:pt x="12192" y="71628"/>
                  </a:cubicBezTo>
                  <a:cubicBezTo>
                    <a:pt x="19812" y="80772"/>
                    <a:pt x="28956" y="83820"/>
                    <a:pt x="41148" y="83820"/>
                  </a:cubicBezTo>
                  <a:cubicBezTo>
                    <a:pt x="53340" y="83820"/>
                    <a:pt x="62484" y="80772"/>
                    <a:pt x="70104" y="71628"/>
                  </a:cubicBezTo>
                  <a:cubicBezTo>
                    <a:pt x="79248" y="64008"/>
                    <a:pt x="83820" y="54864"/>
                    <a:pt x="83820" y="42672"/>
                  </a:cubicBezTo>
                  <a:cubicBezTo>
                    <a:pt x="83820" y="35052"/>
                    <a:pt x="80772" y="28956"/>
                    <a:pt x="77724" y="21336"/>
                  </a:cubicBezTo>
                  <a:cubicBezTo>
                    <a:pt x="73152" y="15240"/>
                    <a:pt x="68580" y="9144"/>
                    <a:pt x="62484" y="6096"/>
                  </a:cubicBezTo>
                  <a:cubicBezTo>
                    <a:pt x="54864" y="3048"/>
                    <a:pt x="48768" y="0"/>
                    <a:pt x="41148" y="0"/>
                  </a:cubicBezTo>
                  <a:cubicBezTo>
                    <a:pt x="33528" y="0"/>
                    <a:pt x="27432" y="3048"/>
                    <a:pt x="21336" y="6096"/>
                  </a:cubicBezTo>
                  <a:close/>
                </a:path>
              </a:pathLst>
            </a:custGeom>
            <a:solidFill>
              <a:srgbClr val="000000"/>
            </a:solidFill>
          </p:spPr>
          <p:txBody>
            <a:bodyPr/>
            <a:lstStyle/>
            <a:p>
              <a:endParaRPr/>
            </a:p>
          </p:txBody>
        </p:sp>
      </p:grpSp>
      <p:sp>
        <p:nvSpPr>
          <p:cNvPr id="15" name="Freeform 15"/>
          <p:cNvSpPr/>
          <p:nvPr/>
        </p:nvSpPr>
        <p:spPr>
          <a:xfrm>
            <a:off x="4923025" y="2259073"/>
            <a:ext cx="1815589" cy="280921"/>
          </a:xfrm>
          <a:custGeom>
            <a:avLst/>
            <a:gdLst/>
            <a:ahLst/>
            <a:cxnLst/>
            <a:rect l="l" t="t" r="r" b="b"/>
            <a:pathLst>
              <a:path w="1815589" h="280921">
                <a:moveTo>
                  <a:pt x="0" y="0"/>
                </a:moveTo>
                <a:lnTo>
                  <a:pt x="1815589" y="0"/>
                </a:lnTo>
                <a:lnTo>
                  <a:pt x="1815589" y="280921"/>
                </a:lnTo>
                <a:lnTo>
                  <a:pt x="0" y="28092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16" name="Freeform 16"/>
          <p:cNvSpPr/>
          <p:nvPr/>
        </p:nvSpPr>
        <p:spPr>
          <a:xfrm>
            <a:off x="2105149" y="4343905"/>
            <a:ext cx="7497061" cy="309877"/>
          </a:xfrm>
          <a:custGeom>
            <a:avLst/>
            <a:gdLst/>
            <a:ahLst/>
            <a:cxnLst/>
            <a:rect l="l" t="t" r="r" b="b"/>
            <a:pathLst>
              <a:path w="7497061" h="309877">
                <a:moveTo>
                  <a:pt x="0" y="0"/>
                </a:moveTo>
                <a:lnTo>
                  <a:pt x="7497061" y="0"/>
                </a:lnTo>
                <a:lnTo>
                  <a:pt x="7497061" y="309877"/>
                </a:lnTo>
                <a:lnTo>
                  <a:pt x="0" y="30987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7" name="TextBox 17"/>
          <p:cNvSpPr txBox="1"/>
          <p:nvPr/>
        </p:nvSpPr>
        <p:spPr>
          <a:xfrm>
            <a:off x="1632204" y="1334119"/>
            <a:ext cx="5120640" cy="1171146"/>
          </a:xfrm>
          <a:prstGeom prst="rect">
            <a:avLst/>
          </a:prstGeom>
        </p:spPr>
        <p:txBody>
          <a:bodyPr wrap="square" lIns="0" tIns="0" rIns="0" bIns="0" rtlCol="0" anchor="t">
            <a:spAutoFit/>
          </a:bodyPr>
          <a:lstStyle/>
          <a:p>
            <a:pPr algn="l">
              <a:lnSpc>
                <a:spcPts val="4267"/>
              </a:lnSpc>
            </a:pPr>
            <a:r>
              <a:rPr lang="en-US" sz="2200">
                <a:solidFill>
                  <a:srgbClr val="2C2C2C"/>
                </a:solidFill>
                <a:latin typeface="Montserrat"/>
                <a:ea typeface="Montserrat"/>
                <a:cs typeface="Montserrat"/>
                <a:sym typeface="Montserrat"/>
              </a:rPr>
              <a:t>Comparing the three sun sensors</a:t>
            </a:r>
          </a:p>
          <a:p>
            <a:pPr algn="l">
              <a:lnSpc>
                <a:spcPts val="2116"/>
              </a:lnSpc>
            </a:pPr>
            <a:r>
              <a:rPr lang="en-US" sz="1512" spc="31">
                <a:solidFill>
                  <a:srgbClr val="000000"/>
                </a:solidFill>
                <a:latin typeface="Montserrat"/>
                <a:ea typeface="Montserrat"/>
                <a:cs typeface="Montserrat"/>
                <a:sym typeface="Montserrat"/>
              </a:rPr>
              <a:t>CREATE A NEW SKETCH CALLED </a:t>
            </a:r>
          </a:p>
        </p:txBody>
      </p:sp>
      <p:sp>
        <p:nvSpPr>
          <p:cNvPr id="18" name="TextBox 18"/>
          <p:cNvSpPr txBox="1"/>
          <p:nvPr/>
        </p:nvSpPr>
        <p:spPr>
          <a:xfrm>
            <a:off x="2167185" y="6421993"/>
            <a:ext cx="2806741" cy="269443"/>
          </a:xfrm>
          <a:prstGeom prst="rect">
            <a:avLst/>
          </a:prstGeom>
        </p:spPr>
        <p:txBody>
          <a:bodyPr lIns="0" tIns="0" rIns="0" bIns="0" rtlCol="0" anchor="t">
            <a:spAutoFit/>
          </a:bodyPr>
          <a:lstStyle/>
          <a:p>
            <a:pPr algn="l">
              <a:lnSpc>
                <a:spcPts val="2116"/>
              </a:lnSpc>
            </a:pPr>
            <a:r>
              <a:rPr lang="en-US" sz="1512" spc="-9">
                <a:solidFill>
                  <a:srgbClr val="000000"/>
                </a:solidFill>
                <a:latin typeface="Montserrat"/>
                <a:ea typeface="Montserrat"/>
                <a:cs typeface="Montserrat"/>
                <a:sym typeface="Montserrat"/>
              </a:rPr>
              <a:t>Use the flashlight to check it.</a:t>
            </a:r>
          </a:p>
        </p:txBody>
      </p:sp>
      <p:sp>
        <p:nvSpPr>
          <p:cNvPr id="19" name="TextBox 19"/>
          <p:cNvSpPr txBox="1"/>
          <p:nvPr/>
        </p:nvSpPr>
        <p:spPr>
          <a:xfrm>
            <a:off x="1632204" y="5824614"/>
            <a:ext cx="5066233" cy="269443"/>
          </a:xfrm>
          <a:prstGeom prst="rect">
            <a:avLst/>
          </a:prstGeom>
        </p:spPr>
        <p:txBody>
          <a:bodyPr lIns="0" tIns="0" rIns="0" bIns="0" rtlCol="0" anchor="t">
            <a:spAutoFit/>
          </a:bodyPr>
          <a:lstStyle/>
          <a:p>
            <a:pPr algn="l">
              <a:lnSpc>
                <a:spcPts val="2116"/>
              </a:lnSpc>
            </a:pPr>
            <a:r>
              <a:rPr lang="en-US" sz="1512" spc="-6">
                <a:solidFill>
                  <a:srgbClr val="000000"/>
                </a:solidFill>
                <a:latin typeface="Montserrat"/>
                <a:ea typeface="Montserrat"/>
                <a:cs typeface="Montserrat"/>
                <a:sym typeface="Montserrat"/>
              </a:rPr>
              <a:t>THE SATELLITE POSITION NEEDS TO BE ADJUSTED</a:t>
            </a:r>
          </a:p>
        </p:txBody>
      </p:sp>
      <p:sp>
        <p:nvSpPr>
          <p:cNvPr id="20" name="TextBox 20"/>
          <p:cNvSpPr txBox="1"/>
          <p:nvPr/>
        </p:nvSpPr>
        <p:spPr>
          <a:xfrm>
            <a:off x="1632204" y="2815552"/>
            <a:ext cx="7922914" cy="588626"/>
          </a:xfrm>
          <a:prstGeom prst="rect">
            <a:avLst/>
          </a:prstGeom>
        </p:spPr>
        <p:txBody>
          <a:bodyPr lIns="0" tIns="0" rIns="0" bIns="0" rtlCol="0" anchor="t">
            <a:spAutoFit/>
          </a:bodyPr>
          <a:lstStyle/>
          <a:p>
            <a:pPr algn="l">
              <a:lnSpc>
                <a:spcPts val="2363"/>
              </a:lnSpc>
            </a:pPr>
            <a:r>
              <a:rPr lang="en-US" sz="1512" spc="-7">
                <a:solidFill>
                  <a:srgbClr val="000000"/>
                </a:solidFill>
                <a:latin typeface="Montserrat"/>
                <a:ea typeface="Montserrat"/>
                <a:cs typeface="Montserrat"/>
                <a:sym typeface="Montserrat"/>
              </a:rPr>
              <a:t>The ADCS can read values from 3 analog sun sensors (Adafruit ALS-PT19) placed inside the solar panels:</a:t>
            </a:r>
          </a:p>
        </p:txBody>
      </p:sp>
      <p:sp>
        <p:nvSpPr>
          <p:cNvPr id="21" name="TextBox 21"/>
          <p:cNvSpPr txBox="1"/>
          <p:nvPr/>
        </p:nvSpPr>
        <p:spPr>
          <a:xfrm>
            <a:off x="2167185" y="3414474"/>
            <a:ext cx="7579366" cy="885882"/>
          </a:xfrm>
          <a:prstGeom prst="rect">
            <a:avLst/>
          </a:prstGeom>
        </p:spPr>
        <p:txBody>
          <a:bodyPr lIns="0" tIns="0" rIns="0" bIns="0" rtlCol="0" anchor="t">
            <a:spAutoFit/>
          </a:bodyPr>
          <a:lstStyle/>
          <a:p>
            <a:pPr algn="l">
              <a:lnSpc>
                <a:spcPts val="2355"/>
              </a:lnSpc>
            </a:pPr>
            <a:r>
              <a:rPr lang="en-US" sz="1512" spc="-9">
                <a:solidFill>
                  <a:srgbClr val="000000"/>
                </a:solidFill>
                <a:latin typeface="Montserrat"/>
                <a:ea typeface="Montserrat"/>
                <a:cs typeface="Montserrat"/>
                <a:sym typeface="Montserrat"/>
              </a:rPr>
              <a:t>Look at the online documentation of the sun sensors and create a function to read one of them first to see what the output looks like in the serial monitor. Refer to the ADCS schematics to see the pin connection of the sensor.</a:t>
            </a:r>
          </a:p>
        </p:txBody>
      </p:sp>
      <p:sp>
        <p:nvSpPr>
          <p:cNvPr id="22" name="TextBox 22"/>
          <p:cNvSpPr txBox="1"/>
          <p:nvPr/>
        </p:nvSpPr>
        <p:spPr>
          <a:xfrm>
            <a:off x="2167185" y="4609252"/>
            <a:ext cx="7622467" cy="587092"/>
          </a:xfrm>
          <a:prstGeom prst="rect">
            <a:avLst/>
          </a:prstGeom>
        </p:spPr>
        <p:txBody>
          <a:bodyPr lIns="0" tIns="0" rIns="0" bIns="0" rtlCol="0" anchor="t">
            <a:spAutoFit/>
          </a:bodyPr>
          <a:lstStyle/>
          <a:p>
            <a:pPr algn="l">
              <a:lnSpc>
                <a:spcPts val="2351"/>
              </a:lnSpc>
            </a:pPr>
            <a:r>
              <a:rPr lang="en-US" sz="1512" spc="-7">
                <a:solidFill>
                  <a:srgbClr val="000000"/>
                </a:solidFill>
                <a:latin typeface="Montserrat"/>
                <a:ea typeface="Montserrat"/>
                <a:cs typeface="Montserrat"/>
                <a:sym typeface="Montserrat"/>
              </a:rPr>
              <a:t>to face the sun. Create a function that compares the three sun sensors so that the serial monitor output looks like this:</a:t>
            </a:r>
          </a:p>
        </p:txBody>
      </p:sp>
      <p:sp>
        <p:nvSpPr>
          <p:cNvPr id="23" name="TextBox 23"/>
          <p:cNvSpPr txBox="1"/>
          <p:nvPr/>
        </p:nvSpPr>
        <p:spPr>
          <a:xfrm>
            <a:off x="1632194" y="5524490"/>
            <a:ext cx="3558283" cy="271282"/>
          </a:xfrm>
          <a:prstGeom prst="rect">
            <a:avLst/>
          </a:prstGeom>
        </p:spPr>
        <p:txBody>
          <a:bodyPr lIns="0" tIns="0" rIns="0" bIns="0" rtlCol="0" anchor="t">
            <a:spAutoFit/>
          </a:bodyPr>
          <a:lstStyle/>
          <a:p>
            <a:pPr algn="l">
              <a:lnSpc>
                <a:spcPts val="2133"/>
              </a:lnSpc>
            </a:pPr>
            <a:r>
              <a:rPr lang="en-US" sz="1524" spc="-12">
                <a:solidFill>
                  <a:srgbClr val="000000"/>
                </a:solidFill>
                <a:latin typeface="Montserrat"/>
                <a:ea typeface="Montserrat"/>
                <a:cs typeface="Montserrat"/>
                <a:sym typeface="Montserrat"/>
              </a:rPr>
              <a:t>THE CAMERA IS OBSERVING EARTH</a:t>
            </a:r>
          </a:p>
        </p:txBody>
      </p:sp>
      <p:sp>
        <p:nvSpPr>
          <p:cNvPr id="24" name="TextBox 24"/>
          <p:cNvSpPr txBox="1"/>
          <p:nvPr/>
        </p:nvSpPr>
        <p:spPr>
          <a:xfrm>
            <a:off x="7577995" y="5524490"/>
            <a:ext cx="200187" cy="271282"/>
          </a:xfrm>
          <a:prstGeom prst="rect">
            <a:avLst/>
          </a:prstGeom>
        </p:spPr>
        <p:txBody>
          <a:bodyPr lIns="0" tIns="0" rIns="0" bIns="0" rtlCol="0" anchor="t">
            <a:spAutoFit/>
          </a:bodyPr>
          <a:lstStyle/>
          <a:p>
            <a:pPr algn="l">
              <a:lnSpc>
                <a:spcPts val="2133"/>
              </a:lnSpc>
            </a:pPr>
            <a:r>
              <a:rPr lang="en-US" sz="1524" spc="-12">
                <a:solidFill>
                  <a:srgbClr val="000000"/>
                </a:solidFill>
                <a:latin typeface="Montserrat"/>
                <a:ea typeface="Montserrat"/>
                <a:cs typeface="Montserrat"/>
                <a:sym typeface="Montserrat"/>
              </a:rPr>
              <a:t>or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4442460" y="4495800"/>
            <a:ext cx="193548" cy="9144"/>
            <a:chOff x="0" y="0"/>
            <a:chExt cx="193548" cy="9144"/>
          </a:xfrm>
        </p:grpSpPr>
        <p:sp>
          <p:nvSpPr>
            <p:cNvPr id="10" name="Freeform 10"/>
            <p:cNvSpPr/>
            <p:nvPr/>
          </p:nvSpPr>
          <p:spPr>
            <a:xfrm>
              <a:off x="0" y="0"/>
              <a:ext cx="193548" cy="9144"/>
            </a:xfrm>
            <a:custGeom>
              <a:avLst/>
              <a:gdLst/>
              <a:ahLst/>
              <a:cxnLst/>
              <a:rect l="l" t="t" r="r" b="b"/>
              <a:pathLst>
                <a:path w="193548" h="9144">
                  <a:moveTo>
                    <a:pt x="0" y="0"/>
                  </a:moveTo>
                  <a:lnTo>
                    <a:pt x="193548" y="0"/>
                  </a:lnTo>
                  <a:lnTo>
                    <a:pt x="193548" y="9144"/>
                  </a:lnTo>
                  <a:lnTo>
                    <a:pt x="0" y="9144"/>
                  </a:lnTo>
                  <a:close/>
                </a:path>
              </a:pathLst>
            </a:custGeom>
            <a:solidFill>
              <a:srgbClr val="000000"/>
            </a:solidFill>
          </p:spPr>
          <p:txBody>
            <a:bodyPr/>
            <a:lstStyle/>
            <a:p>
              <a:endParaRPr/>
            </a:p>
          </p:txBody>
        </p:sp>
      </p:grpSp>
      <p:grpSp>
        <p:nvGrpSpPr>
          <p:cNvPr id="11" name="Group 11"/>
          <p:cNvGrpSpPr/>
          <p:nvPr/>
        </p:nvGrpSpPr>
        <p:grpSpPr>
          <a:xfrm>
            <a:off x="4073652" y="4683252"/>
            <a:ext cx="3317748" cy="2034540"/>
            <a:chOff x="0" y="0"/>
            <a:chExt cx="4423664" cy="2712720"/>
          </a:xfrm>
        </p:grpSpPr>
        <p:sp>
          <p:nvSpPr>
            <p:cNvPr id="12" name="Freeform 12"/>
            <p:cNvSpPr/>
            <p:nvPr/>
          </p:nvSpPr>
          <p:spPr>
            <a:xfrm>
              <a:off x="0" y="0"/>
              <a:ext cx="4423664" cy="2712720"/>
            </a:xfrm>
            <a:custGeom>
              <a:avLst/>
              <a:gdLst/>
              <a:ahLst/>
              <a:cxnLst/>
              <a:rect l="l" t="t" r="r" b="b"/>
              <a:pathLst>
                <a:path w="4423664" h="2712720">
                  <a:moveTo>
                    <a:pt x="0" y="0"/>
                  </a:moveTo>
                  <a:lnTo>
                    <a:pt x="4423664" y="0"/>
                  </a:lnTo>
                  <a:lnTo>
                    <a:pt x="4423664" y="2712720"/>
                  </a:lnTo>
                  <a:lnTo>
                    <a:pt x="0" y="2712720"/>
                  </a:lnTo>
                  <a:lnTo>
                    <a:pt x="0" y="0"/>
                  </a:lnTo>
                  <a:close/>
                </a:path>
              </a:pathLst>
            </a:custGeom>
            <a:blipFill>
              <a:blip r:embed="rId4"/>
              <a:stretch>
                <a:fillRect l="-275" t="-449"/>
              </a:stretch>
            </a:blipFill>
          </p:spPr>
          <p:txBody>
            <a:bodyPr/>
            <a:lstStyle/>
            <a:p>
              <a:endParaRPr/>
            </a:p>
          </p:txBody>
        </p:sp>
      </p:grpSp>
      <p:sp>
        <p:nvSpPr>
          <p:cNvPr id="13" name="TextBox 13"/>
          <p:cNvSpPr txBox="1"/>
          <p:nvPr/>
        </p:nvSpPr>
        <p:spPr>
          <a:xfrm>
            <a:off x="1632204" y="1286494"/>
            <a:ext cx="5120640" cy="1816160"/>
          </a:xfrm>
          <a:prstGeom prst="rect">
            <a:avLst/>
          </a:prstGeom>
        </p:spPr>
        <p:txBody>
          <a:bodyPr wrap="square" lIns="0" tIns="0" rIns="0" bIns="0" rtlCol="0" anchor="t">
            <a:spAutoFit/>
          </a:bodyPr>
          <a:lstStyle/>
          <a:p>
            <a:pPr algn="l">
              <a:lnSpc>
                <a:spcPts val="4736"/>
              </a:lnSpc>
            </a:pPr>
            <a:r>
              <a:rPr lang="en-US" sz="2000">
                <a:solidFill>
                  <a:srgbClr val="2C2C2C"/>
                </a:solidFill>
                <a:latin typeface="Montserrat"/>
                <a:ea typeface="Montserrat"/>
                <a:cs typeface="Montserrat"/>
                <a:sym typeface="Montserrat"/>
              </a:rPr>
              <a:t>Driving the motor with an H-bridge</a:t>
            </a:r>
          </a:p>
          <a:p>
            <a:pPr algn="l">
              <a:lnSpc>
                <a:spcPts val="2349"/>
              </a:lnSpc>
            </a:pPr>
            <a:r>
              <a:rPr lang="en-US" sz="1512" spc="-7">
                <a:solidFill>
                  <a:srgbClr val="000000"/>
                </a:solidFill>
                <a:latin typeface="Montserrat"/>
                <a:ea typeface="Montserrat"/>
                <a:cs typeface="Montserrat"/>
                <a:sym typeface="Montserrat"/>
              </a:rPr>
              <a:t>We have left, back, and right sun sensors with respect to the camera. We want to control the motor based on their values. The motor is controlled by a so-called H brid ge.</a:t>
            </a:r>
          </a:p>
        </p:txBody>
      </p:sp>
      <p:sp>
        <p:nvSpPr>
          <p:cNvPr id="14" name="TextBox 14"/>
          <p:cNvSpPr txBox="1"/>
          <p:nvPr/>
        </p:nvSpPr>
        <p:spPr>
          <a:xfrm>
            <a:off x="1632204" y="3414474"/>
            <a:ext cx="8333442" cy="1184472"/>
          </a:xfrm>
          <a:prstGeom prst="rect">
            <a:avLst/>
          </a:prstGeom>
        </p:spPr>
        <p:txBody>
          <a:bodyPr lIns="0" tIns="0" rIns="0" bIns="0" rtlCol="0" anchor="t">
            <a:spAutoFit/>
          </a:bodyPr>
          <a:lstStyle/>
          <a:p>
            <a:pPr algn="l">
              <a:lnSpc>
                <a:spcPts val="2351"/>
              </a:lnSpc>
            </a:pPr>
            <a:r>
              <a:rPr lang="en-US" sz="1512" spc="-9">
                <a:solidFill>
                  <a:srgbClr val="000000"/>
                </a:solidFill>
                <a:latin typeface="Montserrat"/>
                <a:ea typeface="Montserrat"/>
                <a:cs typeface="Montserrat"/>
                <a:sym typeface="Montserrat"/>
              </a:rPr>
              <a:t>An H-bridge is an electronic circuit crucial for controlling the direction of DC motors. It consists of four switches arranged in an "H" shape, allowing the reversal of voltage polarity across the motor. By selectively closing switch pairs, the H-bridge can control the motor's rotation directionforward, reverse, or brake.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2129028" y="2417064"/>
            <a:ext cx="7206996" cy="448056"/>
            <a:chOff x="0" y="0"/>
            <a:chExt cx="9609328" cy="597408"/>
          </a:xfrm>
        </p:grpSpPr>
        <p:sp>
          <p:nvSpPr>
            <p:cNvPr id="10" name="Freeform 10"/>
            <p:cNvSpPr/>
            <p:nvPr/>
          </p:nvSpPr>
          <p:spPr>
            <a:xfrm>
              <a:off x="0" y="0"/>
              <a:ext cx="9609328" cy="597408"/>
            </a:xfrm>
            <a:custGeom>
              <a:avLst/>
              <a:gdLst/>
              <a:ahLst/>
              <a:cxnLst/>
              <a:rect l="l" t="t" r="r" b="b"/>
              <a:pathLst>
                <a:path w="9609328" h="597408">
                  <a:moveTo>
                    <a:pt x="0" y="0"/>
                  </a:moveTo>
                  <a:lnTo>
                    <a:pt x="9609328" y="0"/>
                  </a:lnTo>
                  <a:lnTo>
                    <a:pt x="9609328" y="597408"/>
                  </a:lnTo>
                  <a:lnTo>
                    <a:pt x="0" y="597408"/>
                  </a:lnTo>
                  <a:lnTo>
                    <a:pt x="0" y="0"/>
                  </a:lnTo>
                  <a:close/>
                </a:path>
              </a:pathLst>
            </a:custGeom>
            <a:blipFill>
              <a:blip r:embed="rId4"/>
              <a:stretch>
                <a:fillRect l="-21"/>
              </a:stretch>
            </a:blipFill>
          </p:spPr>
          <p:txBody>
            <a:bodyPr/>
            <a:lstStyle/>
            <a:p>
              <a:endParaRPr/>
            </a:p>
          </p:txBody>
        </p:sp>
      </p:grpSp>
      <p:grpSp>
        <p:nvGrpSpPr>
          <p:cNvPr id="11" name="Group 11"/>
          <p:cNvGrpSpPr/>
          <p:nvPr/>
        </p:nvGrpSpPr>
        <p:grpSpPr>
          <a:xfrm>
            <a:off x="2129028" y="2862072"/>
            <a:ext cx="7206996" cy="2871216"/>
            <a:chOff x="0" y="0"/>
            <a:chExt cx="9609328" cy="3828288"/>
          </a:xfrm>
        </p:grpSpPr>
        <p:sp>
          <p:nvSpPr>
            <p:cNvPr id="12" name="Freeform 12"/>
            <p:cNvSpPr/>
            <p:nvPr/>
          </p:nvSpPr>
          <p:spPr>
            <a:xfrm>
              <a:off x="0" y="0"/>
              <a:ext cx="9609328" cy="3828288"/>
            </a:xfrm>
            <a:custGeom>
              <a:avLst/>
              <a:gdLst/>
              <a:ahLst/>
              <a:cxnLst/>
              <a:rect l="l" t="t" r="r" b="b"/>
              <a:pathLst>
                <a:path w="9609328" h="3828288">
                  <a:moveTo>
                    <a:pt x="0" y="0"/>
                  </a:moveTo>
                  <a:lnTo>
                    <a:pt x="9609328" y="0"/>
                  </a:lnTo>
                  <a:lnTo>
                    <a:pt x="9609328" y="3828288"/>
                  </a:lnTo>
                  <a:lnTo>
                    <a:pt x="0" y="3828288"/>
                  </a:lnTo>
                  <a:lnTo>
                    <a:pt x="0" y="0"/>
                  </a:lnTo>
                  <a:close/>
                </a:path>
              </a:pathLst>
            </a:custGeom>
            <a:blipFill>
              <a:blip r:embed="rId5"/>
              <a:stretch>
                <a:fillRect/>
              </a:stretch>
            </a:blipFill>
          </p:spPr>
          <p:txBody>
            <a:bodyPr/>
            <a:lstStyle/>
            <a:p>
              <a:endParaRPr/>
            </a:p>
          </p:txBody>
        </p:sp>
      </p:grpSp>
      <p:sp>
        <p:nvSpPr>
          <p:cNvPr id="13" name="TextBox 13"/>
          <p:cNvSpPr txBox="1"/>
          <p:nvPr/>
        </p:nvSpPr>
        <p:spPr>
          <a:xfrm>
            <a:off x="1632385" y="1334119"/>
            <a:ext cx="4490313" cy="523504"/>
          </a:xfrm>
          <a:prstGeom prst="rect">
            <a:avLst/>
          </a:prstGeom>
        </p:spPr>
        <p:txBody>
          <a:bodyPr wrap="square" lIns="0" tIns="0" rIns="0" bIns="0" rtlCol="0" anchor="t">
            <a:spAutoFit/>
          </a:bodyPr>
          <a:lstStyle/>
          <a:p>
            <a:pPr algn="l">
              <a:lnSpc>
                <a:spcPts val="4267"/>
              </a:lnSpc>
            </a:pPr>
            <a:r>
              <a:rPr lang="en-US" sz="3000">
                <a:solidFill>
                  <a:srgbClr val="2C2C2C"/>
                </a:solidFill>
                <a:latin typeface="Montserrat"/>
                <a:ea typeface="Montserrat"/>
                <a:cs typeface="Montserrat"/>
                <a:sym typeface="Montserrat"/>
              </a:rPr>
              <a:t>The H-bridge circuit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2663952"/>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grpSp>
        <p:nvGrpSpPr>
          <p:cNvPr id="11" name="Group 11"/>
          <p:cNvGrpSpPr/>
          <p:nvPr/>
        </p:nvGrpSpPr>
        <p:grpSpPr>
          <a:xfrm>
            <a:off x="1821180" y="2961132"/>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4572"/>
                  </a:moveTo>
                  <a:cubicBezTo>
                    <a:pt x="13716" y="9144"/>
                    <a:pt x="9144" y="13716"/>
                    <a:pt x="4572" y="21336"/>
                  </a:cubicBezTo>
                  <a:cubicBezTo>
                    <a:pt x="1524" y="27432"/>
                    <a:pt x="0" y="35052"/>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5052"/>
                    <a:pt x="80772" y="27432"/>
                    <a:pt x="77724" y="21336"/>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grpSp>
        <p:nvGrpSpPr>
          <p:cNvPr id="13" name="Group 13"/>
          <p:cNvGrpSpPr/>
          <p:nvPr/>
        </p:nvGrpSpPr>
        <p:grpSpPr>
          <a:xfrm>
            <a:off x="1821180" y="3261360"/>
            <a:ext cx="83820" cy="83820"/>
            <a:chOff x="0" y="0"/>
            <a:chExt cx="83820" cy="83820"/>
          </a:xfrm>
        </p:grpSpPr>
        <p:sp>
          <p:nvSpPr>
            <p:cNvPr id="14" name="Freeform 14"/>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grpSp>
        <p:nvGrpSpPr>
          <p:cNvPr id="15" name="Group 15"/>
          <p:cNvGrpSpPr/>
          <p:nvPr/>
        </p:nvGrpSpPr>
        <p:grpSpPr>
          <a:xfrm>
            <a:off x="1821180" y="3560064"/>
            <a:ext cx="83820" cy="83820"/>
            <a:chOff x="0" y="0"/>
            <a:chExt cx="83820" cy="83820"/>
          </a:xfrm>
        </p:grpSpPr>
        <p:sp>
          <p:nvSpPr>
            <p:cNvPr id="16" name="Freeform 16"/>
            <p:cNvSpPr/>
            <p:nvPr/>
          </p:nvSpPr>
          <p:spPr>
            <a:xfrm>
              <a:off x="0" y="0"/>
              <a:ext cx="83820" cy="83820"/>
            </a:xfrm>
            <a:custGeom>
              <a:avLst/>
              <a:gdLst/>
              <a:ahLst/>
              <a:cxnLst/>
              <a:rect l="l" t="t" r="r" b="b"/>
              <a:pathLst>
                <a:path w="83820" h="83820">
                  <a:moveTo>
                    <a:pt x="21336" y="6096"/>
                  </a:moveTo>
                  <a:cubicBezTo>
                    <a:pt x="13716" y="9144"/>
                    <a:pt x="9144" y="13716"/>
                    <a:pt x="4572" y="21336"/>
                  </a:cubicBezTo>
                  <a:cubicBezTo>
                    <a:pt x="1524" y="27432"/>
                    <a:pt x="0" y="35052"/>
                    <a:pt x="0" y="42672"/>
                  </a:cubicBezTo>
                  <a:cubicBezTo>
                    <a:pt x="0" y="53340"/>
                    <a:pt x="3048" y="64008"/>
                    <a:pt x="12192" y="71628"/>
                  </a:cubicBezTo>
                  <a:cubicBezTo>
                    <a:pt x="19812" y="79248"/>
                    <a:pt x="28956" y="83820"/>
                    <a:pt x="41148" y="83820"/>
                  </a:cubicBezTo>
                  <a:cubicBezTo>
                    <a:pt x="53340" y="83820"/>
                    <a:pt x="62484" y="79248"/>
                    <a:pt x="70104" y="71628"/>
                  </a:cubicBezTo>
                  <a:cubicBezTo>
                    <a:pt x="79248" y="64008"/>
                    <a:pt x="83820" y="53340"/>
                    <a:pt x="83820" y="42672"/>
                  </a:cubicBezTo>
                  <a:cubicBezTo>
                    <a:pt x="83820" y="35052"/>
                    <a:pt x="80772" y="27432"/>
                    <a:pt x="77724" y="21336"/>
                  </a:cubicBezTo>
                  <a:cubicBezTo>
                    <a:pt x="73152" y="13716"/>
                    <a:pt x="68580" y="9144"/>
                    <a:pt x="62484" y="6096"/>
                  </a:cubicBezTo>
                  <a:cubicBezTo>
                    <a:pt x="54864" y="1524"/>
                    <a:pt x="48768" y="0"/>
                    <a:pt x="41148" y="0"/>
                  </a:cubicBezTo>
                  <a:cubicBezTo>
                    <a:pt x="33528" y="0"/>
                    <a:pt x="27432" y="1524"/>
                    <a:pt x="21336" y="6096"/>
                  </a:cubicBezTo>
                  <a:close/>
                </a:path>
              </a:pathLst>
            </a:custGeom>
            <a:solidFill>
              <a:srgbClr val="000000"/>
            </a:solidFill>
          </p:spPr>
          <p:txBody>
            <a:bodyPr/>
            <a:lstStyle/>
            <a:p>
              <a:endParaRPr/>
            </a:p>
          </p:txBody>
        </p:sp>
      </p:grpSp>
      <p:grpSp>
        <p:nvGrpSpPr>
          <p:cNvPr id="17" name="Group 17"/>
          <p:cNvGrpSpPr/>
          <p:nvPr/>
        </p:nvGrpSpPr>
        <p:grpSpPr>
          <a:xfrm>
            <a:off x="1821180" y="3857244"/>
            <a:ext cx="83820" cy="83820"/>
            <a:chOff x="0" y="0"/>
            <a:chExt cx="83820" cy="83820"/>
          </a:xfrm>
        </p:grpSpPr>
        <p:sp>
          <p:nvSpPr>
            <p:cNvPr id="18" name="Freeform 18"/>
            <p:cNvSpPr/>
            <p:nvPr/>
          </p:nvSpPr>
          <p:spPr>
            <a:xfrm>
              <a:off x="0" y="0"/>
              <a:ext cx="83820" cy="83820"/>
            </a:xfrm>
            <a:custGeom>
              <a:avLst/>
              <a:gdLst/>
              <a:ahLst/>
              <a:cxnLst/>
              <a:rect l="l" t="t" r="r" b="b"/>
              <a:pathLst>
                <a:path w="83820" h="83820">
                  <a:moveTo>
                    <a:pt x="21336" y="6096"/>
                  </a:moveTo>
                  <a:cubicBezTo>
                    <a:pt x="13716" y="9144"/>
                    <a:pt x="9144" y="15240"/>
                    <a:pt x="4572" y="21336"/>
                  </a:cubicBezTo>
                  <a:cubicBezTo>
                    <a:pt x="1524" y="27432"/>
                    <a:pt x="0" y="35052"/>
                    <a:pt x="0" y="42672"/>
                  </a:cubicBezTo>
                  <a:cubicBezTo>
                    <a:pt x="0" y="53340"/>
                    <a:pt x="3048" y="64008"/>
                    <a:pt x="12192" y="71628"/>
                  </a:cubicBezTo>
                  <a:cubicBezTo>
                    <a:pt x="19812" y="80772"/>
                    <a:pt x="28956" y="83820"/>
                    <a:pt x="41148" y="83820"/>
                  </a:cubicBezTo>
                  <a:cubicBezTo>
                    <a:pt x="53340" y="83820"/>
                    <a:pt x="62484" y="80772"/>
                    <a:pt x="70104" y="71628"/>
                  </a:cubicBezTo>
                  <a:cubicBezTo>
                    <a:pt x="79248" y="64008"/>
                    <a:pt x="83820" y="53340"/>
                    <a:pt x="83820" y="42672"/>
                  </a:cubicBezTo>
                  <a:cubicBezTo>
                    <a:pt x="83820" y="35052"/>
                    <a:pt x="80772" y="27432"/>
                    <a:pt x="77724" y="21336"/>
                  </a:cubicBezTo>
                  <a:cubicBezTo>
                    <a:pt x="73152" y="15240"/>
                    <a:pt x="68580" y="9144"/>
                    <a:pt x="62484" y="6096"/>
                  </a:cubicBezTo>
                  <a:cubicBezTo>
                    <a:pt x="54864" y="3048"/>
                    <a:pt x="48768" y="0"/>
                    <a:pt x="41148" y="0"/>
                  </a:cubicBezTo>
                  <a:cubicBezTo>
                    <a:pt x="33528" y="0"/>
                    <a:pt x="27432" y="3048"/>
                    <a:pt x="21336" y="6096"/>
                  </a:cubicBezTo>
                  <a:close/>
                </a:path>
              </a:pathLst>
            </a:custGeom>
            <a:solidFill>
              <a:srgbClr val="000000"/>
            </a:solidFill>
          </p:spPr>
          <p:txBody>
            <a:bodyPr/>
            <a:lstStyle/>
            <a:p>
              <a:endParaRPr/>
            </a:p>
          </p:txBody>
        </p:sp>
      </p:grpSp>
      <p:sp>
        <p:nvSpPr>
          <p:cNvPr id="19" name="Freeform 19"/>
          <p:cNvSpPr/>
          <p:nvPr/>
        </p:nvSpPr>
        <p:spPr>
          <a:xfrm>
            <a:off x="3218193" y="2842765"/>
            <a:ext cx="1531601" cy="315973"/>
          </a:xfrm>
          <a:custGeom>
            <a:avLst/>
            <a:gdLst/>
            <a:ahLst/>
            <a:cxnLst/>
            <a:rect l="l" t="t" r="r" b="b"/>
            <a:pathLst>
              <a:path w="1531601" h="315973">
                <a:moveTo>
                  <a:pt x="0" y="0"/>
                </a:moveTo>
                <a:lnTo>
                  <a:pt x="1531601" y="0"/>
                </a:lnTo>
                <a:lnTo>
                  <a:pt x="1531601" y="315973"/>
                </a:lnTo>
                <a:lnTo>
                  <a:pt x="0" y="31597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20" name="Freeform 20"/>
          <p:cNvSpPr/>
          <p:nvPr/>
        </p:nvSpPr>
        <p:spPr>
          <a:xfrm>
            <a:off x="2833030" y="3450841"/>
            <a:ext cx="1979828" cy="605533"/>
          </a:xfrm>
          <a:custGeom>
            <a:avLst/>
            <a:gdLst/>
            <a:ahLst/>
            <a:cxnLst/>
            <a:rect l="l" t="t" r="r" b="b"/>
            <a:pathLst>
              <a:path w="1979828" h="605533">
                <a:moveTo>
                  <a:pt x="0" y="0"/>
                </a:moveTo>
                <a:lnTo>
                  <a:pt x="1979829" y="0"/>
                </a:lnTo>
                <a:lnTo>
                  <a:pt x="1979829" y="605533"/>
                </a:lnTo>
                <a:lnTo>
                  <a:pt x="0" y="60553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grpSp>
        <p:nvGrpSpPr>
          <p:cNvPr id="21" name="Group 21"/>
          <p:cNvGrpSpPr/>
          <p:nvPr/>
        </p:nvGrpSpPr>
        <p:grpSpPr>
          <a:xfrm>
            <a:off x="6269736" y="1443228"/>
            <a:ext cx="4174236" cy="541020"/>
            <a:chOff x="0" y="0"/>
            <a:chExt cx="5565648" cy="721360"/>
          </a:xfrm>
        </p:grpSpPr>
        <p:sp>
          <p:nvSpPr>
            <p:cNvPr id="22" name="Freeform 22"/>
            <p:cNvSpPr/>
            <p:nvPr/>
          </p:nvSpPr>
          <p:spPr>
            <a:xfrm>
              <a:off x="0" y="0"/>
              <a:ext cx="5565648" cy="721360"/>
            </a:xfrm>
            <a:custGeom>
              <a:avLst/>
              <a:gdLst/>
              <a:ahLst/>
              <a:cxnLst/>
              <a:rect l="l" t="t" r="r" b="b"/>
              <a:pathLst>
                <a:path w="5565648" h="721360">
                  <a:moveTo>
                    <a:pt x="0" y="0"/>
                  </a:moveTo>
                  <a:lnTo>
                    <a:pt x="5565648" y="0"/>
                  </a:lnTo>
                  <a:lnTo>
                    <a:pt x="5565648" y="721360"/>
                  </a:lnTo>
                  <a:lnTo>
                    <a:pt x="0" y="721360"/>
                  </a:lnTo>
                  <a:lnTo>
                    <a:pt x="0" y="0"/>
                  </a:lnTo>
                  <a:close/>
                </a:path>
              </a:pathLst>
            </a:custGeom>
            <a:blipFill>
              <a:blip r:embed="rId6"/>
              <a:stretch>
                <a:fillRect l="-36" t="-281" r="-36"/>
              </a:stretch>
            </a:blipFill>
          </p:spPr>
          <p:txBody>
            <a:bodyPr/>
            <a:lstStyle/>
            <a:p>
              <a:endParaRPr/>
            </a:p>
          </p:txBody>
        </p:sp>
      </p:grpSp>
      <p:grpSp>
        <p:nvGrpSpPr>
          <p:cNvPr id="23" name="Group 23"/>
          <p:cNvGrpSpPr/>
          <p:nvPr/>
        </p:nvGrpSpPr>
        <p:grpSpPr>
          <a:xfrm>
            <a:off x="6269736" y="1978152"/>
            <a:ext cx="4174236" cy="4398264"/>
            <a:chOff x="0" y="0"/>
            <a:chExt cx="5565648" cy="5864352"/>
          </a:xfrm>
        </p:grpSpPr>
        <p:sp>
          <p:nvSpPr>
            <p:cNvPr id="24" name="Freeform 24"/>
            <p:cNvSpPr/>
            <p:nvPr/>
          </p:nvSpPr>
          <p:spPr>
            <a:xfrm>
              <a:off x="0" y="0"/>
              <a:ext cx="5565648" cy="5864352"/>
            </a:xfrm>
            <a:custGeom>
              <a:avLst/>
              <a:gdLst/>
              <a:ahLst/>
              <a:cxnLst/>
              <a:rect l="l" t="t" r="r" b="b"/>
              <a:pathLst>
                <a:path w="5565648" h="5864352">
                  <a:moveTo>
                    <a:pt x="0" y="0"/>
                  </a:moveTo>
                  <a:lnTo>
                    <a:pt x="5565648" y="0"/>
                  </a:lnTo>
                  <a:lnTo>
                    <a:pt x="5565648" y="5864352"/>
                  </a:lnTo>
                  <a:lnTo>
                    <a:pt x="0" y="5864352"/>
                  </a:lnTo>
                  <a:lnTo>
                    <a:pt x="0" y="0"/>
                  </a:lnTo>
                  <a:close/>
                </a:path>
              </a:pathLst>
            </a:custGeom>
            <a:blipFill>
              <a:blip r:embed="rId7"/>
              <a:stretch>
                <a:fillRect/>
              </a:stretch>
            </a:blipFill>
          </p:spPr>
          <p:txBody>
            <a:bodyPr/>
            <a:lstStyle/>
            <a:p>
              <a:endParaRPr/>
            </a:p>
          </p:txBody>
        </p:sp>
      </p:grpSp>
      <p:sp>
        <p:nvSpPr>
          <p:cNvPr id="25" name="TextBox 25"/>
          <p:cNvSpPr txBox="1"/>
          <p:nvPr/>
        </p:nvSpPr>
        <p:spPr>
          <a:xfrm>
            <a:off x="1632204" y="1334119"/>
            <a:ext cx="5120640" cy="1171146"/>
          </a:xfrm>
          <a:prstGeom prst="rect">
            <a:avLst/>
          </a:prstGeom>
        </p:spPr>
        <p:txBody>
          <a:bodyPr wrap="square" lIns="0" tIns="0" rIns="0" bIns="0" rtlCol="0" anchor="t">
            <a:spAutoFit/>
          </a:bodyPr>
          <a:lstStyle/>
          <a:p>
            <a:pPr algn="l">
              <a:lnSpc>
                <a:spcPts val="4267"/>
              </a:lnSpc>
            </a:pPr>
            <a:r>
              <a:rPr lang="en-US" sz="2100">
                <a:solidFill>
                  <a:srgbClr val="2C2C2C"/>
                </a:solidFill>
                <a:latin typeface="Montserrat"/>
                <a:ea typeface="Montserrat"/>
                <a:cs typeface="Montserrat"/>
                <a:sym typeface="Montserrat"/>
              </a:rPr>
              <a:t>How to drive the motor correctly</a:t>
            </a:r>
          </a:p>
          <a:p>
            <a:pPr algn="l">
              <a:lnSpc>
                <a:spcPts val="2116"/>
              </a:lnSpc>
            </a:pPr>
            <a:r>
              <a:rPr lang="en-US" sz="1512" spc="-7">
                <a:solidFill>
                  <a:srgbClr val="000000"/>
                </a:solidFill>
                <a:latin typeface="Montserrat"/>
                <a:ea typeface="Montserrat"/>
                <a:cs typeface="Montserrat"/>
                <a:sym typeface="Montserrat"/>
              </a:rPr>
              <a:t>This is how you correctly drive the motor:</a:t>
            </a:r>
          </a:p>
        </p:txBody>
      </p:sp>
      <p:sp>
        <p:nvSpPr>
          <p:cNvPr id="26" name="TextBox 26"/>
          <p:cNvSpPr txBox="1"/>
          <p:nvPr/>
        </p:nvSpPr>
        <p:spPr>
          <a:xfrm>
            <a:off x="2167185" y="3433524"/>
            <a:ext cx="1183215" cy="566499"/>
          </a:xfrm>
          <a:prstGeom prst="rect">
            <a:avLst/>
          </a:prstGeom>
        </p:spPr>
        <p:txBody>
          <a:bodyPr lIns="0" tIns="0" rIns="0" bIns="0" rtlCol="0" anchor="t">
            <a:spAutoFit/>
          </a:bodyPr>
          <a:lstStyle/>
          <a:p>
            <a:pPr algn="l">
              <a:lnSpc>
                <a:spcPts val="2116"/>
              </a:lnSpc>
            </a:pPr>
            <a:r>
              <a:rPr lang="en-US" sz="1512" spc="30">
                <a:solidFill>
                  <a:srgbClr val="000000"/>
                </a:solidFill>
                <a:latin typeface="Montserrat"/>
                <a:ea typeface="Montserrat"/>
                <a:cs typeface="Montserrat"/>
                <a:sym typeface="Montserrat"/>
              </a:rPr>
              <a:t>Keep a NEVER USE</a:t>
            </a:r>
          </a:p>
        </p:txBody>
      </p:sp>
      <p:sp>
        <p:nvSpPr>
          <p:cNvPr id="27" name="TextBox 27"/>
          <p:cNvSpPr txBox="1"/>
          <p:nvPr/>
        </p:nvSpPr>
        <p:spPr>
          <a:xfrm>
            <a:off x="3951665" y="3433524"/>
            <a:ext cx="736454" cy="269443"/>
          </a:xfrm>
          <a:prstGeom prst="rect">
            <a:avLst/>
          </a:prstGeom>
        </p:spPr>
        <p:txBody>
          <a:bodyPr lIns="0" tIns="0" rIns="0" bIns="0" rtlCol="0" anchor="t">
            <a:spAutoFit/>
          </a:bodyPr>
          <a:lstStyle/>
          <a:p>
            <a:pPr algn="l">
              <a:lnSpc>
                <a:spcPts val="2116"/>
              </a:lnSpc>
            </a:pPr>
            <a:r>
              <a:rPr lang="en-US" sz="1512" spc="-10">
                <a:solidFill>
                  <a:srgbClr val="000000"/>
                </a:solidFill>
                <a:latin typeface="Montserrat"/>
                <a:ea typeface="Montserrat"/>
                <a:cs typeface="Montserrat"/>
                <a:sym typeface="Montserrat"/>
              </a:rPr>
              <a:t>at least.</a:t>
            </a:r>
          </a:p>
        </p:txBody>
      </p:sp>
      <p:sp>
        <p:nvSpPr>
          <p:cNvPr id="28" name="TextBox 28"/>
          <p:cNvSpPr txBox="1"/>
          <p:nvPr/>
        </p:nvSpPr>
        <p:spPr>
          <a:xfrm>
            <a:off x="4738192" y="3730590"/>
            <a:ext cx="39176" cy="269443"/>
          </a:xfrm>
          <a:prstGeom prst="rect">
            <a:avLst/>
          </a:prstGeom>
        </p:spPr>
        <p:txBody>
          <a:bodyPr lIns="0" tIns="0" rIns="0" bIns="0" rtlCol="0" anchor="t">
            <a:spAutoFit/>
          </a:bodyPr>
          <a:lstStyle/>
          <a:p>
            <a:pPr algn="l">
              <a:lnSpc>
                <a:spcPts val="2116"/>
              </a:lnSpc>
            </a:pPr>
            <a:r>
              <a:rPr lang="en-US" sz="1512" spc="-12">
                <a:solidFill>
                  <a:srgbClr val="000000"/>
                </a:solidFill>
                <a:latin typeface="Montserrat"/>
                <a:ea typeface="Montserrat"/>
                <a:cs typeface="Montserrat"/>
                <a:sym typeface="Montserrat"/>
              </a:rPr>
              <a:t>.</a:t>
            </a:r>
          </a:p>
        </p:txBody>
      </p:sp>
      <p:sp>
        <p:nvSpPr>
          <p:cNvPr id="29" name="TextBox 29"/>
          <p:cNvSpPr txBox="1"/>
          <p:nvPr/>
        </p:nvSpPr>
        <p:spPr>
          <a:xfrm>
            <a:off x="2167185" y="2537346"/>
            <a:ext cx="3519688" cy="269443"/>
          </a:xfrm>
          <a:prstGeom prst="rect">
            <a:avLst/>
          </a:prstGeom>
        </p:spPr>
        <p:txBody>
          <a:bodyPr lIns="0" tIns="0" rIns="0" bIns="0" rtlCol="0" anchor="t">
            <a:spAutoFit/>
          </a:bodyPr>
          <a:lstStyle/>
          <a:p>
            <a:pPr algn="l">
              <a:lnSpc>
                <a:spcPts val="2116"/>
              </a:lnSpc>
            </a:pPr>
            <a:r>
              <a:rPr lang="en-US" sz="1512" spc="31">
                <a:solidFill>
                  <a:srgbClr val="000000"/>
                </a:solidFill>
                <a:latin typeface="Montserrat"/>
                <a:ea typeface="Montserrat"/>
                <a:cs typeface="Montserrat"/>
                <a:sym typeface="Montserrat"/>
              </a:rPr>
              <a:t>Set up the pinMode as an OUTPUT.</a:t>
            </a:r>
          </a:p>
        </p:txBody>
      </p:sp>
      <p:sp>
        <p:nvSpPr>
          <p:cNvPr id="30" name="TextBox 30"/>
          <p:cNvSpPr txBox="1"/>
          <p:nvPr/>
        </p:nvSpPr>
        <p:spPr>
          <a:xfrm>
            <a:off x="2167185" y="2834602"/>
            <a:ext cx="1115844" cy="269443"/>
          </a:xfrm>
          <a:prstGeom prst="rect">
            <a:avLst/>
          </a:prstGeom>
        </p:spPr>
        <p:txBody>
          <a:bodyPr lIns="0" tIns="0" rIns="0" bIns="0" rtlCol="0" anchor="t">
            <a:spAutoFit/>
          </a:bodyPr>
          <a:lstStyle/>
          <a:p>
            <a:pPr algn="l">
              <a:lnSpc>
                <a:spcPts val="2116"/>
              </a:lnSpc>
            </a:pPr>
            <a:r>
              <a:rPr lang="en-US" sz="1512" spc="-9">
                <a:solidFill>
                  <a:srgbClr val="000000"/>
                </a:solidFill>
                <a:latin typeface="Montserrat"/>
                <a:ea typeface="Montserrat"/>
                <a:cs typeface="Montserrat"/>
                <a:sym typeface="Montserrat"/>
              </a:rPr>
              <a:t>Always use </a:t>
            </a:r>
          </a:p>
        </p:txBody>
      </p:sp>
      <p:sp>
        <p:nvSpPr>
          <p:cNvPr id="31" name="TextBox 31"/>
          <p:cNvSpPr txBox="1"/>
          <p:nvPr/>
        </p:nvSpPr>
        <p:spPr>
          <a:xfrm>
            <a:off x="4670984" y="2834602"/>
            <a:ext cx="39176" cy="269443"/>
          </a:xfrm>
          <a:prstGeom prst="rect">
            <a:avLst/>
          </a:prstGeom>
        </p:spPr>
        <p:txBody>
          <a:bodyPr lIns="0" tIns="0" rIns="0" bIns="0" rtlCol="0" anchor="t">
            <a:spAutoFit/>
          </a:bodyPr>
          <a:lstStyle/>
          <a:p>
            <a:pPr algn="l">
              <a:lnSpc>
                <a:spcPts val="2116"/>
              </a:lnSpc>
            </a:pPr>
            <a:r>
              <a:rPr lang="en-US" sz="1512" spc="-9">
                <a:solidFill>
                  <a:srgbClr val="000000"/>
                </a:solidFill>
                <a:latin typeface="Montserrat"/>
                <a:ea typeface="Montserrat"/>
                <a:cs typeface="Montserrat"/>
                <a:sym typeface="Montserrat"/>
              </a:rPr>
              <a:t>.</a:t>
            </a:r>
          </a:p>
        </p:txBody>
      </p:sp>
      <p:sp>
        <p:nvSpPr>
          <p:cNvPr id="32" name="TextBox 32"/>
          <p:cNvSpPr txBox="1"/>
          <p:nvPr/>
        </p:nvSpPr>
        <p:spPr>
          <a:xfrm>
            <a:off x="2167185" y="3134735"/>
            <a:ext cx="3472872" cy="269443"/>
          </a:xfrm>
          <a:prstGeom prst="rect">
            <a:avLst/>
          </a:prstGeom>
        </p:spPr>
        <p:txBody>
          <a:bodyPr lIns="0" tIns="0" rIns="0" bIns="0" rtlCol="0" anchor="t">
            <a:spAutoFit/>
          </a:bodyPr>
          <a:lstStyle/>
          <a:p>
            <a:pPr algn="l">
              <a:lnSpc>
                <a:spcPts val="2116"/>
              </a:lnSpc>
            </a:pPr>
            <a:r>
              <a:rPr lang="en-US" sz="1512" spc="31">
                <a:solidFill>
                  <a:srgbClr val="000000"/>
                </a:solidFill>
                <a:latin typeface="Montserrat"/>
                <a:ea typeface="Montserrat"/>
                <a:cs typeface="Montserrat"/>
                <a:sym typeface="Montserrat"/>
              </a:rPr>
              <a:t>Write a speed no higher than 255.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2663952"/>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grpSp>
        <p:nvGrpSpPr>
          <p:cNvPr id="11" name="Group 11"/>
          <p:cNvGrpSpPr/>
          <p:nvPr/>
        </p:nvGrpSpPr>
        <p:grpSpPr>
          <a:xfrm>
            <a:off x="1821180" y="3261360"/>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grpSp>
        <p:nvGrpSpPr>
          <p:cNvPr id="13" name="Group 13"/>
          <p:cNvGrpSpPr/>
          <p:nvPr/>
        </p:nvGrpSpPr>
        <p:grpSpPr>
          <a:xfrm>
            <a:off x="1821180" y="3560064"/>
            <a:ext cx="83820" cy="83820"/>
            <a:chOff x="0" y="0"/>
            <a:chExt cx="83820" cy="83820"/>
          </a:xfrm>
        </p:grpSpPr>
        <p:sp>
          <p:nvSpPr>
            <p:cNvPr id="14" name="Freeform 14"/>
            <p:cNvSpPr/>
            <p:nvPr/>
          </p:nvSpPr>
          <p:spPr>
            <a:xfrm>
              <a:off x="0" y="0"/>
              <a:ext cx="83820" cy="83820"/>
            </a:xfrm>
            <a:custGeom>
              <a:avLst/>
              <a:gdLst/>
              <a:ahLst/>
              <a:cxnLst/>
              <a:rect l="l" t="t" r="r" b="b"/>
              <a:pathLst>
                <a:path w="83820" h="83820">
                  <a:moveTo>
                    <a:pt x="21336" y="6096"/>
                  </a:moveTo>
                  <a:cubicBezTo>
                    <a:pt x="13716" y="9144"/>
                    <a:pt x="9144" y="13716"/>
                    <a:pt x="4572" y="21336"/>
                  </a:cubicBezTo>
                  <a:cubicBezTo>
                    <a:pt x="1524" y="27432"/>
                    <a:pt x="0" y="35052"/>
                    <a:pt x="0" y="42672"/>
                  </a:cubicBezTo>
                  <a:cubicBezTo>
                    <a:pt x="0" y="53340"/>
                    <a:pt x="3048" y="64008"/>
                    <a:pt x="12192" y="71628"/>
                  </a:cubicBezTo>
                  <a:cubicBezTo>
                    <a:pt x="19812" y="79248"/>
                    <a:pt x="28956" y="83820"/>
                    <a:pt x="41148" y="83820"/>
                  </a:cubicBezTo>
                  <a:cubicBezTo>
                    <a:pt x="53340" y="83820"/>
                    <a:pt x="62484" y="79248"/>
                    <a:pt x="70104" y="71628"/>
                  </a:cubicBezTo>
                  <a:cubicBezTo>
                    <a:pt x="79248" y="64008"/>
                    <a:pt x="83820" y="53340"/>
                    <a:pt x="83820" y="42672"/>
                  </a:cubicBezTo>
                  <a:cubicBezTo>
                    <a:pt x="83820" y="35052"/>
                    <a:pt x="80772" y="27432"/>
                    <a:pt x="77724" y="21336"/>
                  </a:cubicBezTo>
                  <a:cubicBezTo>
                    <a:pt x="73152" y="13716"/>
                    <a:pt x="68580" y="9144"/>
                    <a:pt x="62484" y="6096"/>
                  </a:cubicBezTo>
                  <a:cubicBezTo>
                    <a:pt x="54864" y="1524"/>
                    <a:pt x="48768" y="0"/>
                    <a:pt x="41148" y="0"/>
                  </a:cubicBezTo>
                  <a:cubicBezTo>
                    <a:pt x="33528" y="0"/>
                    <a:pt x="27432" y="1524"/>
                    <a:pt x="21336" y="6096"/>
                  </a:cubicBezTo>
                  <a:close/>
                </a:path>
              </a:pathLst>
            </a:custGeom>
            <a:solidFill>
              <a:srgbClr val="000000"/>
            </a:solidFill>
          </p:spPr>
          <p:txBody>
            <a:bodyPr/>
            <a:lstStyle/>
            <a:p>
              <a:endParaRPr/>
            </a:p>
          </p:txBody>
        </p:sp>
      </p:grpSp>
      <p:grpSp>
        <p:nvGrpSpPr>
          <p:cNvPr id="15" name="Group 15"/>
          <p:cNvGrpSpPr/>
          <p:nvPr/>
        </p:nvGrpSpPr>
        <p:grpSpPr>
          <a:xfrm>
            <a:off x="1821180" y="4157472"/>
            <a:ext cx="83820" cy="83820"/>
            <a:chOff x="0" y="0"/>
            <a:chExt cx="83820" cy="83820"/>
          </a:xfrm>
        </p:grpSpPr>
        <p:sp>
          <p:nvSpPr>
            <p:cNvPr id="16" name="Freeform 16"/>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sp>
        <p:nvSpPr>
          <p:cNvPr id="17" name="Freeform 17"/>
          <p:cNvSpPr/>
          <p:nvPr/>
        </p:nvSpPr>
        <p:spPr>
          <a:xfrm>
            <a:off x="1583941" y="5831329"/>
            <a:ext cx="8256013" cy="317497"/>
          </a:xfrm>
          <a:custGeom>
            <a:avLst/>
            <a:gdLst/>
            <a:ahLst/>
            <a:cxnLst/>
            <a:rect l="l" t="t" r="r" b="b"/>
            <a:pathLst>
              <a:path w="8256013" h="317497">
                <a:moveTo>
                  <a:pt x="0" y="0"/>
                </a:moveTo>
                <a:lnTo>
                  <a:pt x="8256013" y="0"/>
                </a:lnTo>
                <a:lnTo>
                  <a:pt x="8256013" y="317497"/>
                </a:lnTo>
                <a:lnTo>
                  <a:pt x="0" y="3174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18" name="TextBox 18"/>
          <p:cNvSpPr txBox="1"/>
          <p:nvPr/>
        </p:nvSpPr>
        <p:spPr>
          <a:xfrm>
            <a:off x="1632204" y="1334119"/>
            <a:ext cx="5120640" cy="1171146"/>
          </a:xfrm>
          <a:prstGeom prst="rect">
            <a:avLst/>
          </a:prstGeom>
        </p:spPr>
        <p:txBody>
          <a:bodyPr wrap="square" lIns="0" tIns="0" rIns="0" bIns="0" rtlCol="0" anchor="t">
            <a:spAutoFit/>
          </a:bodyPr>
          <a:lstStyle/>
          <a:p>
            <a:pPr algn="l">
              <a:lnSpc>
                <a:spcPts val="4267"/>
              </a:lnSpc>
            </a:pPr>
            <a:r>
              <a:rPr lang="en-US" sz="2300">
                <a:solidFill>
                  <a:srgbClr val="2C2C2C"/>
                </a:solidFill>
                <a:latin typeface="Montserrat"/>
                <a:ea typeface="Montserrat"/>
                <a:cs typeface="Montserrat"/>
                <a:sym typeface="Montserrat"/>
              </a:rPr>
              <a:t>Turning the wheel to the light</a:t>
            </a:r>
          </a:p>
          <a:p>
            <a:pPr algn="l">
              <a:lnSpc>
                <a:spcPts val="2116"/>
              </a:lnSpc>
            </a:pPr>
            <a:r>
              <a:rPr lang="en-US" sz="1512" spc="-9">
                <a:solidFill>
                  <a:srgbClr val="000000"/>
                </a:solidFill>
                <a:latin typeface="Montserrat"/>
                <a:ea typeface="Montserrat"/>
                <a:cs typeface="Montserrat"/>
                <a:sym typeface="Montserrat"/>
              </a:rPr>
              <a:t>Write a function that:</a:t>
            </a:r>
          </a:p>
        </p:txBody>
      </p:sp>
      <p:sp>
        <p:nvSpPr>
          <p:cNvPr id="19" name="TextBox 19"/>
          <p:cNvSpPr txBox="1"/>
          <p:nvPr/>
        </p:nvSpPr>
        <p:spPr>
          <a:xfrm>
            <a:off x="2167185" y="2518296"/>
            <a:ext cx="7767399" cy="1782051"/>
          </a:xfrm>
          <a:prstGeom prst="rect">
            <a:avLst/>
          </a:prstGeom>
        </p:spPr>
        <p:txBody>
          <a:bodyPr lIns="0" tIns="0" rIns="0" bIns="0" rtlCol="0" anchor="t">
            <a:spAutoFit/>
          </a:bodyPr>
          <a:lstStyle/>
          <a:p>
            <a:pPr algn="l">
              <a:lnSpc>
                <a:spcPts val="2354"/>
              </a:lnSpc>
            </a:pPr>
            <a:r>
              <a:rPr lang="en-US" sz="1512" spc="-9">
                <a:solidFill>
                  <a:srgbClr val="000000"/>
                </a:solidFill>
                <a:latin typeface="Montserrat"/>
                <a:ea typeface="Montserrat"/>
                <a:cs typeface="Montserrat"/>
                <a:sym typeface="Montserrat"/>
              </a:rPr>
              <a:t>If the left sensor has more light, the motor starts rotating counterclockwise for 1 second. </a:t>
            </a:r>
          </a:p>
          <a:p>
            <a:pPr algn="l">
              <a:lnSpc>
                <a:spcPts val="2354"/>
              </a:lnSpc>
            </a:pPr>
            <a:r>
              <a:rPr lang="en-US" sz="1512" spc="-9">
                <a:solidFill>
                  <a:srgbClr val="000000"/>
                </a:solidFill>
                <a:latin typeface="Montserrat"/>
                <a:ea typeface="Montserrat"/>
                <a:cs typeface="Montserrat"/>
                <a:sym typeface="Montserrat"/>
              </a:rPr>
              <a:t>If the back sensor has more light, the motor is stopped.</a:t>
            </a:r>
          </a:p>
          <a:p>
            <a:pPr algn="l">
              <a:lnSpc>
                <a:spcPts val="2354"/>
              </a:lnSpc>
            </a:pPr>
            <a:r>
              <a:rPr lang="en-US" sz="1512" spc="-9">
                <a:solidFill>
                  <a:srgbClr val="000000"/>
                </a:solidFill>
                <a:latin typeface="Montserrat"/>
                <a:ea typeface="Montserrat"/>
                <a:cs typeface="Montserrat"/>
                <a:sym typeface="Montserrat"/>
              </a:rPr>
              <a:t>If the right sensor has more light, the motor starts rotating clockwise for 1 second.</a:t>
            </a:r>
          </a:p>
          <a:p>
            <a:pPr algn="l">
              <a:lnSpc>
                <a:spcPts val="2354"/>
              </a:lnSpc>
            </a:pPr>
            <a:r>
              <a:rPr lang="en-US" sz="1512" spc="-9">
                <a:solidFill>
                  <a:srgbClr val="000000"/>
                </a:solidFill>
                <a:latin typeface="Montserrat"/>
                <a:ea typeface="Montserrat"/>
                <a:cs typeface="Montserrat"/>
                <a:sym typeface="Montserrat"/>
              </a:rPr>
              <a:t>Include a Serial.print of the motor status (rotating ccw, rotating cw or stopped).</a:t>
            </a:r>
          </a:p>
        </p:txBody>
      </p:sp>
      <p:sp>
        <p:nvSpPr>
          <p:cNvPr id="20" name="TextBox 20"/>
          <p:cNvSpPr txBox="1"/>
          <p:nvPr/>
        </p:nvSpPr>
        <p:spPr>
          <a:xfrm>
            <a:off x="1632204" y="6123394"/>
            <a:ext cx="2282209" cy="269443"/>
          </a:xfrm>
          <a:prstGeom prst="rect">
            <a:avLst/>
          </a:prstGeom>
        </p:spPr>
        <p:txBody>
          <a:bodyPr lIns="0" tIns="0" rIns="0" bIns="0" rtlCol="0" anchor="t">
            <a:spAutoFit/>
          </a:bodyPr>
          <a:lstStyle/>
          <a:p>
            <a:pPr algn="l">
              <a:lnSpc>
                <a:spcPts val="2116"/>
              </a:lnSpc>
            </a:pPr>
            <a:r>
              <a:rPr lang="en-US" sz="1512" spc="31">
                <a:solidFill>
                  <a:srgbClr val="000000"/>
                </a:solidFill>
                <a:latin typeface="Montserrat"/>
                <a:ea typeface="Montserrat"/>
                <a:cs typeface="Montserrat"/>
                <a:sym typeface="Montserrat"/>
              </a:rPr>
              <a:t>the sun sensor values.</a:t>
            </a:r>
          </a:p>
        </p:txBody>
      </p:sp>
      <p:sp>
        <p:nvSpPr>
          <p:cNvPr id="21" name="TextBox 21"/>
          <p:cNvSpPr txBox="1"/>
          <p:nvPr/>
        </p:nvSpPr>
        <p:spPr>
          <a:xfrm>
            <a:off x="1632204" y="5227225"/>
            <a:ext cx="4440641" cy="269443"/>
          </a:xfrm>
          <a:prstGeom prst="rect">
            <a:avLst/>
          </a:prstGeom>
        </p:spPr>
        <p:txBody>
          <a:bodyPr lIns="0" tIns="0" rIns="0" bIns="0" rtlCol="0" anchor="t">
            <a:spAutoFit/>
          </a:bodyPr>
          <a:lstStyle/>
          <a:p>
            <a:pPr algn="l">
              <a:lnSpc>
                <a:spcPts val="2116"/>
              </a:lnSpc>
            </a:pPr>
            <a:r>
              <a:rPr lang="en-US" sz="1512" spc="31">
                <a:solidFill>
                  <a:srgbClr val="000000"/>
                </a:solidFill>
                <a:latin typeface="Montserrat"/>
                <a:ea typeface="Montserrat"/>
                <a:cs typeface="Montserrat"/>
                <a:sym typeface="Montserrat"/>
              </a:rPr>
              <a:t>The maximum speed written has to be 255.</a:t>
            </a:r>
          </a:p>
        </p:txBody>
      </p:sp>
      <p:sp>
        <p:nvSpPr>
          <p:cNvPr id="22" name="TextBox 22"/>
          <p:cNvSpPr txBox="1"/>
          <p:nvPr/>
        </p:nvSpPr>
        <p:spPr>
          <a:xfrm>
            <a:off x="1632204" y="4628302"/>
            <a:ext cx="5493610" cy="269443"/>
          </a:xfrm>
          <a:prstGeom prst="rect">
            <a:avLst/>
          </a:prstGeom>
        </p:spPr>
        <p:txBody>
          <a:bodyPr lIns="0" tIns="0" rIns="0" bIns="0" rtlCol="0" anchor="t">
            <a:spAutoFit/>
          </a:bodyPr>
          <a:lstStyle/>
          <a:p>
            <a:pPr algn="l">
              <a:lnSpc>
                <a:spcPts val="2116"/>
              </a:lnSpc>
            </a:pPr>
            <a:r>
              <a:rPr lang="en-US" sz="1512" spc="31">
                <a:solidFill>
                  <a:srgbClr val="000000"/>
                </a:solidFill>
                <a:latin typeface="Montserrat"/>
                <a:ea typeface="Montserrat"/>
                <a:cs typeface="Montserrat"/>
                <a:sym typeface="Montserrat"/>
              </a:rPr>
              <a:t>REMEMBER TO USE analogWrite(), NOT digitalWrite()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3727704" y="3249168"/>
            <a:ext cx="3444240" cy="941832"/>
            <a:chOff x="0" y="0"/>
            <a:chExt cx="4592320" cy="1255776"/>
          </a:xfrm>
        </p:grpSpPr>
        <p:sp>
          <p:nvSpPr>
            <p:cNvPr id="10" name="Freeform 10"/>
            <p:cNvSpPr/>
            <p:nvPr/>
          </p:nvSpPr>
          <p:spPr>
            <a:xfrm>
              <a:off x="0" y="0"/>
              <a:ext cx="4592320" cy="1255776"/>
            </a:xfrm>
            <a:custGeom>
              <a:avLst/>
              <a:gdLst/>
              <a:ahLst/>
              <a:cxnLst/>
              <a:rect l="l" t="t" r="r" b="b"/>
              <a:pathLst>
                <a:path w="4592320" h="1255776">
                  <a:moveTo>
                    <a:pt x="0" y="0"/>
                  </a:moveTo>
                  <a:lnTo>
                    <a:pt x="4592320" y="0"/>
                  </a:lnTo>
                  <a:lnTo>
                    <a:pt x="4592320" y="1255776"/>
                  </a:lnTo>
                  <a:lnTo>
                    <a:pt x="0" y="1255776"/>
                  </a:lnTo>
                  <a:lnTo>
                    <a:pt x="0" y="0"/>
                  </a:lnTo>
                  <a:close/>
                </a:path>
              </a:pathLst>
            </a:custGeom>
            <a:blipFill>
              <a:blip r:embed="rId4"/>
              <a:stretch>
                <a:fillRect/>
              </a:stretch>
            </a:blipFill>
          </p:spPr>
          <p:txBody>
            <a:bodyPr/>
            <a:lstStyle/>
            <a:p>
              <a:endParaRPr/>
            </a:p>
          </p:txBody>
        </p:sp>
      </p:grpSp>
      <p:grpSp>
        <p:nvGrpSpPr>
          <p:cNvPr id="11" name="Group 11"/>
          <p:cNvGrpSpPr/>
          <p:nvPr/>
        </p:nvGrpSpPr>
        <p:grpSpPr>
          <a:xfrm>
            <a:off x="3727704" y="4187952"/>
            <a:ext cx="3444240" cy="2523744"/>
            <a:chOff x="0" y="0"/>
            <a:chExt cx="4592320" cy="3364992"/>
          </a:xfrm>
        </p:grpSpPr>
        <p:sp>
          <p:nvSpPr>
            <p:cNvPr id="12" name="Freeform 12"/>
            <p:cNvSpPr/>
            <p:nvPr/>
          </p:nvSpPr>
          <p:spPr>
            <a:xfrm>
              <a:off x="0" y="0"/>
              <a:ext cx="4592320" cy="3364992"/>
            </a:xfrm>
            <a:custGeom>
              <a:avLst/>
              <a:gdLst/>
              <a:ahLst/>
              <a:cxnLst/>
              <a:rect l="l" t="t" r="r" b="b"/>
              <a:pathLst>
                <a:path w="4592320" h="3364992">
                  <a:moveTo>
                    <a:pt x="0" y="0"/>
                  </a:moveTo>
                  <a:lnTo>
                    <a:pt x="4592320" y="0"/>
                  </a:lnTo>
                  <a:lnTo>
                    <a:pt x="4592320" y="3364992"/>
                  </a:lnTo>
                  <a:lnTo>
                    <a:pt x="0" y="3364992"/>
                  </a:lnTo>
                  <a:lnTo>
                    <a:pt x="0" y="0"/>
                  </a:lnTo>
                  <a:close/>
                </a:path>
              </a:pathLst>
            </a:custGeom>
            <a:blipFill>
              <a:blip r:embed="rId5"/>
              <a:stretch>
                <a:fillRect/>
              </a:stretch>
            </a:blipFill>
          </p:spPr>
          <p:txBody>
            <a:bodyPr/>
            <a:lstStyle/>
            <a:p>
              <a:endParaRPr/>
            </a:p>
          </p:txBody>
        </p:sp>
      </p:grpSp>
      <p:sp>
        <p:nvSpPr>
          <p:cNvPr id="13" name="TextBox 13"/>
          <p:cNvSpPr txBox="1"/>
          <p:nvPr/>
        </p:nvSpPr>
        <p:spPr>
          <a:xfrm>
            <a:off x="1632204" y="1286494"/>
            <a:ext cx="5120640" cy="1816160"/>
          </a:xfrm>
          <a:prstGeom prst="rect">
            <a:avLst/>
          </a:prstGeom>
        </p:spPr>
        <p:txBody>
          <a:bodyPr wrap="square" lIns="0" tIns="0" rIns="0" bIns="0" rtlCol="0" anchor="t">
            <a:spAutoFit/>
          </a:bodyPr>
          <a:lstStyle/>
          <a:p>
            <a:pPr algn="l">
              <a:lnSpc>
                <a:spcPts val="4736"/>
              </a:lnSpc>
            </a:pPr>
            <a:r>
              <a:rPr lang="en-US" sz="3048">
                <a:solidFill>
                  <a:srgbClr val="2C2C2C"/>
                </a:solidFill>
                <a:latin typeface="Montserrat"/>
                <a:ea typeface="Montserrat"/>
                <a:cs typeface="Montserrat"/>
                <a:sym typeface="Montserrat"/>
              </a:rPr>
              <a:t>Testing on the stand</a:t>
            </a:r>
          </a:p>
          <a:p>
            <a:pPr algn="l">
              <a:lnSpc>
                <a:spcPts val="2349"/>
              </a:lnSpc>
            </a:pPr>
            <a:r>
              <a:rPr lang="en-US" sz="1512" spc="-9">
                <a:solidFill>
                  <a:srgbClr val="000000"/>
                </a:solidFill>
                <a:latin typeface="Montserrat"/>
                <a:ea typeface="Montserrat"/>
                <a:cs typeface="Montserrat"/>
                <a:sym typeface="Montserrat"/>
              </a:rPr>
              <a:t>Test this function by hanging the satellite to the stand using the fishing line!</a:t>
            </a:r>
          </a:p>
          <a:p>
            <a:pPr algn="l">
              <a:lnSpc>
                <a:spcPts val="2349"/>
              </a:lnSpc>
            </a:pPr>
            <a:r>
              <a:rPr lang="en-US" sz="1512" spc="-9">
                <a:solidFill>
                  <a:srgbClr val="000000"/>
                </a:solidFill>
                <a:latin typeface="Montserrat"/>
                <a:ea typeface="Montserrat"/>
                <a:cs typeface="Montserrat"/>
                <a:sym typeface="Montserrat"/>
              </a:rPr>
              <a:t>Once you tested it, un-hang the satellite for the next exercise.</a:t>
            </a:r>
          </a:p>
        </p:txBody>
      </p:sp>
      <p:sp>
        <p:nvSpPr>
          <p:cNvPr id="14" name="TextBox 14"/>
          <p:cNvSpPr txBox="1"/>
          <p:nvPr/>
        </p:nvSpPr>
        <p:spPr>
          <a:xfrm>
            <a:off x="8718852" y="2237213"/>
            <a:ext cx="808330" cy="269443"/>
          </a:xfrm>
          <a:prstGeom prst="rect">
            <a:avLst/>
          </a:prstGeom>
        </p:spPr>
        <p:txBody>
          <a:bodyPr lIns="0" tIns="0" rIns="0" bIns="0" rtlCol="0" anchor="t">
            <a:spAutoFit/>
          </a:bodyPr>
          <a:lstStyle/>
          <a:p>
            <a:pPr algn="l">
              <a:lnSpc>
                <a:spcPts val="2116"/>
              </a:lnSpc>
            </a:pPr>
            <a:r>
              <a:rPr lang="en-US" sz="1512" spc="-9">
                <a:solidFill>
                  <a:srgbClr val="000000"/>
                </a:solidFill>
                <a:latin typeface="Montserrat"/>
                <a:ea typeface="Montserrat"/>
                <a:cs typeface="Montserrat"/>
                <a:sym typeface="Montserrat"/>
              </a:rPr>
              <a:t>and the </a:t>
            </a:r>
          </a:p>
        </p:txBody>
      </p:sp>
      <p:sp>
        <p:nvSpPr>
          <p:cNvPr id="15" name="TextBox 15"/>
          <p:cNvSpPr txBox="1"/>
          <p:nvPr/>
        </p:nvSpPr>
        <p:spPr>
          <a:xfrm>
            <a:off x="7807500" y="2237213"/>
            <a:ext cx="879624" cy="269443"/>
          </a:xfrm>
          <a:prstGeom prst="rect">
            <a:avLst/>
          </a:prstGeom>
        </p:spPr>
        <p:txBody>
          <a:bodyPr lIns="0" tIns="0" rIns="0" bIns="0" rtlCol="0" anchor="t">
            <a:spAutoFit/>
          </a:bodyPr>
          <a:lstStyle/>
          <a:p>
            <a:pPr algn="l">
              <a:lnSpc>
                <a:spcPts val="2116"/>
              </a:lnSpc>
            </a:pPr>
            <a:r>
              <a:rPr lang="en-US" sz="1512" spc="33">
                <a:solidFill>
                  <a:srgbClr val="000000"/>
                </a:solidFill>
                <a:latin typeface="Montserrat"/>
                <a:ea typeface="Montserrat"/>
                <a:cs typeface="Montserrat"/>
                <a:sym typeface="Montserrat"/>
              </a:rPr>
              <a:t>eyebolts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3560064"/>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6096"/>
                  </a:moveTo>
                  <a:cubicBezTo>
                    <a:pt x="13716" y="9144"/>
                    <a:pt x="9144" y="13716"/>
                    <a:pt x="4572" y="21336"/>
                  </a:cubicBezTo>
                  <a:cubicBezTo>
                    <a:pt x="1524" y="27432"/>
                    <a:pt x="0" y="35052"/>
                    <a:pt x="0" y="42672"/>
                  </a:cubicBezTo>
                  <a:cubicBezTo>
                    <a:pt x="0" y="53340"/>
                    <a:pt x="3048" y="64008"/>
                    <a:pt x="12192" y="71628"/>
                  </a:cubicBezTo>
                  <a:cubicBezTo>
                    <a:pt x="19812" y="79248"/>
                    <a:pt x="28956" y="83820"/>
                    <a:pt x="41148" y="83820"/>
                  </a:cubicBezTo>
                  <a:cubicBezTo>
                    <a:pt x="53340" y="83820"/>
                    <a:pt x="62484" y="79248"/>
                    <a:pt x="70104" y="71628"/>
                  </a:cubicBezTo>
                  <a:cubicBezTo>
                    <a:pt x="79248" y="64008"/>
                    <a:pt x="83820" y="53340"/>
                    <a:pt x="83820" y="42672"/>
                  </a:cubicBezTo>
                  <a:cubicBezTo>
                    <a:pt x="83820" y="35052"/>
                    <a:pt x="80772" y="27432"/>
                    <a:pt x="77724" y="21336"/>
                  </a:cubicBezTo>
                  <a:cubicBezTo>
                    <a:pt x="73152" y="13716"/>
                    <a:pt x="68580" y="9144"/>
                    <a:pt x="62484" y="6096"/>
                  </a:cubicBezTo>
                  <a:cubicBezTo>
                    <a:pt x="54864" y="1524"/>
                    <a:pt x="48768" y="0"/>
                    <a:pt x="41148" y="0"/>
                  </a:cubicBezTo>
                  <a:cubicBezTo>
                    <a:pt x="33528" y="0"/>
                    <a:pt x="27432" y="1524"/>
                    <a:pt x="21336" y="6096"/>
                  </a:cubicBezTo>
                  <a:close/>
                </a:path>
              </a:pathLst>
            </a:custGeom>
            <a:solidFill>
              <a:srgbClr val="000000"/>
            </a:solidFill>
          </p:spPr>
          <p:txBody>
            <a:bodyPr/>
            <a:lstStyle/>
            <a:p>
              <a:endParaRPr/>
            </a:p>
          </p:txBody>
        </p:sp>
      </p:grpSp>
      <p:grpSp>
        <p:nvGrpSpPr>
          <p:cNvPr id="11" name="Group 11"/>
          <p:cNvGrpSpPr/>
          <p:nvPr/>
        </p:nvGrpSpPr>
        <p:grpSpPr>
          <a:xfrm>
            <a:off x="5212080" y="4081272"/>
            <a:ext cx="1039368" cy="780288"/>
            <a:chOff x="0" y="0"/>
            <a:chExt cx="1385824" cy="1040384"/>
          </a:xfrm>
        </p:grpSpPr>
        <p:sp>
          <p:nvSpPr>
            <p:cNvPr id="12" name="Freeform 12"/>
            <p:cNvSpPr/>
            <p:nvPr/>
          </p:nvSpPr>
          <p:spPr>
            <a:xfrm>
              <a:off x="0" y="0"/>
              <a:ext cx="1385824" cy="1040384"/>
            </a:xfrm>
            <a:custGeom>
              <a:avLst/>
              <a:gdLst/>
              <a:ahLst/>
              <a:cxnLst/>
              <a:rect l="l" t="t" r="r" b="b"/>
              <a:pathLst>
                <a:path w="1385824" h="1040384">
                  <a:moveTo>
                    <a:pt x="0" y="0"/>
                  </a:moveTo>
                  <a:lnTo>
                    <a:pt x="1385824" y="0"/>
                  </a:lnTo>
                  <a:lnTo>
                    <a:pt x="1385824" y="1040384"/>
                  </a:lnTo>
                  <a:lnTo>
                    <a:pt x="0" y="1040384"/>
                  </a:lnTo>
                  <a:lnTo>
                    <a:pt x="0" y="0"/>
                  </a:lnTo>
                  <a:close/>
                </a:path>
              </a:pathLst>
            </a:custGeom>
            <a:blipFill>
              <a:blip r:embed="rId4"/>
              <a:stretch>
                <a:fillRect/>
              </a:stretch>
            </a:blipFill>
          </p:spPr>
          <p:txBody>
            <a:bodyPr/>
            <a:lstStyle/>
            <a:p>
              <a:endParaRPr/>
            </a:p>
          </p:txBody>
        </p:sp>
      </p:grpSp>
      <p:grpSp>
        <p:nvGrpSpPr>
          <p:cNvPr id="13" name="Group 13"/>
          <p:cNvGrpSpPr/>
          <p:nvPr/>
        </p:nvGrpSpPr>
        <p:grpSpPr>
          <a:xfrm>
            <a:off x="5212080" y="4858512"/>
            <a:ext cx="1039368" cy="551688"/>
            <a:chOff x="0" y="0"/>
            <a:chExt cx="1385824" cy="735584"/>
          </a:xfrm>
        </p:grpSpPr>
        <p:sp>
          <p:nvSpPr>
            <p:cNvPr id="14" name="Freeform 14"/>
            <p:cNvSpPr/>
            <p:nvPr/>
          </p:nvSpPr>
          <p:spPr>
            <a:xfrm>
              <a:off x="0" y="0"/>
              <a:ext cx="1385824" cy="735584"/>
            </a:xfrm>
            <a:custGeom>
              <a:avLst/>
              <a:gdLst/>
              <a:ahLst/>
              <a:cxnLst/>
              <a:rect l="l" t="t" r="r" b="b"/>
              <a:pathLst>
                <a:path w="1385824" h="735584">
                  <a:moveTo>
                    <a:pt x="0" y="0"/>
                  </a:moveTo>
                  <a:lnTo>
                    <a:pt x="1385824" y="0"/>
                  </a:lnTo>
                  <a:lnTo>
                    <a:pt x="1385824" y="735584"/>
                  </a:lnTo>
                  <a:lnTo>
                    <a:pt x="0" y="735584"/>
                  </a:lnTo>
                  <a:lnTo>
                    <a:pt x="0" y="0"/>
                  </a:lnTo>
                  <a:close/>
                </a:path>
              </a:pathLst>
            </a:custGeom>
            <a:blipFill>
              <a:blip r:embed="rId5"/>
              <a:stretch>
                <a:fillRect/>
              </a:stretch>
            </a:blipFill>
          </p:spPr>
          <p:txBody>
            <a:bodyPr/>
            <a:lstStyle/>
            <a:p>
              <a:endParaRPr/>
            </a:p>
          </p:txBody>
        </p:sp>
      </p:grpSp>
      <p:sp>
        <p:nvSpPr>
          <p:cNvPr id="15" name="TextBox 15"/>
          <p:cNvSpPr txBox="1"/>
          <p:nvPr/>
        </p:nvSpPr>
        <p:spPr>
          <a:xfrm>
            <a:off x="1632204" y="1334119"/>
            <a:ext cx="5061137" cy="1171146"/>
          </a:xfrm>
          <a:prstGeom prst="rect">
            <a:avLst/>
          </a:prstGeom>
        </p:spPr>
        <p:txBody>
          <a:bodyPr wrap="square"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Reading the IMU</a:t>
            </a:r>
          </a:p>
          <a:p>
            <a:pPr algn="l">
              <a:lnSpc>
                <a:spcPts val="2116"/>
              </a:lnSpc>
            </a:pPr>
            <a:r>
              <a:rPr lang="en-US" sz="1512" spc="-7">
                <a:solidFill>
                  <a:srgbClr val="000000"/>
                </a:solidFill>
                <a:latin typeface="Montserrat"/>
                <a:ea typeface="Montserrat"/>
                <a:cs typeface="Montserrat"/>
                <a:sym typeface="Montserrat"/>
              </a:rPr>
              <a:t>Now, comment out the motor and sun sensor parts.</a:t>
            </a:r>
          </a:p>
        </p:txBody>
      </p:sp>
      <p:sp>
        <p:nvSpPr>
          <p:cNvPr id="16" name="TextBox 16"/>
          <p:cNvSpPr txBox="1"/>
          <p:nvPr/>
        </p:nvSpPr>
        <p:spPr>
          <a:xfrm>
            <a:off x="1632204" y="2815552"/>
            <a:ext cx="8358321" cy="588626"/>
          </a:xfrm>
          <a:prstGeom prst="rect">
            <a:avLst/>
          </a:prstGeom>
        </p:spPr>
        <p:txBody>
          <a:bodyPr lIns="0" tIns="0" rIns="0" bIns="0" rtlCol="0" anchor="t">
            <a:spAutoFit/>
          </a:bodyPr>
          <a:lstStyle/>
          <a:p>
            <a:pPr algn="l">
              <a:lnSpc>
                <a:spcPts val="2363"/>
              </a:lnSpc>
            </a:pPr>
            <a:r>
              <a:rPr lang="en-US" sz="1512" spc="-7">
                <a:solidFill>
                  <a:srgbClr val="000000"/>
                </a:solidFill>
                <a:latin typeface="Montserrat"/>
                <a:ea typeface="Montserrat"/>
                <a:cs typeface="Montserrat"/>
                <a:sym typeface="Montserrat"/>
              </a:rPr>
              <a:t>The ADCS has an IMU module called Adafruit BNO055, refer to the ADCS schematics for the connections to the Arduino.</a:t>
            </a:r>
          </a:p>
        </p:txBody>
      </p:sp>
      <p:sp>
        <p:nvSpPr>
          <p:cNvPr id="17" name="TextBox 17"/>
          <p:cNvSpPr txBox="1"/>
          <p:nvPr/>
        </p:nvSpPr>
        <p:spPr>
          <a:xfrm>
            <a:off x="2167185" y="3414474"/>
            <a:ext cx="7530408" cy="585549"/>
          </a:xfrm>
          <a:prstGeom prst="rect">
            <a:avLst/>
          </a:prstGeom>
        </p:spPr>
        <p:txBody>
          <a:bodyPr lIns="0" tIns="0" rIns="0" bIns="0" rtlCol="0" anchor="t">
            <a:spAutoFit/>
          </a:bodyPr>
          <a:lstStyle/>
          <a:p>
            <a:pPr algn="l">
              <a:lnSpc>
                <a:spcPts val="2339"/>
              </a:lnSpc>
            </a:pPr>
            <a:r>
              <a:rPr lang="en-US" sz="1512" spc="-9">
                <a:solidFill>
                  <a:srgbClr val="000000"/>
                </a:solidFill>
                <a:latin typeface="Montserrat"/>
                <a:ea typeface="Montserrat"/>
                <a:cs typeface="Montserrat"/>
                <a:sym typeface="Montserrat"/>
              </a:rPr>
              <a:t>Using online documentation, write a function to read ALL the IMU outputs in the serial monitor.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3560064"/>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6096"/>
                  </a:moveTo>
                  <a:cubicBezTo>
                    <a:pt x="13716" y="9144"/>
                    <a:pt x="9144" y="13716"/>
                    <a:pt x="4572" y="21336"/>
                  </a:cubicBezTo>
                  <a:cubicBezTo>
                    <a:pt x="1524" y="27432"/>
                    <a:pt x="0" y="35052"/>
                    <a:pt x="0" y="42672"/>
                  </a:cubicBezTo>
                  <a:cubicBezTo>
                    <a:pt x="0" y="53340"/>
                    <a:pt x="3048" y="64008"/>
                    <a:pt x="12192" y="71628"/>
                  </a:cubicBezTo>
                  <a:cubicBezTo>
                    <a:pt x="19812" y="79248"/>
                    <a:pt x="28956" y="83820"/>
                    <a:pt x="41148" y="83820"/>
                  </a:cubicBezTo>
                  <a:cubicBezTo>
                    <a:pt x="53340" y="83820"/>
                    <a:pt x="62484" y="79248"/>
                    <a:pt x="70104" y="71628"/>
                  </a:cubicBezTo>
                  <a:cubicBezTo>
                    <a:pt x="79248" y="64008"/>
                    <a:pt x="83820" y="53340"/>
                    <a:pt x="83820" y="42672"/>
                  </a:cubicBezTo>
                  <a:cubicBezTo>
                    <a:pt x="83820" y="35052"/>
                    <a:pt x="80772" y="27432"/>
                    <a:pt x="77724" y="21336"/>
                  </a:cubicBezTo>
                  <a:cubicBezTo>
                    <a:pt x="73152" y="13716"/>
                    <a:pt x="68580" y="9144"/>
                    <a:pt x="62484" y="6096"/>
                  </a:cubicBezTo>
                  <a:cubicBezTo>
                    <a:pt x="54864" y="1524"/>
                    <a:pt x="48768" y="0"/>
                    <a:pt x="41148" y="0"/>
                  </a:cubicBezTo>
                  <a:cubicBezTo>
                    <a:pt x="33528" y="0"/>
                    <a:pt x="27432" y="1524"/>
                    <a:pt x="21336" y="6096"/>
                  </a:cubicBezTo>
                  <a:close/>
                </a:path>
              </a:pathLst>
            </a:custGeom>
            <a:solidFill>
              <a:srgbClr val="000000"/>
            </a:solidFill>
          </p:spPr>
          <p:txBody>
            <a:bodyPr/>
            <a:lstStyle/>
            <a:p>
              <a:endParaRPr/>
            </a:p>
          </p:txBody>
        </p:sp>
      </p:grpSp>
      <p:grpSp>
        <p:nvGrpSpPr>
          <p:cNvPr id="11" name="Group 11"/>
          <p:cNvGrpSpPr/>
          <p:nvPr/>
        </p:nvGrpSpPr>
        <p:grpSpPr>
          <a:xfrm>
            <a:off x="1821180" y="4157472"/>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grpSp>
        <p:nvGrpSpPr>
          <p:cNvPr id="13" name="Group 13"/>
          <p:cNvGrpSpPr/>
          <p:nvPr/>
        </p:nvGrpSpPr>
        <p:grpSpPr>
          <a:xfrm>
            <a:off x="1821180" y="4456176"/>
            <a:ext cx="83820" cy="83820"/>
            <a:chOff x="0" y="0"/>
            <a:chExt cx="83820" cy="83820"/>
          </a:xfrm>
        </p:grpSpPr>
        <p:sp>
          <p:nvSpPr>
            <p:cNvPr id="14" name="Freeform 14"/>
            <p:cNvSpPr/>
            <p:nvPr/>
          </p:nvSpPr>
          <p:spPr>
            <a:xfrm>
              <a:off x="0" y="0"/>
              <a:ext cx="83820" cy="83820"/>
            </a:xfrm>
            <a:custGeom>
              <a:avLst/>
              <a:gdLst/>
              <a:ahLst/>
              <a:cxnLst/>
              <a:rect l="l" t="t" r="r" b="b"/>
              <a:pathLst>
                <a:path w="83820" h="83820">
                  <a:moveTo>
                    <a:pt x="21336" y="6096"/>
                  </a:moveTo>
                  <a:cubicBezTo>
                    <a:pt x="13716" y="9144"/>
                    <a:pt x="9144" y="15240"/>
                    <a:pt x="4572" y="21336"/>
                  </a:cubicBezTo>
                  <a:cubicBezTo>
                    <a:pt x="1524" y="28956"/>
                    <a:pt x="0" y="35052"/>
                    <a:pt x="0" y="42672"/>
                  </a:cubicBezTo>
                  <a:cubicBezTo>
                    <a:pt x="0" y="53340"/>
                    <a:pt x="3048" y="64008"/>
                    <a:pt x="12192" y="71628"/>
                  </a:cubicBezTo>
                  <a:cubicBezTo>
                    <a:pt x="19812" y="80772"/>
                    <a:pt x="28956" y="83820"/>
                    <a:pt x="41148" y="83820"/>
                  </a:cubicBezTo>
                  <a:cubicBezTo>
                    <a:pt x="53340" y="83820"/>
                    <a:pt x="62484" y="80772"/>
                    <a:pt x="70104" y="71628"/>
                  </a:cubicBezTo>
                  <a:cubicBezTo>
                    <a:pt x="79248" y="64008"/>
                    <a:pt x="83820" y="53340"/>
                    <a:pt x="83820" y="42672"/>
                  </a:cubicBezTo>
                  <a:cubicBezTo>
                    <a:pt x="83820" y="35052"/>
                    <a:pt x="80772" y="28956"/>
                    <a:pt x="77724" y="21336"/>
                  </a:cubicBezTo>
                  <a:cubicBezTo>
                    <a:pt x="73152" y="15240"/>
                    <a:pt x="68580" y="9144"/>
                    <a:pt x="62484" y="6096"/>
                  </a:cubicBezTo>
                  <a:cubicBezTo>
                    <a:pt x="54864" y="3048"/>
                    <a:pt x="48768" y="0"/>
                    <a:pt x="41148" y="0"/>
                  </a:cubicBezTo>
                  <a:cubicBezTo>
                    <a:pt x="33528" y="0"/>
                    <a:pt x="27432" y="3048"/>
                    <a:pt x="21336" y="6096"/>
                  </a:cubicBezTo>
                  <a:close/>
                </a:path>
              </a:pathLst>
            </a:custGeom>
            <a:solidFill>
              <a:srgbClr val="000000"/>
            </a:solidFill>
          </p:spPr>
          <p:txBody>
            <a:bodyPr/>
            <a:lstStyle/>
            <a:p>
              <a:endParaRPr/>
            </a:p>
          </p:txBody>
        </p:sp>
      </p:grpSp>
      <p:sp>
        <p:nvSpPr>
          <p:cNvPr id="15" name="TextBox 15"/>
          <p:cNvSpPr txBox="1"/>
          <p:nvPr/>
        </p:nvSpPr>
        <p:spPr>
          <a:xfrm>
            <a:off x="1632204" y="1334119"/>
            <a:ext cx="5061137" cy="1171146"/>
          </a:xfrm>
          <a:prstGeom prst="rect">
            <a:avLst/>
          </a:prstGeom>
        </p:spPr>
        <p:txBody>
          <a:bodyPr wrap="square"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Detecting a shake</a:t>
            </a:r>
          </a:p>
          <a:p>
            <a:pPr algn="l">
              <a:lnSpc>
                <a:spcPts val="2116"/>
              </a:lnSpc>
            </a:pPr>
            <a:r>
              <a:rPr lang="en-US" sz="1512" spc="-7">
                <a:solidFill>
                  <a:srgbClr val="000000"/>
                </a:solidFill>
                <a:latin typeface="Montserrat"/>
                <a:ea typeface="Montserrat"/>
                <a:cs typeface="Montserrat"/>
                <a:sym typeface="Montserrat"/>
              </a:rPr>
              <a:t>Now, comment out the motor and sun sensor parts.</a:t>
            </a:r>
          </a:p>
        </p:txBody>
      </p:sp>
      <p:sp>
        <p:nvSpPr>
          <p:cNvPr id="16" name="TextBox 16"/>
          <p:cNvSpPr txBox="1"/>
          <p:nvPr/>
        </p:nvSpPr>
        <p:spPr>
          <a:xfrm>
            <a:off x="1632204" y="2815552"/>
            <a:ext cx="8270767" cy="588626"/>
          </a:xfrm>
          <a:prstGeom prst="rect">
            <a:avLst/>
          </a:prstGeom>
        </p:spPr>
        <p:txBody>
          <a:bodyPr lIns="0" tIns="0" rIns="0" bIns="0" rtlCol="0" anchor="t">
            <a:spAutoFit/>
          </a:bodyPr>
          <a:lstStyle/>
          <a:p>
            <a:pPr algn="l">
              <a:lnSpc>
                <a:spcPts val="2363"/>
              </a:lnSpc>
            </a:pPr>
            <a:r>
              <a:rPr lang="en-US" sz="1512" spc="-7">
                <a:solidFill>
                  <a:srgbClr val="000000"/>
                </a:solidFill>
                <a:latin typeface="Montserrat"/>
                <a:ea typeface="Montserrat"/>
                <a:cs typeface="Montserrat"/>
                <a:sym typeface="Montserrat"/>
              </a:rPr>
              <a:t>The ADCS has an IMU module called Adafruit BNO055, refer to the ADCS schematics for the connections to the Arduino.</a:t>
            </a:r>
          </a:p>
        </p:txBody>
      </p:sp>
      <p:sp>
        <p:nvSpPr>
          <p:cNvPr id="17" name="TextBox 17"/>
          <p:cNvSpPr txBox="1"/>
          <p:nvPr/>
        </p:nvSpPr>
        <p:spPr>
          <a:xfrm>
            <a:off x="2167185" y="3414474"/>
            <a:ext cx="7806576" cy="1781861"/>
          </a:xfrm>
          <a:prstGeom prst="rect">
            <a:avLst/>
          </a:prstGeom>
        </p:spPr>
        <p:txBody>
          <a:bodyPr lIns="0" tIns="0" rIns="0" bIns="0" rtlCol="0" anchor="t">
            <a:spAutoFit/>
          </a:bodyPr>
          <a:lstStyle/>
          <a:p>
            <a:pPr algn="l">
              <a:lnSpc>
                <a:spcPts val="2351"/>
              </a:lnSpc>
            </a:pPr>
            <a:r>
              <a:rPr lang="en-US" sz="1512" spc="-9">
                <a:solidFill>
                  <a:srgbClr val="000000"/>
                </a:solidFill>
                <a:latin typeface="Montserrat"/>
                <a:ea typeface="Montserrat"/>
                <a:cs typeface="Montserrat"/>
                <a:sym typeface="Montserrat"/>
              </a:rPr>
              <a:t>Using online documentation, write a function to read ALL the IMU outputs in the serial monitor.</a:t>
            </a:r>
          </a:p>
          <a:p>
            <a:pPr algn="l">
              <a:lnSpc>
                <a:spcPts val="2351"/>
              </a:lnSpc>
            </a:pPr>
            <a:r>
              <a:rPr lang="en-US" sz="1512" spc="-9">
                <a:solidFill>
                  <a:srgbClr val="000000"/>
                </a:solidFill>
                <a:latin typeface="Montserrat"/>
                <a:ea typeface="Montserrat"/>
                <a:cs typeface="Montserrat"/>
                <a:sym typeface="Montserrat"/>
              </a:rPr>
              <a:t>Look at the outputs to find the right threshold for the following exercise.</a:t>
            </a:r>
          </a:p>
          <a:p>
            <a:pPr algn="l">
              <a:lnSpc>
                <a:spcPts val="2351"/>
              </a:lnSpc>
            </a:pPr>
            <a:r>
              <a:rPr lang="en-US" sz="1512" spc="-9">
                <a:solidFill>
                  <a:srgbClr val="000000"/>
                </a:solidFill>
                <a:latin typeface="Montserrat"/>
                <a:ea typeface="Montserrat"/>
                <a:cs typeface="Montserrat"/>
                <a:sym typeface="Montserrat"/>
              </a:rPr>
              <a:t>Create a function called shake() so that if the satellite is shaken, the motor starts rotating clockwise for 500ms and then counterclockwise for 500ms. The program should not repeat itself unless the satellite is shaken again.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3560064"/>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6096"/>
                  </a:moveTo>
                  <a:cubicBezTo>
                    <a:pt x="13716" y="9144"/>
                    <a:pt x="9144" y="13716"/>
                    <a:pt x="4572" y="21336"/>
                  </a:cubicBezTo>
                  <a:cubicBezTo>
                    <a:pt x="1524" y="27432"/>
                    <a:pt x="0" y="35052"/>
                    <a:pt x="0" y="42672"/>
                  </a:cubicBezTo>
                  <a:cubicBezTo>
                    <a:pt x="0" y="53340"/>
                    <a:pt x="3048" y="64008"/>
                    <a:pt x="12192" y="71628"/>
                  </a:cubicBezTo>
                  <a:cubicBezTo>
                    <a:pt x="19812" y="79248"/>
                    <a:pt x="28956" y="83820"/>
                    <a:pt x="41148" y="83820"/>
                  </a:cubicBezTo>
                  <a:cubicBezTo>
                    <a:pt x="53340" y="83820"/>
                    <a:pt x="62484" y="79248"/>
                    <a:pt x="70104" y="71628"/>
                  </a:cubicBezTo>
                  <a:cubicBezTo>
                    <a:pt x="79248" y="64008"/>
                    <a:pt x="83820" y="53340"/>
                    <a:pt x="83820" y="42672"/>
                  </a:cubicBezTo>
                  <a:cubicBezTo>
                    <a:pt x="83820" y="35052"/>
                    <a:pt x="80772" y="27432"/>
                    <a:pt x="77724" y="21336"/>
                  </a:cubicBezTo>
                  <a:cubicBezTo>
                    <a:pt x="73152" y="13716"/>
                    <a:pt x="68580" y="9144"/>
                    <a:pt x="62484" y="6096"/>
                  </a:cubicBezTo>
                  <a:cubicBezTo>
                    <a:pt x="54864" y="1524"/>
                    <a:pt x="48768" y="0"/>
                    <a:pt x="41148" y="0"/>
                  </a:cubicBezTo>
                  <a:cubicBezTo>
                    <a:pt x="33528" y="0"/>
                    <a:pt x="27432" y="1524"/>
                    <a:pt x="21336" y="6096"/>
                  </a:cubicBezTo>
                  <a:close/>
                </a:path>
              </a:pathLst>
            </a:custGeom>
            <a:solidFill>
              <a:srgbClr val="000000"/>
            </a:solidFill>
          </p:spPr>
          <p:txBody>
            <a:bodyPr/>
            <a:lstStyle/>
            <a:p>
              <a:endParaRPr/>
            </a:p>
          </p:txBody>
        </p:sp>
      </p:grpSp>
      <p:grpSp>
        <p:nvGrpSpPr>
          <p:cNvPr id="11" name="Group 11"/>
          <p:cNvGrpSpPr/>
          <p:nvPr/>
        </p:nvGrpSpPr>
        <p:grpSpPr>
          <a:xfrm>
            <a:off x="1821180" y="4157472"/>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sp>
        <p:nvSpPr>
          <p:cNvPr id="13" name="Freeform 13"/>
          <p:cNvSpPr/>
          <p:nvPr/>
        </p:nvSpPr>
        <p:spPr>
          <a:xfrm>
            <a:off x="2562349" y="4642609"/>
            <a:ext cx="6482077" cy="309877"/>
          </a:xfrm>
          <a:custGeom>
            <a:avLst/>
            <a:gdLst/>
            <a:ahLst/>
            <a:cxnLst/>
            <a:rect l="l" t="t" r="r" b="b"/>
            <a:pathLst>
              <a:path w="6482077" h="309877">
                <a:moveTo>
                  <a:pt x="0" y="0"/>
                </a:moveTo>
                <a:lnTo>
                  <a:pt x="6482077" y="0"/>
                </a:lnTo>
                <a:lnTo>
                  <a:pt x="6482077" y="309877"/>
                </a:lnTo>
                <a:lnTo>
                  <a:pt x="0" y="3098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grpSp>
        <p:nvGrpSpPr>
          <p:cNvPr id="14" name="Group 14"/>
          <p:cNvGrpSpPr/>
          <p:nvPr/>
        </p:nvGrpSpPr>
        <p:grpSpPr>
          <a:xfrm>
            <a:off x="3011424" y="5285232"/>
            <a:ext cx="5442204" cy="307848"/>
            <a:chOff x="0" y="0"/>
            <a:chExt cx="7256272" cy="410464"/>
          </a:xfrm>
        </p:grpSpPr>
        <p:sp>
          <p:nvSpPr>
            <p:cNvPr id="15" name="Freeform 15"/>
            <p:cNvSpPr/>
            <p:nvPr/>
          </p:nvSpPr>
          <p:spPr>
            <a:xfrm>
              <a:off x="0" y="0"/>
              <a:ext cx="7256272" cy="410464"/>
            </a:xfrm>
            <a:custGeom>
              <a:avLst/>
              <a:gdLst/>
              <a:ahLst/>
              <a:cxnLst/>
              <a:rect l="l" t="t" r="r" b="b"/>
              <a:pathLst>
                <a:path w="7256272" h="410464">
                  <a:moveTo>
                    <a:pt x="0" y="0"/>
                  </a:moveTo>
                  <a:lnTo>
                    <a:pt x="7256272" y="0"/>
                  </a:lnTo>
                  <a:lnTo>
                    <a:pt x="7256272" y="410464"/>
                  </a:lnTo>
                  <a:lnTo>
                    <a:pt x="0" y="410464"/>
                  </a:lnTo>
                  <a:lnTo>
                    <a:pt x="0" y="0"/>
                  </a:lnTo>
                  <a:close/>
                </a:path>
              </a:pathLst>
            </a:custGeom>
            <a:blipFill>
              <a:blip r:embed="rId5"/>
              <a:stretch>
                <a:fillRect t="-495"/>
              </a:stretch>
            </a:blipFill>
          </p:spPr>
          <p:txBody>
            <a:bodyPr/>
            <a:lstStyle/>
            <a:p>
              <a:endParaRPr/>
            </a:p>
          </p:txBody>
        </p:sp>
      </p:grpSp>
      <p:grpSp>
        <p:nvGrpSpPr>
          <p:cNvPr id="16" name="Group 16"/>
          <p:cNvGrpSpPr/>
          <p:nvPr/>
        </p:nvGrpSpPr>
        <p:grpSpPr>
          <a:xfrm>
            <a:off x="3011424" y="5588508"/>
            <a:ext cx="5442204" cy="981456"/>
            <a:chOff x="0" y="0"/>
            <a:chExt cx="7256272" cy="1308608"/>
          </a:xfrm>
        </p:grpSpPr>
        <p:sp>
          <p:nvSpPr>
            <p:cNvPr id="17" name="Freeform 17"/>
            <p:cNvSpPr/>
            <p:nvPr/>
          </p:nvSpPr>
          <p:spPr>
            <a:xfrm>
              <a:off x="0" y="0"/>
              <a:ext cx="7256272" cy="1308608"/>
            </a:xfrm>
            <a:custGeom>
              <a:avLst/>
              <a:gdLst/>
              <a:ahLst/>
              <a:cxnLst/>
              <a:rect l="l" t="t" r="r" b="b"/>
              <a:pathLst>
                <a:path w="7256272" h="1308608">
                  <a:moveTo>
                    <a:pt x="0" y="0"/>
                  </a:moveTo>
                  <a:lnTo>
                    <a:pt x="7256272" y="0"/>
                  </a:lnTo>
                  <a:lnTo>
                    <a:pt x="7256272" y="1308608"/>
                  </a:lnTo>
                  <a:lnTo>
                    <a:pt x="0" y="1308608"/>
                  </a:lnTo>
                  <a:lnTo>
                    <a:pt x="0" y="0"/>
                  </a:lnTo>
                  <a:close/>
                </a:path>
              </a:pathLst>
            </a:custGeom>
            <a:blipFill>
              <a:blip r:embed="rId6"/>
              <a:stretch>
                <a:fillRect/>
              </a:stretch>
            </a:blipFill>
          </p:spPr>
          <p:txBody>
            <a:bodyPr/>
            <a:lstStyle/>
            <a:p>
              <a:endParaRPr/>
            </a:p>
          </p:txBody>
        </p:sp>
      </p:grpSp>
      <p:sp>
        <p:nvSpPr>
          <p:cNvPr id="18" name="TextBox 18"/>
          <p:cNvSpPr txBox="1"/>
          <p:nvPr/>
        </p:nvSpPr>
        <p:spPr>
          <a:xfrm>
            <a:off x="1632204" y="1286494"/>
            <a:ext cx="5120640" cy="2116293"/>
          </a:xfrm>
          <a:prstGeom prst="rect">
            <a:avLst/>
          </a:prstGeom>
        </p:spPr>
        <p:txBody>
          <a:bodyPr wrap="square" lIns="0" tIns="0" rIns="0" bIns="0" rtlCol="0" anchor="t">
            <a:spAutoFit/>
          </a:bodyPr>
          <a:lstStyle/>
          <a:p>
            <a:pPr algn="l">
              <a:lnSpc>
                <a:spcPts val="4751"/>
              </a:lnSpc>
            </a:pPr>
            <a:r>
              <a:rPr lang="en-US" sz="2500">
                <a:solidFill>
                  <a:srgbClr val="2C2C2C"/>
                </a:solidFill>
                <a:latin typeface="Montserrat"/>
                <a:ea typeface="Montserrat"/>
                <a:cs typeface="Montserrat"/>
                <a:sym typeface="Montserrat"/>
              </a:rPr>
              <a:t>Linking the ADCS to the OBC</a:t>
            </a:r>
          </a:p>
          <a:p>
            <a:pPr algn="l">
              <a:lnSpc>
                <a:spcPts val="2357"/>
              </a:lnSpc>
            </a:pPr>
            <a:r>
              <a:rPr lang="en-US" sz="1512" spc="-9">
                <a:solidFill>
                  <a:srgbClr val="000000"/>
                </a:solidFill>
                <a:latin typeface="Montserrat"/>
                <a:ea typeface="Montserrat"/>
                <a:cs typeface="Montserrat"/>
                <a:sym typeface="Montserrat"/>
              </a:rPr>
              <a:t>Although the ADCS Arduino controls its own sensors and motors, the only way to send commands to it or retrieve readings is by connecting it to the OBC Arduino. To achieve this, a dedicated serial communication link between the ADCS and OBC must be established.</a:t>
            </a:r>
          </a:p>
        </p:txBody>
      </p:sp>
      <p:sp>
        <p:nvSpPr>
          <p:cNvPr id="19" name="TextBox 19"/>
          <p:cNvSpPr txBox="1"/>
          <p:nvPr/>
        </p:nvSpPr>
        <p:spPr>
          <a:xfrm>
            <a:off x="2167185" y="4926902"/>
            <a:ext cx="830466" cy="269443"/>
          </a:xfrm>
          <a:prstGeom prst="rect">
            <a:avLst/>
          </a:prstGeom>
        </p:spPr>
        <p:txBody>
          <a:bodyPr lIns="0" tIns="0" rIns="0" bIns="0" rtlCol="0" anchor="t">
            <a:spAutoFit/>
          </a:bodyPr>
          <a:lstStyle/>
          <a:p>
            <a:pPr algn="l">
              <a:lnSpc>
                <a:spcPts val="2116"/>
              </a:lnSpc>
            </a:pPr>
            <a:r>
              <a:rPr lang="en-US" sz="1512" spc="-10">
                <a:solidFill>
                  <a:srgbClr val="000000"/>
                </a:solidFill>
                <a:latin typeface="Montserrat"/>
                <a:ea typeface="Montserrat"/>
                <a:cs typeface="Montserrat"/>
                <a:sym typeface="Montserrat"/>
              </a:rPr>
              <a:t>monitor.</a:t>
            </a:r>
          </a:p>
        </p:txBody>
      </p:sp>
      <p:sp>
        <p:nvSpPr>
          <p:cNvPr id="20" name="TextBox 20"/>
          <p:cNvSpPr txBox="1"/>
          <p:nvPr/>
        </p:nvSpPr>
        <p:spPr>
          <a:xfrm>
            <a:off x="2167185" y="3414474"/>
            <a:ext cx="7659672" cy="1483262"/>
          </a:xfrm>
          <a:prstGeom prst="rect">
            <a:avLst/>
          </a:prstGeom>
        </p:spPr>
        <p:txBody>
          <a:bodyPr lIns="0" tIns="0" rIns="0" bIns="0" rtlCol="0" anchor="t">
            <a:spAutoFit/>
          </a:bodyPr>
          <a:lstStyle/>
          <a:p>
            <a:pPr algn="l">
              <a:lnSpc>
                <a:spcPts val="2351"/>
              </a:lnSpc>
            </a:pPr>
            <a:r>
              <a:rPr lang="en-US" sz="1512" spc="-7">
                <a:solidFill>
                  <a:srgbClr val="000000"/>
                </a:solidFill>
                <a:latin typeface="Montserrat"/>
                <a:ea typeface="Montserrat"/>
                <a:cs typeface="Montserrat"/>
                <a:sym typeface="Montserrat"/>
              </a:rPr>
              <a:t>Refer to the ADCS and OBC schematics to identify which pins are used for this serial connection.</a:t>
            </a:r>
          </a:p>
          <a:p>
            <a:pPr algn="l">
              <a:lnSpc>
                <a:spcPts val="2351"/>
              </a:lnSpc>
            </a:pPr>
            <a:r>
              <a:rPr lang="en-US" sz="1512" spc="-7">
                <a:solidFill>
                  <a:srgbClr val="000000"/>
                </a:solidFill>
                <a:latin typeface="Montserrat"/>
                <a:ea typeface="Montserrat"/>
                <a:cs typeface="Montserrat"/>
                <a:sym typeface="Montserrat"/>
              </a:rPr>
              <a:t>By looking at the online documentation on Software Serial, write two separate codes (one to be uploaded on the ADCS, and one to be uploaded on the OBC</a:t>
            </a:r>
          </a:p>
        </p:txBody>
      </p:sp>
      <p:sp>
        <p:nvSpPr>
          <p:cNvPr id="21" name="TextBox 21"/>
          <p:cNvSpPr txBox="1"/>
          <p:nvPr/>
        </p:nvSpPr>
        <p:spPr>
          <a:xfrm>
            <a:off x="3121209" y="4815526"/>
            <a:ext cx="5899042" cy="318468"/>
          </a:xfrm>
          <a:prstGeom prst="rect">
            <a:avLst/>
          </a:prstGeom>
        </p:spPr>
        <p:txBody>
          <a:bodyPr lIns="0" tIns="0" rIns="0" bIns="0" rtlCol="0" anchor="t">
            <a:spAutoFit/>
          </a:bodyPr>
          <a:lstStyle/>
          <a:p>
            <a:pPr algn="l">
              <a:lnSpc>
                <a:spcPts val="2620"/>
              </a:lnSpc>
            </a:pPr>
            <a:r>
              <a:rPr lang="en-US" sz="1872" spc="-50">
                <a:solidFill>
                  <a:srgbClr val="FF0000"/>
                </a:solidFill>
                <a:latin typeface="Montserrat"/>
                <a:ea typeface="Montserrat"/>
                <a:cs typeface="Montserrat"/>
                <a:sym typeface="Montserrat"/>
              </a:rPr>
              <a:t>DO NOT UPLOAD THE OBC CODE INTO THE ADCS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3560064"/>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6096"/>
                  </a:moveTo>
                  <a:cubicBezTo>
                    <a:pt x="13716" y="9144"/>
                    <a:pt x="9144" y="13716"/>
                    <a:pt x="4572" y="21336"/>
                  </a:cubicBezTo>
                  <a:cubicBezTo>
                    <a:pt x="1524" y="27432"/>
                    <a:pt x="0" y="35052"/>
                    <a:pt x="0" y="42672"/>
                  </a:cubicBezTo>
                  <a:cubicBezTo>
                    <a:pt x="0" y="53340"/>
                    <a:pt x="3048" y="64008"/>
                    <a:pt x="12192" y="71628"/>
                  </a:cubicBezTo>
                  <a:cubicBezTo>
                    <a:pt x="19812" y="79248"/>
                    <a:pt x="28956" y="83820"/>
                    <a:pt x="41148" y="83820"/>
                  </a:cubicBezTo>
                  <a:cubicBezTo>
                    <a:pt x="53340" y="83820"/>
                    <a:pt x="62484" y="79248"/>
                    <a:pt x="70104" y="71628"/>
                  </a:cubicBezTo>
                  <a:cubicBezTo>
                    <a:pt x="79248" y="64008"/>
                    <a:pt x="83820" y="53340"/>
                    <a:pt x="83820" y="42672"/>
                  </a:cubicBezTo>
                  <a:cubicBezTo>
                    <a:pt x="83820" y="35052"/>
                    <a:pt x="80772" y="27432"/>
                    <a:pt x="77724" y="21336"/>
                  </a:cubicBezTo>
                  <a:cubicBezTo>
                    <a:pt x="73152" y="13716"/>
                    <a:pt x="68580" y="9144"/>
                    <a:pt x="62484" y="6096"/>
                  </a:cubicBezTo>
                  <a:cubicBezTo>
                    <a:pt x="54864" y="1524"/>
                    <a:pt x="48768" y="0"/>
                    <a:pt x="41148" y="0"/>
                  </a:cubicBezTo>
                  <a:cubicBezTo>
                    <a:pt x="33528" y="0"/>
                    <a:pt x="27432" y="1524"/>
                    <a:pt x="21336" y="6096"/>
                  </a:cubicBezTo>
                  <a:close/>
                </a:path>
              </a:pathLst>
            </a:custGeom>
            <a:solidFill>
              <a:srgbClr val="000000"/>
            </a:solidFill>
          </p:spPr>
          <p:txBody>
            <a:bodyPr/>
            <a:lstStyle/>
            <a:p>
              <a:endParaRPr/>
            </a:p>
          </p:txBody>
        </p:sp>
      </p:grpSp>
      <p:grpSp>
        <p:nvGrpSpPr>
          <p:cNvPr id="11" name="Group 11"/>
          <p:cNvGrpSpPr/>
          <p:nvPr/>
        </p:nvGrpSpPr>
        <p:grpSpPr>
          <a:xfrm>
            <a:off x="1821180" y="4157472"/>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grpSp>
        <p:nvGrpSpPr>
          <p:cNvPr id="13" name="Group 13"/>
          <p:cNvGrpSpPr/>
          <p:nvPr/>
        </p:nvGrpSpPr>
        <p:grpSpPr>
          <a:xfrm>
            <a:off x="1821180" y="5353812"/>
            <a:ext cx="83820" cy="83820"/>
            <a:chOff x="0" y="0"/>
            <a:chExt cx="83820" cy="83820"/>
          </a:xfrm>
        </p:grpSpPr>
        <p:sp>
          <p:nvSpPr>
            <p:cNvPr id="14" name="Freeform 14"/>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sp>
        <p:nvSpPr>
          <p:cNvPr id="15" name="Freeform 15"/>
          <p:cNvSpPr/>
          <p:nvPr/>
        </p:nvSpPr>
        <p:spPr>
          <a:xfrm>
            <a:off x="2562349" y="4642609"/>
            <a:ext cx="6482077" cy="309877"/>
          </a:xfrm>
          <a:custGeom>
            <a:avLst/>
            <a:gdLst/>
            <a:ahLst/>
            <a:cxnLst/>
            <a:rect l="l" t="t" r="r" b="b"/>
            <a:pathLst>
              <a:path w="6482077" h="309877">
                <a:moveTo>
                  <a:pt x="0" y="0"/>
                </a:moveTo>
                <a:lnTo>
                  <a:pt x="6482077" y="0"/>
                </a:lnTo>
                <a:lnTo>
                  <a:pt x="6482077" y="309877"/>
                </a:lnTo>
                <a:lnTo>
                  <a:pt x="0" y="30987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16" name="TextBox 16"/>
          <p:cNvSpPr txBox="1"/>
          <p:nvPr/>
        </p:nvSpPr>
        <p:spPr>
          <a:xfrm>
            <a:off x="1632204" y="1286494"/>
            <a:ext cx="5120640" cy="2116293"/>
          </a:xfrm>
          <a:prstGeom prst="rect">
            <a:avLst/>
          </a:prstGeom>
        </p:spPr>
        <p:txBody>
          <a:bodyPr wrap="square" lIns="0" tIns="0" rIns="0" bIns="0" rtlCol="0" anchor="t">
            <a:spAutoFit/>
          </a:bodyPr>
          <a:lstStyle/>
          <a:p>
            <a:pPr algn="l">
              <a:lnSpc>
                <a:spcPts val="4751"/>
              </a:lnSpc>
            </a:pPr>
            <a:r>
              <a:rPr lang="en-US" sz="2400">
                <a:solidFill>
                  <a:srgbClr val="2C2C2C"/>
                </a:solidFill>
                <a:latin typeface="Montserrat"/>
                <a:ea typeface="Montserrat"/>
                <a:cs typeface="Montserrat"/>
                <a:sym typeface="Montserrat"/>
              </a:rPr>
              <a:t>Reading the ADCS temperature</a:t>
            </a:r>
          </a:p>
          <a:p>
            <a:pPr algn="l">
              <a:lnSpc>
                <a:spcPts val="2357"/>
              </a:lnSpc>
            </a:pPr>
            <a:r>
              <a:rPr lang="en-US" sz="1512" spc="-9">
                <a:solidFill>
                  <a:srgbClr val="000000"/>
                </a:solidFill>
                <a:latin typeface="Montserrat"/>
                <a:ea typeface="Montserrat"/>
                <a:cs typeface="Montserrat"/>
                <a:sym typeface="Montserrat"/>
              </a:rPr>
              <a:t>Although the ADCS Arduino controls its own sensors and motors, the only way to send commands to it or retrieve readings is by connecting it to the OBC Arduino. To achieve this, a dedicated serial communication link between the ADCS and OBC must be established.</a:t>
            </a:r>
          </a:p>
        </p:txBody>
      </p:sp>
      <p:sp>
        <p:nvSpPr>
          <p:cNvPr id="17" name="TextBox 17"/>
          <p:cNvSpPr txBox="1"/>
          <p:nvPr/>
        </p:nvSpPr>
        <p:spPr>
          <a:xfrm>
            <a:off x="2167157" y="3414474"/>
            <a:ext cx="7758808" cy="2381307"/>
          </a:xfrm>
          <a:prstGeom prst="rect">
            <a:avLst/>
          </a:prstGeom>
        </p:spPr>
        <p:txBody>
          <a:bodyPr lIns="0" tIns="0" rIns="0" bIns="0" rtlCol="0" anchor="t">
            <a:spAutoFit/>
          </a:bodyPr>
          <a:lstStyle/>
          <a:p>
            <a:pPr algn="l">
              <a:lnSpc>
                <a:spcPts val="2355"/>
              </a:lnSpc>
            </a:pPr>
            <a:r>
              <a:rPr lang="en-US" sz="1512" spc="-7">
                <a:solidFill>
                  <a:srgbClr val="000000"/>
                </a:solidFill>
                <a:latin typeface="Montserrat"/>
                <a:ea typeface="Montserrat"/>
                <a:cs typeface="Montserrat"/>
                <a:sym typeface="Montserrat"/>
              </a:rPr>
              <a:t>Refer to the ADCS and OBC schematics to identify which pins are used for this serial connection.</a:t>
            </a:r>
          </a:p>
          <a:p>
            <a:pPr algn="l">
              <a:lnSpc>
                <a:spcPts val="2355"/>
              </a:lnSpc>
            </a:pPr>
            <a:r>
              <a:rPr lang="en-US" sz="1512" spc="-7">
                <a:solidFill>
                  <a:srgbClr val="000000"/>
                </a:solidFill>
                <a:latin typeface="Montserrat"/>
                <a:ea typeface="Montserrat"/>
                <a:cs typeface="Montserrat"/>
                <a:sym typeface="Montserrat"/>
              </a:rPr>
              <a:t>By looking at the online documentation on Software Serial, write two separate codes (one to be uploaded on the ADCS, and one to be uploaded on the OBC</a:t>
            </a:r>
          </a:p>
          <a:p>
            <a:pPr algn="l">
              <a:lnSpc>
                <a:spcPts val="2355"/>
              </a:lnSpc>
            </a:pPr>
            <a:r>
              <a:rPr lang="en-US" sz="1512" spc="-7">
                <a:solidFill>
                  <a:srgbClr val="000000"/>
                </a:solidFill>
                <a:latin typeface="Montserrat"/>
                <a:ea typeface="Montserrat"/>
                <a:cs typeface="Montserrat"/>
                <a:sym typeface="Montserrat"/>
              </a:rPr>
              <a:t>monitor.</a:t>
            </a:r>
          </a:p>
          <a:p>
            <a:pPr algn="l">
              <a:lnSpc>
                <a:spcPts val="2355"/>
              </a:lnSpc>
            </a:pPr>
            <a:r>
              <a:rPr lang="en-US" sz="1512" spc="-7">
                <a:solidFill>
                  <a:srgbClr val="000000"/>
                </a:solidFill>
                <a:latin typeface="Montserrat"/>
                <a:ea typeface="Montserrat"/>
                <a:cs typeface="Montserrat"/>
                <a:sym typeface="Montserrat"/>
              </a:rPr>
              <a:t>Make this function callable from the OBC by typing 'TEMPADCS' into the serial </a:t>
            </a:r>
          </a:p>
          <a:p>
            <a:pPr algn="l">
              <a:lnSpc>
                <a:spcPts val="2374"/>
              </a:lnSpc>
            </a:pPr>
            <a:r>
              <a:rPr lang="en-US" sz="1524" spc="-12">
                <a:solidFill>
                  <a:srgbClr val="000000"/>
                </a:solidFill>
                <a:latin typeface="Montserrat"/>
                <a:ea typeface="Montserrat"/>
                <a:cs typeface="Montserrat"/>
                <a:sym typeface="Montserrat"/>
              </a:rPr>
              <a:t>monitor.</a:t>
            </a:r>
          </a:p>
        </p:txBody>
      </p:sp>
      <p:sp>
        <p:nvSpPr>
          <p:cNvPr id="18" name="TextBox 18"/>
          <p:cNvSpPr txBox="1"/>
          <p:nvPr/>
        </p:nvSpPr>
        <p:spPr>
          <a:xfrm>
            <a:off x="3238452" y="5539435"/>
            <a:ext cx="5911167" cy="318468"/>
          </a:xfrm>
          <a:prstGeom prst="rect">
            <a:avLst/>
          </a:prstGeom>
        </p:spPr>
        <p:txBody>
          <a:bodyPr lIns="0" tIns="0" rIns="0" bIns="0" rtlCol="0" anchor="t">
            <a:spAutoFit/>
          </a:bodyPr>
          <a:lstStyle/>
          <a:p>
            <a:pPr algn="l">
              <a:lnSpc>
                <a:spcPts val="2620"/>
              </a:lnSpc>
            </a:pPr>
            <a:r>
              <a:rPr lang="en-US" sz="1872" spc="-50">
                <a:solidFill>
                  <a:srgbClr val="FF0000"/>
                </a:solidFill>
                <a:latin typeface="Montserrat"/>
                <a:ea typeface="Montserrat"/>
                <a:cs typeface="Montserrat"/>
                <a:sym typeface="Montserrat"/>
              </a:rPr>
              <a:t>DO NOT UPLOAD THE OBC CODE INTO THE ADCS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3261360"/>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grpSp>
        <p:nvGrpSpPr>
          <p:cNvPr id="11" name="Group 11"/>
          <p:cNvGrpSpPr/>
          <p:nvPr/>
        </p:nvGrpSpPr>
        <p:grpSpPr>
          <a:xfrm>
            <a:off x="1821180" y="3857244"/>
            <a:ext cx="83820" cy="83820"/>
            <a:chOff x="0" y="0"/>
            <a:chExt cx="83820" cy="83820"/>
          </a:xfrm>
        </p:grpSpPr>
        <p:sp>
          <p:nvSpPr>
            <p:cNvPr id="12" name="Freeform 12"/>
            <p:cNvSpPr/>
            <p:nvPr/>
          </p:nvSpPr>
          <p:spPr>
            <a:xfrm>
              <a:off x="0" y="0"/>
              <a:ext cx="83820" cy="83820"/>
            </a:xfrm>
            <a:custGeom>
              <a:avLst/>
              <a:gdLst/>
              <a:ahLst/>
              <a:cxnLst/>
              <a:rect l="l" t="t" r="r" b="b"/>
              <a:pathLst>
                <a:path w="83820" h="83820">
                  <a:moveTo>
                    <a:pt x="21336" y="6096"/>
                  </a:moveTo>
                  <a:cubicBezTo>
                    <a:pt x="13716" y="9144"/>
                    <a:pt x="9144" y="15240"/>
                    <a:pt x="4572" y="21336"/>
                  </a:cubicBezTo>
                  <a:cubicBezTo>
                    <a:pt x="1524" y="27432"/>
                    <a:pt x="0" y="35052"/>
                    <a:pt x="0" y="42672"/>
                  </a:cubicBezTo>
                  <a:cubicBezTo>
                    <a:pt x="0" y="53340"/>
                    <a:pt x="3048" y="64008"/>
                    <a:pt x="12192" y="71628"/>
                  </a:cubicBezTo>
                  <a:cubicBezTo>
                    <a:pt x="19812" y="80772"/>
                    <a:pt x="28956" y="83820"/>
                    <a:pt x="41148" y="83820"/>
                  </a:cubicBezTo>
                  <a:cubicBezTo>
                    <a:pt x="53340" y="83820"/>
                    <a:pt x="62484" y="80772"/>
                    <a:pt x="70104" y="71628"/>
                  </a:cubicBezTo>
                  <a:cubicBezTo>
                    <a:pt x="79248" y="64008"/>
                    <a:pt x="83820" y="53340"/>
                    <a:pt x="83820" y="42672"/>
                  </a:cubicBezTo>
                  <a:cubicBezTo>
                    <a:pt x="83820" y="35052"/>
                    <a:pt x="80772" y="27432"/>
                    <a:pt x="77724" y="21336"/>
                  </a:cubicBezTo>
                  <a:cubicBezTo>
                    <a:pt x="73152" y="15240"/>
                    <a:pt x="68580" y="9144"/>
                    <a:pt x="62484" y="6096"/>
                  </a:cubicBezTo>
                  <a:cubicBezTo>
                    <a:pt x="54864" y="3048"/>
                    <a:pt x="48768" y="0"/>
                    <a:pt x="41148" y="0"/>
                  </a:cubicBezTo>
                  <a:cubicBezTo>
                    <a:pt x="33528" y="0"/>
                    <a:pt x="27432" y="3048"/>
                    <a:pt x="21336" y="6096"/>
                  </a:cubicBezTo>
                  <a:close/>
                </a:path>
              </a:pathLst>
            </a:custGeom>
            <a:solidFill>
              <a:srgbClr val="000000"/>
            </a:solidFill>
          </p:spPr>
          <p:txBody>
            <a:bodyPr/>
            <a:lstStyle/>
            <a:p>
              <a:endParaRPr/>
            </a:p>
          </p:txBody>
        </p:sp>
      </p:grpSp>
      <p:grpSp>
        <p:nvGrpSpPr>
          <p:cNvPr id="13" name="Group 13"/>
          <p:cNvGrpSpPr/>
          <p:nvPr/>
        </p:nvGrpSpPr>
        <p:grpSpPr>
          <a:xfrm>
            <a:off x="1821180" y="4157472"/>
            <a:ext cx="83820" cy="83820"/>
            <a:chOff x="0" y="0"/>
            <a:chExt cx="83820" cy="83820"/>
          </a:xfrm>
        </p:grpSpPr>
        <p:sp>
          <p:nvSpPr>
            <p:cNvPr id="14" name="Freeform 14"/>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grpSp>
        <p:nvGrpSpPr>
          <p:cNvPr id="15" name="Group 15"/>
          <p:cNvGrpSpPr/>
          <p:nvPr/>
        </p:nvGrpSpPr>
        <p:grpSpPr>
          <a:xfrm>
            <a:off x="1821180" y="4754880"/>
            <a:ext cx="83820" cy="83820"/>
            <a:chOff x="0" y="0"/>
            <a:chExt cx="83820" cy="83820"/>
          </a:xfrm>
        </p:grpSpPr>
        <p:sp>
          <p:nvSpPr>
            <p:cNvPr id="16" name="Freeform 16"/>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sp>
        <p:nvSpPr>
          <p:cNvPr id="17" name="Freeform 17"/>
          <p:cNvSpPr/>
          <p:nvPr/>
        </p:nvSpPr>
        <p:spPr>
          <a:xfrm>
            <a:off x="1576321" y="2245357"/>
            <a:ext cx="6052309" cy="317497"/>
          </a:xfrm>
          <a:custGeom>
            <a:avLst/>
            <a:gdLst/>
            <a:ahLst/>
            <a:cxnLst/>
            <a:rect l="l" t="t" r="r" b="b"/>
            <a:pathLst>
              <a:path w="6052309" h="317497">
                <a:moveTo>
                  <a:pt x="0" y="0"/>
                </a:moveTo>
                <a:lnTo>
                  <a:pt x="6052309" y="0"/>
                </a:lnTo>
                <a:lnTo>
                  <a:pt x="6052309" y="317497"/>
                </a:lnTo>
                <a:lnTo>
                  <a:pt x="0" y="3174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18" name="Freeform 18"/>
          <p:cNvSpPr/>
          <p:nvPr/>
        </p:nvSpPr>
        <p:spPr>
          <a:xfrm>
            <a:off x="1583941" y="6131557"/>
            <a:ext cx="8256013" cy="315973"/>
          </a:xfrm>
          <a:custGeom>
            <a:avLst/>
            <a:gdLst/>
            <a:ahLst/>
            <a:cxnLst/>
            <a:rect l="l" t="t" r="r" b="b"/>
            <a:pathLst>
              <a:path w="8256013" h="315973">
                <a:moveTo>
                  <a:pt x="0" y="0"/>
                </a:moveTo>
                <a:lnTo>
                  <a:pt x="8256013" y="0"/>
                </a:lnTo>
                <a:lnTo>
                  <a:pt x="8256013" y="315973"/>
                </a:lnTo>
                <a:lnTo>
                  <a:pt x="0" y="31597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9" name="TextBox 19"/>
          <p:cNvSpPr txBox="1"/>
          <p:nvPr/>
        </p:nvSpPr>
        <p:spPr>
          <a:xfrm>
            <a:off x="1632385" y="1334119"/>
            <a:ext cx="5120640" cy="523504"/>
          </a:xfrm>
          <a:prstGeom prst="rect">
            <a:avLst/>
          </a:prstGeom>
        </p:spPr>
        <p:txBody>
          <a:bodyPr wrap="square" lIns="0" tIns="0" rIns="0" bIns="0" rtlCol="0" anchor="t">
            <a:spAutoFit/>
          </a:bodyPr>
          <a:lstStyle/>
          <a:p>
            <a:pPr algn="l">
              <a:lnSpc>
                <a:spcPts val="4267"/>
              </a:lnSpc>
            </a:pPr>
            <a:r>
              <a:rPr lang="en-US" sz="2300">
                <a:solidFill>
                  <a:srgbClr val="2C2C2C"/>
                </a:solidFill>
                <a:latin typeface="Montserrat"/>
                <a:ea typeface="Montserrat"/>
                <a:cs typeface="Montserrat"/>
                <a:sym typeface="Montserrat"/>
              </a:rPr>
              <a:t>Driving the wheel from the OBC</a:t>
            </a:r>
          </a:p>
        </p:txBody>
      </p:sp>
      <p:sp>
        <p:nvSpPr>
          <p:cNvPr id="20" name="TextBox 20"/>
          <p:cNvSpPr txBox="1"/>
          <p:nvPr/>
        </p:nvSpPr>
        <p:spPr>
          <a:xfrm>
            <a:off x="1632204" y="2537346"/>
            <a:ext cx="3026371" cy="266395"/>
          </a:xfrm>
          <a:prstGeom prst="rect">
            <a:avLst/>
          </a:prstGeom>
        </p:spPr>
        <p:txBody>
          <a:bodyPr lIns="0" tIns="0" rIns="0" bIns="0" rtlCol="0" anchor="t">
            <a:spAutoFit/>
          </a:bodyPr>
          <a:lstStyle/>
          <a:p>
            <a:pPr algn="l">
              <a:lnSpc>
                <a:spcPts val="2116"/>
              </a:lnSpc>
            </a:pPr>
            <a:r>
              <a:rPr lang="en-US" sz="1512" spc="-7">
                <a:solidFill>
                  <a:srgbClr val="000000"/>
                </a:solidFill>
                <a:latin typeface="Montserrat"/>
                <a:ea typeface="Montserrat"/>
                <a:cs typeface="Montserrat"/>
                <a:sym typeface="Montserrat"/>
              </a:rPr>
              <a:t>movements, as specified below:</a:t>
            </a:r>
          </a:p>
        </p:txBody>
      </p:sp>
      <p:sp>
        <p:nvSpPr>
          <p:cNvPr id="21" name="TextBox 21"/>
          <p:cNvSpPr txBox="1"/>
          <p:nvPr/>
        </p:nvSpPr>
        <p:spPr>
          <a:xfrm>
            <a:off x="2167185" y="3115685"/>
            <a:ext cx="7767399" cy="1782051"/>
          </a:xfrm>
          <a:prstGeom prst="rect">
            <a:avLst/>
          </a:prstGeom>
        </p:spPr>
        <p:txBody>
          <a:bodyPr lIns="0" tIns="0" rIns="0" bIns="0" rtlCol="0" anchor="t">
            <a:spAutoFit/>
          </a:bodyPr>
          <a:lstStyle/>
          <a:p>
            <a:pPr algn="l">
              <a:lnSpc>
                <a:spcPts val="2352"/>
              </a:lnSpc>
            </a:pPr>
            <a:r>
              <a:rPr lang="en-US" sz="1512" spc="-9">
                <a:solidFill>
                  <a:srgbClr val="000000"/>
                </a:solidFill>
                <a:latin typeface="Montserrat"/>
                <a:ea typeface="Montserrat"/>
                <a:cs typeface="Montserrat"/>
                <a:sym typeface="Montserrat"/>
              </a:rPr>
              <a:t>If the left sensor has more light, the motor starts rotating counterclockwise for 1 second. </a:t>
            </a:r>
          </a:p>
          <a:p>
            <a:pPr algn="l">
              <a:lnSpc>
                <a:spcPts val="2352"/>
              </a:lnSpc>
            </a:pPr>
            <a:r>
              <a:rPr lang="en-US" sz="1512" spc="-9">
                <a:solidFill>
                  <a:srgbClr val="000000"/>
                </a:solidFill>
                <a:latin typeface="Montserrat"/>
                <a:ea typeface="Montserrat"/>
                <a:cs typeface="Montserrat"/>
                <a:sym typeface="Montserrat"/>
              </a:rPr>
              <a:t>If the back sensor has more light, the motor is stopped.</a:t>
            </a:r>
          </a:p>
          <a:p>
            <a:pPr algn="l">
              <a:lnSpc>
                <a:spcPts val="2352"/>
              </a:lnSpc>
            </a:pPr>
            <a:r>
              <a:rPr lang="en-US" sz="1512" spc="-9">
                <a:solidFill>
                  <a:srgbClr val="000000"/>
                </a:solidFill>
                <a:latin typeface="Montserrat"/>
                <a:ea typeface="Montserrat"/>
                <a:cs typeface="Montserrat"/>
                <a:sym typeface="Montserrat"/>
              </a:rPr>
              <a:t>If the right sensor has more light, the motor starts rotating clockwise for 1 second.</a:t>
            </a:r>
          </a:p>
          <a:p>
            <a:pPr algn="l">
              <a:lnSpc>
                <a:spcPts val="2352"/>
              </a:lnSpc>
            </a:pPr>
            <a:r>
              <a:rPr lang="en-US" sz="1512" spc="-9">
                <a:solidFill>
                  <a:srgbClr val="000000"/>
                </a:solidFill>
                <a:latin typeface="Montserrat"/>
                <a:ea typeface="Montserrat"/>
                <a:cs typeface="Montserrat"/>
                <a:sym typeface="Montserrat"/>
              </a:rPr>
              <a:t>Include a Serial.print of the motor status (rotating ccw, rotating cw or stopped).</a:t>
            </a:r>
          </a:p>
        </p:txBody>
      </p:sp>
      <p:sp>
        <p:nvSpPr>
          <p:cNvPr id="22" name="TextBox 22"/>
          <p:cNvSpPr txBox="1"/>
          <p:nvPr/>
        </p:nvSpPr>
        <p:spPr>
          <a:xfrm>
            <a:off x="7572851" y="2237213"/>
            <a:ext cx="2285152" cy="269443"/>
          </a:xfrm>
          <a:prstGeom prst="rect">
            <a:avLst/>
          </a:prstGeom>
        </p:spPr>
        <p:txBody>
          <a:bodyPr lIns="0" tIns="0" rIns="0" bIns="0" rtlCol="0" anchor="t">
            <a:spAutoFit/>
          </a:bodyPr>
          <a:lstStyle/>
          <a:p>
            <a:pPr algn="l">
              <a:lnSpc>
                <a:spcPts val="2116"/>
              </a:lnSpc>
            </a:pPr>
            <a:r>
              <a:rPr lang="en-US" sz="1512" spc="-9">
                <a:solidFill>
                  <a:srgbClr val="000000"/>
                </a:solidFill>
                <a:latin typeface="Montserrat"/>
                <a:ea typeface="Montserrat"/>
                <a:cs typeface="Montserrat"/>
                <a:sym typeface="Montserrat"/>
              </a:rPr>
              <a:t>, we activate the motor </a:t>
            </a:r>
          </a:p>
        </p:txBody>
      </p:sp>
      <p:sp>
        <p:nvSpPr>
          <p:cNvPr id="23" name="TextBox 23"/>
          <p:cNvSpPr txBox="1"/>
          <p:nvPr/>
        </p:nvSpPr>
        <p:spPr>
          <a:xfrm>
            <a:off x="1632204" y="6421993"/>
            <a:ext cx="2282209" cy="269443"/>
          </a:xfrm>
          <a:prstGeom prst="rect">
            <a:avLst/>
          </a:prstGeom>
        </p:spPr>
        <p:txBody>
          <a:bodyPr lIns="0" tIns="0" rIns="0" bIns="0" rtlCol="0" anchor="t">
            <a:spAutoFit/>
          </a:bodyPr>
          <a:lstStyle/>
          <a:p>
            <a:pPr algn="l">
              <a:lnSpc>
                <a:spcPts val="2116"/>
              </a:lnSpc>
            </a:pPr>
            <a:r>
              <a:rPr lang="en-US" sz="1512" spc="31">
                <a:solidFill>
                  <a:srgbClr val="000000"/>
                </a:solidFill>
                <a:latin typeface="Montserrat"/>
                <a:ea typeface="Montserrat"/>
                <a:cs typeface="Montserrat"/>
                <a:sym typeface="Montserrat"/>
              </a:rPr>
              <a:t>the sun sensor values.</a:t>
            </a:r>
          </a:p>
        </p:txBody>
      </p:sp>
      <p:sp>
        <p:nvSpPr>
          <p:cNvPr id="24" name="TextBox 24"/>
          <p:cNvSpPr txBox="1"/>
          <p:nvPr/>
        </p:nvSpPr>
        <p:spPr>
          <a:xfrm>
            <a:off x="1632204" y="4926902"/>
            <a:ext cx="5493610" cy="269443"/>
          </a:xfrm>
          <a:prstGeom prst="rect">
            <a:avLst/>
          </a:prstGeom>
        </p:spPr>
        <p:txBody>
          <a:bodyPr lIns="0" tIns="0" rIns="0" bIns="0" rtlCol="0" anchor="t">
            <a:spAutoFit/>
          </a:bodyPr>
          <a:lstStyle/>
          <a:p>
            <a:pPr algn="l">
              <a:lnSpc>
                <a:spcPts val="2116"/>
              </a:lnSpc>
            </a:pPr>
            <a:r>
              <a:rPr lang="en-US" sz="1512" spc="31">
                <a:solidFill>
                  <a:srgbClr val="000000"/>
                </a:solidFill>
                <a:latin typeface="Montserrat"/>
                <a:ea typeface="Montserrat"/>
                <a:cs typeface="Montserrat"/>
                <a:sym typeface="Montserrat"/>
              </a:rPr>
              <a:t>REMEMBER TO USE analogWrite(), NOT digitalWrite()</a:t>
            </a:r>
          </a:p>
        </p:txBody>
      </p:sp>
      <p:sp>
        <p:nvSpPr>
          <p:cNvPr id="25" name="TextBox 25"/>
          <p:cNvSpPr txBox="1"/>
          <p:nvPr/>
        </p:nvSpPr>
        <p:spPr>
          <a:xfrm>
            <a:off x="1632194" y="5524490"/>
            <a:ext cx="4440345" cy="271282"/>
          </a:xfrm>
          <a:prstGeom prst="rect">
            <a:avLst/>
          </a:prstGeom>
        </p:spPr>
        <p:txBody>
          <a:bodyPr lIns="0" tIns="0" rIns="0" bIns="0" rtlCol="0" anchor="t">
            <a:spAutoFit/>
          </a:bodyPr>
          <a:lstStyle/>
          <a:p>
            <a:pPr algn="l">
              <a:lnSpc>
                <a:spcPts val="2133"/>
              </a:lnSpc>
            </a:pPr>
            <a:r>
              <a:rPr lang="en-US" sz="1524" spc="28">
                <a:solidFill>
                  <a:srgbClr val="000000"/>
                </a:solidFill>
                <a:latin typeface="Montserrat"/>
                <a:ea typeface="Montserrat"/>
                <a:cs typeface="Montserrat"/>
                <a:sym typeface="Montserrat"/>
              </a:rPr>
              <a:t>The maximum speed written has to be 255.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3503" y="709165"/>
            <a:ext cx="10819381" cy="6142225"/>
            <a:chOff x="0" y="0"/>
            <a:chExt cx="10819384" cy="6142228"/>
          </a:xfrm>
        </p:grpSpPr>
        <p:sp>
          <p:nvSpPr>
            <p:cNvPr id="3" name="Freeform 3"/>
            <p:cNvSpPr/>
            <p:nvPr/>
          </p:nvSpPr>
          <p:spPr>
            <a:xfrm>
              <a:off x="63500" y="63500"/>
              <a:ext cx="10692383" cy="6015229"/>
            </a:xfrm>
            <a:custGeom>
              <a:avLst/>
              <a:gdLst/>
              <a:ahLst/>
              <a:cxnLst/>
              <a:rect l="l" t="t" r="r" b="b"/>
              <a:pathLst>
                <a:path w="10692383" h="6015229">
                  <a:moveTo>
                    <a:pt x="0" y="0"/>
                  </a:moveTo>
                  <a:lnTo>
                    <a:pt x="10692383" y="0"/>
                  </a:lnTo>
                  <a:lnTo>
                    <a:pt x="10692383" y="6015229"/>
                  </a:lnTo>
                  <a:lnTo>
                    <a:pt x="0" y="6015229"/>
                  </a:lnTo>
                  <a:close/>
                </a:path>
              </a:pathLst>
            </a:custGeom>
            <a:solidFill>
              <a:srgbClr val="FFFFFF"/>
            </a:solidFill>
          </p:spPr>
          <p:txBody>
            <a:bodyPr/>
            <a:lstStyle/>
            <a:p>
              <a:endParaRPr/>
            </a:p>
          </p:txBody>
        </p:sp>
        <p:sp>
          <p:nvSpPr>
            <p:cNvPr id="4" name="Freeform 4"/>
            <p:cNvSpPr/>
            <p:nvPr/>
          </p:nvSpPr>
          <p:spPr>
            <a:xfrm>
              <a:off x="63500" y="63500"/>
              <a:ext cx="954024" cy="6015229"/>
            </a:xfrm>
            <a:custGeom>
              <a:avLst/>
              <a:gdLst/>
              <a:ahLst/>
              <a:cxnLst/>
              <a:rect l="l" t="t" r="r" b="b"/>
              <a:pathLst>
                <a:path w="954024" h="6015229">
                  <a:moveTo>
                    <a:pt x="0" y="0"/>
                  </a:moveTo>
                  <a:lnTo>
                    <a:pt x="954024" y="0"/>
                  </a:lnTo>
                  <a:lnTo>
                    <a:pt x="954024" y="6015229"/>
                  </a:lnTo>
                  <a:lnTo>
                    <a:pt x="0" y="6015229"/>
                  </a:lnTo>
                  <a:close/>
                </a:path>
              </a:pathLst>
            </a:custGeom>
            <a:solidFill>
              <a:srgbClr val="000000"/>
            </a:solidFill>
          </p:spPr>
          <p:txBody>
            <a:bodyPr/>
            <a:lstStyle/>
            <a:p>
              <a:endParaRPr/>
            </a:p>
          </p:txBody>
        </p:sp>
      </p:grpSp>
      <p:grpSp>
        <p:nvGrpSpPr>
          <p:cNvPr id="5" name="Group 5"/>
          <p:cNvGrpSpPr/>
          <p:nvPr/>
        </p:nvGrpSpPr>
        <p:grpSpPr>
          <a:xfrm>
            <a:off x="192024" y="950976"/>
            <a:ext cx="568452" cy="1284732"/>
            <a:chOff x="0" y="0"/>
            <a:chExt cx="757936" cy="1712976"/>
          </a:xfrm>
        </p:grpSpPr>
        <p:sp>
          <p:nvSpPr>
            <p:cNvPr id="6" name="Freeform 6"/>
            <p:cNvSpPr/>
            <p:nvPr/>
          </p:nvSpPr>
          <p:spPr>
            <a:xfrm>
              <a:off x="0" y="0"/>
              <a:ext cx="757936" cy="1712976"/>
            </a:xfrm>
            <a:custGeom>
              <a:avLst/>
              <a:gdLst/>
              <a:ahLst/>
              <a:cxnLst/>
              <a:rect l="l" t="t" r="r" b="b"/>
              <a:pathLst>
                <a:path w="757936" h="1712976">
                  <a:moveTo>
                    <a:pt x="0" y="0"/>
                  </a:moveTo>
                  <a:lnTo>
                    <a:pt x="757936" y="0"/>
                  </a:lnTo>
                  <a:lnTo>
                    <a:pt x="757936" y="1712976"/>
                  </a:lnTo>
                  <a:lnTo>
                    <a:pt x="0" y="1712976"/>
                  </a:lnTo>
                  <a:lnTo>
                    <a:pt x="0" y="0"/>
                  </a:lnTo>
                  <a:close/>
                </a:path>
              </a:pathLst>
            </a:custGeom>
            <a:blipFill>
              <a:blip r:embed="rId2"/>
              <a:stretch>
                <a:fillRect l="-804" b="-237"/>
              </a:stretch>
            </a:blipFill>
          </p:spPr>
          <p:txBody>
            <a:bodyPr/>
            <a:lstStyle/>
            <a:p>
              <a:endParaRPr/>
            </a:p>
          </p:txBody>
        </p:sp>
      </p:grpSp>
      <p:grpSp>
        <p:nvGrpSpPr>
          <p:cNvPr id="7" name="Group 7"/>
          <p:cNvGrpSpPr/>
          <p:nvPr/>
        </p:nvGrpSpPr>
        <p:grpSpPr>
          <a:xfrm>
            <a:off x="179832" y="5116068"/>
            <a:ext cx="592836" cy="1478280"/>
            <a:chOff x="0" y="0"/>
            <a:chExt cx="790448" cy="1971040"/>
          </a:xfrm>
        </p:grpSpPr>
        <p:sp>
          <p:nvSpPr>
            <p:cNvPr id="8" name="Freeform 8"/>
            <p:cNvSpPr/>
            <p:nvPr/>
          </p:nvSpPr>
          <p:spPr>
            <a:xfrm>
              <a:off x="0" y="0"/>
              <a:ext cx="790448" cy="1971040"/>
            </a:xfrm>
            <a:custGeom>
              <a:avLst/>
              <a:gdLst/>
              <a:ahLst/>
              <a:cxnLst/>
              <a:rect l="l" t="t" r="r" b="b"/>
              <a:pathLst>
                <a:path w="790448" h="1971040">
                  <a:moveTo>
                    <a:pt x="0" y="0"/>
                  </a:moveTo>
                  <a:lnTo>
                    <a:pt x="790448" y="0"/>
                  </a:lnTo>
                  <a:lnTo>
                    <a:pt x="790448" y="1971040"/>
                  </a:lnTo>
                  <a:lnTo>
                    <a:pt x="0" y="1971040"/>
                  </a:lnTo>
                  <a:lnTo>
                    <a:pt x="0" y="0"/>
                  </a:lnTo>
                  <a:close/>
                </a:path>
              </a:pathLst>
            </a:custGeom>
            <a:blipFill>
              <a:blip r:embed="rId3"/>
              <a:stretch>
                <a:fillRect l="-514" b="-206"/>
              </a:stretch>
            </a:blipFill>
          </p:spPr>
          <p:txBody>
            <a:bodyPr/>
            <a:lstStyle/>
            <a:p>
              <a:endParaRPr/>
            </a:p>
          </p:txBody>
        </p:sp>
      </p:grpSp>
      <p:grpSp>
        <p:nvGrpSpPr>
          <p:cNvPr id="9" name="Group 9"/>
          <p:cNvGrpSpPr/>
          <p:nvPr/>
        </p:nvGrpSpPr>
        <p:grpSpPr>
          <a:xfrm>
            <a:off x="1821180" y="2663952"/>
            <a:ext cx="83820" cy="83820"/>
            <a:chOff x="0" y="0"/>
            <a:chExt cx="83820" cy="83820"/>
          </a:xfrm>
        </p:grpSpPr>
        <p:sp>
          <p:nvSpPr>
            <p:cNvPr id="10" name="Freeform 10"/>
            <p:cNvSpPr/>
            <p:nvPr/>
          </p:nvSpPr>
          <p:spPr>
            <a:xfrm>
              <a:off x="0" y="0"/>
              <a:ext cx="83820" cy="83820"/>
            </a:xfrm>
            <a:custGeom>
              <a:avLst/>
              <a:gdLst/>
              <a:ahLst/>
              <a:cxnLst/>
              <a:rect l="l" t="t" r="r" b="b"/>
              <a:pathLst>
                <a:path w="83820" h="83820">
                  <a:moveTo>
                    <a:pt x="21336" y="4572"/>
                  </a:moveTo>
                  <a:cubicBezTo>
                    <a:pt x="13716" y="9144"/>
                    <a:pt x="9144" y="13716"/>
                    <a:pt x="4572" y="19812"/>
                  </a:cubicBezTo>
                  <a:cubicBezTo>
                    <a:pt x="1524" y="27432"/>
                    <a:pt x="0" y="33528"/>
                    <a:pt x="0" y="41148"/>
                  </a:cubicBezTo>
                  <a:cubicBezTo>
                    <a:pt x="0" y="53340"/>
                    <a:pt x="3048" y="62484"/>
                    <a:pt x="12192" y="71628"/>
                  </a:cubicBezTo>
                  <a:cubicBezTo>
                    <a:pt x="19812" y="79248"/>
                    <a:pt x="28956" y="83820"/>
                    <a:pt x="41148" y="83820"/>
                  </a:cubicBezTo>
                  <a:cubicBezTo>
                    <a:pt x="53340" y="83820"/>
                    <a:pt x="62484" y="79248"/>
                    <a:pt x="70104" y="71628"/>
                  </a:cubicBezTo>
                  <a:cubicBezTo>
                    <a:pt x="79248" y="62484"/>
                    <a:pt x="83820" y="53340"/>
                    <a:pt x="83820" y="41148"/>
                  </a:cubicBezTo>
                  <a:cubicBezTo>
                    <a:pt x="83820" y="33528"/>
                    <a:pt x="80772" y="27432"/>
                    <a:pt x="77724" y="19812"/>
                  </a:cubicBezTo>
                  <a:cubicBezTo>
                    <a:pt x="73152" y="13716"/>
                    <a:pt x="68580" y="9144"/>
                    <a:pt x="62484" y="4572"/>
                  </a:cubicBezTo>
                  <a:cubicBezTo>
                    <a:pt x="54864" y="1524"/>
                    <a:pt x="48768" y="0"/>
                    <a:pt x="41148" y="0"/>
                  </a:cubicBezTo>
                  <a:cubicBezTo>
                    <a:pt x="33528" y="0"/>
                    <a:pt x="27432" y="1524"/>
                    <a:pt x="21336" y="4572"/>
                  </a:cubicBezTo>
                  <a:close/>
                </a:path>
              </a:pathLst>
            </a:custGeom>
            <a:solidFill>
              <a:srgbClr val="000000"/>
            </a:solidFill>
          </p:spPr>
          <p:txBody>
            <a:bodyPr/>
            <a:lstStyle/>
            <a:p>
              <a:endParaRPr/>
            </a:p>
          </p:txBody>
        </p:sp>
      </p:grpSp>
      <p:sp>
        <p:nvSpPr>
          <p:cNvPr id="11" name="TextBox 11"/>
          <p:cNvSpPr txBox="1"/>
          <p:nvPr/>
        </p:nvSpPr>
        <p:spPr>
          <a:xfrm>
            <a:off x="1632204" y="1334119"/>
            <a:ext cx="5120640" cy="513131"/>
          </a:xfrm>
          <a:prstGeom prst="rect">
            <a:avLst/>
          </a:prstGeom>
        </p:spPr>
        <p:txBody>
          <a:bodyPr wrap="square" lIns="0" tIns="0" rIns="0" bIns="0" rtlCol="0" anchor="t">
            <a:spAutoFit/>
          </a:bodyPr>
          <a:lstStyle/>
          <a:p>
            <a:pPr algn="l">
              <a:lnSpc>
                <a:spcPts val="4267"/>
              </a:lnSpc>
            </a:pPr>
            <a:r>
              <a:rPr lang="en-US" sz="3048">
                <a:solidFill>
                  <a:srgbClr val="2C2C2C"/>
                </a:solidFill>
                <a:latin typeface="Montserrat"/>
                <a:ea typeface="Montserrat"/>
                <a:cs typeface="Montserrat"/>
                <a:sym typeface="Montserrat"/>
              </a:rPr>
              <a:t>Detumbling</a:t>
            </a:r>
          </a:p>
        </p:txBody>
      </p:sp>
      <p:sp>
        <p:nvSpPr>
          <p:cNvPr id="12" name="TextBox 12"/>
          <p:cNvSpPr txBox="1"/>
          <p:nvPr/>
        </p:nvSpPr>
        <p:spPr>
          <a:xfrm>
            <a:off x="2211032" y="2606802"/>
            <a:ext cx="7361958" cy="885882"/>
          </a:xfrm>
          <a:prstGeom prst="rect">
            <a:avLst/>
          </a:prstGeom>
        </p:spPr>
        <p:txBody>
          <a:bodyPr lIns="0" tIns="0" rIns="0" bIns="0" rtlCol="0" anchor="t">
            <a:spAutoFit/>
          </a:bodyPr>
          <a:lstStyle/>
          <a:p>
            <a:pPr algn="l">
              <a:lnSpc>
                <a:spcPts val="2355"/>
              </a:lnSpc>
            </a:pPr>
            <a:r>
              <a:rPr lang="en-US" sz="1512" spc="-7">
                <a:solidFill>
                  <a:srgbClr val="000000"/>
                </a:solidFill>
                <a:latin typeface="Montserrat"/>
                <a:ea typeface="Montserrat"/>
                <a:cs typeface="Montserrat"/>
                <a:sym typeface="Montserrat"/>
              </a:rPr>
              <a:t>The motor should move back and forth for 2 seconds in each direction for a total time of 10 seconds and then stops completely. The maximum speed should be 255.</a:t>
            </a:r>
          </a:p>
        </p:txBody>
      </p:sp>
      <p:sp>
        <p:nvSpPr>
          <p:cNvPr id="13" name="TextBox 13"/>
          <p:cNvSpPr txBox="1"/>
          <p:nvPr/>
        </p:nvSpPr>
        <p:spPr>
          <a:xfrm>
            <a:off x="2239114" y="1937644"/>
            <a:ext cx="7696886" cy="578763"/>
          </a:xfrm>
          <a:prstGeom prst="rect">
            <a:avLst/>
          </a:prstGeom>
        </p:spPr>
        <p:txBody>
          <a:bodyPr lIns="0" tIns="0" rIns="0" bIns="0" rtlCol="0" anchor="t">
            <a:spAutoFit/>
          </a:bodyPr>
          <a:lstStyle/>
          <a:p>
            <a:pPr algn="l">
              <a:lnSpc>
                <a:spcPts val="2357"/>
              </a:lnSpc>
            </a:pPr>
            <a:r>
              <a:rPr lang="en-US" sz="1512" spc="-9">
                <a:solidFill>
                  <a:srgbClr val="000000"/>
                </a:solidFill>
                <a:latin typeface="Montserrat"/>
                <a:ea typeface="Montserrat"/>
                <a:cs typeface="Montserrat"/>
                <a:sym typeface="Montserrat"/>
              </a:rPr>
              <a:t>Include a function called detumbling() called by typing “DETUMB” that acts like this:</a:t>
            </a:r>
          </a:p>
        </p:txBody>
      </p:sp>
      <p:sp>
        <p:nvSpPr>
          <p:cNvPr id="14" name="TextBox 14"/>
          <p:cNvSpPr txBox="1"/>
          <p:nvPr/>
        </p:nvSpPr>
        <p:spPr>
          <a:xfrm>
            <a:off x="1632204" y="3730590"/>
            <a:ext cx="2712139" cy="269443"/>
          </a:xfrm>
          <a:prstGeom prst="rect">
            <a:avLst/>
          </a:prstGeom>
        </p:spPr>
        <p:txBody>
          <a:bodyPr lIns="0" tIns="0" rIns="0" bIns="0" rtlCol="0" anchor="t">
            <a:spAutoFit/>
          </a:bodyPr>
          <a:lstStyle/>
          <a:p>
            <a:pPr algn="l">
              <a:lnSpc>
                <a:spcPts val="2116"/>
              </a:lnSpc>
            </a:pPr>
            <a:r>
              <a:rPr lang="en-US" sz="1512" spc="-7">
                <a:solidFill>
                  <a:srgbClr val="000000"/>
                </a:solidFill>
                <a:latin typeface="Montserrat"/>
                <a:ea typeface="Montserrat"/>
                <a:cs typeface="Montserrat"/>
                <a:sym typeface="Montserrat"/>
              </a:rPr>
              <a:t>Include also a function that </a:t>
            </a:r>
          </a:p>
        </p:txBody>
      </p:sp>
      <p:sp>
        <p:nvSpPr>
          <p:cNvPr id="15" name="TextBox 15"/>
          <p:cNvSpPr txBox="1"/>
          <p:nvPr/>
        </p:nvSpPr>
        <p:spPr>
          <a:xfrm>
            <a:off x="2167185" y="4011863"/>
            <a:ext cx="6817452" cy="587092"/>
          </a:xfrm>
          <a:prstGeom prst="rect">
            <a:avLst/>
          </a:prstGeom>
        </p:spPr>
        <p:txBody>
          <a:bodyPr lIns="0" tIns="0" rIns="0" bIns="0" rtlCol="0" anchor="t">
            <a:spAutoFit/>
          </a:bodyPr>
          <a:lstStyle/>
          <a:p>
            <a:pPr algn="l">
              <a:lnSpc>
                <a:spcPts val="2351"/>
              </a:lnSpc>
            </a:pPr>
            <a:r>
              <a:rPr lang="en-US" sz="1512" spc="-7">
                <a:solidFill>
                  <a:srgbClr val="000000"/>
                </a:solidFill>
                <a:latin typeface="Montserrat"/>
                <a:ea typeface="Montserrat"/>
                <a:cs typeface="Montserrat"/>
                <a:sym typeface="Montserrat"/>
              </a:rPr>
              <a:t>If the satellite is shaken, a message should appear on the OBC saying: ANOMALY IN ACCELERATION!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1172</Words>
  <Application>Microsoft Office PowerPoint</Application>
  <PresentationFormat>Custom</PresentationFormat>
  <Paragraphs>91</Paragraphs>
  <Slides>16</Slides>
  <Notes>2</Notes>
  <HiddenSlides>7</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Montserrat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Utilize all available online resources to help you figure out how to complete the exercises.</dc:title>
  <cp:lastModifiedBy>Rohini Parthasarathy</cp:lastModifiedBy>
  <cp:revision>3</cp:revision>
  <dcterms:created xsi:type="dcterms:W3CDTF">2006-08-16T00:00:00Z</dcterms:created>
  <dcterms:modified xsi:type="dcterms:W3CDTF">2026-10-14T14:51:06Z</dcterms:modified>
  <dc:identifier>DAHXyX_H0fo</dc:identifier>
</cp:coreProperties>
</file>