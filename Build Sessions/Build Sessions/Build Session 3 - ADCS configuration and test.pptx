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media/image16.svg" ContentType="image/svg+xml"/>
  <Override PartName="/ppt/media/image17.svg" ContentType="image/svg+xml"/>
  <Override PartName="/ppt/media/image20.svg" ContentType="image/svg+xml"/>
  <Override PartName="/ppt/media/image25.svg" ContentType="image/svg+xml"/>
  <Override PartName="/ppt/media/image28.svg" ContentType="image/svg+xml"/>
  <Override PartName="/ppt/media/image29.svg" ContentType="image/svg+xml"/>
  <Override PartName="/ppt/media/image4.svg" ContentType="image/svg+xml"/>
  <Override PartName="/ppt/media/image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70" r:id="rId14"/>
    <p:sldId id="271" r:id="rId15"/>
    <p:sldId id="272" r:id="rId16"/>
    <p:sldId id="273" r:id="rId17"/>
  </p:sldIdLst>
  <p:sldSz cx="10693400" cy="7556500"/>
  <p:notesSz cx="6858000" cy="9144000"/>
  <p:embeddedFontLst>
    <p:embeddedFont>
      <p:font typeface="Montserrat" panose="00000500000000000000" pitchFamily="2" charset="0"/>
      <p:regular r:id="rId1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53" d="100"/>
          <a:sy n="53" d="100"/>
        </p:scale>
        <p:origin x="1400" y="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font" Target="fonts/font1.fntdata"/><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153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4, Friday 16 October. 10:15-11:15, 1 h. Follows Lecture 3, Pointing and attitude control.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Result: the reaction wheel responds. Code: Day6_Exercises EX1, EX2, EX3</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latin typeface="Ubuntu"/>
                <a:ea typeface="Ubuntu"/>
                <a:cs typeface="Ubuntu"/>
              </a:defRPr>
            </a:pPr>
            <a:r>
              <a:rPr lang="en-US">
                <a:latin typeface="Ubuntu"/>
                <a:ea typeface="Ubuntu"/>
                <a:cs typeface="Ubuntu"/>
              </a:rPr>
              <a:t>Click to edit Master subtitle style</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idx="1"/>
          </p:nvPr>
        </p:nvSpPr>
        <p:spPr/>
        <p:txBody>
          <a:body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latin typeface="Ubuntu"/>
                <a:ea typeface="Ubuntu"/>
                <a:cs typeface="Ubuntu"/>
              </a:defRPr>
            </a:pPr>
            <a:r>
              <a:rPr lang="en-US">
                <a:latin typeface="Ubuntu"/>
                <a:ea typeface="Ubuntu"/>
                <a:cs typeface="Ubuntu"/>
              </a:rPr>
              <a:t>Click to edit Master text styles</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Ubuntu"/>
                <a:ea typeface="Ubuntu"/>
                <a:cs typeface="Ubuntu"/>
              </a:defRPr>
            </a:pPr>
            <a:r>
              <a:rPr lang="en-US">
                <a:latin typeface="Ubuntu"/>
                <a:ea typeface="Ubuntu"/>
                <a:cs typeface="Ubuntu"/>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Ubuntu"/>
                <a:ea typeface="Ubuntu"/>
                <a:cs typeface="Ubuntu"/>
              </a:defRPr>
            </a:pPr>
            <a:r>
              <a:rPr lang="en-US">
                <a:latin typeface="Ubuntu"/>
                <a:ea typeface="Ubuntu"/>
                <a:cs typeface="Ubuntu"/>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7" name="Date Placeholder 6"/>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pPr>
              <a:defRPr>
                <a:latin typeface="Ubuntu"/>
                <a:ea typeface="Ubuntu"/>
                <a:cs typeface="Ubuntu"/>
              </a:defRPr>
            </a:pPr>
            <a:endParaRPr lang="en-US"/>
          </a:p>
        </p:txBody>
      </p:sp>
      <p:sp>
        <p:nvSpPr>
          <p:cNvPr id="9" name="Slide Number Placeholder 8"/>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Date Placeholder 2"/>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pPr>
              <a:defRPr>
                <a:latin typeface="Ubuntu"/>
                <a:ea typeface="Ubuntu"/>
                <a:cs typeface="Ubuntu"/>
              </a:defRPr>
            </a:pPr>
            <a:endParaRPr lang="en-US"/>
          </a:p>
        </p:txBody>
      </p:sp>
      <p:sp>
        <p:nvSpPr>
          <p:cNvPr id="5" name="Slide Number Placeholder 4"/>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pPr>
              <a:defRPr>
                <a:latin typeface="Ubuntu"/>
                <a:ea typeface="Ubuntu"/>
                <a:cs typeface="Ubuntu"/>
              </a:defRPr>
            </a:pPr>
            <a:endParaRPr lang="en-US"/>
          </a:p>
        </p:txBody>
      </p:sp>
      <p:sp>
        <p:nvSpPr>
          <p:cNvPr id="4" name="Slide Number Placeholder 3"/>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Ubuntu"/>
                <a:ea typeface="Ubuntu"/>
                <a:cs typeface="Ubuntu"/>
              </a:defRPr>
            </a:pPr>
            <a:r>
              <a:rPr lang="en-US">
                <a:latin typeface="Ubuntu"/>
                <a:ea typeface="Ubuntu"/>
                <a:cs typeface="Ubuntu"/>
              </a:rPr>
              <a:t>Click to edit Master text styles</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pPr>
              <a:defRPr>
                <a:latin typeface="Ubuntu"/>
                <a:ea typeface="Ubuntu"/>
                <a:cs typeface="Ubuntu"/>
              </a:defRPr>
            </a:pPr>
            <a:r>
              <a:rPr lang="en-US">
                <a:latin typeface="Ubuntu"/>
                <a:ea typeface="Ubuntu"/>
                <a:cs typeface="Ubuntu"/>
              </a:rPr>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latin typeface="Ubuntu"/>
                <a:ea typeface="Ubuntu"/>
                <a:cs typeface="Ubuntu"/>
              </a:defRPr>
            </a:pPr>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Ubuntu"/>
                <a:ea typeface="Ubuntu"/>
                <a:cs typeface="Ubuntu"/>
              </a:defRPr>
            </a:pPr>
            <a:r>
              <a:rPr lang="en-US">
                <a:latin typeface="Ubuntu"/>
                <a:ea typeface="Ubuntu"/>
                <a:cs typeface="Ubuntu"/>
              </a:rPr>
              <a:t>Click to edit Master text styles</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Vertical Text Placeholder 2"/>
          <p:cNvSpPr>
            <a:spLocks noGrp="1"/>
          </p:cNvSpPr>
          <p:nvPr>
            <p:ph type="body" orient="vert" idx="1"/>
          </p:nvPr>
        </p:nvSpPr>
        <p:spPr/>
        <p:txBody>
          <a:bodyPr vert="eaVert"/>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pPr>
              <a:defRPr>
                <a:latin typeface="Ubuntu"/>
                <a:ea typeface="Ubuntu"/>
                <a:cs typeface="Ubuntu"/>
              </a:defRPr>
            </a:pPr>
            <a:r>
              <a:rPr lang="en-US">
                <a:latin typeface="Ubuntu"/>
                <a:ea typeface="Ubuntu"/>
                <a:cs typeface="Ubuntu"/>
              </a:rPr>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latin typeface="Ubuntu"/>
                <a:ea typeface="Ubuntu"/>
                <a:cs typeface="Ubuntu"/>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latin typeface="Ubuntu"/>
                <a:ea typeface="Ubuntu"/>
                <a:cs typeface="Ubuntu"/>
              </a:defRPr>
            </a:pPr>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jpeg"/><Relationship Id="rId5" Type="http://schemas.openxmlformats.org/officeDocument/2006/relationships/image" Target="../media/image7.png"/><Relationship Id="rId6"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svg"/><Relationship Id="rId3" Type="http://schemas.openxmlformats.org/officeDocument/2006/relationships/image" Target="../media/image9.jpeg"/><Relationship Id="rId4" Type="http://schemas.openxmlformats.org/officeDocument/2006/relationships/image" Target="../media/image10.jpeg"/><Relationship Id="rId5" Type="http://schemas.openxmlformats.org/officeDocument/2006/relationships/image" Target="../media/image11.jpeg"/><Relationship Id="rId6"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svg"/><Relationship Id="rId3" Type="http://schemas.openxmlformats.org/officeDocument/2006/relationships/image" Target="../media/image12.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e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eg"/><Relationship Id="rId3" Type="http://schemas.openxmlformats.org/officeDocument/2006/relationships/image" Target="../media/image15.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18.jpeg"/><Relationship Id="rId5" Type="http://schemas.openxmlformats.org/officeDocument/2006/relationships/image" Target="../media/image19.png"/><Relationship Id="rId6"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sv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eg"/><Relationship Id="rId3" Type="http://schemas.openxmlformats.org/officeDocument/2006/relationships/image" Target="../media/image2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eg"/><Relationship Id="rId3" Type="http://schemas.openxmlformats.org/officeDocument/2006/relationships/image" Target="../media/image24.jpe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svg"/><Relationship Id="rId3" Type="http://schemas.openxmlformats.org/officeDocument/2006/relationships/image" Target="../media/image26.jpeg"/><Relationship Id="rId4" Type="http://schemas.openxmlformats.org/officeDocument/2006/relationships/image" Target="../media/image27.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svg"/><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svg"/><Relationship Id="rId3" Type="http://schemas.openxmlformats.org/officeDocument/2006/relationships/image" Target="../media/image29.sv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defRPr>
                <a:latin typeface="Space Mono"/>
                <a:ea typeface="Space Mono"/>
                <a:cs typeface="Space Mono"/>
              </a:defRPr>
            </a:pPr>
            <a:r>
              <a:rPr lang="en-US" sz="3048">
                <a:solidFill>
                  <a:srgbClr val="2C2C2C"/>
                </a:solidFill>
                <a:latin typeface="Space Mono"/>
                <a:ea typeface="Space Mono"/>
                <a:cs typeface="Space Mono"/>
                <a:sym typeface="Montserrat"/>
              </a:rPr>
              <a:t>Satellite Design &amp; Integration</a:t>
            </a:r>
          </a:p>
        </p:txBody>
      </p:sp>
      <p:sp>
        <p:nvSpPr>
          <p:cNvPr id="14" name="TextBox 14"/>
          <p:cNvSpPr txBox="1"/>
          <p:nvPr/>
        </p:nvSpPr>
        <p:spPr>
          <a:xfrm>
            <a:off x="1632109" y="2514676"/>
            <a:ext cx="5120640" cy="801776"/>
          </a:xfrm>
          <a:prstGeom prst="rect">
            <a:avLst/>
          </a:prstGeom>
        </p:spPr>
        <p:txBody>
          <a:bodyPr wrap="square" lIns="0" tIns="0" rIns="0" bIns="0" rtlCol="0" anchor="t">
            <a:spAutoFit/>
          </a:bodyPr>
          <a:lstStyle/>
          <a:p>
            <a:pPr algn="l">
              <a:lnSpc>
                <a:spcPts val="6552"/>
              </a:lnSpc>
              <a:defRPr>
                <a:latin typeface="House Movements Runway"/>
                <a:ea typeface="House Movements Runway"/>
                <a:cs typeface="House Movements Runway"/>
              </a:defRPr>
            </a:pPr>
            <a:r>
              <a:rPr lang="en-US" sz="4000" spc="88">
                <a:solidFill>
                  <a:srgbClr val="2C2C2C"/>
                </a:solidFill>
                <a:latin typeface="House Movements Runway"/>
                <a:ea typeface="House Movements Runway"/>
                <a:cs typeface="House Movements Runway"/>
                <a:sym typeface="Montserrat"/>
              </a:rPr>
              <a:t>Build Session 3</a:t>
            </a:r>
          </a:p>
        </p:txBody>
      </p:sp>
      <p:sp>
        <p:nvSpPr>
          <p:cNvPr id="15" name="TextBox 13"/>
          <p:cNvSpPr txBox="1"/>
          <p:nvPr/>
        </p:nvSpPr>
        <p:spPr>
          <a:xfrm>
            <a:off x="1632385" y="4617720"/>
            <a:ext cx="7863840" cy="1097280"/>
          </a:xfrm>
          <a:prstGeom prst="rect">
            <a:avLst/>
          </a:prstGeom>
        </p:spPr>
        <p:txBody>
          <a:bodyPr wrap="square" lIns="0" tIns="0" rIns="0" bIns="0" rtlCol="0" anchor="t">
            <a:spAutoFit/>
          </a:bodyPr>
          <a:lstStyle/>
          <a:p>
            <a:pPr algn="l">
              <a:lnSpc>
                <a:spcPts val="4267"/>
              </a:lnSpc>
              <a:defRPr>
                <a:latin typeface="Space Mono"/>
                <a:ea typeface="Space Mono"/>
                <a:cs typeface="Space Mono"/>
              </a:defRPr>
            </a:pPr>
            <a:r>
              <a:rPr lang="en-US" sz="1800">
                <a:solidFill>
                  <a:srgbClr val="2C2C2C"/>
                </a:solidFill>
                <a:latin typeface="Space Mono"/>
                <a:ea typeface="Space Mono"/>
                <a:cs typeface="Space Mono"/>
                <a:sym typeface="Montserrat"/>
              </a:rPr>
              <a:t>ADCS configuration and test</a:t>
            </a:r>
          </a:p>
        </p:txBody>
      </p:sp>
      <p:pic>
        <p:nvPicPr>
          <p:cNvPr id="16" name="MainLogo" descr="MainLogo.png"/>
          <p:cNvPicPr>
            <a:picLocks noChangeAspect="1"/>
          </p:cNvPicPr>
          <p:nvPr/>
        </p:nvPicPr>
        <p:blipFill>
          <a:blip r:embed="rId5"/>
          <a:stretch>
            <a:fillRect/>
          </a:stretch>
        </p:blipFill>
        <p:spPr>
          <a:xfrm>
            <a:off x="8864600" y="301752"/>
            <a:ext cx="1508760" cy="50332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Build Session 3 — ADCS configuration and test</a:t>
            </a:r>
          </a:p>
        </p:txBody>
      </p:sp>
      <p:sp>
        <p:nvSpPr>
          <p:cNvPr id="14" name="TextBox 14"/>
          <p:cNvSpPr txBox="1"/>
          <p:nvPr/>
        </p:nvSpPr>
        <p:spPr>
          <a:xfrm>
            <a:off x="1632109" y="4572000"/>
            <a:ext cx="8778240" cy="1188720"/>
          </a:xfrm>
          <a:prstGeom prst="rect">
            <a:avLst/>
          </a:prstGeom>
        </p:spPr>
        <p:txBody>
          <a:bodyPr wrap="square" lIns="0" tIns="0" rIns="0" bIns="0" rtlCol="0" anchor="t">
            <a:spAutoFit/>
          </a:bodyPr>
          <a:lstStyle/>
          <a:p>
            <a:pPr algn="l">
              <a:lnSpc>
                <a:spcPts val="6552"/>
              </a:lnSpc>
              <a:defRPr>
                <a:latin typeface="Space Mono"/>
                <a:ea typeface="Space Mono"/>
                <a:cs typeface="Space Mono"/>
              </a:defRPr>
            </a:pPr>
            <a:r>
              <a:rPr lang="en-US" sz="2800" spc="88">
                <a:solidFill>
                  <a:srgbClr val="2C2C2C"/>
                </a:solidFill>
                <a:latin typeface="Space Mono"/>
                <a:ea typeface="Space Mono"/>
                <a:cs typeface="Space Mono"/>
                <a:sym typeface="Montserrat"/>
              </a:rPr>
              <a:t>Sun sensors and the reaction wheel</a:t>
            </a:r>
          </a:p>
        </p:txBody>
      </p:sp>
      <p:pic>
        <p:nvPicPr>
          <p:cNvPr id="15" name="MainLogo" descr="MainLogo.png"/>
          <p:cNvPicPr>
            <a:picLocks noChangeAspect="1"/>
          </p:cNvPicPr>
          <p:nvPr/>
        </p:nvPicPr>
        <p:blipFill>
          <a:blip r:embed="rId5"/>
          <a:stretch>
            <a:fillRect/>
          </a:stretch>
        </p:blipFill>
        <p:spPr>
          <a:xfrm>
            <a:off x="8864600" y="301752"/>
            <a:ext cx="1508760" cy="50332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85724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7432"/>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7432"/>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FF0000"/>
            </a:solidFill>
          </p:spPr>
          <p:txBody>
            <a:bodyPr/>
            <a:lstStyle/>
            <a:p>
              <a:endParaRPr/>
            </a:p>
          </p:txBody>
        </p:sp>
      </p:grpSp>
      <p:grpSp>
        <p:nvGrpSpPr>
          <p:cNvPr id="11" name="Group 11"/>
          <p:cNvGrpSpPr/>
          <p:nvPr/>
        </p:nvGrpSpPr>
        <p:grpSpPr>
          <a:xfrm>
            <a:off x="1821180" y="4456176"/>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FF0000"/>
            </a:solidFill>
          </p:spPr>
          <p:txBody>
            <a:bodyPr/>
            <a:lstStyle/>
            <a:p>
              <a:endParaRPr/>
            </a:p>
          </p:txBody>
        </p:sp>
      </p:grpSp>
      <p:sp>
        <p:nvSpPr>
          <p:cNvPr id="13" name="Freeform 13"/>
          <p:cNvSpPr/>
          <p:nvPr/>
        </p:nvSpPr>
        <p:spPr>
          <a:xfrm>
            <a:off x="2167128" y="4570476"/>
            <a:ext cx="6288024" cy="9525"/>
          </a:xfrm>
          <a:custGeom>
            <a:avLst/>
            <a:gdLst/>
            <a:ahLst/>
            <a:cxnLst/>
            <a:rect l="l" t="t" r="r" b="b"/>
            <a:pathLst>
              <a:path w="6288024" h="9525">
                <a:moveTo>
                  <a:pt x="0" y="0"/>
                </a:moveTo>
                <a:lnTo>
                  <a:pt x="6288024" y="0"/>
                </a:lnTo>
                <a:lnTo>
                  <a:pt x="6288024" y="9525"/>
                </a:lnTo>
                <a:lnTo>
                  <a:pt x="0" y="9525"/>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4" name="Freeform 14"/>
          <p:cNvSpPr/>
          <p:nvPr/>
        </p:nvSpPr>
        <p:spPr>
          <a:xfrm>
            <a:off x="1593085" y="2251453"/>
            <a:ext cx="2870197" cy="299209"/>
          </a:xfrm>
          <a:custGeom>
            <a:avLst/>
            <a:gdLst/>
            <a:ahLst/>
            <a:cxnLst/>
            <a:rect l="l" t="t" r="r" b="b"/>
            <a:pathLst>
              <a:path w="2870197" h="299209">
                <a:moveTo>
                  <a:pt x="0" y="0"/>
                </a:moveTo>
                <a:lnTo>
                  <a:pt x="2870197" y="0"/>
                </a:lnTo>
                <a:lnTo>
                  <a:pt x="2870197" y="299209"/>
                </a:lnTo>
                <a:lnTo>
                  <a:pt x="0" y="299209"/>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grpSp>
        <p:nvGrpSpPr>
          <p:cNvPr id="15" name="Group 15"/>
          <p:cNvGrpSpPr/>
          <p:nvPr/>
        </p:nvGrpSpPr>
        <p:grpSpPr>
          <a:xfrm>
            <a:off x="4207764" y="4992624"/>
            <a:ext cx="2278380" cy="353568"/>
            <a:chOff x="0" y="0"/>
            <a:chExt cx="3037840" cy="471424"/>
          </a:xfrm>
        </p:grpSpPr>
        <p:sp>
          <p:nvSpPr>
            <p:cNvPr id="16" name="Freeform 16"/>
            <p:cNvSpPr/>
            <p:nvPr/>
          </p:nvSpPr>
          <p:spPr>
            <a:xfrm>
              <a:off x="0" y="0"/>
              <a:ext cx="3037840" cy="471424"/>
            </a:xfrm>
            <a:custGeom>
              <a:avLst/>
              <a:gdLst/>
              <a:ahLst/>
              <a:cxnLst/>
              <a:rect l="l" t="t" r="r" b="b"/>
              <a:pathLst>
                <a:path w="3037840" h="471424">
                  <a:moveTo>
                    <a:pt x="0" y="0"/>
                  </a:moveTo>
                  <a:lnTo>
                    <a:pt x="3037840" y="0"/>
                  </a:lnTo>
                  <a:lnTo>
                    <a:pt x="3037840" y="471424"/>
                  </a:lnTo>
                  <a:lnTo>
                    <a:pt x="0" y="471424"/>
                  </a:lnTo>
                  <a:lnTo>
                    <a:pt x="0" y="0"/>
                  </a:lnTo>
                  <a:close/>
                </a:path>
              </a:pathLst>
            </a:custGeom>
            <a:blipFill>
              <a:blip r:embed="rId4"/>
              <a:stretch>
                <a:fillRect l="-66"/>
              </a:stretch>
            </a:blipFill>
          </p:spPr>
          <p:txBody>
            <a:bodyPr/>
            <a:lstStyle/>
            <a:p>
              <a:endParaRPr/>
            </a:p>
          </p:txBody>
        </p:sp>
      </p:grpSp>
      <p:grpSp>
        <p:nvGrpSpPr>
          <p:cNvPr id="17" name="Group 17"/>
          <p:cNvGrpSpPr/>
          <p:nvPr/>
        </p:nvGrpSpPr>
        <p:grpSpPr>
          <a:xfrm>
            <a:off x="4207764" y="5343144"/>
            <a:ext cx="2278380" cy="826008"/>
            <a:chOff x="0" y="0"/>
            <a:chExt cx="3037840" cy="1101344"/>
          </a:xfrm>
        </p:grpSpPr>
        <p:sp>
          <p:nvSpPr>
            <p:cNvPr id="18" name="Freeform 18"/>
            <p:cNvSpPr/>
            <p:nvPr/>
          </p:nvSpPr>
          <p:spPr>
            <a:xfrm>
              <a:off x="0" y="0"/>
              <a:ext cx="3037840" cy="1101344"/>
            </a:xfrm>
            <a:custGeom>
              <a:avLst/>
              <a:gdLst/>
              <a:ahLst/>
              <a:cxnLst/>
              <a:rect l="l" t="t" r="r" b="b"/>
              <a:pathLst>
                <a:path w="3037840" h="1101344">
                  <a:moveTo>
                    <a:pt x="0" y="0"/>
                  </a:moveTo>
                  <a:lnTo>
                    <a:pt x="3037840" y="0"/>
                  </a:lnTo>
                  <a:lnTo>
                    <a:pt x="3037840" y="1101344"/>
                  </a:lnTo>
                  <a:lnTo>
                    <a:pt x="0" y="1101344"/>
                  </a:lnTo>
                  <a:lnTo>
                    <a:pt x="0" y="0"/>
                  </a:lnTo>
                  <a:close/>
                </a:path>
              </a:pathLst>
            </a:custGeom>
            <a:blipFill>
              <a:blip r:embed="rId5"/>
              <a:stretch>
                <a:fillRect/>
              </a:stretch>
            </a:blipFill>
          </p:spPr>
          <p:txBody>
            <a:bodyPr/>
            <a:lstStyle/>
            <a:p>
              <a:endParaRPr/>
            </a:p>
          </p:txBody>
        </p:sp>
      </p:grpSp>
      <p:sp>
        <p:nvSpPr>
          <p:cNvPr id="19" name="TextBox 19"/>
          <p:cNvSpPr txBox="1"/>
          <p:nvPr/>
        </p:nvSpPr>
        <p:spPr>
          <a:xfrm>
            <a:off x="1632385" y="1334119"/>
            <a:ext cx="359225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00">
                <a:solidFill>
                  <a:srgbClr val="2C2C2C"/>
                </a:solidFill>
                <a:latin typeface="House Movements Runway"/>
                <a:ea typeface="House Movements Runway"/>
                <a:cs typeface="House Movements Runway"/>
                <a:sym typeface="Montserrat"/>
              </a:rPr>
              <a:t>Before you start</a:t>
            </a:r>
          </a:p>
        </p:txBody>
      </p:sp>
      <p:sp>
        <p:nvSpPr>
          <p:cNvPr id="20" name="TextBox 20"/>
          <p:cNvSpPr txBox="1"/>
          <p:nvPr/>
        </p:nvSpPr>
        <p:spPr>
          <a:xfrm>
            <a:off x="1632204" y="2834602"/>
            <a:ext cx="6500746"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7">
                <a:solidFill>
                  <a:srgbClr val="000000"/>
                </a:solidFill>
                <a:latin typeface="Ubuntu"/>
                <a:ea typeface="Ubuntu"/>
                <a:cs typeface="Ubuntu"/>
                <a:sym typeface="Montserrat"/>
              </a:rPr>
              <a:t>Remember that the ADCS has an Arduino Nano Every (USB Micro).</a:t>
            </a:r>
          </a:p>
        </p:txBody>
      </p:sp>
      <p:sp>
        <p:nvSpPr>
          <p:cNvPr id="21" name="TextBox 21"/>
          <p:cNvSpPr txBox="1"/>
          <p:nvPr/>
        </p:nvSpPr>
        <p:spPr>
          <a:xfrm>
            <a:off x="1632204" y="3433524"/>
            <a:ext cx="1306811"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30">
                <a:solidFill>
                  <a:srgbClr val="FF0000"/>
                </a:solidFill>
                <a:latin typeface="Space Mono"/>
                <a:ea typeface="Space Mono"/>
                <a:cs typeface="Space Mono"/>
                <a:sym typeface="Montserrat"/>
              </a:rPr>
              <a:t>IMPORTANT:</a:t>
            </a:r>
          </a:p>
        </p:txBody>
      </p:sp>
      <p:sp>
        <p:nvSpPr>
          <p:cNvPr id="22" name="TextBox 22"/>
          <p:cNvSpPr txBox="1"/>
          <p:nvPr/>
        </p:nvSpPr>
        <p:spPr>
          <a:xfrm>
            <a:off x="2167185" y="3711540"/>
            <a:ext cx="7731357" cy="887416"/>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31">
                <a:solidFill>
                  <a:srgbClr val="FF0000"/>
                </a:solidFill>
                <a:latin typeface="Ubuntu"/>
                <a:ea typeface="Ubuntu"/>
                <a:cs typeface="Ubuntu"/>
                <a:sym typeface="Montserrat"/>
              </a:rPr>
              <a:t>Keep the USB C connected to charge the battery for all the exercises since the ADCS draws a lot of current.</a:t>
            </a:r>
          </a:p>
          <a:p>
            <a:pPr algn="l">
              <a:lnSpc>
                <a:spcPts val="2355"/>
              </a:lnSpc>
              <a:defRPr>
                <a:latin typeface="Space Mono"/>
                <a:ea typeface="Space Mono"/>
                <a:cs typeface="Space Mono"/>
              </a:defRPr>
            </a:pPr>
            <a:r>
              <a:rPr lang="en-US" sz="1512" spc="31">
                <a:solidFill>
                  <a:srgbClr val="FF0000"/>
                </a:solidFill>
                <a:latin typeface="Space Mono"/>
                <a:ea typeface="Space Mono"/>
                <a:cs typeface="Space Mono"/>
                <a:sym typeface="Montserrat"/>
              </a:rPr>
              <a:t>DO NOT UPLOAD ANY OF THE OBC PROGRAMS ON THE ADCS.</a:t>
            </a:r>
          </a:p>
        </p:txBody>
      </p:sp>
      <p:pic>
        <p:nvPicPr>
          <p:cNvPr id="23" name="MainLogo" descr="MainLogo.png"/>
          <p:cNvPicPr>
            <a:picLocks noChangeAspect="1"/>
          </p:cNvPicPr>
          <p:nvPr/>
        </p:nvPicPr>
        <p:blipFill>
          <a:blip r:embed="rId6"/>
          <a:stretch>
            <a:fillRect/>
          </a:stretch>
        </p:blipFill>
        <p:spPr>
          <a:xfrm>
            <a:off x="8864600" y="301752"/>
            <a:ext cx="1508760" cy="50332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5" name="Group 5"/>
          <p:cNvGrpSpPr/>
          <p:nvPr/>
        </p:nvGrpSpPr>
        <p:grpSpPr>
          <a:xfrm>
            <a:off x="1821180" y="3560064"/>
            <a:ext cx="83820" cy="83820"/>
            <a:chOff x="0" y="0"/>
            <a:chExt cx="83820" cy="83820"/>
          </a:xfrm>
        </p:grpSpPr>
        <p:sp>
          <p:nvSpPr>
            <p:cNvPr id="6" name="Freeform 6"/>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sp>
        <p:nvSpPr>
          <p:cNvPr id="7" name="Freeform 7"/>
          <p:cNvSpPr/>
          <p:nvPr/>
        </p:nvSpPr>
        <p:spPr>
          <a:xfrm>
            <a:off x="4923025" y="2259073"/>
            <a:ext cx="1815589" cy="280921"/>
          </a:xfrm>
          <a:custGeom>
            <a:avLst/>
            <a:gdLst/>
            <a:ahLst/>
            <a:cxnLst/>
            <a:rect l="l" t="t" r="r" b="b"/>
            <a:pathLst>
              <a:path w="1815589" h="280921">
                <a:moveTo>
                  <a:pt x="0" y="0"/>
                </a:moveTo>
                <a:lnTo>
                  <a:pt x="1815589" y="0"/>
                </a:lnTo>
                <a:lnTo>
                  <a:pt x="1815589" y="280921"/>
                </a:lnTo>
                <a:lnTo>
                  <a:pt x="0" y="28092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grpSp>
        <p:nvGrpSpPr>
          <p:cNvPr id="12" name="Group 12"/>
          <p:cNvGrpSpPr/>
          <p:nvPr/>
        </p:nvGrpSpPr>
        <p:grpSpPr>
          <a:xfrm>
            <a:off x="8753856" y="950976"/>
            <a:ext cx="1709928" cy="472440"/>
            <a:chOff x="0" y="0"/>
            <a:chExt cx="2279904" cy="629920"/>
          </a:xfrm>
        </p:grpSpPr>
        <p:sp>
          <p:nvSpPr>
            <p:cNvPr id="13" name="Freeform 13"/>
            <p:cNvSpPr/>
            <p:nvPr/>
          </p:nvSpPr>
          <p:spPr>
            <a:xfrm>
              <a:off x="0" y="0"/>
              <a:ext cx="2279904" cy="629920"/>
            </a:xfrm>
            <a:custGeom>
              <a:avLst/>
              <a:gdLst/>
              <a:ahLst/>
              <a:cxnLst/>
              <a:rect l="l" t="t" r="r" b="b"/>
              <a:pathLst>
                <a:path w="2279904" h="629920">
                  <a:moveTo>
                    <a:pt x="0" y="0"/>
                  </a:moveTo>
                  <a:lnTo>
                    <a:pt x="2279904" y="0"/>
                  </a:lnTo>
                  <a:lnTo>
                    <a:pt x="2279904" y="629920"/>
                  </a:lnTo>
                  <a:lnTo>
                    <a:pt x="0" y="629920"/>
                  </a:lnTo>
                  <a:lnTo>
                    <a:pt x="0" y="0"/>
                  </a:lnTo>
                  <a:close/>
                </a:path>
              </a:pathLst>
            </a:custGeom>
            <a:blipFill>
              <a:blip r:embed="rId3"/>
              <a:stretch>
                <a:fillRect/>
              </a:stretch>
            </a:blipFill>
          </p:spPr>
          <p:txBody>
            <a:bodyPr/>
            <a:lstStyle/>
            <a:p>
              <a:endParaRPr/>
            </a:p>
          </p:txBody>
        </p:sp>
      </p:grpSp>
      <p:grpSp>
        <p:nvGrpSpPr>
          <p:cNvPr id="14" name="Group 14"/>
          <p:cNvGrpSpPr/>
          <p:nvPr/>
        </p:nvGrpSpPr>
        <p:grpSpPr>
          <a:xfrm>
            <a:off x="8753856" y="1420368"/>
            <a:ext cx="1709928" cy="472440"/>
            <a:chOff x="0" y="0"/>
            <a:chExt cx="2279904" cy="629920"/>
          </a:xfrm>
        </p:grpSpPr>
        <p:sp>
          <p:nvSpPr>
            <p:cNvPr id="15" name="Freeform 15"/>
            <p:cNvSpPr/>
            <p:nvPr/>
          </p:nvSpPr>
          <p:spPr>
            <a:xfrm>
              <a:off x="0" y="0"/>
              <a:ext cx="2279904" cy="629920"/>
            </a:xfrm>
            <a:custGeom>
              <a:avLst/>
              <a:gdLst/>
              <a:ahLst/>
              <a:cxnLst/>
              <a:rect l="l" t="t" r="r" b="b"/>
              <a:pathLst>
                <a:path w="2279904" h="629920">
                  <a:moveTo>
                    <a:pt x="0" y="0"/>
                  </a:moveTo>
                  <a:lnTo>
                    <a:pt x="2279904" y="0"/>
                  </a:lnTo>
                  <a:lnTo>
                    <a:pt x="2279904" y="629920"/>
                  </a:lnTo>
                  <a:lnTo>
                    <a:pt x="0" y="629920"/>
                  </a:lnTo>
                  <a:lnTo>
                    <a:pt x="0" y="0"/>
                  </a:lnTo>
                  <a:close/>
                </a:path>
              </a:pathLst>
            </a:custGeom>
            <a:blipFill>
              <a:blip r:embed="rId4"/>
              <a:stretch>
                <a:fillRect/>
              </a:stretch>
            </a:blipFill>
          </p:spPr>
          <p:txBody>
            <a:bodyPr/>
            <a:lstStyle/>
            <a:p>
              <a:endParaRPr/>
            </a:p>
          </p:txBody>
        </p:sp>
      </p:grpSp>
      <p:grpSp>
        <p:nvGrpSpPr>
          <p:cNvPr id="16" name="Group 16"/>
          <p:cNvGrpSpPr/>
          <p:nvPr/>
        </p:nvGrpSpPr>
        <p:grpSpPr>
          <a:xfrm>
            <a:off x="8753856" y="1889760"/>
            <a:ext cx="1709928" cy="344424"/>
            <a:chOff x="0" y="0"/>
            <a:chExt cx="2279904" cy="459232"/>
          </a:xfrm>
        </p:grpSpPr>
        <p:sp>
          <p:nvSpPr>
            <p:cNvPr id="17" name="Freeform 17"/>
            <p:cNvSpPr/>
            <p:nvPr/>
          </p:nvSpPr>
          <p:spPr>
            <a:xfrm>
              <a:off x="0" y="0"/>
              <a:ext cx="2279904" cy="459232"/>
            </a:xfrm>
            <a:custGeom>
              <a:avLst/>
              <a:gdLst/>
              <a:ahLst/>
              <a:cxnLst/>
              <a:rect l="l" t="t" r="r" b="b"/>
              <a:pathLst>
                <a:path w="2279904" h="459232">
                  <a:moveTo>
                    <a:pt x="0" y="0"/>
                  </a:moveTo>
                  <a:lnTo>
                    <a:pt x="2279904" y="0"/>
                  </a:lnTo>
                  <a:lnTo>
                    <a:pt x="2279904" y="459232"/>
                  </a:lnTo>
                  <a:lnTo>
                    <a:pt x="0" y="459232"/>
                  </a:lnTo>
                  <a:lnTo>
                    <a:pt x="0" y="0"/>
                  </a:lnTo>
                  <a:close/>
                </a:path>
              </a:pathLst>
            </a:custGeom>
            <a:blipFill>
              <a:blip r:embed="rId5"/>
              <a:stretch>
                <a:fillRect/>
              </a:stretch>
            </a:blipFill>
          </p:spPr>
          <p:txBody>
            <a:bodyPr/>
            <a:lstStyle/>
            <a:p>
              <a:endParaRPr/>
            </a:p>
          </p:txBody>
        </p:sp>
      </p:grpSp>
      <p:sp>
        <p:nvSpPr>
          <p:cNvPr id="18" name="TextBox 18"/>
          <p:cNvSpPr txBox="1"/>
          <p:nvPr/>
        </p:nvSpPr>
        <p:spPr>
          <a:xfrm>
            <a:off x="1632204" y="1334119"/>
            <a:ext cx="4939344"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00">
                <a:solidFill>
                  <a:srgbClr val="2C2C2C"/>
                </a:solidFill>
                <a:latin typeface="House Movements Runway"/>
                <a:ea typeface="House Movements Runway"/>
                <a:cs typeface="House Movements Runway"/>
                <a:sym typeface="Montserrat"/>
              </a:rPr>
              <a:t>Reading one sun sensor</a:t>
            </a:r>
          </a:p>
          <a:p>
            <a:pPr algn="l">
              <a:lnSpc>
                <a:spcPts val="2116"/>
              </a:lnSpc>
              <a:defRPr>
                <a:latin typeface="Space Mono"/>
                <a:ea typeface="Space Mono"/>
                <a:cs typeface="Space Mono"/>
              </a:defRPr>
            </a:pPr>
            <a:r>
              <a:rPr lang="en-US" sz="1512" spc="31">
                <a:solidFill>
                  <a:srgbClr val="000000"/>
                </a:solidFill>
                <a:latin typeface="Space Mono"/>
                <a:ea typeface="Space Mono"/>
                <a:cs typeface="Space Mono"/>
                <a:sym typeface="Montserrat"/>
              </a:rPr>
              <a:t>CREATE A NEW SKETCH CALLED </a:t>
            </a:r>
          </a:p>
        </p:txBody>
      </p:sp>
      <p:sp>
        <p:nvSpPr>
          <p:cNvPr id="19" name="TextBox 19"/>
          <p:cNvSpPr txBox="1"/>
          <p:nvPr/>
        </p:nvSpPr>
        <p:spPr>
          <a:xfrm>
            <a:off x="1632204" y="2815552"/>
            <a:ext cx="7922914" cy="588626"/>
          </a:xfrm>
          <a:prstGeom prst="rect">
            <a:avLst/>
          </a:prstGeom>
        </p:spPr>
        <p:txBody>
          <a:bodyPr lIns="0" tIns="0" rIns="0" bIns="0" rtlCol="0" anchor="t">
            <a:spAutoFit/>
          </a:bodyPr>
          <a:lstStyle/>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The ADCS can read values from 3 analog sun sensors (Adafruit ALS-PT19) placed inside the solar panels:</a:t>
            </a:r>
          </a:p>
        </p:txBody>
      </p:sp>
      <p:sp>
        <p:nvSpPr>
          <p:cNvPr id="20" name="TextBox 20"/>
          <p:cNvSpPr txBox="1"/>
          <p:nvPr/>
        </p:nvSpPr>
        <p:spPr>
          <a:xfrm>
            <a:off x="2167185" y="3414474"/>
            <a:ext cx="7579366" cy="885882"/>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9">
                <a:solidFill>
                  <a:srgbClr val="000000"/>
                </a:solidFill>
                <a:latin typeface="Ubuntu"/>
                <a:ea typeface="Ubuntu"/>
                <a:cs typeface="Ubuntu"/>
                <a:sym typeface="Montserrat"/>
              </a:rPr>
              <a:t>Look at the online documentation of the sun sensors and create a function to read one of them first to see what the output looks like in the serial monitor. Refer to the ADCS schematics to see the pin connection of the sensor.</a:t>
            </a:r>
          </a:p>
        </p:txBody>
      </p:sp>
      <p:pic>
        <p:nvPicPr>
          <p:cNvPr id="21" name="MainLogo" descr="MainLogo.png"/>
          <p:cNvPicPr>
            <a:picLocks noChangeAspect="1"/>
          </p:cNvPicPr>
          <p:nvPr/>
        </p:nvPicPr>
        <p:blipFill>
          <a:blip r:embed="rId6"/>
          <a:stretch>
            <a:fillRect/>
          </a:stretch>
        </p:blipFill>
        <p:spPr>
          <a:xfrm>
            <a:off x="8864600" y="301752"/>
            <a:ext cx="1508760" cy="50332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56006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4456176"/>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grpSp>
        <p:nvGrpSpPr>
          <p:cNvPr id="13" name="Group 13"/>
          <p:cNvGrpSpPr/>
          <p:nvPr/>
        </p:nvGrpSpPr>
        <p:grpSpPr>
          <a:xfrm>
            <a:off x="1821180" y="6548628"/>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4864"/>
                    <a:pt x="3048" y="64008"/>
                    <a:pt x="12192" y="71628"/>
                  </a:cubicBezTo>
                  <a:cubicBezTo>
                    <a:pt x="19812" y="80772"/>
                    <a:pt x="28956" y="83820"/>
                    <a:pt x="41148" y="83820"/>
                  </a:cubicBezTo>
                  <a:cubicBezTo>
                    <a:pt x="53340" y="83820"/>
                    <a:pt x="62484" y="80772"/>
                    <a:pt x="70104" y="71628"/>
                  </a:cubicBezTo>
                  <a:cubicBezTo>
                    <a:pt x="79248" y="64008"/>
                    <a:pt x="83820" y="54864"/>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sp>
        <p:nvSpPr>
          <p:cNvPr id="15" name="Freeform 15"/>
          <p:cNvSpPr/>
          <p:nvPr/>
        </p:nvSpPr>
        <p:spPr>
          <a:xfrm>
            <a:off x="4923025" y="2259073"/>
            <a:ext cx="1815589" cy="280921"/>
          </a:xfrm>
          <a:custGeom>
            <a:avLst/>
            <a:gdLst/>
            <a:ahLst/>
            <a:cxnLst/>
            <a:rect l="l" t="t" r="r" b="b"/>
            <a:pathLst>
              <a:path w="1815589" h="280921">
                <a:moveTo>
                  <a:pt x="0" y="0"/>
                </a:moveTo>
                <a:lnTo>
                  <a:pt x="1815589" y="0"/>
                </a:lnTo>
                <a:lnTo>
                  <a:pt x="1815589" y="280921"/>
                </a:lnTo>
                <a:lnTo>
                  <a:pt x="0" y="28092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6" name="Freeform 16"/>
          <p:cNvSpPr/>
          <p:nvPr/>
        </p:nvSpPr>
        <p:spPr>
          <a:xfrm>
            <a:off x="2105149" y="4343905"/>
            <a:ext cx="7497061" cy="309877"/>
          </a:xfrm>
          <a:custGeom>
            <a:avLst/>
            <a:gdLst/>
            <a:ahLst/>
            <a:cxnLst/>
            <a:rect l="l" t="t" r="r" b="b"/>
            <a:pathLst>
              <a:path w="7497061" h="309877">
                <a:moveTo>
                  <a:pt x="0" y="0"/>
                </a:moveTo>
                <a:lnTo>
                  <a:pt x="7497061" y="0"/>
                </a:lnTo>
                <a:lnTo>
                  <a:pt x="7497061" y="309877"/>
                </a:lnTo>
                <a:lnTo>
                  <a:pt x="0" y="30987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17" name="TextBox 17"/>
          <p:cNvSpPr txBox="1"/>
          <p:nvPr/>
        </p:nvSpPr>
        <p:spPr>
          <a:xfrm>
            <a:off x="1632204" y="1334119"/>
            <a:ext cx="5120640"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200">
                <a:solidFill>
                  <a:srgbClr val="2C2C2C"/>
                </a:solidFill>
                <a:latin typeface="House Movements Runway"/>
                <a:ea typeface="House Movements Runway"/>
                <a:cs typeface="House Movements Runway"/>
                <a:sym typeface="Montserrat"/>
              </a:rPr>
              <a:t>Comparing the three sun sensors</a:t>
            </a:r>
          </a:p>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CREATE A NEW SKETCH CALLED </a:t>
            </a:r>
          </a:p>
        </p:txBody>
      </p:sp>
      <p:sp>
        <p:nvSpPr>
          <p:cNvPr id="18" name="TextBox 18"/>
          <p:cNvSpPr txBox="1"/>
          <p:nvPr/>
        </p:nvSpPr>
        <p:spPr>
          <a:xfrm>
            <a:off x="2167185" y="6421993"/>
            <a:ext cx="2806741"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Use the flashlight to check it.</a:t>
            </a:r>
          </a:p>
        </p:txBody>
      </p:sp>
      <p:sp>
        <p:nvSpPr>
          <p:cNvPr id="19" name="TextBox 19"/>
          <p:cNvSpPr txBox="1"/>
          <p:nvPr/>
        </p:nvSpPr>
        <p:spPr>
          <a:xfrm>
            <a:off x="1632204" y="5824614"/>
            <a:ext cx="5066233"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6">
                <a:solidFill>
                  <a:srgbClr val="000000"/>
                </a:solidFill>
                <a:latin typeface="Ubuntu"/>
                <a:ea typeface="Ubuntu"/>
                <a:cs typeface="Ubuntu"/>
                <a:sym typeface="Montserrat"/>
              </a:rPr>
              <a:t>THE SATELLITE POSITION NEEDS TO BE ADJUSTED</a:t>
            </a:r>
          </a:p>
        </p:txBody>
      </p:sp>
      <p:sp>
        <p:nvSpPr>
          <p:cNvPr id="20" name="TextBox 20"/>
          <p:cNvSpPr txBox="1"/>
          <p:nvPr/>
        </p:nvSpPr>
        <p:spPr>
          <a:xfrm>
            <a:off x="1632204" y="2815552"/>
            <a:ext cx="7922914" cy="588626"/>
          </a:xfrm>
          <a:prstGeom prst="rect">
            <a:avLst/>
          </a:prstGeom>
        </p:spPr>
        <p:txBody>
          <a:bodyPr lIns="0" tIns="0" rIns="0" bIns="0" rtlCol="0" anchor="t">
            <a:spAutoFit/>
          </a:bodyPr>
          <a:lstStyle/>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The ADCS can read values from 3 analog sun sensors (Adafruit ALS-PT19) placed inside the solar panels:</a:t>
            </a:r>
          </a:p>
        </p:txBody>
      </p:sp>
      <p:sp>
        <p:nvSpPr>
          <p:cNvPr id="21" name="TextBox 21"/>
          <p:cNvSpPr txBox="1"/>
          <p:nvPr/>
        </p:nvSpPr>
        <p:spPr>
          <a:xfrm>
            <a:off x="2167185" y="3414474"/>
            <a:ext cx="7579366" cy="885882"/>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9">
                <a:solidFill>
                  <a:srgbClr val="000000"/>
                </a:solidFill>
                <a:latin typeface="Ubuntu"/>
                <a:ea typeface="Ubuntu"/>
                <a:cs typeface="Ubuntu"/>
                <a:sym typeface="Montserrat"/>
              </a:rPr>
              <a:t>Look at the online documentation of the sun sensors and create a function to read one of them first to see what the output looks like in the serial monitor. Refer to the ADCS schematics to see the pin connection of the sensor.</a:t>
            </a:r>
          </a:p>
        </p:txBody>
      </p:sp>
      <p:sp>
        <p:nvSpPr>
          <p:cNvPr id="22" name="TextBox 22"/>
          <p:cNvSpPr txBox="1"/>
          <p:nvPr/>
        </p:nvSpPr>
        <p:spPr>
          <a:xfrm>
            <a:off x="2167185" y="4609252"/>
            <a:ext cx="7622467" cy="587092"/>
          </a:xfrm>
          <a:prstGeom prst="rect">
            <a:avLst/>
          </a:prstGeom>
        </p:spPr>
        <p:txBody>
          <a:bodyPr lIns="0" tIns="0" rIns="0" bIns="0" rtlCol="0" anchor="t">
            <a:spAutoFit/>
          </a:bodyPr>
          <a:lstStyle/>
          <a:p>
            <a:pPr algn="l">
              <a:lnSpc>
                <a:spcPts val="2351"/>
              </a:lnSpc>
              <a:defRPr>
                <a:latin typeface="Ubuntu"/>
                <a:ea typeface="Ubuntu"/>
                <a:cs typeface="Ubuntu"/>
              </a:defRPr>
            </a:pPr>
            <a:r>
              <a:rPr lang="en-US" sz="1512" spc="-7">
                <a:solidFill>
                  <a:srgbClr val="000000"/>
                </a:solidFill>
                <a:latin typeface="Ubuntu"/>
                <a:ea typeface="Ubuntu"/>
                <a:cs typeface="Ubuntu"/>
                <a:sym typeface="Montserrat"/>
              </a:rPr>
              <a:t>to face the sun. Create a function that compares the three sun sensors so that the serial monitor output looks like this:</a:t>
            </a:r>
          </a:p>
        </p:txBody>
      </p:sp>
      <p:sp>
        <p:nvSpPr>
          <p:cNvPr id="23" name="TextBox 23"/>
          <p:cNvSpPr txBox="1"/>
          <p:nvPr/>
        </p:nvSpPr>
        <p:spPr>
          <a:xfrm>
            <a:off x="1632194" y="5524490"/>
            <a:ext cx="3558283" cy="271282"/>
          </a:xfrm>
          <a:prstGeom prst="rect">
            <a:avLst/>
          </a:prstGeom>
        </p:spPr>
        <p:txBody>
          <a:bodyPr lIns="0" tIns="0" rIns="0" bIns="0" rtlCol="0" anchor="t">
            <a:spAutoFit/>
          </a:bodyPr>
          <a:lstStyle/>
          <a:p>
            <a:pPr algn="l">
              <a:lnSpc>
                <a:spcPts val="2133"/>
              </a:lnSpc>
              <a:defRPr>
                <a:latin typeface="Ubuntu"/>
                <a:ea typeface="Ubuntu"/>
                <a:cs typeface="Ubuntu"/>
              </a:defRPr>
            </a:pPr>
            <a:r>
              <a:rPr lang="en-US" sz="1524" spc="-12">
                <a:solidFill>
                  <a:srgbClr val="000000"/>
                </a:solidFill>
                <a:latin typeface="Ubuntu"/>
                <a:ea typeface="Ubuntu"/>
                <a:cs typeface="Ubuntu"/>
                <a:sym typeface="Montserrat"/>
              </a:rPr>
              <a:t>THE CAMERA IS OBSERVING EARTH</a:t>
            </a:r>
          </a:p>
        </p:txBody>
      </p:sp>
      <p:sp>
        <p:nvSpPr>
          <p:cNvPr id="24" name="TextBox 24"/>
          <p:cNvSpPr txBox="1"/>
          <p:nvPr/>
        </p:nvSpPr>
        <p:spPr>
          <a:xfrm>
            <a:off x="7577995" y="5524490"/>
            <a:ext cx="200187" cy="271282"/>
          </a:xfrm>
          <a:prstGeom prst="rect">
            <a:avLst/>
          </a:prstGeom>
        </p:spPr>
        <p:txBody>
          <a:bodyPr lIns="0" tIns="0" rIns="0" bIns="0" rtlCol="0" anchor="t">
            <a:spAutoFit/>
          </a:bodyPr>
          <a:lstStyle/>
          <a:p>
            <a:pPr algn="l">
              <a:lnSpc>
                <a:spcPts val="2133"/>
              </a:lnSpc>
              <a:defRPr>
                <a:latin typeface="Ubuntu"/>
                <a:ea typeface="Ubuntu"/>
                <a:cs typeface="Ubuntu"/>
              </a:defRPr>
            </a:pPr>
            <a:r>
              <a:rPr lang="en-US" sz="1524" spc="-12">
                <a:solidFill>
                  <a:srgbClr val="000000"/>
                </a:solidFill>
                <a:latin typeface="Ubuntu"/>
                <a:ea typeface="Ubuntu"/>
                <a:cs typeface="Ubuntu"/>
                <a:sym typeface="Montserrat"/>
              </a:rPr>
              <a:t>or</a:t>
            </a:r>
          </a:p>
        </p:txBody>
      </p:sp>
      <p:pic>
        <p:nvPicPr>
          <p:cNvPr id="25" name="MainLogo" descr="MainLogo.png"/>
          <p:cNvPicPr>
            <a:picLocks noChangeAspect="1"/>
          </p:cNvPicPr>
          <p:nvPr/>
        </p:nvPicPr>
        <p:blipFill>
          <a:blip r:embed="rId4"/>
          <a:stretch>
            <a:fillRect/>
          </a:stretch>
        </p:blipFill>
        <p:spPr>
          <a:xfrm>
            <a:off x="8864600" y="301752"/>
            <a:ext cx="1508760" cy="5033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4442460" y="4495800"/>
            <a:ext cx="193548" cy="9144"/>
            <a:chOff x="0" y="0"/>
            <a:chExt cx="193548" cy="9144"/>
          </a:xfrm>
        </p:grpSpPr>
        <p:sp>
          <p:nvSpPr>
            <p:cNvPr id="10" name="Freeform 10"/>
            <p:cNvSpPr/>
            <p:nvPr/>
          </p:nvSpPr>
          <p:spPr>
            <a:xfrm>
              <a:off x="0" y="0"/>
              <a:ext cx="193548" cy="9144"/>
            </a:xfrm>
            <a:custGeom>
              <a:avLst/>
              <a:gdLst/>
              <a:ahLst/>
              <a:cxnLst/>
              <a:rect l="l" t="t" r="r" b="b"/>
              <a:pathLst>
                <a:path w="193548" h="9144">
                  <a:moveTo>
                    <a:pt x="0" y="0"/>
                  </a:moveTo>
                  <a:lnTo>
                    <a:pt x="193548" y="0"/>
                  </a:lnTo>
                  <a:lnTo>
                    <a:pt x="193548" y="9144"/>
                  </a:lnTo>
                  <a:lnTo>
                    <a:pt x="0" y="9144"/>
                  </a:lnTo>
                  <a:close/>
                </a:path>
              </a:pathLst>
            </a:custGeom>
            <a:solidFill>
              <a:srgbClr val="000000"/>
            </a:solidFill>
          </p:spPr>
          <p:txBody>
            <a:bodyPr/>
            <a:lstStyle/>
            <a:p>
              <a:endParaRPr/>
            </a:p>
          </p:txBody>
        </p:sp>
      </p:grpSp>
      <p:grpSp>
        <p:nvGrpSpPr>
          <p:cNvPr id="11" name="Group 11"/>
          <p:cNvGrpSpPr/>
          <p:nvPr/>
        </p:nvGrpSpPr>
        <p:grpSpPr>
          <a:xfrm>
            <a:off x="4073652" y="4683252"/>
            <a:ext cx="3317748" cy="2034540"/>
            <a:chOff x="0" y="0"/>
            <a:chExt cx="4423664" cy="2712720"/>
          </a:xfrm>
        </p:grpSpPr>
        <p:sp>
          <p:nvSpPr>
            <p:cNvPr id="12" name="Freeform 12"/>
            <p:cNvSpPr/>
            <p:nvPr/>
          </p:nvSpPr>
          <p:spPr>
            <a:xfrm>
              <a:off x="0" y="0"/>
              <a:ext cx="4423664" cy="2712720"/>
            </a:xfrm>
            <a:custGeom>
              <a:avLst/>
              <a:gdLst/>
              <a:ahLst/>
              <a:cxnLst/>
              <a:rect l="l" t="t" r="r" b="b"/>
              <a:pathLst>
                <a:path w="4423664" h="2712720">
                  <a:moveTo>
                    <a:pt x="0" y="0"/>
                  </a:moveTo>
                  <a:lnTo>
                    <a:pt x="4423664" y="0"/>
                  </a:lnTo>
                  <a:lnTo>
                    <a:pt x="4423664" y="2712720"/>
                  </a:lnTo>
                  <a:lnTo>
                    <a:pt x="0" y="2712720"/>
                  </a:lnTo>
                  <a:lnTo>
                    <a:pt x="0" y="0"/>
                  </a:lnTo>
                  <a:close/>
                </a:path>
              </a:pathLst>
            </a:custGeom>
            <a:blipFill>
              <a:blip r:embed="rId2"/>
              <a:stretch>
                <a:fillRect l="-275" t="-449"/>
              </a:stretch>
            </a:blipFill>
          </p:spPr>
          <p:txBody>
            <a:bodyPr/>
            <a:lstStyle/>
            <a:p>
              <a:endParaRPr/>
            </a:p>
          </p:txBody>
        </p:sp>
      </p:grpSp>
      <p:sp>
        <p:nvSpPr>
          <p:cNvPr id="13" name="TextBox 13"/>
          <p:cNvSpPr txBox="1"/>
          <p:nvPr/>
        </p:nvSpPr>
        <p:spPr>
          <a:xfrm>
            <a:off x="1632204" y="1286494"/>
            <a:ext cx="5120640" cy="1816160"/>
          </a:xfrm>
          <a:prstGeom prst="rect">
            <a:avLst/>
          </a:prstGeom>
        </p:spPr>
        <p:txBody>
          <a:bodyPr wrap="square" lIns="0" tIns="0" rIns="0" bIns="0" rtlCol="0" anchor="t">
            <a:spAutoFit/>
          </a:bodyPr>
          <a:lstStyle/>
          <a:p>
            <a:pPr algn="l">
              <a:lnSpc>
                <a:spcPts val="4736"/>
              </a:lnSpc>
              <a:defRPr>
                <a:latin typeface="House Movements Runway"/>
                <a:ea typeface="House Movements Runway"/>
                <a:cs typeface="House Movements Runway"/>
              </a:defRPr>
            </a:pPr>
            <a:r>
              <a:rPr lang="en-US" sz="2000">
                <a:solidFill>
                  <a:srgbClr val="2C2C2C"/>
                </a:solidFill>
                <a:latin typeface="House Movements Runway"/>
                <a:ea typeface="House Movements Runway"/>
                <a:cs typeface="House Movements Runway"/>
                <a:sym typeface="Montserrat"/>
              </a:rPr>
              <a:t>Driving the motor with an H-bridge</a:t>
            </a:r>
          </a:p>
          <a:p>
            <a:pPr algn="l">
              <a:lnSpc>
                <a:spcPts val="2349"/>
              </a:lnSpc>
              <a:defRPr>
                <a:latin typeface="Ubuntu"/>
                <a:ea typeface="Ubuntu"/>
                <a:cs typeface="Ubuntu"/>
              </a:defRPr>
            </a:pPr>
            <a:r>
              <a:rPr lang="en-US" sz="1512" spc="-7">
                <a:solidFill>
                  <a:srgbClr val="000000"/>
                </a:solidFill>
                <a:latin typeface="Ubuntu"/>
                <a:ea typeface="Ubuntu"/>
                <a:cs typeface="Ubuntu"/>
                <a:sym typeface="Montserrat"/>
              </a:rPr>
              <a:t>We have left, back, and right sun sensors with respect to the camera. We want to control the motor based on their values. The motor is controlled by a so-called H brid ge.</a:t>
            </a:r>
          </a:p>
        </p:txBody>
      </p:sp>
      <p:sp>
        <p:nvSpPr>
          <p:cNvPr id="14" name="TextBox 14"/>
          <p:cNvSpPr txBox="1"/>
          <p:nvPr/>
        </p:nvSpPr>
        <p:spPr>
          <a:xfrm>
            <a:off x="1632204" y="3414474"/>
            <a:ext cx="8333442" cy="1184472"/>
          </a:xfrm>
          <a:prstGeom prst="rect">
            <a:avLst/>
          </a:prstGeom>
        </p:spPr>
        <p:txBody>
          <a:bodyPr lIns="0" tIns="0" rIns="0" bIns="0" rtlCol="0" anchor="t">
            <a:spAutoFit/>
          </a:bodyPr>
          <a:lstStyle/>
          <a:p>
            <a:pPr algn="l">
              <a:lnSpc>
                <a:spcPts val="2351"/>
              </a:lnSpc>
              <a:defRPr>
                <a:latin typeface="Ubuntu"/>
                <a:ea typeface="Ubuntu"/>
                <a:cs typeface="Ubuntu"/>
              </a:defRPr>
            </a:pPr>
            <a:r>
              <a:rPr lang="en-US" sz="1512" spc="-9">
                <a:solidFill>
                  <a:srgbClr val="000000"/>
                </a:solidFill>
                <a:latin typeface="Ubuntu"/>
                <a:ea typeface="Ubuntu"/>
                <a:cs typeface="Ubuntu"/>
                <a:sym typeface="Montserrat"/>
              </a:rPr>
              <a:t>An H-bridge is an electronic circuit crucial for controlling the direction of DC motors. It consists of four switches arranged in an "H" shape, allowing the reversal of voltage polarity across the motor. By selectively closing switch pairs, the H-bridge can control the motor's rotation directionforward, reverse, or brake.</a:t>
            </a:r>
          </a:p>
        </p:txBody>
      </p:sp>
      <p:pic>
        <p:nvPicPr>
          <p:cNvPr id="15" name="MainLogo" descr="MainLogo.png"/>
          <p:cNvPicPr>
            <a:picLocks noChangeAspect="1"/>
          </p:cNvPicPr>
          <p:nvPr/>
        </p:nvPicPr>
        <p:blipFill>
          <a:blip r:embed="rId3"/>
          <a:stretch>
            <a:fillRect/>
          </a:stretch>
        </p:blipFill>
        <p:spPr>
          <a:xfrm>
            <a:off x="8864600" y="301752"/>
            <a:ext cx="1508760" cy="50332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2129028" y="2417064"/>
            <a:ext cx="7206996" cy="448056"/>
            <a:chOff x="0" y="0"/>
            <a:chExt cx="9609328" cy="597408"/>
          </a:xfrm>
        </p:grpSpPr>
        <p:sp>
          <p:nvSpPr>
            <p:cNvPr id="10" name="Freeform 10"/>
            <p:cNvSpPr/>
            <p:nvPr/>
          </p:nvSpPr>
          <p:spPr>
            <a:xfrm>
              <a:off x="0" y="0"/>
              <a:ext cx="9609328" cy="597408"/>
            </a:xfrm>
            <a:custGeom>
              <a:avLst/>
              <a:gdLst/>
              <a:ahLst/>
              <a:cxnLst/>
              <a:rect l="l" t="t" r="r" b="b"/>
              <a:pathLst>
                <a:path w="9609328" h="597408">
                  <a:moveTo>
                    <a:pt x="0" y="0"/>
                  </a:moveTo>
                  <a:lnTo>
                    <a:pt x="9609328" y="0"/>
                  </a:lnTo>
                  <a:lnTo>
                    <a:pt x="9609328" y="597408"/>
                  </a:lnTo>
                  <a:lnTo>
                    <a:pt x="0" y="597408"/>
                  </a:lnTo>
                  <a:lnTo>
                    <a:pt x="0" y="0"/>
                  </a:lnTo>
                  <a:close/>
                </a:path>
              </a:pathLst>
            </a:custGeom>
            <a:blipFill>
              <a:blip r:embed="rId2"/>
              <a:stretch>
                <a:fillRect l="-21"/>
              </a:stretch>
            </a:blipFill>
          </p:spPr>
          <p:txBody>
            <a:bodyPr/>
            <a:lstStyle/>
            <a:p>
              <a:endParaRPr/>
            </a:p>
          </p:txBody>
        </p:sp>
      </p:grpSp>
      <p:grpSp>
        <p:nvGrpSpPr>
          <p:cNvPr id="11" name="Group 11"/>
          <p:cNvGrpSpPr/>
          <p:nvPr/>
        </p:nvGrpSpPr>
        <p:grpSpPr>
          <a:xfrm>
            <a:off x="2129028" y="2862072"/>
            <a:ext cx="7206996" cy="2871216"/>
            <a:chOff x="0" y="0"/>
            <a:chExt cx="9609328" cy="3828288"/>
          </a:xfrm>
        </p:grpSpPr>
        <p:sp>
          <p:nvSpPr>
            <p:cNvPr id="12" name="Freeform 12"/>
            <p:cNvSpPr/>
            <p:nvPr/>
          </p:nvSpPr>
          <p:spPr>
            <a:xfrm>
              <a:off x="0" y="0"/>
              <a:ext cx="9609328" cy="3828288"/>
            </a:xfrm>
            <a:custGeom>
              <a:avLst/>
              <a:gdLst/>
              <a:ahLst/>
              <a:cxnLst/>
              <a:rect l="l" t="t" r="r" b="b"/>
              <a:pathLst>
                <a:path w="9609328" h="3828288">
                  <a:moveTo>
                    <a:pt x="0" y="0"/>
                  </a:moveTo>
                  <a:lnTo>
                    <a:pt x="9609328" y="0"/>
                  </a:lnTo>
                  <a:lnTo>
                    <a:pt x="9609328" y="3828288"/>
                  </a:lnTo>
                  <a:lnTo>
                    <a:pt x="0" y="3828288"/>
                  </a:lnTo>
                  <a:lnTo>
                    <a:pt x="0" y="0"/>
                  </a:lnTo>
                  <a:close/>
                </a:path>
              </a:pathLst>
            </a:custGeom>
            <a:blipFill>
              <a:blip r:embed="rId3"/>
              <a:stretch>
                <a:fillRect/>
              </a:stretch>
            </a:blipFill>
          </p:spPr>
          <p:txBody>
            <a:bodyPr/>
            <a:lstStyle/>
            <a:p>
              <a:endParaRPr/>
            </a:p>
          </p:txBody>
        </p:sp>
      </p:grpSp>
      <p:sp>
        <p:nvSpPr>
          <p:cNvPr id="13" name="TextBox 13"/>
          <p:cNvSpPr txBox="1"/>
          <p:nvPr/>
        </p:nvSpPr>
        <p:spPr>
          <a:xfrm>
            <a:off x="1632385" y="1334119"/>
            <a:ext cx="4490313"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00">
                <a:solidFill>
                  <a:srgbClr val="2C2C2C"/>
                </a:solidFill>
                <a:latin typeface="House Movements Runway"/>
                <a:ea typeface="House Movements Runway"/>
                <a:cs typeface="House Movements Runway"/>
                <a:sym typeface="Montserrat"/>
              </a:rPr>
              <a:t>The H-bridge circuit</a:t>
            </a:r>
          </a:p>
        </p:txBody>
      </p:sp>
      <p:pic>
        <p:nvPicPr>
          <p:cNvPr id="14" name="MainLogo" descr="MainLogo.png"/>
          <p:cNvPicPr>
            <a:picLocks noChangeAspect="1"/>
          </p:cNvPicPr>
          <p:nvPr/>
        </p:nvPicPr>
        <p:blipFill>
          <a:blip r:embed="rId4"/>
          <a:stretch>
            <a:fillRect/>
          </a:stretch>
        </p:blipFill>
        <p:spPr>
          <a:xfrm>
            <a:off x="8864600" y="301752"/>
            <a:ext cx="1508760" cy="5033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2663952"/>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1" name="Group 11"/>
          <p:cNvGrpSpPr/>
          <p:nvPr/>
        </p:nvGrpSpPr>
        <p:grpSpPr>
          <a:xfrm>
            <a:off x="1821180" y="296113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21336"/>
                  </a:cubicBezTo>
                  <a:cubicBezTo>
                    <a:pt x="1524" y="27432"/>
                    <a:pt x="0" y="35052"/>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5052"/>
                    <a:pt x="80772" y="27432"/>
                    <a:pt x="77724" y="21336"/>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3261360"/>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5" name="Group 15"/>
          <p:cNvGrpSpPr/>
          <p:nvPr/>
        </p:nvGrpSpPr>
        <p:grpSpPr>
          <a:xfrm>
            <a:off x="1821180" y="3560064"/>
            <a:ext cx="83820" cy="83820"/>
            <a:chOff x="0" y="0"/>
            <a:chExt cx="83820" cy="83820"/>
          </a:xfrm>
        </p:grpSpPr>
        <p:sp>
          <p:nvSpPr>
            <p:cNvPr id="16" name="Freeform 16"/>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7" name="Group 17"/>
          <p:cNvGrpSpPr/>
          <p:nvPr/>
        </p:nvGrpSpPr>
        <p:grpSpPr>
          <a:xfrm>
            <a:off x="1821180" y="3857244"/>
            <a:ext cx="83820" cy="83820"/>
            <a:chOff x="0" y="0"/>
            <a:chExt cx="83820" cy="83820"/>
          </a:xfrm>
        </p:grpSpPr>
        <p:sp>
          <p:nvSpPr>
            <p:cNvPr id="18" name="Freeform 18"/>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7432"/>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7432"/>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sp>
        <p:nvSpPr>
          <p:cNvPr id="19" name="Freeform 19"/>
          <p:cNvSpPr/>
          <p:nvPr/>
        </p:nvSpPr>
        <p:spPr>
          <a:xfrm>
            <a:off x="3218193" y="2842765"/>
            <a:ext cx="1531601" cy="315973"/>
          </a:xfrm>
          <a:custGeom>
            <a:avLst/>
            <a:gdLst/>
            <a:ahLst/>
            <a:cxnLst/>
            <a:rect l="l" t="t" r="r" b="b"/>
            <a:pathLst>
              <a:path w="1531601" h="315973">
                <a:moveTo>
                  <a:pt x="0" y="0"/>
                </a:moveTo>
                <a:lnTo>
                  <a:pt x="1531601" y="0"/>
                </a:lnTo>
                <a:lnTo>
                  <a:pt x="1531601" y="315973"/>
                </a:lnTo>
                <a:lnTo>
                  <a:pt x="0" y="31597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20" name="Freeform 20"/>
          <p:cNvSpPr/>
          <p:nvPr/>
        </p:nvSpPr>
        <p:spPr>
          <a:xfrm>
            <a:off x="2833030" y="3450841"/>
            <a:ext cx="1979828" cy="605533"/>
          </a:xfrm>
          <a:custGeom>
            <a:avLst/>
            <a:gdLst/>
            <a:ahLst/>
            <a:cxnLst/>
            <a:rect l="l" t="t" r="r" b="b"/>
            <a:pathLst>
              <a:path w="1979828" h="605533">
                <a:moveTo>
                  <a:pt x="0" y="0"/>
                </a:moveTo>
                <a:lnTo>
                  <a:pt x="1979829" y="0"/>
                </a:lnTo>
                <a:lnTo>
                  <a:pt x="1979829" y="605533"/>
                </a:lnTo>
                <a:lnTo>
                  <a:pt x="0" y="60553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grpSp>
        <p:nvGrpSpPr>
          <p:cNvPr id="21" name="Group 21"/>
          <p:cNvGrpSpPr/>
          <p:nvPr/>
        </p:nvGrpSpPr>
        <p:grpSpPr>
          <a:xfrm>
            <a:off x="6269736" y="1443228"/>
            <a:ext cx="4174236" cy="541020"/>
            <a:chOff x="0" y="0"/>
            <a:chExt cx="5565648" cy="721360"/>
          </a:xfrm>
        </p:grpSpPr>
        <p:sp>
          <p:nvSpPr>
            <p:cNvPr id="22" name="Freeform 22"/>
            <p:cNvSpPr/>
            <p:nvPr/>
          </p:nvSpPr>
          <p:spPr>
            <a:xfrm>
              <a:off x="0" y="0"/>
              <a:ext cx="5565648" cy="721360"/>
            </a:xfrm>
            <a:custGeom>
              <a:avLst/>
              <a:gdLst/>
              <a:ahLst/>
              <a:cxnLst/>
              <a:rect l="l" t="t" r="r" b="b"/>
              <a:pathLst>
                <a:path w="5565648" h="721360">
                  <a:moveTo>
                    <a:pt x="0" y="0"/>
                  </a:moveTo>
                  <a:lnTo>
                    <a:pt x="5565648" y="0"/>
                  </a:lnTo>
                  <a:lnTo>
                    <a:pt x="5565648" y="721360"/>
                  </a:lnTo>
                  <a:lnTo>
                    <a:pt x="0" y="721360"/>
                  </a:lnTo>
                  <a:lnTo>
                    <a:pt x="0" y="0"/>
                  </a:lnTo>
                  <a:close/>
                </a:path>
              </a:pathLst>
            </a:custGeom>
            <a:blipFill>
              <a:blip r:embed="rId4"/>
              <a:stretch>
                <a:fillRect l="-36" t="-281" r="-36"/>
              </a:stretch>
            </a:blipFill>
          </p:spPr>
          <p:txBody>
            <a:bodyPr/>
            <a:lstStyle/>
            <a:p>
              <a:endParaRPr/>
            </a:p>
          </p:txBody>
        </p:sp>
      </p:grpSp>
      <p:grpSp>
        <p:nvGrpSpPr>
          <p:cNvPr id="23" name="Group 23"/>
          <p:cNvGrpSpPr/>
          <p:nvPr/>
        </p:nvGrpSpPr>
        <p:grpSpPr>
          <a:xfrm>
            <a:off x="6269736" y="1978152"/>
            <a:ext cx="4174236" cy="4398264"/>
            <a:chOff x="0" y="0"/>
            <a:chExt cx="5565648" cy="5864352"/>
          </a:xfrm>
        </p:grpSpPr>
        <p:sp>
          <p:nvSpPr>
            <p:cNvPr id="24" name="Freeform 24"/>
            <p:cNvSpPr/>
            <p:nvPr/>
          </p:nvSpPr>
          <p:spPr>
            <a:xfrm>
              <a:off x="0" y="0"/>
              <a:ext cx="5565648" cy="5864352"/>
            </a:xfrm>
            <a:custGeom>
              <a:avLst/>
              <a:gdLst/>
              <a:ahLst/>
              <a:cxnLst/>
              <a:rect l="l" t="t" r="r" b="b"/>
              <a:pathLst>
                <a:path w="5565648" h="5864352">
                  <a:moveTo>
                    <a:pt x="0" y="0"/>
                  </a:moveTo>
                  <a:lnTo>
                    <a:pt x="5565648" y="0"/>
                  </a:lnTo>
                  <a:lnTo>
                    <a:pt x="5565648" y="5864352"/>
                  </a:lnTo>
                  <a:lnTo>
                    <a:pt x="0" y="5864352"/>
                  </a:lnTo>
                  <a:lnTo>
                    <a:pt x="0" y="0"/>
                  </a:lnTo>
                  <a:close/>
                </a:path>
              </a:pathLst>
            </a:custGeom>
            <a:blipFill>
              <a:blip r:embed="rId5"/>
              <a:stretch>
                <a:fillRect/>
              </a:stretch>
            </a:blipFill>
          </p:spPr>
          <p:txBody>
            <a:bodyPr/>
            <a:lstStyle/>
            <a:p>
              <a:endParaRPr/>
            </a:p>
          </p:txBody>
        </p:sp>
      </p:grpSp>
      <p:sp>
        <p:nvSpPr>
          <p:cNvPr id="25" name="TextBox 25"/>
          <p:cNvSpPr txBox="1"/>
          <p:nvPr/>
        </p:nvSpPr>
        <p:spPr>
          <a:xfrm>
            <a:off x="1632204" y="1334119"/>
            <a:ext cx="5120640"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100">
                <a:solidFill>
                  <a:srgbClr val="2C2C2C"/>
                </a:solidFill>
                <a:latin typeface="House Movements Runway"/>
                <a:ea typeface="House Movements Runway"/>
                <a:cs typeface="House Movements Runway"/>
                <a:sym typeface="Montserrat"/>
              </a:rPr>
              <a:t>How to drive the motor correctly</a:t>
            </a:r>
          </a:p>
          <a:p>
            <a:pPr algn="l">
              <a:lnSpc>
                <a:spcPts val="2116"/>
              </a:lnSpc>
              <a:defRPr>
                <a:latin typeface="Ubuntu"/>
                <a:ea typeface="Ubuntu"/>
                <a:cs typeface="Ubuntu"/>
              </a:defRPr>
            </a:pPr>
            <a:r>
              <a:rPr lang="en-US" sz="1512" spc="-7">
                <a:solidFill>
                  <a:srgbClr val="000000"/>
                </a:solidFill>
                <a:latin typeface="Ubuntu"/>
                <a:ea typeface="Ubuntu"/>
                <a:cs typeface="Ubuntu"/>
                <a:sym typeface="Montserrat"/>
              </a:rPr>
              <a:t>This is how you correctly drive the motor:</a:t>
            </a:r>
          </a:p>
        </p:txBody>
      </p:sp>
      <p:sp>
        <p:nvSpPr>
          <p:cNvPr id="26" name="TextBox 26"/>
          <p:cNvSpPr txBox="1"/>
          <p:nvPr/>
        </p:nvSpPr>
        <p:spPr>
          <a:xfrm>
            <a:off x="2167185" y="3433524"/>
            <a:ext cx="1183215" cy="566499"/>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0">
                <a:solidFill>
                  <a:srgbClr val="000000"/>
                </a:solidFill>
                <a:latin typeface="Ubuntu"/>
                <a:ea typeface="Ubuntu"/>
                <a:cs typeface="Ubuntu"/>
                <a:sym typeface="Montserrat"/>
              </a:rPr>
              <a:t>Keep a NEVER USE</a:t>
            </a:r>
          </a:p>
        </p:txBody>
      </p:sp>
      <p:sp>
        <p:nvSpPr>
          <p:cNvPr id="27" name="TextBox 27"/>
          <p:cNvSpPr txBox="1"/>
          <p:nvPr/>
        </p:nvSpPr>
        <p:spPr>
          <a:xfrm>
            <a:off x="3951665" y="3433524"/>
            <a:ext cx="736454"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10">
                <a:solidFill>
                  <a:srgbClr val="000000"/>
                </a:solidFill>
                <a:latin typeface="Ubuntu"/>
                <a:ea typeface="Ubuntu"/>
                <a:cs typeface="Ubuntu"/>
                <a:sym typeface="Montserrat"/>
              </a:rPr>
              <a:t>at least.</a:t>
            </a:r>
          </a:p>
        </p:txBody>
      </p:sp>
      <p:sp>
        <p:nvSpPr>
          <p:cNvPr id="28" name="TextBox 28"/>
          <p:cNvSpPr txBox="1"/>
          <p:nvPr/>
        </p:nvSpPr>
        <p:spPr>
          <a:xfrm>
            <a:off x="4738192" y="3730590"/>
            <a:ext cx="39176"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12">
                <a:solidFill>
                  <a:srgbClr val="000000"/>
                </a:solidFill>
                <a:latin typeface="Ubuntu"/>
                <a:ea typeface="Ubuntu"/>
                <a:cs typeface="Ubuntu"/>
                <a:sym typeface="Montserrat"/>
              </a:rPr>
              <a:t>.</a:t>
            </a:r>
          </a:p>
        </p:txBody>
      </p:sp>
      <p:sp>
        <p:nvSpPr>
          <p:cNvPr id="29" name="TextBox 29"/>
          <p:cNvSpPr txBox="1"/>
          <p:nvPr/>
        </p:nvSpPr>
        <p:spPr>
          <a:xfrm>
            <a:off x="2167185" y="2537346"/>
            <a:ext cx="3519688"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Set up the pinMode as an OUTPUT.</a:t>
            </a:r>
          </a:p>
        </p:txBody>
      </p:sp>
      <p:sp>
        <p:nvSpPr>
          <p:cNvPr id="30" name="TextBox 30"/>
          <p:cNvSpPr txBox="1"/>
          <p:nvPr/>
        </p:nvSpPr>
        <p:spPr>
          <a:xfrm>
            <a:off x="2167185" y="2834602"/>
            <a:ext cx="1115844"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Always use </a:t>
            </a:r>
          </a:p>
        </p:txBody>
      </p:sp>
      <p:sp>
        <p:nvSpPr>
          <p:cNvPr id="31" name="TextBox 31"/>
          <p:cNvSpPr txBox="1"/>
          <p:nvPr/>
        </p:nvSpPr>
        <p:spPr>
          <a:xfrm>
            <a:off x="4670984" y="2834602"/>
            <a:ext cx="39176"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a:t>
            </a:r>
          </a:p>
        </p:txBody>
      </p:sp>
      <p:sp>
        <p:nvSpPr>
          <p:cNvPr id="32" name="TextBox 32"/>
          <p:cNvSpPr txBox="1"/>
          <p:nvPr/>
        </p:nvSpPr>
        <p:spPr>
          <a:xfrm>
            <a:off x="2167185" y="3134735"/>
            <a:ext cx="3472872"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Write a speed no higher than 255.</a:t>
            </a:r>
          </a:p>
        </p:txBody>
      </p:sp>
      <p:pic>
        <p:nvPicPr>
          <p:cNvPr id="33" name="MainLogo" descr="MainLogo.png"/>
          <p:cNvPicPr>
            <a:picLocks noChangeAspect="1"/>
          </p:cNvPicPr>
          <p:nvPr/>
        </p:nvPicPr>
        <p:blipFill>
          <a:blip r:embed="rId6"/>
          <a:stretch>
            <a:fillRect/>
          </a:stretch>
        </p:blipFill>
        <p:spPr>
          <a:xfrm>
            <a:off x="8864600" y="301752"/>
            <a:ext cx="1508760" cy="5033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2663952"/>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1" name="Group 11"/>
          <p:cNvGrpSpPr/>
          <p:nvPr/>
        </p:nvGrpSpPr>
        <p:grpSpPr>
          <a:xfrm>
            <a:off x="1821180" y="3261360"/>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3560064"/>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5" name="Group 15"/>
          <p:cNvGrpSpPr/>
          <p:nvPr/>
        </p:nvGrpSpPr>
        <p:grpSpPr>
          <a:xfrm>
            <a:off x="1821180" y="4157472"/>
            <a:ext cx="83820" cy="83820"/>
            <a:chOff x="0" y="0"/>
            <a:chExt cx="83820" cy="83820"/>
          </a:xfrm>
        </p:grpSpPr>
        <p:sp>
          <p:nvSpPr>
            <p:cNvPr id="16" name="Freeform 16"/>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7" name="Freeform 17"/>
          <p:cNvSpPr/>
          <p:nvPr/>
        </p:nvSpPr>
        <p:spPr>
          <a:xfrm>
            <a:off x="1583941" y="5831329"/>
            <a:ext cx="8256013" cy="317497"/>
          </a:xfrm>
          <a:custGeom>
            <a:avLst/>
            <a:gdLst/>
            <a:ahLst/>
            <a:cxnLst/>
            <a:rect l="l" t="t" r="r" b="b"/>
            <a:pathLst>
              <a:path w="8256013" h="317497">
                <a:moveTo>
                  <a:pt x="0" y="0"/>
                </a:moveTo>
                <a:lnTo>
                  <a:pt x="8256013" y="0"/>
                </a:lnTo>
                <a:lnTo>
                  <a:pt x="8256013" y="317497"/>
                </a:lnTo>
                <a:lnTo>
                  <a:pt x="0" y="31749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8" name="TextBox 18"/>
          <p:cNvSpPr txBox="1"/>
          <p:nvPr/>
        </p:nvSpPr>
        <p:spPr>
          <a:xfrm>
            <a:off x="1632204" y="1334119"/>
            <a:ext cx="5120640"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300">
                <a:solidFill>
                  <a:srgbClr val="2C2C2C"/>
                </a:solidFill>
                <a:latin typeface="House Movements Runway"/>
                <a:ea typeface="House Movements Runway"/>
                <a:cs typeface="House Movements Runway"/>
                <a:sym typeface="Montserrat"/>
              </a:rPr>
              <a:t>Turning the wheel to the light</a:t>
            </a:r>
          </a:p>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Write a function that:</a:t>
            </a:r>
          </a:p>
        </p:txBody>
      </p:sp>
      <p:sp>
        <p:nvSpPr>
          <p:cNvPr id="19" name="TextBox 19"/>
          <p:cNvSpPr txBox="1"/>
          <p:nvPr/>
        </p:nvSpPr>
        <p:spPr>
          <a:xfrm>
            <a:off x="2167185" y="2518296"/>
            <a:ext cx="7767399" cy="1782051"/>
          </a:xfrm>
          <a:prstGeom prst="rect">
            <a:avLst/>
          </a:prstGeom>
        </p:spPr>
        <p:txBody>
          <a:bodyPr lIns="0" tIns="0" rIns="0" bIns="0" rtlCol="0" anchor="t">
            <a:spAutoFit/>
          </a:bodyPr>
          <a:lstStyle/>
          <a:p>
            <a:pPr algn="l">
              <a:lnSpc>
                <a:spcPts val="2354"/>
              </a:lnSpc>
              <a:defRPr>
                <a:latin typeface="Ubuntu"/>
                <a:ea typeface="Ubuntu"/>
                <a:cs typeface="Ubuntu"/>
              </a:defRPr>
            </a:pPr>
            <a:r>
              <a:rPr lang="en-US" sz="1512" spc="-9">
                <a:solidFill>
                  <a:srgbClr val="000000"/>
                </a:solidFill>
                <a:latin typeface="Ubuntu"/>
                <a:ea typeface="Ubuntu"/>
                <a:cs typeface="Ubuntu"/>
                <a:sym typeface="Montserrat"/>
              </a:rPr>
              <a:t>If the left sensor has more light, the motor starts rotating counterclockwise for 1 second. </a:t>
            </a:r>
          </a:p>
          <a:p>
            <a:pPr algn="l">
              <a:lnSpc>
                <a:spcPts val="2354"/>
              </a:lnSpc>
              <a:defRPr>
                <a:latin typeface="Ubuntu"/>
                <a:ea typeface="Ubuntu"/>
                <a:cs typeface="Ubuntu"/>
              </a:defRPr>
            </a:pPr>
            <a:r>
              <a:rPr lang="en-US" sz="1512" spc="-9">
                <a:solidFill>
                  <a:srgbClr val="000000"/>
                </a:solidFill>
                <a:latin typeface="Ubuntu"/>
                <a:ea typeface="Ubuntu"/>
                <a:cs typeface="Ubuntu"/>
                <a:sym typeface="Montserrat"/>
              </a:rPr>
              <a:t>If the back sensor has more light, the motor is stopped.</a:t>
            </a:r>
          </a:p>
          <a:p>
            <a:pPr algn="l">
              <a:lnSpc>
                <a:spcPts val="2354"/>
              </a:lnSpc>
              <a:defRPr>
                <a:latin typeface="Ubuntu"/>
                <a:ea typeface="Ubuntu"/>
                <a:cs typeface="Ubuntu"/>
              </a:defRPr>
            </a:pPr>
            <a:r>
              <a:rPr lang="en-US" sz="1512" spc="-9">
                <a:solidFill>
                  <a:srgbClr val="000000"/>
                </a:solidFill>
                <a:latin typeface="Ubuntu"/>
                <a:ea typeface="Ubuntu"/>
                <a:cs typeface="Ubuntu"/>
                <a:sym typeface="Montserrat"/>
              </a:rPr>
              <a:t>If the right sensor has more light, the motor starts rotating clockwise for 1 second.</a:t>
            </a:r>
          </a:p>
          <a:p>
            <a:pPr algn="l">
              <a:lnSpc>
                <a:spcPts val="2354"/>
              </a:lnSpc>
              <a:defRPr>
                <a:latin typeface="Ubuntu"/>
                <a:ea typeface="Ubuntu"/>
                <a:cs typeface="Ubuntu"/>
              </a:defRPr>
            </a:pPr>
            <a:r>
              <a:rPr lang="en-US" sz="1512" spc="-9">
                <a:solidFill>
                  <a:srgbClr val="000000"/>
                </a:solidFill>
                <a:latin typeface="Ubuntu"/>
                <a:ea typeface="Ubuntu"/>
                <a:cs typeface="Ubuntu"/>
                <a:sym typeface="Montserrat"/>
              </a:rPr>
              <a:t>Include a Serial.print of the motor status (rotating ccw, rotating cw or stopped).</a:t>
            </a:r>
          </a:p>
        </p:txBody>
      </p:sp>
      <p:sp>
        <p:nvSpPr>
          <p:cNvPr id="20" name="TextBox 20"/>
          <p:cNvSpPr txBox="1"/>
          <p:nvPr/>
        </p:nvSpPr>
        <p:spPr>
          <a:xfrm>
            <a:off x="1632204" y="6123394"/>
            <a:ext cx="2282209"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the sun sensor values.</a:t>
            </a:r>
          </a:p>
        </p:txBody>
      </p:sp>
      <p:sp>
        <p:nvSpPr>
          <p:cNvPr id="21" name="TextBox 21"/>
          <p:cNvSpPr txBox="1"/>
          <p:nvPr/>
        </p:nvSpPr>
        <p:spPr>
          <a:xfrm>
            <a:off x="1632204" y="5227225"/>
            <a:ext cx="4440641"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The maximum speed written has to be 255.</a:t>
            </a:r>
          </a:p>
        </p:txBody>
      </p:sp>
      <p:sp>
        <p:nvSpPr>
          <p:cNvPr id="22" name="TextBox 22"/>
          <p:cNvSpPr txBox="1"/>
          <p:nvPr/>
        </p:nvSpPr>
        <p:spPr>
          <a:xfrm>
            <a:off x="1632204" y="4628302"/>
            <a:ext cx="5493610"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REMEMBER TO USE analogWrite(), NOT digitalWrite()</a:t>
            </a:r>
          </a:p>
        </p:txBody>
      </p:sp>
      <p:pic>
        <p:nvPicPr>
          <p:cNvPr id="23" name="MainLogo" descr="MainLogo.png"/>
          <p:cNvPicPr>
            <a:picLocks noChangeAspect="1"/>
          </p:cNvPicPr>
          <p:nvPr/>
        </p:nvPicPr>
        <p:blipFill>
          <a:blip r:embed="rId3"/>
          <a:stretch>
            <a:fillRect/>
          </a:stretch>
        </p:blipFill>
        <p:spPr>
          <a:xfrm>
            <a:off x="8864600" y="301752"/>
            <a:ext cx="1508760" cy="5033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3727704" y="3249168"/>
            <a:ext cx="3444240" cy="941832"/>
            <a:chOff x="0" y="0"/>
            <a:chExt cx="4592320" cy="1255776"/>
          </a:xfrm>
        </p:grpSpPr>
        <p:sp>
          <p:nvSpPr>
            <p:cNvPr id="10" name="Freeform 10"/>
            <p:cNvSpPr/>
            <p:nvPr/>
          </p:nvSpPr>
          <p:spPr>
            <a:xfrm>
              <a:off x="0" y="0"/>
              <a:ext cx="4592320" cy="1255776"/>
            </a:xfrm>
            <a:custGeom>
              <a:avLst/>
              <a:gdLst/>
              <a:ahLst/>
              <a:cxnLst/>
              <a:rect l="l" t="t" r="r" b="b"/>
              <a:pathLst>
                <a:path w="4592320" h="1255776">
                  <a:moveTo>
                    <a:pt x="0" y="0"/>
                  </a:moveTo>
                  <a:lnTo>
                    <a:pt x="4592320" y="0"/>
                  </a:lnTo>
                  <a:lnTo>
                    <a:pt x="4592320" y="1255776"/>
                  </a:lnTo>
                  <a:lnTo>
                    <a:pt x="0" y="1255776"/>
                  </a:lnTo>
                  <a:lnTo>
                    <a:pt x="0" y="0"/>
                  </a:lnTo>
                  <a:close/>
                </a:path>
              </a:pathLst>
            </a:custGeom>
            <a:blipFill>
              <a:blip r:embed="rId2"/>
              <a:stretch>
                <a:fillRect/>
              </a:stretch>
            </a:blipFill>
          </p:spPr>
          <p:txBody>
            <a:bodyPr/>
            <a:lstStyle/>
            <a:p>
              <a:endParaRPr/>
            </a:p>
          </p:txBody>
        </p:sp>
      </p:grpSp>
      <p:grpSp>
        <p:nvGrpSpPr>
          <p:cNvPr id="11" name="Group 11"/>
          <p:cNvGrpSpPr/>
          <p:nvPr/>
        </p:nvGrpSpPr>
        <p:grpSpPr>
          <a:xfrm>
            <a:off x="3727704" y="4187952"/>
            <a:ext cx="3444240" cy="2523744"/>
            <a:chOff x="0" y="0"/>
            <a:chExt cx="4592320" cy="3364992"/>
          </a:xfrm>
        </p:grpSpPr>
        <p:sp>
          <p:nvSpPr>
            <p:cNvPr id="12" name="Freeform 12"/>
            <p:cNvSpPr/>
            <p:nvPr/>
          </p:nvSpPr>
          <p:spPr>
            <a:xfrm>
              <a:off x="0" y="0"/>
              <a:ext cx="4592320" cy="3364992"/>
            </a:xfrm>
            <a:custGeom>
              <a:avLst/>
              <a:gdLst/>
              <a:ahLst/>
              <a:cxnLst/>
              <a:rect l="l" t="t" r="r" b="b"/>
              <a:pathLst>
                <a:path w="4592320" h="3364992">
                  <a:moveTo>
                    <a:pt x="0" y="0"/>
                  </a:moveTo>
                  <a:lnTo>
                    <a:pt x="4592320" y="0"/>
                  </a:lnTo>
                  <a:lnTo>
                    <a:pt x="4592320" y="3364992"/>
                  </a:lnTo>
                  <a:lnTo>
                    <a:pt x="0" y="3364992"/>
                  </a:lnTo>
                  <a:lnTo>
                    <a:pt x="0" y="0"/>
                  </a:lnTo>
                  <a:close/>
                </a:path>
              </a:pathLst>
            </a:custGeom>
            <a:blipFill>
              <a:blip r:embed="rId3"/>
              <a:stretch>
                <a:fillRect/>
              </a:stretch>
            </a:blipFill>
          </p:spPr>
          <p:txBody>
            <a:bodyPr/>
            <a:lstStyle/>
            <a:p>
              <a:endParaRPr/>
            </a:p>
          </p:txBody>
        </p:sp>
      </p:grpSp>
      <p:sp>
        <p:nvSpPr>
          <p:cNvPr id="13" name="TextBox 13"/>
          <p:cNvSpPr txBox="1"/>
          <p:nvPr/>
        </p:nvSpPr>
        <p:spPr>
          <a:xfrm>
            <a:off x="1632204" y="1286494"/>
            <a:ext cx="5120640" cy="1816160"/>
          </a:xfrm>
          <a:prstGeom prst="rect">
            <a:avLst/>
          </a:prstGeom>
        </p:spPr>
        <p:txBody>
          <a:bodyPr wrap="square" lIns="0" tIns="0" rIns="0" bIns="0" rtlCol="0" anchor="t">
            <a:spAutoFit/>
          </a:bodyPr>
          <a:lstStyle/>
          <a:p>
            <a:pPr algn="l">
              <a:lnSpc>
                <a:spcPts val="4736"/>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Testing on the stand</a:t>
            </a:r>
          </a:p>
          <a:p>
            <a:pPr algn="l">
              <a:lnSpc>
                <a:spcPts val="2349"/>
              </a:lnSpc>
              <a:defRPr>
                <a:latin typeface="Ubuntu"/>
                <a:ea typeface="Ubuntu"/>
                <a:cs typeface="Ubuntu"/>
              </a:defRPr>
            </a:pPr>
            <a:r>
              <a:rPr lang="en-US" sz="1512" spc="-9">
                <a:solidFill>
                  <a:srgbClr val="000000"/>
                </a:solidFill>
                <a:latin typeface="Ubuntu"/>
                <a:ea typeface="Ubuntu"/>
                <a:cs typeface="Ubuntu"/>
                <a:sym typeface="Montserrat"/>
              </a:rPr>
              <a:t>Test this function by hanging the satellite to the stand using the fishing line!</a:t>
            </a:r>
          </a:p>
          <a:p>
            <a:pPr algn="l">
              <a:lnSpc>
                <a:spcPts val="2349"/>
              </a:lnSpc>
              <a:defRPr>
                <a:latin typeface="Ubuntu"/>
                <a:ea typeface="Ubuntu"/>
                <a:cs typeface="Ubuntu"/>
              </a:defRPr>
            </a:pPr>
            <a:r>
              <a:rPr lang="en-US" sz="1512" spc="-9">
                <a:solidFill>
                  <a:srgbClr val="000000"/>
                </a:solidFill>
                <a:latin typeface="Ubuntu"/>
                <a:ea typeface="Ubuntu"/>
                <a:cs typeface="Ubuntu"/>
                <a:sym typeface="Montserrat"/>
              </a:rPr>
              <a:t>Once you tested it, un-hang the satellite for the next exercise.</a:t>
            </a:r>
          </a:p>
        </p:txBody>
      </p:sp>
      <p:sp>
        <p:nvSpPr>
          <p:cNvPr id="14" name="TextBox 14"/>
          <p:cNvSpPr txBox="1"/>
          <p:nvPr/>
        </p:nvSpPr>
        <p:spPr>
          <a:xfrm>
            <a:off x="8718852" y="2237213"/>
            <a:ext cx="808330"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9">
                <a:solidFill>
                  <a:srgbClr val="000000"/>
                </a:solidFill>
                <a:latin typeface="Space Mono"/>
                <a:ea typeface="Space Mono"/>
                <a:cs typeface="Space Mono"/>
                <a:sym typeface="Montserrat"/>
              </a:rPr>
              <a:t>and the </a:t>
            </a:r>
          </a:p>
        </p:txBody>
      </p:sp>
      <p:sp>
        <p:nvSpPr>
          <p:cNvPr id="15" name="TextBox 15"/>
          <p:cNvSpPr txBox="1"/>
          <p:nvPr/>
        </p:nvSpPr>
        <p:spPr>
          <a:xfrm>
            <a:off x="7807500" y="2237213"/>
            <a:ext cx="879624"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33">
                <a:solidFill>
                  <a:srgbClr val="000000"/>
                </a:solidFill>
                <a:latin typeface="Space Mono"/>
                <a:ea typeface="Space Mono"/>
                <a:cs typeface="Space Mono"/>
                <a:sym typeface="Montserrat"/>
              </a:rPr>
              <a:t>eyebolts</a:t>
            </a:r>
          </a:p>
        </p:txBody>
      </p:sp>
      <p:pic>
        <p:nvPicPr>
          <p:cNvPr id="16" name="MainLogo" descr="MainLogo.png"/>
          <p:cNvPicPr>
            <a:picLocks noChangeAspect="1"/>
          </p:cNvPicPr>
          <p:nvPr/>
        </p:nvPicPr>
        <p:blipFill>
          <a:blip r:embed="rId4"/>
          <a:stretch>
            <a:fillRect/>
          </a:stretch>
        </p:blipFill>
        <p:spPr>
          <a:xfrm>
            <a:off x="8864600" y="301752"/>
            <a:ext cx="1508760" cy="50332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56006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5212080" y="4081272"/>
            <a:ext cx="1039368" cy="780288"/>
            <a:chOff x="0" y="0"/>
            <a:chExt cx="1385824" cy="1040384"/>
          </a:xfrm>
        </p:grpSpPr>
        <p:sp>
          <p:nvSpPr>
            <p:cNvPr id="12" name="Freeform 12"/>
            <p:cNvSpPr/>
            <p:nvPr/>
          </p:nvSpPr>
          <p:spPr>
            <a:xfrm>
              <a:off x="0" y="0"/>
              <a:ext cx="1385824" cy="1040384"/>
            </a:xfrm>
            <a:custGeom>
              <a:avLst/>
              <a:gdLst/>
              <a:ahLst/>
              <a:cxnLst/>
              <a:rect l="l" t="t" r="r" b="b"/>
              <a:pathLst>
                <a:path w="1385824" h="1040384">
                  <a:moveTo>
                    <a:pt x="0" y="0"/>
                  </a:moveTo>
                  <a:lnTo>
                    <a:pt x="1385824" y="0"/>
                  </a:lnTo>
                  <a:lnTo>
                    <a:pt x="1385824" y="1040384"/>
                  </a:lnTo>
                  <a:lnTo>
                    <a:pt x="0" y="1040384"/>
                  </a:lnTo>
                  <a:lnTo>
                    <a:pt x="0" y="0"/>
                  </a:lnTo>
                  <a:close/>
                </a:path>
              </a:pathLst>
            </a:custGeom>
            <a:blipFill>
              <a:blip r:embed="rId2"/>
              <a:stretch>
                <a:fillRect/>
              </a:stretch>
            </a:blipFill>
          </p:spPr>
          <p:txBody>
            <a:bodyPr/>
            <a:lstStyle/>
            <a:p>
              <a:endParaRPr/>
            </a:p>
          </p:txBody>
        </p:sp>
      </p:grpSp>
      <p:grpSp>
        <p:nvGrpSpPr>
          <p:cNvPr id="13" name="Group 13"/>
          <p:cNvGrpSpPr/>
          <p:nvPr/>
        </p:nvGrpSpPr>
        <p:grpSpPr>
          <a:xfrm>
            <a:off x="5212080" y="4858512"/>
            <a:ext cx="1039368" cy="551688"/>
            <a:chOff x="0" y="0"/>
            <a:chExt cx="1385824" cy="735584"/>
          </a:xfrm>
        </p:grpSpPr>
        <p:sp>
          <p:nvSpPr>
            <p:cNvPr id="14" name="Freeform 14"/>
            <p:cNvSpPr/>
            <p:nvPr/>
          </p:nvSpPr>
          <p:spPr>
            <a:xfrm>
              <a:off x="0" y="0"/>
              <a:ext cx="1385824" cy="735584"/>
            </a:xfrm>
            <a:custGeom>
              <a:avLst/>
              <a:gdLst/>
              <a:ahLst/>
              <a:cxnLst/>
              <a:rect l="l" t="t" r="r" b="b"/>
              <a:pathLst>
                <a:path w="1385824" h="735584">
                  <a:moveTo>
                    <a:pt x="0" y="0"/>
                  </a:moveTo>
                  <a:lnTo>
                    <a:pt x="1385824" y="0"/>
                  </a:lnTo>
                  <a:lnTo>
                    <a:pt x="1385824" y="735584"/>
                  </a:lnTo>
                  <a:lnTo>
                    <a:pt x="0" y="735584"/>
                  </a:lnTo>
                  <a:lnTo>
                    <a:pt x="0" y="0"/>
                  </a:lnTo>
                  <a:close/>
                </a:path>
              </a:pathLst>
            </a:custGeom>
            <a:blipFill>
              <a:blip r:embed="rId3"/>
              <a:stretch>
                <a:fillRect/>
              </a:stretch>
            </a:blipFill>
          </p:spPr>
          <p:txBody>
            <a:bodyPr/>
            <a:lstStyle/>
            <a:p>
              <a:endParaRPr/>
            </a:p>
          </p:txBody>
        </p:sp>
      </p:grpSp>
      <p:sp>
        <p:nvSpPr>
          <p:cNvPr id="15" name="TextBox 15"/>
          <p:cNvSpPr txBox="1"/>
          <p:nvPr/>
        </p:nvSpPr>
        <p:spPr>
          <a:xfrm>
            <a:off x="1632204" y="1334119"/>
            <a:ext cx="5061137"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Reading the IMU</a:t>
            </a:r>
          </a:p>
          <a:p>
            <a:pPr algn="l">
              <a:lnSpc>
                <a:spcPts val="2116"/>
              </a:lnSpc>
              <a:defRPr>
                <a:latin typeface="Space Mono"/>
                <a:ea typeface="Space Mono"/>
                <a:cs typeface="Space Mono"/>
              </a:defRPr>
            </a:pPr>
            <a:r>
              <a:rPr lang="en-US" sz="1512" spc="-7">
                <a:solidFill>
                  <a:srgbClr val="000000"/>
                </a:solidFill>
                <a:latin typeface="Space Mono"/>
                <a:ea typeface="Space Mono"/>
                <a:cs typeface="Space Mono"/>
                <a:sym typeface="Montserrat"/>
              </a:rPr>
              <a:t>Now, comment out the motor and sun sensor parts.</a:t>
            </a:r>
          </a:p>
        </p:txBody>
      </p:sp>
      <p:sp>
        <p:nvSpPr>
          <p:cNvPr id="16" name="TextBox 16"/>
          <p:cNvSpPr txBox="1"/>
          <p:nvPr/>
        </p:nvSpPr>
        <p:spPr>
          <a:xfrm>
            <a:off x="1632204" y="2815552"/>
            <a:ext cx="8358321" cy="588626"/>
          </a:xfrm>
          <a:prstGeom prst="rect">
            <a:avLst/>
          </a:prstGeom>
        </p:spPr>
        <p:txBody>
          <a:bodyPr lIns="0" tIns="0" rIns="0" bIns="0" rtlCol="0" anchor="t">
            <a:spAutoFit/>
          </a:bodyPr>
          <a:lstStyle/>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The ADCS has an IMU module called Adafruit BNO055, refer to the ADCS schematics for the connections to the Arduino.</a:t>
            </a:r>
          </a:p>
        </p:txBody>
      </p:sp>
      <p:sp>
        <p:nvSpPr>
          <p:cNvPr id="17" name="TextBox 17"/>
          <p:cNvSpPr txBox="1"/>
          <p:nvPr/>
        </p:nvSpPr>
        <p:spPr>
          <a:xfrm>
            <a:off x="2167185" y="3414474"/>
            <a:ext cx="7530408" cy="585549"/>
          </a:xfrm>
          <a:prstGeom prst="rect">
            <a:avLst/>
          </a:prstGeom>
        </p:spPr>
        <p:txBody>
          <a:bodyPr lIns="0" tIns="0" rIns="0" bIns="0" rtlCol="0" anchor="t">
            <a:spAutoFit/>
          </a:bodyPr>
          <a:lstStyle/>
          <a:p>
            <a:pPr algn="l">
              <a:lnSpc>
                <a:spcPts val="2339"/>
              </a:lnSpc>
              <a:defRPr>
                <a:latin typeface="Ubuntu"/>
                <a:ea typeface="Ubuntu"/>
                <a:cs typeface="Ubuntu"/>
              </a:defRPr>
            </a:pPr>
            <a:r>
              <a:rPr lang="en-US" sz="1512" spc="-9">
                <a:solidFill>
                  <a:srgbClr val="000000"/>
                </a:solidFill>
                <a:latin typeface="Ubuntu"/>
                <a:ea typeface="Ubuntu"/>
                <a:cs typeface="Ubuntu"/>
                <a:sym typeface="Montserrat"/>
              </a:rPr>
              <a:t>Using online documentation, write a function to read ALL the IMU outputs in the serial monitor.</a:t>
            </a:r>
          </a:p>
        </p:txBody>
      </p:sp>
      <p:pic>
        <p:nvPicPr>
          <p:cNvPr id="18" name="MainLogo" descr="MainLogo.png"/>
          <p:cNvPicPr>
            <a:picLocks noChangeAspect="1"/>
          </p:cNvPicPr>
          <p:nvPr/>
        </p:nvPicPr>
        <p:blipFill>
          <a:blip r:embed="rId4"/>
          <a:stretch>
            <a:fillRect/>
          </a:stretch>
        </p:blipFill>
        <p:spPr>
          <a:xfrm>
            <a:off x="8864600" y="301752"/>
            <a:ext cx="1508760" cy="503322"/>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56006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415747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4456176"/>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sp>
        <p:nvSpPr>
          <p:cNvPr id="15" name="TextBox 15"/>
          <p:cNvSpPr txBox="1"/>
          <p:nvPr/>
        </p:nvSpPr>
        <p:spPr>
          <a:xfrm>
            <a:off x="1632204" y="1334119"/>
            <a:ext cx="5061137"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Detecting a shake</a:t>
            </a:r>
          </a:p>
          <a:p>
            <a:pPr algn="l">
              <a:lnSpc>
                <a:spcPts val="2116"/>
              </a:lnSpc>
              <a:defRPr>
                <a:latin typeface="Space Mono"/>
                <a:ea typeface="Space Mono"/>
                <a:cs typeface="Space Mono"/>
              </a:defRPr>
            </a:pPr>
            <a:r>
              <a:rPr lang="en-US" sz="1512" spc="-7">
                <a:solidFill>
                  <a:srgbClr val="000000"/>
                </a:solidFill>
                <a:latin typeface="Space Mono"/>
                <a:ea typeface="Space Mono"/>
                <a:cs typeface="Space Mono"/>
                <a:sym typeface="Montserrat"/>
              </a:rPr>
              <a:t>Now, comment out the motor and sun sensor parts.</a:t>
            </a:r>
          </a:p>
        </p:txBody>
      </p:sp>
      <p:sp>
        <p:nvSpPr>
          <p:cNvPr id="16" name="TextBox 16"/>
          <p:cNvSpPr txBox="1"/>
          <p:nvPr/>
        </p:nvSpPr>
        <p:spPr>
          <a:xfrm>
            <a:off x="1632204" y="2815552"/>
            <a:ext cx="8270767" cy="588626"/>
          </a:xfrm>
          <a:prstGeom prst="rect">
            <a:avLst/>
          </a:prstGeom>
        </p:spPr>
        <p:txBody>
          <a:bodyPr lIns="0" tIns="0" rIns="0" bIns="0" rtlCol="0" anchor="t">
            <a:spAutoFit/>
          </a:bodyPr>
          <a:lstStyle/>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The ADCS has an IMU module called Adafruit BNO055, refer to the ADCS schematics for the connections to the Arduino.</a:t>
            </a:r>
          </a:p>
        </p:txBody>
      </p:sp>
      <p:sp>
        <p:nvSpPr>
          <p:cNvPr id="17" name="TextBox 17"/>
          <p:cNvSpPr txBox="1"/>
          <p:nvPr/>
        </p:nvSpPr>
        <p:spPr>
          <a:xfrm>
            <a:off x="2167185" y="3414474"/>
            <a:ext cx="7806576" cy="1781861"/>
          </a:xfrm>
          <a:prstGeom prst="rect">
            <a:avLst/>
          </a:prstGeom>
        </p:spPr>
        <p:txBody>
          <a:bodyPr lIns="0" tIns="0" rIns="0" bIns="0" rtlCol="0" anchor="t">
            <a:spAutoFit/>
          </a:bodyPr>
          <a:lstStyle/>
          <a:p>
            <a:pPr algn="l">
              <a:lnSpc>
                <a:spcPts val="2351"/>
              </a:lnSpc>
              <a:defRPr>
                <a:latin typeface="Ubuntu"/>
                <a:ea typeface="Ubuntu"/>
                <a:cs typeface="Ubuntu"/>
              </a:defRPr>
            </a:pPr>
            <a:r>
              <a:rPr lang="en-US" sz="1512" spc="-9">
                <a:solidFill>
                  <a:srgbClr val="000000"/>
                </a:solidFill>
                <a:latin typeface="Ubuntu"/>
                <a:ea typeface="Ubuntu"/>
                <a:cs typeface="Ubuntu"/>
                <a:sym typeface="Montserrat"/>
              </a:rPr>
              <a:t>Using online documentation, write a function to read ALL the IMU outputs in the serial monitor.</a:t>
            </a:r>
          </a:p>
          <a:p>
            <a:pPr algn="l">
              <a:lnSpc>
                <a:spcPts val="2351"/>
              </a:lnSpc>
              <a:defRPr>
                <a:latin typeface="Ubuntu"/>
                <a:ea typeface="Ubuntu"/>
                <a:cs typeface="Ubuntu"/>
              </a:defRPr>
            </a:pPr>
            <a:r>
              <a:rPr lang="en-US" sz="1512" spc="-9">
                <a:solidFill>
                  <a:srgbClr val="000000"/>
                </a:solidFill>
                <a:latin typeface="Ubuntu"/>
                <a:ea typeface="Ubuntu"/>
                <a:cs typeface="Ubuntu"/>
                <a:sym typeface="Montserrat"/>
              </a:rPr>
              <a:t>Look at the outputs to find the right threshold for the following exercise.</a:t>
            </a:r>
          </a:p>
          <a:p>
            <a:pPr algn="l">
              <a:lnSpc>
                <a:spcPts val="2351"/>
              </a:lnSpc>
              <a:defRPr>
                <a:latin typeface="Ubuntu"/>
                <a:ea typeface="Ubuntu"/>
                <a:cs typeface="Ubuntu"/>
              </a:defRPr>
            </a:pPr>
            <a:r>
              <a:rPr lang="en-US" sz="1512" spc="-9">
                <a:solidFill>
                  <a:srgbClr val="000000"/>
                </a:solidFill>
                <a:latin typeface="Ubuntu"/>
                <a:ea typeface="Ubuntu"/>
                <a:cs typeface="Ubuntu"/>
                <a:sym typeface="Montserrat"/>
              </a:rPr>
              <a:t>Create a function called shake() so that if the satellite is shaken, the motor starts rotating clockwise for 500ms and then counterclockwise for 500ms. The program should not repeat itself unless the satellite is shaken again.</a:t>
            </a:r>
          </a:p>
        </p:txBody>
      </p:sp>
      <p:pic>
        <p:nvPicPr>
          <p:cNvPr id="18" name="MainLogo" descr="MainLogo.png"/>
          <p:cNvPicPr>
            <a:picLocks noChangeAspect="1"/>
          </p:cNvPicPr>
          <p:nvPr/>
        </p:nvPicPr>
        <p:blipFill>
          <a:blip r:embed="rId2"/>
          <a:stretch>
            <a:fillRect/>
          </a:stretch>
        </p:blipFill>
        <p:spPr>
          <a:xfrm>
            <a:off x="8864600" y="301752"/>
            <a:ext cx="1508760" cy="503322"/>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56006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415747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3" name="Freeform 13"/>
          <p:cNvSpPr/>
          <p:nvPr/>
        </p:nvSpPr>
        <p:spPr>
          <a:xfrm>
            <a:off x="2562349" y="4642609"/>
            <a:ext cx="6482077" cy="309877"/>
          </a:xfrm>
          <a:custGeom>
            <a:avLst/>
            <a:gdLst/>
            <a:ahLst/>
            <a:cxnLst/>
            <a:rect l="l" t="t" r="r" b="b"/>
            <a:pathLst>
              <a:path w="6482077" h="309877">
                <a:moveTo>
                  <a:pt x="0" y="0"/>
                </a:moveTo>
                <a:lnTo>
                  <a:pt x="6482077" y="0"/>
                </a:lnTo>
                <a:lnTo>
                  <a:pt x="6482077" y="309877"/>
                </a:lnTo>
                <a:lnTo>
                  <a:pt x="0" y="3098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grpSp>
        <p:nvGrpSpPr>
          <p:cNvPr id="14" name="Group 14"/>
          <p:cNvGrpSpPr/>
          <p:nvPr/>
        </p:nvGrpSpPr>
        <p:grpSpPr>
          <a:xfrm>
            <a:off x="3011424" y="5285232"/>
            <a:ext cx="5442204" cy="307848"/>
            <a:chOff x="0" y="0"/>
            <a:chExt cx="7256272" cy="410464"/>
          </a:xfrm>
        </p:grpSpPr>
        <p:sp>
          <p:nvSpPr>
            <p:cNvPr id="15" name="Freeform 15"/>
            <p:cNvSpPr/>
            <p:nvPr/>
          </p:nvSpPr>
          <p:spPr>
            <a:xfrm>
              <a:off x="0" y="0"/>
              <a:ext cx="7256272" cy="410464"/>
            </a:xfrm>
            <a:custGeom>
              <a:avLst/>
              <a:gdLst/>
              <a:ahLst/>
              <a:cxnLst/>
              <a:rect l="l" t="t" r="r" b="b"/>
              <a:pathLst>
                <a:path w="7256272" h="410464">
                  <a:moveTo>
                    <a:pt x="0" y="0"/>
                  </a:moveTo>
                  <a:lnTo>
                    <a:pt x="7256272" y="0"/>
                  </a:lnTo>
                  <a:lnTo>
                    <a:pt x="7256272" y="410464"/>
                  </a:lnTo>
                  <a:lnTo>
                    <a:pt x="0" y="410464"/>
                  </a:lnTo>
                  <a:lnTo>
                    <a:pt x="0" y="0"/>
                  </a:lnTo>
                  <a:close/>
                </a:path>
              </a:pathLst>
            </a:custGeom>
            <a:blipFill>
              <a:blip r:embed="rId3"/>
              <a:stretch>
                <a:fillRect t="-495"/>
              </a:stretch>
            </a:blipFill>
          </p:spPr>
          <p:txBody>
            <a:bodyPr/>
            <a:lstStyle/>
            <a:p>
              <a:endParaRPr/>
            </a:p>
          </p:txBody>
        </p:sp>
      </p:grpSp>
      <p:grpSp>
        <p:nvGrpSpPr>
          <p:cNvPr id="16" name="Group 16"/>
          <p:cNvGrpSpPr/>
          <p:nvPr/>
        </p:nvGrpSpPr>
        <p:grpSpPr>
          <a:xfrm>
            <a:off x="3011424" y="5588508"/>
            <a:ext cx="5442204" cy="981456"/>
            <a:chOff x="0" y="0"/>
            <a:chExt cx="7256272" cy="1308608"/>
          </a:xfrm>
        </p:grpSpPr>
        <p:sp>
          <p:nvSpPr>
            <p:cNvPr id="17" name="Freeform 17"/>
            <p:cNvSpPr/>
            <p:nvPr/>
          </p:nvSpPr>
          <p:spPr>
            <a:xfrm>
              <a:off x="0" y="0"/>
              <a:ext cx="7256272" cy="1308608"/>
            </a:xfrm>
            <a:custGeom>
              <a:avLst/>
              <a:gdLst/>
              <a:ahLst/>
              <a:cxnLst/>
              <a:rect l="l" t="t" r="r" b="b"/>
              <a:pathLst>
                <a:path w="7256272" h="1308608">
                  <a:moveTo>
                    <a:pt x="0" y="0"/>
                  </a:moveTo>
                  <a:lnTo>
                    <a:pt x="7256272" y="0"/>
                  </a:lnTo>
                  <a:lnTo>
                    <a:pt x="7256272" y="1308608"/>
                  </a:lnTo>
                  <a:lnTo>
                    <a:pt x="0" y="1308608"/>
                  </a:lnTo>
                  <a:lnTo>
                    <a:pt x="0" y="0"/>
                  </a:lnTo>
                  <a:close/>
                </a:path>
              </a:pathLst>
            </a:custGeom>
            <a:blipFill>
              <a:blip r:embed="rId4"/>
              <a:stretch>
                <a:fillRect/>
              </a:stretch>
            </a:blipFill>
          </p:spPr>
          <p:txBody>
            <a:bodyPr/>
            <a:lstStyle/>
            <a:p>
              <a:endParaRPr/>
            </a:p>
          </p:txBody>
        </p:sp>
      </p:grpSp>
      <p:sp>
        <p:nvSpPr>
          <p:cNvPr id="18" name="TextBox 18"/>
          <p:cNvSpPr txBox="1"/>
          <p:nvPr/>
        </p:nvSpPr>
        <p:spPr>
          <a:xfrm>
            <a:off x="1632204" y="1286494"/>
            <a:ext cx="5120640" cy="2116293"/>
          </a:xfrm>
          <a:prstGeom prst="rect">
            <a:avLst/>
          </a:prstGeom>
        </p:spPr>
        <p:txBody>
          <a:bodyPr wrap="square" lIns="0" tIns="0" rIns="0" bIns="0" rtlCol="0" anchor="t">
            <a:spAutoFit/>
          </a:bodyPr>
          <a:lstStyle/>
          <a:p>
            <a:pPr algn="l">
              <a:lnSpc>
                <a:spcPts val="4751"/>
              </a:lnSpc>
              <a:defRPr>
                <a:latin typeface="House Movements Runway"/>
                <a:ea typeface="House Movements Runway"/>
                <a:cs typeface="House Movements Runway"/>
              </a:defRPr>
            </a:pPr>
            <a:r>
              <a:rPr lang="en-US" sz="2500">
                <a:solidFill>
                  <a:srgbClr val="2C2C2C"/>
                </a:solidFill>
                <a:latin typeface="House Movements Runway"/>
                <a:ea typeface="House Movements Runway"/>
                <a:cs typeface="House Movements Runway"/>
                <a:sym typeface="Montserrat"/>
              </a:rPr>
              <a:t>Linking the ADCS to the OBC</a:t>
            </a:r>
          </a:p>
          <a:p>
            <a:pPr algn="l">
              <a:lnSpc>
                <a:spcPts val="2357"/>
              </a:lnSpc>
              <a:defRPr>
                <a:latin typeface="Ubuntu"/>
                <a:ea typeface="Ubuntu"/>
                <a:cs typeface="Ubuntu"/>
              </a:defRPr>
            </a:pPr>
            <a:r>
              <a:rPr lang="en-US" sz="1512" spc="-9">
                <a:solidFill>
                  <a:srgbClr val="000000"/>
                </a:solidFill>
                <a:latin typeface="Ubuntu"/>
                <a:ea typeface="Ubuntu"/>
                <a:cs typeface="Ubuntu"/>
                <a:sym typeface="Montserrat"/>
              </a:rPr>
              <a:t>Although the ADCS Arduino controls its own sensors and motors, the only way to send commands to it or retrieve readings is by connecting it to the OBC Arduino. To achieve this, a dedicated serial communication link between the ADCS and OBC must be established.</a:t>
            </a:r>
          </a:p>
        </p:txBody>
      </p:sp>
      <p:sp>
        <p:nvSpPr>
          <p:cNvPr id="19" name="TextBox 19"/>
          <p:cNvSpPr txBox="1"/>
          <p:nvPr/>
        </p:nvSpPr>
        <p:spPr>
          <a:xfrm>
            <a:off x="2167185" y="4926902"/>
            <a:ext cx="830466"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10">
                <a:solidFill>
                  <a:srgbClr val="000000"/>
                </a:solidFill>
                <a:latin typeface="Space Mono"/>
                <a:ea typeface="Space Mono"/>
                <a:cs typeface="Space Mono"/>
                <a:sym typeface="Montserrat"/>
              </a:rPr>
              <a:t>monitor.</a:t>
            </a:r>
          </a:p>
        </p:txBody>
      </p:sp>
      <p:sp>
        <p:nvSpPr>
          <p:cNvPr id="20" name="TextBox 20"/>
          <p:cNvSpPr txBox="1"/>
          <p:nvPr/>
        </p:nvSpPr>
        <p:spPr>
          <a:xfrm>
            <a:off x="2167185" y="3414474"/>
            <a:ext cx="7659672" cy="1483262"/>
          </a:xfrm>
          <a:prstGeom prst="rect">
            <a:avLst/>
          </a:prstGeom>
        </p:spPr>
        <p:txBody>
          <a:bodyPr lIns="0" tIns="0" rIns="0" bIns="0" rtlCol="0" anchor="t">
            <a:spAutoFit/>
          </a:bodyPr>
          <a:lstStyle/>
          <a:p>
            <a:pPr algn="l">
              <a:lnSpc>
                <a:spcPts val="2351"/>
              </a:lnSpc>
              <a:defRPr>
                <a:latin typeface="Ubuntu"/>
                <a:ea typeface="Ubuntu"/>
                <a:cs typeface="Ubuntu"/>
              </a:defRPr>
            </a:pPr>
            <a:r>
              <a:rPr lang="en-US" sz="1512" spc="-7">
                <a:solidFill>
                  <a:srgbClr val="000000"/>
                </a:solidFill>
                <a:latin typeface="Ubuntu"/>
                <a:ea typeface="Ubuntu"/>
                <a:cs typeface="Ubuntu"/>
                <a:sym typeface="Montserrat"/>
              </a:rPr>
              <a:t>Refer to the ADCS and OBC schematics to identify which pins are used for this serial connection.</a:t>
            </a:r>
          </a:p>
          <a:p>
            <a:pPr algn="l">
              <a:lnSpc>
                <a:spcPts val="2351"/>
              </a:lnSpc>
              <a:defRPr>
                <a:latin typeface="Ubuntu"/>
                <a:ea typeface="Ubuntu"/>
                <a:cs typeface="Ubuntu"/>
              </a:defRPr>
            </a:pPr>
            <a:r>
              <a:rPr lang="en-US" sz="1512" spc="-7">
                <a:solidFill>
                  <a:srgbClr val="000000"/>
                </a:solidFill>
                <a:latin typeface="Ubuntu"/>
                <a:ea typeface="Ubuntu"/>
                <a:cs typeface="Ubuntu"/>
                <a:sym typeface="Montserrat"/>
              </a:rPr>
              <a:t>By looking at the online documentation on Software Serial, write two separate codes (one to be uploaded on the ADCS, and one to be uploaded on the OBC</a:t>
            </a:r>
          </a:p>
        </p:txBody>
      </p:sp>
      <p:sp>
        <p:nvSpPr>
          <p:cNvPr id="21" name="TextBox 21"/>
          <p:cNvSpPr txBox="1"/>
          <p:nvPr/>
        </p:nvSpPr>
        <p:spPr>
          <a:xfrm>
            <a:off x="3121209" y="4815526"/>
            <a:ext cx="5899042" cy="318468"/>
          </a:xfrm>
          <a:prstGeom prst="rect">
            <a:avLst/>
          </a:prstGeom>
        </p:spPr>
        <p:txBody>
          <a:bodyPr lIns="0" tIns="0" rIns="0" bIns="0" rtlCol="0" anchor="t">
            <a:spAutoFit/>
          </a:bodyPr>
          <a:lstStyle/>
          <a:p>
            <a:pPr algn="l">
              <a:lnSpc>
                <a:spcPts val="2620"/>
              </a:lnSpc>
              <a:defRPr>
                <a:latin typeface="Space Mono"/>
                <a:ea typeface="Space Mono"/>
                <a:cs typeface="Space Mono"/>
              </a:defRPr>
            </a:pPr>
            <a:r>
              <a:rPr lang="en-US" sz="1872" spc="-50">
                <a:solidFill>
                  <a:srgbClr val="FF0000"/>
                </a:solidFill>
                <a:latin typeface="Space Mono"/>
                <a:ea typeface="Space Mono"/>
                <a:cs typeface="Space Mono"/>
                <a:sym typeface="Montserrat"/>
              </a:rPr>
              <a:t>DO NOT UPLOAD THE OBC CODE INTO THE ADCS</a:t>
            </a:r>
          </a:p>
        </p:txBody>
      </p:sp>
      <p:pic>
        <p:nvPicPr>
          <p:cNvPr id="22" name="MainLogo" descr="MainLogo.png"/>
          <p:cNvPicPr>
            <a:picLocks noChangeAspect="1"/>
          </p:cNvPicPr>
          <p:nvPr/>
        </p:nvPicPr>
        <p:blipFill>
          <a:blip r:embed="rId5"/>
          <a:stretch>
            <a:fillRect/>
          </a:stretch>
        </p:blipFill>
        <p:spPr>
          <a:xfrm>
            <a:off x="8864600" y="301752"/>
            <a:ext cx="1508760" cy="5033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56006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415747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5353812"/>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5" name="Freeform 15"/>
          <p:cNvSpPr/>
          <p:nvPr/>
        </p:nvSpPr>
        <p:spPr>
          <a:xfrm>
            <a:off x="2562349" y="4642609"/>
            <a:ext cx="6482077" cy="309877"/>
          </a:xfrm>
          <a:custGeom>
            <a:avLst/>
            <a:gdLst/>
            <a:ahLst/>
            <a:cxnLst/>
            <a:rect l="l" t="t" r="r" b="b"/>
            <a:pathLst>
              <a:path w="6482077" h="309877">
                <a:moveTo>
                  <a:pt x="0" y="0"/>
                </a:moveTo>
                <a:lnTo>
                  <a:pt x="6482077" y="0"/>
                </a:lnTo>
                <a:lnTo>
                  <a:pt x="6482077" y="309877"/>
                </a:lnTo>
                <a:lnTo>
                  <a:pt x="0" y="3098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6" name="TextBox 16"/>
          <p:cNvSpPr txBox="1"/>
          <p:nvPr/>
        </p:nvSpPr>
        <p:spPr>
          <a:xfrm>
            <a:off x="1632204" y="1286494"/>
            <a:ext cx="5120640" cy="2116293"/>
          </a:xfrm>
          <a:prstGeom prst="rect">
            <a:avLst/>
          </a:prstGeom>
        </p:spPr>
        <p:txBody>
          <a:bodyPr wrap="square" lIns="0" tIns="0" rIns="0" bIns="0" rtlCol="0" anchor="t">
            <a:spAutoFit/>
          </a:bodyPr>
          <a:lstStyle/>
          <a:p>
            <a:pPr algn="l">
              <a:lnSpc>
                <a:spcPts val="4751"/>
              </a:lnSpc>
              <a:defRPr>
                <a:latin typeface="House Movements Runway"/>
                <a:ea typeface="House Movements Runway"/>
                <a:cs typeface="House Movements Runway"/>
              </a:defRPr>
            </a:pPr>
            <a:r>
              <a:rPr lang="en-US" sz="2400">
                <a:solidFill>
                  <a:srgbClr val="2C2C2C"/>
                </a:solidFill>
                <a:latin typeface="House Movements Runway"/>
                <a:ea typeface="House Movements Runway"/>
                <a:cs typeface="House Movements Runway"/>
                <a:sym typeface="Montserrat"/>
              </a:rPr>
              <a:t>Reading the ADCS temperature</a:t>
            </a:r>
          </a:p>
          <a:p>
            <a:pPr algn="l">
              <a:lnSpc>
                <a:spcPts val="2357"/>
              </a:lnSpc>
              <a:defRPr>
                <a:latin typeface="Ubuntu"/>
                <a:ea typeface="Ubuntu"/>
                <a:cs typeface="Ubuntu"/>
              </a:defRPr>
            </a:pPr>
            <a:r>
              <a:rPr lang="en-US" sz="1512" spc="-9">
                <a:solidFill>
                  <a:srgbClr val="000000"/>
                </a:solidFill>
                <a:latin typeface="Ubuntu"/>
                <a:ea typeface="Ubuntu"/>
                <a:cs typeface="Ubuntu"/>
                <a:sym typeface="Montserrat"/>
              </a:rPr>
              <a:t>Although the ADCS Arduino controls its own sensors and motors, the only way to send commands to it or retrieve readings is by connecting it to the OBC Arduino. To achieve this, a dedicated serial communication link between the ADCS and OBC must be established.</a:t>
            </a:r>
          </a:p>
        </p:txBody>
      </p:sp>
      <p:sp>
        <p:nvSpPr>
          <p:cNvPr id="17" name="TextBox 17"/>
          <p:cNvSpPr txBox="1"/>
          <p:nvPr/>
        </p:nvSpPr>
        <p:spPr>
          <a:xfrm>
            <a:off x="2167157" y="3414474"/>
            <a:ext cx="7758808" cy="2381307"/>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Refer to the ADCS and OBC schematics to identify which pins are used for this serial connection.</a:t>
            </a:r>
          </a:p>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By looking at the online documentation on Software Serial, write two separate codes (one to be uploaded on the ADCS, and one to be uploaded on the OBC</a:t>
            </a:r>
          </a:p>
          <a:p>
            <a:pPr algn="l">
              <a:lnSpc>
                <a:spcPts val="2355"/>
              </a:lnSpc>
              <a:defRPr>
                <a:latin typeface="Space Mono"/>
                <a:ea typeface="Space Mono"/>
                <a:cs typeface="Space Mono"/>
              </a:defRPr>
            </a:pPr>
            <a:r>
              <a:rPr lang="en-US" sz="1512" spc="-7">
                <a:solidFill>
                  <a:srgbClr val="000000"/>
                </a:solidFill>
                <a:latin typeface="Space Mono"/>
                <a:ea typeface="Space Mono"/>
                <a:cs typeface="Space Mono"/>
                <a:sym typeface="Montserrat"/>
              </a:rPr>
              <a:t>monitor.</a:t>
            </a:r>
          </a:p>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Make this function callable from the OBC by typing 'TEMPADCS' into the serial </a:t>
            </a:r>
          </a:p>
          <a:p>
            <a:pPr algn="l">
              <a:lnSpc>
                <a:spcPts val="2374"/>
              </a:lnSpc>
              <a:defRPr>
                <a:latin typeface="Space Mono"/>
                <a:ea typeface="Space Mono"/>
                <a:cs typeface="Space Mono"/>
              </a:defRPr>
            </a:pPr>
            <a:r>
              <a:rPr lang="en-US" sz="1524" spc="-12">
                <a:solidFill>
                  <a:srgbClr val="000000"/>
                </a:solidFill>
                <a:latin typeface="Space Mono"/>
                <a:ea typeface="Space Mono"/>
                <a:cs typeface="Space Mono"/>
                <a:sym typeface="Montserrat"/>
              </a:rPr>
              <a:t>monitor.</a:t>
            </a:r>
          </a:p>
        </p:txBody>
      </p:sp>
      <p:sp>
        <p:nvSpPr>
          <p:cNvPr id="18" name="TextBox 18"/>
          <p:cNvSpPr txBox="1"/>
          <p:nvPr/>
        </p:nvSpPr>
        <p:spPr>
          <a:xfrm>
            <a:off x="3238452" y="5539435"/>
            <a:ext cx="5911167" cy="318468"/>
          </a:xfrm>
          <a:prstGeom prst="rect">
            <a:avLst/>
          </a:prstGeom>
        </p:spPr>
        <p:txBody>
          <a:bodyPr lIns="0" tIns="0" rIns="0" bIns="0" rtlCol="0" anchor="t">
            <a:spAutoFit/>
          </a:bodyPr>
          <a:lstStyle/>
          <a:p>
            <a:pPr algn="l">
              <a:lnSpc>
                <a:spcPts val="2620"/>
              </a:lnSpc>
              <a:defRPr>
                <a:latin typeface="Space Mono"/>
                <a:ea typeface="Space Mono"/>
                <a:cs typeface="Space Mono"/>
              </a:defRPr>
            </a:pPr>
            <a:r>
              <a:rPr lang="en-US" sz="1872" spc="-50">
                <a:solidFill>
                  <a:srgbClr val="FF0000"/>
                </a:solidFill>
                <a:latin typeface="Space Mono"/>
                <a:ea typeface="Space Mono"/>
                <a:cs typeface="Space Mono"/>
                <a:sym typeface="Montserrat"/>
              </a:rPr>
              <a:t>DO NOT UPLOAD THE OBC CODE INTO THE ADCS</a:t>
            </a:r>
          </a:p>
        </p:txBody>
      </p:sp>
      <p:pic>
        <p:nvPicPr>
          <p:cNvPr id="19" name="MainLogo" descr="MainLogo.png"/>
          <p:cNvPicPr>
            <a:picLocks noChangeAspect="1"/>
          </p:cNvPicPr>
          <p:nvPr/>
        </p:nvPicPr>
        <p:blipFill>
          <a:blip r:embed="rId3"/>
          <a:stretch>
            <a:fillRect/>
          </a:stretch>
        </p:blipFill>
        <p:spPr>
          <a:xfrm>
            <a:off x="8864600" y="301752"/>
            <a:ext cx="1508760" cy="5033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3261360"/>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1" name="Group 11"/>
          <p:cNvGrpSpPr/>
          <p:nvPr/>
        </p:nvGrpSpPr>
        <p:grpSpPr>
          <a:xfrm>
            <a:off x="1821180" y="3857244"/>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7432"/>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7432"/>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grpSp>
        <p:nvGrpSpPr>
          <p:cNvPr id="13" name="Group 13"/>
          <p:cNvGrpSpPr/>
          <p:nvPr/>
        </p:nvGrpSpPr>
        <p:grpSpPr>
          <a:xfrm>
            <a:off x="1821180" y="4157472"/>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5" name="Group 15"/>
          <p:cNvGrpSpPr/>
          <p:nvPr/>
        </p:nvGrpSpPr>
        <p:grpSpPr>
          <a:xfrm>
            <a:off x="1821180" y="4754880"/>
            <a:ext cx="83820" cy="83820"/>
            <a:chOff x="0" y="0"/>
            <a:chExt cx="83820" cy="83820"/>
          </a:xfrm>
        </p:grpSpPr>
        <p:sp>
          <p:nvSpPr>
            <p:cNvPr id="16" name="Freeform 16"/>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7" name="Freeform 17"/>
          <p:cNvSpPr/>
          <p:nvPr/>
        </p:nvSpPr>
        <p:spPr>
          <a:xfrm>
            <a:off x="1576321" y="2245357"/>
            <a:ext cx="6052309" cy="317497"/>
          </a:xfrm>
          <a:custGeom>
            <a:avLst/>
            <a:gdLst/>
            <a:ahLst/>
            <a:cxnLst/>
            <a:rect l="l" t="t" r="r" b="b"/>
            <a:pathLst>
              <a:path w="6052309" h="317497">
                <a:moveTo>
                  <a:pt x="0" y="0"/>
                </a:moveTo>
                <a:lnTo>
                  <a:pt x="6052309" y="0"/>
                </a:lnTo>
                <a:lnTo>
                  <a:pt x="6052309" y="317497"/>
                </a:lnTo>
                <a:lnTo>
                  <a:pt x="0" y="31749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8" name="Freeform 18"/>
          <p:cNvSpPr/>
          <p:nvPr/>
        </p:nvSpPr>
        <p:spPr>
          <a:xfrm>
            <a:off x="1583941" y="6131557"/>
            <a:ext cx="8256013" cy="315973"/>
          </a:xfrm>
          <a:custGeom>
            <a:avLst/>
            <a:gdLst/>
            <a:ahLst/>
            <a:cxnLst/>
            <a:rect l="l" t="t" r="r" b="b"/>
            <a:pathLst>
              <a:path w="8256013" h="315973">
                <a:moveTo>
                  <a:pt x="0" y="0"/>
                </a:moveTo>
                <a:lnTo>
                  <a:pt x="8256013" y="0"/>
                </a:lnTo>
                <a:lnTo>
                  <a:pt x="8256013" y="315973"/>
                </a:lnTo>
                <a:lnTo>
                  <a:pt x="0" y="315973"/>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19" name="TextBox 19"/>
          <p:cNvSpPr txBox="1"/>
          <p:nvPr/>
        </p:nvSpPr>
        <p:spPr>
          <a:xfrm>
            <a:off x="1632385" y="1334119"/>
            <a:ext cx="51206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300">
                <a:solidFill>
                  <a:srgbClr val="2C2C2C"/>
                </a:solidFill>
                <a:latin typeface="House Movements Runway"/>
                <a:ea typeface="House Movements Runway"/>
                <a:cs typeface="House Movements Runway"/>
                <a:sym typeface="Montserrat"/>
              </a:rPr>
              <a:t>Driving the wheel from the OBC</a:t>
            </a:r>
          </a:p>
        </p:txBody>
      </p:sp>
      <p:sp>
        <p:nvSpPr>
          <p:cNvPr id="20" name="TextBox 20"/>
          <p:cNvSpPr txBox="1"/>
          <p:nvPr/>
        </p:nvSpPr>
        <p:spPr>
          <a:xfrm>
            <a:off x="1632204" y="2537346"/>
            <a:ext cx="3026371" cy="266395"/>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7">
                <a:solidFill>
                  <a:srgbClr val="000000"/>
                </a:solidFill>
                <a:latin typeface="Ubuntu"/>
                <a:ea typeface="Ubuntu"/>
                <a:cs typeface="Ubuntu"/>
                <a:sym typeface="Montserrat"/>
              </a:rPr>
              <a:t>movements, as specified below:</a:t>
            </a:r>
          </a:p>
        </p:txBody>
      </p:sp>
      <p:sp>
        <p:nvSpPr>
          <p:cNvPr id="21" name="TextBox 21"/>
          <p:cNvSpPr txBox="1"/>
          <p:nvPr/>
        </p:nvSpPr>
        <p:spPr>
          <a:xfrm>
            <a:off x="2167185" y="3115685"/>
            <a:ext cx="7767399" cy="1782051"/>
          </a:xfrm>
          <a:prstGeom prst="rect">
            <a:avLst/>
          </a:prstGeom>
        </p:spPr>
        <p:txBody>
          <a:bodyPr lIns="0" tIns="0" rIns="0" bIns="0" rtlCol="0" anchor="t">
            <a:spAutoFit/>
          </a:bodyPr>
          <a:lstStyle/>
          <a:p>
            <a:pPr algn="l">
              <a:lnSpc>
                <a:spcPts val="2352"/>
              </a:lnSpc>
              <a:defRPr>
                <a:latin typeface="Ubuntu"/>
                <a:ea typeface="Ubuntu"/>
                <a:cs typeface="Ubuntu"/>
              </a:defRPr>
            </a:pPr>
            <a:r>
              <a:rPr lang="en-US" sz="1512" spc="-9">
                <a:solidFill>
                  <a:srgbClr val="000000"/>
                </a:solidFill>
                <a:latin typeface="Ubuntu"/>
                <a:ea typeface="Ubuntu"/>
                <a:cs typeface="Ubuntu"/>
                <a:sym typeface="Montserrat"/>
              </a:rPr>
              <a:t>If the left sensor has more light, the motor starts rotating counterclockwise for 1 second. </a:t>
            </a:r>
          </a:p>
          <a:p>
            <a:pPr algn="l">
              <a:lnSpc>
                <a:spcPts val="2352"/>
              </a:lnSpc>
              <a:defRPr>
                <a:latin typeface="Ubuntu"/>
                <a:ea typeface="Ubuntu"/>
                <a:cs typeface="Ubuntu"/>
              </a:defRPr>
            </a:pPr>
            <a:r>
              <a:rPr lang="en-US" sz="1512" spc="-9">
                <a:solidFill>
                  <a:srgbClr val="000000"/>
                </a:solidFill>
                <a:latin typeface="Ubuntu"/>
                <a:ea typeface="Ubuntu"/>
                <a:cs typeface="Ubuntu"/>
                <a:sym typeface="Montserrat"/>
              </a:rPr>
              <a:t>If the back sensor has more light, the motor is stopped.</a:t>
            </a:r>
          </a:p>
          <a:p>
            <a:pPr algn="l">
              <a:lnSpc>
                <a:spcPts val="2352"/>
              </a:lnSpc>
              <a:defRPr>
                <a:latin typeface="Ubuntu"/>
                <a:ea typeface="Ubuntu"/>
                <a:cs typeface="Ubuntu"/>
              </a:defRPr>
            </a:pPr>
            <a:r>
              <a:rPr lang="en-US" sz="1512" spc="-9">
                <a:solidFill>
                  <a:srgbClr val="000000"/>
                </a:solidFill>
                <a:latin typeface="Ubuntu"/>
                <a:ea typeface="Ubuntu"/>
                <a:cs typeface="Ubuntu"/>
                <a:sym typeface="Montserrat"/>
              </a:rPr>
              <a:t>If the right sensor has more light, the motor starts rotating clockwise for 1 second.</a:t>
            </a:r>
          </a:p>
          <a:p>
            <a:pPr algn="l">
              <a:lnSpc>
                <a:spcPts val="2352"/>
              </a:lnSpc>
              <a:defRPr>
                <a:latin typeface="Ubuntu"/>
                <a:ea typeface="Ubuntu"/>
                <a:cs typeface="Ubuntu"/>
              </a:defRPr>
            </a:pPr>
            <a:r>
              <a:rPr lang="en-US" sz="1512" spc="-9">
                <a:solidFill>
                  <a:srgbClr val="000000"/>
                </a:solidFill>
                <a:latin typeface="Ubuntu"/>
                <a:ea typeface="Ubuntu"/>
                <a:cs typeface="Ubuntu"/>
                <a:sym typeface="Montserrat"/>
              </a:rPr>
              <a:t>Include a Serial.print of the motor status (rotating ccw, rotating cw or stopped).</a:t>
            </a:r>
          </a:p>
        </p:txBody>
      </p:sp>
      <p:sp>
        <p:nvSpPr>
          <p:cNvPr id="22" name="TextBox 22"/>
          <p:cNvSpPr txBox="1"/>
          <p:nvPr/>
        </p:nvSpPr>
        <p:spPr>
          <a:xfrm>
            <a:off x="7572851" y="2237213"/>
            <a:ext cx="2285152"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 we activate the motor </a:t>
            </a:r>
          </a:p>
        </p:txBody>
      </p:sp>
      <p:sp>
        <p:nvSpPr>
          <p:cNvPr id="23" name="TextBox 23"/>
          <p:cNvSpPr txBox="1"/>
          <p:nvPr/>
        </p:nvSpPr>
        <p:spPr>
          <a:xfrm>
            <a:off x="1632204" y="6421993"/>
            <a:ext cx="2282209"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the sun sensor values.</a:t>
            </a:r>
          </a:p>
        </p:txBody>
      </p:sp>
      <p:sp>
        <p:nvSpPr>
          <p:cNvPr id="24" name="TextBox 24"/>
          <p:cNvSpPr txBox="1"/>
          <p:nvPr/>
        </p:nvSpPr>
        <p:spPr>
          <a:xfrm>
            <a:off x="1632204" y="4926902"/>
            <a:ext cx="5493610"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REMEMBER TO USE analogWrite(), NOT digitalWrite()</a:t>
            </a:r>
          </a:p>
        </p:txBody>
      </p:sp>
      <p:sp>
        <p:nvSpPr>
          <p:cNvPr id="25" name="TextBox 25"/>
          <p:cNvSpPr txBox="1"/>
          <p:nvPr/>
        </p:nvSpPr>
        <p:spPr>
          <a:xfrm>
            <a:off x="1632194" y="5524490"/>
            <a:ext cx="4440345" cy="271282"/>
          </a:xfrm>
          <a:prstGeom prst="rect">
            <a:avLst/>
          </a:prstGeom>
        </p:spPr>
        <p:txBody>
          <a:bodyPr lIns="0" tIns="0" rIns="0" bIns="0" rtlCol="0" anchor="t">
            <a:spAutoFit/>
          </a:bodyPr>
          <a:lstStyle/>
          <a:p>
            <a:pPr algn="l">
              <a:lnSpc>
                <a:spcPts val="2133"/>
              </a:lnSpc>
              <a:defRPr>
                <a:latin typeface="Ubuntu"/>
                <a:ea typeface="Ubuntu"/>
                <a:cs typeface="Ubuntu"/>
              </a:defRPr>
            </a:pPr>
            <a:r>
              <a:rPr lang="en-US" sz="1524" spc="28">
                <a:solidFill>
                  <a:srgbClr val="000000"/>
                </a:solidFill>
                <a:latin typeface="Ubuntu"/>
                <a:ea typeface="Ubuntu"/>
                <a:cs typeface="Ubuntu"/>
                <a:sym typeface="Montserrat"/>
              </a:rPr>
              <a:t>The maximum speed written has to be 255.</a:t>
            </a:r>
          </a:p>
        </p:txBody>
      </p:sp>
      <p:pic>
        <p:nvPicPr>
          <p:cNvPr id="26" name="MainLogo" descr="MainLogo.png"/>
          <p:cNvPicPr>
            <a:picLocks noChangeAspect="1"/>
          </p:cNvPicPr>
          <p:nvPr/>
        </p:nvPicPr>
        <p:blipFill>
          <a:blip r:embed="rId4"/>
          <a:stretch>
            <a:fillRect/>
          </a:stretch>
        </p:blipFill>
        <p:spPr>
          <a:xfrm>
            <a:off x="8864600" y="301752"/>
            <a:ext cx="1508760" cy="5033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3" y="772665"/>
            <a:ext cx="10692380" cy="6015226"/>
            <a:chOff x="63500" y="63500"/>
            <a:chExt cx="10692383" cy="6015229"/>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grpSp>
      <p:grpSp>
        <p:nvGrpSpPr>
          <p:cNvPr id="9" name="Group 9"/>
          <p:cNvGrpSpPr/>
          <p:nvPr/>
        </p:nvGrpSpPr>
        <p:grpSpPr>
          <a:xfrm>
            <a:off x="1821180" y="2663952"/>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1" name="TextBox 11"/>
          <p:cNvSpPr txBox="1"/>
          <p:nvPr/>
        </p:nvSpPr>
        <p:spPr>
          <a:xfrm>
            <a:off x="1632204" y="1334119"/>
            <a:ext cx="5120640" cy="513131"/>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Detumbling</a:t>
            </a:r>
          </a:p>
        </p:txBody>
      </p:sp>
      <p:sp>
        <p:nvSpPr>
          <p:cNvPr id="12" name="TextBox 12"/>
          <p:cNvSpPr txBox="1"/>
          <p:nvPr/>
        </p:nvSpPr>
        <p:spPr>
          <a:xfrm>
            <a:off x="2211032" y="2606802"/>
            <a:ext cx="7361958" cy="885882"/>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The motor should move back and forth for 2 seconds in each direction for a total time of 10 seconds and then stops completely. The maximum speed should be 255.</a:t>
            </a:r>
          </a:p>
        </p:txBody>
      </p:sp>
      <p:sp>
        <p:nvSpPr>
          <p:cNvPr id="13" name="TextBox 13"/>
          <p:cNvSpPr txBox="1"/>
          <p:nvPr/>
        </p:nvSpPr>
        <p:spPr>
          <a:xfrm>
            <a:off x="2239114" y="1937644"/>
            <a:ext cx="7696886" cy="578763"/>
          </a:xfrm>
          <a:prstGeom prst="rect">
            <a:avLst/>
          </a:prstGeom>
        </p:spPr>
        <p:txBody>
          <a:bodyPr lIns="0" tIns="0" rIns="0" bIns="0" rtlCol="0" anchor="t">
            <a:spAutoFit/>
          </a:bodyPr>
          <a:lstStyle/>
          <a:p>
            <a:pPr algn="l">
              <a:lnSpc>
                <a:spcPts val="2357"/>
              </a:lnSpc>
              <a:defRPr>
                <a:latin typeface="Ubuntu"/>
                <a:ea typeface="Ubuntu"/>
                <a:cs typeface="Ubuntu"/>
              </a:defRPr>
            </a:pPr>
            <a:r>
              <a:rPr lang="en-US" sz="1512" spc="-9">
                <a:solidFill>
                  <a:srgbClr val="000000"/>
                </a:solidFill>
                <a:latin typeface="Ubuntu"/>
                <a:ea typeface="Ubuntu"/>
                <a:cs typeface="Ubuntu"/>
                <a:sym typeface="Montserrat"/>
              </a:rPr>
              <a:t>Include a function called detumbling() called by typing “DETUMB” that acts like this:</a:t>
            </a:r>
          </a:p>
        </p:txBody>
      </p:sp>
      <p:sp>
        <p:nvSpPr>
          <p:cNvPr id="14" name="TextBox 14"/>
          <p:cNvSpPr txBox="1"/>
          <p:nvPr/>
        </p:nvSpPr>
        <p:spPr>
          <a:xfrm>
            <a:off x="1632204" y="3730590"/>
            <a:ext cx="2712139"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7">
                <a:solidFill>
                  <a:srgbClr val="000000"/>
                </a:solidFill>
                <a:latin typeface="Ubuntu"/>
                <a:ea typeface="Ubuntu"/>
                <a:cs typeface="Ubuntu"/>
                <a:sym typeface="Montserrat"/>
              </a:rPr>
              <a:t>Include also a function that </a:t>
            </a:r>
          </a:p>
        </p:txBody>
      </p:sp>
      <p:sp>
        <p:nvSpPr>
          <p:cNvPr id="15" name="TextBox 15"/>
          <p:cNvSpPr txBox="1"/>
          <p:nvPr/>
        </p:nvSpPr>
        <p:spPr>
          <a:xfrm>
            <a:off x="2167185" y="4011863"/>
            <a:ext cx="6817452" cy="587092"/>
          </a:xfrm>
          <a:prstGeom prst="rect">
            <a:avLst/>
          </a:prstGeom>
        </p:spPr>
        <p:txBody>
          <a:bodyPr lIns="0" tIns="0" rIns="0" bIns="0" rtlCol="0" anchor="t">
            <a:spAutoFit/>
          </a:bodyPr>
          <a:lstStyle/>
          <a:p>
            <a:pPr algn="l">
              <a:lnSpc>
                <a:spcPts val="2351"/>
              </a:lnSpc>
              <a:defRPr>
                <a:latin typeface="Ubuntu"/>
                <a:ea typeface="Ubuntu"/>
                <a:cs typeface="Ubuntu"/>
              </a:defRPr>
            </a:pPr>
            <a:r>
              <a:rPr lang="en-US" sz="1512" spc="-7">
                <a:solidFill>
                  <a:srgbClr val="000000"/>
                </a:solidFill>
                <a:latin typeface="Ubuntu"/>
                <a:ea typeface="Ubuntu"/>
                <a:cs typeface="Ubuntu"/>
                <a:sym typeface="Montserrat"/>
              </a:rPr>
              <a:t>If the satellite is shaken, a message should appear on the OBC saying: ANOMALY IN ACCELERATION!</a:t>
            </a:r>
          </a:p>
        </p:txBody>
      </p:sp>
      <p:pic>
        <p:nvPicPr>
          <p:cNvPr id="16" name="MainLogo" descr="MainLogo.png"/>
          <p:cNvPicPr>
            <a:picLocks noChangeAspect="1"/>
          </p:cNvPicPr>
          <p:nvPr/>
        </p:nvPicPr>
        <p:blipFill>
          <a:blip r:embed="rId2"/>
          <a:stretch>
            <a:fillRect/>
          </a:stretch>
        </p:blipFill>
        <p:spPr>
          <a:xfrm>
            <a:off x="8864600" y="301752"/>
            <a:ext cx="1508760" cy="50332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1172</Words>
  <Application>Microsoft Office PowerPoint</Application>
  <PresentationFormat>Custom</PresentationFormat>
  <Paragraphs>91</Paragraphs>
  <Slides>16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Montserrat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Utilize all available online resources to help you figure out how to complete the exercises.</dc:title>
  <cp:lastModifiedBy>Rohini Parthasarathy</cp:lastModifiedBy>
  <cp:revision>4</cp:revision>
  <dcterms:created xsi:type="dcterms:W3CDTF">2006-08-16T00:00:00Z</dcterms:created>
  <dcterms:modified xsi:type="dcterms:W3CDTF">2026-10-15T08:29:13Z</dcterms:modified>
  <dc:identifier>DAHXyX_H0fo</dc:identifier>
</cp:coreProperties>
</file>