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6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83" r:id="rId21"/>
    <p:sldId id="275" r:id="rId22"/>
    <p:sldId id="276" r:id="rId23"/>
    <p:sldId id="277" r:id="rId24"/>
    <p:sldId id="278" r:id="rId25"/>
    <p:sldId id="279" r:id="rId26"/>
    <p:sldId id="280" r:id="rId27"/>
    <p:sldId id="281"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5" r:id="rId49"/>
    <p:sldId id="306" r:id="rId50"/>
    <p:sldId id="307" r:id="rId51"/>
    <p:sldId id="308" r:id="rId52"/>
    <p:sldId id="309" r:id="rId53"/>
    <p:sldId id="310" r:id="rId54"/>
    <p:sldId id="311" r:id="rId55"/>
    <p:sldId id="312" r:id="rId56"/>
    <p:sldId id="313" r:id="rId57"/>
    <p:sldId id="314" r:id="rId58"/>
    <p:sldId id="315" r:id="rId59"/>
  </p:sldIdLst>
  <p:sldSz cx="10693400" cy="7556500"/>
  <p:notesSz cx="6858000" cy="9144000"/>
  <p:embeddedFontLst>
    <p:embeddedFont>
      <p:font typeface="Montserrat" panose="00000500000000000000" pitchFamily="2" charset="0"/>
      <p:regular r:id="rId6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4" d="100"/>
          <a:sy n="54" d="100"/>
        </p:scale>
        <p:origin x="1380" y="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font" Target="fonts/font1.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54454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Day 3, Thursday 15 October. 11:00-12:00 and 13:00-13:45, 1 h 45 in total.</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Participants install the IDE before they arrive; this is the walk-through. Reference code: 1_HOW_TO_CREATE_A_FUNCTION_IN_ARDUINO_CODE, 2_HOW_TO_READ_ANALOG_SENSORS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the boxes, inspect the EPS with the multimeter, assemble the ground station board. No code.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2.jpeg"/><Relationship Id="rId7"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0.jpeg"/><Relationship Id="rId11" Type="http://schemas.openxmlformats.org/officeDocument/2006/relationships/image" Target="../media/image15.png"/><Relationship Id="rId5" Type="http://schemas.openxmlformats.org/officeDocument/2006/relationships/image" Target="../media/image9.svg"/><Relationship Id="rId10" Type="http://schemas.openxmlformats.org/officeDocument/2006/relationships/image" Target="../media/image14.jpeg"/><Relationship Id="rId4" Type="http://schemas.openxmlformats.org/officeDocument/2006/relationships/image" Target="../media/image8.svg"/><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2.jpeg"/><Relationship Id="rId7" Type="http://schemas.openxmlformats.org/officeDocument/2006/relationships/image" Target="../media/image19.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s/_rels/slide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jpeg"/><Relationship Id="rId7" Type="http://schemas.openxmlformats.org/officeDocument/2006/relationships/image" Target="../media/image24.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3.svg"/><Relationship Id="rId5" Type="http://schemas.openxmlformats.org/officeDocument/2006/relationships/image" Target="../media/image22.svg"/><Relationship Id="rId4" Type="http://schemas.openxmlformats.org/officeDocument/2006/relationships/image" Target="../media/image21.sv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7.jpeg"/><Relationship Id="rId4" Type="http://schemas.openxmlformats.org/officeDocument/2006/relationships/image" Target="../media/image26.svg"/></Relationships>
</file>

<file path=ppt/slides/_rels/slide8.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jpeg"/><Relationship Id="rId7" Type="http://schemas.openxmlformats.org/officeDocument/2006/relationships/image" Target="../media/image31.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0.svg"/><Relationship Id="rId5" Type="http://schemas.openxmlformats.org/officeDocument/2006/relationships/image" Target="../media/image29.svg"/><Relationship Id="rId4" Type="http://schemas.openxmlformats.org/officeDocument/2006/relationships/image" Target="../media/image28.svg"/></Relationships>
</file>

<file path=ppt/slides/_rels/slide9.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2.jpeg"/><Relationship Id="rId7" Type="http://schemas.openxmlformats.org/officeDocument/2006/relationships/image" Target="../media/image35.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1.jpeg"/><Relationship Id="rId5" Type="http://schemas.openxmlformats.org/officeDocument/2006/relationships/image" Target="../media/image34.svg"/><Relationship Id="rId4" Type="http://schemas.openxmlformats.org/officeDocument/2006/relationships/image" Target="../media/image33.sv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38.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1.jpeg"/><Relationship Id="rId4" Type="http://schemas.openxmlformats.org/officeDocument/2006/relationships/image" Target="../media/image37.svg"/></Relationships>
</file>

<file path=ppt/slides/_rels/slide11.xml.rels><?xml version="1.0" encoding="UTF-8" standalone="yes"?>
<Relationships xmlns="http://schemas.openxmlformats.org/package/2006/relationships"><Relationship Id="rId8" Type="http://schemas.openxmlformats.org/officeDocument/2006/relationships/image" Target="../media/image43.jpeg"/><Relationship Id="rId3" Type="http://schemas.openxmlformats.org/officeDocument/2006/relationships/image" Target="../media/image2.jpeg"/><Relationship Id="rId7" Type="http://schemas.openxmlformats.org/officeDocument/2006/relationships/image" Target="../media/image42.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1.svg"/><Relationship Id="rId5" Type="http://schemas.openxmlformats.org/officeDocument/2006/relationships/image" Target="../media/image40.svg"/><Relationship Id="rId4" Type="http://schemas.openxmlformats.org/officeDocument/2006/relationships/image" Target="../media/image39.sv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5.png"/><Relationship Id="rId4" Type="http://schemas.openxmlformats.org/officeDocument/2006/relationships/image" Target="../media/image44.jpe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7.svg"/><Relationship Id="rId4" Type="http://schemas.openxmlformats.org/officeDocument/2006/relationships/image" Target="../media/image46.svg"/></Relationships>
</file>

<file path=ppt/slides/_rels/slide14.xml.rels><?xml version="1.0" encoding="UTF-8" standalone="yes"?>
<Relationships xmlns="http://schemas.openxmlformats.org/package/2006/relationships"><Relationship Id="rId8" Type="http://schemas.openxmlformats.org/officeDocument/2006/relationships/image" Target="../media/image52.svg"/><Relationship Id="rId3" Type="http://schemas.openxmlformats.org/officeDocument/2006/relationships/image" Target="../media/image2.jpeg"/><Relationship Id="rId7" Type="http://schemas.openxmlformats.org/officeDocument/2006/relationships/image" Target="../media/image51.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0.svg"/><Relationship Id="rId5" Type="http://schemas.openxmlformats.org/officeDocument/2006/relationships/image" Target="../media/image49.png"/><Relationship Id="rId4" Type="http://schemas.openxmlformats.org/officeDocument/2006/relationships/image" Target="../media/image48.jpe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jpeg"/></Relationships>
</file>

<file path=ppt/slides/_rels/slide16.xml.rels><?xml version="1.0" encoding="UTF-8" standalone="yes"?>
<Relationships xmlns="http://schemas.openxmlformats.org/package/2006/relationships"><Relationship Id="rId8" Type="http://schemas.openxmlformats.org/officeDocument/2006/relationships/image" Target="../media/image57.jpeg"/><Relationship Id="rId13" Type="http://schemas.openxmlformats.org/officeDocument/2006/relationships/image" Target="../media/image62.jpeg"/><Relationship Id="rId3" Type="http://schemas.openxmlformats.org/officeDocument/2006/relationships/image" Target="../media/image2.jpeg"/><Relationship Id="rId7" Type="http://schemas.openxmlformats.org/officeDocument/2006/relationships/image" Target="../media/image56.jpeg"/><Relationship Id="rId12" Type="http://schemas.openxmlformats.org/officeDocument/2006/relationships/image" Target="../media/image61.jpeg"/><Relationship Id="rId17" Type="http://schemas.openxmlformats.org/officeDocument/2006/relationships/image" Target="../media/image66.jpeg"/><Relationship Id="rId2" Type="http://schemas.openxmlformats.org/officeDocument/2006/relationships/image" Target="../media/image1.jpeg"/><Relationship Id="rId16" Type="http://schemas.openxmlformats.org/officeDocument/2006/relationships/image" Target="../media/image65.jpeg"/><Relationship Id="rId1" Type="http://schemas.openxmlformats.org/officeDocument/2006/relationships/slideLayout" Target="../slideLayouts/slideLayout7.xml"/><Relationship Id="rId6" Type="http://schemas.openxmlformats.org/officeDocument/2006/relationships/image" Target="../media/image55.jpeg"/><Relationship Id="rId11" Type="http://schemas.openxmlformats.org/officeDocument/2006/relationships/image" Target="../media/image60.jpeg"/><Relationship Id="rId5" Type="http://schemas.openxmlformats.org/officeDocument/2006/relationships/image" Target="../media/image54.svg"/><Relationship Id="rId15" Type="http://schemas.openxmlformats.org/officeDocument/2006/relationships/image" Target="../media/image64.jpeg"/><Relationship Id="rId10" Type="http://schemas.openxmlformats.org/officeDocument/2006/relationships/image" Target="../media/image59.jpeg"/><Relationship Id="rId4" Type="http://schemas.openxmlformats.org/officeDocument/2006/relationships/image" Target="../media/image53.svg"/><Relationship Id="rId9" Type="http://schemas.openxmlformats.org/officeDocument/2006/relationships/image" Target="../media/image58.jpeg"/><Relationship Id="rId14" Type="http://schemas.openxmlformats.org/officeDocument/2006/relationships/image" Target="../media/image63.jpeg"/></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68.png"/><Relationship Id="rId4" Type="http://schemas.openxmlformats.org/officeDocument/2006/relationships/image" Target="../media/image67.jpe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68.png"/><Relationship Id="rId4" Type="http://schemas.openxmlformats.org/officeDocument/2006/relationships/image" Target="../media/image67.jpeg"/></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70.png"/><Relationship Id="rId4" Type="http://schemas.openxmlformats.org/officeDocument/2006/relationships/image" Target="../media/image69.jpeg"/></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71.svg"/></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4.jpeg"/><Relationship Id="rId5" Type="http://schemas.openxmlformats.org/officeDocument/2006/relationships/image" Target="../media/image73.svg"/><Relationship Id="rId4" Type="http://schemas.openxmlformats.org/officeDocument/2006/relationships/image" Target="../media/image72.svg"/></Relationships>
</file>

<file path=ppt/slides/_rels/slide22.xml.rels><?xml version="1.0" encoding="UTF-8" standalone="yes"?>
<Relationships xmlns="http://schemas.openxmlformats.org/package/2006/relationships"><Relationship Id="rId8" Type="http://schemas.openxmlformats.org/officeDocument/2006/relationships/image" Target="../media/image79.jpeg"/><Relationship Id="rId3" Type="http://schemas.openxmlformats.org/officeDocument/2006/relationships/image" Target="../media/image2.jpeg"/><Relationship Id="rId7" Type="http://schemas.openxmlformats.org/officeDocument/2006/relationships/image" Target="../media/image78.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7.jpeg"/><Relationship Id="rId5" Type="http://schemas.openxmlformats.org/officeDocument/2006/relationships/image" Target="../media/image76.jpeg"/><Relationship Id="rId4" Type="http://schemas.openxmlformats.org/officeDocument/2006/relationships/image" Target="../media/image75.jpeg"/></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1.png"/><Relationship Id="rId4" Type="http://schemas.openxmlformats.org/officeDocument/2006/relationships/image" Target="../media/image80.jpeg"/></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3.png"/><Relationship Id="rId4" Type="http://schemas.openxmlformats.org/officeDocument/2006/relationships/image" Target="../media/image82.jpeg"/></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84.svg"/><Relationship Id="rId5" Type="http://schemas.openxmlformats.org/officeDocument/2006/relationships/image" Target="../media/image83.png"/><Relationship Id="rId4" Type="http://schemas.openxmlformats.org/officeDocument/2006/relationships/image" Target="../media/image82.jpeg"/></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87.svg"/><Relationship Id="rId5" Type="http://schemas.openxmlformats.org/officeDocument/2006/relationships/image" Target="../media/image86.png"/><Relationship Id="rId4" Type="http://schemas.openxmlformats.org/officeDocument/2006/relationships/image" Target="../media/image85.jpeg"/></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90.svg"/><Relationship Id="rId5" Type="http://schemas.openxmlformats.org/officeDocument/2006/relationships/image" Target="../media/image89.png"/><Relationship Id="rId4" Type="http://schemas.openxmlformats.org/officeDocument/2006/relationships/image" Target="../media/image88.jpeg"/></Relationships>
</file>

<file path=ppt/slides/_rels/slide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92.jpeg"/><Relationship Id="rId4" Type="http://schemas.openxmlformats.org/officeDocument/2006/relationships/image" Target="../media/image91.jpeg"/></Relationships>
</file>

<file path=ppt/slides/_rels/slide2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94.png"/><Relationship Id="rId4" Type="http://schemas.openxmlformats.org/officeDocument/2006/relationships/image" Target="../media/image93.jpeg"/></Relationships>
</file>

<file path=ppt/slides/_rels/slide30.xml.rels><?xml version="1.0" encoding="UTF-8" standalone="yes"?>
<Relationships xmlns="http://schemas.openxmlformats.org/package/2006/relationships"><Relationship Id="rId8" Type="http://schemas.openxmlformats.org/officeDocument/2006/relationships/image" Target="../media/image99.jpeg"/><Relationship Id="rId3" Type="http://schemas.openxmlformats.org/officeDocument/2006/relationships/image" Target="../media/image2.jpeg"/><Relationship Id="rId7" Type="http://schemas.openxmlformats.org/officeDocument/2006/relationships/image" Target="../media/image98.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97.png"/><Relationship Id="rId5" Type="http://schemas.openxmlformats.org/officeDocument/2006/relationships/image" Target="../media/image96.jpeg"/><Relationship Id="rId4" Type="http://schemas.openxmlformats.org/officeDocument/2006/relationships/image" Target="../media/image95.svg"/></Relationships>
</file>

<file path=ppt/slides/_rels/slide3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01.png"/><Relationship Id="rId4" Type="http://schemas.openxmlformats.org/officeDocument/2006/relationships/image" Target="../media/image100.jpeg"/></Relationships>
</file>

<file path=ppt/slides/_rels/slide3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03.png"/><Relationship Id="rId4" Type="http://schemas.openxmlformats.org/officeDocument/2006/relationships/image" Target="../media/image102.jpeg"/></Relationships>
</file>

<file path=ppt/slides/_rels/slide33.xml.rels><?xml version="1.0" encoding="UTF-8" standalone="yes"?>
<Relationships xmlns="http://schemas.openxmlformats.org/package/2006/relationships"><Relationship Id="rId8" Type="http://schemas.openxmlformats.org/officeDocument/2006/relationships/image" Target="../media/image108.jpeg"/><Relationship Id="rId13" Type="http://schemas.openxmlformats.org/officeDocument/2006/relationships/image" Target="../media/image113.jpeg"/><Relationship Id="rId18" Type="http://schemas.openxmlformats.org/officeDocument/2006/relationships/image" Target="../media/image118.jpeg"/><Relationship Id="rId26" Type="http://schemas.openxmlformats.org/officeDocument/2006/relationships/image" Target="../media/image126.jpeg"/><Relationship Id="rId3" Type="http://schemas.openxmlformats.org/officeDocument/2006/relationships/image" Target="../media/image2.jpeg"/><Relationship Id="rId21" Type="http://schemas.openxmlformats.org/officeDocument/2006/relationships/image" Target="../media/image121.jpeg"/><Relationship Id="rId7" Type="http://schemas.openxmlformats.org/officeDocument/2006/relationships/image" Target="../media/image107.jpeg"/><Relationship Id="rId12" Type="http://schemas.openxmlformats.org/officeDocument/2006/relationships/image" Target="../media/image112.jpeg"/><Relationship Id="rId17" Type="http://schemas.openxmlformats.org/officeDocument/2006/relationships/image" Target="../media/image117.jpeg"/><Relationship Id="rId25" Type="http://schemas.openxmlformats.org/officeDocument/2006/relationships/image" Target="../media/image125.jpeg"/><Relationship Id="rId2" Type="http://schemas.openxmlformats.org/officeDocument/2006/relationships/image" Target="../media/image1.jpeg"/><Relationship Id="rId16" Type="http://schemas.openxmlformats.org/officeDocument/2006/relationships/image" Target="../media/image116.jpeg"/><Relationship Id="rId20" Type="http://schemas.openxmlformats.org/officeDocument/2006/relationships/image" Target="../media/image120.jpeg"/><Relationship Id="rId29" Type="http://schemas.openxmlformats.org/officeDocument/2006/relationships/image" Target="../media/image129.jpeg"/><Relationship Id="rId1" Type="http://schemas.openxmlformats.org/officeDocument/2006/relationships/slideLayout" Target="../slideLayouts/slideLayout7.xml"/><Relationship Id="rId6" Type="http://schemas.openxmlformats.org/officeDocument/2006/relationships/image" Target="../media/image106.jpeg"/><Relationship Id="rId11" Type="http://schemas.openxmlformats.org/officeDocument/2006/relationships/image" Target="../media/image111.jpeg"/><Relationship Id="rId24" Type="http://schemas.openxmlformats.org/officeDocument/2006/relationships/image" Target="../media/image124.jpeg"/><Relationship Id="rId5" Type="http://schemas.openxmlformats.org/officeDocument/2006/relationships/image" Target="../media/image105.jpeg"/><Relationship Id="rId15" Type="http://schemas.openxmlformats.org/officeDocument/2006/relationships/image" Target="../media/image115.jpeg"/><Relationship Id="rId23" Type="http://schemas.openxmlformats.org/officeDocument/2006/relationships/image" Target="../media/image123.jpeg"/><Relationship Id="rId28" Type="http://schemas.openxmlformats.org/officeDocument/2006/relationships/image" Target="../media/image128.jpeg"/><Relationship Id="rId10" Type="http://schemas.openxmlformats.org/officeDocument/2006/relationships/image" Target="../media/image110.jpeg"/><Relationship Id="rId19" Type="http://schemas.openxmlformats.org/officeDocument/2006/relationships/image" Target="../media/image119.jpeg"/><Relationship Id="rId4" Type="http://schemas.openxmlformats.org/officeDocument/2006/relationships/image" Target="../media/image104.jpeg"/><Relationship Id="rId9" Type="http://schemas.openxmlformats.org/officeDocument/2006/relationships/image" Target="../media/image109.jpeg"/><Relationship Id="rId14" Type="http://schemas.openxmlformats.org/officeDocument/2006/relationships/image" Target="../media/image114.jpeg"/><Relationship Id="rId22" Type="http://schemas.openxmlformats.org/officeDocument/2006/relationships/image" Target="../media/image122.jpeg"/><Relationship Id="rId27" Type="http://schemas.openxmlformats.org/officeDocument/2006/relationships/image" Target="../media/image127.jpeg"/><Relationship Id="rId30" Type="http://schemas.openxmlformats.org/officeDocument/2006/relationships/image" Target="../media/image130.jpeg"/></Relationships>
</file>

<file path=ppt/slides/_rels/slide3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32.png"/><Relationship Id="rId4" Type="http://schemas.openxmlformats.org/officeDocument/2006/relationships/image" Target="../media/image131.jpeg"/></Relationships>
</file>

<file path=ppt/slides/_rels/slide35.xml.rels><?xml version="1.0" encoding="UTF-8" standalone="yes"?>
<Relationships xmlns="http://schemas.openxmlformats.org/package/2006/relationships"><Relationship Id="rId8" Type="http://schemas.openxmlformats.org/officeDocument/2006/relationships/image" Target="../media/image137.jpeg"/><Relationship Id="rId3" Type="http://schemas.openxmlformats.org/officeDocument/2006/relationships/image" Target="../media/image2.jpeg"/><Relationship Id="rId7" Type="http://schemas.openxmlformats.org/officeDocument/2006/relationships/image" Target="../media/image13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35.jpeg"/><Relationship Id="rId5" Type="http://schemas.openxmlformats.org/officeDocument/2006/relationships/image" Target="../media/image134.svg"/><Relationship Id="rId4" Type="http://schemas.openxmlformats.org/officeDocument/2006/relationships/image" Target="../media/image133.svg"/><Relationship Id="rId9" Type="http://schemas.openxmlformats.org/officeDocument/2006/relationships/image" Target="../media/image138.svg"/></Relationships>
</file>

<file path=ppt/slides/_rels/slide3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40.png"/><Relationship Id="rId4" Type="http://schemas.openxmlformats.org/officeDocument/2006/relationships/image" Target="../media/image139.jpeg"/></Relationships>
</file>

<file path=ppt/slides/_rels/slide37.xml.rels><?xml version="1.0" encoding="UTF-8" standalone="yes"?>
<Relationships xmlns="http://schemas.openxmlformats.org/package/2006/relationships"><Relationship Id="rId8" Type="http://schemas.openxmlformats.org/officeDocument/2006/relationships/image" Target="../media/image145.jpeg"/><Relationship Id="rId13" Type="http://schemas.openxmlformats.org/officeDocument/2006/relationships/image" Target="../media/image150.jpeg"/><Relationship Id="rId18" Type="http://schemas.openxmlformats.org/officeDocument/2006/relationships/image" Target="../media/image155.jpeg"/><Relationship Id="rId26" Type="http://schemas.openxmlformats.org/officeDocument/2006/relationships/image" Target="../media/image163.jpeg"/><Relationship Id="rId3" Type="http://schemas.openxmlformats.org/officeDocument/2006/relationships/image" Target="../media/image2.jpeg"/><Relationship Id="rId21" Type="http://schemas.openxmlformats.org/officeDocument/2006/relationships/image" Target="../media/image158.jpeg"/><Relationship Id="rId7" Type="http://schemas.openxmlformats.org/officeDocument/2006/relationships/image" Target="../media/image144.jpeg"/><Relationship Id="rId12" Type="http://schemas.openxmlformats.org/officeDocument/2006/relationships/image" Target="../media/image149.jpeg"/><Relationship Id="rId17" Type="http://schemas.openxmlformats.org/officeDocument/2006/relationships/image" Target="../media/image154.jpeg"/><Relationship Id="rId25" Type="http://schemas.openxmlformats.org/officeDocument/2006/relationships/image" Target="../media/image162.jpeg"/><Relationship Id="rId2" Type="http://schemas.openxmlformats.org/officeDocument/2006/relationships/image" Target="../media/image1.jpeg"/><Relationship Id="rId16" Type="http://schemas.openxmlformats.org/officeDocument/2006/relationships/image" Target="../media/image153.jpeg"/><Relationship Id="rId20" Type="http://schemas.openxmlformats.org/officeDocument/2006/relationships/image" Target="../media/image157.jpeg"/><Relationship Id="rId1" Type="http://schemas.openxmlformats.org/officeDocument/2006/relationships/slideLayout" Target="../slideLayouts/slideLayout7.xml"/><Relationship Id="rId6" Type="http://schemas.openxmlformats.org/officeDocument/2006/relationships/image" Target="../media/image143.jpeg"/><Relationship Id="rId11" Type="http://schemas.openxmlformats.org/officeDocument/2006/relationships/image" Target="../media/image148.jpeg"/><Relationship Id="rId24" Type="http://schemas.openxmlformats.org/officeDocument/2006/relationships/image" Target="../media/image161.jpeg"/><Relationship Id="rId5" Type="http://schemas.openxmlformats.org/officeDocument/2006/relationships/image" Target="../media/image142.jpeg"/><Relationship Id="rId15" Type="http://schemas.openxmlformats.org/officeDocument/2006/relationships/image" Target="../media/image152.jpeg"/><Relationship Id="rId23" Type="http://schemas.openxmlformats.org/officeDocument/2006/relationships/image" Target="../media/image160.jpeg"/><Relationship Id="rId10" Type="http://schemas.openxmlformats.org/officeDocument/2006/relationships/image" Target="../media/image147.jpeg"/><Relationship Id="rId19" Type="http://schemas.openxmlformats.org/officeDocument/2006/relationships/image" Target="../media/image156.jpeg"/><Relationship Id="rId4" Type="http://schemas.openxmlformats.org/officeDocument/2006/relationships/image" Target="../media/image141.jpeg"/><Relationship Id="rId9" Type="http://schemas.openxmlformats.org/officeDocument/2006/relationships/image" Target="../media/image146.jpeg"/><Relationship Id="rId14" Type="http://schemas.openxmlformats.org/officeDocument/2006/relationships/image" Target="../media/image151.jpeg"/><Relationship Id="rId22" Type="http://schemas.openxmlformats.org/officeDocument/2006/relationships/image" Target="../media/image159.jpeg"/><Relationship Id="rId27" Type="http://schemas.openxmlformats.org/officeDocument/2006/relationships/image" Target="../media/image164.svg"/></Relationships>
</file>

<file path=ppt/slides/_rels/slide38.xml.rels><?xml version="1.0" encoding="UTF-8" standalone="yes"?>
<Relationships xmlns="http://schemas.openxmlformats.org/package/2006/relationships"><Relationship Id="rId8" Type="http://schemas.openxmlformats.org/officeDocument/2006/relationships/image" Target="../media/image169.jpeg"/><Relationship Id="rId13" Type="http://schemas.openxmlformats.org/officeDocument/2006/relationships/image" Target="../media/image174.jpeg"/><Relationship Id="rId18" Type="http://schemas.openxmlformats.org/officeDocument/2006/relationships/image" Target="../media/image179.jpeg"/><Relationship Id="rId26" Type="http://schemas.openxmlformats.org/officeDocument/2006/relationships/image" Target="../media/image187.jpeg"/><Relationship Id="rId3" Type="http://schemas.openxmlformats.org/officeDocument/2006/relationships/image" Target="../media/image2.jpeg"/><Relationship Id="rId21" Type="http://schemas.openxmlformats.org/officeDocument/2006/relationships/image" Target="../media/image182.jpeg"/><Relationship Id="rId7" Type="http://schemas.openxmlformats.org/officeDocument/2006/relationships/image" Target="../media/image168.jpeg"/><Relationship Id="rId12" Type="http://schemas.openxmlformats.org/officeDocument/2006/relationships/image" Target="../media/image173.jpeg"/><Relationship Id="rId17" Type="http://schemas.openxmlformats.org/officeDocument/2006/relationships/image" Target="../media/image178.jpeg"/><Relationship Id="rId25" Type="http://schemas.openxmlformats.org/officeDocument/2006/relationships/image" Target="../media/image186.jpeg"/><Relationship Id="rId2" Type="http://schemas.openxmlformats.org/officeDocument/2006/relationships/image" Target="../media/image1.jpeg"/><Relationship Id="rId16" Type="http://schemas.openxmlformats.org/officeDocument/2006/relationships/image" Target="../media/image177.jpeg"/><Relationship Id="rId20" Type="http://schemas.openxmlformats.org/officeDocument/2006/relationships/image" Target="../media/image181.jpeg"/><Relationship Id="rId29" Type="http://schemas.openxmlformats.org/officeDocument/2006/relationships/image" Target="../media/image190.jpeg"/><Relationship Id="rId1" Type="http://schemas.openxmlformats.org/officeDocument/2006/relationships/slideLayout" Target="../slideLayouts/slideLayout7.xml"/><Relationship Id="rId6" Type="http://schemas.openxmlformats.org/officeDocument/2006/relationships/image" Target="../media/image167.jpeg"/><Relationship Id="rId11" Type="http://schemas.openxmlformats.org/officeDocument/2006/relationships/image" Target="../media/image172.jpeg"/><Relationship Id="rId24" Type="http://schemas.openxmlformats.org/officeDocument/2006/relationships/image" Target="../media/image185.jpeg"/><Relationship Id="rId5" Type="http://schemas.openxmlformats.org/officeDocument/2006/relationships/image" Target="../media/image166.jpeg"/><Relationship Id="rId15" Type="http://schemas.openxmlformats.org/officeDocument/2006/relationships/image" Target="../media/image176.jpeg"/><Relationship Id="rId23" Type="http://schemas.openxmlformats.org/officeDocument/2006/relationships/image" Target="../media/image184.jpeg"/><Relationship Id="rId28" Type="http://schemas.openxmlformats.org/officeDocument/2006/relationships/image" Target="../media/image189.jpeg"/><Relationship Id="rId10" Type="http://schemas.openxmlformats.org/officeDocument/2006/relationships/image" Target="../media/image171.jpeg"/><Relationship Id="rId19" Type="http://schemas.openxmlformats.org/officeDocument/2006/relationships/image" Target="../media/image180.jpeg"/><Relationship Id="rId31" Type="http://schemas.openxmlformats.org/officeDocument/2006/relationships/image" Target="../media/image192.jpeg"/><Relationship Id="rId4" Type="http://schemas.openxmlformats.org/officeDocument/2006/relationships/image" Target="../media/image165.jpeg"/><Relationship Id="rId9" Type="http://schemas.openxmlformats.org/officeDocument/2006/relationships/image" Target="../media/image170.jpeg"/><Relationship Id="rId14" Type="http://schemas.openxmlformats.org/officeDocument/2006/relationships/image" Target="../media/image175.jpeg"/><Relationship Id="rId22" Type="http://schemas.openxmlformats.org/officeDocument/2006/relationships/image" Target="../media/image183.jpeg"/><Relationship Id="rId27" Type="http://schemas.openxmlformats.org/officeDocument/2006/relationships/image" Target="../media/image188.jpeg"/><Relationship Id="rId30" Type="http://schemas.openxmlformats.org/officeDocument/2006/relationships/image" Target="../media/image191.jpeg"/></Relationships>
</file>

<file path=ppt/slides/_rels/slide39.xml.rels><?xml version="1.0" encoding="UTF-8" standalone="yes"?>
<Relationships xmlns="http://schemas.openxmlformats.org/package/2006/relationships"><Relationship Id="rId8" Type="http://schemas.openxmlformats.org/officeDocument/2006/relationships/image" Target="../media/image197.jpeg"/><Relationship Id="rId13" Type="http://schemas.openxmlformats.org/officeDocument/2006/relationships/image" Target="../media/image202.jpeg"/><Relationship Id="rId18" Type="http://schemas.openxmlformats.org/officeDocument/2006/relationships/image" Target="../media/image207.jpeg"/><Relationship Id="rId26" Type="http://schemas.openxmlformats.org/officeDocument/2006/relationships/image" Target="../media/image215.jpeg"/><Relationship Id="rId3" Type="http://schemas.openxmlformats.org/officeDocument/2006/relationships/image" Target="../media/image2.jpeg"/><Relationship Id="rId21" Type="http://schemas.openxmlformats.org/officeDocument/2006/relationships/image" Target="../media/image210.jpeg"/><Relationship Id="rId7" Type="http://schemas.openxmlformats.org/officeDocument/2006/relationships/image" Target="../media/image196.jpeg"/><Relationship Id="rId12" Type="http://schemas.openxmlformats.org/officeDocument/2006/relationships/image" Target="../media/image201.jpeg"/><Relationship Id="rId17" Type="http://schemas.openxmlformats.org/officeDocument/2006/relationships/image" Target="../media/image206.jpeg"/><Relationship Id="rId25" Type="http://schemas.openxmlformats.org/officeDocument/2006/relationships/image" Target="../media/image214.jpeg"/><Relationship Id="rId2" Type="http://schemas.openxmlformats.org/officeDocument/2006/relationships/image" Target="../media/image1.jpeg"/><Relationship Id="rId16" Type="http://schemas.openxmlformats.org/officeDocument/2006/relationships/image" Target="../media/image205.jpeg"/><Relationship Id="rId20" Type="http://schemas.openxmlformats.org/officeDocument/2006/relationships/image" Target="../media/image209.jpeg"/><Relationship Id="rId29" Type="http://schemas.openxmlformats.org/officeDocument/2006/relationships/image" Target="../media/image218.jpeg"/><Relationship Id="rId1" Type="http://schemas.openxmlformats.org/officeDocument/2006/relationships/slideLayout" Target="../slideLayouts/slideLayout7.xml"/><Relationship Id="rId6" Type="http://schemas.openxmlformats.org/officeDocument/2006/relationships/image" Target="../media/image195.jpeg"/><Relationship Id="rId11" Type="http://schemas.openxmlformats.org/officeDocument/2006/relationships/image" Target="../media/image200.jpeg"/><Relationship Id="rId24" Type="http://schemas.openxmlformats.org/officeDocument/2006/relationships/image" Target="../media/image213.jpeg"/><Relationship Id="rId5" Type="http://schemas.openxmlformats.org/officeDocument/2006/relationships/image" Target="../media/image194.jpeg"/><Relationship Id="rId15" Type="http://schemas.openxmlformats.org/officeDocument/2006/relationships/image" Target="../media/image204.jpeg"/><Relationship Id="rId23" Type="http://schemas.openxmlformats.org/officeDocument/2006/relationships/image" Target="../media/image212.jpeg"/><Relationship Id="rId28" Type="http://schemas.openxmlformats.org/officeDocument/2006/relationships/image" Target="../media/image217.jpeg"/><Relationship Id="rId10" Type="http://schemas.openxmlformats.org/officeDocument/2006/relationships/image" Target="../media/image199.jpeg"/><Relationship Id="rId19" Type="http://schemas.openxmlformats.org/officeDocument/2006/relationships/image" Target="../media/image208.jpeg"/><Relationship Id="rId4" Type="http://schemas.openxmlformats.org/officeDocument/2006/relationships/image" Target="../media/image193.jpeg"/><Relationship Id="rId9" Type="http://schemas.openxmlformats.org/officeDocument/2006/relationships/image" Target="../media/image198.jpeg"/><Relationship Id="rId14" Type="http://schemas.openxmlformats.org/officeDocument/2006/relationships/image" Target="../media/image203.jpeg"/><Relationship Id="rId22" Type="http://schemas.openxmlformats.org/officeDocument/2006/relationships/image" Target="../media/image211.jpeg"/><Relationship Id="rId27" Type="http://schemas.openxmlformats.org/officeDocument/2006/relationships/image" Target="../media/image216.jpeg"/></Relationships>
</file>

<file path=ppt/slides/_rels/slide4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20.png"/><Relationship Id="rId4" Type="http://schemas.openxmlformats.org/officeDocument/2006/relationships/image" Target="../media/image219.jpeg"/></Relationships>
</file>

<file path=ppt/slides/_rels/slide4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22.png"/><Relationship Id="rId4" Type="http://schemas.openxmlformats.org/officeDocument/2006/relationships/image" Target="../media/image221.jpeg"/></Relationships>
</file>

<file path=ppt/slides/_rels/slide4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24.png"/><Relationship Id="rId4" Type="http://schemas.openxmlformats.org/officeDocument/2006/relationships/image" Target="../media/image223.jpeg"/></Relationships>
</file>

<file path=ppt/slides/_rels/slide4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26.png"/><Relationship Id="rId4" Type="http://schemas.openxmlformats.org/officeDocument/2006/relationships/image" Target="../media/image225.jpeg"/></Relationships>
</file>

<file path=ppt/slides/_rels/slide4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28.png"/><Relationship Id="rId4" Type="http://schemas.openxmlformats.org/officeDocument/2006/relationships/image" Target="../media/image227.jpeg"/></Relationships>
</file>

<file path=ppt/slides/_rels/slide4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30.png"/><Relationship Id="rId4" Type="http://schemas.openxmlformats.org/officeDocument/2006/relationships/image" Target="../media/image229.jpeg"/></Relationships>
</file>

<file path=ppt/slides/_rels/slide4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32.png"/><Relationship Id="rId4" Type="http://schemas.openxmlformats.org/officeDocument/2006/relationships/image" Target="../media/image231.jpeg"/></Relationships>
</file>

<file path=ppt/slides/_rels/slide4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34.png"/><Relationship Id="rId4" Type="http://schemas.openxmlformats.org/officeDocument/2006/relationships/image" Target="../media/image233.jpeg"/></Relationships>
</file>

<file path=ppt/slides/_rels/slide4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35.svg"/></Relationships>
</file>

<file path=ppt/slides/_rels/slide4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37.png"/><Relationship Id="rId4" Type="http://schemas.openxmlformats.org/officeDocument/2006/relationships/image" Target="../media/image236.jpeg"/></Relationships>
</file>

<file path=ppt/slides/_rels/slide5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39.png"/><Relationship Id="rId4" Type="http://schemas.openxmlformats.org/officeDocument/2006/relationships/image" Target="../media/image238.jpeg"/></Relationships>
</file>

<file path=ppt/slides/_rels/slide5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41.jpeg"/><Relationship Id="rId4" Type="http://schemas.openxmlformats.org/officeDocument/2006/relationships/image" Target="../media/image240.jpeg"/></Relationships>
</file>

<file path=ppt/slides/_rels/slide5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42.sv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5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43.jpeg"/></Relationships>
</file>

<file path=ppt/slides/_rels/slide54.xml.rels><?xml version="1.0" encoding="UTF-8" standalone="yes"?>
<Relationships xmlns="http://schemas.openxmlformats.org/package/2006/relationships"><Relationship Id="rId8" Type="http://schemas.openxmlformats.org/officeDocument/2006/relationships/image" Target="../media/image248.svg"/><Relationship Id="rId3" Type="http://schemas.openxmlformats.org/officeDocument/2006/relationships/image" Target="../media/image2.jpeg"/><Relationship Id="rId7" Type="http://schemas.openxmlformats.org/officeDocument/2006/relationships/image" Target="../media/image247.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46.png"/><Relationship Id="rId5" Type="http://schemas.openxmlformats.org/officeDocument/2006/relationships/image" Target="../media/image245.jpeg"/><Relationship Id="rId10" Type="http://schemas.openxmlformats.org/officeDocument/2006/relationships/image" Target="../media/image250.jpeg"/><Relationship Id="rId4" Type="http://schemas.openxmlformats.org/officeDocument/2006/relationships/image" Target="../media/image244.svg"/><Relationship Id="rId9" Type="http://schemas.openxmlformats.org/officeDocument/2006/relationships/image" Target="../media/image249.jpeg"/></Relationships>
</file>

<file path=ppt/slides/_rels/slide5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51.svg"/></Relationships>
</file>

<file path=ppt/slides/_rels/slide5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53.png"/><Relationship Id="rId4" Type="http://schemas.openxmlformats.org/officeDocument/2006/relationships/image" Target="../media/image252.jpeg"/></Relationships>
</file>

<file path=ppt/slides/_rels/slide5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55.png"/><Relationship Id="rId4" Type="http://schemas.openxmlformats.org/officeDocument/2006/relationships/image" Target="../media/image254.jpeg"/></Relationships>
</file>

<file path=ppt/slides/_rels/slide5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57.png"/><Relationship Id="rId4" Type="http://schemas.openxmlformats.org/officeDocument/2006/relationships/image" Target="../media/image25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3"/>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4"/>
              <a:stretch>
                <a:fillRect l="-514" b="-206"/>
              </a:stretch>
            </a:blipFill>
          </p:spPr>
          <p:txBody>
            <a:bodyPr/>
            <a:lstStyle/>
            <a:p>
              <a:endParaRPr lang="en-SG"/>
            </a:p>
          </p:txBody>
        </p:sp>
      </p:grpSp>
      <p:grpSp>
        <p:nvGrpSpPr>
          <p:cNvPr id="9" name="Group 9"/>
          <p:cNvGrpSpPr/>
          <p:nvPr/>
        </p:nvGrpSpPr>
        <p:grpSpPr>
          <a:xfrm>
            <a:off x="5506212" y="2859024"/>
            <a:ext cx="1565148" cy="515112"/>
            <a:chOff x="0" y="0"/>
            <a:chExt cx="2086864" cy="686816"/>
          </a:xfrm>
        </p:grpSpPr>
        <p:sp>
          <p:nvSpPr>
            <p:cNvPr id="10" name="Freeform 10"/>
            <p:cNvSpPr/>
            <p:nvPr/>
          </p:nvSpPr>
          <p:spPr>
            <a:xfrm>
              <a:off x="0" y="0"/>
              <a:ext cx="2086864" cy="686816"/>
            </a:xfrm>
            <a:custGeom>
              <a:avLst/>
              <a:gdLst/>
              <a:ahLst/>
              <a:cxnLst/>
              <a:rect l="l" t="t" r="r" b="b"/>
              <a:pathLst>
                <a:path w="2086864" h="686816">
                  <a:moveTo>
                    <a:pt x="0" y="0"/>
                  </a:moveTo>
                  <a:lnTo>
                    <a:pt x="2086864" y="0"/>
                  </a:lnTo>
                  <a:lnTo>
                    <a:pt x="2086864" y="686816"/>
                  </a:lnTo>
                  <a:lnTo>
                    <a:pt x="0" y="686816"/>
                  </a:lnTo>
                  <a:lnTo>
                    <a:pt x="0" y="0"/>
                  </a:lnTo>
                  <a:close/>
                </a:path>
              </a:pathLst>
            </a:custGeom>
            <a:blipFill>
              <a:blip r:embed="rId5"/>
              <a:stretch>
                <a:fillRect l="-97"/>
              </a:stretch>
            </a:blipFill>
          </p:spPr>
          <p:txBody>
            <a:bodyPr/>
            <a:lstStyle/>
            <a:p>
              <a:endParaRPr lang="en-SG"/>
            </a:p>
          </p:txBody>
        </p:sp>
      </p:grpSp>
      <p:grpSp>
        <p:nvGrpSpPr>
          <p:cNvPr id="11" name="Group 11"/>
          <p:cNvGrpSpPr/>
          <p:nvPr/>
        </p:nvGrpSpPr>
        <p:grpSpPr>
          <a:xfrm>
            <a:off x="5506212" y="3371088"/>
            <a:ext cx="1565148" cy="1054608"/>
            <a:chOff x="0" y="0"/>
            <a:chExt cx="2086864" cy="1406144"/>
          </a:xfrm>
        </p:grpSpPr>
        <p:sp>
          <p:nvSpPr>
            <p:cNvPr id="12" name="Freeform 12"/>
            <p:cNvSpPr/>
            <p:nvPr/>
          </p:nvSpPr>
          <p:spPr>
            <a:xfrm>
              <a:off x="0" y="0"/>
              <a:ext cx="2086864" cy="1406144"/>
            </a:xfrm>
            <a:custGeom>
              <a:avLst/>
              <a:gdLst/>
              <a:ahLst/>
              <a:cxnLst/>
              <a:rect l="l" t="t" r="r" b="b"/>
              <a:pathLst>
                <a:path w="2086864" h="1406144">
                  <a:moveTo>
                    <a:pt x="0" y="0"/>
                  </a:moveTo>
                  <a:lnTo>
                    <a:pt x="2086864" y="0"/>
                  </a:lnTo>
                  <a:lnTo>
                    <a:pt x="2086864" y="1406144"/>
                  </a:lnTo>
                  <a:lnTo>
                    <a:pt x="0" y="1406144"/>
                  </a:lnTo>
                  <a:lnTo>
                    <a:pt x="0" y="0"/>
                  </a:lnTo>
                  <a:close/>
                </a:path>
              </a:pathLst>
            </a:custGeom>
            <a:blipFill>
              <a:blip r:embed="rId6"/>
              <a:stretch>
                <a:fillRect/>
              </a:stretch>
            </a:blipFill>
          </p:spPr>
          <p:txBody>
            <a:bodyPr/>
            <a:lstStyle/>
            <a:p>
              <a:endParaRPr lang="en-SG"/>
            </a:p>
          </p:txBody>
        </p:sp>
      </p:grpSp>
      <p:sp>
        <p:nvSpPr>
          <p:cNvPr id="13" name="TextBox 13"/>
          <p:cNvSpPr txBox="1"/>
          <p:nvPr/>
        </p:nvSpPr>
        <p:spPr>
          <a:xfrm>
            <a:off x="1632385" y="1334119"/>
            <a:ext cx="8778240" cy="523504"/>
          </a:xfrm>
          <a:prstGeom prst="rect">
            <a:avLst/>
          </a:prstGeom>
        </p:spPr>
        <p:txBody>
          <a:bodyPr wrap="square"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Satellite Design &amp; Integration</a:t>
            </a:r>
          </a:p>
        </p:txBody>
      </p:sp>
      <p:sp>
        <p:nvSpPr>
          <p:cNvPr id="14" name="TextBox 14"/>
          <p:cNvSpPr txBox="1"/>
          <p:nvPr/>
        </p:nvSpPr>
        <p:spPr>
          <a:xfrm>
            <a:off x="1632109" y="2514676"/>
            <a:ext cx="5120640" cy="801776"/>
          </a:xfrm>
          <a:prstGeom prst="rect">
            <a:avLst/>
          </a:prstGeom>
        </p:spPr>
        <p:txBody>
          <a:bodyPr wrap="square" lIns="0" tIns="0" rIns="0" bIns="0" rtlCol="0" anchor="t">
            <a:spAutoFit/>
          </a:bodyPr>
          <a:lstStyle/>
          <a:p>
            <a:pPr algn="l">
              <a:lnSpc>
                <a:spcPts val="6552"/>
              </a:lnSpc>
            </a:pPr>
            <a:r>
              <a:rPr lang="en-US" sz="4000" spc="88">
                <a:solidFill>
                  <a:srgbClr val="2C2C2C"/>
                </a:solidFill>
                <a:latin typeface="Montserrat"/>
                <a:ea typeface="Montserrat"/>
                <a:cs typeface="Montserrat"/>
                <a:sym typeface="Montserrat"/>
              </a:rPr>
              <a:t>Build Session 1</a:t>
            </a:r>
          </a:p>
        </p:txBody>
      </p:sp>
      <p:sp>
        <p:nvSpPr>
          <p:cNvPr id="15" name="TextBox 13"/>
          <p:cNvSpPr txBox="1"/>
          <p:nvPr/>
        </p:nvSpPr>
        <p:spPr>
          <a:xfrm>
            <a:off x="1632385" y="4617720"/>
            <a:ext cx="7863840" cy="1097280"/>
          </a:xfrm>
          <a:prstGeom prst="rect">
            <a:avLst/>
          </a:prstGeom>
        </p:spPr>
        <p:txBody>
          <a:bodyPr wrap="square" lIns="0" tIns="0" rIns="0" bIns="0" rtlCol="0" anchor="t">
            <a:spAutoFit/>
          </a:bodyPr>
          <a:lstStyle/>
          <a:p>
            <a:pPr algn="l">
              <a:lnSpc>
                <a:spcPts val="4267"/>
              </a:lnSpc>
            </a:pPr>
            <a:r>
              <a:rPr lang="en-US" sz="1800">
                <a:solidFill>
                  <a:srgbClr val="2C2C2C"/>
                </a:solidFill>
                <a:latin typeface="Montserrat"/>
                <a:ea typeface="Montserrat"/>
                <a:cs typeface="Montserrat"/>
                <a:sym typeface="Montserrat"/>
              </a:rPr>
              <a:t>Structure, avionics and C&amp;DH bring-up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772668"/>
            <a:ext cx="10692384" cy="6015228"/>
            <a:chOff x="0" y="0"/>
            <a:chExt cx="10692384" cy="6015228"/>
          </a:xfrm>
        </p:grpSpPr>
        <p:sp>
          <p:nvSpPr>
            <p:cNvPr id="3" name="Freeform 3"/>
            <p:cNvSpPr/>
            <p:nvPr/>
          </p:nvSpPr>
          <p:spPr>
            <a:xfrm>
              <a:off x="0" y="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grpSp>
      <p:grpSp>
        <p:nvGrpSpPr>
          <p:cNvPr id="4" name="Group 4"/>
          <p:cNvGrpSpPr/>
          <p:nvPr/>
        </p:nvGrpSpPr>
        <p:grpSpPr>
          <a:xfrm>
            <a:off x="10689336" y="1620012"/>
            <a:ext cx="3048" cy="967740"/>
            <a:chOff x="0" y="0"/>
            <a:chExt cx="3048" cy="967740"/>
          </a:xfrm>
        </p:grpSpPr>
        <p:sp>
          <p:nvSpPr>
            <p:cNvPr id="5" name="Freeform 5"/>
            <p:cNvSpPr/>
            <p:nvPr/>
          </p:nvSpPr>
          <p:spPr>
            <a:xfrm>
              <a:off x="0" y="0"/>
              <a:ext cx="3047" cy="967740"/>
            </a:xfrm>
            <a:custGeom>
              <a:avLst/>
              <a:gdLst/>
              <a:ahLst/>
              <a:cxnLst/>
              <a:rect l="l" t="t" r="r" b="b"/>
              <a:pathLst>
                <a:path w="3047" h="967740">
                  <a:moveTo>
                    <a:pt x="0" y="0"/>
                  </a:moveTo>
                  <a:lnTo>
                    <a:pt x="3047" y="0"/>
                  </a:lnTo>
                  <a:lnTo>
                    <a:pt x="3047" y="967740"/>
                  </a:lnTo>
                  <a:lnTo>
                    <a:pt x="0" y="967740"/>
                  </a:lnTo>
                  <a:close/>
                </a:path>
              </a:pathLst>
            </a:custGeom>
            <a:solidFill>
              <a:srgbClr val="868686"/>
            </a:solidFill>
          </p:spPr>
          <p:txBody>
            <a:bodyPr/>
            <a:lstStyle/>
            <a:p>
              <a:endParaRPr lang="en-SG"/>
            </a:p>
          </p:txBody>
        </p:sp>
      </p:grpSp>
      <p:grpSp>
        <p:nvGrpSpPr>
          <p:cNvPr id="6" name="Group 6"/>
          <p:cNvGrpSpPr/>
          <p:nvPr/>
        </p:nvGrpSpPr>
        <p:grpSpPr>
          <a:xfrm>
            <a:off x="1888236" y="772668"/>
            <a:ext cx="8801100" cy="6015228"/>
            <a:chOff x="0" y="0"/>
            <a:chExt cx="11734800" cy="8020304"/>
          </a:xfrm>
        </p:grpSpPr>
        <p:sp>
          <p:nvSpPr>
            <p:cNvPr id="7" name="Freeform 7"/>
            <p:cNvSpPr/>
            <p:nvPr/>
          </p:nvSpPr>
          <p:spPr>
            <a:xfrm>
              <a:off x="0" y="0"/>
              <a:ext cx="11734800" cy="8020304"/>
            </a:xfrm>
            <a:custGeom>
              <a:avLst/>
              <a:gdLst/>
              <a:ahLst/>
              <a:cxnLst/>
              <a:rect l="l" t="t" r="r" b="b"/>
              <a:pathLst>
                <a:path w="11734800" h="8020304">
                  <a:moveTo>
                    <a:pt x="0" y="0"/>
                  </a:moveTo>
                  <a:lnTo>
                    <a:pt x="11734800" y="0"/>
                  </a:lnTo>
                  <a:lnTo>
                    <a:pt x="11734800" y="8020304"/>
                  </a:lnTo>
                  <a:lnTo>
                    <a:pt x="0" y="8020304"/>
                  </a:lnTo>
                  <a:lnTo>
                    <a:pt x="0" y="0"/>
                  </a:lnTo>
                  <a:close/>
                </a:path>
              </a:pathLst>
            </a:custGeom>
            <a:blipFill>
              <a:blip r:embed="rId2"/>
              <a:stretch>
                <a:fillRect/>
              </a:stretch>
            </a:blipFill>
          </p:spPr>
          <p:txBody>
            <a:bodyPr/>
            <a:lstStyle/>
            <a:p>
              <a:endParaRPr lang="en-SG"/>
            </a:p>
          </p:txBody>
        </p:sp>
      </p:grpSp>
      <p:grpSp>
        <p:nvGrpSpPr>
          <p:cNvPr id="8" name="Group 8"/>
          <p:cNvGrpSpPr/>
          <p:nvPr/>
        </p:nvGrpSpPr>
        <p:grpSpPr>
          <a:xfrm>
            <a:off x="0" y="772668"/>
            <a:ext cx="1889760" cy="6015228"/>
            <a:chOff x="0" y="0"/>
            <a:chExt cx="1889760" cy="6015228"/>
          </a:xfrm>
        </p:grpSpPr>
        <p:sp>
          <p:nvSpPr>
            <p:cNvPr id="9" name="Freeform 9"/>
            <p:cNvSpPr/>
            <p:nvPr/>
          </p:nvSpPr>
          <p:spPr>
            <a:xfrm>
              <a:off x="0" y="0"/>
              <a:ext cx="1889760" cy="6015229"/>
            </a:xfrm>
            <a:custGeom>
              <a:avLst/>
              <a:gdLst/>
              <a:ahLst/>
              <a:cxnLst/>
              <a:rect l="l" t="t" r="r" b="b"/>
              <a:pathLst>
                <a:path w="1889760" h="6015229">
                  <a:moveTo>
                    <a:pt x="0" y="0"/>
                  </a:moveTo>
                  <a:lnTo>
                    <a:pt x="1889760" y="0"/>
                  </a:lnTo>
                  <a:lnTo>
                    <a:pt x="1889760" y="6015229"/>
                  </a:lnTo>
                  <a:lnTo>
                    <a:pt x="0" y="6015229"/>
                  </a:lnTo>
                  <a:close/>
                </a:path>
              </a:pathLst>
            </a:custGeom>
            <a:solidFill>
              <a:srgbClr val="000000"/>
            </a:solidFill>
          </p:spPr>
          <p:txBody>
            <a:bodyPr/>
            <a:lstStyle/>
            <a:p>
              <a:endParaRPr lang="en-SG"/>
            </a:p>
          </p:txBody>
        </p:sp>
      </p:grpSp>
      <p:grpSp>
        <p:nvGrpSpPr>
          <p:cNvPr id="10" name="Group 10"/>
          <p:cNvGrpSpPr/>
          <p:nvPr/>
        </p:nvGrpSpPr>
        <p:grpSpPr>
          <a:xfrm>
            <a:off x="3062221" y="1873501"/>
            <a:ext cx="1279141" cy="529333"/>
            <a:chOff x="0" y="0"/>
            <a:chExt cx="1279144" cy="529336"/>
          </a:xfrm>
        </p:grpSpPr>
        <p:sp>
          <p:nvSpPr>
            <p:cNvPr id="11" name="Freeform 11"/>
            <p:cNvSpPr/>
            <p:nvPr/>
          </p:nvSpPr>
          <p:spPr>
            <a:xfrm>
              <a:off x="63500" y="87884"/>
              <a:ext cx="249936" cy="374904"/>
            </a:xfrm>
            <a:custGeom>
              <a:avLst/>
              <a:gdLst/>
              <a:ahLst/>
              <a:cxnLst/>
              <a:rect l="l" t="t" r="r" b="b"/>
              <a:pathLst>
                <a:path w="249936" h="374904">
                  <a:moveTo>
                    <a:pt x="249936" y="374904"/>
                  </a:moveTo>
                  <a:lnTo>
                    <a:pt x="249936" y="339852"/>
                  </a:lnTo>
                  <a:lnTo>
                    <a:pt x="39624" y="339852"/>
                  </a:lnTo>
                  <a:lnTo>
                    <a:pt x="39624" y="0"/>
                  </a:lnTo>
                  <a:lnTo>
                    <a:pt x="0" y="0"/>
                  </a:lnTo>
                  <a:lnTo>
                    <a:pt x="0" y="374904"/>
                  </a:lnTo>
                  <a:lnTo>
                    <a:pt x="249936" y="374904"/>
                  </a:lnTo>
                  <a:close/>
                </a:path>
              </a:pathLst>
            </a:custGeom>
            <a:solidFill>
              <a:srgbClr val="FFFFFF"/>
            </a:solidFill>
          </p:spPr>
          <p:txBody>
            <a:bodyPr/>
            <a:lstStyle/>
            <a:p>
              <a:endParaRPr lang="en-SG"/>
            </a:p>
          </p:txBody>
        </p:sp>
        <p:sp>
          <p:nvSpPr>
            <p:cNvPr id="12" name="Freeform 12"/>
            <p:cNvSpPr/>
            <p:nvPr/>
          </p:nvSpPr>
          <p:spPr>
            <a:xfrm>
              <a:off x="342392" y="179324"/>
              <a:ext cx="274320" cy="286512"/>
            </a:xfrm>
            <a:custGeom>
              <a:avLst/>
              <a:gdLst/>
              <a:ahLst/>
              <a:cxnLst/>
              <a:rect l="l" t="t" r="r" b="b"/>
              <a:pathLst>
                <a:path w="274320" h="286512">
                  <a:moveTo>
                    <a:pt x="210312" y="274320"/>
                  </a:moveTo>
                  <a:cubicBezTo>
                    <a:pt x="228600" y="266700"/>
                    <a:pt x="243840" y="254508"/>
                    <a:pt x="256032" y="240792"/>
                  </a:cubicBezTo>
                  <a:lnTo>
                    <a:pt x="234696" y="214884"/>
                  </a:lnTo>
                  <a:cubicBezTo>
                    <a:pt x="224028" y="228600"/>
                    <a:pt x="211836" y="237744"/>
                    <a:pt x="196596" y="243840"/>
                  </a:cubicBezTo>
                  <a:cubicBezTo>
                    <a:pt x="181356" y="249936"/>
                    <a:pt x="166116" y="252984"/>
                    <a:pt x="149352" y="252984"/>
                  </a:cubicBezTo>
                  <a:cubicBezTo>
                    <a:pt x="128016" y="252984"/>
                    <a:pt x="108204" y="248412"/>
                    <a:pt x="91440" y="239268"/>
                  </a:cubicBezTo>
                  <a:cubicBezTo>
                    <a:pt x="74676" y="230124"/>
                    <a:pt x="60960" y="216408"/>
                    <a:pt x="51816" y="201168"/>
                  </a:cubicBezTo>
                  <a:cubicBezTo>
                    <a:pt x="42672" y="184404"/>
                    <a:pt x="36576" y="166116"/>
                    <a:pt x="36576" y="144780"/>
                  </a:cubicBezTo>
                  <a:lnTo>
                    <a:pt x="36576" y="138684"/>
                  </a:lnTo>
                  <a:cubicBezTo>
                    <a:pt x="36576" y="117348"/>
                    <a:pt x="41148" y="99060"/>
                    <a:pt x="50292" y="83820"/>
                  </a:cubicBezTo>
                  <a:cubicBezTo>
                    <a:pt x="57912" y="67056"/>
                    <a:pt x="70104" y="54864"/>
                    <a:pt x="85344" y="45720"/>
                  </a:cubicBezTo>
                  <a:cubicBezTo>
                    <a:pt x="100584" y="36576"/>
                    <a:pt x="118872" y="32004"/>
                    <a:pt x="137160" y="32004"/>
                  </a:cubicBezTo>
                  <a:cubicBezTo>
                    <a:pt x="156972" y="32004"/>
                    <a:pt x="175260" y="36576"/>
                    <a:pt x="188976" y="45720"/>
                  </a:cubicBezTo>
                  <a:cubicBezTo>
                    <a:pt x="204216" y="54864"/>
                    <a:pt x="216408" y="67056"/>
                    <a:pt x="225552" y="83820"/>
                  </a:cubicBezTo>
                  <a:cubicBezTo>
                    <a:pt x="234696" y="99060"/>
                    <a:pt x="237744" y="117348"/>
                    <a:pt x="237744" y="137160"/>
                  </a:cubicBezTo>
                  <a:lnTo>
                    <a:pt x="252984" y="126492"/>
                  </a:lnTo>
                  <a:lnTo>
                    <a:pt x="28956" y="126492"/>
                  </a:lnTo>
                  <a:lnTo>
                    <a:pt x="28956" y="153924"/>
                  </a:lnTo>
                  <a:lnTo>
                    <a:pt x="274320" y="153924"/>
                  </a:lnTo>
                  <a:cubicBezTo>
                    <a:pt x="274320" y="152400"/>
                    <a:pt x="274320" y="150876"/>
                    <a:pt x="274320" y="147828"/>
                  </a:cubicBezTo>
                  <a:cubicBezTo>
                    <a:pt x="274320" y="146304"/>
                    <a:pt x="274320" y="144780"/>
                    <a:pt x="274320" y="143256"/>
                  </a:cubicBezTo>
                  <a:cubicBezTo>
                    <a:pt x="274320" y="114300"/>
                    <a:pt x="268224" y="89916"/>
                    <a:pt x="256032" y="68580"/>
                  </a:cubicBezTo>
                  <a:cubicBezTo>
                    <a:pt x="245364" y="47244"/>
                    <a:pt x="228600" y="30480"/>
                    <a:pt x="208788" y="18288"/>
                  </a:cubicBezTo>
                  <a:cubicBezTo>
                    <a:pt x="187452" y="6096"/>
                    <a:pt x="164592" y="0"/>
                    <a:pt x="137160" y="0"/>
                  </a:cubicBezTo>
                  <a:cubicBezTo>
                    <a:pt x="111252" y="0"/>
                    <a:pt x="88392" y="6096"/>
                    <a:pt x="67056" y="18288"/>
                  </a:cubicBezTo>
                  <a:cubicBezTo>
                    <a:pt x="47244" y="30480"/>
                    <a:pt x="30480" y="47244"/>
                    <a:pt x="18288" y="68580"/>
                  </a:cubicBezTo>
                  <a:cubicBezTo>
                    <a:pt x="6096" y="89916"/>
                    <a:pt x="0" y="114300"/>
                    <a:pt x="0" y="143256"/>
                  </a:cubicBezTo>
                  <a:cubicBezTo>
                    <a:pt x="0" y="170688"/>
                    <a:pt x="6096" y="195072"/>
                    <a:pt x="18288" y="216408"/>
                  </a:cubicBezTo>
                  <a:cubicBezTo>
                    <a:pt x="32004" y="237744"/>
                    <a:pt x="48768" y="256032"/>
                    <a:pt x="71628" y="268224"/>
                  </a:cubicBezTo>
                  <a:cubicBezTo>
                    <a:pt x="92964" y="280416"/>
                    <a:pt x="118872" y="286512"/>
                    <a:pt x="147828" y="286512"/>
                  </a:cubicBezTo>
                  <a:cubicBezTo>
                    <a:pt x="170688" y="286512"/>
                    <a:pt x="190500" y="281940"/>
                    <a:pt x="210312" y="274320"/>
                  </a:cubicBezTo>
                  <a:close/>
                </a:path>
              </a:pathLst>
            </a:custGeom>
            <a:solidFill>
              <a:srgbClr val="FFFFFF"/>
            </a:solidFill>
          </p:spPr>
          <p:txBody>
            <a:bodyPr/>
            <a:lstStyle/>
            <a:p>
              <a:endParaRPr lang="en-SG"/>
            </a:p>
          </p:txBody>
        </p:sp>
        <p:sp>
          <p:nvSpPr>
            <p:cNvPr id="13" name="Freeform 13"/>
            <p:cNvSpPr/>
            <p:nvPr/>
          </p:nvSpPr>
          <p:spPr>
            <a:xfrm>
              <a:off x="650240" y="119888"/>
              <a:ext cx="192024" cy="345948"/>
            </a:xfrm>
            <a:custGeom>
              <a:avLst/>
              <a:gdLst/>
              <a:ahLst/>
              <a:cxnLst/>
              <a:rect l="l" t="t" r="r" b="b"/>
              <a:pathLst>
                <a:path w="192024" h="345948">
                  <a:moveTo>
                    <a:pt x="164592" y="341376"/>
                  </a:moveTo>
                  <a:cubicBezTo>
                    <a:pt x="175260" y="336804"/>
                    <a:pt x="184404" y="332232"/>
                    <a:pt x="192024" y="326136"/>
                  </a:cubicBezTo>
                  <a:lnTo>
                    <a:pt x="178308" y="298704"/>
                  </a:lnTo>
                  <a:cubicBezTo>
                    <a:pt x="167640" y="307848"/>
                    <a:pt x="153924" y="312420"/>
                    <a:pt x="137160" y="312420"/>
                  </a:cubicBezTo>
                  <a:cubicBezTo>
                    <a:pt x="120396" y="312420"/>
                    <a:pt x="109728" y="307848"/>
                    <a:pt x="100584" y="300228"/>
                  </a:cubicBezTo>
                  <a:cubicBezTo>
                    <a:pt x="92964" y="291084"/>
                    <a:pt x="88392" y="277368"/>
                    <a:pt x="88392" y="262128"/>
                  </a:cubicBezTo>
                  <a:lnTo>
                    <a:pt x="88392" y="0"/>
                  </a:lnTo>
                  <a:lnTo>
                    <a:pt x="50292" y="0"/>
                  </a:lnTo>
                  <a:lnTo>
                    <a:pt x="50292" y="263652"/>
                  </a:lnTo>
                  <a:cubicBezTo>
                    <a:pt x="50292" y="289560"/>
                    <a:pt x="57912" y="309372"/>
                    <a:pt x="71628" y="324612"/>
                  </a:cubicBezTo>
                  <a:cubicBezTo>
                    <a:pt x="85344" y="338328"/>
                    <a:pt x="106680" y="345948"/>
                    <a:pt x="132588" y="345948"/>
                  </a:cubicBezTo>
                  <a:cubicBezTo>
                    <a:pt x="143256" y="345948"/>
                    <a:pt x="153924" y="344424"/>
                    <a:pt x="164592" y="341376"/>
                  </a:cubicBezTo>
                  <a:close/>
                  <a:moveTo>
                    <a:pt x="173736" y="92964"/>
                  </a:moveTo>
                  <a:lnTo>
                    <a:pt x="173736" y="62484"/>
                  </a:lnTo>
                  <a:lnTo>
                    <a:pt x="0" y="62484"/>
                  </a:lnTo>
                  <a:lnTo>
                    <a:pt x="0" y="92964"/>
                  </a:lnTo>
                  <a:lnTo>
                    <a:pt x="173736" y="92964"/>
                  </a:lnTo>
                  <a:close/>
                </a:path>
              </a:pathLst>
            </a:custGeom>
            <a:solidFill>
              <a:srgbClr val="FFFFFF"/>
            </a:solidFill>
          </p:spPr>
          <p:txBody>
            <a:bodyPr/>
            <a:lstStyle/>
            <a:p>
              <a:endParaRPr lang="en-SG"/>
            </a:p>
          </p:txBody>
        </p:sp>
        <p:sp>
          <p:nvSpPr>
            <p:cNvPr id="14" name="Freeform 14"/>
            <p:cNvSpPr/>
            <p:nvPr/>
          </p:nvSpPr>
          <p:spPr>
            <a:xfrm>
              <a:off x="886460" y="63500"/>
              <a:ext cx="56388" cy="132588"/>
            </a:xfrm>
            <a:custGeom>
              <a:avLst/>
              <a:gdLst/>
              <a:ahLst/>
              <a:cxnLst/>
              <a:rect l="l" t="t" r="r" b="b"/>
              <a:pathLst>
                <a:path w="56388" h="132588">
                  <a:moveTo>
                    <a:pt x="27432" y="132588"/>
                  </a:moveTo>
                  <a:lnTo>
                    <a:pt x="50292" y="59436"/>
                  </a:lnTo>
                  <a:cubicBezTo>
                    <a:pt x="51816" y="53340"/>
                    <a:pt x="53340" y="50292"/>
                    <a:pt x="54864" y="45720"/>
                  </a:cubicBezTo>
                  <a:cubicBezTo>
                    <a:pt x="54864" y="42672"/>
                    <a:pt x="56388" y="39624"/>
                    <a:pt x="56388" y="36576"/>
                  </a:cubicBezTo>
                  <a:cubicBezTo>
                    <a:pt x="56388" y="33528"/>
                    <a:pt x="56388" y="32004"/>
                    <a:pt x="56388" y="28956"/>
                  </a:cubicBezTo>
                  <a:cubicBezTo>
                    <a:pt x="56388" y="19812"/>
                    <a:pt x="53340" y="13716"/>
                    <a:pt x="48768" y="7620"/>
                  </a:cubicBezTo>
                  <a:cubicBezTo>
                    <a:pt x="44196" y="3048"/>
                    <a:pt x="36576" y="0"/>
                    <a:pt x="28956" y="0"/>
                  </a:cubicBezTo>
                  <a:cubicBezTo>
                    <a:pt x="21336" y="0"/>
                    <a:pt x="13716" y="3048"/>
                    <a:pt x="9144" y="7620"/>
                  </a:cubicBezTo>
                  <a:cubicBezTo>
                    <a:pt x="3048" y="13716"/>
                    <a:pt x="0" y="19812"/>
                    <a:pt x="0" y="28956"/>
                  </a:cubicBezTo>
                  <a:cubicBezTo>
                    <a:pt x="0" y="36576"/>
                    <a:pt x="3048" y="44196"/>
                    <a:pt x="9144" y="48768"/>
                  </a:cubicBezTo>
                  <a:cubicBezTo>
                    <a:pt x="13716" y="54864"/>
                    <a:pt x="21336" y="56388"/>
                    <a:pt x="28956" y="56388"/>
                  </a:cubicBezTo>
                  <a:lnTo>
                    <a:pt x="24384" y="35052"/>
                  </a:lnTo>
                  <a:lnTo>
                    <a:pt x="1524" y="132588"/>
                  </a:lnTo>
                  <a:lnTo>
                    <a:pt x="27432" y="132588"/>
                  </a:lnTo>
                  <a:close/>
                </a:path>
              </a:pathLst>
            </a:custGeom>
            <a:solidFill>
              <a:srgbClr val="FFFFFF"/>
            </a:solidFill>
          </p:spPr>
          <p:txBody>
            <a:bodyPr/>
            <a:lstStyle/>
            <a:p>
              <a:endParaRPr lang="en-SG"/>
            </a:p>
          </p:txBody>
        </p:sp>
        <p:sp>
          <p:nvSpPr>
            <p:cNvPr id="15" name="Freeform 15"/>
            <p:cNvSpPr/>
            <p:nvPr/>
          </p:nvSpPr>
          <p:spPr>
            <a:xfrm>
              <a:off x="985520" y="179324"/>
              <a:ext cx="230124" cy="286512"/>
            </a:xfrm>
            <a:custGeom>
              <a:avLst/>
              <a:gdLst/>
              <a:ahLst/>
              <a:cxnLst/>
              <a:rect l="l" t="t" r="r" b="b"/>
              <a:pathLst>
                <a:path w="230124" h="286512">
                  <a:moveTo>
                    <a:pt x="176784" y="275844"/>
                  </a:moveTo>
                  <a:cubicBezTo>
                    <a:pt x="195072" y="269748"/>
                    <a:pt x="207264" y="260604"/>
                    <a:pt x="216408" y="248412"/>
                  </a:cubicBezTo>
                  <a:cubicBezTo>
                    <a:pt x="225552" y="236220"/>
                    <a:pt x="230124" y="222504"/>
                    <a:pt x="230124" y="205740"/>
                  </a:cubicBezTo>
                  <a:cubicBezTo>
                    <a:pt x="230124" y="190500"/>
                    <a:pt x="227076" y="178308"/>
                    <a:pt x="220980" y="169164"/>
                  </a:cubicBezTo>
                  <a:cubicBezTo>
                    <a:pt x="213360" y="158496"/>
                    <a:pt x="205740" y="152400"/>
                    <a:pt x="193548" y="146304"/>
                  </a:cubicBezTo>
                  <a:cubicBezTo>
                    <a:pt x="182880" y="141732"/>
                    <a:pt x="170688" y="137160"/>
                    <a:pt x="158496" y="134112"/>
                  </a:cubicBezTo>
                  <a:cubicBezTo>
                    <a:pt x="144780" y="131064"/>
                    <a:pt x="132588" y="129540"/>
                    <a:pt x="118872" y="126492"/>
                  </a:cubicBezTo>
                  <a:cubicBezTo>
                    <a:pt x="106680" y="124968"/>
                    <a:pt x="94488" y="121920"/>
                    <a:pt x="83820" y="118872"/>
                  </a:cubicBezTo>
                  <a:cubicBezTo>
                    <a:pt x="73152" y="114300"/>
                    <a:pt x="64008" y="109728"/>
                    <a:pt x="57912" y="103632"/>
                  </a:cubicBezTo>
                  <a:cubicBezTo>
                    <a:pt x="50292" y="97536"/>
                    <a:pt x="47244" y="89916"/>
                    <a:pt x="47244" y="79248"/>
                  </a:cubicBezTo>
                  <a:cubicBezTo>
                    <a:pt x="47244" y="65532"/>
                    <a:pt x="53340" y="54864"/>
                    <a:pt x="65532" y="45720"/>
                  </a:cubicBezTo>
                  <a:cubicBezTo>
                    <a:pt x="77724" y="36576"/>
                    <a:pt x="96012" y="32004"/>
                    <a:pt x="121920" y="32004"/>
                  </a:cubicBezTo>
                  <a:cubicBezTo>
                    <a:pt x="135636" y="32004"/>
                    <a:pt x="149352" y="35052"/>
                    <a:pt x="164592" y="38100"/>
                  </a:cubicBezTo>
                  <a:cubicBezTo>
                    <a:pt x="178308" y="41148"/>
                    <a:pt x="192024" y="48768"/>
                    <a:pt x="204216" y="56388"/>
                  </a:cubicBezTo>
                  <a:lnTo>
                    <a:pt x="220980" y="25908"/>
                  </a:lnTo>
                  <a:cubicBezTo>
                    <a:pt x="208788" y="18288"/>
                    <a:pt x="193548" y="12192"/>
                    <a:pt x="175260" y="7620"/>
                  </a:cubicBezTo>
                  <a:cubicBezTo>
                    <a:pt x="156972" y="3048"/>
                    <a:pt x="138684" y="0"/>
                    <a:pt x="121920" y="0"/>
                  </a:cubicBezTo>
                  <a:cubicBezTo>
                    <a:pt x="97536" y="0"/>
                    <a:pt x="77724" y="3048"/>
                    <a:pt x="60960" y="10668"/>
                  </a:cubicBezTo>
                  <a:cubicBezTo>
                    <a:pt x="44196" y="16764"/>
                    <a:pt x="32004" y="27432"/>
                    <a:pt x="22860" y="39624"/>
                  </a:cubicBezTo>
                  <a:cubicBezTo>
                    <a:pt x="13716" y="51816"/>
                    <a:pt x="10668" y="65532"/>
                    <a:pt x="10668" y="80772"/>
                  </a:cubicBezTo>
                  <a:cubicBezTo>
                    <a:pt x="10668" y="96012"/>
                    <a:pt x="13716" y="109728"/>
                    <a:pt x="19812" y="118872"/>
                  </a:cubicBezTo>
                  <a:cubicBezTo>
                    <a:pt x="25908" y="128016"/>
                    <a:pt x="35052" y="135636"/>
                    <a:pt x="45720" y="141732"/>
                  </a:cubicBezTo>
                  <a:cubicBezTo>
                    <a:pt x="56388" y="146304"/>
                    <a:pt x="68580" y="150876"/>
                    <a:pt x="80772" y="153924"/>
                  </a:cubicBezTo>
                  <a:cubicBezTo>
                    <a:pt x="94488" y="156972"/>
                    <a:pt x="108204" y="160020"/>
                    <a:pt x="120396" y="161544"/>
                  </a:cubicBezTo>
                  <a:cubicBezTo>
                    <a:pt x="134112" y="163068"/>
                    <a:pt x="146304" y="166116"/>
                    <a:pt x="156972" y="169164"/>
                  </a:cubicBezTo>
                  <a:cubicBezTo>
                    <a:pt x="167640" y="172212"/>
                    <a:pt x="175260" y="176784"/>
                    <a:pt x="182880" y="182880"/>
                  </a:cubicBezTo>
                  <a:cubicBezTo>
                    <a:pt x="188976" y="188976"/>
                    <a:pt x="192024" y="196596"/>
                    <a:pt x="192024" y="207264"/>
                  </a:cubicBezTo>
                  <a:cubicBezTo>
                    <a:pt x="192024" y="220980"/>
                    <a:pt x="185928" y="231648"/>
                    <a:pt x="175260" y="240792"/>
                  </a:cubicBezTo>
                  <a:cubicBezTo>
                    <a:pt x="163068" y="248412"/>
                    <a:pt x="143256" y="252984"/>
                    <a:pt x="117348" y="252984"/>
                  </a:cubicBezTo>
                  <a:cubicBezTo>
                    <a:pt x="97536" y="252984"/>
                    <a:pt x="79248" y="249936"/>
                    <a:pt x="60960" y="243840"/>
                  </a:cubicBezTo>
                  <a:cubicBezTo>
                    <a:pt x="42672" y="237744"/>
                    <a:pt x="28956" y="230124"/>
                    <a:pt x="16764" y="220980"/>
                  </a:cubicBezTo>
                  <a:lnTo>
                    <a:pt x="0" y="251460"/>
                  </a:lnTo>
                  <a:cubicBezTo>
                    <a:pt x="12192" y="260604"/>
                    <a:pt x="27432" y="269748"/>
                    <a:pt x="48768" y="275844"/>
                  </a:cubicBezTo>
                  <a:cubicBezTo>
                    <a:pt x="68580" y="283464"/>
                    <a:pt x="91440" y="286512"/>
                    <a:pt x="114300" y="286512"/>
                  </a:cubicBezTo>
                  <a:cubicBezTo>
                    <a:pt x="138684" y="286512"/>
                    <a:pt x="160020" y="283464"/>
                    <a:pt x="176784" y="275844"/>
                  </a:cubicBezTo>
                  <a:close/>
                </a:path>
              </a:pathLst>
            </a:custGeom>
            <a:solidFill>
              <a:srgbClr val="FFFFFF"/>
            </a:solidFill>
          </p:spPr>
          <p:txBody>
            <a:bodyPr/>
            <a:lstStyle/>
            <a:p>
              <a:endParaRPr lang="en-SG"/>
            </a:p>
          </p:txBody>
        </p:sp>
      </p:grpSp>
      <p:grpSp>
        <p:nvGrpSpPr>
          <p:cNvPr id="16" name="Group 16"/>
          <p:cNvGrpSpPr/>
          <p:nvPr/>
        </p:nvGrpSpPr>
        <p:grpSpPr>
          <a:xfrm>
            <a:off x="4423153" y="1875025"/>
            <a:ext cx="1384297" cy="527809"/>
            <a:chOff x="0" y="0"/>
            <a:chExt cx="1384300" cy="527812"/>
          </a:xfrm>
        </p:grpSpPr>
        <p:sp>
          <p:nvSpPr>
            <p:cNvPr id="17" name="Freeform 17"/>
            <p:cNvSpPr/>
            <p:nvPr/>
          </p:nvSpPr>
          <p:spPr>
            <a:xfrm>
              <a:off x="63500" y="63500"/>
              <a:ext cx="39624" cy="397764"/>
            </a:xfrm>
            <a:custGeom>
              <a:avLst/>
              <a:gdLst/>
              <a:ahLst/>
              <a:cxnLst/>
              <a:rect l="l" t="t" r="r" b="b"/>
              <a:pathLst>
                <a:path w="39624" h="397764">
                  <a:moveTo>
                    <a:pt x="0" y="0"/>
                  </a:moveTo>
                  <a:lnTo>
                    <a:pt x="39624" y="0"/>
                  </a:lnTo>
                  <a:lnTo>
                    <a:pt x="39624" y="397764"/>
                  </a:lnTo>
                  <a:lnTo>
                    <a:pt x="0" y="397764"/>
                  </a:lnTo>
                  <a:close/>
                </a:path>
              </a:pathLst>
            </a:custGeom>
            <a:solidFill>
              <a:srgbClr val="FFFFFF"/>
            </a:solidFill>
          </p:spPr>
          <p:txBody>
            <a:bodyPr/>
            <a:lstStyle/>
            <a:p>
              <a:endParaRPr lang="en-SG"/>
            </a:p>
          </p:txBody>
        </p:sp>
        <p:sp>
          <p:nvSpPr>
            <p:cNvPr id="18" name="Freeform 18"/>
            <p:cNvSpPr/>
            <p:nvPr/>
          </p:nvSpPr>
          <p:spPr>
            <a:xfrm>
              <a:off x="180848" y="177800"/>
              <a:ext cx="274320" cy="286512"/>
            </a:xfrm>
            <a:custGeom>
              <a:avLst/>
              <a:gdLst/>
              <a:ahLst/>
              <a:cxnLst/>
              <a:rect l="l" t="t" r="r" b="b"/>
              <a:pathLst>
                <a:path w="274320" h="286512">
                  <a:moveTo>
                    <a:pt x="208788" y="274320"/>
                  </a:moveTo>
                  <a:cubicBezTo>
                    <a:pt x="228600" y="266700"/>
                    <a:pt x="243840" y="254508"/>
                    <a:pt x="256032" y="240792"/>
                  </a:cubicBezTo>
                  <a:lnTo>
                    <a:pt x="234696" y="214884"/>
                  </a:lnTo>
                  <a:cubicBezTo>
                    <a:pt x="224028" y="228600"/>
                    <a:pt x="211836" y="237744"/>
                    <a:pt x="196596" y="243840"/>
                  </a:cubicBezTo>
                  <a:cubicBezTo>
                    <a:pt x="181356" y="249936"/>
                    <a:pt x="166116" y="252984"/>
                    <a:pt x="149352" y="252984"/>
                  </a:cubicBezTo>
                  <a:cubicBezTo>
                    <a:pt x="126492" y="252984"/>
                    <a:pt x="108204" y="248412"/>
                    <a:pt x="91440" y="239268"/>
                  </a:cubicBezTo>
                  <a:cubicBezTo>
                    <a:pt x="73152" y="230124"/>
                    <a:pt x="60960" y="216408"/>
                    <a:pt x="51816" y="201168"/>
                  </a:cubicBezTo>
                  <a:cubicBezTo>
                    <a:pt x="41148" y="184404"/>
                    <a:pt x="36576" y="166116"/>
                    <a:pt x="36576" y="144780"/>
                  </a:cubicBezTo>
                  <a:lnTo>
                    <a:pt x="36576" y="138684"/>
                  </a:lnTo>
                  <a:cubicBezTo>
                    <a:pt x="36576" y="117348"/>
                    <a:pt x="41148" y="99060"/>
                    <a:pt x="50292" y="83820"/>
                  </a:cubicBezTo>
                  <a:cubicBezTo>
                    <a:pt x="57912" y="67056"/>
                    <a:pt x="70104" y="54864"/>
                    <a:pt x="85344" y="45720"/>
                  </a:cubicBezTo>
                  <a:cubicBezTo>
                    <a:pt x="100584" y="36576"/>
                    <a:pt x="118872" y="32004"/>
                    <a:pt x="137160" y="32004"/>
                  </a:cubicBezTo>
                  <a:cubicBezTo>
                    <a:pt x="156972" y="32004"/>
                    <a:pt x="173736" y="36576"/>
                    <a:pt x="188976" y="45720"/>
                  </a:cubicBezTo>
                  <a:cubicBezTo>
                    <a:pt x="204216" y="54864"/>
                    <a:pt x="216408" y="67056"/>
                    <a:pt x="225552" y="83820"/>
                  </a:cubicBezTo>
                  <a:cubicBezTo>
                    <a:pt x="233172" y="99060"/>
                    <a:pt x="237744" y="117348"/>
                    <a:pt x="237744" y="137160"/>
                  </a:cubicBezTo>
                  <a:lnTo>
                    <a:pt x="252984" y="126492"/>
                  </a:lnTo>
                  <a:lnTo>
                    <a:pt x="28956" y="126492"/>
                  </a:lnTo>
                  <a:lnTo>
                    <a:pt x="28956" y="153924"/>
                  </a:lnTo>
                  <a:lnTo>
                    <a:pt x="272796" y="153924"/>
                  </a:lnTo>
                  <a:cubicBezTo>
                    <a:pt x="272796" y="152400"/>
                    <a:pt x="272796" y="150876"/>
                    <a:pt x="274320" y="147828"/>
                  </a:cubicBezTo>
                  <a:cubicBezTo>
                    <a:pt x="274320" y="146304"/>
                    <a:pt x="274320" y="144780"/>
                    <a:pt x="274320" y="143256"/>
                  </a:cubicBezTo>
                  <a:cubicBezTo>
                    <a:pt x="274320" y="114300"/>
                    <a:pt x="268224" y="89916"/>
                    <a:pt x="256032" y="68580"/>
                  </a:cubicBezTo>
                  <a:cubicBezTo>
                    <a:pt x="243840" y="47244"/>
                    <a:pt x="228600" y="30480"/>
                    <a:pt x="207264" y="18288"/>
                  </a:cubicBezTo>
                  <a:cubicBezTo>
                    <a:pt x="187452" y="6096"/>
                    <a:pt x="164592" y="0"/>
                    <a:pt x="137160" y="0"/>
                  </a:cubicBezTo>
                  <a:cubicBezTo>
                    <a:pt x="111252" y="0"/>
                    <a:pt x="88392" y="6096"/>
                    <a:pt x="67056" y="18288"/>
                  </a:cubicBezTo>
                  <a:cubicBezTo>
                    <a:pt x="45720" y="30480"/>
                    <a:pt x="30480" y="47244"/>
                    <a:pt x="18288" y="68580"/>
                  </a:cubicBezTo>
                  <a:cubicBezTo>
                    <a:pt x="6096" y="89916"/>
                    <a:pt x="0" y="114300"/>
                    <a:pt x="0" y="143256"/>
                  </a:cubicBezTo>
                  <a:cubicBezTo>
                    <a:pt x="0" y="170688"/>
                    <a:pt x="6096" y="195072"/>
                    <a:pt x="18288" y="216408"/>
                  </a:cubicBezTo>
                  <a:cubicBezTo>
                    <a:pt x="32004" y="237744"/>
                    <a:pt x="48768" y="256032"/>
                    <a:pt x="70104" y="268224"/>
                  </a:cubicBezTo>
                  <a:cubicBezTo>
                    <a:pt x="92964" y="280416"/>
                    <a:pt x="118872" y="286512"/>
                    <a:pt x="147828" y="286512"/>
                  </a:cubicBezTo>
                  <a:cubicBezTo>
                    <a:pt x="170688" y="286512"/>
                    <a:pt x="190500" y="281940"/>
                    <a:pt x="208788" y="274320"/>
                  </a:cubicBezTo>
                  <a:close/>
                </a:path>
              </a:pathLst>
            </a:custGeom>
            <a:solidFill>
              <a:srgbClr val="FFFFFF"/>
            </a:solidFill>
          </p:spPr>
          <p:txBody>
            <a:bodyPr/>
            <a:lstStyle/>
            <a:p>
              <a:endParaRPr lang="en-SG"/>
            </a:p>
          </p:txBody>
        </p:sp>
        <p:sp>
          <p:nvSpPr>
            <p:cNvPr id="19" name="Freeform 19"/>
            <p:cNvSpPr/>
            <p:nvPr/>
          </p:nvSpPr>
          <p:spPr>
            <a:xfrm>
              <a:off x="508508" y="177800"/>
              <a:ext cx="236220" cy="286512"/>
            </a:xfrm>
            <a:custGeom>
              <a:avLst/>
              <a:gdLst/>
              <a:ahLst/>
              <a:cxnLst/>
              <a:rect l="l" t="t" r="r" b="b"/>
              <a:pathLst>
                <a:path w="236220" h="286512">
                  <a:moveTo>
                    <a:pt x="236220" y="283464"/>
                  </a:moveTo>
                  <a:lnTo>
                    <a:pt x="236220" y="109728"/>
                  </a:lnTo>
                  <a:cubicBezTo>
                    <a:pt x="236220" y="71628"/>
                    <a:pt x="225552" y="44196"/>
                    <a:pt x="205740" y="27432"/>
                  </a:cubicBezTo>
                  <a:cubicBezTo>
                    <a:pt x="185928" y="9144"/>
                    <a:pt x="158496" y="0"/>
                    <a:pt x="121920" y="0"/>
                  </a:cubicBezTo>
                  <a:cubicBezTo>
                    <a:pt x="100584" y="0"/>
                    <a:pt x="79248" y="3048"/>
                    <a:pt x="59436" y="9144"/>
                  </a:cubicBezTo>
                  <a:cubicBezTo>
                    <a:pt x="39624" y="16764"/>
                    <a:pt x="21336" y="25908"/>
                    <a:pt x="7620" y="38100"/>
                  </a:cubicBezTo>
                  <a:lnTo>
                    <a:pt x="24384" y="65532"/>
                  </a:lnTo>
                  <a:cubicBezTo>
                    <a:pt x="36576" y="56388"/>
                    <a:pt x="50292" y="48768"/>
                    <a:pt x="67056" y="42672"/>
                  </a:cubicBezTo>
                  <a:cubicBezTo>
                    <a:pt x="82296" y="36576"/>
                    <a:pt x="100584" y="33528"/>
                    <a:pt x="118872" y="33528"/>
                  </a:cubicBezTo>
                  <a:cubicBezTo>
                    <a:pt x="144780" y="33528"/>
                    <a:pt x="164592" y="39624"/>
                    <a:pt x="178308" y="51816"/>
                  </a:cubicBezTo>
                  <a:cubicBezTo>
                    <a:pt x="192024" y="65532"/>
                    <a:pt x="198120" y="83820"/>
                    <a:pt x="198120" y="106680"/>
                  </a:cubicBezTo>
                  <a:lnTo>
                    <a:pt x="198120" y="211836"/>
                  </a:lnTo>
                  <a:lnTo>
                    <a:pt x="199644" y="220980"/>
                  </a:lnTo>
                  <a:lnTo>
                    <a:pt x="199644" y="283464"/>
                  </a:lnTo>
                  <a:lnTo>
                    <a:pt x="236220" y="283464"/>
                  </a:lnTo>
                  <a:close/>
                  <a:moveTo>
                    <a:pt x="169164" y="269748"/>
                  </a:moveTo>
                  <a:cubicBezTo>
                    <a:pt x="187452" y="259080"/>
                    <a:pt x="199644" y="243840"/>
                    <a:pt x="207264" y="225552"/>
                  </a:cubicBezTo>
                  <a:lnTo>
                    <a:pt x="198120" y="198120"/>
                  </a:lnTo>
                  <a:cubicBezTo>
                    <a:pt x="190500" y="217932"/>
                    <a:pt x="179832" y="231648"/>
                    <a:pt x="164592" y="240792"/>
                  </a:cubicBezTo>
                  <a:cubicBezTo>
                    <a:pt x="149352" y="251460"/>
                    <a:pt x="129540" y="256032"/>
                    <a:pt x="108204" y="256032"/>
                  </a:cubicBezTo>
                  <a:cubicBezTo>
                    <a:pt x="86868" y="256032"/>
                    <a:pt x="68580" y="251460"/>
                    <a:pt x="56388" y="242316"/>
                  </a:cubicBezTo>
                  <a:cubicBezTo>
                    <a:pt x="44196" y="231648"/>
                    <a:pt x="38100" y="219456"/>
                    <a:pt x="38100" y="202692"/>
                  </a:cubicBezTo>
                  <a:cubicBezTo>
                    <a:pt x="38100" y="188976"/>
                    <a:pt x="42672" y="176784"/>
                    <a:pt x="53340" y="167640"/>
                  </a:cubicBezTo>
                  <a:cubicBezTo>
                    <a:pt x="64008" y="156972"/>
                    <a:pt x="82296" y="152400"/>
                    <a:pt x="109728" y="152400"/>
                  </a:cubicBezTo>
                  <a:lnTo>
                    <a:pt x="205740" y="152400"/>
                  </a:lnTo>
                  <a:lnTo>
                    <a:pt x="205740" y="124968"/>
                  </a:lnTo>
                  <a:lnTo>
                    <a:pt x="108204" y="124968"/>
                  </a:lnTo>
                  <a:cubicBezTo>
                    <a:pt x="82296" y="124968"/>
                    <a:pt x="60960" y="128016"/>
                    <a:pt x="44196" y="135636"/>
                  </a:cubicBezTo>
                  <a:cubicBezTo>
                    <a:pt x="28956" y="143256"/>
                    <a:pt x="18288" y="152400"/>
                    <a:pt x="10668" y="164592"/>
                  </a:cubicBezTo>
                  <a:cubicBezTo>
                    <a:pt x="3048" y="176784"/>
                    <a:pt x="0" y="188976"/>
                    <a:pt x="0" y="204216"/>
                  </a:cubicBezTo>
                  <a:cubicBezTo>
                    <a:pt x="0" y="220980"/>
                    <a:pt x="4572" y="234696"/>
                    <a:pt x="12192" y="246888"/>
                  </a:cubicBezTo>
                  <a:cubicBezTo>
                    <a:pt x="21336" y="259080"/>
                    <a:pt x="32004" y="268224"/>
                    <a:pt x="48768" y="275844"/>
                  </a:cubicBezTo>
                  <a:cubicBezTo>
                    <a:pt x="64008" y="281940"/>
                    <a:pt x="82296" y="286512"/>
                    <a:pt x="103632" y="286512"/>
                  </a:cubicBezTo>
                  <a:cubicBezTo>
                    <a:pt x="129540" y="286512"/>
                    <a:pt x="152400" y="280416"/>
                    <a:pt x="169164" y="269748"/>
                  </a:cubicBezTo>
                  <a:close/>
                </a:path>
              </a:pathLst>
            </a:custGeom>
            <a:solidFill>
              <a:srgbClr val="FFFFFF"/>
            </a:solidFill>
          </p:spPr>
          <p:txBody>
            <a:bodyPr/>
            <a:lstStyle/>
            <a:p>
              <a:endParaRPr lang="en-SG"/>
            </a:p>
          </p:txBody>
        </p:sp>
        <p:sp>
          <p:nvSpPr>
            <p:cNvPr id="20" name="Freeform 20"/>
            <p:cNvSpPr/>
            <p:nvPr/>
          </p:nvSpPr>
          <p:spPr>
            <a:xfrm>
              <a:off x="848360" y="177800"/>
              <a:ext cx="140208" cy="283464"/>
            </a:xfrm>
            <a:custGeom>
              <a:avLst/>
              <a:gdLst/>
              <a:ahLst/>
              <a:cxnLst/>
              <a:rect l="l" t="t" r="r" b="b"/>
              <a:pathLst>
                <a:path w="140208" h="283464">
                  <a:moveTo>
                    <a:pt x="36576" y="283464"/>
                  </a:moveTo>
                  <a:lnTo>
                    <a:pt x="36576" y="140208"/>
                  </a:lnTo>
                  <a:cubicBezTo>
                    <a:pt x="36576" y="106680"/>
                    <a:pt x="45720" y="80772"/>
                    <a:pt x="62484" y="64008"/>
                  </a:cubicBezTo>
                  <a:cubicBezTo>
                    <a:pt x="79248" y="45720"/>
                    <a:pt x="102108" y="36576"/>
                    <a:pt x="132588" y="36576"/>
                  </a:cubicBezTo>
                  <a:cubicBezTo>
                    <a:pt x="134112" y="36576"/>
                    <a:pt x="134112" y="36576"/>
                    <a:pt x="135636" y="36576"/>
                  </a:cubicBezTo>
                  <a:cubicBezTo>
                    <a:pt x="137160" y="36576"/>
                    <a:pt x="138684" y="36576"/>
                    <a:pt x="140208" y="36576"/>
                  </a:cubicBezTo>
                  <a:lnTo>
                    <a:pt x="140208" y="0"/>
                  </a:lnTo>
                  <a:cubicBezTo>
                    <a:pt x="112776" y="0"/>
                    <a:pt x="89916" y="6096"/>
                    <a:pt x="71628" y="16764"/>
                  </a:cubicBezTo>
                  <a:cubicBezTo>
                    <a:pt x="53340" y="27432"/>
                    <a:pt x="39624" y="44196"/>
                    <a:pt x="32004" y="65532"/>
                  </a:cubicBezTo>
                  <a:lnTo>
                    <a:pt x="35052" y="79248"/>
                  </a:lnTo>
                  <a:lnTo>
                    <a:pt x="35052" y="3048"/>
                  </a:lnTo>
                  <a:lnTo>
                    <a:pt x="0" y="3048"/>
                  </a:lnTo>
                  <a:lnTo>
                    <a:pt x="0" y="283464"/>
                  </a:lnTo>
                  <a:lnTo>
                    <a:pt x="36576" y="283464"/>
                  </a:lnTo>
                  <a:close/>
                </a:path>
              </a:pathLst>
            </a:custGeom>
            <a:solidFill>
              <a:srgbClr val="FFFFFF"/>
            </a:solidFill>
          </p:spPr>
          <p:txBody>
            <a:bodyPr/>
            <a:lstStyle/>
            <a:p>
              <a:endParaRPr lang="en-SG"/>
            </a:p>
          </p:txBody>
        </p:sp>
        <p:sp>
          <p:nvSpPr>
            <p:cNvPr id="21" name="Freeform 21"/>
            <p:cNvSpPr/>
            <p:nvPr/>
          </p:nvSpPr>
          <p:spPr>
            <a:xfrm>
              <a:off x="1061720" y="177800"/>
              <a:ext cx="259080" cy="283464"/>
            </a:xfrm>
            <a:custGeom>
              <a:avLst/>
              <a:gdLst/>
              <a:ahLst/>
              <a:cxnLst/>
              <a:rect l="l" t="t" r="r" b="b"/>
              <a:pathLst>
                <a:path w="259080" h="283464">
                  <a:moveTo>
                    <a:pt x="38100" y="283464"/>
                  </a:moveTo>
                  <a:lnTo>
                    <a:pt x="38100" y="135636"/>
                  </a:lnTo>
                  <a:cubicBezTo>
                    <a:pt x="38100" y="114300"/>
                    <a:pt x="42672" y="96012"/>
                    <a:pt x="50292" y="80772"/>
                  </a:cubicBezTo>
                  <a:cubicBezTo>
                    <a:pt x="57912" y="65532"/>
                    <a:pt x="70104" y="54864"/>
                    <a:pt x="83820" y="45720"/>
                  </a:cubicBezTo>
                  <a:cubicBezTo>
                    <a:pt x="99060" y="38100"/>
                    <a:pt x="117348" y="33528"/>
                    <a:pt x="137160" y="33528"/>
                  </a:cubicBezTo>
                  <a:cubicBezTo>
                    <a:pt x="163068" y="33528"/>
                    <a:pt x="184404" y="41148"/>
                    <a:pt x="199644" y="56388"/>
                  </a:cubicBezTo>
                  <a:cubicBezTo>
                    <a:pt x="213360" y="71628"/>
                    <a:pt x="220980" y="94488"/>
                    <a:pt x="220980" y="123444"/>
                  </a:cubicBezTo>
                  <a:lnTo>
                    <a:pt x="220980" y="283464"/>
                  </a:lnTo>
                  <a:lnTo>
                    <a:pt x="259080" y="283464"/>
                  </a:lnTo>
                  <a:lnTo>
                    <a:pt x="259080" y="120396"/>
                  </a:lnTo>
                  <a:cubicBezTo>
                    <a:pt x="259080" y="92964"/>
                    <a:pt x="254508" y="70104"/>
                    <a:pt x="243840" y="53340"/>
                  </a:cubicBezTo>
                  <a:cubicBezTo>
                    <a:pt x="234696" y="35052"/>
                    <a:pt x="220980" y="21336"/>
                    <a:pt x="204216" y="13716"/>
                  </a:cubicBezTo>
                  <a:cubicBezTo>
                    <a:pt x="185928" y="4572"/>
                    <a:pt x="166116" y="0"/>
                    <a:pt x="143256" y="0"/>
                  </a:cubicBezTo>
                  <a:cubicBezTo>
                    <a:pt x="115824" y="0"/>
                    <a:pt x="92964" y="6096"/>
                    <a:pt x="73152" y="16764"/>
                  </a:cubicBezTo>
                  <a:cubicBezTo>
                    <a:pt x="53340" y="28956"/>
                    <a:pt x="39624" y="44196"/>
                    <a:pt x="30480" y="65532"/>
                  </a:cubicBezTo>
                  <a:lnTo>
                    <a:pt x="36576" y="79248"/>
                  </a:lnTo>
                  <a:lnTo>
                    <a:pt x="36576" y="3048"/>
                  </a:lnTo>
                  <a:lnTo>
                    <a:pt x="0" y="3048"/>
                  </a:lnTo>
                  <a:lnTo>
                    <a:pt x="0" y="283464"/>
                  </a:lnTo>
                  <a:lnTo>
                    <a:pt x="38100" y="283464"/>
                  </a:lnTo>
                  <a:close/>
                </a:path>
              </a:pathLst>
            </a:custGeom>
            <a:solidFill>
              <a:srgbClr val="FFFFFF"/>
            </a:solidFill>
          </p:spPr>
          <p:txBody>
            <a:bodyPr/>
            <a:lstStyle/>
            <a:p>
              <a:endParaRPr lang="en-SG"/>
            </a:p>
          </p:txBody>
        </p:sp>
      </p:grpSp>
      <p:grpSp>
        <p:nvGrpSpPr>
          <p:cNvPr id="22" name="Group 22"/>
          <p:cNvGrpSpPr/>
          <p:nvPr/>
        </p:nvGrpSpPr>
        <p:grpSpPr>
          <a:xfrm>
            <a:off x="5896861" y="1876549"/>
            <a:ext cx="1670809" cy="526285"/>
            <a:chOff x="0" y="0"/>
            <a:chExt cx="1670812" cy="526288"/>
          </a:xfrm>
        </p:grpSpPr>
        <p:sp>
          <p:nvSpPr>
            <p:cNvPr id="23" name="Freeform 23"/>
            <p:cNvSpPr/>
            <p:nvPr/>
          </p:nvSpPr>
          <p:spPr>
            <a:xfrm>
              <a:off x="63500" y="176276"/>
              <a:ext cx="234696" cy="286512"/>
            </a:xfrm>
            <a:custGeom>
              <a:avLst/>
              <a:gdLst/>
              <a:ahLst/>
              <a:cxnLst/>
              <a:rect l="l" t="t" r="r" b="b"/>
              <a:pathLst>
                <a:path w="234696" h="286512">
                  <a:moveTo>
                    <a:pt x="234696" y="283464"/>
                  </a:moveTo>
                  <a:lnTo>
                    <a:pt x="234696" y="109728"/>
                  </a:lnTo>
                  <a:cubicBezTo>
                    <a:pt x="234696" y="71628"/>
                    <a:pt x="225552" y="44196"/>
                    <a:pt x="205740" y="27432"/>
                  </a:cubicBezTo>
                  <a:cubicBezTo>
                    <a:pt x="185928" y="9144"/>
                    <a:pt x="158496" y="0"/>
                    <a:pt x="121920" y="0"/>
                  </a:cubicBezTo>
                  <a:cubicBezTo>
                    <a:pt x="99060" y="0"/>
                    <a:pt x="77724" y="3048"/>
                    <a:pt x="57912" y="9144"/>
                  </a:cubicBezTo>
                  <a:cubicBezTo>
                    <a:pt x="38100" y="16764"/>
                    <a:pt x="21336" y="25908"/>
                    <a:pt x="7620" y="38100"/>
                  </a:cubicBezTo>
                  <a:lnTo>
                    <a:pt x="24384" y="65532"/>
                  </a:lnTo>
                  <a:cubicBezTo>
                    <a:pt x="35052" y="56388"/>
                    <a:pt x="48768" y="48768"/>
                    <a:pt x="65532" y="42672"/>
                  </a:cubicBezTo>
                  <a:cubicBezTo>
                    <a:pt x="82296" y="36576"/>
                    <a:pt x="99060" y="33528"/>
                    <a:pt x="117348" y="33528"/>
                  </a:cubicBezTo>
                  <a:cubicBezTo>
                    <a:pt x="144780" y="33528"/>
                    <a:pt x="164592" y="39624"/>
                    <a:pt x="176784" y="51816"/>
                  </a:cubicBezTo>
                  <a:cubicBezTo>
                    <a:pt x="190500" y="65532"/>
                    <a:pt x="198120" y="83820"/>
                    <a:pt x="198120" y="106680"/>
                  </a:cubicBezTo>
                  <a:lnTo>
                    <a:pt x="198120" y="211836"/>
                  </a:lnTo>
                  <a:lnTo>
                    <a:pt x="199644" y="220980"/>
                  </a:lnTo>
                  <a:lnTo>
                    <a:pt x="199644" y="283464"/>
                  </a:lnTo>
                  <a:lnTo>
                    <a:pt x="234696" y="283464"/>
                  </a:lnTo>
                  <a:close/>
                  <a:moveTo>
                    <a:pt x="169164" y="269748"/>
                  </a:moveTo>
                  <a:cubicBezTo>
                    <a:pt x="185928" y="259080"/>
                    <a:pt x="198120" y="243840"/>
                    <a:pt x="205740" y="225552"/>
                  </a:cubicBezTo>
                  <a:lnTo>
                    <a:pt x="198120" y="198120"/>
                  </a:lnTo>
                  <a:cubicBezTo>
                    <a:pt x="190500" y="217932"/>
                    <a:pt x="178308" y="231648"/>
                    <a:pt x="163068" y="240792"/>
                  </a:cubicBezTo>
                  <a:cubicBezTo>
                    <a:pt x="147828" y="251460"/>
                    <a:pt x="129540" y="256032"/>
                    <a:pt x="108204" y="256032"/>
                  </a:cubicBezTo>
                  <a:cubicBezTo>
                    <a:pt x="85344" y="256032"/>
                    <a:pt x="68580" y="251460"/>
                    <a:pt x="56388" y="242316"/>
                  </a:cubicBezTo>
                  <a:cubicBezTo>
                    <a:pt x="42672" y="231648"/>
                    <a:pt x="36576" y="219456"/>
                    <a:pt x="36576" y="202692"/>
                  </a:cubicBezTo>
                  <a:cubicBezTo>
                    <a:pt x="36576" y="188976"/>
                    <a:pt x="42672" y="176784"/>
                    <a:pt x="53340" y="167640"/>
                  </a:cubicBezTo>
                  <a:cubicBezTo>
                    <a:pt x="64008" y="156972"/>
                    <a:pt x="82296" y="152400"/>
                    <a:pt x="109728" y="152400"/>
                  </a:cubicBezTo>
                  <a:lnTo>
                    <a:pt x="204216" y="152400"/>
                  </a:lnTo>
                  <a:lnTo>
                    <a:pt x="204216" y="124968"/>
                  </a:lnTo>
                  <a:lnTo>
                    <a:pt x="108204" y="124968"/>
                  </a:lnTo>
                  <a:cubicBezTo>
                    <a:pt x="80772" y="124968"/>
                    <a:pt x="59436" y="128016"/>
                    <a:pt x="44196" y="135636"/>
                  </a:cubicBezTo>
                  <a:cubicBezTo>
                    <a:pt x="28956" y="143256"/>
                    <a:pt x="16764" y="152400"/>
                    <a:pt x="10668" y="164592"/>
                  </a:cubicBezTo>
                  <a:cubicBezTo>
                    <a:pt x="3048" y="176784"/>
                    <a:pt x="0" y="188976"/>
                    <a:pt x="0" y="204216"/>
                  </a:cubicBezTo>
                  <a:cubicBezTo>
                    <a:pt x="0" y="220980"/>
                    <a:pt x="3048" y="234696"/>
                    <a:pt x="12192" y="246888"/>
                  </a:cubicBezTo>
                  <a:cubicBezTo>
                    <a:pt x="19812" y="259080"/>
                    <a:pt x="32004" y="268224"/>
                    <a:pt x="47244" y="275844"/>
                  </a:cubicBezTo>
                  <a:cubicBezTo>
                    <a:pt x="62484" y="281940"/>
                    <a:pt x="80772" y="286512"/>
                    <a:pt x="102108" y="286512"/>
                  </a:cubicBezTo>
                  <a:cubicBezTo>
                    <a:pt x="129540" y="286512"/>
                    <a:pt x="150876" y="280416"/>
                    <a:pt x="169164" y="269748"/>
                  </a:cubicBezTo>
                  <a:close/>
                </a:path>
              </a:pathLst>
            </a:custGeom>
            <a:solidFill>
              <a:srgbClr val="FFFFFF"/>
            </a:solidFill>
          </p:spPr>
          <p:txBody>
            <a:bodyPr/>
            <a:lstStyle/>
            <a:p>
              <a:endParaRPr lang="en-SG"/>
            </a:p>
          </p:txBody>
        </p:sp>
        <p:sp>
          <p:nvSpPr>
            <p:cNvPr id="24" name="Freeform 24"/>
            <p:cNvSpPr/>
            <p:nvPr/>
          </p:nvSpPr>
          <p:spPr>
            <a:xfrm>
              <a:off x="401828" y="63500"/>
              <a:ext cx="284988" cy="399288"/>
            </a:xfrm>
            <a:custGeom>
              <a:avLst/>
              <a:gdLst/>
              <a:ahLst/>
              <a:cxnLst/>
              <a:rect l="l" t="t" r="r" b="b"/>
              <a:pathLst>
                <a:path w="284988" h="399288">
                  <a:moveTo>
                    <a:pt x="216408" y="381000"/>
                  </a:moveTo>
                  <a:cubicBezTo>
                    <a:pt x="237744" y="368808"/>
                    <a:pt x="254508" y="352044"/>
                    <a:pt x="266700" y="330708"/>
                  </a:cubicBezTo>
                  <a:cubicBezTo>
                    <a:pt x="278892" y="307848"/>
                    <a:pt x="284988" y="283464"/>
                    <a:pt x="284988" y="256032"/>
                  </a:cubicBezTo>
                  <a:cubicBezTo>
                    <a:pt x="284988" y="227076"/>
                    <a:pt x="278892" y="202692"/>
                    <a:pt x="266700" y="179832"/>
                  </a:cubicBezTo>
                  <a:cubicBezTo>
                    <a:pt x="254508" y="158496"/>
                    <a:pt x="237744" y="143256"/>
                    <a:pt x="216408" y="131064"/>
                  </a:cubicBezTo>
                  <a:cubicBezTo>
                    <a:pt x="195072" y="118872"/>
                    <a:pt x="172212" y="112776"/>
                    <a:pt x="144780" y="112776"/>
                  </a:cubicBezTo>
                  <a:cubicBezTo>
                    <a:pt x="120396" y="112776"/>
                    <a:pt x="99060" y="118872"/>
                    <a:pt x="79248" y="129540"/>
                  </a:cubicBezTo>
                  <a:cubicBezTo>
                    <a:pt x="59436" y="140208"/>
                    <a:pt x="44196" y="156972"/>
                    <a:pt x="32004" y="178308"/>
                  </a:cubicBezTo>
                  <a:cubicBezTo>
                    <a:pt x="21336" y="198120"/>
                    <a:pt x="15240" y="225552"/>
                    <a:pt x="15240" y="256032"/>
                  </a:cubicBezTo>
                  <a:cubicBezTo>
                    <a:pt x="15240" y="286512"/>
                    <a:pt x="21336" y="310896"/>
                    <a:pt x="32004" y="333756"/>
                  </a:cubicBezTo>
                  <a:cubicBezTo>
                    <a:pt x="44196" y="355092"/>
                    <a:pt x="59436" y="370332"/>
                    <a:pt x="79248" y="382524"/>
                  </a:cubicBezTo>
                  <a:cubicBezTo>
                    <a:pt x="99060" y="393192"/>
                    <a:pt x="120396" y="399288"/>
                    <a:pt x="144780" y="399288"/>
                  </a:cubicBezTo>
                  <a:cubicBezTo>
                    <a:pt x="172212" y="399288"/>
                    <a:pt x="195072" y="393192"/>
                    <a:pt x="216408" y="381000"/>
                  </a:cubicBezTo>
                  <a:close/>
                  <a:moveTo>
                    <a:pt x="36576" y="396240"/>
                  </a:moveTo>
                  <a:lnTo>
                    <a:pt x="36576" y="310896"/>
                  </a:lnTo>
                  <a:lnTo>
                    <a:pt x="33528" y="254508"/>
                  </a:lnTo>
                  <a:lnTo>
                    <a:pt x="38100" y="198120"/>
                  </a:lnTo>
                  <a:lnTo>
                    <a:pt x="38100" y="0"/>
                  </a:lnTo>
                  <a:lnTo>
                    <a:pt x="0" y="0"/>
                  </a:lnTo>
                  <a:lnTo>
                    <a:pt x="0" y="396240"/>
                  </a:lnTo>
                  <a:lnTo>
                    <a:pt x="36576" y="396240"/>
                  </a:lnTo>
                  <a:close/>
                  <a:moveTo>
                    <a:pt x="88392" y="352044"/>
                  </a:moveTo>
                  <a:cubicBezTo>
                    <a:pt x="73152" y="342900"/>
                    <a:pt x="60960" y="329184"/>
                    <a:pt x="51816" y="312420"/>
                  </a:cubicBezTo>
                  <a:cubicBezTo>
                    <a:pt x="42672" y="295656"/>
                    <a:pt x="38100" y="277368"/>
                    <a:pt x="38100" y="256032"/>
                  </a:cubicBezTo>
                  <a:cubicBezTo>
                    <a:pt x="38100" y="233172"/>
                    <a:pt x="42672" y="213360"/>
                    <a:pt x="51816" y="198120"/>
                  </a:cubicBezTo>
                  <a:cubicBezTo>
                    <a:pt x="60960" y="181356"/>
                    <a:pt x="73152" y="169164"/>
                    <a:pt x="88392" y="160020"/>
                  </a:cubicBezTo>
                  <a:cubicBezTo>
                    <a:pt x="105156" y="150876"/>
                    <a:pt x="121920" y="146304"/>
                    <a:pt x="141732" y="146304"/>
                  </a:cubicBezTo>
                  <a:cubicBezTo>
                    <a:pt x="163068" y="146304"/>
                    <a:pt x="179832" y="150876"/>
                    <a:pt x="196596" y="160020"/>
                  </a:cubicBezTo>
                  <a:cubicBezTo>
                    <a:pt x="211836" y="169164"/>
                    <a:pt x="224028" y="181356"/>
                    <a:pt x="233172" y="198120"/>
                  </a:cubicBezTo>
                  <a:cubicBezTo>
                    <a:pt x="242316" y="213360"/>
                    <a:pt x="246888" y="233172"/>
                    <a:pt x="246888" y="256032"/>
                  </a:cubicBezTo>
                  <a:cubicBezTo>
                    <a:pt x="246888" y="277368"/>
                    <a:pt x="242316" y="295656"/>
                    <a:pt x="233172" y="312420"/>
                  </a:cubicBezTo>
                  <a:cubicBezTo>
                    <a:pt x="224028" y="329184"/>
                    <a:pt x="211836" y="342900"/>
                    <a:pt x="196596" y="352044"/>
                  </a:cubicBezTo>
                  <a:cubicBezTo>
                    <a:pt x="179832" y="361188"/>
                    <a:pt x="163068" y="365760"/>
                    <a:pt x="141732" y="365760"/>
                  </a:cubicBezTo>
                  <a:cubicBezTo>
                    <a:pt x="121920" y="365760"/>
                    <a:pt x="105156" y="361188"/>
                    <a:pt x="88392" y="352044"/>
                  </a:cubicBezTo>
                  <a:close/>
                </a:path>
              </a:pathLst>
            </a:custGeom>
            <a:solidFill>
              <a:srgbClr val="FFFFFF"/>
            </a:solidFill>
          </p:spPr>
          <p:txBody>
            <a:bodyPr/>
            <a:lstStyle/>
            <a:p>
              <a:endParaRPr lang="en-SG"/>
            </a:p>
          </p:txBody>
        </p:sp>
        <p:sp>
          <p:nvSpPr>
            <p:cNvPr id="25" name="Freeform 25"/>
            <p:cNvSpPr/>
            <p:nvPr/>
          </p:nvSpPr>
          <p:spPr>
            <a:xfrm>
              <a:off x="735584" y="176276"/>
              <a:ext cx="286512" cy="286512"/>
            </a:xfrm>
            <a:custGeom>
              <a:avLst/>
              <a:gdLst/>
              <a:ahLst/>
              <a:cxnLst/>
              <a:rect l="l" t="t" r="r" b="b"/>
              <a:pathLst>
                <a:path w="286512" h="286512">
                  <a:moveTo>
                    <a:pt x="216408" y="268224"/>
                  </a:moveTo>
                  <a:cubicBezTo>
                    <a:pt x="239268" y="256032"/>
                    <a:pt x="256032" y="237744"/>
                    <a:pt x="268224" y="216408"/>
                  </a:cubicBezTo>
                  <a:cubicBezTo>
                    <a:pt x="280416" y="195072"/>
                    <a:pt x="286512" y="170688"/>
                    <a:pt x="286512" y="143256"/>
                  </a:cubicBezTo>
                  <a:cubicBezTo>
                    <a:pt x="286512" y="114300"/>
                    <a:pt x="280416" y="89916"/>
                    <a:pt x="268224" y="68580"/>
                  </a:cubicBezTo>
                  <a:cubicBezTo>
                    <a:pt x="256032" y="47244"/>
                    <a:pt x="239268" y="30480"/>
                    <a:pt x="217932" y="18288"/>
                  </a:cubicBezTo>
                  <a:cubicBezTo>
                    <a:pt x="196596" y="6096"/>
                    <a:pt x="170688" y="0"/>
                    <a:pt x="143256" y="0"/>
                  </a:cubicBezTo>
                  <a:cubicBezTo>
                    <a:pt x="115824" y="0"/>
                    <a:pt x="91440" y="6096"/>
                    <a:pt x="70104" y="18288"/>
                  </a:cubicBezTo>
                  <a:cubicBezTo>
                    <a:pt x="48768" y="30480"/>
                    <a:pt x="32004" y="47244"/>
                    <a:pt x="19812" y="68580"/>
                  </a:cubicBezTo>
                  <a:cubicBezTo>
                    <a:pt x="6096" y="89916"/>
                    <a:pt x="0" y="114300"/>
                    <a:pt x="0" y="143256"/>
                  </a:cubicBezTo>
                  <a:cubicBezTo>
                    <a:pt x="0" y="170688"/>
                    <a:pt x="6096" y="195072"/>
                    <a:pt x="19812" y="216408"/>
                  </a:cubicBezTo>
                  <a:cubicBezTo>
                    <a:pt x="32004" y="237744"/>
                    <a:pt x="48768" y="256032"/>
                    <a:pt x="70104" y="268224"/>
                  </a:cubicBezTo>
                  <a:cubicBezTo>
                    <a:pt x="91440" y="280416"/>
                    <a:pt x="115824" y="286512"/>
                    <a:pt x="143256" y="286512"/>
                  </a:cubicBezTo>
                  <a:cubicBezTo>
                    <a:pt x="170688" y="286512"/>
                    <a:pt x="195072" y="280416"/>
                    <a:pt x="216408" y="268224"/>
                  </a:cubicBezTo>
                  <a:close/>
                  <a:moveTo>
                    <a:pt x="89916" y="239268"/>
                  </a:moveTo>
                  <a:cubicBezTo>
                    <a:pt x="74676" y="230124"/>
                    <a:pt x="62484" y="216408"/>
                    <a:pt x="53340" y="199644"/>
                  </a:cubicBezTo>
                  <a:cubicBezTo>
                    <a:pt x="44196" y="182880"/>
                    <a:pt x="39624" y="164592"/>
                    <a:pt x="39624" y="143256"/>
                  </a:cubicBezTo>
                  <a:cubicBezTo>
                    <a:pt x="39624" y="120396"/>
                    <a:pt x="44196" y="100584"/>
                    <a:pt x="53340" y="85344"/>
                  </a:cubicBezTo>
                  <a:cubicBezTo>
                    <a:pt x="62484" y="68580"/>
                    <a:pt x="74676" y="56388"/>
                    <a:pt x="89916" y="47244"/>
                  </a:cubicBezTo>
                  <a:cubicBezTo>
                    <a:pt x="106680" y="38100"/>
                    <a:pt x="123444" y="33528"/>
                    <a:pt x="143256" y="33528"/>
                  </a:cubicBezTo>
                  <a:cubicBezTo>
                    <a:pt x="164592" y="33528"/>
                    <a:pt x="181356" y="38100"/>
                    <a:pt x="198120" y="47244"/>
                  </a:cubicBezTo>
                  <a:cubicBezTo>
                    <a:pt x="213360" y="56388"/>
                    <a:pt x="225552" y="68580"/>
                    <a:pt x="234696" y="85344"/>
                  </a:cubicBezTo>
                  <a:cubicBezTo>
                    <a:pt x="243840" y="100584"/>
                    <a:pt x="248412" y="120396"/>
                    <a:pt x="248412" y="143256"/>
                  </a:cubicBezTo>
                  <a:cubicBezTo>
                    <a:pt x="248412" y="164592"/>
                    <a:pt x="243840" y="182880"/>
                    <a:pt x="234696" y="199644"/>
                  </a:cubicBezTo>
                  <a:cubicBezTo>
                    <a:pt x="225552" y="216408"/>
                    <a:pt x="213360" y="230124"/>
                    <a:pt x="198120" y="239268"/>
                  </a:cubicBezTo>
                  <a:cubicBezTo>
                    <a:pt x="181356" y="248412"/>
                    <a:pt x="163068" y="252984"/>
                    <a:pt x="143256" y="252984"/>
                  </a:cubicBezTo>
                  <a:cubicBezTo>
                    <a:pt x="123444" y="252984"/>
                    <a:pt x="106680" y="248412"/>
                    <a:pt x="89916" y="239268"/>
                  </a:cubicBezTo>
                  <a:close/>
                </a:path>
              </a:pathLst>
            </a:custGeom>
            <a:solidFill>
              <a:srgbClr val="FFFFFF"/>
            </a:solidFill>
          </p:spPr>
          <p:txBody>
            <a:bodyPr/>
            <a:lstStyle/>
            <a:p>
              <a:endParaRPr lang="en-SG"/>
            </a:p>
          </p:txBody>
        </p:sp>
        <p:sp>
          <p:nvSpPr>
            <p:cNvPr id="26" name="Freeform 26"/>
            <p:cNvSpPr/>
            <p:nvPr/>
          </p:nvSpPr>
          <p:spPr>
            <a:xfrm>
              <a:off x="1096772" y="179324"/>
              <a:ext cx="256032" cy="283464"/>
            </a:xfrm>
            <a:custGeom>
              <a:avLst/>
              <a:gdLst/>
              <a:ahLst/>
              <a:cxnLst/>
              <a:rect l="l" t="t" r="r" b="b"/>
              <a:pathLst>
                <a:path w="256032" h="283464">
                  <a:moveTo>
                    <a:pt x="184404" y="265176"/>
                  </a:moveTo>
                  <a:cubicBezTo>
                    <a:pt x="202692" y="254508"/>
                    <a:pt x="216408" y="237744"/>
                    <a:pt x="225552" y="217932"/>
                  </a:cubicBezTo>
                  <a:lnTo>
                    <a:pt x="219456" y="202692"/>
                  </a:lnTo>
                  <a:lnTo>
                    <a:pt x="219456" y="280416"/>
                  </a:lnTo>
                  <a:lnTo>
                    <a:pt x="256032" y="280416"/>
                  </a:lnTo>
                  <a:lnTo>
                    <a:pt x="256032" y="0"/>
                  </a:lnTo>
                  <a:lnTo>
                    <a:pt x="217932" y="0"/>
                  </a:lnTo>
                  <a:lnTo>
                    <a:pt x="217932" y="146304"/>
                  </a:lnTo>
                  <a:cubicBezTo>
                    <a:pt x="217932" y="167640"/>
                    <a:pt x="214884" y="185928"/>
                    <a:pt x="207264" y="201168"/>
                  </a:cubicBezTo>
                  <a:cubicBezTo>
                    <a:pt x="199644" y="216408"/>
                    <a:pt x="188976" y="228600"/>
                    <a:pt x="173736" y="236220"/>
                  </a:cubicBezTo>
                  <a:cubicBezTo>
                    <a:pt x="160020" y="245364"/>
                    <a:pt x="141732" y="248412"/>
                    <a:pt x="123444" y="248412"/>
                  </a:cubicBezTo>
                  <a:cubicBezTo>
                    <a:pt x="96012" y="248412"/>
                    <a:pt x="74676" y="240792"/>
                    <a:pt x="60960" y="225552"/>
                  </a:cubicBezTo>
                  <a:cubicBezTo>
                    <a:pt x="45720" y="210312"/>
                    <a:pt x="38100" y="188976"/>
                    <a:pt x="38100" y="158496"/>
                  </a:cubicBezTo>
                  <a:lnTo>
                    <a:pt x="38100" y="0"/>
                  </a:lnTo>
                  <a:lnTo>
                    <a:pt x="0" y="0"/>
                  </a:lnTo>
                  <a:lnTo>
                    <a:pt x="0" y="163068"/>
                  </a:lnTo>
                  <a:cubicBezTo>
                    <a:pt x="0" y="188976"/>
                    <a:pt x="4572" y="211836"/>
                    <a:pt x="15240" y="230124"/>
                  </a:cubicBezTo>
                  <a:cubicBezTo>
                    <a:pt x="24384" y="246888"/>
                    <a:pt x="38100" y="260604"/>
                    <a:pt x="56388" y="269748"/>
                  </a:cubicBezTo>
                  <a:cubicBezTo>
                    <a:pt x="74676" y="278892"/>
                    <a:pt x="94488" y="283464"/>
                    <a:pt x="118872" y="283464"/>
                  </a:cubicBezTo>
                  <a:cubicBezTo>
                    <a:pt x="143256" y="283464"/>
                    <a:pt x="166116" y="277368"/>
                    <a:pt x="184404" y="265176"/>
                  </a:cubicBezTo>
                  <a:close/>
                </a:path>
              </a:pathLst>
            </a:custGeom>
            <a:solidFill>
              <a:srgbClr val="FFFFFF"/>
            </a:solidFill>
          </p:spPr>
          <p:txBody>
            <a:bodyPr/>
            <a:lstStyle/>
            <a:p>
              <a:endParaRPr lang="en-SG"/>
            </a:p>
          </p:txBody>
        </p:sp>
        <p:sp>
          <p:nvSpPr>
            <p:cNvPr id="27" name="Freeform 27"/>
            <p:cNvSpPr/>
            <p:nvPr/>
          </p:nvSpPr>
          <p:spPr>
            <a:xfrm>
              <a:off x="1415288" y="116840"/>
              <a:ext cx="192024" cy="345948"/>
            </a:xfrm>
            <a:custGeom>
              <a:avLst/>
              <a:gdLst/>
              <a:ahLst/>
              <a:cxnLst/>
              <a:rect l="l" t="t" r="r" b="b"/>
              <a:pathLst>
                <a:path w="192024" h="345948">
                  <a:moveTo>
                    <a:pt x="164592" y="341376"/>
                  </a:moveTo>
                  <a:cubicBezTo>
                    <a:pt x="175260" y="336804"/>
                    <a:pt x="184404" y="332232"/>
                    <a:pt x="192024" y="326136"/>
                  </a:cubicBezTo>
                  <a:lnTo>
                    <a:pt x="178308" y="298704"/>
                  </a:lnTo>
                  <a:cubicBezTo>
                    <a:pt x="167640" y="307848"/>
                    <a:pt x="153924" y="312420"/>
                    <a:pt x="137160" y="312420"/>
                  </a:cubicBezTo>
                  <a:cubicBezTo>
                    <a:pt x="120396" y="312420"/>
                    <a:pt x="109728" y="307848"/>
                    <a:pt x="100584" y="300228"/>
                  </a:cubicBezTo>
                  <a:cubicBezTo>
                    <a:pt x="92964" y="291084"/>
                    <a:pt x="88392" y="277368"/>
                    <a:pt x="88392" y="262128"/>
                  </a:cubicBezTo>
                  <a:lnTo>
                    <a:pt x="88392" y="0"/>
                  </a:lnTo>
                  <a:lnTo>
                    <a:pt x="50292" y="0"/>
                  </a:lnTo>
                  <a:lnTo>
                    <a:pt x="50292" y="263652"/>
                  </a:lnTo>
                  <a:cubicBezTo>
                    <a:pt x="50292" y="289560"/>
                    <a:pt x="57912" y="309372"/>
                    <a:pt x="71628" y="324612"/>
                  </a:cubicBezTo>
                  <a:cubicBezTo>
                    <a:pt x="85344" y="338328"/>
                    <a:pt x="106680" y="345948"/>
                    <a:pt x="132588" y="345948"/>
                  </a:cubicBezTo>
                  <a:cubicBezTo>
                    <a:pt x="143256" y="345948"/>
                    <a:pt x="153924" y="344424"/>
                    <a:pt x="164592" y="341376"/>
                  </a:cubicBezTo>
                  <a:close/>
                  <a:moveTo>
                    <a:pt x="173736" y="92964"/>
                  </a:moveTo>
                  <a:lnTo>
                    <a:pt x="173736" y="62484"/>
                  </a:lnTo>
                  <a:lnTo>
                    <a:pt x="0" y="62484"/>
                  </a:lnTo>
                  <a:lnTo>
                    <a:pt x="0" y="92964"/>
                  </a:lnTo>
                  <a:lnTo>
                    <a:pt x="173736" y="92964"/>
                  </a:lnTo>
                  <a:close/>
                </a:path>
              </a:pathLst>
            </a:custGeom>
            <a:solidFill>
              <a:srgbClr val="FFFFFF"/>
            </a:solidFill>
          </p:spPr>
          <p:txBody>
            <a:bodyPr/>
            <a:lstStyle/>
            <a:p>
              <a:endParaRPr lang="en-SG"/>
            </a:p>
          </p:txBody>
        </p:sp>
      </p:grpSp>
      <p:grpSp>
        <p:nvGrpSpPr>
          <p:cNvPr id="28" name="Group 28"/>
          <p:cNvGrpSpPr/>
          <p:nvPr/>
        </p:nvGrpSpPr>
        <p:grpSpPr>
          <a:xfrm>
            <a:off x="76200" y="1857756"/>
            <a:ext cx="1735836" cy="771144"/>
            <a:chOff x="0" y="0"/>
            <a:chExt cx="2314448" cy="1028192"/>
          </a:xfrm>
        </p:grpSpPr>
        <p:sp>
          <p:nvSpPr>
            <p:cNvPr id="29" name="Freeform 29"/>
            <p:cNvSpPr/>
            <p:nvPr/>
          </p:nvSpPr>
          <p:spPr>
            <a:xfrm>
              <a:off x="0" y="0"/>
              <a:ext cx="2314448" cy="1028192"/>
            </a:xfrm>
            <a:custGeom>
              <a:avLst/>
              <a:gdLst/>
              <a:ahLst/>
              <a:cxnLst/>
              <a:rect l="l" t="t" r="r" b="b"/>
              <a:pathLst>
                <a:path w="2314448" h="1028192">
                  <a:moveTo>
                    <a:pt x="0" y="0"/>
                  </a:moveTo>
                  <a:lnTo>
                    <a:pt x="2314448" y="0"/>
                  </a:lnTo>
                  <a:lnTo>
                    <a:pt x="2314448" y="1028192"/>
                  </a:lnTo>
                  <a:lnTo>
                    <a:pt x="0" y="1028192"/>
                  </a:lnTo>
                  <a:lnTo>
                    <a:pt x="0" y="0"/>
                  </a:lnTo>
                  <a:close/>
                </a:path>
              </a:pathLst>
            </a:custGeom>
            <a:blipFill>
              <a:blip r:embed="rId3"/>
              <a:stretch>
                <a:fillRect l="-351" t="-592"/>
              </a:stretch>
            </a:blipFill>
          </p:spPr>
          <p:txBody>
            <a:bodyPr/>
            <a:lstStyle/>
            <a:p>
              <a:endParaRPr lang="en-SG"/>
            </a:p>
          </p:txBody>
        </p:sp>
      </p:grpSp>
      <p:grpSp>
        <p:nvGrpSpPr>
          <p:cNvPr id="30" name="Group 30"/>
          <p:cNvGrpSpPr/>
          <p:nvPr/>
        </p:nvGrpSpPr>
        <p:grpSpPr>
          <a:xfrm>
            <a:off x="76200" y="5481828"/>
            <a:ext cx="1738884" cy="696468"/>
            <a:chOff x="0" y="0"/>
            <a:chExt cx="2318512" cy="928624"/>
          </a:xfrm>
        </p:grpSpPr>
        <p:sp>
          <p:nvSpPr>
            <p:cNvPr id="31" name="Freeform 31"/>
            <p:cNvSpPr/>
            <p:nvPr/>
          </p:nvSpPr>
          <p:spPr>
            <a:xfrm>
              <a:off x="0" y="0"/>
              <a:ext cx="2318512" cy="928624"/>
            </a:xfrm>
            <a:custGeom>
              <a:avLst/>
              <a:gdLst/>
              <a:ahLst/>
              <a:cxnLst/>
              <a:rect l="l" t="t" r="r" b="b"/>
              <a:pathLst>
                <a:path w="2318512" h="928624">
                  <a:moveTo>
                    <a:pt x="0" y="0"/>
                  </a:moveTo>
                  <a:lnTo>
                    <a:pt x="2318512" y="0"/>
                  </a:lnTo>
                  <a:lnTo>
                    <a:pt x="2318512" y="928624"/>
                  </a:lnTo>
                  <a:lnTo>
                    <a:pt x="0" y="928624"/>
                  </a:lnTo>
                  <a:lnTo>
                    <a:pt x="0" y="0"/>
                  </a:lnTo>
                  <a:close/>
                </a:path>
              </a:pathLst>
            </a:custGeom>
            <a:blipFill>
              <a:blip r:embed="rId4"/>
              <a:stretch>
                <a:fillRect l="-87" r="-87" b="-218"/>
              </a:stretch>
            </a:blipFill>
          </p:spPr>
          <p:txBody>
            <a:bodyPr/>
            <a:lstStyle/>
            <a:p>
              <a:endParaRPr lang="en-SG"/>
            </a:p>
          </p:txBody>
        </p:sp>
      </p:grpSp>
      <p:sp>
        <p:nvSpPr>
          <p:cNvPr id="32" name="TextBox 32"/>
          <p:cNvSpPr txBox="1"/>
          <p:nvPr/>
        </p:nvSpPr>
        <p:spPr>
          <a:xfrm>
            <a:off x="7662786" y="1746352"/>
            <a:ext cx="2709558" cy="720652"/>
          </a:xfrm>
          <a:prstGeom prst="rect">
            <a:avLst/>
          </a:prstGeom>
        </p:spPr>
        <p:txBody>
          <a:bodyPr lIns="0" tIns="0" rIns="0" bIns="0" rtlCol="0" anchor="t">
            <a:spAutoFit/>
          </a:bodyPr>
          <a:lstStyle/>
          <a:p>
            <a:pPr algn="l">
              <a:lnSpc>
                <a:spcPts val="5896"/>
              </a:lnSpc>
            </a:pPr>
            <a:r>
              <a:rPr lang="en-US" sz="4212" spc="80">
                <a:solidFill>
                  <a:srgbClr val="FFFFFF"/>
                </a:solidFill>
                <a:latin typeface="Montserrat"/>
                <a:ea typeface="Montserrat"/>
                <a:cs typeface="Montserrat"/>
                <a:sym typeface="Montserrat"/>
              </a:rPr>
              <a:t>satellites!</a:t>
            </a:r>
          </a:p>
        </p:txBody>
      </p:sp>
      <p:sp>
        <p:nvSpPr>
          <p:cNvPr id="33" name="TextBox 33"/>
          <p:cNvSpPr txBox="1"/>
          <p:nvPr/>
        </p:nvSpPr>
        <p:spPr>
          <a:xfrm>
            <a:off x="8351977" y="2750544"/>
            <a:ext cx="76981" cy="359407"/>
          </a:xfrm>
          <a:prstGeom prst="rect">
            <a:avLst/>
          </a:prstGeom>
        </p:spPr>
        <p:txBody>
          <a:bodyPr lIns="0" tIns="0" rIns="0" bIns="0" rtlCol="0" anchor="t">
            <a:spAutoFit/>
          </a:bodyPr>
          <a:lstStyle/>
          <a:p>
            <a:pPr algn="l">
              <a:lnSpc>
                <a:spcPts val="2940"/>
              </a:lnSpc>
            </a:pPr>
            <a:r>
              <a:rPr lang="en-US" sz="2100" spc="39">
                <a:solidFill>
                  <a:srgbClr val="2C2C2C"/>
                </a:solidFill>
                <a:latin typeface="Montserrat"/>
                <a:ea typeface="Montserrat"/>
                <a:cs typeface="Montserrat"/>
                <a:sym typeface="Montserrat"/>
              </a:rPr>
              <a:t> </a:t>
            </a:r>
          </a:p>
        </p:txBody>
      </p:sp>
      <p:sp>
        <p:nvSpPr>
          <p:cNvPr id="34" name="TextBox 34"/>
          <p:cNvSpPr txBox="1"/>
          <p:nvPr/>
        </p:nvSpPr>
        <p:spPr>
          <a:xfrm>
            <a:off x="4352363" y="4622225"/>
            <a:ext cx="4734887" cy="746703"/>
          </a:xfrm>
          <a:prstGeom prst="rect">
            <a:avLst/>
          </a:prstGeom>
        </p:spPr>
        <p:txBody>
          <a:bodyPr lIns="0" tIns="0" rIns="0" bIns="0" rtlCol="0" anchor="t">
            <a:spAutoFit/>
          </a:bodyPr>
          <a:lstStyle/>
          <a:p>
            <a:pPr algn="l">
              <a:lnSpc>
                <a:spcPts val="6048"/>
              </a:lnSpc>
            </a:pPr>
            <a:r>
              <a:rPr lang="en-US" sz="4320" spc="86">
                <a:solidFill>
                  <a:srgbClr val="1B1B1B"/>
                </a:solidFill>
                <a:latin typeface="Montserrat"/>
                <a:ea typeface="Montserrat"/>
                <a:cs typeface="Montserrat"/>
                <a:sym typeface="Montserrat"/>
              </a:rPr>
              <a:t>Hands-on Slides</a:t>
            </a:r>
          </a:p>
        </p:txBody>
      </p:sp>
      <p:sp>
        <p:nvSpPr>
          <p:cNvPr id="35" name="TextBox 35"/>
          <p:cNvSpPr txBox="1"/>
          <p:nvPr/>
        </p:nvSpPr>
        <p:spPr>
          <a:xfrm>
            <a:off x="4559770" y="2750544"/>
            <a:ext cx="2125399" cy="359407"/>
          </a:xfrm>
          <a:prstGeom prst="rect">
            <a:avLst/>
          </a:prstGeom>
        </p:spPr>
        <p:txBody>
          <a:bodyPr lIns="0" tIns="0" rIns="0" bIns="0" rtlCol="0" anchor="t">
            <a:spAutoFit/>
          </a:bodyPr>
          <a:lstStyle/>
          <a:p>
            <a:pPr algn="l">
              <a:lnSpc>
                <a:spcPts val="2940"/>
              </a:lnSpc>
            </a:pPr>
            <a:r>
              <a:rPr lang="en-US" sz="2100" spc="44">
                <a:solidFill>
                  <a:srgbClr val="2C2C2C"/>
                </a:solidFill>
                <a:latin typeface="Montserrat"/>
                <a:ea typeface="Montserrat"/>
                <a:cs typeface="Montserrat"/>
                <a:sym typeface="Montserrat"/>
              </a:rPr>
              <a:t>Space mission </a:t>
            </a:r>
          </a:p>
        </p:txBody>
      </p:sp>
      <p:sp>
        <p:nvSpPr>
          <p:cNvPr id="36" name="TextBox 36"/>
          <p:cNvSpPr txBox="1"/>
          <p:nvPr/>
        </p:nvSpPr>
        <p:spPr>
          <a:xfrm>
            <a:off x="7234504" y="2750544"/>
            <a:ext cx="1140095" cy="359407"/>
          </a:xfrm>
          <a:prstGeom prst="rect">
            <a:avLst/>
          </a:prstGeom>
        </p:spPr>
        <p:txBody>
          <a:bodyPr lIns="0" tIns="0" rIns="0" bIns="0" rtlCol="0" anchor="t">
            <a:spAutoFit/>
          </a:bodyPr>
          <a:lstStyle/>
          <a:p>
            <a:pPr algn="l">
              <a:lnSpc>
                <a:spcPts val="2940"/>
              </a:lnSpc>
            </a:pPr>
            <a:r>
              <a:rPr lang="en-US" sz="2100" spc="42">
                <a:solidFill>
                  <a:srgbClr val="2C2C2C"/>
                </a:solidFill>
                <a:latin typeface="Montserrat"/>
                <a:ea typeface="Montserrat"/>
                <a:cs typeface="Montserrat"/>
                <a:sym typeface="Montserrat"/>
              </a:rPr>
              <a:t>satellite</a:t>
            </a:r>
          </a:p>
        </p:txBody>
      </p:sp>
      <p:sp>
        <p:nvSpPr>
          <p:cNvPr id="37" name="TextBox 37"/>
          <p:cNvSpPr txBox="1"/>
          <p:nvPr/>
        </p:nvSpPr>
        <p:spPr>
          <a:xfrm>
            <a:off x="6641630" y="2750544"/>
            <a:ext cx="526390" cy="359407"/>
          </a:xfrm>
          <a:prstGeom prst="rect">
            <a:avLst/>
          </a:prstGeom>
        </p:spPr>
        <p:txBody>
          <a:bodyPr lIns="0" tIns="0" rIns="0" bIns="0" rtlCol="0" anchor="t">
            <a:spAutoFit/>
          </a:bodyPr>
          <a:lstStyle/>
          <a:p>
            <a:pPr algn="l">
              <a:lnSpc>
                <a:spcPts val="2940"/>
              </a:lnSpc>
            </a:pPr>
            <a:r>
              <a:rPr lang="en-US" sz="2100" spc="-12">
                <a:solidFill>
                  <a:srgbClr val="2C2C2C"/>
                </a:solidFill>
                <a:latin typeface="Montserrat"/>
                <a:ea typeface="Montserrat"/>
                <a:cs typeface="Montserrat"/>
                <a:sym typeface="Montserrat"/>
              </a:rPr>
              <a:t>and</a:t>
            </a:r>
          </a:p>
        </p:txBody>
      </p:sp>
      <p:sp>
        <p:nvSpPr>
          <p:cNvPr id="38" name="TextBox 38"/>
          <p:cNvSpPr txBox="1"/>
          <p:nvPr/>
        </p:nvSpPr>
        <p:spPr>
          <a:xfrm>
            <a:off x="8427720" y="2750544"/>
            <a:ext cx="1889817" cy="359407"/>
          </a:xfrm>
          <a:prstGeom prst="rect">
            <a:avLst/>
          </a:prstGeom>
        </p:spPr>
        <p:txBody>
          <a:bodyPr lIns="0" tIns="0" rIns="0" bIns="0" rtlCol="0" anchor="t">
            <a:spAutoFit/>
          </a:bodyPr>
          <a:lstStyle/>
          <a:p>
            <a:pPr algn="l">
              <a:lnSpc>
                <a:spcPts val="2940"/>
              </a:lnSpc>
            </a:pPr>
            <a:r>
              <a:rPr lang="en-US" sz="2100" spc="-14">
                <a:solidFill>
                  <a:srgbClr val="2C2C2C"/>
                </a:solidFill>
                <a:latin typeface="Montserrat"/>
                <a:ea typeface="Montserrat"/>
                <a:cs typeface="Montserrat"/>
                <a:sym typeface="Montserrat"/>
              </a:rPr>
              <a:t>design</a:t>
            </a:r>
            <a:r>
              <a:rPr lang="en-US" sz="2100" spc="-14">
                <a:solidFill>
                  <a:srgbClr val="FFFFFF"/>
                </a:solidFill>
                <a:latin typeface="Montserrat"/>
                <a:ea typeface="Montserrat"/>
                <a:cs typeface="Montserrat"/>
                <a:sym typeface="Montserrat"/>
              </a:rPr>
              <a:t> </a:t>
            </a:r>
            <a:r>
              <a:rPr lang="en-US" sz="2100" spc="-14">
                <a:solidFill>
                  <a:srgbClr val="2C2C2C"/>
                </a:solidFill>
                <a:latin typeface="Montserrat"/>
                <a:ea typeface="Montserrat"/>
                <a:cs typeface="Montserrat"/>
                <a:sym typeface="Montserrat"/>
              </a:rPr>
              <a:t>course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3"/>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4"/>
              <a:stretch>
                <a:fillRect l="-514" b="-206"/>
              </a:stretch>
            </a:blipFill>
          </p:spPr>
          <p:txBody>
            <a:bodyPr/>
            <a:lstStyle/>
            <a:p>
              <a:endParaRPr lang="en-SG"/>
            </a:p>
          </p:txBody>
        </p:sp>
      </p:grpSp>
      <p:grpSp>
        <p:nvGrpSpPr>
          <p:cNvPr id="9" name="Group 9"/>
          <p:cNvGrpSpPr/>
          <p:nvPr/>
        </p:nvGrpSpPr>
        <p:grpSpPr>
          <a:xfrm>
            <a:off x="5506212" y="2859024"/>
            <a:ext cx="1565148" cy="515112"/>
            <a:chOff x="0" y="0"/>
            <a:chExt cx="2086864" cy="686816"/>
          </a:xfrm>
        </p:grpSpPr>
        <p:sp>
          <p:nvSpPr>
            <p:cNvPr id="10" name="Freeform 10"/>
            <p:cNvSpPr/>
            <p:nvPr/>
          </p:nvSpPr>
          <p:spPr>
            <a:xfrm>
              <a:off x="0" y="0"/>
              <a:ext cx="2086864" cy="686816"/>
            </a:xfrm>
            <a:custGeom>
              <a:avLst/>
              <a:gdLst/>
              <a:ahLst/>
              <a:cxnLst/>
              <a:rect l="l" t="t" r="r" b="b"/>
              <a:pathLst>
                <a:path w="2086864" h="686816">
                  <a:moveTo>
                    <a:pt x="0" y="0"/>
                  </a:moveTo>
                  <a:lnTo>
                    <a:pt x="2086864" y="0"/>
                  </a:lnTo>
                  <a:lnTo>
                    <a:pt x="2086864" y="686816"/>
                  </a:lnTo>
                  <a:lnTo>
                    <a:pt x="0" y="686816"/>
                  </a:lnTo>
                  <a:lnTo>
                    <a:pt x="0" y="0"/>
                  </a:lnTo>
                  <a:close/>
                </a:path>
              </a:pathLst>
            </a:custGeom>
            <a:blipFill>
              <a:blip r:embed="rId5"/>
              <a:stretch>
                <a:fillRect l="-97"/>
              </a:stretch>
            </a:blipFill>
          </p:spPr>
          <p:txBody>
            <a:bodyPr/>
            <a:lstStyle/>
            <a:p>
              <a:endParaRPr lang="en-SG"/>
            </a:p>
          </p:txBody>
        </p:sp>
      </p:grpSp>
      <p:grpSp>
        <p:nvGrpSpPr>
          <p:cNvPr id="11" name="Group 11"/>
          <p:cNvGrpSpPr/>
          <p:nvPr/>
        </p:nvGrpSpPr>
        <p:grpSpPr>
          <a:xfrm>
            <a:off x="5506212" y="3371088"/>
            <a:ext cx="1565148" cy="1054608"/>
            <a:chOff x="0" y="0"/>
            <a:chExt cx="2086864" cy="1406144"/>
          </a:xfrm>
        </p:grpSpPr>
        <p:sp>
          <p:nvSpPr>
            <p:cNvPr id="12" name="Freeform 12"/>
            <p:cNvSpPr/>
            <p:nvPr/>
          </p:nvSpPr>
          <p:spPr>
            <a:xfrm>
              <a:off x="0" y="0"/>
              <a:ext cx="2086864" cy="1406144"/>
            </a:xfrm>
            <a:custGeom>
              <a:avLst/>
              <a:gdLst/>
              <a:ahLst/>
              <a:cxnLst/>
              <a:rect l="l" t="t" r="r" b="b"/>
              <a:pathLst>
                <a:path w="2086864" h="1406144">
                  <a:moveTo>
                    <a:pt x="0" y="0"/>
                  </a:moveTo>
                  <a:lnTo>
                    <a:pt x="2086864" y="0"/>
                  </a:lnTo>
                  <a:lnTo>
                    <a:pt x="2086864" y="1406144"/>
                  </a:lnTo>
                  <a:lnTo>
                    <a:pt x="0" y="1406144"/>
                  </a:lnTo>
                  <a:lnTo>
                    <a:pt x="0" y="0"/>
                  </a:lnTo>
                  <a:close/>
                </a:path>
              </a:pathLst>
            </a:custGeom>
            <a:blipFill>
              <a:blip r:embed="rId6"/>
              <a:stretch>
                <a:fillRect/>
              </a:stretch>
            </a:blipFill>
          </p:spPr>
          <p:txBody>
            <a:bodyPr/>
            <a:lstStyle/>
            <a:p>
              <a:endParaRPr lang="en-SG"/>
            </a:p>
          </p:txBody>
        </p:sp>
      </p:grpSp>
      <p:sp>
        <p:nvSpPr>
          <p:cNvPr id="13" name="TextBox 13"/>
          <p:cNvSpPr txBox="1"/>
          <p:nvPr/>
        </p:nvSpPr>
        <p:spPr>
          <a:xfrm>
            <a:off x="1632385" y="1334119"/>
            <a:ext cx="8778240" cy="523504"/>
          </a:xfrm>
          <a:prstGeom prst="rect">
            <a:avLst/>
          </a:prstGeom>
        </p:spPr>
        <p:txBody>
          <a:bodyPr wrap="square"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Build Session 1 — Structure, avionics and C&amp;DH bring-up</a:t>
            </a:r>
          </a:p>
        </p:txBody>
      </p:sp>
      <p:sp>
        <p:nvSpPr>
          <p:cNvPr id="14" name="TextBox 14"/>
          <p:cNvSpPr txBox="1"/>
          <p:nvPr/>
        </p:nvSpPr>
        <p:spPr>
          <a:xfrm>
            <a:off x="1632109" y="4572000"/>
            <a:ext cx="8778240" cy="1188720"/>
          </a:xfrm>
          <a:prstGeom prst="rect">
            <a:avLst/>
          </a:prstGeom>
        </p:spPr>
        <p:txBody>
          <a:bodyPr wrap="square" lIns="0" tIns="0" rIns="0" bIns="0" rtlCol="0" anchor="t">
            <a:spAutoFit/>
          </a:bodyPr>
          <a:lstStyle/>
          <a:p>
            <a:pPr algn="l">
              <a:lnSpc>
                <a:spcPts val="6552"/>
              </a:lnSpc>
            </a:pPr>
            <a:r>
              <a:rPr lang="en-US" sz="2800" spc="88">
                <a:solidFill>
                  <a:srgbClr val="2C2C2C"/>
                </a:solidFill>
                <a:latin typeface="Montserrat"/>
                <a:ea typeface="Montserrat"/>
                <a:cs typeface="Montserrat"/>
                <a:sym typeface="Montserrat"/>
              </a:rPr>
              <a:t>Setting up the Arduino IDE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sp>
        <p:nvSpPr>
          <p:cNvPr id="9" name="Freeform 9"/>
          <p:cNvSpPr/>
          <p:nvPr/>
        </p:nvSpPr>
        <p:spPr>
          <a:xfrm>
            <a:off x="1585465" y="4985509"/>
            <a:ext cx="2557777" cy="323593"/>
          </a:xfrm>
          <a:custGeom>
            <a:avLst/>
            <a:gdLst/>
            <a:ahLst/>
            <a:cxnLst/>
            <a:rect l="l" t="t" r="r" b="b"/>
            <a:pathLst>
              <a:path w="2557777" h="323593">
                <a:moveTo>
                  <a:pt x="0" y="0"/>
                </a:moveTo>
                <a:lnTo>
                  <a:pt x="2557777" y="0"/>
                </a:lnTo>
                <a:lnTo>
                  <a:pt x="2557777" y="323593"/>
                </a:lnTo>
                <a:lnTo>
                  <a:pt x="0" y="32359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SG"/>
          </a:p>
        </p:txBody>
      </p:sp>
      <p:sp>
        <p:nvSpPr>
          <p:cNvPr id="10" name="Freeform 10"/>
          <p:cNvSpPr/>
          <p:nvPr/>
        </p:nvSpPr>
        <p:spPr>
          <a:xfrm>
            <a:off x="1585465" y="2990593"/>
            <a:ext cx="3374641" cy="322069"/>
          </a:xfrm>
          <a:custGeom>
            <a:avLst/>
            <a:gdLst/>
            <a:ahLst/>
            <a:cxnLst/>
            <a:rect l="l" t="t" r="r" b="b"/>
            <a:pathLst>
              <a:path w="3374641" h="322069">
                <a:moveTo>
                  <a:pt x="0" y="0"/>
                </a:moveTo>
                <a:lnTo>
                  <a:pt x="3374641" y="0"/>
                </a:lnTo>
                <a:lnTo>
                  <a:pt x="3374641" y="322069"/>
                </a:lnTo>
                <a:lnTo>
                  <a:pt x="0" y="32206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SG"/>
          </a:p>
        </p:txBody>
      </p:sp>
      <p:grpSp>
        <p:nvGrpSpPr>
          <p:cNvPr id="11" name="Group 11"/>
          <p:cNvGrpSpPr/>
          <p:nvPr/>
        </p:nvGrpSpPr>
        <p:grpSpPr>
          <a:xfrm>
            <a:off x="1594104" y="3371088"/>
            <a:ext cx="1996440" cy="405384"/>
            <a:chOff x="0" y="0"/>
            <a:chExt cx="2661920" cy="540512"/>
          </a:xfrm>
        </p:grpSpPr>
        <p:sp>
          <p:nvSpPr>
            <p:cNvPr id="12" name="Freeform 12"/>
            <p:cNvSpPr/>
            <p:nvPr/>
          </p:nvSpPr>
          <p:spPr>
            <a:xfrm>
              <a:off x="0" y="0"/>
              <a:ext cx="2661920" cy="540512"/>
            </a:xfrm>
            <a:custGeom>
              <a:avLst/>
              <a:gdLst/>
              <a:ahLst/>
              <a:cxnLst/>
              <a:rect l="l" t="t" r="r" b="b"/>
              <a:pathLst>
                <a:path w="2661920" h="540512">
                  <a:moveTo>
                    <a:pt x="0" y="0"/>
                  </a:moveTo>
                  <a:lnTo>
                    <a:pt x="2661920" y="0"/>
                  </a:lnTo>
                  <a:lnTo>
                    <a:pt x="2661920" y="540512"/>
                  </a:lnTo>
                  <a:lnTo>
                    <a:pt x="0" y="540512"/>
                  </a:lnTo>
                  <a:lnTo>
                    <a:pt x="0" y="0"/>
                  </a:lnTo>
                  <a:close/>
                </a:path>
              </a:pathLst>
            </a:custGeom>
            <a:blipFill>
              <a:blip r:embed="rId6"/>
              <a:stretch>
                <a:fillRect/>
              </a:stretch>
            </a:blipFill>
          </p:spPr>
          <p:txBody>
            <a:bodyPr/>
            <a:lstStyle/>
            <a:p>
              <a:endParaRPr lang="en-SG"/>
            </a:p>
          </p:txBody>
        </p:sp>
      </p:grpSp>
      <p:grpSp>
        <p:nvGrpSpPr>
          <p:cNvPr id="13" name="Group 13"/>
          <p:cNvGrpSpPr/>
          <p:nvPr/>
        </p:nvGrpSpPr>
        <p:grpSpPr>
          <a:xfrm>
            <a:off x="1594104" y="3773424"/>
            <a:ext cx="1996440" cy="1063752"/>
            <a:chOff x="0" y="0"/>
            <a:chExt cx="2661920" cy="1418336"/>
          </a:xfrm>
        </p:grpSpPr>
        <p:sp>
          <p:nvSpPr>
            <p:cNvPr id="14" name="Freeform 14"/>
            <p:cNvSpPr/>
            <p:nvPr/>
          </p:nvSpPr>
          <p:spPr>
            <a:xfrm>
              <a:off x="0" y="0"/>
              <a:ext cx="2661920" cy="1418336"/>
            </a:xfrm>
            <a:custGeom>
              <a:avLst/>
              <a:gdLst/>
              <a:ahLst/>
              <a:cxnLst/>
              <a:rect l="l" t="t" r="r" b="b"/>
              <a:pathLst>
                <a:path w="2661920" h="1418336">
                  <a:moveTo>
                    <a:pt x="0" y="0"/>
                  </a:moveTo>
                  <a:lnTo>
                    <a:pt x="2661920" y="0"/>
                  </a:lnTo>
                  <a:lnTo>
                    <a:pt x="2661920" y="1418336"/>
                  </a:lnTo>
                  <a:lnTo>
                    <a:pt x="0" y="1418336"/>
                  </a:lnTo>
                  <a:lnTo>
                    <a:pt x="0" y="0"/>
                  </a:lnTo>
                  <a:close/>
                </a:path>
              </a:pathLst>
            </a:custGeom>
            <a:blipFill>
              <a:blip r:embed="rId7"/>
              <a:stretch>
                <a:fillRect/>
              </a:stretch>
            </a:blipFill>
          </p:spPr>
          <p:txBody>
            <a:bodyPr/>
            <a:lstStyle/>
            <a:p>
              <a:endParaRPr lang="en-SG"/>
            </a:p>
          </p:txBody>
        </p:sp>
      </p:grpSp>
      <p:grpSp>
        <p:nvGrpSpPr>
          <p:cNvPr id="15" name="Group 15"/>
          <p:cNvGrpSpPr/>
          <p:nvPr/>
        </p:nvGrpSpPr>
        <p:grpSpPr>
          <a:xfrm>
            <a:off x="3951732" y="3633216"/>
            <a:ext cx="2305812" cy="350520"/>
            <a:chOff x="0" y="0"/>
            <a:chExt cx="3074416" cy="467360"/>
          </a:xfrm>
        </p:grpSpPr>
        <p:sp>
          <p:nvSpPr>
            <p:cNvPr id="16" name="Freeform 16"/>
            <p:cNvSpPr/>
            <p:nvPr/>
          </p:nvSpPr>
          <p:spPr>
            <a:xfrm>
              <a:off x="0" y="0"/>
              <a:ext cx="3074416" cy="467360"/>
            </a:xfrm>
            <a:custGeom>
              <a:avLst/>
              <a:gdLst/>
              <a:ahLst/>
              <a:cxnLst/>
              <a:rect l="l" t="t" r="r" b="b"/>
              <a:pathLst>
                <a:path w="3074416" h="467360">
                  <a:moveTo>
                    <a:pt x="0" y="0"/>
                  </a:moveTo>
                  <a:lnTo>
                    <a:pt x="3074416" y="0"/>
                  </a:lnTo>
                  <a:lnTo>
                    <a:pt x="3074416" y="467360"/>
                  </a:lnTo>
                  <a:lnTo>
                    <a:pt x="0" y="467360"/>
                  </a:lnTo>
                  <a:lnTo>
                    <a:pt x="0" y="0"/>
                  </a:lnTo>
                  <a:close/>
                </a:path>
              </a:pathLst>
            </a:custGeom>
            <a:blipFill>
              <a:blip r:embed="rId8"/>
              <a:stretch>
                <a:fillRect l="-66"/>
              </a:stretch>
            </a:blipFill>
          </p:spPr>
          <p:txBody>
            <a:bodyPr/>
            <a:lstStyle/>
            <a:p>
              <a:endParaRPr lang="en-SG"/>
            </a:p>
          </p:txBody>
        </p:sp>
      </p:grpSp>
      <p:grpSp>
        <p:nvGrpSpPr>
          <p:cNvPr id="17" name="Group 17"/>
          <p:cNvGrpSpPr/>
          <p:nvPr/>
        </p:nvGrpSpPr>
        <p:grpSpPr>
          <a:xfrm>
            <a:off x="3951732" y="3980688"/>
            <a:ext cx="2305812" cy="594360"/>
            <a:chOff x="0" y="0"/>
            <a:chExt cx="3074416" cy="792480"/>
          </a:xfrm>
        </p:grpSpPr>
        <p:sp>
          <p:nvSpPr>
            <p:cNvPr id="18" name="Freeform 18"/>
            <p:cNvSpPr/>
            <p:nvPr/>
          </p:nvSpPr>
          <p:spPr>
            <a:xfrm>
              <a:off x="0" y="0"/>
              <a:ext cx="3074416" cy="792480"/>
            </a:xfrm>
            <a:custGeom>
              <a:avLst/>
              <a:gdLst/>
              <a:ahLst/>
              <a:cxnLst/>
              <a:rect l="l" t="t" r="r" b="b"/>
              <a:pathLst>
                <a:path w="3074416" h="792480">
                  <a:moveTo>
                    <a:pt x="0" y="0"/>
                  </a:moveTo>
                  <a:lnTo>
                    <a:pt x="3074416" y="0"/>
                  </a:lnTo>
                  <a:lnTo>
                    <a:pt x="3074416" y="792480"/>
                  </a:lnTo>
                  <a:lnTo>
                    <a:pt x="0" y="792480"/>
                  </a:lnTo>
                  <a:lnTo>
                    <a:pt x="0" y="0"/>
                  </a:lnTo>
                  <a:close/>
                </a:path>
              </a:pathLst>
            </a:custGeom>
            <a:blipFill>
              <a:blip r:embed="rId9"/>
              <a:stretch>
                <a:fillRect/>
              </a:stretch>
            </a:blipFill>
          </p:spPr>
          <p:txBody>
            <a:bodyPr/>
            <a:lstStyle/>
            <a:p>
              <a:endParaRPr lang="en-SG"/>
            </a:p>
          </p:txBody>
        </p:sp>
      </p:grpSp>
      <p:grpSp>
        <p:nvGrpSpPr>
          <p:cNvPr id="19" name="Group 19"/>
          <p:cNvGrpSpPr/>
          <p:nvPr/>
        </p:nvGrpSpPr>
        <p:grpSpPr>
          <a:xfrm>
            <a:off x="7002780" y="2889504"/>
            <a:ext cx="2430780" cy="332232"/>
            <a:chOff x="0" y="0"/>
            <a:chExt cx="3241040" cy="442976"/>
          </a:xfrm>
        </p:grpSpPr>
        <p:sp>
          <p:nvSpPr>
            <p:cNvPr id="20" name="Freeform 20"/>
            <p:cNvSpPr/>
            <p:nvPr/>
          </p:nvSpPr>
          <p:spPr>
            <a:xfrm>
              <a:off x="0" y="0"/>
              <a:ext cx="3241040" cy="442976"/>
            </a:xfrm>
            <a:custGeom>
              <a:avLst/>
              <a:gdLst/>
              <a:ahLst/>
              <a:cxnLst/>
              <a:rect l="l" t="t" r="r" b="b"/>
              <a:pathLst>
                <a:path w="3241040" h="442976">
                  <a:moveTo>
                    <a:pt x="0" y="0"/>
                  </a:moveTo>
                  <a:lnTo>
                    <a:pt x="3241040" y="0"/>
                  </a:lnTo>
                  <a:lnTo>
                    <a:pt x="3241040" y="442976"/>
                  </a:lnTo>
                  <a:lnTo>
                    <a:pt x="0" y="442976"/>
                  </a:lnTo>
                  <a:lnTo>
                    <a:pt x="0" y="0"/>
                  </a:lnTo>
                  <a:close/>
                </a:path>
              </a:pathLst>
            </a:custGeom>
            <a:blipFill>
              <a:blip r:embed="rId10"/>
              <a:stretch>
                <a:fillRect l="-62"/>
              </a:stretch>
            </a:blipFill>
          </p:spPr>
          <p:txBody>
            <a:bodyPr/>
            <a:lstStyle/>
            <a:p>
              <a:endParaRPr lang="en-SG"/>
            </a:p>
          </p:txBody>
        </p:sp>
      </p:grpSp>
      <p:grpSp>
        <p:nvGrpSpPr>
          <p:cNvPr id="21" name="Group 21"/>
          <p:cNvGrpSpPr/>
          <p:nvPr/>
        </p:nvGrpSpPr>
        <p:grpSpPr>
          <a:xfrm>
            <a:off x="7002780" y="3218688"/>
            <a:ext cx="2430780" cy="1978152"/>
            <a:chOff x="0" y="0"/>
            <a:chExt cx="3241040" cy="2637536"/>
          </a:xfrm>
        </p:grpSpPr>
        <p:sp>
          <p:nvSpPr>
            <p:cNvPr id="22" name="Freeform 22"/>
            <p:cNvSpPr/>
            <p:nvPr/>
          </p:nvSpPr>
          <p:spPr>
            <a:xfrm>
              <a:off x="0" y="0"/>
              <a:ext cx="3241040" cy="2637536"/>
            </a:xfrm>
            <a:custGeom>
              <a:avLst/>
              <a:gdLst/>
              <a:ahLst/>
              <a:cxnLst/>
              <a:rect l="l" t="t" r="r" b="b"/>
              <a:pathLst>
                <a:path w="3241040" h="2637536">
                  <a:moveTo>
                    <a:pt x="0" y="0"/>
                  </a:moveTo>
                  <a:lnTo>
                    <a:pt x="3241040" y="0"/>
                  </a:lnTo>
                  <a:lnTo>
                    <a:pt x="3241040" y="2637536"/>
                  </a:lnTo>
                  <a:lnTo>
                    <a:pt x="0" y="2637536"/>
                  </a:lnTo>
                  <a:lnTo>
                    <a:pt x="0" y="0"/>
                  </a:lnTo>
                  <a:close/>
                </a:path>
              </a:pathLst>
            </a:custGeom>
            <a:blipFill>
              <a:blip r:embed="rId11"/>
              <a:stretch>
                <a:fillRect/>
              </a:stretch>
            </a:blipFill>
          </p:spPr>
          <p:txBody>
            <a:bodyPr/>
            <a:lstStyle/>
            <a:p>
              <a:endParaRPr lang="en-SG"/>
            </a:p>
          </p:txBody>
        </p:sp>
      </p:grpSp>
      <p:grpSp>
        <p:nvGrpSpPr>
          <p:cNvPr id="23" name="Group 23"/>
          <p:cNvGrpSpPr/>
          <p:nvPr/>
        </p:nvGrpSpPr>
        <p:grpSpPr>
          <a:xfrm>
            <a:off x="7001256" y="5193792"/>
            <a:ext cx="2432304" cy="124968"/>
            <a:chOff x="0" y="0"/>
            <a:chExt cx="2432304" cy="124968"/>
          </a:xfrm>
        </p:grpSpPr>
        <p:sp>
          <p:nvSpPr>
            <p:cNvPr id="24" name="Freeform 24"/>
            <p:cNvSpPr/>
            <p:nvPr/>
          </p:nvSpPr>
          <p:spPr>
            <a:xfrm>
              <a:off x="0" y="0"/>
              <a:ext cx="2432304" cy="124968"/>
            </a:xfrm>
            <a:custGeom>
              <a:avLst/>
              <a:gdLst/>
              <a:ahLst/>
              <a:cxnLst/>
              <a:rect l="l" t="t" r="r" b="b"/>
              <a:pathLst>
                <a:path w="2432304" h="124968">
                  <a:moveTo>
                    <a:pt x="0" y="124968"/>
                  </a:moveTo>
                  <a:lnTo>
                    <a:pt x="2432304" y="124968"/>
                  </a:lnTo>
                  <a:lnTo>
                    <a:pt x="2432304" y="0"/>
                  </a:lnTo>
                  <a:lnTo>
                    <a:pt x="0" y="0"/>
                  </a:lnTo>
                  <a:lnTo>
                    <a:pt x="0" y="124968"/>
                  </a:lnTo>
                  <a:close/>
                </a:path>
              </a:pathLst>
            </a:custGeom>
            <a:solidFill>
              <a:srgbClr val="FFFFFF"/>
            </a:solidFill>
          </p:spPr>
          <p:txBody>
            <a:bodyPr/>
            <a:lstStyle/>
            <a:p>
              <a:endParaRPr lang="en-SG"/>
            </a:p>
          </p:txBody>
        </p:sp>
      </p:grpSp>
      <p:sp>
        <p:nvSpPr>
          <p:cNvPr id="25" name="TextBox 25"/>
          <p:cNvSpPr txBox="1"/>
          <p:nvPr/>
        </p:nvSpPr>
        <p:spPr>
          <a:xfrm>
            <a:off x="1632309" y="1048369"/>
            <a:ext cx="3780111" cy="1960845"/>
          </a:xfrm>
          <a:prstGeom prst="rect">
            <a:avLst/>
          </a:prstGeom>
        </p:spPr>
        <p:txBody>
          <a:bodyPr lIns="0" tIns="0" rIns="0" bIns="0" rtlCol="0" anchor="t">
            <a:spAutoFit/>
          </a:bodyPr>
          <a:lstStyle/>
          <a:p>
            <a:pPr algn="l">
              <a:lnSpc>
                <a:spcPts val="7296"/>
              </a:lnSpc>
            </a:pPr>
            <a:r>
              <a:rPr lang="en-US" sz="3048">
                <a:solidFill>
                  <a:srgbClr val="2C2C2C"/>
                </a:solidFill>
                <a:latin typeface="Montserrat"/>
                <a:ea typeface="Montserrat"/>
                <a:cs typeface="Montserrat"/>
                <a:sym typeface="Montserrat"/>
              </a:rPr>
              <a:t>Why</a:t>
            </a:r>
            <a:r>
              <a:rPr lang="en-US" sz="3048">
                <a:solidFill>
                  <a:srgbClr val="000000"/>
                </a:solidFill>
                <a:latin typeface="Montserrat"/>
                <a:ea typeface="Montserrat"/>
                <a:cs typeface="Montserrat"/>
                <a:sym typeface="Montserrat"/>
              </a:rPr>
              <a:t> </a:t>
            </a:r>
            <a:r>
              <a:rPr lang="en-US" sz="3048">
                <a:solidFill>
                  <a:srgbClr val="2C2C2C"/>
                </a:solidFill>
                <a:latin typeface="Montserrat"/>
                <a:ea typeface="Montserrat"/>
                <a:cs typeface="Montserrat"/>
                <a:sym typeface="Montserrat"/>
              </a:rPr>
              <a:t>Arduino?</a:t>
            </a:r>
          </a:p>
          <a:p>
            <a:pPr algn="l">
              <a:lnSpc>
                <a:spcPts val="3935"/>
              </a:lnSpc>
            </a:pPr>
            <a:r>
              <a:rPr lang="en-US" sz="1644" spc="-13">
                <a:solidFill>
                  <a:srgbClr val="000000"/>
                </a:solidFill>
                <a:latin typeface="Montserrat"/>
                <a:ea typeface="Montserrat"/>
                <a:cs typeface="Montserrat"/>
                <a:sym typeface="Montserrat"/>
              </a:rPr>
              <a:t>Arduino is an open-source platform. It includes:</a:t>
            </a:r>
          </a:p>
        </p:txBody>
      </p:sp>
      <p:sp>
        <p:nvSpPr>
          <p:cNvPr id="26" name="TextBox 26"/>
          <p:cNvSpPr txBox="1"/>
          <p:nvPr/>
        </p:nvSpPr>
        <p:spPr>
          <a:xfrm>
            <a:off x="1632309" y="5465578"/>
            <a:ext cx="6765855" cy="289636"/>
          </a:xfrm>
          <a:prstGeom prst="rect">
            <a:avLst/>
          </a:prstGeom>
        </p:spPr>
        <p:txBody>
          <a:bodyPr lIns="0" tIns="0" rIns="0" bIns="0" rtlCol="0" anchor="t">
            <a:spAutoFit/>
          </a:bodyPr>
          <a:lstStyle/>
          <a:p>
            <a:pPr algn="l">
              <a:lnSpc>
                <a:spcPts val="2301"/>
              </a:lnSpc>
            </a:pPr>
            <a:r>
              <a:rPr lang="en-US" sz="1644" spc="-13">
                <a:solidFill>
                  <a:srgbClr val="000000"/>
                </a:solidFill>
                <a:latin typeface="Montserrat"/>
                <a:ea typeface="Montserrat"/>
                <a:cs typeface="Montserrat"/>
                <a:sym typeface="Montserrat"/>
              </a:rPr>
              <a:t>It is a simple way to start learning electronics and programming.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sp>
        <p:nvSpPr>
          <p:cNvPr id="9" name="Freeform 9"/>
          <p:cNvSpPr/>
          <p:nvPr/>
        </p:nvSpPr>
        <p:spPr>
          <a:xfrm>
            <a:off x="1585465" y="2490721"/>
            <a:ext cx="2914393" cy="1071877"/>
          </a:xfrm>
          <a:custGeom>
            <a:avLst/>
            <a:gdLst/>
            <a:ahLst/>
            <a:cxnLst/>
            <a:rect l="l" t="t" r="r" b="b"/>
            <a:pathLst>
              <a:path w="2914393" h="1071877">
                <a:moveTo>
                  <a:pt x="0" y="0"/>
                </a:moveTo>
                <a:lnTo>
                  <a:pt x="2914393" y="0"/>
                </a:lnTo>
                <a:lnTo>
                  <a:pt x="2914393" y="1071877"/>
                </a:lnTo>
                <a:lnTo>
                  <a:pt x="0" y="107187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SG"/>
          </a:p>
        </p:txBody>
      </p:sp>
      <p:sp>
        <p:nvSpPr>
          <p:cNvPr id="10" name="Freeform 10"/>
          <p:cNvSpPr/>
          <p:nvPr/>
        </p:nvSpPr>
        <p:spPr>
          <a:xfrm>
            <a:off x="1585465" y="3988813"/>
            <a:ext cx="3121657" cy="821941"/>
          </a:xfrm>
          <a:custGeom>
            <a:avLst/>
            <a:gdLst/>
            <a:ahLst/>
            <a:cxnLst/>
            <a:rect l="l" t="t" r="r" b="b"/>
            <a:pathLst>
              <a:path w="3121657" h="821941">
                <a:moveTo>
                  <a:pt x="0" y="0"/>
                </a:moveTo>
                <a:lnTo>
                  <a:pt x="3121657" y="0"/>
                </a:lnTo>
                <a:lnTo>
                  <a:pt x="3121657" y="821941"/>
                </a:lnTo>
                <a:lnTo>
                  <a:pt x="0" y="82194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SG"/>
          </a:p>
        </p:txBody>
      </p:sp>
      <p:sp>
        <p:nvSpPr>
          <p:cNvPr id="11" name="Freeform 11"/>
          <p:cNvSpPr/>
          <p:nvPr/>
        </p:nvSpPr>
        <p:spPr>
          <a:xfrm>
            <a:off x="1594609" y="4987033"/>
            <a:ext cx="6823453" cy="323593"/>
          </a:xfrm>
          <a:custGeom>
            <a:avLst/>
            <a:gdLst/>
            <a:ahLst/>
            <a:cxnLst/>
            <a:rect l="l" t="t" r="r" b="b"/>
            <a:pathLst>
              <a:path w="6823453" h="323593">
                <a:moveTo>
                  <a:pt x="0" y="0"/>
                </a:moveTo>
                <a:lnTo>
                  <a:pt x="6823453" y="0"/>
                </a:lnTo>
                <a:lnTo>
                  <a:pt x="6823453" y="323593"/>
                </a:lnTo>
                <a:lnTo>
                  <a:pt x="0" y="32359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SG"/>
          </a:p>
        </p:txBody>
      </p:sp>
      <p:grpSp>
        <p:nvGrpSpPr>
          <p:cNvPr id="12" name="Group 12"/>
          <p:cNvGrpSpPr/>
          <p:nvPr/>
        </p:nvGrpSpPr>
        <p:grpSpPr>
          <a:xfrm>
            <a:off x="1597152" y="5393436"/>
            <a:ext cx="5489448" cy="144780"/>
            <a:chOff x="0" y="0"/>
            <a:chExt cx="7319264" cy="193040"/>
          </a:xfrm>
        </p:grpSpPr>
        <p:sp>
          <p:nvSpPr>
            <p:cNvPr id="13" name="Freeform 13"/>
            <p:cNvSpPr/>
            <p:nvPr/>
          </p:nvSpPr>
          <p:spPr>
            <a:xfrm>
              <a:off x="0" y="0"/>
              <a:ext cx="7319264" cy="193040"/>
            </a:xfrm>
            <a:custGeom>
              <a:avLst/>
              <a:gdLst/>
              <a:ahLst/>
              <a:cxnLst/>
              <a:rect l="l" t="t" r="r" b="b"/>
              <a:pathLst>
                <a:path w="7319264" h="193040">
                  <a:moveTo>
                    <a:pt x="0" y="0"/>
                  </a:moveTo>
                  <a:lnTo>
                    <a:pt x="7319264" y="0"/>
                  </a:lnTo>
                  <a:lnTo>
                    <a:pt x="7319264" y="193040"/>
                  </a:lnTo>
                  <a:lnTo>
                    <a:pt x="0" y="193040"/>
                  </a:lnTo>
                  <a:lnTo>
                    <a:pt x="0" y="0"/>
                  </a:lnTo>
                  <a:close/>
                </a:path>
              </a:pathLst>
            </a:custGeom>
            <a:blipFill>
              <a:blip r:embed="rId7"/>
              <a:stretch>
                <a:fillRect t="-1052"/>
              </a:stretch>
            </a:blipFill>
          </p:spPr>
          <p:txBody>
            <a:bodyPr/>
            <a:lstStyle/>
            <a:p>
              <a:endParaRPr lang="en-SG"/>
            </a:p>
          </p:txBody>
        </p:sp>
      </p:grpSp>
      <p:grpSp>
        <p:nvGrpSpPr>
          <p:cNvPr id="14" name="Group 14"/>
          <p:cNvGrpSpPr/>
          <p:nvPr/>
        </p:nvGrpSpPr>
        <p:grpSpPr>
          <a:xfrm>
            <a:off x="1597152" y="5535168"/>
            <a:ext cx="5489448" cy="1149096"/>
            <a:chOff x="0" y="0"/>
            <a:chExt cx="7319264" cy="1532128"/>
          </a:xfrm>
        </p:grpSpPr>
        <p:sp>
          <p:nvSpPr>
            <p:cNvPr id="15" name="Freeform 15"/>
            <p:cNvSpPr/>
            <p:nvPr/>
          </p:nvSpPr>
          <p:spPr>
            <a:xfrm>
              <a:off x="0" y="0"/>
              <a:ext cx="7319264" cy="1532128"/>
            </a:xfrm>
            <a:custGeom>
              <a:avLst/>
              <a:gdLst/>
              <a:ahLst/>
              <a:cxnLst/>
              <a:rect l="l" t="t" r="r" b="b"/>
              <a:pathLst>
                <a:path w="7319264" h="1532128">
                  <a:moveTo>
                    <a:pt x="0" y="0"/>
                  </a:moveTo>
                  <a:lnTo>
                    <a:pt x="7319264" y="0"/>
                  </a:lnTo>
                  <a:lnTo>
                    <a:pt x="7319264" y="1532128"/>
                  </a:lnTo>
                  <a:lnTo>
                    <a:pt x="0" y="1532128"/>
                  </a:lnTo>
                  <a:lnTo>
                    <a:pt x="0" y="0"/>
                  </a:lnTo>
                  <a:close/>
                </a:path>
              </a:pathLst>
            </a:custGeom>
            <a:blipFill>
              <a:blip r:embed="rId8"/>
              <a:stretch>
                <a:fillRect/>
              </a:stretch>
            </a:blipFill>
          </p:spPr>
          <p:txBody>
            <a:bodyPr/>
            <a:lstStyle/>
            <a:p>
              <a:endParaRPr lang="en-SG"/>
            </a:p>
          </p:txBody>
        </p:sp>
      </p:grpSp>
      <p:grpSp>
        <p:nvGrpSpPr>
          <p:cNvPr id="16" name="Group 16"/>
          <p:cNvGrpSpPr/>
          <p:nvPr/>
        </p:nvGrpSpPr>
        <p:grpSpPr>
          <a:xfrm>
            <a:off x="1597152" y="6681216"/>
            <a:ext cx="5489448" cy="27432"/>
            <a:chOff x="0" y="0"/>
            <a:chExt cx="5489448" cy="27432"/>
          </a:xfrm>
        </p:grpSpPr>
        <p:sp>
          <p:nvSpPr>
            <p:cNvPr id="17" name="Freeform 17"/>
            <p:cNvSpPr/>
            <p:nvPr/>
          </p:nvSpPr>
          <p:spPr>
            <a:xfrm>
              <a:off x="0" y="0"/>
              <a:ext cx="5489448" cy="27432"/>
            </a:xfrm>
            <a:custGeom>
              <a:avLst/>
              <a:gdLst/>
              <a:ahLst/>
              <a:cxnLst/>
              <a:rect l="l" t="t" r="r" b="b"/>
              <a:pathLst>
                <a:path w="5489448" h="27432">
                  <a:moveTo>
                    <a:pt x="0" y="27432"/>
                  </a:moveTo>
                  <a:lnTo>
                    <a:pt x="5489448" y="27432"/>
                  </a:lnTo>
                  <a:lnTo>
                    <a:pt x="5489448" y="0"/>
                  </a:lnTo>
                  <a:lnTo>
                    <a:pt x="0" y="0"/>
                  </a:lnTo>
                  <a:lnTo>
                    <a:pt x="0" y="27432"/>
                  </a:lnTo>
                  <a:close/>
                </a:path>
              </a:pathLst>
            </a:custGeom>
            <a:solidFill>
              <a:srgbClr val="FFFFFF"/>
            </a:solidFill>
          </p:spPr>
          <p:txBody>
            <a:bodyPr/>
            <a:lstStyle/>
            <a:p>
              <a:endParaRPr lang="en-SG"/>
            </a:p>
          </p:txBody>
        </p:sp>
      </p:grpSp>
      <p:sp>
        <p:nvSpPr>
          <p:cNvPr id="18" name="TextBox 18"/>
          <p:cNvSpPr txBox="1"/>
          <p:nvPr/>
        </p:nvSpPr>
        <p:spPr>
          <a:xfrm>
            <a:off x="1632309" y="1334119"/>
            <a:ext cx="4239454" cy="1175261"/>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WhyWeUse Arduino</a:t>
            </a:r>
          </a:p>
          <a:p>
            <a:pPr algn="l">
              <a:lnSpc>
                <a:spcPts val="2301"/>
              </a:lnSpc>
            </a:pPr>
            <a:r>
              <a:rPr lang="en-US" sz="1644" spc="-13">
                <a:solidFill>
                  <a:srgbClr val="000000"/>
                </a:solidFill>
                <a:latin typeface="Montserrat"/>
                <a:ea typeface="Montserrat"/>
                <a:cs typeface="Montserrat"/>
                <a:sym typeface="Montserrat"/>
              </a:rPr>
              <a:t>Arduino is:</a:t>
            </a:r>
          </a:p>
        </p:txBody>
      </p:sp>
      <p:sp>
        <p:nvSpPr>
          <p:cNvPr id="19" name="TextBox 19"/>
          <p:cNvSpPr txBox="1"/>
          <p:nvPr/>
        </p:nvSpPr>
        <p:spPr>
          <a:xfrm>
            <a:off x="1632309" y="3717608"/>
            <a:ext cx="1605744" cy="289636"/>
          </a:xfrm>
          <a:prstGeom prst="rect">
            <a:avLst/>
          </a:prstGeom>
        </p:spPr>
        <p:txBody>
          <a:bodyPr lIns="0" tIns="0" rIns="0" bIns="0" rtlCol="0" anchor="t">
            <a:spAutoFit/>
          </a:bodyPr>
          <a:lstStyle/>
          <a:p>
            <a:pPr algn="l">
              <a:lnSpc>
                <a:spcPts val="2301"/>
              </a:lnSpc>
            </a:pPr>
            <a:r>
              <a:rPr lang="en-US" sz="1644" spc="-13">
                <a:solidFill>
                  <a:srgbClr val="000000"/>
                </a:solidFill>
                <a:latin typeface="Montserrat"/>
                <a:ea typeface="Montserrat"/>
                <a:cs typeface="Montserrat"/>
                <a:sym typeface="Montserrat"/>
              </a:rPr>
              <a:t>It allows you to: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sp>
        <p:nvSpPr>
          <p:cNvPr id="9" name="Freeform 9"/>
          <p:cNvSpPr/>
          <p:nvPr/>
        </p:nvSpPr>
        <p:spPr>
          <a:xfrm>
            <a:off x="1585465" y="5243065"/>
            <a:ext cx="1811017" cy="815845"/>
          </a:xfrm>
          <a:custGeom>
            <a:avLst/>
            <a:gdLst/>
            <a:ahLst/>
            <a:cxnLst/>
            <a:rect l="l" t="t" r="r" b="b"/>
            <a:pathLst>
              <a:path w="1811017" h="815845">
                <a:moveTo>
                  <a:pt x="0" y="0"/>
                </a:moveTo>
                <a:lnTo>
                  <a:pt x="1811017" y="0"/>
                </a:lnTo>
                <a:lnTo>
                  <a:pt x="1811017" y="815845"/>
                </a:lnTo>
                <a:lnTo>
                  <a:pt x="0" y="81584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SG"/>
          </a:p>
        </p:txBody>
      </p:sp>
      <p:sp>
        <p:nvSpPr>
          <p:cNvPr id="10" name="Freeform 10"/>
          <p:cNvSpPr/>
          <p:nvPr/>
        </p:nvSpPr>
        <p:spPr>
          <a:xfrm>
            <a:off x="1585465" y="2989069"/>
            <a:ext cx="3106417" cy="573529"/>
          </a:xfrm>
          <a:custGeom>
            <a:avLst/>
            <a:gdLst/>
            <a:ahLst/>
            <a:cxnLst/>
            <a:rect l="l" t="t" r="r" b="b"/>
            <a:pathLst>
              <a:path w="3106417" h="573529">
                <a:moveTo>
                  <a:pt x="0" y="0"/>
                </a:moveTo>
                <a:lnTo>
                  <a:pt x="3106417" y="0"/>
                </a:lnTo>
                <a:lnTo>
                  <a:pt x="3106417" y="573529"/>
                </a:lnTo>
                <a:lnTo>
                  <a:pt x="0" y="57352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SG"/>
          </a:p>
        </p:txBody>
      </p:sp>
      <p:sp>
        <p:nvSpPr>
          <p:cNvPr id="11" name="Freeform 11"/>
          <p:cNvSpPr/>
          <p:nvPr/>
        </p:nvSpPr>
        <p:spPr>
          <a:xfrm>
            <a:off x="1585465" y="4238749"/>
            <a:ext cx="3178045" cy="282445"/>
          </a:xfrm>
          <a:custGeom>
            <a:avLst/>
            <a:gdLst/>
            <a:ahLst/>
            <a:cxnLst/>
            <a:rect l="l" t="t" r="r" b="b"/>
            <a:pathLst>
              <a:path w="3178045" h="282445">
                <a:moveTo>
                  <a:pt x="0" y="0"/>
                </a:moveTo>
                <a:lnTo>
                  <a:pt x="3178045" y="0"/>
                </a:lnTo>
                <a:lnTo>
                  <a:pt x="3178045" y="282445"/>
                </a:lnTo>
                <a:lnTo>
                  <a:pt x="0" y="28244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SG"/>
          </a:p>
        </p:txBody>
      </p:sp>
      <p:grpSp>
        <p:nvGrpSpPr>
          <p:cNvPr id="12" name="Group 12"/>
          <p:cNvGrpSpPr/>
          <p:nvPr/>
        </p:nvGrpSpPr>
        <p:grpSpPr>
          <a:xfrm>
            <a:off x="5241036" y="2808732"/>
            <a:ext cx="5451348" cy="144780"/>
            <a:chOff x="0" y="0"/>
            <a:chExt cx="7268464" cy="193040"/>
          </a:xfrm>
        </p:grpSpPr>
        <p:sp>
          <p:nvSpPr>
            <p:cNvPr id="13" name="Freeform 13"/>
            <p:cNvSpPr/>
            <p:nvPr/>
          </p:nvSpPr>
          <p:spPr>
            <a:xfrm>
              <a:off x="0" y="0"/>
              <a:ext cx="7268464" cy="193040"/>
            </a:xfrm>
            <a:custGeom>
              <a:avLst/>
              <a:gdLst/>
              <a:ahLst/>
              <a:cxnLst/>
              <a:rect l="l" t="t" r="r" b="b"/>
              <a:pathLst>
                <a:path w="7268464" h="193040">
                  <a:moveTo>
                    <a:pt x="0" y="0"/>
                  </a:moveTo>
                  <a:lnTo>
                    <a:pt x="7268464" y="0"/>
                  </a:lnTo>
                  <a:lnTo>
                    <a:pt x="7268464" y="193040"/>
                  </a:lnTo>
                  <a:lnTo>
                    <a:pt x="0" y="193040"/>
                  </a:lnTo>
                  <a:lnTo>
                    <a:pt x="0" y="0"/>
                  </a:lnTo>
                  <a:close/>
                </a:path>
              </a:pathLst>
            </a:custGeom>
            <a:blipFill>
              <a:blip r:embed="rId7"/>
              <a:stretch>
                <a:fillRect l="-27" t="-1052"/>
              </a:stretch>
            </a:blipFill>
          </p:spPr>
          <p:txBody>
            <a:bodyPr/>
            <a:lstStyle/>
            <a:p>
              <a:endParaRPr lang="en-SG"/>
            </a:p>
          </p:txBody>
        </p:sp>
      </p:grpSp>
      <p:grpSp>
        <p:nvGrpSpPr>
          <p:cNvPr id="14" name="Group 14"/>
          <p:cNvGrpSpPr/>
          <p:nvPr/>
        </p:nvGrpSpPr>
        <p:grpSpPr>
          <a:xfrm>
            <a:off x="5241036" y="2950464"/>
            <a:ext cx="5451348" cy="3703320"/>
            <a:chOff x="0" y="0"/>
            <a:chExt cx="7268464" cy="4937760"/>
          </a:xfrm>
        </p:grpSpPr>
        <p:sp>
          <p:nvSpPr>
            <p:cNvPr id="15" name="Freeform 15"/>
            <p:cNvSpPr/>
            <p:nvPr/>
          </p:nvSpPr>
          <p:spPr>
            <a:xfrm>
              <a:off x="0" y="0"/>
              <a:ext cx="7268464" cy="4937760"/>
            </a:xfrm>
            <a:custGeom>
              <a:avLst/>
              <a:gdLst/>
              <a:ahLst/>
              <a:cxnLst/>
              <a:rect l="l" t="t" r="r" b="b"/>
              <a:pathLst>
                <a:path w="7268464" h="4937760">
                  <a:moveTo>
                    <a:pt x="0" y="0"/>
                  </a:moveTo>
                  <a:lnTo>
                    <a:pt x="7268464" y="0"/>
                  </a:lnTo>
                  <a:lnTo>
                    <a:pt x="7268464" y="4937760"/>
                  </a:lnTo>
                  <a:lnTo>
                    <a:pt x="0" y="4937760"/>
                  </a:lnTo>
                  <a:lnTo>
                    <a:pt x="0" y="0"/>
                  </a:lnTo>
                  <a:close/>
                </a:path>
              </a:pathLst>
            </a:custGeom>
            <a:blipFill>
              <a:blip r:embed="rId8"/>
              <a:stretch>
                <a:fillRect/>
              </a:stretch>
            </a:blipFill>
          </p:spPr>
          <p:txBody>
            <a:bodyPr/>
            <a:lstStyle/>
            <a:p>
              <a:endParaRPr lang="en-SG"/>
            </a:p>
          </p:txBody>
        </p:sp>
      </p:grpSp>
      <p:sp>
        <p:nvSpPr>
          <p:cNvPr id="16" name="TextBox 16"/>
          <p:cNvSpPr txBox="1"/>
          <p:nvPr/>
        </p:nvSpPr>
        <p:spPr>
          <a:xfrm>
            <a:off x="1632309" y="1334119"/>
            <a:ext cx="5325256" cy="1675095"/>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What Is Inside an Arduino?</a:t>
            </a:r>
          </a:p>
          <a:p>
            <a:pPr algn="l">
              <a:lnSpc>
                <a:spcPts val="2301"/>
              </a:lnSpc>
            </a:pPr>
            <a:r>
              <a:rPr lang="en-US" sz="1644" spc="-13">
                <a:solidFill>
                  <a:srgbClr val="000000"/>
                </a:solidFill>
                <a:latin typeface="Montserrat"/>
                <a:ea typeface="Montserrat"/>
                <a:cs typeface="Montserrat"/>
                <a:sym typeface="Montserrat"/>
              </a:rPr>
              <a:t>An Arduino board includes:</a:t>
            </a:r>
          </a:p>
          <a:p>
            <a:pPr algn="l">
              <a:lnSpc>
                <a:spcPts val="2301"/>
              </a:lnSpc>
            </a:pPr>
            <a:r>
              <a:rPr lang="en-US" sz="1644" spc="-13">
                <a:solidFill>
                  <a:srgbClr val="FFC000"/>
                </a:solidFill>
                <a:latin typeface="Montserrat"/>
                <a:ea typeface="Montserrat"/>
                <a:cs typeface="Montserrat"/>
                <a:sym typeface="Montserrat"/>
              </a:rPr>
              <a:t>Microcontroller</a:t>
            </a:r>
          </a:p>
        </p:txBody>
      </p:sp>
      <p:sp>
        <p:nvSpPr>
          <p:cNvPr id="17" name="TextBox 17"/>
          <p:cNvSpPr txBox="1"/>
          <p:nvPr/>
        </p:nvSpPr>
        <p:spPr>
          <a:xfrm>
            <a:off x="1632309" y="4467358"/>
            <a:ext cx="1522266" cy="788013"/>
          </a:xfrm>
          <a:prstGeom prst="rect">
            <a:avLst/>
          </a:prstGeom>
        </p:spPr>
        <p:txBody>
          <a:bodyPr lIns="0" tIns="0" rIns="0" bIns="0" rtlCol="0" anchor="t">
            <a:spAutoFit/>
          </a:bodyPr>
          <a:lstStyle/>
          <a:p>
            <a:pPr algn="l">
              <a:lnSpc>
                <a:spcPts val="2301"/>
              </a:lnSpc>
            </a:pPr>
            <a:r>
              <a:rPr lang="en-US" sz="1644" spc="31">
                <a:solidFill>
                  <a:srgbClr val="000000"/>
                </a:solidFill>
                <a:latin typeface="Montserrat"/>
                <a:ea typeface="Montserrat"/>
                <a:cs typeface="Montserrat"/>
                <a:sym typeface="Montserrat"/>
              </a:rPr>
              <a:t>actuators </a:t>
            </a:r>
            <a:r>
              <a:rPr lang="en-US" sz="1644" spc="31">
                <a:solidFill>
                  <a:srgbClr val="FFC000"/>
                </a:solidFill>
                <a:latin typeface="Montserrat"/>
                <a:ea typeface="Montserrat"/>
                <a:cs typeface="Montserrat"/>
                <a:sym typeface="Montserrat"/>
              </a:rPr>
              <a:t>Power supply</a:t>
            </a:r>
          </a:p>
        </p:txBody>
      </p:sp>
      <p:sp>
        <p:nvSpPr>
          <p:cNvPr id="18" name="TextBox 18"/>
          <p:cNvSpPr txBox="1"/>
          <p:nvPr/>
        </p:nvSpPr>
        <p:spPr>
          <a:xfrm>
            <a:off x="1632309" y="3469148"/>
            <a:ext cx="2140496" cy="788013"/>
          </a:xfrm>
          <a:prstGeom prst="rect">
            <a:avLst/>
          </a:prstGeom>
        </p:spPr>
        <p:txBody>
          <a:bodyPr lIns="0" tIns="0" rIns="0" bIns="0" rtlCol="0" anchor="t">
            <a:spAutoFit/>
          </a:bodyPr>
          <a:lstStyle/>
          <a:p>
            <a:pPr algn="l">
              <a:lnSpc>
                <a:spcPts val="2301"/>
              </a:lnSpc>
            </a:pPr>
            <a:r>
              <a:rPr lang="en-US" sz="1644" spc="31">
                <a:solidFill>
                  <a:srgbClr val="000000"/>
                </a:solidFill>
                <a:latin typeface="Montserrat"/>
                <a:ea typeface="Montserrat"/>
                <a:cs typeface="Montserrat"/>
                <a:sym typeface="Montserrat"/>
              </a:rPr>
              <a:t>peripherals</a:t>
            </a:r>
          </a:p>
          <a:p>
            <a:pPr algn="l">
              <a:lnSpc>
                <a:spcPts val="2301"/>
              </a:lnSpc>
            </a:pPr>
            <a:r>
              <a:rPr lang="en-US" sz="1644" spc="31">
                <a:solidFill>
                  <a:srgbClr val="FFC000"/>
                </a:solidFill>
                <a:latin typeface="Montserrat"/>
                <a:ea typeface="Montserrat"/>
                <a:cs typeface="Montserrat"/>
                <a:sym typeface="Montserrat"/>
              </a:rPr>
              <a:t>Input / Output pins</a:t>
            </a:r>
          </a:p>
        </p:txBody>
      </p:sp>
      <p:sp>
        <p:nvSpPr>
          <p:cNvPr id="19" name="TextBox 19"/>
          <p:cNvSpPr txBox="1"/>
          <p:nvPr/>
        </p:nvSpPr>
        <p:spPr>
          <a:xfrm>
            <a:off x="1632309" y="6213872"/>
            <a:ext cx="3239176" cy="289636"/>
          </a:xfrm>
          <a:prstGeom prst="rect">
            <a:avLst/>
          </a:prstGeom>
        </p:spPr>
        <p:txBody>
          <a:bodyPr lIns="0" tIns="0" rIns="0" bIns="0" rtlCol="0" anchor="t">
            <a:spAutoFit/>
          </a:bodyPr>
          <a:lstStyle/>
          <a:p>
            <a:pPr algn="l">
              <a:lnSpc>
                <a:spcPts val="2301"/>
              </a:lnSpc>
            </a:pPr>
            <a:r>
              <a:rPr lang="en-US" sz="1644" spc="-13">
                <a:solidFill>
                  <a:srgbClr val="000000"/>
                </a:solidFill>
                <a:latin typeface="Montserrat"/>
                <a:ea typeface="Montserrat"/>
                <a:cs typeface="Montserrat"/>
                <a:sym typeface="Montserrat"/>
              </a:rPr>
              <a:t>It is a small embedded system.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sp>
        <p:nvSpPr>
          <p:cNvPr id="9" name="Freeform 9"/>
          <p:cNvSpPr/>
          <p:nvPr/>
        </p:nvSpPr>
        <p:spPr>
          <a:xfrm>
            <a:off x="1585465" y="2490721"/>
            <a:ext cx="1465069" cy="532381"/>
          </a:xfrm>
          <a:custGeom>
            <a:avLst/>
            <a:gdLst/>
            <a:ahLst/>
            <a:cxnLst/>
            <a:rect l="l" t="t" r="r" b="b"/>
            <a:pathLst>
              <a:path w="1465069" h="532381">
                <a:moveTo>
                  <a:pt x="0" y="0"/>
                </a:moveTo>
                <a:lnTo>
                  <a:pt x="1465069" y="0"/>
                </a:lnTo>
                <a:lnTo>
                  <a:pt x="1465069" y="532381"/>
                </a:lnTo>
                <a:lnTo>
                  <a:pt x="0" y="53238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SG"/>
          </a:p>
        </p:txBody>
      </p:sp>
      <p:grpSp>
        <p:nvGrpSpPr>
          <p:cNvPr id="10" name="Group 10"/>
          <p:cNvGrpSpPr/>
          <p:nvPr/>
        </p:nvGrpSpPr>
        <p:grpSpPr>
          <a:xfrm>
            <a:off x="2173224" y="4111752"/>
            <a:ext cx="7316724" cy="2415540"/>
            <a:chOff x="0" y="0"/>
            <a:chExt cx="9755632" cy="3220720"/>
          </a:xfrm>
        </p:grpSpPr>
        <p:sp>
          <p:nvSpPr>
            <p:cNvPr id="11" name="Freeform 11"/>
            <p:cNvSpPr/>
            <p:nvPr/>
          </p:nvSpPr>
          <p:spPr>
            <a:xfrm>
              <a:off x="0" y="0"/>
              <a:ext cx="9755632" cy="3220720"/>
            </a:xfrm>
            <a:custGeom>
              <a:avLst/>
              <a:gdLst/>
              <a:ahLst/>
              <a:cxnLst/>
              <a:rect l="l" t="t" r="r" b="b"/>
              <a:pathLst>
                <a:path w="9755632" h="3220720">
                  <a:moveTo>
                    <a:pt x="0" y="0"/>
                  </a:moveTo>
                  <a:lnTo>
                    <a:pt x="9755632" y="0"/>
                  </a:lnTo>
                  <a:lnTo>
                    <a:pt x="9755632" y="3220720"/>
                  </a:lnTo>
                  <a:lnTo>
                    <a:pt x="0" y="3220720"/>
                  </a:lnTo>
                  <a:lnTo>
                    <a:pt x="0" y="0"/>
                  </a:lnTo>
                  <a:close/>
                </a:path>
              </a:pathLst>
            </a:custGeom>
            <a:blipFill>
              <a:blip r:embed="rId5"/>
              <a:stretch>
                <a:fillRect l="-62" t="-189"/>
              </a:stretch>
            </a:blipFill>
          </p:spPr>
          <p:txBody>
            <a:bodyPr/>
            <a:lstStyle/>
            <a:p>
              <a:endParaRPr lang="en-SG"/>
            </a:p>
          </p:txBody>
        </p:sp>
      </p:grpSp>
      <p:sp>
        <p:nvSpPr>
          <p:cNvPr id="12" name="TextBox 12"/>
          <p:cNvSpPr txBox="1"/>
          <p:nvPr/>
        </p:nvSpPr>
        <p:spPr>
          <a:xfrm>
            <a:off x="1632309" y="1334119"/>
            <a:ext cx="4515841" cy="1175261"/>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Programming Arduino</a:t>
            </a:r>
          </a:p>
          <a:p>
            <a:pPr algn="l">
              <a:lnSpc>
                <a:spcPts val="2301"/>
              </a:lnSpc>
            </a:pPr>
            <a:r>
              <a:rPr lang="en-US" sz="1644" spc="-13">
                <a:solidFill>
                  <a:srgbClr val="000000"/>
                </a:solidFill>
                <a:latin typeface="Montserrat"/>
                <a:ea typeface="Montserrat"/>
                <a:cs typeface="Montserrat"/>
                <a:sym typeface="Montserrat"/>
              </a:rPr>
              <a:t>Arduino is programmed via:</a:t>
            </a:r>
          </a:p>
        </p:txBody>
      </p:sp>
      <p:sp>
        <p:nvSpPr>
          <p:cNvPr id="13" name="TextBox 13"/>
          <p:cNvSpPr txBox="1"/>
          <p:nvPr/>
        </p:nvSpPr>
        <p:spPr>
          <a:xfrm>
            <a:off x="1632309" y="3219231"/>
            <a:ext cx="6195117" cy="289636"/>
          </a:xfrm>
          <a:prstGeom prst="rect">
            <a:avLst/>
          </a:prstGeom>
        </p:spPr>
        <p:txBody>
          <a:bodyPr lIns="0" tIns="0" rIns="0" bIns="0" rtlCol="0" anchor="t">
            <a:spAutoFit/>
          </a:bodyPr>
          <a:lstStyle/>
          <a:p>
            <a:pPr algn="l">
              <a:lnSpc>
                <a:spcPts val="2301"/>
              </a:lnSpc>
            </a:pPr>
            <a:r>
              <a:rPr lang="en-US" sz="1644" spc="-13">
                <a:solidFill>
                  <a:srgbClr val="000000"/>
                </a:solidFill>
                <a:latin typeface="Montserrat"/>
                <a:ea typeface="Montserrat"/>
                <a:cs typeface="Montserrat"/>
                <a:sym typeface="Montserrat"/>
              </a:rPr>
              <a:t>You write code on your computer and upload it in seconds.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1808988" y="2311908"/>
            <a:ext cx="97536" cy="97536"/>
            <a:chOff x="0" y="0"/>
            <a:chExt cx="97536" cy="97536"/>
          </a:xfrm>
        </p:grpSpPr>
        <p:sp>
          <p:nvSpPr>
            <p:cNvPr id="10" name="Freeform 10"/>
            <p:cNvSpPr/>
            <p:nvPr/>
          </p:nvSpPr>
          <p:spPr>
            <a:xfrm>
              <a:off x="0" y="0"/>
              <a:ext cx="97536" cy="97536"/>
            </a:xfrm>
            <a:custGeom>
              <a:avLst/>
              <a:gdLst/>
              <a:ahLst/>
              <a:cxnLst/>
              <a:rect l="l" t="t" r="r" b="b"/>
              <a:pathLst>
                <a:path w="97536" h="97536">
                  <a:moveTo>
                    <a:pt x="24384" y="6096"/>
                  </a:moveTo>
                  <a:cubicBezTo>
                    <a:pt x="16764" y="9144"/>
                    <a:pt x="10668" y="15240"/>
                    <a:pt x="6096" y="22860"/>
                  </a:cubicBezTo>
                  <a:cubicBezTo>
                    <a:pt x="3048" y="32004"/>
                    <a:pt x="0" y="39624"/>
                    <a:pt x="0" y="48768"/>
                  </a:cubicBezTo>
                  <a:cubicBezTo>
                    <a:pt x="0" y="60960"/>
                    <a:pt x="4572" y="73152"/>
                    <a:pt x="15240" y="82296"/>
                  </a:cubicBezTo>
                  <a:cubicBezTo>
                    <a:pt x="24384" y="91440"/>
                    <a:pt x="35052" y="97536"/>
                    <a:pt x="48768" y="97536"/>
                  </a:cubicBezTo>
                  <a:cubicBezTo>
                    <a:pt x="62484" y="97536"/>
                    <a:pt x="74676" y="91440"/>
                    <a:pt x="83820" y="82296"/>
                  </a:cubicBezTo>
                  <a:cubicBezTo>
                    <a:pt x="92964" y="73152"/>
                    <a:pt x="97536" y="60960"/>
                    <a:pt x="97536" y="48768"/>
                  </a:cubicBezTo>
                  <a:cubicBezTo>
                    <a:pt x="97536" y="39624"/>
                    <a:pt x="96012" y="32004"/>
                    <a:pt x="91440" y="24384"/>
                  </a:cubicBezTo>
                  <a:cubicBezTo>
                    <a:pt x="86868" y="15240"/>
                    <a:pt x="80772" y="9144"/>
                    <a:pt x="73152" y="6096"/>
                  </a:cubicBezTo>
                  <a:cubicBezTo>
                    <a:pt x="65532" y="1524"/>
                    <a:pt x="57912" y="0"/>
                    <a:pt x="48768" y="0"/>
                  </a:cubicBezTo>
                  <a:cubicBezTo>
                    <a:pt x="41148" y="0"/>
                    <a:pt x="33528" y="1524"/>
                    <a:pt x="24384" y="6096"/>
                  </a:cubicBezTo>
                  <a:close/>
                </a:path>
              </a:pathLst>
            </a:custGeom>
            <a:solidFill>
              <a:srgbClr val="000000"/>
            </a:solidFill>
          </p:spPr>
          <p:txBody>
            <a:bodyPr/>
            <a:lstStyle/>
            <a:p>
              <a:endParaRPr lang="en-SG"/>
            </a:p>
          </p:txBody>
        </p:sp>
      </p:grpSp>
      <p:grpSp>
        <p:nvGrpSpPr>
          <p:cNvPr id="11" name="Group 11"/>
          <p:cNvGrpSpPr/>
          <p:nvPr/>
        </p:nvGrpSpPr>
        <p:grpSpPr>
          <a:xfrm>
            <a:off x="1808988" y="3000756"/>
            <a:ext cx="97536" cy="97536"/>
            <a:chOff x="0" y="0"/>
            <a:chExt cx="97536" cy="97536"/>
          </a:xfrm>
        </p:grpSpPr>
        <p:sp>
          <p:nvSpPr>
            <p:cNvPr id="12" name="Freeform 12"/>
            <p:cNvSpPr/>
            <p:nvPr/>
          </p:nvSpPr>
          <p:spPr>
            <a:xfrm>
              <a:off x="0" y="0"/>
              <a:ext cx="97536" cy="97536"/>
            </a:xfrm>
            <a:custGeom>
              <a:avLst/>
              <a:gdLst/>
              <a:ahLst/>
              <a:cxnLst/>
              <a:rect l="l" t="t" r="r" b="b"/>
              <a:pathLst>
                <a:path w="97536" h="97536">
                  <a:moveTo>
                    <a:pt x="24384" y="6096"/>
                  </a:moveTo>
                  <a:cubicBezTo>
                    <a:pt x="16764" y="10668"/>
                    <a:pt x="10668" y="16764"/>
                    <a:pt x="6096" y="24384"/>
                  </a:cubicBezTo>
                  <a:cubicBezTo>
                    <a:pt x="3048" y="32004"/>
                    <a:pt x="0" y="41148"/>
                    <a:pt x="0" y="48768"/>
                  </a:cubicBezTo>
                  <a:cubicBezTo>
                    <a:pt x="0" y="62484"/>
                    <a:pt x="4572" y="74676"/>
                    <a:pt x="15240" y="83820"/>
                  </a:cubicBezTo>
                  <a:cubicBezTo>
                    <a:pt x="24384" y="92964"/>
                    <a:pt x="35052" y="97536"/>
                    <a:pt x="48768" y="97536"/>
                  </a:cubicBezTo>
                  <a:cubicBezTo>
                    <a:pt x="62484" y="97536"/>
                    <a:pt x="74676" y="92964"/>
                    <a:pt x="83820" y="83820"/>
                  </a:cubicBezTo>
                  <a:cubicBezTo>
                    <a:pt x="92964" y="74676"/>
                    <a:pt x="97536" y="62484"/>
                    <a:pt x="97536" y="48768"/>
                  </a:cubicBezTo>
                  <a:cubicBezTo>
                    <a:pt x="97536" y="41148"/>
                    <a:pt x="96012" y="32004"/>
                    <a:pt x="91440" y="24384"/>
                  </a:cubicBezTo>
                  <a:cubicBezTo>
                    <a:pt x="86868" y="16764"/>
                    <a:pt x="80772" y="10668"/>
                    <a:pt x="73152" y="6096"/>
                  </a:cubicBezTo>
                  <a:cubicBezTo>
                    <a:pt x="65532" y="3048"/>
                    <a:pt x="57912" y="0"/>
                    <a:pt x="48768" y="0"/>
                  </a:cubicBezTo>
                  <a:cubicBezTo>
                    <a:pt x="41148" y="0"/>
                    <a:pt x="33528" y="3048"/>
                    <a:pt x="24384" y="6096"/>
                  </a:cubicBezTo>
                  <a:close/>
                </a:path>
              </a:pathLst>
            </a:custGeom>
            <a:solidFill>
              <a:srgbClr val="000000"/>
            </a:solidFill>
          </p:spPr>
          <p:txBody>
            <a:bodyPr/>
            <a:lstStyle/>
            <a:p>
              <a:endParaRPr lang="en-SG"/>
            </a:p>
          </p:txBody>
        </p:sp>
      </p:grpSp>
      <p:sp>
        <p:nvSpPr>
          <p:cNvPr id="13" name="Freeform 13"/>
          <p:cNvSpPr/>
          <p:nvPr/>
        </p:nvSpPr>
        <p:spPr>
          <a:xfrm>
            <a:off x="2167128" y="2785872"/>
            <a:ext cx="2302764" cy="10668"/>
          </a:xfrm>
          <a:custGeom>
            <a:avLst/>
            <a:gdLst/>
            <a:ahLst/>
            <a:cxnLst/>
            <a:rect l="l" t="t" r="r" b="b"/>
            <a:pathLst>
              <a:path w="2302764" h="10668">
                <a:moveTo>
                  <a:pt x="0" y="0"/>
                </a:moveTo>
                <a:lnTo>
                  <a:pt x="2302764" y="0"/>
                </a:lnTo>
                <a:lnTo>
                  <a:pt x="2302764" y="10668"/>
                </a:lnTo>
                <a:lnTo>
                  <a:pt x="0" y="1066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SG"/>
          </a:p>
        </p:txBody>
      </p:sp>
      <p:sp>
        <p:nvSpPr>
          <p:cNvPr id="14" name="Freeform 14"/>
          <p:cNvSpPr/>
          <p:nvPr/>
        </p:nvSpPr>
        <p:spPr>
          <a:xfrm>
            <a:off x="2131057" y="2195065"/>
            <a:ext cx="2231641" cy="334261"/>
          </a:xfrm>
          <a:custGeom>
            <a:avLst/>
            <a:gdLst/>
            <a:ahLst/>
            <a:cxnLst/>
            <a:rect l="l" t="t" r="r" b="b"/>
            <a:pathLst>
              <a:path w="2231641" h="334261">
                <a:moveTo>
                  <a:pt x="0" y="0"/>
                </a:moveTo>
                <a:lnTo>
                  <a:pt x="2231641" y="0"/>
                </a:lnTo>
                <a:lnTo>
                  <a:pt x="2231641" y="334261"/>
                </a:lnTo>
                <a:lnTo>
                  <a:pt x="0" y="33426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SG"/>
          </a:p>
        </p:txBody>
      </p:sp>
      <p:sp>
        <p:nvSpPr>
          <p:cNvPr id="15" name="Freeform 15"/>
          <p:cNvSpPr/>
          <p:nvPr/>
        </p:nvSpPr>
        <p:spPr>
          <a:xfrm>
            <a:off x="5285232" y="2439924"/>
            <a:ext cx="4017264" cy="10668"/>
          </a:xfrm>
          <a:custGeom>
            <a:avLst/>
            <a:gdLst/>
            <a:ahLst/>
            <a:cxnLst/>
            <a:rect l="l" t="t" r="r" b="b"/>
            <a:pathLst>
              <a:path w="4017264" h="10668">
                <a:moveTo>
                  <a:pt x="0" y="0"/>
                </a:moveTo>
                <a:lnTo>
                  <a:pt x="4017264" y="0"/>
                </a:lnTo>
                <a:lnTo>
                  <a:pt x="4017264" y="10668"/>
                </a:lnTo>
                <a:lnTo>
                  <a:pt x="0" y="1066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SG"/>
          </a:p>
        </p:txBody>
      </p:sp>
      <p:grpSp>
        <p:nvGrpSpPr>
          <p:cNvPr id="16" name="Group 16"/>
          <p:cNvGrpSpPr/>
          <p:nvPr/>
        </p:nvGrpSpPr>
        <p:grpSpPr>
          <a:xfrm>
            <a:off x="2535936" y="3764280"/>
            <a:ext cx="5940552" cy="283464"/>
            <a:chOff x="0" y="0"/>
            <a:chExt cx="7920736" cy="377952"/>
          </a:xfrm>
        </p:grpSpPr>
        <p:sp>
          <p:nvSpPr>
            <p:cNvPr id="17" name="Freeform 17"/>
            <p:cNvSpPr/>
            <p:nvPr/>
          </p:nvSpPr>
          <p:spPr>
            <a:xfrm>
              <a:off x="0" y="0"/>
              <a:ext cx="7920736" cy="377952"/>
            </a:xfrm>
            <a:custGeom>
              <a:avLst/>
              <a:gdLst/>
              <a:ahLst/>
              <a:cxnLst/>
              <a:rect l="l" t="t" r="r" b="b"/>
              <a:pathLst>
                <a:path w="7920736" h="377952">
                  <a:moveTo>
                    <a:pt x="0" y="0"/>
                  </a:moveTo>
                  <a:lnTo>
                    <a:pt x="7920736" y="0"/>
                  </a:lnTo>
                  <a:lnTo>
                    <a:pt x="7920736" y="377952"/>
                  </a:lnTo>
                  <a:lnTo>
                    <a:pt x="0" y="377952"/>
                  </a:lnTo>
                  <a:lnTo>
                    <a:pt x="0" y="0"/>
                  </a:lnTo>
                  <a:close/>
                </a:path>
              </a:pathLst>
            </a:custGeom>
            <a:blipFill>
              <a:blip r:embed="rId7"/>
              <a:stretch>
                <a:fillRect r="-25"/>
              </a:stretch>
            </a:blipFill>
          </p:spPr>
          <p:txBody>
            <a:bodyPr/>
            <a:lstStyle/>
            <a:p>
              <a:endParaRPr lang="en-SG"/>
            </a:p>
          </p:txBody>
        </p:sp>
      </p:grpSp>
      <p:grpSp>
        <p:nvGrpSpPr>
          <p:cNvPr id="18" name="Group 18"/>
          <p:cNvGrpSpPr/>
          <p:nvPr/>
        </p:nvGrpSpPr>
        <p:grpSpPr>
          <a:xfrm>
            <a:off x="2535936" y="4043172"/>
            <a:ext cx="5940552" cy="2551176"/>
            <a:chOff x="0" y="0"/>
            <a:chExt cx="7920736" cy="3401568"/>
          </a:xfrm>
        </p:grpSpPr>
        <p:sp>
          <p:nvSpPr>
            <p:cNvPr id="19" name="Freeform 19"/>
            <p:cNvSpPr/>
            <p:nvPr/>
          </p:nvSpPr>
          <p:spPr>
            <a:xfrm>
              <a:off x="0" y="0"/>
              <a:ext cx="7920736" cy="3401568"/>
            </a:xfrm>
            <a:custGeom>
              <a:avLst/>
              <a:gdLst/>
              <a:ahLst/>
              <a:cxnLst/>
              <a:rect l="l" t="t" r="r" b="b"/>
              <a:pathLst>
                <a:path w="7920736" h="3401568">
                  <a:moveTo>
                    <a:pt x="0" y="0"/>
                  </a:moveTo>
                  <a:lnTo>
                    <a:pt x="7920736" y="0"/>
                  </a:lnTo>
                  <a:lnTo>
                    <a:pt x="7920736" y="3401568"/>
                  </a:lnTo>
                  <a:lnTo>
                    <a:pt x="0" y="3401568"/>
                  </a:lnTo>
                  <a:lnTo>
                    <a:pt x="0" y="0"/>
                  </a:lnTo>
                  <a:close/>
                </a:path>
              </a:pathLst>
            </a:custGeom>
            <a:blipFill>
              <a:blip r:embed="rId8"/>
              <a:stretch>
                <a:fillRect/>
              </a:stretch>
            </a:blipFill>
          </p:spPr>
          <p:txBody>
            <a:bodyPr/>
            <a:lstStyle/>
            <a:p>
              <a:endParaRPr lang="en-SG"/>
            </a:p>
          </p:txBody>
        </p:sp>
      </p:grpSp>
      <p:sp>
        <p:nvSpPr>
          <p:cNvPr id="20" name="TextBox 20"/>
          <p:cNvSpPr txBox="1"/>
          <p:nvPr/>
        </p:nvSpPr>
        <p:spPr>
          <a:xfrm>
            <a:off x="1632385" y="1334119"/>
            <a:ext cx="5941524" cy="523504"/>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Arduino Programming Set Up</a:t>
            </a:r>
          </a:p>
        </p:txBody>
      </p:sp>
      <p:sp>
        <p:nvSpPr>
          <p:cNvPr id="21" name="TextBox 21"/>
          <p:cNvSpPr txBox="1"/>
          <p:nvPr/>
        </p:nvSpPr>
        <p:spPr>
          <a:xfrm>
            <a:off x="4366193" y="2172729"/>
            <a:ext cx="5035658" cy="306162"/>
          </a:xfrm>
          <a:prstGeom prst="rect">
            <a:avLst/>
          </a:prstGeom>
        </p:spPr>
        <p:txBody>
          <a:bodyPr lIns="0" tIns="0" rIns="0" bIns="0" rtlCol="0" anchor="t">
            <a:spAutoFit/>
          </a:bodyPr>
          <a:lstStyle/>
          <a:p>
            <a:pPr algn="l">
              <a:lnSpc>
                <a:spcPts val="2452"/>
              </a:lnSpc>
            </a:pPr>
            <a:r>
              <a:rPr lang="en-US" sz="1752" spc="-12">
                <a:solidFill>
                  <a:srgbClr val="000000"/>
                </a:solidFill>
                <a:latin typeface="Montserrat"/>
                <a:ea typeface="Montserrat"/>
                <a:cs typeface="Montserrat"/>
                <a:sym typeface="Montserrat"/>
              </a:rPr>
              <a:t>website </a:t>
            </a:r>
            <a:r>
              <a:rPr lang="en-US" sz="1752" spc="-12">
                <a:solidFill>
                  <a:srgbClr val="4DD0E1"/>
                </a:solidFill>
                <a:latin typeface="Montserrat"/>
                <a:ea typeface="Montserrat"/>
                <a:cs typeface="Montserrat"/>
                <a:sym typeface="Montserrat"/>
              </a:rPr>
              <a:t>https://github.com/arduino/arduino-</a:t>
            </a:r>
          </a:p>
        </p:txBody>
      </p:sp>
      <p:sp>
        <p:nvSpPr>
          <p:cNvPr id="22" name="TextBox 22"/>
          <p:cNvSpPr txBox="1"/>
          <p:nvPr/>
        </p:nvSpPr>
        <p:spPr>
          <a:xfrm>
            <a:off x="2167185" y="2488587"/>
            <a:ext cx="7142245" cy="679171"/>
          </a:xfrm>
          <a:prstGeom prst="rect">
            <a:avLst/>
          </a:prstGeom>
        </p:spPr>
        <p:txBody>
          <a:bodyPr lIns="0" tIns="0" rIns="0" bIns="0" rtlCol="0" anchor="t">
            <a:spAutoFit/>
          </a:bodyPr>
          <a:lstStyle/>
          <a:p>
            <a:pPr algn="l">
              <a:lnSpc>
                <a:spcPts val="2712"/>
              </a:lnSpc>
            </a:pPr>
            <a:r>
              <a:rPr lang="en-US" sz="1752" spc="-12">
                <a:solidFill>
                  <a:srgbClr val="4DD0E1"/>
                </a:solidFill>
                <a:latin typeface="Montserrat"/>
                <a:ea typeface="Montserrat"/>
                <a:cs typeface="Montserrat"/>
                <a:sym typeface="Montserrat"/>
              </a:rPr>
              <a:t>ide/releases/tag/2.3.4</a:t>
            </a:r>
          </a:p>
          <a:p>
            <a:pPr algn="l">
              <a:lnSpc>
                <a:spcPts val="2712"/>
              </a:lnSpc>
            </a:pPr>
            <a:r>
              <a:rPr lang="en-US" sz="1752" spc="-12">
                <a:solidFill>
                  <a:srgbClr val="000000"/>
                </a:solidFill>
                <a:latin typeface="Montserrat"/>
                <a:ea typeface="Montserrat"/>
                <a:cs typeface="Montserrat"/>
                <a:sym typeface="Montserrat"/>
              </a:rPr>
              <a:t>Find the 2.3.4 version of Arduino IDE for either Mac or Windows.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1808988" y="2311908"/>
            <a:ext cx="97536" cy="97536"/>
            <a:chOff x="0" y="0"/>
            <a:chExt cx="97536" cy="97536"/>
          </a:xfrm>
        </p:grpSpPr>
        <p:sp>
          <p:nvSpPr>
            <p:cNvPr id="10" name="Freeform 10"/>
            <p:cNvSpPr/>
            <p:nvPr/>
          </p:nvSpPr>
          <p:spPr>
            <a:xfrm>
              <a:off x="0" y="0"/>
              <a:ext cx="97536" cy="97536"/>
            </a:xfrm>
            <a:custGeom>
              <a:avLst/>
              <a:gdLst/>
              <a:ahLst/>
              <a:cxnLst/>
              <a:rect l="l" t="t" r="r" b="b"/>
              <a:pathLst>
                <a:path w="97536" h="97536">
                  <a:moveTo>
                    <a:pt x="24384" y="6096"/>
                  </a:moveTo>
                  <a:cubicBezTo>
                    <a:pt x="16764" y="9144"/>
                    <a:pt x="10668" y="15240"/>
                    <a:pt x="6096" y="22860"/>
                  </a:cubicBezTo>
                  <a:cubicBezTo>
                    <a:pt x="3048" y="32004"/>
                    <a:pt x="0" y="39624"/>
                    <a:pt x="0" y="48768"/>
                  </a:cubicBezTo>
                  <a:cubicBezTo>
                    <a:pt x="0" y="60960"/>
                    <a:pt x="4572" y="73152"/>
                    <a:pt x="15240" y="82296"/>
                  </a:cubicBezTo>
                  <a:cubicBezTo>
                    <a:pt x="24384" y="91440"/>
                    <a:pt x="35052" y="97536"/>
                    <a:pt x="48768" y="97536"/>
                  </a:cubicBezTo>
                  <a:cubicBezTo>
                    <a:pt x="62484" y="97536"/>
                    <a:pt x="74676" y="91440"/>
                    <a:pt x="83820" y="82296"/>
                  </a:cubicBezTo>
                  <a:cubicBezTo>
                    <a:pt x="92964" y="73152"/>
                    <a:pt x="97536" y="60960"/>
                    <a:pt x="97536" y="48768"/>
                  </a:cubicBezTo>
                  <a:cubicBezTo>
                    <a:pt x="97536" y="39624"/>
                    <a:pt x="96012" y="32004"/>
                    <a:pt x="91440" y="24384"/>
                  </a:cubicBezTo>
                  <a:cubicBezTo>
                    <a:pt x="86868" y="15240"/>
                    <a:pt x="80772" y="9144"/>
                    <a:pt x="73152" y="6096"/>
                  </a:cubicBezTo>
                  <a:cubicBezTo>
                    <a:pt x="65532" y="1524"/>
                    <a:pt x="57912" y="0"/>
                    <a:pt x="48768" y="0"/>
                  </a:cubicBezTo>
                  <a:cubicBezTo>
                    <a:pt x="41148" y="0"/>
                    <a:pt x="33528" y="1524"/>
                    <a:pt x="24384" y="6096"/>
                  </a:cubicBezTo>
                  <a:close/>
                </a:path>
              </a:pathLst>
            </a:custGeom>
            <a:solidFill>
              <a:srgbClr val="000000"/>
            </a:solidFill>
          </p:spPr>
          <p:txBody>
            <a:bodyPr/>
            <a:lstStyle/>
            <a:p>
              <a:endParaRPr lang="en-SG"/>
            </a:p>
          </p:txBody>
        </p:sp>
      </p:grpSp>
      <p:grpSp>
        <p:nvGrpSpPr>
          <p:cNvPr id="11" name="Group 11"/>
          <p:cNvGrpSpPr/>
          <p:nvPr/>
        </p:nvGrpSpPr>
        <p:grpSpPr>
          <a:xfrm>
            <a:off x="1808988" y="2656332"/>
            <a:ext cx="97536" cy="97536"/>
            <a:chOff x="0" y="0"/>
            <a:chExt cx="97536" cy="97536"/>
          </a:xfrm>
        </p:grpSpPr>
        <p:sp>
          <p:nvSpPr>
            <p:cNvPr id="12" name="Freeform 12"/>
            <p:cNvSpPr/>
            <p:nvPr/>
          </p:nvSpPr>
          <p:spPr>
            <a:xfrm>
              <a:off x="0" y="0"/>
              <a:ext cx="97536" cy="97536"/>
            </a:xfrm>
            <a:custGeom>
              <a:avLst/>
              <a:gdLst/>
              <a:ahLst/>
              <a:cxnLst/>
              <a:rect l="l" t="t" r="r" b="b"/>
              <a:pathLst>
                <a:path w="97536" h="97536">
                  <a:moveTo>
                    <a:pt x="24384" y="7620"/>
                  </a:moveTo>
                  <a:cubicBezTo>
                    <a:pt x="16764" y="10668"/>
                    <a:pt x="10668" y="16764"/>
                    <a:pt x="6096" y="24384"/>
                  </a:cubicBezTo>
                  <a:cubicBezTo>
                    <a:pt x="3048" y="32004"/>
                    <a:pt x="0" y="41148"/>
                    <a:pt x="0" y="48768"/>
                  </a:cubicBezTo>
                  <a:cubicBezTo>
                    <a:pt x="0" y="62484"/>
                    <a:pt x="4572" y="74676"/>
                    <a:pt x="15240" y="83820"/>
                  </a:cubicBezTo>
                  <a:cubicBezTo>
                    <a:pt x="24384" y="92964"/>
                    <a:pt x="35052" y="97536"/>
                    <a:pt x="48768" y="97536"/>
                  </a:cubicBezTo>
                  <a:cubicBezTo>
                    <a:pt x="62484" y="97536"/>
                    <a:pt x="74676" y="92964"/>
                    <a:pt x="83820" y="83820"/>
                  </a:cubicBezTo>
                  <a:cubicBezTo>
                    <a:pt x="92964" y="74676"/>
                    <a:pt x="97536" y="62484"/>
                    <a:pt x="97536" y="48768"/>
                  </a:cubicBezTo>
                  <a:cubicBezTo>
                    <a:pt x="97536" y="41148"/>
                    <a:pt x="96012" y="33528"/>
                    <a:pt x="91440" y="24384"/>
                  </a:cubicBezTo>
                  <a:cubicBezTo>
                    <a:pt x="86868" y="16764"/>
                    <a:pt x="80772" y="10668"/>
                    <a:pt x="73152" y="7620"/>
                  </a:cubicBezTo>
                  <a:cubicBezTo>
                    <a:pt x="65532" y="3048"/>
                    <a:pt x="57912" y="0"/>
                    <a:pt x="48768" y="0"/>
                  </a:cubicBezTo>
                  <a:cubicBezTo>
                    <a:pt x="41148" y="0"/>
                    <a:pt x="33528" y="3048"/>
                    <a:pt x="24384" y="7620"/>
                  </a:cubicBezTo>
                  <a:close/>
                </a:path>
              </a:pathLst>
            </a:custGeom>
            <a:solidFill>
              <a:srgbClr val="000000"/>
            </a:solidFill>
          </p:spPr>
          <p:txBody>
            <a:bodyPr/>
            <a:lstStyle/>
            <a:p>
              <a:endParaRPr lang="en-SG"/>
            </a:p>
          </p:txBody>
        </p:sp>
      </p:grpSp>
      <p:sp>
        <p:nvSpPr>
          <p:cNvPr id="13" name="Freeform 13"/>
          <p:cNvSpPr/>
          <p:nvPr/>
        </p:nvSpPr>
        <p:spPr>
          <a:xfrm>
            <a:off x="2115817" y="2195065"/>
            <a:ext cx="2845813" cy="334261"/>
          </a:xfrm>
          <a:custGeom>
            <a:avLst/>
            <a:gdLst/>
            <a:ahLst/>
            <a:cxnLst/>
            <a:rect l="l" t="t" r="r" b="b"/>
            <a:pathLst>
              <a:path w="2845813" h="334261">
                <a:moveTo>
                  <a:pt x="0" y="0"/>
                </a:moveTo>
                <a:lnTo>
                  <a:pt x="2845813" y="0"/>
                </a:lnTo>
                <a:lnTo>
                  <a:pt x="2845813" y="334261"/>
                </a:lnTo>
                <a:lnTo>
                  <a:pt x="0" y="33426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SG"/>
          </a:p>
        </p:txBody>
      </p:sp>
      <p:sp>
        <p:nvSpPr>
          <p:cNvPr id="14" name="Freeform 14"/>
          <p:cNvSpPr/>
          <p:nvPr/>
        </p:nvSpPr>
        <p:spPr>
          <a:xfrm>
            <a:off x="2115817" y="2539489"/>
            <a:ext cx="3641341" cy="335785"/>
          </a:xfrm>
          <a:custGeom>
            <a:avLst/>
            <a:gdLst/>
            <a:ahLst/>
            <a:cxnLst/>
            <a:rect l="l" t="t" r="r" b="b"/>
            <a:pathLst>
              <a:path w="3641341" h="335785">
                <a:moveTo>
                  <a:pt x="0" y="0"/>
                </a:moveTo>
                <a:lnTo>
                  <a:pt x="3641341" y="0"/>
                </a:lnTo>
                <a:lnTo>
                  <a:pt x="3641341" y="335785"/>
                </a:lnTo>
                <a:lnTo>
                  <a:pt x="0" y="33578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SG"/>
          </a:p>
        </p:txBody>
      </p:sp>
      <p:grpSp>
        <p:nvGrpSpPr>
          <p:cNvPr id="15" name="Group 15"/>
          <p:cNvGrpSpPr/>
          <p:nvPr/>
        </p:nvGrpSpPr>
        <p:grpSpPr>
          <a:xfrm>
            <a:off x="2535936" y="3282696"/>
            <a:ext cx="5940552" cy="283464"/>
            <a:chOff x="0" y="0"/>
            <a:chExt cx="7920736" cy="377952"/>
          </a:xfrm>
        </p:grpSpPr>
        <p:sp>
          <p:nvSpPr>
            <p:cNvPr id="16" name="Freeform 16"/>
            <p:cNvSpPr/>
            <p:nvPr/>
          </p:nvSpPr>
          <p:spPr>
            <a:xfrm>
              <a:off x="0" y="0"/>
              <a:ext cx="7920736" cy="377952"/>
            </a:xfrm>
            <a:custGeom>
              <a:avLst/>
              <a:gdLst/>
              <a:ahLst/>
              <a:cxnLst/>
              <a:rect l="l" t="t" r="r" b="b"/>
              <a:pathLst>
                <a:path w="7920736" h="377952">
                  <a:moveTo>
                    <a:pt x="0" y="0"/>
                  </a:moveTo>
                  <a:lnTo>
                    <a:pt x="7920736" y="0"/>
                  </a:lnTo>
                  <a:lnTo>
                    <a:pt x="7920736" y="377952"/>
                  </a:lnTo>
                  <a:lnTo>
                    <a:pt x="0" y="377952"/>
                  </a:lnTo>
                  <a:lnTo>
                    <a:pt x="0" y="0"/>
                  </a:lnTo>
                  <a:close/>
                </a:path>
              </a:pathLst>
            </a:custGeom>
            <a:blipFill>
              <a:blip r:embed="rId6"/>
              <a:stretch>
                <a:fillRect r="-25"/>
              </a:stretch>
            </a:blipFill>
          </p:spPr>
          <p:txBody>
            <a:bodyPr/>
            <a:lstStyle/>
            <a:p>
              <a:endParaRPr lang="en-SG"/>
            </a:p>
          </p:txBody>
        </p:sp>
      </p:grpSp>
      <p:grpSp>
        <p:nvGrpSpPr>
          <p:cNvPr id="17" name="Group 17"/>
          <p:cNvGrpSpPr/>
          <p:nvPr/>
        </p:nvGrpSpPr>
        <p:grpSpPr>
          <a:xfrm>
            <a:off x="2535936" y="3561588"/>
            <a:ext cx="5940552" cy="2551176"/>
            <a:chOff x="0" y="0"/>
            <a:chExt cx="7920736" cy="3401568"/>
          </a:xfrm>
        </p:grpSpPr>
        <p:sp>
          <p:nvSpPr>
            <p:cNvPr id="18" name="Freeform 18"/>
            <p:cNvSpPr/>
            <p:nvPr/>
          </p:nvSpPr>
          <p:spPr>
            <a:xfrm>
              <a:off x="0" y="0"/>
              <a:ext cx="7920736" cy="3401568"/>
            </a:xfrm>
            <a:custGeom>
              <a:avLst/>
              <a:gdLst/>
              <a:ahLst/>
              <a:cxnLst/>
              <a:rect l="l" t="t" r="r" b="b"/>
              <a:pathLst>
                <a:path w="7920736" h="3401568">
                  <a:moveTo>
                    <a:pt x="0" y="0"/>
                  </a:moveTo>
                  <a:lnTo>
                    <a:pt x="7920736" y="0"/>
                  </a:lnTo>
                  <a:lnTo>
                    <a:pt x="7920736" y="3401568"/>
                  </a:lnTo>
                  <a:lnTo>
                    <a:pt x="0" y="3401568"/>
                  </a:lnTo>
                  <a:lnTo>
                    <a:pt x="0" y="0"/>
                  </a:lnTo>
                  <a:close/>
                </a:path>
              </a:pathLst>
            </a:custGeom>
            <a:blipFill>
              <a:blip r:embed="rId7"/>
              <a:stretch>
                <a:fillRect/>
              </a:stretch>
            </a:blipFill>
          </p:spPr>
          <p:txBody>
            <a:bodyPr/>
            <a:lstStyle/>
            <a:p>
              <a:endParaRPr lang="en-SG"/>
            </a:p>
          </p:txBody>
        </p:sp>
      </p:grpSp>
      <p:sp>
        <p:nvSpPr>
          <p:cNvPr id="19" name="Freeform 19"/>
          <p:cNvSpPr/>
          <p:nvPr/>
        </p:nvSpPr>
        <p:spPr>
          <a:xfrm>
            <a:off x="1469641" y="4336285"/>
            <a:ext cx="1138933" cy="358645"/>
          </a:xfrm>
          <a:custGeom>
            <a:avLst/>
            <a:gdLst/>
            <a:ahLst/>
            <a:cxnLst/>
            <a:rect l="l" t="t" r="r" b="b"/>
            <a:pathLst>
              <a:path w="1138933" h="358645">
                <a:moveTo>
                  <a:pt x="0" y="0"/>
                </a:moveTo>
                <a:lnTo>
                  <a:pt x="1138933" y="0"/>
                </a:lnTo>
                <a:lnTo>
                  <a:pt x="1138933" y="358645"/>
                </a:lnTo>
                <a:lnTo>
                  <a:pt x="0" y="358645"/>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SG"/>
          </a:p>
        </p:txBody>
      </p:sp>
      <p:sp>
        <p:nvSpPr>
          <p:cNvPr id="20" name="TextBox 20"/>
          <p:cNvSpPr txBox="1"/>
          <p:nvPr/>
        </p:nvSpPr>
        <p:spPr>
          <a:xfrm>
            <a:off x="1632385" y="1334119"/>
            <a:ext cx="5941524" cy="523504"/>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Arduino Programming Set Up</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1808988" y="2311908"/>
            <a:ext cx="97536" cy="97536"/>
            <a:chOff x="0" y="0"/>
            <a:chExt cx="97536" cy="97536"/>
          </a:xfrm>
        </p:grpSpPr>
        <p:sp>
          <p:nvSpPr>
            <p:cNvPr id="10" name="Freeform 10"/>
            <p:cNvSpPr/>
            <p:nvPr/>
          </p:nvSpPr>
          <p:spPr>
            <a:xfrm>
              <a:off x="0" y="0"/>
              <a:ext cx="97536" cy="97536"/>
            </a:xfrm>
            <a:custGeom>
              <a:avLst/>
              <a:gdLst/>
              <a:ahLst/>
              <a:cxnLst/>
              <a:rect l="l" t="t" r="r" b="b"/>
              <a:pathLst>
                <a:path w="97536" h="97536">
                  <a:moveTo>
                    <a:pt x="24384" y="6096"/>
                  </a:moveTo>
                  <a:cubicBezTo>
                    <a:pt x="16764" y="9144"/>
                    <a:pt x="10668" y="15240"/>
                    <a:pt x="6096" y="22860"/>
                  </a:cubicBezTo>
                  <a:cubicBezTo>
                    <a:pt x="3048" y="32004"/>
                    <a:pt x="0" y="39624"/>
                    <a:pt x="0" y="48768"/>
                  </a:cubicBezTo>
                  <a:cubicBezTo>
                    <a:pt x="0" y="60960"/>
                    <a:pt x="4572" y="73152"/>
                    <a:pt x="15240" y="82296"/>
                  </a:cubicBezTo>
                  <a:cubicBezTo>
                    <a:pt x="24384" y="91440"/>
                    <a:pt x="35052" y="97536"/>
                    <a:pt x="48768" y="97536"/>
                  </a:cubicBezTo>
                  <a:cubicBezTo>
                    <a:pt x="62484" y="97536"/>
                    <a:pt x="74676" y="91440"/>
                    <a:pt x="83820" y="82296"/>
                  </a:cubicBezTo>
                  <a:cubicBezTo>
                    <a:pt x="92964" y="73152"/>
                    <a:pt x="97536" y="60960"/>
                    <a:pt x="97536" y="48768"/>
                  </a:cubicBezTo>
                  <a:cubicBezTo>
                    <a:pt x="97536" y="39624"/>
                    <a:pt x="96012" y="32004"/>
                    <a:pt x="91440" y="24384"/>
                  </a:cubicBezTo>
                  <a:cubicBezTo>
                    <a:pt x="86868" y="15240"/>
                    <a:pt x="80772" y="9144"/>
                    <a:pt x="73152" y="6096"/>
                  </a:cubicBezTo>
                  <a:cubicBezTo>
                    <a:pt x="65532" y="1524"/>
                    <a:pt x="57912" y="0"/>
                    <a:pt x="48768" y="0"/>
                  </a:cubicBezTo>
                  <a:cubicBezTo>
                    <a:pt x="41148" y="0"/>
                    <a:pt x="33528" y="1524"/>
                    <a:pt x="24384" y="6096"/>
                  </a:cubicBezTo>
                  <a:close/>
                </a:path>
              </a:pathLst>
            </a:custGeom>
            <a:solidFill>
              <a:srgbClr val="000000"/>
            </a:solidFill>
          </p:spPr>
          <p:txBody>
            <a:bodyPr/>
            <a:lstStyle/>
            <a:p>
              <a:endParaRPr lang="en-SG"/>
            </a:p>
          </p:txBody>
        </p:sp>
      </p:grpSp>
      <p:grpSp>
        <p:nvGrpSpPr>
          <p:cNvPr id="11" name="Group 11"/>
          <p:cNvGrpSpPr/>
          <p:nvPr/>
        </p:nvGrpSpPr>
        <p:grpSpPr>
          <a:xfrm>
            <a:off x="1808988" y="2656332"/>
            <a:ext cx="97536" cy="97536"/>
            <a:chOff x="0" y="0"/>
            <a:chExt cx="97536" cy="97536"/>
          </a:xfrm>
        </p:grpSpPr>
        <p:sp>
          <p:nvSpPr>
            <p:cNvPr id="12" name="Freeform 12"/>
            <p:cNvSpPr/>
            <p:nvPr/>
          </p:nvSpPr>
          <p:spPr>
            <a:xfrm>
              <a:off x="0" y="0"/>
              <a:ext cx="97536" cy="97536"/>
            </a:xfrm>
            <a:custGeom>
              <a:avLst/>
              <a:gdLst/>
              <a:ahLst/>
              <a:cxnLst/>
              <a:rect l="l" t="t" r="r" b="b"/>
              <a:pathLst>
                <a:path w="97536" h="97536">
                  <a:moveTo>
                    <a:pt x="24384" y="7620"/>
                  </a:moveTo>
                  <a:cubicBezTo>
                    <a:pt x="16764" y="10668"/>
                    <a:pt x="10668" y="16764"/>
                    <a:pt x="6096" y="24384"/>
                  </a:cubicBezTo>
                  <a:cubicBezTo>
                    <a:pt x="3048" y="32004"/>
                    <a:pt x="0" y="41148"/>
                    <a:pt x="0" y="48768"/>
                  </a:cubicBezTo>
                  <a:cubicBezTo>
                    <a:pt x="0" y="62484"/>
                    <a:pt x="4572" y="74676"/>
                    <a:pt x="15240" y="83820"/>
                  </a:cubicBezTo>
                  <a:cubicBezTo>
                    <a:pt x="24384" y="92964"/>
                    <a:pt x="35052" y="97536"/>
                    <a:pt x="48768" y="97536"/>
                  </a:cubicBezTo>
                  <a:cubicBezTo>
                    <a:pt x="62484" y="97536"/>
                    <a:pt x="74676" y="92964"/>
                    <a:pt x="83820" y="83820"/>
                  </a:cubicBezTo>
                  <a:cubicBezTo>
                    <a:pt x="92964" y="74676"/>
                    <a:pt x="97536" y="62484"/>
                    <a:pt x="97536" y="48768"/>
                  </a:cubicBezTo>
                  <a:cubicBezTo>
                    <a:pt x="97536" y="41148"/>
                    <a:pt x="96012" y="33528"/>
                    <a:pt x="91440" y="24384"/>
                  </a:cubicBezTo>
                  <a:cubicBezTo>
                    <a:pt x="86868" y="16764"/>
                    <a:pt x="80772" y="10668"/>
                    <a:pt x="73152" y="7620"/>
                  </a:cubicBezTo>
                  <a:cubicBezTo>
                    <a:pt x="65532" y="3048"/>
                    <a:pt x="57912" y="0"/>
                    <a:pt x="48768" y="0"/>
                  </a:cubicBezTo>
                  <a:cubicBezTo>
                    <a:pt x="41148" y="0"/>
                    <a:pt x="33528" y="3048"/>
                    <a:pt x="24384" y="7620"/>
                  </a:cubicBezTo>
                  <a:close/>
                </a:path>
              </a:pathLst>
            </a:custGeom>
            <a:solidFill>
              <a:srgbClr val="000000"/>
            </a:solidFill>
          </p:spPr>
          <p:txBody>
            <a:bodyPr/>
            <a:lstStyle/>
            <a:p>
              <a:endParaRPr lang="en-SG"/>
            </a:p>
          </p:txBody>
        </p:sp>
      </p:grpSp>
      <p:sp>
        <p:nvSpPr>
          <p:cNvPr id="13" name="Freeform 13"/>
          <p:cNvSpPr/>
          <p:nvPr/>
        </p:nvSpPr>
        <p:spPr>
          <a:xfrm>
            <a:off x="2115817" y="2195065"/>
            <a:ext cx="2827525" cy="335785"/>
          </a:xfrm>
          <a:custGeom>
            <a:avLst/>
            <a:gdLst/>
            <a:ahLst/>
            <a:cxnLst/>
            <a:rect l="l" t="t" r="r" b="b"/>
            <a:pathLst>
              <a:path w="2827525" h="335785">
                <a:moveTo>
                  <a:pt x="0" y="0"/>
                </a:moveTo>
                <a:lnTo>
                  <a:pt x="2827525" y="0"/>
                </a:lnTo>
                <a:lnTo>
                  <a:pt x="2827525" y="335785"/>
                </a:lnTo>
                <a:lnTo>
                  <a:pt x="0" y="33578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SG"/>
          </a:p>
        </p:txBody>
      </p:sp>
      <p:grpSp>
        <p:nvGrpSpPr>
          <p:cNvPr id="14" name="Group 14"/>
          <p:cNvGrpSpPr/>
          <p:nvPr/>
        </p:nvGrpSpPr>
        <p:grpSpPr>
          <a:xfrm>
            <a:off x="2535936" y="3282696"/>
            <a:ext cx="5940552" cy="283464"/>
            <a:chOff x="0" y="0"/>
            <a:chExt cx="7920736" cy="377952"/>
          </a:xfrm>
        </p:grpSpPr>
        <p:sp>
          <p:nvSpPr>
            <p:cNvPr id="15" name="Freeform 15"/>
            <p:cNvSpPr/>
            <p:nvPr/>
          </p:nvSpPr>
          <p:spPr>
            <a:xfrm>
              <a:off x="0" y="0"/>
              <a:ext cx="7920736" cy="377952"/>
            </a:xfrm>
            <a:custGeom>
              <a:avLst/>
              <a:gdLst/>
              <a:ahLst/>
              <a:cxnLst/>
              <a:rect l="l" t="t" r="r" b="b"/>
              <a:pathLst>
                <a:path w="7920736" h="377952">
                  <a:moveTo>
                    <a:pt x="0" y="0"/>
                  </a:moveTo>
                  <a:lnTo>
                    <a:pt x="7920736" y="0"/>
                  </a:lnTo>
                  <a:lnTo>
                    <a:pt x="7920736" y="377952"/>
                  </a:lnTo>
                  <a:lnTo>
                    <a:pt x="0" y="377952"/>
                  </a:lnTo>
                  <a:lnTo>
                    <a:pt x="0" y="0"/>
                  </a:lnTo>
                  <a:close/>
                </a:path>
              </a:pathLst>
            </a:custGeom>
            <a:blipFill>
              <a:blip r:embed="rId5"/>
              <a:stretch>
                <a:fillRect r="-25"/>
              </a:stretch>
            </a:blipFill>
          </p:spPr>
          <p:txBody>
            <a:bodyPr/>
            <a:lstStyle/>
            <a:p>
              <a:endParaRPr lang="en-SG"/>
            </a:p>
          </p:txBody>
        </p:sp>
      </p:grpSp>
      <p:grpSp>
        <p:nvGrpSpPr>
          <p:cNvPr id="16" name="Group 16"/>
          <p:cNvGrpSpPr/>
          <p:nvPr/>
        </p:nvGrpSpPr>
        <p:grpSpPr>
          <a:xfrm>
            <a:off x="2535936" y="3561588"/>
            <a:ext cx="5940552" cy="2551176"/>
            <a:chOff x="0" y="0"/>
            <a:chExt cx="7920736" cy="3401568"/>
          </a:xfrm>
        </p:grpSpPr>
        <p:sp>
          <p:nvSpPr>
            <p:cNvPr id="17" name="Freeform 17"/>
            <p:cNvSpPr/>
            <p:nvPr/>
          </p:nvSpPr>
          <p:spPr>
            <a:xfrm>
              <a:off x="0" y="0"/>
              <a:ext cx="7920736" cy="3401568"/>
            </a:xfrm>
            <a:custGeom>
              <a:avLst/>
              <a:gdLst/>
              <a:ahLst/>
              <a:cxnLst/>
              <a:rect l="l" t="t" r="r" b="b"/>
              <a:pathLst>
                <a:path w="7920736" h="3401568">
                  <a:moveTo>
                    <a:pt x="0" y="0"/>
                  </a:moveTo>
                  <a:lnTo>
                    <a:pt x="7920736" y="0"/>
                  </a:lnTo>
                  <a:lnTo>
                    <a:pt x="7920736" y="3401568"/>
                  </a:lnTo>
                  <a:lnTo>
                    <a:pt x="0" y="3401568"/>
                  </a:lnTo>
                  <a:lnTo>
                    <a:pt x="0" y="0"/>
                  </a:lnTo>
                  <a:close/>
                </a:path>
              </a:pathLst>
            </a:custGeom>
            <a:blipFill>
              <a:blip r:embed="rId6"/>
              <a:stretch>
                <a:fillRect/>
              </a:stretch>
            </a:blipFill>
          </p:spPr>
          <p:txBody>
            <a:bodyPr/>
            <a:lstStyle/>
            <a:p>
              <a:endParaRPr lang="en-SG"/>
            </a:p>
          </p:txBody>
        </p:sp>
      </p:grpSp>
      <p:sp>
        <p:nvSpPr>
          <p:cNvPr id="18" name="Freeform 18"/>
          <p:cNvSpPr/>
          <p:nvPr/>
        </p:nvSpPr>
        <p:spPr>
          <a:xfrm>
            <a:off x="1455925" y="4836157"/>
            <a:ext cx="1138933" cy="357121"/>
          </a:xfrm>
          <a:custGeom>
            <a:avLst/>
            <a:gdLst/>
            <a:ahLst/>
            <a:cxnLst/>
            <a:rect l="l" t="t" r="r" b="b"/>
            <a:pathLst>
              <a:path w="1138933" h="357121">
                <a:moveTo>
                  <a:pt x="0" y="0"/>
                </a:moveTo>
                <a:lnTo>
                  <a:pt x="1138933" y="0"/>
                </a:lnTo>
                <a:lnTo>
                  <a:pt x="1138933" y="357121"/>
                </a:lnTo>
                <a:lnTo>
                  <a:pt x="0" y="357121"/>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SG"/>
          </a:p>
        </p:txBody>
      </p:sp>
      <p:sp>
        <p:nvSpPr>
          <p:cNvPr id="19" name="TextBox 19"/>
          <p:cNvSpPr txBox="1"/>
          <p:nvPr/>
        </p:nvSpPr>
        <p:spPr>
          <a:xfrm>
            <a:off x="1632385" y="1334119"/>
            <a:ext cx="5941524" cy="523504"/>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Arduino Programming Set Up</a:t>
            </a:r>
          </a:p>
        </p:txBody>
      </p:sp>
      <p:sp>
        <p:nvSpPr>
          <p:cNvPr id="20" name="TextBox 20"/>
          <p:cNvSpPr txBox="1"/>
          <p:nvPr/>
        </p:nvSpPr>
        <p:spPr>
          <a:xfrm>
            <a:off x="2167185" y="2517162"/>
            <a:ext cx="4520927" cy="306162"/>
          </a:xfrm>
          <a:prstGeom prst="rect">
            <a:avLst/>
          </a:prstGeom>
        </p:spPr>
        <p:txBody>
          <a:bodyPr lIns="0" tIns="0" rIns="0" bIns="0" rtlCol="0" anchor="t">
            <a:spAutoFit/>
          </a:bodyPr>
          <a:lstStyle/>
          <a:p>
            <a:pPr algn="l">
              <a:lnSpc>
                <a:spcPts val="2452"/>
              </a:lnSpc>
            </a:pPr>
            <a:r>
              <a:rPr lang="en-US" sz="1752" spc="-14">
                <a:solidFill>
                  <a:srgbClr val="000000"/>
                </a:solidFill>
                <a:latin typeface="Montserrat"/>
                <a:ea typeface="Montserrat"/>
                <a:cs typeface="Montserrat"/>
                <a:sym typeface="Montserrat"/>
              </a:rPr>
              <a:t>Install the first library you see appearing.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1801368" y="3701796"/>
            <a:ext cx="103632" cy="103632"/>
            <a:chOff x="0" y="0"/>
            <a:chExt cx="103632" cy="103632"/>
          </a:xfrm>
        </p:grpSpPr>
        <p:sp>
          <p:nvSpPr>
            <p:cNvPr id="10" name="Freeform 10"/>
            <p:cNvSpPr/>
            <p:nvPr/>
          </p:nvSpPr>
          <p:spPr>
            <a:xfrm>
              <a:off x="0" y="0"/>
              <a:ext cx="103632" cy="103632"/>
            </a:xfrm>
            <a:custGeom>
              <a:avLst/>
              <a:gdLst/>
              <a:ahLst/>
              <a:cxnLst/>
              <a:rect l="l" t="t" r="r" b="b"/>
              <a:pathLst>
                <a:path w="103632" h="103632">
                  <a:moveTo>
                    <a:pt x="27432" y="7620"/>
                  </a:moveTo>
                  <a:cubicBezTo>
                    <a:pt x="18288" y="12192"/>
                    <a:pt x="12192" y="18288"/>
                    <a:pt x="7620" y="25908"/>
                  </a:cubicBezTo>
                  <a:cubicBezTo>
                    <a:pt x="3048" y="35052"/>
                    <a:pt x="0" y="44196"/>
                    <a:pt x="0" y="51816"/>
                  </a:cubicBezTo>
                  <a:cubicBezTo>
                    <a:pt x="0" y="67056"/>
                    <a:pt x="6096" y="79248"/>
                    <a:pt x="15240" y="89916"/>
                  </a:cubicBezTo>
                  <a:cubicBezTo>
                    <a:pt x="25908" y="99060"/>
                    <a:pt x="38100" y="103632"/>
                    <a:pt x="51816" y="103632"/>
                  </a:cubicBezTo>
                  <a:cubicBezTo>
                    <a:pt x="67056" y="103632"/>
                    <a:pt x="79248" y="99060"/>
                    <a:pt x="88392" y="89916"/>
                  </a:cubicBezTo>
                  <a:cubicBezTo>
                    <a:pt x="99060" y="79248"/>
                    <a:pt x="103632" y="67056"/>
                    <a:pt x="103632" y="51816"/>
                  </a:cubicBezTo>
                  <a:cubicBezTo>
                    <a:pt x="103632" y="44196"/>
                    <a:pt x="102108" y="35052"/>
                    <a:pt x="97536" y="25908"/>
                  </a:cubicBezTo>
                  <a:cubicBezTo>
                    <a:pt x="92964" y="18288"/>
                    <a:pt x="86868" y="12192"/>
                    <a:pt x="77724" y="7620"/>
                  </a:cubicBezTo>
                  <a:cubicBezTo>
                    <a:pt x="70104" y="3048"/>
                    <a:pt x="60960" y="0"/>
                    <a:pt x="51816" y="0"/>
                  </a:cubicBezTo>
                  <a:cubicBezTo>
                    <a:pt x="44196" y="0"/>
                    <a:pt x="35052" y="3048"/>
                    <a:pt x="27432" y="7620"/>
                  </a:cubicBezTo>
                  <a:close/>
                </a:path>
              </a:pathLst>
            </a:custGeom>
            <a:solidFill>
              <a:srgbClr val="000000"/>
            </a:solidFill>
          </p:spPr>
          <p:txBody>
            <a:bodyPr/>
            <a:lstStyle/>
            <a:p>
              <a:endParaRPr lang="en-SG"/>
            </a:p>
          </p:txBody>
        </p:sp>
      </p:grpSp>
      <p:grpSp>
        <p:nvGrpSpPr>
          <p:cNvPr id="11" name="Group 11"/>
          <p:cNvGrpSpPr/>
          <p:nvPr/>
        </p:nvGrpSpPr>
        <p:grpSpPr>
          <a:xfrm>
            <a:off x="1801368" y="4439412"/>
            <a:ext cx="103632" cy="103632"/>
            <a:chOff x="0" y="0"/>
            <a:chExt cx="103632" cy="103632"/>
          </a:xfrm>
        </p:grpSpPr>
        <p:sp>
          <p:nvSpPr>
            <p:cNvPr id="12" name="Freeform 12"/>
            <p:cNvSpPr/>
            <p:nvPr/>
          </p:nvSpPr>
          <p:spPr>
            <a:xfrm>
              <a:off x="0" y="0"/>
              <a:ext cx="103632" cy="103632"/>
            </a:xfrm>
            <a:custGeom>
              <a:avLst/>
              <a:gdLst/>
              <a:ahLst/>
              <a:cxnLst/>
              <a:rect l="l" t="t" r="r" b="b"/>
              <a:pathLst>
                <a:path w="103632" h="103632">
                  <a:moveTo>
                    <a:pt x="27432" y="6096"/>
                  </a:moveTo>
                  <a:cubicBezTo>
                    <a:pt x="18288" y="10668"/>
                    <a:pt x="12192" y="16764"/>
                    <a:pt x="7620" y="25908"/>
                  </a:cubicBezTo>
                  <a:cubicBezTo>
                    <a:pt x="3048" y="33528"/>
                    <a:pt x="0" y="42672"/>
                    <a:pt x="0" y="51816"/>
                  </a:cubicBezTo>
                  <a:cubicBezTo>
                    <a:pt x="0" y="65532"/>
                    <a:pt x="6096" y="77724"/>
                    <a:pt x="15240" y="88392"/>
                  </a:cubicBezTo>
                  <a:cubicBezTo>
                    <a:pt x="25908" y="97536"/>
                    <a:pt x="38100" y="103632"/>
                    <a:pt x="51816" y="103632"/>
                  </a:cubicBezTo>
                  <a:cubicBezTo>
                    <a:pt x="67056" y="103632"/>
                    <a:pt x="79248" y="97536"/>
                    <a:pt x="88392" y="88392"/>
                  </a:cubicBezTo>
                  <a:cubicBezTo>
                    <a:pt x="99060" y="77724"/>
                    <a:pt x="103632" y="65532"/>
                    <a:pt x="103632" y="51816"/>
                  </a:cubicBezTo>
                  <a:cubicBezTo>
                    <a:pt x="103632" y="42672"/>
                    <a:pt x="102108" y="33528"/>
                    <a:pt x="97536" y="25908"/>
                  </a:cubicBezTo>
                  <a:cubicBezTo>
                    <a:pt x="92964" y="16764"/>
                    <a:pt x="86868" y="10668"/>
                    <a:pt x="77724" y="6096"/>
                  </a:cubicBezTo>
                  <a:cubicBezTo>
                    <a:pt x="70104" y="1524"/>
                    <a:pt x="60960" y="0"/>
                    <a:pt x="51816" y="0"/>
                  </a:cubicBezTo>
                  <a:cubicBezTo>
                    <a:pt x="44196" y="0"/>
                    <a:pt x="35052" y="1524"/>
                    <a:pt x="27432" y="6096"/>
                  </a:cubicBezTo>
                  <a:close/>
                </a:path>
              </a:pathLst>
            </a:custGeom>
            <a:solidFill>
              <a:srgbClr val="000000"/>
            </a:solidFill>
          </p:spPr>
          <p:txBody>
            <a:bodyPr/>
            <a:lstStyle/>
            <a:p>
              <a:endParaRPr lang="en-SG"/>
            </a:p>
          </p:txBody>
        </p:sp>
      </p:grpSp>
      <p:grpSp>
        <p:nvGrpSpPr>
          <p:cNvPr id="13" name="Group 13"/>
          <p:cNvGrpSpPr/>
          <p:nvPr/>
        </p:nvGrpSpPr>
        <p:grpSpPr>
          <a:xfrm>
            <a:off x="1808988" y="2311908"/>
            <a:ext cx="97536" cy="97536"/>
            <a:chOff x="0" y="0"/>
            <a:chExt cx="97536" cy="97536"/>
          </a:xfrm>
        </p:grpSpPr>
        <p:sp>
          <p:nvSpPr>
            <p:cNvPr id="14" name="Freeform 14"/>
            <p:cNvSpPr/>
            <p:nvPr/>
          </p:nvSpPr>
          <p:spPr>
            <a:xfrm>
              <a:off x="0" y="0"/>
              <a:ext cx="97536" cy="97536"/>
            </a:xfrm>
            <a:custGeom>
              <a:avLst/>
              <a:gdLst/>
              <a:ahLst/>
              <a:cxnLst/>
              <a:rect l="l" t="t" r="r" b="b"/>
              <a:pathLst>
                <a:path w="97536" h="97536">
                  <a:moveTo>
                    <a:pt x="24384" y="6096"/>
                  </a:moveTo>
                  <a:cubicBezTo>
                    <a:pt x="16764" y="9144"/>
                    <a:pt x="10668" y="15240"/>
                    <a:pt x="6096" y="22860"/>
                  </a:cubicBezTo>
                  <a:cubicBezTo>
                    <a:pt x="3048" y="32004"/>
                    <a:pt x="0" y="39624"/>
                    <a:pt x="0" y="48768"/>
                  </a:cubicBezTo>
                  <a:cubicBezTo>
                    <a:pt x="0" y="60960"/>
                    <a:pt x="4572" y="73152"/>
                    <a:pt x="15240" y="82296"/>
                  </a:cubicBezTo>
                  <a:cubicBezTo>
                    <a:pt x="24384" y="91440"/>
                    <a:pt x="35052" y="97536"/>
                    <a:pt x="48768" y="97536"/>
                  </a:cubicBezTo>
                  <a:cubicBezTo>
                    <a:pt x="62484" y="97536"/>
                    <a:pt x="74676" y="91440"/>
                    <a:pt x="83820" y="82296"/>
                  </a:cubicBezTo>
                  <a:cubicBezTo>
                    <a:pt x="92964" y="73152"/>
                    <a:pt x="97536" y="60960"/>
                    <a:pt x="97536" y="48768"/>
                  </a:cubicBezTo>
                  <a:cubicBezTo>
                    <a:pt x="97536" y="39624"/>
                    <a:pt x="96012" y="32004"/>
                    <a:pt x="91440" y="24384"/>
                  </a:cubicBezTo>
                  <a:cubicBezTo>
                    <a:pt x="86868" y="15240"/>
                    <a:pt x="80772" y="9144"/>
                    <a:pt x="73152" y="6096"/>
                  </a:cubicBezTo>
                  <a:cubicBezTo>
                    <a:pt x="65532" y="1524"/>
                    <a:pt x="57912" y="0"/>
                    <a:pt x="48768" y="0"/>
                  </a:cubicBezTo>
                  <a:cubicBezTo>
                    <a:pt x="41148" y="0"/>
                    <a:pt x="33528" y="1524"/>
                    <a:pt x="24384" y="6096"/>
                  </a:cubicBezTo>
                  <a:close/>
                </a:path>
              </a:pathLst>
            </a:custGeom>
            <a:solidFill>
              <a:srgbClr val="000000"/>
            </a:solidFill>
          </p:spPr>
          <p:txBody>
            <a:bodyPr/>
            <a:lstStyle/>
            <a:p>
              <a:endParaRPr lang="en-SG"/>
            </a:p>
          </p:txBody>
        </p:sp>
      </p:grpSp>
      <p:grpSp>
        <p:nvGrpSpPr>
          <p:cNvPr id="15" name="Group 15"/>
          <p:cNvGrpSpPr/>
          <p:nvPr/>
        </p:nvGrpSpPr>
        <p:grpSpPr>
          <a:xfrm>
            <a:off x="1808988" y="3000756"/>
            <a:ext cx="97536" cy="97536"/>
            <a:chOff x="0" y="0"/>
            <a:chExt cx="97536" cy="97536"/>
          </a:xfrm>
        </p:grpSpPr>
        <p:sp>
          <p:nvSpPr>
            <p:cNvPr id="16" name="Freeform 16"/>
            <p:cNvSpPr/>
            <p:nvPr/>
          </p:nvSpPr>
          <p:spPr>
            <a:xfrm>
              <a:off x="0" y="0"/>
              <a:ext cx="97536" cy="97536"/>
            </a:xfrm>
            <a:custGeom>
              <a:avLst/>
              <a:gdLst/>
              <a:ahLst/>
              <a:cxnLst/>
              <a:rect l="l" t="t" r="r" b="b"/>
              <a:pathLst>
                <a:path w="97536" h="97536">
                  <a:moveTo>
                    <a:pt x="24384" y="6096"/>
                  </a:moveTo>
                  <a:cubicBezTo>
                    <a:pt x="16764" y="10668"/>
                    <a:pt x="10668" y="16764"/>
                    <a:pt x="6096" y="24384"/>
                  </a:cubicBezTo>
                  <a:cubicBezTo>
                    <a:pt x="3048" y="32004"/>
                    <a:pt x="0" y="41148"/>
                    <a:pt x="0" y="48768"/>
                  </a:cubicBezTo>
                  <a:cubicBezTo>
                    <a:pt x="0" y="62484"/>
                    <a:pt x="4572" y="74676"/>
                    <a:pt x="15240" y="83820"/>
                  </a:cubicBezTo>
                  <a:cubicBezTo>
                    <a:pt x="24384" y="92964"/>
                    <a:pt x="35052" y="97536"/>
                    <a:pt x="48768" y="97536"/>
                  </a:cubicBezTo>
                  <a:cubicBezTo>
                    <a:pt x="62484" y="97536"/>
                    <a:pt x="74676" y="92964"/>
                    <a:pt x="83820" y="83820"/>
                  </a:cubicBezTo>
                  <a:cubicBezTo>
                    <a:pt x="92964" y="74676"/>
                    <a:pt x="97536" y="62484"/>
                    <a:pt x="97536" y="48768"/>
                  </a:cubicBezTo>
                  <a:cubicBezTo>
                    <a:pt x="97536" y="41148"/>
                    <a:pt x="96012" y="32004"/>
                    <a:pt x="91440" y="24384"/>
                  </a:cubicBezTo>
                  <a:cubicBezTo>
                    <a:pt x="86868" y="16764"/>
                    <a:pt x="80772" y="10668"/>
                    <a:pt x="73152" y="6096"/>
                  </a:cubicBezTo>
                  <a:cubicBezTo>
                    <a:pt x="65532" y="3048"/>
                    <a:pt x="57912" y="0"/>
                    <a:pt x="48768" y="0"/>
                  </a:cubicBezTo>
                  <a:cubicBezTo>
                    <a:pt x="41148" y="0"/>
                    <a:pt x="33528" y="3048"/>
                    <a:pt x="24384" y="6096"/>
                  </a:cubicBezTo>
                  <a:close/>
                </a:path>
              </a:pathLst>
            </a:custGeom>
            <a:solidFill>
              <a:srgbClr val="000000"/>
            </a:solidFill>
          </p:spPr>
          <p:txBody>
            <a:bodyPr/>
            <a:lstStyle/>
            <a:p>
              <a:endParaRPr lang="en-SG"/>
            </a:p>
          </p:txBody>
        </p:sp>
      </p:grpSp>
      <p:sp>
        <p:nvSpPr>
          <p:cNvPr id="17" name="Freeform 17"/>
          <p:cNvSpPr/>
          <p:nvPr/>
        </p:nvSpPr>
        <p:spPr>
          <a:xfrm>
            <a:off x="2115817" y="4317997"/>
            <a:ext cx="5660641" cy="349501"/>
          </a:xfrm>
          <a:custGeom>
            <a:avLst/>
            <a:gdLst/>
            <a:ahLst/>
            <a:cxnLst/>
            <a:rect l="l" t="t" r="r" b="b"/>
            <a:pathLst>
              <a:path w="5660641" h="349501">
                <a:moveTo>
                  <a:pt x="0" y="0"/>
                </a:moveTo>
                <a:lnTo>
                  <a:pt x="5660641" y="0"/>
                </a:lnTo>
                <a:lnTo>
                  <a:pt x="5660641" y="349501"/>
                </a:lnTo>
                <a:lnTo>
                  <a:pt x="0" y="34950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SG"/>
          </a:p>
        </p:txBody>
      </p:sp>
      <p:sp>
        <p:nvSpPr>
          <p:cNvPr id="18" name="Freeform 18"/>
          <p:cNvSpPr/>
          <p:nvPr/>
        </p:nvSpPr>
        <p:spPr>
          <a:xfrm>
            <a:off x="2131057" y="2193541"/>
            <a:ext cx="6844789" cy="337309"/>
          </a:xfrm>
          <a:custGeom>
            <a:avLst/>
            <a:gdLst/>
            <a:ahLst/>
            <a:cxnLst/>
            <a:rect l="l" t="t" r="r" b="b"/>
            <a:pathLst>
              <a:path w="6844789" h="337309">
                <a:moveTo>
                  <a:pt x="0" y="0"/>
                </a:moveTo>
                <a:lnTo>
                  <a:pt x="6844789" y="0"/>
                </a:lnTo>
                <a:lnTo>
                  <a:pt x="6844789" y="337309"/>
                </a:lnTo>
                <a:lnTo>
                  <a:pt x="0" y="33730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SG"/>
          </a:p>
        </p:txBody>
      </p:sp>
      <p:sp>
        <p:nvSpPr>
          <p:cNvPr id="19" name="Freeform 19"/>
          <p:cNvSpPr/>
          <p:nvPr/>
        </p:nvSpPr>
        <p:spPr>
          <a:xfrm>
            <a:off x="2132581" y="3580381"/>
            <a:ext cx="6942325" cy="337309"/>
          </a:xfrm>
          <a:custGeom>
            <a:avLst/>
            <a:gdLst/>
            <a:ahLst/>
            <a:cxnLst/>
            <a:rect l="l" t="t" r="r" b="b"/>
            <a:pathLst>
              <a:path w="6942325" h="337309">
                <a:moveTo>
                  <a:pt x="0" y="0"/>
                </a:moveTo>
                <a:lnTo>
                  <a:pt x="6942325" y="0"/>
                </a:lnTo>
                <a:lnTo>
                  <a:pt x="6942325" y="337309"/>
                </a:lnTo>
                <a:lnTo>
                  <a:pt x="0" y="33730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SG"/>
          </a:p>
        </p:txBody>
      </p:sp>
      <p:grpSp>
        <p:nvGrpSpPr>
          <p:cNvPr id="20" name="Group 20"/>
          <p:cNvGrpSpPr/>
          <p:nvPr/>
        </p:nvGrpSpPr>
        <p:grpSpPr>
          <a:xfrm>
            <a:off x="1743456" y="4690872"/>
            <a:ext cx="7962900" cy="530352"/>
            <a:chOff x="0" y="0"/>
            <a:chExt cx="10617200" cy="707136"/>
          </a:xfrm>
        </p:grpSpPr>
        <p:sp>
          <p:nvSpPr>
            <p:cNvPr id="21" name="Freeform 21"/>
            <p:cNvSpPr/>
            <p:nvPr/>
          </p:nvSpPr>
          <p:spPr>
            <a:xfrm>
              <a:off x="0" y="0"/>
              <a:ext cx="10617200" cy="707136"/>
            </a:xfrm>
            <a:custGeom>
              <a:avLst/>
              <a:gdLst/>
              <a:ahLst/>
              <a:cxnLst/>
              <a:rect l="l" t="t" r="r" b="b"/>
              <a:pathLst>
                <a:path w="10617200" h="707136">
                  <a:moveTo>
                    <a:pt x="0" y="0"/>
                  </a:moveTo>
                  <a:lnTo>
                    <a:pt x="10617200" y="0"/>
                  </a:lnTo>
                  <a:lnTo>
                    <a:pt x="10617200" y="707136"/>
                  </a:lnTo>
                  <a:lnTo>
                    <a:pt x="0" y="707136"/>
                  </a:lnTo>
                  <a:lnTo>
                    <a:pt x="0" y="0"/>
                  </a:lnTo>
                  <a:close/>
                </a:path>
              </a:pathLst>
            </a:custGeom>
            <a:blipFill>
              <a:blip r:embed="rId7"/>
              <a:stretch>
                <a:fillRect l="-19" t="-287" b="-574"/>
              </a:stretch>
            </a:blipFill>
          </p:spPr>
          <p:txBody>
            <a:bodyPr/>
            <a:lstStyle/>
            <a:p>
              <a:endParaRPr lang="en-SG"/>
            </a:p>
          </p:txBody>
        </p:sp>
      </p:grpSp>
      <p:grpSp>
        <p:nvGrpSpPr>
          <p:cNvPr id="22" name="Group 22"/>
          <p:cNvGrpSpPr/>
          <p:nvPr/>
        </p:nvGrpSpPr>
        <p:grpSpPr>
          <a:xfrm>
            <a:off x="1743456" y="5353812"/>
            <a:ext cx="5847588" cy="1152144"/>
            <a:chOff x="0" y="0"/>
            <a:chExt cx="7796784" cy="1536192"/>
          </a:xfrm>
        </p:grpSpPr>
        <p:sp>
          <p:nvSpPr>
            <p:cNvPr id="23" name="Freeform 23"/>
            <p:cNvSpPr/>
            <p:nvPr/>
          </p:nvSpPr>
          <p:spPr>
            <a:xfrm>
              <a:off x="0" y="0"/>
              <a:ext cx="7796784" cy="1536192"/>
            </a:xfrm>
            <a:custGeom>
              <a:avLst/>
              <a:gdLst/>
              <a:ahLst/>
              <a:cxnLst/>
              <a:rect l="l" t="t" r="r" b="b"/>
              <a:pathLst>
                <a:path w="7796784" h="1536192">
                  <a:moveTo>
                    <a:pt x="0" y="0"/>
                  </a:moveTo>
                  <a:lnTo>
                    <a:pt x="7796784" y="0"/>
                  </a:lnTo>
                  <a:lnTo>
                    <a:pt x="7796784" y="1536192"/>
                  </a:lnTo>
                  <a:lnTo>
                    <a:pt x="0" y="1536192"/>
                  </a:lnTo>
                  <a:lnTo>
                    <a:pt x="0" y="0"/>
                  </a:lnTo>
                  <a:close/>
                </a:path>
              </a:pathLst>
            </a:custGeom>
            <a:blipFill>
              <a:blip r:embed="rId8"/>
              <a:stretch>
                <a:fillRect l="-26" t="-396"/>
              </a:stretch>
            </a:blipFill>
          </p:spPr>
          <p:txBody>
            <a:bodyPr/>
            <a:lstStyle/>
            <a:p>
              <a:endParaRPr lang="en-SG"/>
            </a:p>
          </p:txBody>
        </p:sp>
      </p:grpSp>
      <p:sp>
        <p:nvSpPr>
          <p:cNvPr id="24" name="TextBox 24"/>
          <p:cNvSpPr txBox="1"/>
          <p:nvPr/>
        </p:nvSpPr>
        <p:spPr>
          <a:xfrm>
            <a:off x="1632385" y="1334119"/>
            <a:ext cx="5941524" cy="523504"/>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Arduino Programming Set Up</a:t>
            </a:r>
          </a:p>
        </p:txBody>
      </p:sp>
      <p:sp>
        <p:nvSpPr>
          <p:cNvPr id="25" name="TextBox 25"/>
          <p:cNvSpPr txBox="1"/>
          <p:nvPr/>
        </p:nvSpPr>
        <p:spPr>
          <a:xfrm>
            <a:off x="2167185" y="2488587"/>
            <a:ext cx="7032622" cy="1025166"/>
          </a:xfrm>
          <a:prstGeom prst="rect">
            <a:avLst/>
          </a:prstGeom>
        </p:spPr>
        <p:txBody>
          <a:bodyPr lIns="0" tIns="0" rIns="0" bIns="0" rtlCol="0" anchor="t">
            <a:spAutoFit/>
          </a:bodyPr>
          <a:lstStyle/>
          <a:p>
            <a:pPr algn="l">
              <a:lnSpc>
                <a:spcPts val="2720"/>
              </a:lnSpc>
            </a:pPr>
            <a:r>
              <a:rPr lang="en-US" sz="1752" spc="-12">
                <a:solidFill>
                  <a:srgbClr val="000000"/>
                </a:solidFill>
                <a:latin typeface="Montserrat"/>
                <a:ea typeface="Montserrat"/>
                <a:cs typeface="Montserrat"/>
                <a:sym typeface="Montserrat"/>
              </a:rPr>
              <a:t>that got installed with the IDE.</a:t>
            </a:r>
          </a:p>
          <a:p>
            <a:pPr algn="l">
              <a:lnSpc>
                <a:spcPts val="2720"/>
              </a:lnSpc>
            </a:pPr>
            <a:r>
              <a:rPr lang="en-US" sz="1752" spc="-12">
                <a:solidFill>
                  <a:srgbClr val="000000"/>
                </a:solidFill>
                <a:latin typeface="Montserrat"/>
                <a:ea typeface="Montserrat"/>
                <a:cs typeface="Montserrat"/>
                <a:sym typeface="Montserrat"/>
              </a:rPr>
              <a:t>Copy and paste there the library folders we are going to use in programming the satellite.</a:t>
            </a:r>
          </a:p>
        </p:txBody>
      </p:sp>
      <p:sp>
        <p:nvSpPr>
          <p:cNvPr id="26" name="TextBox 26"/>
          <p:cNvSpPr txBox="1"/>
          <p:nvPr/>
        </p:nvSpPr>
        <p:spPr>
          <a:xfrm>
            <a:off x="2167033" y="3921319"/>
            <a:ext cx="2965761" cy="324526"/>
          </a:xfrm>
          <a:prstGeom prst="rect">
            <a:avLst/>
          </a:prstGeom>
        </p:spPr>
        <p:txBody>
          <a:bodyPr lIns="0" tIns="0" rIns="0" bIns="0" rtlCol="0" anchor="t">
            <a:spAutoFit/>
          </a:bodyPr>
          <a:lstStyle/>
          <a:p>
            <a:pPr algn="l">
              <a:lnSpc>
                <a:spcPts val="2620"/>
              </a:lnSpc>
            </a:pPr>
            <a:r>
              <a:rPr lang="en-US" sz="1872" spc="-14">
                <a:solidFill>
                  <a:srgbClr val="000000"/>
                </a:solidFill>
                <a:latin typeface="Montserrat"/>
                <a:ea typeface="Montserrat"/>
                <a:cs typeface="Montserrat"/>
                <a:sym typeface="Montserrat"/>
              </a:rPr>
              <a:t>recognize Arduino Nano.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2223516" y="2057400"/>
            <a:ext cx="6719316" cy="118872"/>
            <a:chOff x="0" y="0"/>
            <a:chExt cx="8959088" cy="158496"/>
          </a:xfrm>
        </p:grpSpPr>
        <p:sp>
          <p:nvSpPr>
            <p:cNvPr id="10" name="Freeform 10"/>
            <p:cNvSpPr/>
            <p:nvPr/>
          </p:nvSpPr>
          <p:spPr>
            <a:xfrm>
              <a:off x="0" y="0"/>
              <a:ext cx="8959088" cy="158496"/>
            </a:xfrm>
            <a:custGeom>
              <a:avLst/>
              <a:gdLst/>
              <a:ahLst/>
              <a:cxnLst/>
              <a:rect l="l" t="t" r="r" b="b"/>
              <a:pathLst>
                <a:path w="8959088" h="158496">
                  <a:moveTo>
                    <a:pt x="0" y="0"/>
                  </a:moveTo>
                  <a:lnTo>
                    <a:pt x="8959088" y="0"/>
                  </a:lnTo>
                  <a:lnTo>
                    <a:pt x="8959088" y="158496"/>
                  </a:lnTo>
                  <a:lnTo>
                    <a:pt x="0" y="158496"/>
                  </a:lnTo>
                  <a:lnTo>
                    <a:pt x="0" y="0"/>
                  </a:lnTo>
                  <a:close/>
                </a:path>
              </a:pathLst>
            </a:custGeom>
            <a:blipFill>
              <a:blip r:embed="rId4"/>
              <a:stretch>
                <a:fillRect l="-22"/>
              </a:stretch>
            </a:blipFill>
          </p:spPr>
          <p:txBody>
            <a:bodyPr/>
            <a:lstStyle/>
            <a:p>
              <a:endParaRPr lang="en-SG"/>
            </a:p>
          </p:txBody>
        </p:sp>
      </p:grpSp>
      <p:grpSp>
        <p:nvGrpSpPr>
          <p:cNvPr id="11" name="Group 11"/>
          <p:cNvGrpSpPr/>
          <p:nvPr/>
        </p:nvGrpSpPr>
        <p:grpSpPr>
          <a:xfrm>
            <a:off x="2223516" y="2173224"/>
            <a:ext cx="6719316" cy="4395216"/>
            <a:chOff x="0" y="0"/>
            <a:chExt cx="8959088" cy="5860288"/>
          </a:xfrm>
        </p:grpSpPr>
        <p:sp>
          <p:nvSpPr>
            <p:cNvPr id="12" name="Freeform 12"/>
            <p:cNvSpPr/>
            <p:nvPr/>
          </p:nvSpPr>
          <p:spPr>
            <a:xfrm>
              <a:off x="0" y="0"/>
              <a:ext cx="8959088" cy="5860288"/>
            </a:xfrm>
            <a:custGeom>
              <a:avLst/>
              <a:gdLst/>
              <a:ahLst/>
              <a:cxnLst/>
              <a:rect l="l" t="t" r="r" b="b"/>
              <a:pathLst>
                <a:path w="8959088" h="5860288">
                  <a:moveTo>
                    <a:pt x="0" y="0"/>
                  </a:moveTo>
                  <a:lnTo>
                    <a:pt x="8959088" y="0"/>
                  </a:lnTo>
                  <a:lnTo>
                    <a:pt x="8959088" y="5860288"/>
                  </a:lnTo>
                  <a:lnTo>
                    <a:pt x="0" y="5860288"/>
                  </a:lnTo>
                  <a:lnTo>
                    <a:pt x="0" y="0"/>
                  </a:lnTo>
                  <a:close/>
                </a:path>
              </a:pathLst>
            </a:custGeom>
            <a:blipFill>
              <a:blip r:embed="rId5"/>
              <a:stretch>
                <a:fillRect/>
              </a:stretch>
            </a:blipFill>
          </p:spPr>
          <p:txBody>
            <a:bodyPr/>
            <a:lstStyle/>
            <a:p>
              <a:endParaRPr lang="en-SG"/>
            </a:p>
          </p:txBody>
        </p:sp>
      </p:grpSp>
      <p:sp>
        <p:nvSpPr>
          <p:cNvPr id="13" name="TextBox 13"/>
          <p:cNvSpPr txBox="1"/>
          <p:nvPr/>
        </p:nvSpPr>
        <p:spPr>
          <a:xfrm>
            <a:off x="1632385" y="1334119"/>
            <a:ext cx="7321086" cy="523504"/>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Arduino Nano vs Arduino Nano Every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sp>
        <p:nvSpPr>
          <p:cNvPr id="9" name="Freeform 9"/>
          <p:cNvSpPr/>
          <p:nvPr/>
        </p:nvSpPr>
        <p:spPr>
          <a:xfrm>
            <a:off x="2131057" y="5643877"/>
            <a:ext cx="6314437" cy="335785"/>
          </a:xfrm>
          <a:custGeom>
            <a:avLst/>
            <a:gdLst/>
            <a:ahLst/>
            <a:cxnLst/>
            <a:rect l="l" t="t" r="r" b="b"/>
            <a:pathLst>
              <a:path w="6314437" h="335785">
                <a:moveTo>
                  <a:pt x="0" y="0"/>
                </a:moveTo>
                <a:lnTo>
                  <a:pt x="6314437" y="0"/>
                </a:lnTo>
                <a:lnTo>
                  <a:pt x="6314437" y="335785"/>
                </a:lnTo>
                <a:lnTo>
                  <a:pt x="0" y="33578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SG"/>
          </a:p>
        </p:txBody>
      </p:sp>
      <p:sp>
        <p:nvSpPr>
          <p:cNvPr id="10" name="Freeform 10"/>
          <p:cNvSpPr/>
          <p:nvPr/>
        </p:nvSpPr>
        <p:spPr>
          <a:xfrm>
            <a:off x="2117341" y="3572761"/>
            <a:ext cx="7236457" cy="337309"/>
          </a:xfrm>
          <a:custGeom>
            <a:avLst/>
            <a:gdLst/>
            <a:ahLst/>
            <a:cxnLst/>
            <a:rect l="l" t="t" r="r" b="b"/>
            <a:pathLst>
              <a:path w="7236457" h="337309">
                <a:moveTo>
                  <a:pt x="0" y="0"/>
                </a:moveTo>
                <a:lnTo>
                  <a:pt x="7236457" y="0"/>
                </a:lnTo>
                <a:lnTo>
                  <a:pt x="7236457" y="337309"/>
                </a:lnTo>
                <a:lnTo>
                  <a:pt x="0" y="33730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SG"/>
          </a:p>
        </p:txBody>
      </p:sp>
      <p:sp>
        <p:nvSpPr>
          <p:cNvPr id="11" name="TextBox 11"/>
          <p:cNvSpPr txBox="1"/>
          <p:nvPr/>
        </p:nvSpPr>
        <p:spPr>
          <a:xfrm>
            <a:off x="1632290" y="1334119"/>
            <a:ext cx="5491896" cy="1143591"/>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Introduction to Arduino IDE</a:t>
            </a:r>
          </a:p>
          <a:p>
            <a:pPr algn="l">
              <a:lnSpc>
                <a:spcPts val="2452"/>
              </a:lnSpc>
            </a:pPr>
            <a:r>
              <a:rPr lang="en-US" sz="1752" spc="-14">
                <a:solidFill>
                  <a:srgbClr val="000000"/>
                </a:solidFill>
                <a:latin typeface="Montserrat"/>
                <a:ea typeface="Montserrat"/>
                <a:cs typeface="Montserrat"/>
                <a:sym typeface="Montserrat"/>
              </a:rPr>
              <a:t>Basic interface:</a:t>
            </a:r>
          </a:p>
        </p:txBody>
      </p:sp>
      <p:sp>
        <p:nvSpPr>
          <p:cNvPr id="12" name="TextBox 12"/>
          <p:cNvSpPr txBox="1"/>
          <p:nvPr/>
        </p:nvSpPr>
        <p:spPr>
          <a:xfrm>
            <a:off x="1789157" y="3552034"/>
            <a:ext cx="172488" cy="306162"/>
          </a:xfrm>
          <a:prstGeom prst="rect">
            <a:avLst/>
          </a:prstGeom>
        </p:spPr>
        <p:txBody>
          <a:bodyPr lIns="0" tIns="0" rIns="0" bIns="0" rtlCol="0" anchor="t">
            <a:spAutoFit/>
          </a:bodyPr>
          <a:lstStyle/>
          <a:p>
            <a:pPr algn="l">
              <a:lnSpc>
                <a:spcPts val="2452"/>
              </a:lnSpc>
            </a:pPr>
            <a:r>
              <a:rPr lang="en-US" sz="1752" spc="-10">
                <a:solidFill>
                  <a:srgbClr val="000000"/>
                </a:solidFill>
                <a:latin typeface="Montserrat"/>
                <a:ea typeface="Montserrat"/>
                <a:cs typeface="Montserrat"/>
                <a:sym typeface="Montserrat"/>
              </a:rPr>
              <a:t>3.</a:t>
            </a:r>
          </a:p>
        </p:txBody>
      </p:sp>
      <p:sp>
        <p:nvSpPr>
          <p:cNvPr id="13" name="TextBox 13"/>
          <p:cNvSpPr txBox="1"/>
          <p:nvPr/>
        </p:nvSpPr>
        <p:spPr>
          <a:xfrm>
            <a:off x="1789157" y="2517162"/>
            <a:ext cx="124825" cy="306162"/>
          </a:xfrm>
          <a:prstGeom prst="rect">
            <a:avLst/>
          </a:prstGeom>
        </p:spPr>
        <p:txBody>
          <a:bodyPr lIns="0" tIns="0" rIns="0" bIns="0" rtlCol="0" anchor="t">
            <a:spAutoFit/>
          </a:bodyPr>
          <a:lstStyle/>
          <a:p>
            <a:pPr algn="l">
              <a:lnSpc>
                <a:spcPts val="2452"/>
              </a:lnSpc>
            </a:pPr>
            <a:r>
              <a:rPr lang="en-US" sz="1752" spc="-14">
                <a:solidFill>
                  <a:srgbClr val="000000"/>
                </a:solidFill>
                <a:latin typeface="Montserrat"/>
                <a:ea typeface="Montserrat"/>
                <a:cs typeface="Montserrat"/>
                <a:sym typeface="Montserrat"/>
              </a:rPr>
              <a:t>1.</a:t>
            </a:r>
          </a:p>
        </p:txBody>
      </p:sp>
      <p:sp>
        <p:nvSpPr>
          <p:cNvPr id="14" name="TextBox 14"/>
          <p:cNvSpPr txBox="1"/>
          <p:nvPr/>
        </p:nvSpPr>
        <p:spPr>
          <a:xfrm>
            <a:off x="2167414" y="2517162"/>
            <a:ext cx="4766034" cy="306162"/>
          </a:xfrm>
          <a:prstGeom prst="rect">
            <a:avLst/>
          </a:prstGeom>
        </p:spPr>
        <p:txBody>
          <a:bodyPr lIns="0" tIns="0" rIns="0" bIns="0" rtlCol="0" anchor="t">
            <a:spAutoFit/>
          </a:bodyPr>
          <a:lstStyle/>
          <a:p>
            <a:pPr algn="l">
              <a:lnSpc>
                <a:spcPts val="2452"/>
              </a:lnSpc>
            </a:pPr>
            <a:r>
              <a:rPr lang="en-US" sz="1752" spc="-14">
                <a:solidFill>
                  <a:srgbClr val="000000"/>
                </a:solidFill>
                <a:latin typeface="Montserrat"/>
                <a:ea typeface="Montserrat"/>
                <a:cs typeface="Montserrat"/>
                <a:sym typeface="Montserrat"/>
              </a:rPr>
              <a:t>Create a new sketch, save, open examples.</a:t>
            </a:r>
          </a:p>
        </p:txBody>
      </p:sp>
      <p:sp>
        <p:nvSpPr>
          <p:cNvPr id="15" name="TextBox 15"/>
          <p:cNvSpPr txBox="1"/>
          <p:nvPr/>
        </p:nvSpPr>
        <p:spPr>
          <a:xfrm>
            <a:off x="1789157" y="2861596"/>
            <a:ext cx="7130215" cy="306162"/>
          </a:xfrm>
          <a:prstGeom prst="rect">
            <a:avLst/>
          </a:prstGeom>
        </p:spPr>
        <p:txBody>
          <a:bodyPr lIns="0" tIns="0" rIns="0" bIns="0" rtlCol="0" anchor="t">
            <a:spAutoFit/>
          </a:bodyPr>
          <a:lstStyle/>
          <a:p>
            <a:pPr algn="l">
              <a:lnSpc>
                <a:spcPts val="2452"/>
              </a:lnSpc>
            </a:pPr>
            <a:r>
              <a:rPr lang="en-US" sz="1752" spc="-14">
                <a:solidFill>
                  <a:srgbClr val="000000"/>
                </a:solidFill>
                <a:latin typeface="Montserrat"/>
                <a:ea typeface="Montserrat"/>
                <a:cs typeface="Montserrat"/>
                <a:sym typeface="Montserrat"/>
              </a:rPr>
              <a:t>2."Verify" checks the syntax and compiles the code to identify </a:t>
            </a:r>
          </a:p>
        </p:txBody>
      </p:sp>
      <p:sp>
        <p:nvSpPr>
          <p:cNvPr id="16" name="TextBox 16"/>
          <p:cNvSpPr txBox="1"/>
          <p:nvPr/>
        </p:nvSpPr>
        <p:spPr>
          <a:xfrm>
            <a:off x="2167185" y="3207591"/>
            <a:ext cx="4514117" cy="306162"/>
          </a:xfrm>
          <a:prstGeom prst="rect">
            <a:avLst/>
          </a:prstGeom>
        </p:spPr>
        <p:txBody>
          <a:bodyPr lIns="0" tIns="0" rIns="0" bIns="0" rtlCol="0" anchor="t">
            <a:spAutoFit/>
          </a:bodyPr>
          <a:lstStyle/>
          <a:p>
            <a:pPr algn="l">
              <a:lnSpc>
                <a:spcPts val="2452"/>
              </a:lnSpc>
            </a:pPr>
            <a:r>
              <a:rPr lang="en-US" sz="1752" spc="-14">
                <a:solidFill>
                  <a:srgbClr val="000000"/>
                </a:solidFill>
                <a:latin typeface="Montserrat"/>
                <a:ea typeface="Montserrat"/>
                <a:cs typeface="Montserrat"/>
                <a:sym typeface="Montserrat"/>
              </a:rPr>
              <a:t>errors without uploading it to the board.</a:t>
            </a:r>
          </a:p>
        </p:txBody>
      </p:sp>
      <p:sp>
        <p:nvSpPr>
          <p:cNvPr id="17" name="TextBox 17"/>
          <p:cNvSpPr txBox="1"/>
          <p:nvPr/>
        </p:nvSpPr>
        <p:spPr>
          <a:xfrm>
            <a:off x="2167185" y="3869446"/>
            <a:ext cx="7102983" cy="679171"/>
          </a:xfrm>
          <a:prstGeom prst="rect">
            <a:avLst/>
          </a:prstGeom>
        </p:spPr>
        <p:txBody>
          <a:bodyPr lIns="0" tIns="0" rIns="0" bIns="0" rtlCol="0" anchor="t">
            <a:spAutoFit/>
          </a:bodyPr>
          <a:lstStyle/>
          <a:p>
            <a:pPr algn="l">
              <a:lnSpc>
                <a:spcPts val="2712"/>
              </a:lnSpc>
            </a:pPr>
            <a:r>
              <a:rPr lang="en-US" sz="1752" spc="-12">
                <a:solidFill>
                  <a:srgbClr val="000000"/>
                </a:solidFill>
                <a:latin typeface="Montserrat"/>
                <a:ea typeface="Montserrat"/>
                <a:cs typeface="Montserrat"/>
                <a:sym typeface="Montserrat"/>
              </a:rPr>
              <a:t>Arduino board, making it ready to execute the program on the hardware.</a:t>
            </a:r>
          </a:p>
        </p:txBody>
      </p:sp>
      <p:sp>
        <p:nvSpPr>
          <p:cNvPr id="18" name="TextBox 18"/>
          <p:cNvSpPr txBox="1"/>
          <p:nvPr/>
        </p:nvSpPr>
        <p:spPr>
          <a:xfrm>
            <a:off x="1789157" y="4586897"/>
            <a:ext cx="3811238" cy="306162"/>
          </a:xfrm>
          <a:prstGeom prst="rect">
            <a:avLst/>
          </a:prstGeom>
        </p:spPr>
        <p:txBody>
          <a:bodyPr lIns="0" tIns="0" rIns="0" bIns="0" rtlCol="0" anchor="t">
            <a:spAutoFit/>
          </a:bodyPr>
          <a:lstStyle/>
          <a:p>
            <a:pPr algn="l">
              <a:lnSpc>
                <a:spcPts val="2452"/>
              </a:lnSpc>
            </a:pPr>
            <a:r>
              <a:rPr lang="en-US" sz="1752" spc="-12">
                <a:solidFill>
                  <a:srgbClr val="000000"/>
                </a:solidFill>
                <a:latin typeface="Montserrat"/>
                <a:ea typeface="Montserrat"/>
                <a:cs typeface="Montserrat"/>
                <a:sym typeface="Montserrat"/>
              </a:rPr>
              <a:t>4.Board and COM Port selection</a:t>
            </a:r>
          </a:p>
        </p:txBody>
      </p:sp>
      <p:sp>
        <p:nvSpPr>
          <p:cNvPr id="19" name="TextBox 19"/>
          <p:cNvSpPr txBox="1"/>
          <p:nvPr/>
        </p:nvSpPr>
        <p:spPr>
          <a:xfrm>
            <a:off x="1789157" y="4931331"/>
            <a:ext cx="172488" cy="306162"/>
          </a:xfrm>
          <a:prstGeom prst="rect">
            <a:avLst/>
          </a:prstGeom>
        </p:spPr>
        <p:txBody>
          <a:bodyPr lIns="0" tIns="0" rIns="0" bIns="0" rtlCol="0" anchor="t">
            <a:spAutoFit/>
          </a:bodyPr>
          <a:lstStyle/>
          <a:p>
            <a:pPr algn="l">
              <a:lnSpc>
                <a:spcPts val="2452"/>
              </a:lnSpc>
            </a:pPr>
            <a:r>
              <a:rPr lang="en-US" sz="1752" spc="-12">
                <a:solidFill>
                  <a:srgbClr val="000000"/>
                </a:solidFill>
                <a:latin typeface="Montserrat"/>
                <a:ea typeface="Montserrat"/>
                <a:cs typeface="Montserrat"/>
                <a:sym typeface="Montserrat"/>
              </a:rPr>
              <a:t>5.</a:t>
            </a:r>
          </a:p>
        </p:txBody>
      </p:sp>
      <p:sp>
        <p:nvSpPr>
          <p:cNvPr id="20" name="TextBox 20"/>
          <p:cNvSpPr txBox="1"/>
          <p:nvPr/>
        </p:nvSpPr>
        <p:spPr>
          <a:xfrm>
            <a:off x="2167414" y="4931331"/>
            <a:ext cx="5892184" cy="306162"/>
          </a:xfrm>
          <a:prstGeom prst="rect">
            <a:avLst/>
          </a:prstGeom>
        </p:spPr>
        <p:txBody>
          <a:bodyPr lIns="0" tIns="0" rIns="0" bIns="0" rtlCol="0" anchor="t">
            <a:spAutoFit/>
          </a:bodyPr>
          <a:lstStyle/>
          <a:p>
            <a:pPr algn="l">
              <a:lnSpc>
                <a:spcPts val="2452"/>
              </a:lnSpc>
            </a:pPr>
            <a:r>
              <a:rPr lang="en-US" sz="1752" spc="-12">
                <a:solidFill>
                  <a:srgbClr val="000000"/>
                </a:solidFill>
                <a:latin typeface="Montserrat"/>
                <a:ea typeface="Montserrat"/>
                <a:cs typeface="Montserrat"/>
                <a:sym typeface="Montserrat"/>
              </a:rPr>
              <a:t>Board selection (either Arduino Nano or Nano Every)</a:t>
            </a:r>
          </a:p>
        </p:txBody>
      </p:sp>
      <p:sp>
        <p:nvSpPr>
          <p:cNvPr id="21" name="TextBox 21"/>
          <p:cNvSpPr txBox="1"/>
          <p:nvPr/>
        </p:nvSpPr>
        <p:spPr>
          <a:xfrm>
            <a:off x="1789157" y="5248532"/>
            <a:ext cx="3321244" cy="1368047"/>
          </a:xfrm>
          <a:prstGeom prst="rect">
            <a:avLst/>
          </a:prstGeom>
        </p:spPr>
        <p:txBody>
          <a:bodyPr lIns="0" tIns="0" rIns="0" bIns="0" rtlCol="0" anchor="t">
            <a:spAutoFit/>
          </a:bodyPr>
          <a:lstStyle/>
          <a:p>
            <a:pPr algn="l">
              <a:lnSpc>
                <a:spcPts val="2708"/>
              </a:lnSpc>
            </a:pPr>
            <a:r>
              <a:rPr lang="en-US" sz="1752" spc="-14">
                <a:solidFill>
                  <a:srgbClr val="000000"/>
                </a:solidFill>
                <a:latin typeface="Montserrat"/>
                <a:ea typeface="Montserrat"/>
                <a:cs typeface="Montserrat"/>
                <a:sym typeface="Montserrat"/>
              </a:rPr>
              <a:t>6.COM Port selection</a:t>
            </a:r>
          </a:p>
          <a:p>
            <a:pPr algn="l">
              <a:lnSpc>
                <a:spcPts val="2708"/>
              </a:lnSpc>
            </a:pPr>
            <a:r>
              <a:rPr lang="en-US" sz="1752" spc="-14">
                <a:solidFill>
                  <a:srgbClr val="000000"/>
                </a:solidFill>
                <a:latin typeface="Montserrat"/>
                <a:ea typeface="Montserrat"/>
                <a:cs typeface="Montserrat"/>
                <a:sym typeface="Montserrat"/>
              </a:rPr>
              <a:t>7.</a:t>
            </a:r>
          </a:p>
          <a:p>
            <a:pPr algn="l">
              <a:lnSpc>
                <a:spcPts val="2708"/>
              </a:lnSpc>
            </a:pPr>
            <a:r>
              <a:rPr lang="en-US" sz="1752" spc="-14">
                <a:solidFill>
                  <a:srgbClr val="000000"/>
                </a:solidFill>
                <a:latin typeface="Montserrat"/>
                <a:ea typeface="Montserrat"/>
                <a:cs typeface="Montserrat"/>
                <a:sym typeface="Montserrat"/>
              </a:rPr>
              <a:t>8.Open/Close Serial Monitor 9.Clear Serial Monitor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2598420" y="812292"/>
            <a:ext cx="6379464" cy="301752"/>
            <a:chOff x="0" y="0"/>
            <a:chExt cx="8505952" cy="402336"/>
          </a:xfrm>
        </p:grpSpPr>
        <p:sp>
          <p:nvSpPr>
            <p:cNvPr id="10" name="Freeform 10"/>
            <p:cNvSpPr/>
            <p:nvPr/>
          </p:nvSpPr>
          <p:spPr>
            <a:xfrm>
              <a:off x="0" y="0"/>
              <a:ext cx="8505952" cy="402336"/>
            </a:xfrm>
            <a:custGeom>
              <a:avLst/>
              <a:gdLst/>
              <a:ahLst/>
              <a:cxnLst/>
              <a:rect l="l" t="t" r="r" b="b"/>
              <a:pathLst>
                <a:path w="8505952" h="402336">
                  <a:moveTo>
                    <a:pt x="0" y="0"/>
                  </a:moveTo>
                  <a:lnTo>
                    <a:pt x="8505952" y="0"/>
                  </a:lnTo>
                  <a:lnTo>
                    <a:pt x="8505952" y="402336"/>
                  </a:lnTo>
                  <a:lnTo>
                    <a:pt x="0" y="402336"/>
                  </a:lnTo>
                  <a:lnTo>
                    <a:pt x="0" y="0"/>
                  </a:lnTo>
                  <a:close/>
                </a:path>
              </a:pathLst>
            </a:custGeom>
            <a:blipFill>
              <a:blip r:embed="rId4"/>
              <a:stretch>
                <a:fillRect l="-47" t="-505"/>
              </a:stretch>
            </a:blipFill>
          </p:spPr>
          <p:txBody>
            <a:bodyPr/>
            <a:lstStyle/>
            <a:p>
              <a:endParaRPr lang="en-SG"/>
            </a:p>
          </p:txBody>
        </p:sp>
      </p:grpSp>
      <p:grpSp>
        <p:nvGrpSpPr>
          <p:cNvPr id="11" name="Group 11"/>
          <p:cNvGrpSpPr/>
          <p:nvPr/>
        </p:nvGrpSpPr>
        <p:grpSpPr>
          <a:xfrm>
            <a:off x="2598420" y="1107948"/>
            <a:ext cx="6379464" cy="5641848"/>
            <a:chOff x="0" y="0"/>
            <a:chExt cx="8505952" cy="7522464"/>
          </a:xfrm>
        </p:grpSpPr>
        <p:sp>
          <p:nvSpPr>
            <p:cNvPr id="12" name="Freeform 12"/>
            <p:cNvSpPr/>
            <p:nvPr/>
          </p:nvSpPr>
          <p:spPr>
            <a:xfrm>
              <a:off x="0" y="0"/>
              <a:ext cx="8505952" cy="7522464"/>
            </a:xfrm>
            <a:custGeom>
              <a:avLst/>
              <a:gdLst/>
              <a:ahLst/>
              <a:cxnLst/>
              <a:rect l="l" t="t" r="r" b="b"/>
              <a:pathLst>
                <a:path w="8505952" h="7522464">
                  <a:moveTo>
                    <a:pt x="0" y="0"/>
                  </a:moveTo>
                  <a:lnTo>
                    <a:pt x="8505952" y="0"/>
                  </a:lnTo>
                  <a:lnTo>
                    <a:pt x="8505952" y="7522464"/>
                  </a:lnTo>
                  <a:lnTo>
                    <a:pt x="0" y="7522464"/>
                  </a:lnTo>
                  <a:lnTo>
                    <a:pt x="0" y="0"/>
                  </a:lnTo>
                  <a:close/>
                </a:path>
              </a:pathLst>
            </a:custGeom>
            <a:blipFill>
              <a:blip r:embed="rId5"/>
              <a:stretch>
                <a:fillRect/>
              </a:stretch>
            </a:blipFill>
          </p:spPr>
          <p:txBody>
            <a:bodyPr/>
            <a:lstStyle/>
            <a:p>
              <a:endParaRPr lang="en-SG"/>
            </a:p>
          </p:txBody>
        </p:sp>
      </p:grpSp>
      <p:sp>
        <p:nvSpPr>
          <p:cNvPr id="13" name="Freeform 13"/>
          <p:cNvSpPr/>
          <p:nvPr/>
        </p:nvSpPr>
        <p:spPr>
          <a:xfrm>
            <a:off x="2425189" y="805177"/>
            <a:ext cx="1622041" cy="357121"/>
          </a:xfrm>
          <a:custGeom>
            <a:avLst/>
            <a:gdLst/>
            <a:ahLst/>
            <a:cxnLst/>
            <a:rect l="l" t="t" r="r" b="b"/>
            <a:pathLst>
              <a:path w="1622041" h="357121">
                <a:moveTo>
                  <a:pt x="0" y="0"/>
                </a:moveTo>
                <a:lnTo>
                  <a:pt x="1622041" y="0"/>
                </a:lnTo>
                <a:lnTo>
                  <a:pt x="1622041" y="357121"/>
                </a:lnTo>
                <a:lnTo>
                  <a:pt x="0" y="35712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SG"/>
          </a:p>
        </p:txBody>
      </p:sp>
      <p:sp>
        <p:nvSpPr>
          <p:cNvPr id="14" name="Freeform 14"/>
          <p:cNvSpPr/>
          <p:nvPr/>
        </p:nvSpPr>
        <p:spPr>
          <a:xfrm>
            <a:off x="1615945" y="1454401"/>
            <a:ext cx="3985765" cy="3193285"/>
          </a:xfrm>
          <a:custGeom>
            <a:avLst/>
            <a:gdLst/>
            <a:ahLst/>
            <a:cxnLst/>
            <a:rect l="l" t="t" r="r" b="b"/>
            <a:pathLst>
              <a:path w="3985765" h="3193285">
                <a:moveTo>
                  <a:pt x="0" y="0"/>
                </a:moveTo>
                <a:lnTo>
                  <a:pt x="3985765" y="0"/>
                </a:lnTo>
                <a:lnTo>
                  <a:pt x="3985765" y="3193285"/>
                </a:lnTo>
                <a:lnTo>
                  <a:pt x="0" y="3193285"/>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SG"/>
          </a:p>
        </p:txBody>
      </p:sp>
      <p:sp>
        <p:nvSpPr>
          <p:cNvPr id="15" name="Freeform 15"/>
          <p:cNvSpPr/>
          <p:nvPr/>
        </p:nvSpPr>
        <p:spPr>
          <a:xfrm>
            <a:off x="7172449" y="1580893"/>
            <a:ext cx="2812285" cy="3520945"/>
          </a:xfrm>
          <a:custGeom>
            <a:avLst/>
            <a:gdLst/>
            <a:ahLst/>
            <a:cxnLst/>
            <a:rect l="l" t="t" r="r" b="b"/>
            <a:pathLst>
              <a:path w="2812285" h="3520945">
                <a:moveTo>
                  <a:pt x="0" y="0"/>
                </a:moveTo>
                <a:lnTo>
                  <a:pt x="2812285" y="0"/>
                </a:lnTo>
                <a:lnTo>
                  <a:pt x="2812285" y="3520945"/>
                </a:lnTo>
                <a:lnTo>
                  <a:pt x="0" y="3520945"/>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SG"/>
          </a:p>
        </p:txBody>
      </p:sp>
      <p:sp>
        <p:nvSpPr>
          <p:cNvPr id="16" name="TextBox 16"/>
          <p:cNvSpPr txBox="1"/>
          <p:nvPr/>
        </p:nvSpPr>
        <p:spPr>
          <a:xfrm>
            <a:off x="1441780" y="1430912"/>
            <a:ext cx="160496" cy="359407"/>
          </a:xfrm>
          <a:prstGeom prst="rect">
            <a:avLst/>
          </a:prstGeom>
        </p:spPr>
        <p:txBody>
          <a:bodyPr lIns="0" tIns="0" rIns="0" bIns="0" rtlCol="0" anchor="t">
            <a:spAutoFit/>
          </a:bodyPr>
          <a:lstStyle/>
          <a:p>
            <a:pPr algn="l">
              <a:lnSpc>
                <a:spcPts val="2940"/>
              </a:lnSpc>
            </a:pPr>
            <a:r>
              <a:rPr lang="en-US" sz="2100" spc="39">
                <a:solidFill>
                  <a:srgbClr val="FF0000"/>
                </a:solidFill>
                <a:latin typeface="Montserrat"/>
                <a:ea typeface="Montserrat"/>
                <a:cs typeface="Montserrat"/>
                <a:sym typeface="Montserrat"/>
              </a:rPr>
              <a:t>2</a:t>
            </a:r>
          </a:p>
        </p:txBody>
      </p:sp>
      <p:sp>
        <p:nvSpPr>
          <p:cNvPr id="17" name="TextBox 17"/>
          <p:cNvSpPr txBox="1"/>
          <p:nvPr/>
        </p:nvSpPr>
        <p:spPr>
          <a:xfrm>
            <a:off x="1618602" y="3938616"/>
            <a:ext cx="173288" cy="867547"/>
          </a:xfrm>
          <a:prstGeom prst="rect">
            <a:avLst/>
          </a:prstGeom>
        </p:spPr>
        <p:txBody>
          <a:bodyPr lIns="0" tIns="0" rIns="0" bIns="0" rtlCol="0" anchor="t">
            <a:spAutoFit/>
          </a:bodyPr>
          <a:lstStyle/>
          <a:p>
            <a:pPr algn="just">
              <a:lnSpc>
                <a:spcPts val="3551"/>
              </a:lnSpc>
            </a:pPr>
            <a:r>
              <a:rPr lang="en-US" sz="2100" spc="39">
                <a:solidFill>
                  <a:srgbClr val="FF0000"/>
                </a:solidFill>
                <a:latin typeface="Montserrat"/>
                <a:ea typeface="Montserrat"/>
                <a:cs typeface="Montserrat"/>
                <a:sym typeface="Montserrat"/>
              </a:rPr>
              <a:t>5 6</a:t>
            </a:r>
          </a:p>
        </p:txBody>
      </p:sp>
      <p:sp>
        <p:nvSpPr>
          <p:cNvPr id="18" name="TextBox 18"/>
          <p:cNvSpPr txBox="1"/>
          <p:nvPr/>
        </p:nvSpPr>
        <p:spPr>
          <a:xfrm>
            <a:off x="2049856" y="3131658"/>
            <a:ext cx="187433" cy="359407"/>
          </a:xfrm>
          <a:prstGeom prst="rect">
            <a:avLst/>
          </a:prstGeom>
        </p:spPr>
        <p:txBody>
          <a:bodyPr lIns="0" tIns="0" rIns="0" bIns="0" rtlCol="0" anchor="t">
            <a:spAutoFit/>
          </a:bodyPr>
          <a:lstStyle/>
          <a:p>
            <a:pPr algn="l">
              <a:lnSpc>
                <a:spcPts val="2940"/>
              </a:lnSpc>
            </a:pPr>
            <a:r>
              <a:rPr lang="en-US" sz="2100" spc="39">
                <a:solidFill>
                  <a:srgbClr val="FF0000"/>
                </a:solidFill>
                <a:latin typeface="Montserrat"/>
                <a:ea typeface="Montserrat"/>
                <a:cs typeface="Montserrat"/>
                <a:sym typeface="Montserrat"/>
              </a:rPr>
              <a:t>4</a:t>
            </a:r>
          </a:p>
        </p:txBody>
      </p:sp>
      <p:sp>
        <p:nvSpPr>
          <p:cNvPr id="19" name="TextBox 19"/>
          <p:cNvSpPr txBox="1"/>
          <p:nvPr/>
        </p:nvSpPr>
        <p:spPr>
          <a:xfrm>
            <a:off x="2269350" y="781498"/>
            <a:ext cx="106642" cy="359407"/>
          </a:xfrm>
          <a:prstGeom prst="rect">
            <a:avLst/>
          </a:prstGeom>
        </p:spPr>
        <p:txBody>
          <a:bodyPr lIns="0" tIns="0" rIns="0" bIns="0" rtlCol="0" anchor="t">
            <a:spAutoFit/>
          </a:bodyPr>
          <a:lstStyle/>
          <a:p>
            <a:pPr algn="l">
              <a:lnSpc>
                <a:spcPts val="2940"/>
              </a:lnSpc>
            </a:pPr>
            <a:r>
              <a:rPr lang="en-US" sz="2100" spc="39">
                <a:solidFill>
                  <a:srgbClr val="FF0000"/>
                </a:solidFill>
                <a:latin typeface="Montserrat"/>
                <a:ea typeface="Montserrat"/>
                <a:cs typeface="Montserrat"/>
                <a:sym typeface="Montserrat"/>
              </a:rPr>
              <a:t>1</a:t>
            </a:r>
          </a:p>
        </p:txBody>
      </p:sp>
      <p:sp>
        <p:nvSpPr>
          <p:cNvPr id="20" name="TextBox 20"/>
          <p:cNvSpPr txBox="1"/>
          <p:nvPr/>
        </p:nvSpPr>
        <p:spPr>
          <a:xfrm>
            <a:off x="4541634" y="3847748"/>
            <a:ext cx="168659" cy="359407"/>
          </a:xfrm>
          <a:prstGeom prst="rect">
            <a:avLst/>
          </a:prstGeom>
        </p:spPr>
        <p:txBody>
          <a:bodyPr lIns="0" tIns="0" rIns="0" bIns="0" rtlCol="0" anchor="t">
            <a:spAutoFit/>
          </a:bodyPr>
          <a:lstStyle/>
          <a:p>
            <a:pPr algn="l">
              <a:lnSpc>
                <a:spcPts val="2940"/>
              </a:lnSpc>
            </a:pPr>
            <a:r>
              <a:rPr lang="en-US" sz="2100" spc="39">
                <a:solidFill>
                  <a:srgbClr val="FF0000"/>
                </a:solidFill>
                <a:latin typeface="Montserrat"/>
                <a:ea typeface="Montserrat"/>
                <a:cs typeface="Montserrat"/>
                <a:sym typeface="Montserrat"/>
              </a:rPr>
              <a:t>7</a:t>
            </a:r>
          </a:p>
        </p:txBody>
      </p:sp>
      <p:sp>
        <p:nvSpPr>
          <p:cNvPr id="21" name="TextBox 21"/>
          <p:cNvSpPr txBox="1"/>
          <p:nvPr/>
        </p:nvSpPr>
        <p:spPr>
          <a:xfrm>
            <a:off x="9261424" y="2436638"/>
            <a:ext cx="179546" cy="359407"/>
          </a:xfrm>
          <a:prstGeom prst="rect">
            <a:avLst/>
          </a:prstGeom>
        </p:spPr>
        <p:txBody>
          <a:bodyPr lIns="0" tIns="0" rIns="0" bIns="0" rtlCol="0" anchor="t">
            <a:spAutoFit/>
          </a:bodyPr>
          <a:lstStyle/>
          <a:p>
            <a:pPr algn="l">
              <a:lnSpc>
                <a:spcPts val="2940"/>
              </a:lnSpc>
            </a:pPr>
            <a:r>
              <a:rPr lang="en-US" sz="2100" spc="39">
                <a:solidFill>
                  <a:srgbClr val="FF0000"/>
                </a:solidFill>
                <a:latin typeface="Montserrat"/>
                <a:ea typeface="Montserrat"/>
                <a:cs typeface="Montserrat"/>
                <a:sym typeface="Montserrat"/>
              </a:rPr>
              <a:t>8</a:t>
            </a:r>
          </a:p>
        </p:txBody>
      </p:sp>
      <p:sp>
        <p:nvSpPr>
          <p:cNvPr id="22" name="TextBox 22"/>
          <p:cNvSpPr txBox="1"/>
          <p:nvPr/>
        </p:nvSpPr>
        <p:spPr>
          <a:xfrm>
            <a:off x="2008727" y="2202142"/>
            <a:ext cx="161963" cy="361245"/>
          </a:xfrm>
          <a:prstGeom prst="rect">
            <a:avLst/>
          </a:prstGeom>
        </p:spPr>
        <p:txBody>
          <a:bodyPr lIns="0" tIns="0" rIns="0" bIns="0" rtlCol="0" anchor="t">
            <a:spAutoFit/>
          </a:bodyPr>
          <a:lstStyle/>
          <a:p>
            <a:pPr algn="l">
              <a:lnSpc>
                <a:spcPts val="2956"/>
              </a:lnSpc>
            </a:pPr>
            <a:r>
              <a:rPr lang="en-US" sz="2112" spc="40">
                <a:solidFill>
                  <a:srgbClr val="FF0000"/>
                </a:solidFill>
                <a:latin typeface="Montserrat"/>
                <a:ea typeface="Montserrat"/>
                <a:cs typeface="Montserrat"/>
                <a:sym typeface="Montserrat"/>
              </a:rPr>
              <a:t>3</a:t>
            </a:r>
          </a:p>
        </p:txBody>
      </p:sp>
      <p:sp>
        <p:nvSpPr>
          <p:cNvPr id="23" name="TextBox 23"/>
          <p:cNvSpPr txBox="1"/>
          <p:nvPr/>
        </p:nvSpPr>
        <p:spPr>
          <a:xfrm>
            <a:off x="10023262" y="4719695"/>
            <a:ext cx="174279" cy="361245"/>
          </a:xfrm>
          <a:prstGeom prst="rect">
            <a:avLst/>
          </a:prstGeom>
        </p:spPr>
        <p:txBody>
          <a:bodyPr lIns="0" tIns="0" rIns="0" bIns="0" rtlCol="0" anchor="t">
            <a:spAutoFit/>
          </a:bodyPr>
          <a:lstStyle/>
          <a:p>
            <a:pPr algn="l">
              <a:lnSpc>
                <a:spcPts val="2956"/>
              </a:lnSpc>
            </a:pPr>
            <a:r>
              <a:rPr lang="en-US" sz="2112" spc="40">
                <a:solidFill>
                  <a:srgbClr val="FF0000"/>
                </a:solidFill>
                <a:latin typeface="Montserrat"/>
                <a:ea typeface="Montserrat"/>
                <a:cs typeface="Montserrat"/>
                <a:sym typeface="Montserrat"/>
              </a:rPr>
              <a:t>9</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3"/>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4"/>
              <a:stretch>
                <a:fillRect l="-514" b="-206"/>
              </a:stretch>
            </a:blipFill>
          </p:spPr>
          <p:txBody>
            <a:bodyPr/>
            <a:lstStyle/>
            <a:p>
              <a:endParaRPr lang="en-SG"/>
            </a:p>
          </p:txBody>
        </p:sp>
      </p:grpSp>
      <p:grpSp>
        <p:nvGrpSpPr>
          <p:cNvPr id="9" name="Group 9"/>
          <p:cNvGrpSpPr/>
          <p:nvPr/>
        </p:nvGrpSpPr>
        <p:grpSpPr>
          <a:xfrm>
            <a:off x="5506212" y="2859024"/>
            <a:ext cx="1565148" cy="515112"/>
            <a:chOff x="0" y="0"/>
            <a:chExt cx="2086864" cy="686816"/>
          </a:xfrm>
        </p:grpSpPr>
        <p:sp>
          <p:nvSpPr>
            <p:cNvPr id="10" name="Freeform 10"/>
            <p:cNvSpPr/>
            <p:nvPr/>
          </p:nvSpPr>
          <p:spPr>
            <a:xfrm>
              <a:off x="0" y="0"/>
              <a:ext cx="2086864" cy="686816"/>
            </a:xfrm>
            <a:custGeom>
              <a:avLst/>
              <a:gdLst/>
              <a:ahLst/>
              <a:cxnLst/>
              <a:rect l="l" t="t" r="r" b="b"/>
              <a:pathLst>
                <a:path w="2086864" h="686816">
                  <a:moveTo>
                    <a:pt x="0" y="0"/>
                  </a:moveTo>
                  <a:lnTo>
                    <a:pt x="2086864" y="0"/>
                  </a:lnTo>
                  <a:lnTo>
                    <a:pt x="2086864" y="686816"/>
                  </a:lnTo>
                  <a:lnTo>
                    <a:pt x="0" y="686816"/>
                  </a:lnTo>
                  <a:lnTo>
                    <a:pt x="0" y="0"/>
                  </a:lnTo>
                  <a:close/>
                </a:path>
              </a:pathLst>
            </a:custGeom>
            <a:blipFill>
              <a:blip r:embed="rId5"/>
              <a:stretch>
                <a:fillRect l="-97"/>
              </a:stretch>
            </a:blipFill>
          </p:spPr>
          <p:txBody>
            <a:bodyPr/>
            <a:lstStyle/>
            <a:p>
              <a:endParaRPr lang="en-SG"/>
            </a:p>
          </p:txBody>
        </p:sp>
      </p:grpSp>
      <p:grpSp>
        <p:nvGrpSpPr>
          <p:cNvPr id="11" name="Group 11"/>
          <p:cNvGrpSpPr/>
          <p:nvPr/>
        </p:nvGrpSpPr>
        <p:grpSpPr>
          <a:xfrm>
            <a:off x="5506212" y="3371088"/>
            <a:ext cx="1565148" cy="1054608"/>
            <a:chOff x="0" y="0"/>
            <a:chExt cx="2086864" cy="1406144"/>
          </a:xfrm>
        </p:grpSpPr>
        <p:sp>
          <p:nvSpPr>
            <p:cNvPr id="12" name="Freeform 12"/>
            <p:cNvSpPr/>
            <p:nvPr/>
          </p:nvSpPr>
          <p:spPr>
            <a:xfrm>
              <a:off x="0" y="0"/>
              <a:ext cx="2086864" cy="1406144"/>
            </a:xfrm>
            <a:custGeom>
              <a:avLst/>
              <a:gdLst/>
              <a:ahLst/>
              <a:cxnLst/>
              <a:rect l="l" t="t" r="r" b="b"/>
              <a:pathLst>
                <a:path w="2086864" h="1406144">
                  <a:moveTo>
                    <a:pt x="0" y="0"/>
                  </a:moveTo>
                  <a:lnTo>
                    <a:pt x="2086864" y="0"/>
                  </a:lnTo>
                  <a:lnTo>
                    <a:pt x="2086864" y="1406144"/>
                  </a:lnTo>
                  <a:lnTo>
                    <a:pt x="0" y="1406144"/>
                  </a:lnTo>
                  <a:lnTo>
                    <a:pt x="0" y="0"/>
                  </a:lnTo>
                  <a:close/>
                </a:path>
              </a:pathLst>
            </a:custGeom>
            <a:blipFill>
              <a:blip r:embed="rId6"/>
              <a:stretch>
                <a:fillRect/>
              </a:stretch>
            </a:blipFill>
          </p:spPr>
          <p:txBody>
            <a:bodyPr/>
            <a:lstStyle/>
            <a:p>
              <a:endParaRPr lang="en-SG"/>
            </a:p>
          </p:txBody>
        </p:sp>
      </p:grpSp>
      <p:sp>
        <p:nvSpPr>
          <p:cNvPr id="13" name="TextBox 13"/>
          <p:cNvSpPr txBox="1"/>
          <p:nvPr/>
        </p:nvSpPr>
        <p:spPr>
          <a:xfrm>
            <a:off x="1632385" y="1334119"/>
            <a:ext cx="8778240" cy="523504"/>
          </a:xfrm>
          <a:prstGeom prst="rect">
            <a:avLst/>
          </a:prstGeom>
        </p:spPr>
        <p:txBody>
          <a:bodyPr wrap="square"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Build Session 1 — Structure, avionics and C&amp;DH bring-up</a:t>
            </a:r>
          </a:p>
        </p:txBody>
      </p:sp>
      <p:sp>
        <p:nvSpPr>
          <p:cNvPr id="14" name="TextBox 14"/>
          <p:cNvSpPr txBox="1"/>
          <p:nvPr/>
        </p:nvSpPr>
        <p:spPr>
          <a:xfrm>
            <a:off x="1632109" y="4572000"/>
            <a:ext cx="8778240" cy="1188720"/>
          </a:xfrm>
          <a:prstGeom prst="rect">
            <a:avLst/>
          </a:prstGeom>
        </p:spPr>
        <p:txBody>
          <a:bodyPr wrap="square" lIns="0" tIns="0" rIns="0" bIns="0" rtlCol="0" anchor="t">
            <a:spAutoFit/>
          </a:bodyPr>
          <a:lstStyle/>
          <a:p>
            <a:pPr algn="l">
              <a:lnSpc>
                <a:spcPts val="6552"/>
              </a:lnSpc>
            </a:pPr>
            <a:r>
              <a:rPr lang="en-US" sz="2800" spc="88">
                <a:solidFill>
                  <a:srgbClr val="2C2C2C"/>
                </a:solidFill>
                <a:latin typeface="Montserrat"/>
                <a:ea typeface="Montserrat"/>
                <a:cs typeface="Montserrat"/>
                <a:sym typeface="Montserrat"/>
              </a:rPr>
              <a:t>The kit, the tools and the boards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1801368" y="4143756"/>
            <a:ext cx="103632" cy="103632"/>
            <a:chOff x="0" y="0"/>
            <a:chExt cx="103632" cy="103632"/>
          </a:xfrm>
        </p:grpSpPr>
        <p:sp>
          <p:nvSpPr>
            <p:cNvPr id="10" name="Freeform 10"/>
            <p:cNvSpPr/>
            <p:nvPr/>
          </p:nvSpPr>
          <p:spPr>
            <a:xfrm>
              <a:off x="0" y="0"/>
              <a:ext cx="103632" cy="103632"/>
            </a:xfrm>
            <a:custGeom>
              <a:avLst/>
              <a:gdLst/>
              <a:ahLst/>
              <a:cxnLst/>
              <a:rect l="l" t="t" r="r" b="b"/>
              <a:pathLst>
                <a:path w="103632" h="103632">
                  <a:moveTo>
                    <a:pt x="27432" y="7620"/>
                  </a:moveTo>
                  <a:cubicBezTo>
                    <a:pt x="18288" y="12192"/>
                    <a:pt x="12192" y="18288"/>
                    <a:pt x="7620" y="25908"/>
                  </a:cubicBezTo>
                  <a:cubicBezTo>
                    <a:pt x="3048" y="35052"/>
                    <a:pt x="0" y="44196"/>
                    <a:pt x="0" y="51816"/>
                  </a:cubicBezTo>
                  <a:cubicBezTo>
                    <a:pt x="0" y="67056"/>
                    <a:pt x="6096" y="79248"/>
                    <a:pt x="15240" y="89916"/>
                  </a:cubicBezTo>
                  <a:cubicBezTo>
                    <a:pt x="25908" y="99060"/>
                    <a:pt x="38100" y="103632"/>
                    <a:pt x="51816" y="103632"/>
                  </a:cubicBezTo>
                  <a:cubicBezTo>
                    <a:pt x="67056" y="103632"/>
                    <a:pt x="79248" y="99060"/>
                    <a:pt x="88392" y="89916"/>
                  </a:cubicBezTo>
                  <a:cubicBezTo>
                    <a:pt x="99060" y="79248"/>
                    <a:pt x="103632" y="67056"/>
                    <a:pt x="103632" y="51816"/>
                  </a:cubicBezTo>
                  <a:cubicBezTo>
                    <a:pt x="103632" y="44196"/>
                    <a:pt x="102108" y="35052"/>
                    <a:pt x="97536" y="25908"/>
                  </a:cubicBezTo>
                  <a:cubicBezTo>
                    <a:pt x="92964" y="18288"/>
                    <a:pt x="86868" y="12192"/>
                    <a:pt x="77724" y="7620"/>
                  </a:cubicBezTo>
                  <a:cubicBezTo>
                    <a:pt x="70104" y="3048"/>
                    <a:pt x="60960" y="0"/>
                    <a:pt x="51816" y="0"/>
                  </a:cubicBezTo>
                  <a:cubicBezTo>
                    <a:pt x="44196" y="0"/>
                    <a:pt x="35052" y="3048"/>
                    <a:pt x="27432" y="7620"/>
                  </a:cubicBezTo>
                  <a:close/>
                </a:path>
              </a:pathLst>
            </a:custGeom>
            <a:solidFill>
              <a:srgbClr val="000000"/>
            </a:solidFill>
          </p:spPr>
          <p:txBody>
            <a:bodyPr/>
            <a:lstStyle/>
            <a:p>
              <a:endParaRPr lang="en-SG"/>
            </a:p>
          </p:txBody>
        </p:sp>
      </p:grpSp>
      <p:grpSp>
        <p:nvGrpSpPr>
          <p:cNvPr id="11" name="Group 11"/>
          <p:cNvGrpSpPr/>
          <p:nvPr/>
        </p:nvGrpSpPr>
        <p:grpSpPr>
          <a:xfrm>
            <a:off x="1801368" y="4511040"/>
            <a:ext cx="103632" cy="103632"/>
            <a:chOff x="0" y="0"/>
            <a:chExt cx="103632" cy="103632"/>
          </a:xfrm>
        </p:grpSpPr>
        <p:sp>
          <p:nvSpPr>
            <p:cNvPr id="12" name="Freeform 12"/>
            <p:cNvSpPr/>
            <p:nvPr/>
          </p:nvSpPr>
          <p:spPr>
            <a:xfrm>
              <a:off x="0" y="0"/>
              <a:ext cx="103632" cy="103632"/>
            </a:xfrm>
            <a:custGeom>
              <a:avLst/>
              <a:gdLst/>
              <a:ahLst/>
              <a:cxnLst/>
              <a:rect l="l" t="t" r="r" b="b"/>
              <a:pathLst>
                <a:path w="103632" h="103632">
                  <a:moveTo>
                    <a:pt x="27432" y="7620"/>
                  </a:moveTo>
                  <a:cubicBezTo>
                    <a:pt x="18288" y="12192"/>
                    <a:pt x="12192" y="18288"/>
                    <a:pt x="7620" y="25908"/>
                  </a:cubicBezTo>
                  <a:cubicBezTo>
                    <a:pt x="3048" y="35052"/>
                    <a:pt x="0" y="42672"/>
                    <a:pt x="0" y="51816"/>
                  </a:cubicBezTo>
                  <a:cubicBezTo>
                    <a:pt x="0" y="67056"/>
                    <a:pt x="6096" y="79248"/>
                    <a:pt x="15240" y="88392"/>
                  </a:cubicBezTo>
                  <a:cubicBezTo>
                    <a:pt x="25908" y="99060"/>
                    <a:pt x="38100" y="103632"/>
                    <a:pt x="51816" y="103632"/>
                  </a:cubicBezTo>
                  <a:cubicBezTo>
                    <a:pt x="67056" y="103632"/>
                    <a:pt x="79248" y="99060"/>
                    <a:pt x="88392" y="88392"/>
                  </a:cubicBezTo>
                  <a:cubicBezTo>
                    <a:pt x="99060" y="79248"/>
                    <a:pt x="103632" y="67056"/>
                    <a:pt x="103632" y="51816"/>
                  </a:cubicBezTo>
                  <a:cubicBezTo>
                    <a:pt x="103632" y="42672"/>
                    <a:pt x="102108" y="35052"/>
                    <a:pt x="97536" y="25908"/>
                  </a:cubicBezTo>
                  <a:cubicBezTo>
                    <a:pt x="92964" y="18288"/>
                    <a:pt x="86868" y="12192"/>
                    <a:pt x="77724" y="7620"/>
                  </a:cubicBezTo>
                  <a:cubicBezTo>
                    <a:pt x="70104" y="3048"/>
                    <a:pt x="60960" y="0"/>
                    <a:pt x="51816" y="0"/>
                  </a:cubicBezTo>
                  <a:cubicBezTo>
                    <a:pt x="44196" y="0"/>
                    <a:pt x="35052" y="3048"/>
                    <a:pt x="27432" y="7620"/>
                  </a:cubicBezTo>
                  <a:close/>
                </a:path>
              </a:pathLst>
            </a:custGeom>
            <a:solidFill>
              <a:srgbClr val="000000"/>
            </a:solidFill>
          </p:spPr>
          <p:txBody>
            <a:bodyPr/>
            <a:lstStyle/>
            <a:p>
              <a:endParaRPr lang="en-SG"/>
            </a:p>
          </p:txBody>
        </p:sp>
      </p:grpSp>
      <p:sp>
        <p:nvSpPr>
          <p:cNvPr id="13" name="Freeform 13"/>
          <p:cNvSpPr/>
          <p:nvPr/>
        </p:nvSpPr>
        <p:spPr>
          <a:xfrm>
            <a:off x="2132581" y="4391149"/>
            <a:ext cx="4516117" cy="347977"/>
          </a:xfrm>
          <a:custGeom>
            <a:avLst/>
            <a:gdLst/>
            <a:ahLst/>
            <a:cxnLst/>
            <a:rect l="l" t="t" r="r" b="b"/>
            <a:pathLst>
              <a:path w="4516117" h="347977">
                <a:moveTo>
                  <a:pt x="0" y="0"/>
                </a:moveTo>
                <a:lnTo>
                  <a:pt x="4516117" y="0"/>
                </a:lnTo>
                <a:lnTo>
                  <a:pt x="4516117" y="347977"/>
                </a:lnTo>
                <a:lnTo>
                  <a:pt x="0" y="34797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SG"/>
          </a:p>
        </p:txBody>
      </p:sp>
      <p:sp>
        <p:nvSpPr>
          <p:cNvPr id="14" name="Freeform 14"/>
          <p:cNvSpPr/>
          <p:nvPr/>
        </p:nvSpPr>
        <p:spPr>
          <a:xfrm>
            <a:off x="1597657" y="3286249"/>
            <a:ext cx="8060941" cy="349501"/>
          </a:xfrm>
          <a:custGeom>
            <a:avLst/>
            <a:gdLst/>
            <a:ahLst/>
            <a:cxnLst/>
            <a:rect l="l" t="t" r="r" b="b"/>
            <a:pathLst>
              <a:path w="8060941" h="349501">
                <a:moveTo>
                  <a:pt x="0" y="0"/>
                </a:moveTo>
                <a:lnTo>
                  <a:pt x="8060941" y="0"/>
                </a:lnTo>
                <a:lnTo>
                  <a:pt x="8060941" y="349501"/>
                </a:lnTo>
                <a:lnTo>
                  <a:pt x="0" y="34950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SG"/>
          </a:p>
        </p:txBody>
      </p:sp>
      <p:grpSp>
        <p:nvGrpSpPr>
          <p:cNvPr id="15" name="Group 15"/>
          <p:cNvGrpSpPr/>
          <p:nvPr/>
        </p:nvGrpSpPr>
        <p:grpSpPr>
          <a:xfrm>
            <a:off x="8346443" y="1225296"/>
            <a:ext cx="296161" cy="92964"/>
            <a:chOff x="0" y="0"/>
            <a:chExt cx="394881" cy="123952"/>
          </a:xfrm>
        </p:grpSpPr>
        <p:sp>
          <p:nvSpPr>
            <p:cNvPr id="16" name="Freeform 16"/>
            <p:cNvSpPr/>
            <p:nvPr/>
          </p:nvSpPr>
          <p:spPr>
            <a:xfrm>
              <a:off x="0" y="0"/>
              <a:ext cx="394843" cy="123952"/>
            </a:xfrm>
            <a:custGeom>
              <a:avLst/>
              <a:gdLst/>
              <a:ahLst/>
              <a:cxnLst/>
              <a:rect l="l" t="t" r="r" b="b"/>
              <a:pathLst>
                <a:path w="394843" h="123952">
                  <a:moveTo>
                    <a:pt x="45339" y="0"/>
                  </a:moveTo>
                  <a:lnTo>
                    <a:pt x="43307" y="4064"/>
                  </a:lnTo>
                  <a:lnTo>
                    <a:pt x="37211" y="22352"/>
                  </a:lnTo>
                  <a:lnTo>
                    <a:pt x="35179" y="26416"/>
                  </a:lnTo>
                  <a:lnTo>
                    <a:pt x="29083" y="44704"/>
                  </a:lnTo>
                  <a:lnTo>
                    <a:pt x="27051" y="48768"/>
                  </a:lnTo>
                  <a:lnTo>
                    <a:pt x="18923" y="73152"/>
                  </a:lnTo>
                  <a:lnTo>
                    <a:pt x="16891" y="77216"/>
                  </a:lnTo>
                  <a:lnTo>
                    <a:pt x="10795" y="95504"/>
                  </a:lnTo>
                  <a:lnTo>
                    <a:pt x="8763" y="99568"/>
                  </a:lnTo>
                  <a:lnTo>
                    <a:pt x="2667" y="117856"/>
                  </a:lnTo>
                  <a:lnTo>
                    <a:pt x="635" y="121920"/>
                  </a:lnTo>
                  <a:lnTo>
                    <a:pt x="0" y="123952"/>
                  </a:lnTo>
                  <a:lnTo>
                    <a:pt x="394843" y="123952"/>
                  </a:lnTo>
                  <a:lnTo>
                    <a:pt x="390779" y="121920"/>
                  </a:lnTo>
                  <a:lnTo>
                    <a:pt x="372491" y="115824"/>
                  </a:lnTo>
                  <a:lnTo>
                    <a:pt x="368427" y="113792"/>
                  </a:lnTo>
                  <a:lnTo>
                    <a:pt x="344043" y="105664"/>
                  </a:lnTo>
                  <a:lnTo>
                    <a:pt x="339979" y="103632"/>
                  </a:lnTo>
                  <a:lnTo>
                    <a:pt x="321691" y="97536"/>
                  </a:lnTo>
                  <a:lnTo>
                    <a:pt x="317627" y="95504"/>
                  </a:lnTo>
                  <a:lnTo>
                    <a:pt x="299339" y="89408"/>
                  </a:lnTo>
                  <a:lnTo>
                    <a:pt x="295275" y="87376"/>
                  </a:lnTo>
                  <a:lnTo>
                    <a:pt x="270891" y="79248"/>
                  </a:lnTo>
                  <a:lnTo>
                    <a:pt x="266827" y="77216"/>
                  </a:lnTo>
                  <a:lnTo>
                    <a:pt x="248539" y="71120"/>
                  </a:lnTo>
                  <a:lnTo>
                    <a:pt x="244475" y="69088"/>
                  </a:lnTo>
                  <a:lnTo>
                    <a:pt x="220091" y="60960"/>
                  </a:lnTo>
                  <a:lnTo>
                    <a:pt x="216027" y="58928"/>
                  </a:lnTo>
                  <a:lnTo>
                    <a:pt x="197739" y="52832"/>
                  </a:lnTo>
                  <a:lnTo>
                    <a:pt x="193675" y="50800"/>
                  </a:lnTo>
                  <a:lnTo>
                    <a:pt x="175387" y="44704"/>
                  </a:lnTo>
                  <a:lnTo>
                    <a:pt x="171323" y="42672"/>
                  </a:lnTo>
                  <a:lnTo>
                    <a:pt x="146939" y="34544"/>
                  </a:lnTo>
                  <a:lnTo>
                    <a:pt x="142875" y="32512"/>
                  </a:lnTo>
                  <a:lnTo>
                    <a:pt x="124587" y="26416"/>
                  </a:lnTo>
                  <a:lnTo>
                    <a:pt x="120523" y="24384"/>
                  </a:lnTo>
                  <a:lnTo>
                    <a:pt x="96139" y="16256"/>
                  </a:lnTo>
                  <a:lnTo>
                    <a:pt x="92075" y="14224"/>
                  </a:lnTo>
                  <a:lnTo>
                    <a:pt x="73787" y="8128"/>
                  </a:lnTo>
                  <a:lnTo>
                    <a:pt x="69723" y="6096"/>
                  </a:lnTo>
                  <a:lnTo>
                    <a:pt x="51435" y="0"/>
                  </a:lnTo>
                  <a:close/>
                </a:path>
              </a:pathLst>
            </a:custGeom>
            <a:blipFill>
              <a:blip r:embed="rId6"/>
              <a:stretch>
                <a:fillRect l="-37912" t="-3278" r="-565078"/>
              </a:stretch>
            </a:blipFill>
          </p:spPr>
          <p:txBody>
            <a:bodyPr/>
            <a:lstStyle/>
            <a:p>
              <a:endParaRPr lang="en-SG"/>
            </a:p>
          </p:txBody>
        </p:sp>
      </p:grpSp>
      <p:grpSp>
        <p:nvGrpSpPr>
          <p:cNvPr id="17" name="Group 17"/>
          <p:cNvGrpSpPr/>
          <p:nvPr/>
        </p:nvGrpSpPr>
        <p:grpSpPr>
          <a:xfrm>
            <a:off x="8312401" y="1316736"/>
            <a:ext cx="592331" cy="96012"/>
            <a:chOff x="0" y="0"/>
            <a:chExt cx="789775" cy="128016"/>
          </a:xfrm>
        </p:grpSpPr>
        <p:sp>
          <p:nvSpPr>
            <p:cNvPr id="18" name="Freeform 18"/>
            <p:cNvSpPr/>
            <p:nvPr/>
          </p:nvSpPr>
          <p:spPr>
            <a:xfrm>
              <a:off x="0" y="0"/>
              <a:ext cx="789813" cy="128016"/>
            </a:xfrm>
            <a:custGeom>
              <a:avLst/>
              <a:gdLst/>
              <a:ahLst/>
              <a:cxnLst/>
              <a:rect l="l" t="t" r="r" b="b"/>
              <a:pathLst>
                <a:path w="789813" h="128016">
                  <a:moveTo>
                    <a:pt x="46101" y="0"/>
                  </a:moveTo>
                  <a:lnTo>
                    <a:pt x="37973" y="24384"/>
                  </a:lnTo>
                  <a:lnTo>
                    <a:pt x="35941" y="28448"/>
                  </a:lnTo>
                  <a:lnTo>
                    <a:pt x="29845" y="46736"/>
                  </a:lnTo>
                  <a:lnTo>
                    <a:pt x="27813" y="50800"/>
                  </a:lnTo>
                  <a:lnTo>
                    <a:pt x="21717" y="69088"/>
                  </a:lnTo>
                  <a:lnTo>
                    <a:pt x="19685" y="73152"/>
                  </a:lnTo>
                  <a:lnTo>
                    <a:pt x="11557" y="97536"/>
                  </a:lnTo>
                  <a:lnTo>
                    <a:pt x="9525" y="101600"/>
                  </a:lnTo>
                  <a:lnTo>
                    <a:pt x="3429" y="119888"/>
                  </a:lnTo>
                  <a:lnTo>
                    <a:pt x="1397" y="123952"/>
                  </a:lnTo>
                  <a:lnTo>
                    <a:pt x="0" y="128016"/>
                  </a:lnTo>
                  <a:lnTo>
                    <a:pt x="789813" y="128016"/>
                  </a:lnTo>
                  <a:lnTo>
                    <a:pt x="785749" y="125984"/>
                  </a:lnTo>
                  <a:lnTo>
                    <a:pt x="761365" y="117856"/>
                  </a:lnTo>
                  <a:lnTo>
                    <a:pt x="757301" y="115824"/>
                  </a:lnTo>
                  <a:lnTo>
                    <a:pt x="739013" y="109728"/>
                  </a:lnTo>
                  <a:lnTo>
                    <a:pt x="734949" y="107696"/>
                  </a:lnTo>
                  <a:lnTo>
                    <a:pt x="716661" y="101600"/>
                  </a:lnTo>
                  <a:lnTo>
                    <a:pt x="712597" y="99568"/>
                  </a:lnTo>
                  <a:lnTo>
                    <a:pt x="688213" y="91440"/>
                  </a:lnTo>
                  <a:lnTo>
                    <a:pt x="684149" y="89408"/>
                  </a:lnTo>
                  <a:lnTo>
                    <a:pt x="665861" y="83312"/>
                  </a:lnTo>
                  <a:lnTo>
                    <a:pt x="661797" y="81280"/>
                  </a:lnTo>
                  <a:lnTo>
                    <a:pt x="637413" y="73152"/>
                  </a:lnTo>
                  <a:lnTo>
                    <a:pt x="633349" y="71120"/>
                  </a:lnTo>
                  <a:lnTo>
                    <a:pt x="615061" y="65024"/>
                  </a:lnTo>
                  <a:lnTo>
                    <a:pt x="610997" y="62992"/>
                  </a:lnTo>
                  <a:lnTo>
                    <a:pt x="592709" y="56896"/>
                  </a:lnTo>
                  <a:lnTo>
                    <a:pt x="588645" y="54864"/>
                  </a:lnTo>
                  <a:lnTo>
                    <a:pt x="564261" y="46736"/>
                  </a:lnTo>
                  <a:lnTo>
                    <a:pt x="560197" y="44704"/>
                  </a:lnTo>
                  <a:lnTo>
                    <a:pt x="541909" y="38608"/>
                  </a:lnTo>
                  <a:lnTo>
                    <a:pt x="537845" y="36576"/>
                  </a:lnTo>
                  <a:lnTo>
                    <a:pt x="513461" y="28448"/>
                  </a:lnTo>
                  <a:lnTo>
                    <a:pt x="509397" y="26416"/>
                  </a:lnTo>
                  <a:lnTo>
                    <a:pt x="491109" y="20320"/>
                  </a:lnTo>
                  <a:lnTo>
                    <a:pt x="487045" y="18288"/>
                  </a:lnTo>
                  <a:lnTo>
                    <a:pt x="468757" y="12192"/>
                  </a:lnTo>
                  <a:lnTo>
                    <a:pt x="464693" y="10160"/>
                  </a:lnTo>
                  <a:lnTo>
                    <a:pt x="440309" y="2032"/>
                  </a:lnTo>
                  <a:lnTo>
                    <a:pt x="436245" y="0"/>
                  </a:lnTo>
                  <a:close/>
                </a:path>
              </a:pathLst>
            </a:custGeom>
            <a:blipFill>
              <a:blip r:embed="rId7"/>
              <a:stretch>
                <a:fillRect l="-13206" r="-238232"/>
              </a:stretch>
            </a:blipFill>
          </p:spPr>
          <p:txBody>
            <a:bodyPr/>
            <a:lstStyle/>
            <a:p>
              <a:endParaRPr lang="en-SG"/>
            </a:p>
          </p:txBody>
        </p:sp>
      </p:grpSp>
      <p:grpSp>
        <p:nvGrpSpPr>
          <p:cNvPr id="19" name="Group 19"/>
          <p:cNvGrpSpPr/>
          <p:nvPr/>
        </p:nvGrpSpPr>
        <p:grpSpPr>
          <a:xfrm>
            <a:off x="8278368" y="1411224"/>
            <a:ext cx="888492" cy="96012"/>
            <a:chOff x="0" y="0"/>
            <a:chExt cx="1184656" cy="128016"/>
          </a:xfrm>
        </p:grpSpPr>
        <p:sp>
          <p:nvSpPr>
            <p:cNvPr id="20" name="Freeform 20"/>
            <p:cNvSpPr/>
            <p:nvPr/>
          </p:nvSpPr>
          <p:spPr>
            <a:xfrm>
              <a:off x="0" y="0"/>
              <a:ext cx="1184656" cy="128016"/>
            </a:xfrm>
            <a:custGeom>
              <a:avLst/>
              <a:gdLst/>
              <a:ahLst/>
              <a:cxnLst/>
              <a:rect l="l" t="t" r="r" b="b"/>
              <a:pathLst>
                <a:path w="1184656" h="128016">
                  <a:moveTo>
                    <a:pt x="46101" y="0"/>
                  </a:moveTo>
                  <a:lnTo>
                    <a:pt x="40640" y="16256"/>
                  </a:lnTo>
                  <a:lnTo>
                    <a:pt x="38608" y="20320"/>
                  </a:lnTo>
                  <a:lnTo>
                    <a:pt x="30480" y="44704"/>
                  </a:lnTo>
                  <a:lnTo>
                    <a:pt x="28448" y="48768"/>
                  </a:lnTo>
                  <a:lnTo>
                    <a:pt x="22352" y="67056"/>
                  </a:lnTo>
                  <a:lnTo>
                    <a:pt x="20320" y="71120"/>
                  </a:lnTo>
                  <a:lnTo>
                    <a:pt x="12192" y="95504"/>
                  </a:lnTo>
                  <a:lnTo>
                    <a:pt x="10160" y="99568"/>
                  </a:lnTo>
                  <a:lnTo>
                    <a:pt x="4064" y="117856"/>
                  </a:lnTo>
                  <a:lnTo>
                    <a:pt x="2032" y="121920"/>
                  </a:lnTo>
                  <a:lnTo>
                    <a:pt x="0" y="128016"/>
                  </a:lnTo>
                  <a:lnTo>
                    <a:pt x="1184656" y="128016"/>
                  </a:lnTo>
                  <a:lnTo>
                    <a:pt x="1178560" y="125984"/>
                  </a:lnTo>
                  <a:lnTo>
                    <a:pt x="1174496" y="123952"/>
                  </a:lnTo>
                  <a:lnTo>
                    <a:pt x="1156208" y="117856"/>
                  </a:lnTo>
                  <a:lnTo>
                    <a:pt x="1152144" y="115824"/>
                  </a:lnTo>
                  <a:lnTo>
                    <a:pt x="1133856" y="109728"/>
                  </a:lnTo>
                  <a:lnTo>
                    <a:pt x="1129792" y="107696"/>
                  </a:lnTo>
                  <a:lnTo>
                    <a:pt x="1105408" y="99568"/>
                  </a:lnTo>
                  <a:lnTo>
                    <a:pt x="1101344" y="97536"/>
                  </a:lnTo>
                  <a:lnTo>
                    <a:pt x="1083056" y="91440"/>
                  </a:lnTo>
                  <a:lnTo>
                    <a:pt x="1078992" y="89408"/>
                  </a:lnTo>
                  <a:lnTo>
                    <a:pt x="1054608" y="81280"/>
                  </a:lnTo>
                  <a:lnTo>
                    <a:pt x="1050544" y="79248"/>
                  </a:lnTo>
                  <a:lnTo>
                    <a:pt x="1032256" y="73152"/>
                  </a:lnTo>
                  <a:lnTo>
                    <a:pt x="1028192" y="71120"/>
                  </a:lnTo>
                  <a:lnTo>
                    <a:pt x="1009904" y="65024"/>
                  </a:lnTo>
                  <a:lnTo>
                    <a:pt x="1005840" y="62992"/>
                  </a:lnTo>
                  <a:lnTo>
                    <a:pt x="981456" y="54864"/>
                  </a:lnTo>
                  <a:lnTo>
                    <a:pt x="977392" y="52832"/>
                  </a:lnTo>
                  <a:lnTo>
                    <a:pt x="959104" y="46736"/>
                  </a:lnTo>
                  <a:lnTo>
                    <a:pt x="955040" y="44704"/>
                  </a:lnTo>
                  <a:lnTo>
                    <a:pt x="930656" y="36576"/>
                  </a:lnTo>
                  <a:lnTo>
                    <a:pt x="926592" y="34544"/>
                  </a:lnTo>
                  <a:lnTo>
                    <a:pt x="908304" y="28448"/>
                  </a:lnTo>
                  <a:lnTo>
                    <a:pt x="904240" y="26416"/>
                  </a:lnTo>
                  <a:lnTo>
                    <a:pt x="885952" y="20320"/>
                  </a:lnTo>
                  <a:lnTo>
                    <a:pt x="881888" y="18288"/>
                  </a:lnTo>
                  <a:lnTo>
                    <a:pt x="857504" y="10160"/>
                  </a:lnTo>
                  <a:lnTo>
                    <a:pt x="853440" y="8128"/>
                  </a:lnTo>
                  <a:lnTo>
                    <a:pt x="835152" y="2032"/>
                  </a:lnTo>
                  <a:lnTo>
                    <a:pt x="831088" y="0"/>
                  </a:lnTo>
                  <a:close/>
                </a:path>
              </a:pathLst>
            </a:custGeom>
            <a:blipFill>
              <a:blip r:embed="rId8"/>
              <a:stretch>
                <a:fillRect l="-4974" r="-129331"/>
              </a:stretch>
            </a:blipFill>
          </p:spPr>
          <p:txBody>
            <a:bodyPr/>
            <a:lstStyle/>
            <a:p>
              <a:endParaRPr lang="en-SG"/>
            </a:p>
          </p:txBody>
        </p:sp>
      </p:grpSp>
      <p:grpSp>
        <p:nvGrpSpPr>
          <p:cNvPr id="21" name="Group 21"/>
          <p:cNvGrpSpPr/>
          <p:nvPr/>
        </p:nvGrpSpPr>
        <p:grpSpPr>
          <a:xfrm>
            <a:off x="8244335" y="1505712"/>
            <a:ext cx="1184653" cy="96012"/>
            <a:chOff x="0" y="0"/>
            <a:chExt cx="1579537" cy="128016"/>
          </a:xfrm>
        </p:grpSpPr>
        <p:sp>
          <p:nvSpPr>
            <p:cNvPr id="22" name="Freeform 22"/>
            <p:cNvSpPr/>
            <p:nvPr/>
          </p:nvSpPr>
          <p:spPr>
            <a:xfrm>
              <a:off x="0" y="0"/>
              <a:ext cx="1579499" cy="128016"/>
            </a:xfrm>
            <a:custGeom>
              <a:avLst/>
              <a:gdLst/>
              <a:ahLst/>
              <a:cxnLst/>
              <a:rect l="l" t="t" r="r" b="b"/>
              <a:pathLst>
                <a:path w="1579499" h="128016">
                  <a:moveTo>
                    <a:pt x="46101" y="0"/>
                  </a:moveTo>
                  <a:lnTo>
                    <a:pt x="41275" y="14224"/>
                  </a:lnTo>
                  <a:lnTo>
                    <a:pt x="39243" y="18288"/>
                  </a:lnTo>
                  <a:lnTo>
                    <a:pt x="31115" y="42672"/>
                  </a:lnTo>
                  <a:lnTo>
                    <a:pt x="29083" y="46736"/>
                  </a:lnTo>
                  <a:lnTo>
                    <a:pt x="22987" y="65024"/>
                  </a:lnTo>
                  <a:lnTo>
                    <a:pt x="20955" y="69088"/>
                  </a:lnTo>
                  <a:lnTo>
                    <a:pt x="14859" y="87376"/>
                  </a:lnTo>
                  <a:lnTo>
                    <a:pt x="12827" y="91440"/>
                  </a:lnTo>
                  <a:lnTo>
                    <a:pt x="4699" y="115824"/>
                  </a:lnTo>
                  <a:lnTo>
                    <a:pt x="2667" y="119888"/>
                  </a:lnTo>
                  <a:lnTo>
                    <a:pt x="0" y="128016"/>
                  </a:lnTo>
                  <a:lnTo>
                    <a:pt x="1579499" y="128016"/>
                  </a:lnTo>
                  <a:lnTo>
                    <a:pt x="1573403" y="125984"/>
                  </a:lnTo>
                  <a:lnTo>
                    <a:pt x="1569339" y="123952"/>
                  </a:lnTo>
                  <a:lnTo>
                    <a:pt x="1551051" y="117856"/>
                  </a:lnTo>
                  <a:lnTo>
                    <a:pt x="1546987" y="115824"/>
                  </a:lnTo>
                  <a:lnTo>
                    <a:pt x="1522603" y="107696"/>
                  </a:lnTo>
                  <a:lnTo>
                    <a:pt x="1518539" y="105664"/>
                  </a:lnTo>
                  <a:lnTo>
                    <a:pt x="1500251" y="99568"/>
                  </a:lnTo>
                  <a:lnTo>
                    <a:pt x="1496187" y="97536"/>
                  </a:lnTo>
                  <a:lnTo>
                    <a:pt x="1471803" y="89408"/>
                  </a:lnTo>
                  <a:lnTo>
                    <a:pt x="1467739" y="87376"/>
                  </a:lnTo>
                  <a:lnTo>
                    <a:pt x="1449451" y="81280"/>
                  </a:lnTo>
                  <a:lnTo>
                    <a:pt x="1445387" y="79248"/>
                  </a:lnTo>
                  <a:lnTo>
                    <a:pt x="1427099" y="73152"/>
                  </a:lnTo>
                  <a:lnTo>
                    <a:pt x="1423035" y="71120"/>
                  </a:lnTo>
                  <a:lnTo>
                    <a:pt x="1398651" y="62992"/>
                  </a:lnTo>
                  <a:lnTo>
                    <a:pt x="1394587" y="60960"/>
                  </a:lnTo>
                  <a:lnTo>
                    <a:pt x="1376299" y="54864"/>
                  </a:lnTo>
                  <a:lnTo>
                    <a:pt x="1372235" y="52832"/>
                  </a:lnTo>
                  <a:lnTo>
                    <a:pt x="1347851" y="44704"/>
                  </a:lnTo>
                  <a:lnTo>
                    <a:pt x="1343787" y="42672"/>
                  </a:lnTo>
                  <a:lnTo>
                    <a:pt x="1325499" y="36576"/>
                  </a:lnTo>
                  <a:lnTo>
                    <a:pt x="1321435" y="34544"/>
                  </a:lnTo>
                  <a:lnTo>
                    <a:pt x="1303147" y="28448"/>
                  </a:lnTo>
                  <a:lnTo>
                    <a:pt x="1299083" y="26416"/>
                  </a:lnTo>
                  <a:lnTo>
                    <a:pt x="1274699" y="18288"/>
                  </a:lnTo>
                  <a:lnTo>
                    <a:pt x="1270635" y="16256"/>
                  </a:lnTo>
                  <a:lnTo>
                    <a:pt x="1252347" y="10160"/>
                  </a:lnTo>
                  <a:lnTo>
                    <a:pt x="1248283" y="8128"/>
                  </a:lnTo>
                  <a:lnTo>
                    <a:pt x="1223899" y="0"/>
                  </a:lnTo>
                  <a:close/>
                </a:path>
              </a:pathLst>
            </a:custGeom>
            <a:blipFill>
              <a:blip r:embed="rId9"/>
              <a:stretch>
                <a:fillRect l="-857" r="-74875"/>
              </a:stretch>
            </a:blipFill>
          </p:spPr>
          <p:txBody>
            <a:bodyPr/>
            <a:lstStyle/>
            <a:p>
              <a:endParaRPr lang="en-SG"/>
            </a:p>
          </p:txBody>
        </p:sp>
      </p:grpSp>
      <p:grpSp>
        <p:nvGrpSpPr>
          <p:cNvPr id="23" name="Group 23"/>
          <p:cNvGrpSpPr/>
          <p:nvPr/>
        </p:nvGrpSpPr>
        <p:grpSpPr>
          <a:xfrm>
            <a:off x="8234172" y="1600200"/>
            <a:ext cx="1456944" cy="96012"/>
            <a:chOff x="0" y="0"/>
            <a:chExt cx="1942592" cy="128016"/>
          </a:xfrm>
        </p:grpSpPr>
        <p:sp>
          <p:nvSpPr>
            <p:cNvPr id="24" name="Freeform 24"/>
            <p:cNvSpPr/>
            <p:nvPr/>
          </p:nvSpPr>
          <p:spPr>
            <a:xfrm>
              <a:off x="0" y="0"/>
              <a:ext cx="1942592" cy="128016"/>
            </a:xfrm>
            <a:custGeom>
              <a:avLst/>
              <a:gdLst/>
              <a:ahLst/>
              <a:cxnLst/>
              <a:rect l="l" t="t" r="r" b="b"/>
              <a:pathLst>
                <a:path w="1942592" h="128016">
                  <a:moveTo>
                    <a:pt x="14224" y="0"/>
                  </a:moveTo>
                  <a:lnTo>
                    <a:pt x="10160" y="12192"/>
                  </a:lnTo>
                  <a:lnTo>
                    <a:pt x="8128" y="16256"/>
                  </a:lnTo>
                  <a:lnTo>
                    <a:pt x="2032" y="34544"/>
                  </a:lnTo>
                  <a:lnTo>
                    <a:pt x="0" y="38608"/>
                  </a:lnTo>
                  <a:lnTo>
                    <a:pt x="24384" y="46736"/>
                  </a:lnTo>
                  <a:lnTo>
                    <a:pt x="28448" y="48768"/>
                  </a:lnTo>
                  <a:lnTo>
                    <a:pt x="46736" y="54864"/>
                  </a:lnTo>
                  <a:lnTo>
                    <a:pt x="50800" y="56896"/>
                  </a:lnTo>
                  <a:lnTo>
                    <a:pt x="75184" y="65024"/>
                  </a:lnTo>
                  <a:lnTo>
                    <a:pt x="79248" y="67056"/>
                  </a:lnTo>
                  <a:lnTo>
                    <a:pt x="97536" y="73152"/>
                  </a:lnTo>
                  <a:lnTo>
                    <a:pt x="101600" y="75184"/>
                  </a:lnTo>
                  <a:lnTo>
                    <a:pt x="125984" y="83312"/>
                  </a:lnTo>
                  <a:lnTo>
                    <a:pt x="130048" y="85344"/>
                  </a:lnTo>
                  <a:lnTo>
                    <a:pt x="148336" y="91440"/>
                  </a:lnTo>
                  <a:lnTo>
                    <a:pt x="152400" y="93472"/>
                  </a:lnTo>
                  <a:lnTo>
                    <a:pt x="170688" y="99568"/>
                  </a:lnTo>
                  <a:lnTo>
                    <a:pt x="174752" y="101600"/>
                  </a:lnTo>
                  <a:lnTo>
                    <a:pt x="199136" y="109728"/>
                  </a:lnTo>
                  <a:lnTo>
                    <a:pt x="203200" y="111760"/>
                  </a:lnTo>
                  <a:lnTo>
                    <a:pt x="221488" y="117856"/>
                  </a:lnTo>
                  <a:lnTo>
                    <a:pt x="225552" y="119888"/>
                  </a:lnTo>
                  <a:lnTo>
                    <a:pt x="249936" y="128016"/>
                  </a:lnTo>
                  <a:lnTo>
                    <a:pt x="1942592" y="128016"/>
                  </a:lnTo>
                  <a:lnTo>
                    <a:pt x="1936496" y="125984"/>
                  </a:lnTo>
                  <a:lnTo>
                    <a:pt x="1932432" y="123952"/>
                  </a:lnTo>
                  <a:lnTo>
                    <a:pt x="1908048" y="115824"/>
                  </a:lnTo>
                  <a:lnTo>
                    <a:pt x="1903984" y="113792"/>
                  </a:lnTo>
                  <a:lnTo>
                    <a:pt x="1885696" y="107696"/>
                  </a:lnTo>
                  <a:lnTo>
                    <a:pt x="1881632" y="105664"/>
                  </a:lnTo>
                  <a:lnTo>
                    <a:pt x="1863344" y="99568"/>
                  </a:lnTo>
                  <a:lnTo>
                    <a:pt x="1859280" y="97536"/>
                  </a:lnTo>
                  <a:lnTo>
                    <a:pt x="1834896" y="89408"/>
                  </a:lnTo>
                  <a:lnTo>
                    <a:pt x="1830832" y="87376"/>
                  </a:lnTo>
                  <a:lnTo>
                    <a:pt x="1812544" y="81280"/>
                  </a:lnTo>
                  <a:lnTo>
                    <a:pt x="1808480" y="79248"/>
                  </a:lnTo>
                  <a:lnTo>
                    <a:pt x="1784096" y="71120"/>
                  </a:lnTo>
                  <a:lnTo>
                    <a:pt x="1780032" y="69088"/>
                  </a:lnTo>
                  <a:lnTo>
                    <a:pt x="1761744" y="62992"/>
                  </a:lnTo>
                  <a:lnTo>
                    <a:pt x="1757680" y="60960"/>
                  </a:lnTo>
                  <a:lnTo>
                    <a:pt x="1739392" y="54864"/>
                  </a:lnTo>
                  <a:lnTo>
                    <a:pt x="1735328" y="52832"/>
                  </a:lnTo>
                  <a:lnTo>
                    <a:pt x="1710944" y="44704"/>
                  </a:lnTo>
                  <a:lnTo>
                    <a:pt x="1706880" y="42672"/>
                  </a:lnTo>
                  <a:lnTo>
                    <a:pt x="1688592" y="36576"/>
                  </a:lnTo>
                  <a:lnTo>
                    <a:pt x="1684528" y="34544"/>
                  </a:lnTo>
                  <a:lnTo>
                    <a:pt x="1660144" y="26416"/>
                  </a:lnTo>
                  <a:lnTo>
                    <a:pt x="1656080" y="24384"/>
                  </a:lnTo>
                  <a:lnTo>
                    <a:pt x="1637792" y="18288"/>
                  </a:lnTo>
                  <a:lnTo>
                    <a:pt x="1633728" y="16256"/>
                  </a:lnTo>
                  <a:lnTo>
                    <a:pt x="1615440" y="10160"/>
                  </a:lnTo>
                  <a:lnTo>
                    <a:pt x="1611376" y="8128"/>
                  </a:lnTo>
                  <a:lnTo>
                    <a:pt x="1586992" y="0"/>
                  </a:lnTo>
                  <a:close/>
                </a:path>
              </a:pathLst>
            </a:custGeom>
            <a:blipFill>
              <a:blip r:embed="rId10"/>
              <a:stretch>
                <a:fillRect r="-42887"/>
              </a:stretch>
            </a:blipFill>
          </p:spPr>
          <p:txBody>
            <a:bodyPr/>
            <a:lstStyle/>
            <a:p>
              <a:endParaRPr lang="en-SG"/>
            </a:p>
          </p:txBody>
        </p:sp>
      </p:grpSp>
      <p:grpSp>
        <p:nvGrpSpPr>
          <p:cNvPr id="25" name="Group 25"/>
          <p:cNvGrpSpPr/>
          <p:nvPr/>
        </p:nvGrpSpPr>
        <p:grpSpPr>
          <a:xfrm>
            <a:off x="8417052" y="1694688"/>
            <a:ext cx="1536192" cy="96012"/>
            <a:chOff x="0" y="0"/>
            <a:chExt cx="2048256" cy="128016"/>
          </a:xfrm>
        </p:grpSpPr>
        <p:sp>
          <p:nvSpPr>
            <p:cNvPr id="26" name="Freeform 26"/>
            <p:cNvSpPr/>
            <p:nvPr/>
          </p:nvSpPr>
          <p:spPr>
            <a:xfrm>
              <a:off x="0" y="0"/>
              <a:ext cx="2048256" cy="128016"/>
            </a:xfrm>
            <a:custGeom>
              <a:avLst/>
              <a:gdLst/>
              <a:ahLst/>
              <a:cxnLst/>
              <a:rect l="l" t="t" r="r" b="b"/>
              <a:pathLst>
                <a:path w="2048256" h="128016">
                  <a:moveTo>
                    <a:pt x="0" y="0"/>
                  </a:moveTo>
                  <a:lnTo>
                    <a:pt x="6096" y="2032"/>
                  </a:lnTo>
                  <a:lnTo>
                    <a:pt x="10160" y="4064"/>
                  </a:lnTo>
                  <a:lnTo>
                    <a:pt x="28448" y="10160"/>
                  </a:lnTo>
                  <a:lnTo>
                    <a:pt x="32512" y="12192"/>
                  </a:lnTo>
                  <a:lnTo>
                    <a:pt x="50800" y="18288"/>
                  </a:lnTo>
                  <a:lnTo>
                    <a:pt x="54864" y="20320"/>
                  </a:lnTo>
                  <a:lnTo>
                    <a:pt x="79248" y="28448"/>
                  </a:lnTo>
                  <a:lnTo>
                    <a:pt x="83312" y="30480"/>
                  </a:lnTo>
                  <a:lnTo>
                    <a:pt x="101600" y="36576"/>
                  </a:lnTo>
                  <a:lnTo>
                    <a:pt x="105664" y="38608"/>
                  </a:lnTo>
                  <a:lnTo>
                    <a:pt x="130048" y="46736"/>
                  </a:lnTo>
                  <a:lnTo>
                    <a:pt x="134112" y="48768"/>
                  </a:lnTo>
                  <a:lnTo>
                    <a:pt x="152400" y="54864"/>
                  </a:lnTo>
                  <a:lnTo>
                    <a:pt x="156464" y="56896"/>
                  </a:lnTo>
                  <a:lnTo>
                    <a:pt x="174752" y="62992"/>
                  </a:lnTo>
                  <a:lnTo>
                    <a:pt x="178816" y="65024"/>
                  </a:lnTo>
                  <a:lnTo>
                    <a:pt x="203200" y="73152"/>
                  </a:lnTo>
                  <a:lnTo>
                    <a:pt x="207264" y="75184"/>
                  </a:lnTo>
                  <a:lnTo>
                    <a:pt x="225552" y="81280"/>
                  </a:lnTo>
                  <a:lnTo>
                    <a:pt x="229616" y="83312"/>
                  </a:lnTo>
                  <a:lnTo>
                    <a:pt x="254000" y="91440"/>
                  </a:lnTo>
                  <a:lnTo>
                    <a:pt x="258064" y="93472"/>
                  </a:lnTo>
                  <a:lnTo>
                    <a:pt x="276352" y="99568"/>
                  </a:lnTo>
                  <a:lnTo>
                    <a:pt x="280416" y="101600"/>
                  </a:lnTo>
                  <a:lnTo>
                    <a:pt x="298704" y="107696"/>
                  </a:lnTo>
                  <a:lnTo>
                    <a:pt x="302768" y="109728"/>
                  </a:lnTo>
                  <a:lnTo>
                    <a:pt x="327152" y="117856"/>
                  </a:lnTo>
                  <a:lnTo>
                    <a:pt x="331216" y="119888"/>
                  </a:lnTo>
                  <a:lnTo>
                    <a:pt x="349504" y="125984"/>
                  </a:lnTo>
                  <a:lnTo>
                    <a:pt x="353568" y="128016"/>
                  </a:lnTo>
                  <a:lnTo>
                    <a:pt x="2048256" y="128016"/>
                  </a:lnTo>
                  <a:lnTo>
                    <a:pt x="2036064" y="123952"/>
                  </a:lnTo>
                  <a:lnTo>
                    <a:pt x="2032000" y="121920"/>
                  </a:lnTo>
                  <a:lnTo>
                    <a:pt x="2013712" y="115824"/>
                  </a:lnTo>
                  <a:lnTo>
                    <a:pt x="2009648" y="113792"/>
                  </a:lnTo>
                  <a:lnTo>
                    <a:pt x="1991360" y="107696"/>
                  </a:lnTo>
                  <a:lnTo>
                    <a:pt x="1987296" y="105664"/>
                  </a:lnTo>
                  <a:lnTo>
                    <a:pt x="1962912" y="97536"/>
                  </a:lnTo>
                  <a:lnTo>
                    <a:pt x="1958848" y="95504"/>
                  </a:lnTo>
                  <a:lnTo>
                    <a:pt x="1940560" y="89408"/>
                  </a:lnTo>
                  <a:lnTo>
                    <a:pt x="1936496" y="87376"/>
                  </a:lnTo>
                  <a:lnTo>
                    <a:pt x="1912112" y="79248"/>
                  </a:lnTo>
                  <a:lnTo>
                    <a:pt x="1908048" y="77216"/>
                  </a:lnTo>
                  <a:lnTo>
                    <a:pt x="1889760" y="71120"/>
                  </a:lnTo>
                  <a:lnTo>
                    <a:pt x="1885696" y="69088"/>
                  </a:lnTo>
                  <a:lnTo>
                    <a:pt x="1867408" y="62992"/>
                  </a:lnTo>
                  <a:lnTo>
                    <a:pt x="1863344" y="60960"/>
                  </a:lnTo>
                  <a:lnTo>
                    <a:pt x="1838960" y="52832"/>
                  </a:lnTo>
                  <a:lnTo>
                    <a:pt x="1834896" y="50800"/>
                  </a:lnTo>
                  <a:lnTo>
                    <a:pt x="1816608" y="44704"/>
                  </a:lnTo>
                  <a:lnTo>
                    <a:pt x="1812544" y="42672"/>
                  </a:lnTo>
                  <a:lnTo>
                    <a:pt x="1788160" y="34544"/>
                  </a:lnTo>
                  <a:lnTo>
                    <a:pt x="1784096" y="32512"/>
                  </a:lnTo>
                  <a:lnTo>
                    <a:pt x="1765808" y="26416"/>
                  </a:lnTo>
                  <a:lnTo>
                    <a:pt x="1761744" y="24384"/>
                  </a:lnTo>
                  <a:lnTo>
                    <a:pt x="1743456" y="18288"/>
                  </a:lnTo>
                  <a:lnTo>
                    <a:pt x="1739392" y="16256"/>
                  </a:lnTo>
                  <a:lnTo>
                    <a:pt x="1715008" y="8128"/>
                  </a:lnTo>
                  <a:lnTo>
                    <a:pt x="1710944" y="6096"/>
                  </a:lnTo>
                  <a:lnTo>
                    <a:pt x="1692656" y="0"/>
                  </a:lnTo>
                  <a:close/>
                </a:path>
              </a:pathLst>
            </a:custGeom>
            <a:blipFill>
              <a:blip r:embed="rId11"/>
              <a:stretch>
                <a:fillRect l="-11904" r="-23611"/>
              </a:stretch>
            </a:blipFill>
          </p:spPr>
          <p:txBody>
            <a:bodyPr/>
            <a:lstStyle/>
            <a:p>
              <a:endParaRPr lang="en-SG"/>
            </a:p>
          </p:txBody>
        </p:sp>
      </p:grpSp>
      <p:grpSp>
        <p:nvGrpSpPr>
          <p:cNvPr id="27" name="Group 27"/>
          <p:cNvGrpSpPr/>
          <p:nvPr/>
        </p:nvGrpSpPr>
        <p:grpSpPr>
          <a:xfrm>
            <a:off x="8679180" y="1789176"/>
            <a:ext cx="1536192" cy="96012"/>
            <a:chOff x="0" y="0"/>
            <a:chExt cx="2048256" cy="128016"/>
          </a:xfrm>
        </p:grpSpPr>
        <p:sp>
          <p:nvSpPr>
            <p:cNvPr id="28" name="Freeform 28"/>
            <p:cNvSpPr/>
            <p:nvPr/>
          </p:nvSpPr>
          <p:spPr>
            <a:xfrm>
              <a:off x="0" y="0"/>
              <a:ext cx="2048256" cy="128016"/>
            </a:xfrm>
            <a:custGeom>
              <a:avLst/>
              <a:gdLst/>
              <a:ahLst/>
              <a:cxnLst/>
              <a:rect l="l" t="t" r="r" b="b"/>
              <a:pathLst>
                <a:path w="2048256" h="128016">
                  <a:moveTo>
                    <a:pt x="0" y="0"/>
                  </a:moveTo>
                  <a:lnTo>
                    <a:pt x="4064" y="2032"/>
                  </a:lnTo>
                  <a:lnTo>
                    <a:pt x="28448" y="10160"/>
                  </a:lnTo>
                  <a:lnTo>
                    <a:pt x="32512" y="12192"/>
                  </a:lnTo>
                  <a:lnTo>
                    <a:pt x="50800" y="18288"/>
                  </a:lnTo>
                  <a:lnTo>
                    <a:pt x="54864" y="20320"/>
                  </a:lnTo>
                  <a:lnTo>
                    <a:pt x="73152" y="26416"/>
                  </a:lnTo>
                  <a:lnTo>
                    <a:pt x="77216" y="28448"/>
                  </a:lnTo>
                  <a:lnTo>
                    <a:pt x="101600" y="36576"/>
                  </a:lnTo>
                  <a:lnTo>
                    <a:pt x="105664" y="38608"/>
                  </a:lnTo>
                  <a:lnTo>
                    <a:pt x="123952" y="44704"/>
                  </a:lnTo>
                  <a:lnTo>
                    <a:pt x="128016" y="46736"/>
                  </a:lnTo>
                  <a:lnTo>
                    <a:pt x="152400" y="54864"/>
                  </a:lnTo>
                  <a:lnTo>
                    <a:pt x="156464" y="56896"/>
                  </a:lnTo>
                  <a:lnTo>
                    <a:pt x="174752" y="62992"/>
                  </a:lnTo>
                  <a:lnTo>
                    <a:pt x="178816" y="65024"/>
                  </a:lnTo>
                  <a:lnTo>
                    <a:pt x="197104" y="71120"/>
                  </a:lnTo>
                  <a:lnTo>
                    <a:pt x="201168" y="73152"/>
                  </a:lnTo>
                  <a:lnTo>
                    <a:pt x="225552" y="81280"/>
                  </a:lnTo>
                  <a:lnTo>
                    <a:pt x="229616" y="83312"/>
                  </a:lnTo>
                  <a:lnTo>
                    <a:pt x="247904" y="89408"/>
                  </a:lnTo>
                  <a:lnTo>
                    <a:pt x="251968" y="91440"/>
                  </a:lnTo>
                  <a:lnTo>
                    <a:pt x="276352" y="99568"/>
                  </a:lnTo>
                  <a:lnTo>
                    <a:pt x="280416" y="101600"/>
                  </a:lnTo>
                  <a:lnTo>
                    <a:pt x="298704" y="107696"/>
                  </a:lnTo>
                  <a:lnTo>
                    <a:pt x="302768" y="109728"/>
                  </a:lnTo>
                  <a:lnTo>
                    <a:pt x="321056" y="115824"/>
                  </a:lnTo>
                  <a:lnTo>
                    <a:pt x="325120" y="117856"/>
                  </a:lnTo>
                  <a:lnTo>
                    <a:pt x="349504" y="125984"/>
                  </a:lnTo>
                  <a:lnTo>
                    <a:pt x="353568" y="128016"/>
                  </a:lnTo>
                  <a:lnTo>
                    <a:pt x="2048256" y="128016"/>
                  </a:lnTo>
                  <a:lnTo>
                    <a:pt x="2036064" y="123952"/>
                  </a:lnTo>
                  <a:lnTo>
                    <a:pt x="2032000" y="121920"/>
                  </a:lnTo>
                  <a:lnTo>
                    <a:pt x="2013712" y="115824"/>
                  </a:lnTo>
                  <a:lnTo>
                    <a:pt x="2009648" y="113792"/>
                  </a:lnTo>
                  <a:lnTo>
                    <a:pt x="1985264" y="105664"/>
                  </a:lnTo>
                  <a:lnTo>
                    <a:pt x="1981200" y="103632"/>
                  </a:lnTo>
                  <a:lnTo>
                    <a:pt x="1962912" y="97536"/>
                  </a:lnTo>
                  <a:lnTo>
                    <a:pt x="1958848" y="95504"/>
                  </a:lnTo>
                  <a:lnTo>
                    <a:pt x="1934464" y="87376"/>
                  </a:lnTo>
                  <a:lnTo>
                    <a:pt x="1930400" y="85344"/>
                  </a:lnTo>
                  <a:lnTo>
                    <a:pt x="1912112" y="79248"/>
                  </a:lnTo>
                  <a:lnTo>
                    <a:pt x="1908048" y="77216"/>
                  </a:lnTo>
                  <a:lnTo>
                    <a:pt x="1889760" y="71120"/>
                  </a:lnTo>
                  <a:lnTo>
                    <a:pt x="1885696" y="69088"/>
                  </a:lnTo>
                  <a:lnTo>
                    <a:pt x="1861312" y="60960"/>
                  </a:lnTo>
                  <a:lnTo>
                    <a:pt x="1857248" y="58928"/>
                  </a:lnTo>
                  <a:lnTo>
                    <a:pt x="1838960" y="52832"/>
                  </a:lnTo>
                  <a:lnTo>
                    <a:pt x="1834896" y="50800"/>
                  </a:lnTo>
                  <a:lnTo>
                    <a:pt x="1810512" y="42672"/>
                  </a:lnTo>
                  <a:lnTo>
                    <a:pt x="1806448" y="40640"/>
                  </a:lnTo>
                  <a:lnTo>
                    <a:pt x="1788160" y="34544"/>
                  </a:lnTo>
                  <a:lnTo>
                    <a:pt x="1784096" y="32512"/>
                  </a:lnTo>
                  <a:lnTo>
                    <a:pt x="1765808" y="26416"/>
                  </a:lnTo>
                  <a:lnTo>
                    <a:pt x="1761744" y="24384"/>
                  </a:lnTo>
                  <a:lnTo>
                    <a:pt x="1737360" y="16256"/>
                  </a:lnTo>
                  <a:lnTo>
                    <a:pt x="1733296" y="14224"/>
                  </a:lnTo>
                  <a:lnTo>
                    <a:pt x="1715008" y="8128"/>
                  </a:lnTo>
                  <a:lnTo>
                    <a:pt x="1710944" y="6096"/>
                  </a:lnTo>
                  <a:lnTo>
                    <a:pt x="1692656" y="0"/>
                  </a:lnTo>
                  <a:close/>
                </a:path>
              </a:pathLst>
            </a:custGeom>
            <a:blipFill>
              <a:blip r:embed="rId12"/>
              <a:stretch>
                <a:fillRect l="-28968" r="-6547"/>
              </a:stretch>
            </a:blipFill>
          </p:spPr>
          <p:txBody>
            <a:bodyPr/>
            <a:lstStyle/>
            <a:p>
              <a:endParaRPr lang="en-SG"/>
            </a:p>
          </p:txBody>
        </p:sp>
      </p:grpSp>
      <p:grpSp>
        <p:nvGrpSpPr>
          <p:cNvPr id="29" name="Group 29"/>
          <p:cNvGrpSpPr/>
          <p:nvPr/>
        </p:nvGrpSpPr>
        <p:grpSpPr>
          <a:xfrm>
            <a:off x="8941308" y="1883664"/>
            <a:ext cx="1374648" cy="96012"/>
            <a:chOff x="0" y="0"/>
            <a:chExt cx="1832864" cy="128016"/>
          </a:xfrm>
        </p:grpSpPr>
        <p:sp>
          <p:nvSpPr>
            <p:cNvPr id="30" name="Freeform 30"/>
            <p:cNvSpPr/>
            <p:nvPr/>
          </p:nvSpPr>
          <p:spPr>
            <a:xfrm>
              <a:off x="0" y="0"/>
              <a:ext cx="1832864" cy="128016"/>
            </a:xfrm>
            <a:custGeom>
              <a:avLst/>
              <a:gdLst/>
              <a:ahLst/>
              <a:cxnLst/>
              <a:rect l="l" t="t" r="r" b="b"/>
              <a:pathLst>
                <a:path w="1832864" h="128016">
                  <a:moveTo>
                    <a:pt x="0" y="0"/>
                  </a:moveTo>
                  <a:lnTo>
                    <a:pt x="4064" y="2032"/>
                  </a:lnTo>
                  <a:lnTo>
                    <a:pt x="22352" y="8128"/>
                  </a:lnTo>
                  <a:lnTo>
                    <a:pt x="26416" y="10160"/>
                  </a:lnTo>
                  <a:lnTo>
                    <a:pt x="50800" y="18288"/>
                  </a:lnTo>
                  <a:lnTo>
                    <a:pt x="54864" y="20320"/>
                  </a:lnTo>
                  <a:lnTo>
                    <a:pt x="73152" y="26416"/>
                  </a:lnTo>
                  <a:lnTo>
                    <a:pt x="77216" y="28448"/>
                  </a:lnTo>
                  <a:lnTo>
                    <a:pt x="95504" y="34544"/>
                  </a:lnTo>
                  <a:lnTo>
                    <a:pt x="99568" y="36576"/>
                  </a:lnTo>
                  <a:lnTo>
                    <a:pt x="123952" y="44704"/>
                  </a:lnTo>
                  <a:lnTo>
                    <a:pt x="128016" y="46736"/>
                  </a:lnTo>
                  <a:lnTo>
                    <a:pt x="146304" y="52832"/>
                  </a:lnTo>
                  <a:lnTo>
                    <a:pt x="150368" y="54864"/>
                  </a:lnTo>
                  <a:lnTo>
                    <a:pt x="174752" y="62992"/>
                  </a:lnTo>
                  <a:lnTo>
                    <a:pt x="178816" y="65024"/>
                  </a:lnTo>
                  <a:lnTo>
                    <a:pt x="197104" y="71120"/>
                  </a:lnTo>
                  <a:lnTo>
                    <a:pt x="201168" y="73152"/>
                  </a:lnTo>
                  <a:lnTo>
                    <a:pt x="219456" y="79248"/>
                  </a:lnTo>
                  <a:lnTo>
                    <a:pt x="223520" y="81280"/>
                  </a:lnTo>
                  <a:lnTo>
                    <a:pt x="247904" y="89408"/>
                  </a:lnTo>
                  <a:lnTo>
                    <a:pt x="251968" y="91440"/>
                  </a:lnTo>
                  <a:lnTo>
                    <a:pt x="270256" y="97536"/>
                  </a:lnTo>
                  <a:lnTo>
                    <a:pt x="274320" y="99568"/>
                  </a:lnTo>
                  <a:lnTo>
                    <a:pt x="298704" y="107696"/>
                  </a:lnTo>
                  <a:lnTo>
                    <a:pt x="302768" y="109728"/>
                  </a:lnTo>
                  <a:lnTo>
                    <a:pt x="321056" y="115824"/>
                  </a:lnTo>
                  <a:lnTo>
                    <a:pt x="325120" y="117856"/>
                  </a:lnTo>
                  <a:lnTo>
                    <a:pt x="343408" y="123952"/>
                  </a:lnTo>
                  <a:lnTo>
                    <a:pt x="347472" y="125984"/>
                  </a:lnTo>
                  <a:lnTo>
                    <a:pt x="353568" y="128016"/>
                  </a:lnTo>
                  <a:lnTo>
                    <a:pt x="1805432" y="128016"/>
                  </a:lnTo>
                  <a:lnTo>
                    <a:pt x="1806448" y="125984"/>
                  </a:lnTo>
                  <a:lnTo>
                    <a:pt x="1814576" y="101600"/>
                  </a:lnTo>
                  <a:lnTo>
                    <a:pt x="1816608" y="97536"/>
                  </a:lnTo>
                  <a:lnTo>
                    <a:pt x="1822704" y="79248"/>
                  </a:lnTo>
                  <a:lnTo>
                    <a:pt x="1824736" y="75184"/>
                  </a:lnTo>
                  <a:lnTo>
                    <a:pt x="1832864" y="50800"/>
                  </a:lnTo>
                  <a:lnTo>
                    <a:pt x="1828800" y="48768"/>
                  </a:lnTo>
                  <a:lnTo>
                    <a:pt x="1810512" y="42672"/>
                  </a:lnTo>
                  <a:lnTo>
                    <a:pt x="1806448" y="40640"/>
                  </a:lnTo>
                  <a:lnTo>
                    <a:pt x="1788160" y="34544"/>
                  </a:lnTo>
                  <a:lnTo>
                    <a:pt x="1784096" y="32512"/>
                  </a:lnTo>
                  <a:lnTo>
                    <a:pt x="1759712" y="24384"/>
                  </a:lnTo>
                  <a:lnTo>
                    <a:pt x="1755648" y="22352"/>
                  </a:lnTo>
                  <a:lnTo>
                    <a:pt x="1737360" y="16256"/>
                  </a:lnTo>
                  <a:lnTo>
                    <a:pt x="1733296" y="14224"/>
                  </a:lnTo>
                  <a:lnTo>
                    <a:pt x="1708912" y="6096"/>
                  </a:lnTo>
                  <a:lnTo>
                    <a:pt x="1704848" y="4064"/>
                  </a:lnTo>
                  <a:lnTo>
                    <a:pt x="1692656" y="0"/>
                  </a:lnTo>
                  <a:close/>
                </a:path>
              </a:pathLst>
            </a:custGeom>
            <a:blipFill>
              <a:blip r:embed="rId13"/>
              <a:stretch>
                <a:fillRect l="-51441"/>
              </a:stretch>
            </a:blipFill>
          </p:spPr>
          <p:txBody>
            <a:bodyPr/>
            <a:lstStyle/>
            <a:p>
              <a:endParaRPr lang="en-SG"/>
            </a:p>
          </p:txBody>
        </p:sp>
      </p:grpSp>
      <p:grpSp>
        <p:nvGrpSpPr>
          <p:cNvPr id="31" name="Group 31"/>
          <p:cNvGrpSpPr/>
          <p:nvPr/>
        </p:nvGrpSpPr>
        <p:grpSpPr>
          <a:xfrm>
            <a:off x="9201912" y="1978152"/>
            <a:ext cx="1094232" cy="96012"/>
            <a:chOff x="0" y="0"/>
            <a:chExt cx="1458976" cy="128016"/>
          </a:xfrm>
        </p:grpSpPr>
        <p:sp>
          <p:nvSpPr>
            <p:cNvPr id="32" name="Freeform 32"/>
            <p:cNvSpPr/>
            <p:nvPr/>
          </p:nvSpPr>
          <p:spPr>
            <a:xfrm>
              <a:off x="0" y="0"/>
              <a:ext cx="1458976" cy="128016"/>
            </a:xfrm>
            <a:custGeom>
              <a:avLst/>
              <a:gdLst/>
              <a:ahLst/>
              <a:cxnLst/>
              <a:rect l="l" t="t" r="r" b="b"/>
              <a:pathLst>
                <a:path w="1458976" h="128016">
                  <a:moveTo>
                    <a:pt x="0" y="0"/>
                  </a:moveTo>
                  <a:lnTo>
                    <a:pt x="24384" y="8128"/>
                  </a:lnTo>
                  <a:lnTo>
                    <a:pt x="28448" y="10160"/>
                  </a:lnTo>
                  <a:lnTo>
                    <a:pt x="46736" y="16256"/>
                  </a:lnTo>
                  <a:lnTo>
                    <a:pt x="50800" y="18288"/>
                  </a:lnTo>
                  <a:lnTo>
                    <a:pt x="75184" y="26416"/>
                  </a:lnTo>
                  <a:lnTo>
                    <a:pt x="79248" y="28448"/>
                  </a:lnTo>
                  <a:lnTo>
                    <a:pt x="97536" y="34544"/>
                  </a:lnTo>
                  <a:lnTo>
                    <a:pt x="101600" y="36576"/>
                  </a:lnTo>
                  <a:lnTo>
                    <a:pt x="125984" y="44704"/>
                  </a:lnTo>
                  <a:lnTo>
                    <a:pt x="130048" y="46736"/>
                  </a:lnTo>
                  <a:lnTo>
                    <a:pt x="148336" y="52832"/>
                  </a:lnTo>
                  <a:lnTo>
                    <a:pt x="152400" y="54864"/>
                  </a:lnTo>
                  <a:lnTo>
                    <a:pt x="170688" y="60960"/>
                  </a:lnTo>
                  <a:lnTo>
                    <a:pt x="174752" y="62992"/>
                  </a:lnTo>
                  <a:lnTo>
                    <a:pt x="199136" y="71120"/>
                  </a:lnTo>
                  <a:lnTo>
                    <a:pt x="203200" y="73152"/>
                  </a:lnTo>
                  <a:lnTo>
                    <a:pt x="221488" y="79248"/>
                  </a:lnTo>
                  <a:lnTo>
                    <a:pt x="225552" y="81280"/>
                  </a:lnTo>
                  <a:lnTo>
                    <a:pt x="249936" y="89408"/>
                  </a:lnTo>
                  <a:lnTo>
                    <a:pt x="254000" y="91440"/>
                  </a:lnTo>
                  <a:lnTo>
                    <a:pt x="272288" y="97536"/>
                  </a:lnTo>
                  <a:lnTo>
                    <a:pt x="276352" y="99568"/>
                  </a:lnTo>
                  <a:lnTo>
                    <a:pt x="294640" y="105664"/>
                  </a:lnTo>
                  <a:lnTo>
                    <a:pt x="298704" y="107696"/>
                  </a:lnTo>
                  <a:lnTo>
                    <a:pt x="323088" y="115824"/>
                  </a:lnTo>
                  <a:lnTo>
                    <a:pt x="327152" y="117856"/>
                  </a:lnTo>
                  <a:lnTo>
                    <a:pt x="345440" y="123952"/>
                  </a:lnTo>
                  <a:lnTo>
                    <a:pt x="349504" y="125984"/>
                  </a:lnTo>
                  <a:lnTo>
                    <a:pt x="355600" y="128016"/>
                  </a:lnTo>
                  <a:lnTo>
                    <a:pt x="1412240" y="128016"/>
                  </a:lnTo>
                  <a:lnTo>
                    <a:pt x="1414272" y="121920"/>
                  </a:lnTo>
                  <a:lnTo>
                    <a:pt x="1416304" y="117856"/>
                  </a:lnTo>
                  <a:lnTo>
                    <a:pt x="1422400" y="99568"/>
                  </a:lnTo>
                  <a:lnTo>
                    <a:pt x="1424432" y="95504"/>
                  </a:lnTo>
                  <a:lnTo>
                    <a:pt x="1430528" y="77216"/>
                  </a:lnTo>
                  <a:lnTo>
                    <a:pt x="1432560" y="73152"/>
                  </a:lnTo>
                  <a:lnTo>
                    <a:pt x="1440688" y="48768"/>
                  </a:lnTo>
                  <a:lnTo>
                    <a:pt x="1442720" y="44704"/>
                  </a:lnTo>
                  <a:lnTo>
                    <a:pt x="1448816" y="26416"/>
                  </a:lnTo>
                  <a:lnTo>
                    <a:pt x="1450848" y="22352"/>
                  </a:lnTo>
                  <a:lnTo>
                    <a:pt x="1456944" y="4064"/>
                  </a:lnTo>
                  <a:lnTo>
                    <a:pt x="1458976" y="0"/>
                  </a:lnTo>
                  <a:close/>
                </a:path>
              </a:pathLst>
            </a:custGeom>
            <a:blipFill>
              <a:blip r:embed="rId14"/>
              <a:stretch>
                <a:fillRect l="-88440" r="-1810"/>
              </a:stretch>
            </a:blipFill>
          </p:spPr>
          <p:txBody>
            <a:bodyPr/>
            <a:lstStyle/>
            <a:p>
              <a:endParaRPr lang="en-SG"/>
            </a:p>
          </p:txBody>
        </p:sp>
      </p:grpSp>
      <p:grpSp>
        <p:nvGrpSpPr>
          <p:cNvPr id="33" name="Group 33"/>
          <p:cNvGrpSpPr/>
          <p:nvPr/>
        </p:nvGrpSpPr>
        <p:grpSpPr>
          <a:xfrm>
            <a:off x="9464040" y="2072640"/>
            <a:ext cx="797557" cy="96012"/>
            <a:chOff x="0" y="0"/>
            <a:chExt cx="1063409" cy="128016"/>
          </a:xfrm>
        </p:grpSpPr>
        <p:sp>
          <p:nvSpPr>
            <p:cNvPr id="34" name="Freeform 34"/>
            <p:cNvSpPr/>
            <p:nvPr/>
          </p:nvSpPr>
          <p:spPr>
            <a:xfrm>
              <a:off x="0" y="0"/>
              <a:ext cx="1063371" cy="128016"/>
            </a:xfrm>
            <a:custGeom>
              <a:avLst/>
              <a:gdLst/>
              <a:ahLst/>
              <a:cxnLst/>
              <a:rect l="l" t="t" r="r" b="b"/>
              <a:pathLst>
                <a:path w="1063371" h="128016">
                  <a:moveTo>
                    <a:pt x="0" y="0"/>
                  </a:moveTo>
                  <a:lnTo>
                    <a:pt x="24384" y="8128"/>
                  </a:lnTo>
                  <a:lnTo>
                    <a:pt x="28448" y="10160"/>
                  </a:lnTo>
                  <a:lnTo>
                    <a:pt x="46736" y="16256"/>
                  </a:lnTo>
                  <a:lnTo>
                    <a:pt x="50800" y="18288"/>
                  </a:lnTo>
                  <a:lnTo>
                    <a:pt x="69088" y="24384"/>
                  </a:lnTo>
                  <a:lnTo>
                    <a:pt x="73152" y="26416"/>
                  </a:lnTo>
                  <a:lnTo>
                    <a:pt x="97536" y="34544"/>
                  </a:lnTo>
                  <a:lnTo>
                    <a:pt x="101600" y="36576"/>
                  </a:lnTo>
                  <a:lnTo>
                    <a:pt x="119888" y="42672"/>
                  </a:lnTo>
                  <a:lnTo>
                    <a:pt x="123952" y="44704"/>
                  </a:lnTo>
                  <a:lnTo>
                    <a:pt x="148336" y="52832"/>
                  </a:lnTo>
                  <a:lnTo>
                    <a:pt x="152400" y="54864"/>
                  </a:lnTo>
                  <a:lnTo>
                    <a:pt x="170688" y="60960"/>
                  </a:lnTo>
                  <a:lnTo>
                    <a:pt x="174752" y="62992"/>
                  </a:lnTo>
                  <a:lnTo>
                    <a:pt x="193040" y="69088"/>
                  </a:lnTo>
                  <a:lnTo>
                    <a:pt x="197104" y="71120"/>
                  </a:lnTo>
                  <a:lnTo>
                    <a:pt x="221488" y="79248"/>
                  </a:lnTo>
                  <a:lnTo>
                    <a:pt x="225552" y="81280"/>
                  </a:lnTo>
                  <a:lnTo>
                    <a:pt x="243840" y="87376"/>
                  </a:lnTo>
                  <a:lnTo>
                    <a:pt x="247904" y="89408"/>
                  </a:lnTo>
                  <a:lnTo>
                    <a:pt x="272288" y="97536"/>
                  </a:lnTo>
                  <a:lnTo>
                    <a:pt x="276352" y="99568"/>
                  </a:lnTo>
                  <a:lnTo>
                    <a:pt x="294640" y="105664"/>
                  </a:lnTo>
                  <a:lnTo>
                    <a:pt x="298704" y="107696"/>
                  </a:lnTo>
                  <a:lnTo>
                    <a:pt x="316992" y="113792"/>
                  </a:lnTo>
                  <a:lnTo>
                    <a:pt x="321056" y="115824"/>
                  </a:lnTo>
                  <a:lnTo>
                    <a:pt x="345440" y="123952"/>
                  </a:lnTo>
                  <a:lnTo>
                    <a:pt x="349504" y="125984"/>
                  </a:lnTo>
                  <a:lnTo>
                    <a:pt x="355600" y="128016"/>
                  </a:lnTo>
                  <a:lnTo>
                    <a:pt x="1017397" y="128016"/>
                  </a:lnTo>
                  <a:lnTo>
                    <a:pt x="1020064" y="119888"/>
                  </a:lnTo>
                  <a:lnTo>
                    <a:pt x="1022096" y="115824"/>
                  </a:lnTo>
                  <a:lnTo>
                    <a:pt x="1028192" y="97536"/>
                  </a:lnTo>
                  <a:lnTo>
                    <a:pt x="1030224" y="93472"/>
                  </a:lnTo>
                  <a:lnTo>
                    <a:pt x="1038352" y="69088"/>
                  </a:lnTo>
                  <a:lnTo>
                    <a:pt x="1040384" y="65024"/>
                  </a:lnTo>
                  <a:lnTo>
                    <a:pt x="1046480" y="46736"/>
                  </a:lnTo>
                  <a:lnTo>
                    <a:pt x="1048512" y="42672"/>
                  </a:lnTo>
                  <a:lnTo>
                    <a:pt x="1054608" y="24384"/>
                  </a:lnTo>
                  <a:lnTo>
                    <a:pt x="1056640" y="20320"/>
                  </a:lnTo>
                  <a:lnTo>
                    <a:pt x="1063371" y="0"/>
                  </a:lnTo>
                  <a:close/>
                </a:path>
              </a:pathLst>
            </a:custGeom>
            <a:blipFill>
              <a:blip r:embed="rId15"/>
              <a:stretch>
                <a:fillRect l="-154209" r="-6819"/>
              </a:stretch>
            </a:blipFill>
          </p:spPr>
          <p:txBody>
            <a:bodyPr/>
            <a:lstStyle/>
            <a:p>
              <a:endParaRPr lang="en-SG"/>
            </a:p>
          </p:txBody>
        </p:sp>
      </p:grpSp>
      <p:grpSp>
        <p:nvGrpSpPr>
          <p:cNvPr id="35" name="Group 35"/>
          <p:cNvGrpSpPr/>
          <p:nvPr/>
        </p:nvGrpSpPr>
        <p:grpSpPr>
          <a:xfrm>
            <a:off x="9726168" y="2167128"/>
            <a:ext cx="501396" cy="96012"/>
            <a:chOff x="0" y="0"/>
            <a:chExt cx="668528" cy="128016"/>
          </a:xfrm>
        </p:grpSpPr>
        <p:sp>
          <p:nvSpPr>
            <p:cNvPr id="36" name="Freeform 36"/>
            <p:cNvSpPr/>
            <p:nvPr/>
          </p:nvSpPr>
          <p:spPr>
            <a:xfrm>
              <a:off x="0" y="0"/>
              <a:ext cx="668528" cy="128016"/>
            </a:xfrm>
            <a:custGeom>
              <a:avLst/>
              <a:gdLst/>
              <a:ahLst/>
              <a:cxnLst/>
              <a:rect l="l" t="t" r="r" b="b"/>
              <a:pathLst>
                <a:path w="668528" h="128016">
                  <a:moveTo>
                    <a:pt x="0" y="0"/>
                  </a:moveTo>
                  <a:lnTo>
                    <a:pt x="18288" y="6096"/>
                  </a:lnTo>
                  <a:lnTo>
                    <a:pt x="22352" y="8128"/>
                  </a:lnTo>
                  <a:lnTo>
                    <a:pt x="46736" y="16256"/>
                  </a:lnTo>
                  <a:lnTo>
                    <a:pt x="50800" y="18288"/>
                  </a:lnTo>
                  <a:lnTo>
                    <a:pt x="69088" y="24384"/>
                  </a:lnTo>
                  <a:lnTo>
                    <a:pt x="73152" y="26416"/>
                  </a:lnTo>
                  <a:lnTo>
                    <a:pt x="91440" y="32512"/>
                  </a:lnTo>
                  <a:lnTo>
                    <a:pt x="95504" y="34544"/>
                  </a:lnTo>
                  <a:lnTo>
                    <a:pt x="119888" y="42672"/>
                  </a:lnTo>
                  <a:lnTo>
                    <a:pt x="123952" y="44704"/>
                  </a:lnTo>
                  <a:lnTo>
                    <a:pt x="142240" y="50800"/>
                  </a:lnTo>
                  <a:lnTo>
                    <a:pt x="146304" y="52832"/>
                  </a:lnTo>
                  <a:lnTo>
                    <a:pt x="170688" y="60960"/>
                  </a:lnTo>
                  <a:lnTo>
                    <a:pt x="174752" y="62992"/>
                  </a:lnTo>
                  <a:lnTo>
                    <a:pt x="193040" y="69088"/>
                  </a:lnTo>
                  <a:lnTo>
                    <a:pt x="197104" y="71120"/>
                  </a:lnTo>
                  <a:lnTo>
                    <a:pt x="215392" y="77216"/>
                  </a:lnTo>
                  <a:lnTo>
                    <a:pt x="219456" y="79248"/>
                  </a:lnTo>
                  <a:lnTo>
                    <a:pt x="243840" y="87376"/>
                  </a:lnTo>
                  <a:lnTo>
                    <a:pt x="247904" y="89408"/>
                  </a:lnTo>
                  <a:lnTo>
                    <a:pt x="266192" y="95504"/>
                  </a:lnTo>
                  <a:lnTo>
                    <a:pt x="270256" y="97536"/>
                  </a:lnTo>
                  <a:lnTo>
                    <a:pt x="294640" y="105664"/>
                  </a:lnTo>
                  <a:lnTo>
                    <a:pt x="298704" y="107696"/>
                  </a:lnTo>
                  <a:lnTo>
                    <a:pt x="316992" y="113792"/>
                  </a:lnTo>
                  <a:lnTo>
                    <a:pt x="321056" y="115824"/>
                  </a:lnTo>
                  <a:lnTo>
                    <a:pt x="339344" y="121920"/>
                  </a:lnTo>
                  <a:lnTo>
                    <a:pt x="343408" y="123952"/>
                  </a:lnTo>
                  <a:lnTo>
                    <a:pt x="355600" y="128016"/>
                  </a:lnTo>
                  <a:lnTo>
                    <a:pt x="622427" y="128016"/>
                  </a:lnTo>
                  <a:lnTo>
                    <a:pt x="625856" y="117856"/>
                  </a:lnTo>
                  <a:lnTo>
                    <a:pt x="627888" y="113792"/>
                  </a:lnTo>
                  <a:lnTo>
                    <a:pt x="633984" y="95504"/>
                  </a:lnTo>
                  <a:lnTo>
                    <a:pt x="636016" y="91440"/>
                  </a:lnTo>
                  <a:lnTo>
                    <a:pt x="644144" y="67056"/>
                  </a:lnTo>
                  <a:lnTo>
                    <a:pt x="646176" y="62992"/>
                  </a:lnTo>
                  <a:lnTo>
                    <a:pt x="652272" y="44704"/>
                  </a:lnTo>
                  <a:lnTo>
                    <a:pt x="654304" y="40640"/>
                  </a:lnTo>
                  <a:lnTo>
                    <a:pt x="660400" y="22352"/>
                  </a:lnTo>
                  <a:lnTo>
                    <a:pt x="662432" y="18288"/>
                  </a:lnTo>
                  <a:lnTo>
                    <a:pt x="668528" y="0"/>
                  </a:lnTo>
                  <a:close/>
                </a:path>
              </a:pathLst>
            </a:custGeom>
            <a:blipFill>
              <a:blip r:embed="rId16"/>
              <a:stretch>
                <a:fillRect l="-297568" r="-17629"/>
              </a:stretch>
            </a:blipFill>
          </p:spPr>
          <p:txBody>
            <a:bodyPr/>
            <a:lstStyle/>
            <a:p>
              <a:endParaRPr lang="en-SG"/>
            </a:p>
          </p:txBody>
        </p:sp>
      </p:grpSp>
      <p:grpSp>
        <p:nvGrpSpPr>
          <p:cNvPr id="37" name="Group 37"/>
          <p:cNvGrpSpPr/>
          <p:nvPr/>
        </p:nvGrpSpPr>
        <p:grpSpPr>
          <a:xfrm>
            <a:off x="9988296" y="2261616"/>
            <a:ext cx="205235" cy="65532"/>
            <a:chOff x="0" y="0"/>
            <a:chExt cx="273647" cy="87376"/>
          </a:xfrm>
        </p:grpSpPr>
        <p:sp>
          <p:nvSpPr>
            <p:cNvPr id="38" name="Freeform 38"/>
            <p:cNvSpPr/>
            <p:nvPr/>
          </p:nvSpPr>
          <p:spPr>
            <a:xfrm>
              <a:off x="0" y="0"/>
              <a:ext cx="273685" cy="87376"/>
            </a:xfrm>
            <a:custGeom>
              <a:avLst/>
              <a:gdLst/>
              <a:ahLst/>
              <a:cxnLst/>
              <a:rect l="l" t="t" r="r" b="b"/>
              <a:pathLst>
                <a:path w="273685" h="87376">
                  <a:moveTo>
                    <a:pt x="0" y="0"/>
                  </a:moveTo>
                  <a:lnTo>
                    <a:pt x="18288" y="6096"/>
                  </a:lnTo>
                  <a:lnTo>
                    <a:pt x="22352" y="8128"/>
                  </a:lnTo>
                  <a:lnTo>
                    <a:pt x="40640" y="14224"/>
                  </a:lnTo>
                  <a:lnTo>
                    <a:pt x="44704" y="16256"/>
                  </a:lnTo>
                  <a:lnTo>
                    <a:pt x="69088" y="24384"/>
                  </a:lnTo>
                  <a:lnTo>
                    <a:pt x="73152" y="26416"/>
                  </a:lnTo>
                  <a:lnTo>
                    <a:pt x="91440" y="32512"/>
                  </a:lnTo>
                  <a:lnTo>
                    <a:pt x="95504" y="34544"/>
                  </a:lnTo>
                  <a:lnTo>
                    <a:pt x="113792" y="40640"/>
                  </a:lnTo>
                  <a:lnTo>
                    <a:pt x="117856" y="42672"/>
                  </a:lnTo>
                  <a:lnTo>
                    <a:pt x="142240" y="50800"/>
                  </a:lnTo>
                  <a:lnTo>
                    <a:pt x="146304" y="52832"/>
                  </a:lnTo>
                  <a:lnTo>
                    <a:pt x="164592" y="58928"/>
                  </a:lnTo>
                  <a:lnTo>
                    <a:pt x="168656" y="60960"/>
                  </a:lnTo>
                  <a:lnTo>
                    <a:pt x="193040" y="69088"/>
                  </a:lnTo>
                  <a:lnTo>
                    <a:pt x="197104" y="71120"/>
                  </a:lnTo>
                  <a:lnTo>
                    <a:pt x="215392" y="77216"/>
                  </a:lnTo>
                  <a:lnTo>
                    <a:pt x="219456" y="79248"/>
                  </a:lnTo>
                  <a:lnTo>
                    <a:pt x="243840" y="87376"/>
                  </a:lnTo>
                  <a:lnTo>
                    <a:pt x="243840" y="83312"/>
                  </a:lnTo>
                  <a:lnTo>
                    <a:pt x="249936" y="65024"/>
                  </a:lnTo>
                  <a:lnTo>
                    <a:pt x="251968" y="60960"/>
                  </a:lnTo>
                  <a:lnTo>
                    <a:pt x="258064" y="42672"/>
                  </a:lnTo>
                  <a:lnTo>
                    <a:pt x="260096" y="38608"/>
                  </a:lnTo>
                  <a:lnTo>
                    <a:pt x="268224" y="14224"/>
                  </a:lnTo>
                  <a:lnTo>
                    <a:pt x="270256" y="10160"/>
                  </a:lnTo>
                  <a:lnTo>
                    <a:pt x="273685" y="0"/>
                  </a:lnTo>
                  <a:close/>
                </a:path>
              </a:pathLst>
            </a:custGeom>
            <a:blipFill>
              <a:blip r:embed="rId17"/>
              <a:stretch>
                <a:fillRect l="-854570" r="-59628"/>
              </a:stretch>
            </a:blipFill>
          </p:spPr>
          <p:txBody>
            <a:bodyPr/>
            <a:lstStyle/>
            <a:p>
              <a:endParaRPr lang="en-SG"/>
            </a:p>
          </p:txBody>
        </p:sp>
      </p:grpSp>
      <p:sp>
        <p:nvSpPr>
          <p:cNvPr id="39" name="TextBox 39"/>
          <p:cNvSpPr txBox="1"/>
          <p:nvPr/>
        </p:nvSpPr>
        <p:spPr>
          <a:xfrm>
            <a:off x="1632385" y="1334119"/>
            <a:ext cx="4184885" cy="523504"/>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Satellite Kit Overview</a:t>
            </a:r>
          </a:p>
        </p:txBody>
      </p:sp>
      <p:sp>
        <p:nvSpPr>
          <p:cNvPr id="40" name="TextBox 40"/>
          <p:cNvSpPr txBox="1"/>
          <p:nvPr/>
        </p:nvSpPr>
        <p:spPr>
          <a:xfrm>
            <a:off x="1632109" y="2523858"/>
            <a:ext cx="3080223" cy="324526"/>
          </a:xfrm>
          <a:prstGeom prst="rect">
            <a:avLst/>
          </a:prstGeom>
        </p:spPr>
        <p:txBody>
          <a:bodyPr lIns="0" tIns="0" rIns="0" bIns="0" rtlCol="0" anchor="t">
            <a:spAutoFit/>
          </a:bodyPr>
          <a:lstStyle/>
          <a:p>
            <a:pPr algn="l">
              <a:lnSpc>
                <a:spcPts val="2620"/>
              </a:lnSpc>
            </a:pPr>
            <a:r>
              <a:rPr lang="en-US" sz="1872" spc="-14">
                <a:solidFill>
                  <a:srgbClr val="000000"/>
                </a:solidFill>
                <a:latin typeface="Montserrat"/>
                <a:ea typeface="Montserrat"/>
                <a:cs typeface="Montserrat"/>
                <a:sym typeface="Montserrat"/>
              </a:rPr>
              <a:t>Open your satellite boxes!</a:t>
            </a:r>
          </a:p>
        </p:txBody>
      </p:sp>
      <p:sp>
        <p:nvSpPr>
          <p:cNvPr id="41" name="TextBox 41"/>
          <p:cNvSpPr txBox="1"/>
          <p:nvPr/>
        </p:nvSpPr>
        <p:spPr>
          <a:xfrm>
            <a:off x="1632109" y="3627225"/>
            <a:ext cx="4888773" cy="324526"/>
          </a:xfrm>
          <a:prstGeom prst="rect">
            <a:avLst/>
          </a:prstGeom>
        </p:spPr>
        <p:txBody>
          <a:bodyPr lIns="0" tIns="0" rIns="0" bIns="0" rtlCol="0" anchor="t">
            <a:spAutoFit/>
          </a:bodyPr>
          <a:lstStyle/>
          <a:p>
            <a:pPr algn="l">
              <a:lnSpc>
                <a:spcPts val="2620"/>
              </a:lnSpc>
            </a:pPr>
            <a:r>
              <a:rPr lang="en-US" sz="1872" spc="-14">
                <a:solidFill>
                  <a:srgbClr val="000000"/>
                </a:solidFill>
                <a:latin typeface="Montserrat"/>
                <a:ea typeface="Montserrat"/>
                <a:cs typeface="Montserrat"/>
                <a:sym typeface="Montserrat"/>
              </a:rPr>
              <a:t>everything we are going to need is there:</a:t>
            </a:r>
          </a:p>
        </p:txBody>
      </p:sp>
      <p:sp>
        <p:nvSpPr>
          <p:cNvPr id="42" name="TextBox 42"/>
          <p:cNvSpPr txBox="1"/>
          <p:nvPr/>
        </p:nvSpPr>
        <p:spPr>
          <a:xfrm>
            <a:off x="2167033" y="3995966"/>
            <a:ext cx="4774806" cy="324526"/>
          </a:xfrm>
          <a:prstGeom prst="rect">
            <a:avLst/>
          </a:prstGeom>
        </p:spPr>
        <p:txBody>
          <a:bodyPr lIns="0" tIns="0" rIns="0" bIns="0" rtlCol="0" anchor="t">
            <a:spAutoFit/>
          </a:bodyPr>
          <a:lstStyle/>
          <a:p>
            <a:pPr algn="l">
              <a:lnSpc>
                <a:spcPts val="2620"/>
              </a:lnSpc>
            </a:pPr>
            <a:r>
              <a:rPr lang="en-US" sz="1872" spc="-14">
                <a:solidFill>
                  <a:srgbClr val="000000"/>
                </a:solidFill>
                <a:latin typeface="Montserrat"/>
                <a:ea typeface="Montserrat"/>
                <a:cs typeface="Montserrat"/>
                <a:sym typeface="Montserrat"/>
              </a:rPr>
              <a:t>Satellite subsystems (electronic boards).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6376416" y="2442972"/>
            <a:ext cx="4191000" cy="190500"/>
            <a:chOff x="0" y="0"/>
            <a:chExt cx="5588000" cy="254000"/>
          </a:xfrm>
        </p:grpSpPr>
        <p:sp>
          <p:nvSpPr>
            <p:cNvPr id="10" name="Freeform 10"/>
            <p:cNvSpPr/>
            <p:nvPr/>
          </p:nvSpPr>
          <p:spPr>
            <a:xfrm>
              <a:off x="0" y="0"/>
              <a:ext cx="5588000" cy="254000"/>
            </a:xfrm>
            <a:custGeom>
              <a:avLst/>
              <a:gdLst/>
              <a:ahLst/>
              <a:cxnLst/>
              <a:rect l="l" t="t" r="r" b="b"/>
              <a:pathLst>
                <a:path w="5588000" h="254000">
                  <a:moveTo>
                    <a:pt x="0" y="0"/>
                  </a:moveTo>
                  <a:lnTo>
                    <a:pt x="5588000" y="0"/>
                  </a:lnTo>
                  <a:lnTo>
                    <a:pt x="5588000" y="254000"/>
                  </a:lnTo>
                  <a:lnTo>
                    <a:pt x="0" y="254000"/>
                  </a:lnTo>
                  <a:lnTo>
                    <a:pt x="0" y="0"/>
                  </a:lnTo>
                  <a:close/>
                </a:path>
              </a:pathLst>
            </a:custGeom>
            <a:blipFill>
              <a:blip r:embed="rId4"/>
              <a:stretch>
                <a:fillRect t="-800"/>
              </a:stretch>
            </a:blipFill>
          </p:spPr>
          <p:txBody>
            <a:bodyPr/>
            <a:lstStyle/>
            <a:p>
              <a:endParaRPr lang="en-SG"/>
            </a:p>
          </p:txBody>
        </p:sp>
      </p:grpSp>
      <p:grpSp>
        <p:nvGrpSpPr>
          <p:cNvPr id="11" name="Group 11"/>
          <p:cNvGrpSpPr/>
          <p:nvPr/>
        </p:nvGrpSpPr>
        <p:grpSpPr>
          <a:xfrm>
            <a:off x="6376416" y="2630424"/>
            <a:ext cx="4191000" cy="3334512"/>
            <a:chOff x="0" y="0"/>
            <a:chExt cx="5588000" cy="4446016"/>
          </a:xfrm>
        </p:grpSpPr>
        <p:sp>
          <p:nvSpPr>
            <p:cNvPr id="12" name="Freeform 12"/>
            <p:cNvSpPr/>
            <p:nvPr/>
          </p:nvSpPr>
          <p:spPr>
            <a:xfrm>
              <a:off x="0" y="0"/>
              <a:ext cx="5588000" cy="4446016"/>
            </a:xfrm>
            <a:custGeom>
              <a:avLst/>
              <a:gdLst/>
              <a:ahLst/>
              <a:cxnLst/>
              <a:rect l="l" t="t" r="r" b="b"/>
              <a:pathLst>
                <a:path w="5588000" h="4446016">
                  <a:moveTo>
                    <a:pt x="0" y="0"/>
                  </a:moveTo>
                  <a:lnTo>
                    <a:pt x="5588000" y="0"/>
                  </a:lnTo>
                  <a:lnTo>
                    <a:pt x="5588000" y="4446016"/>
                  </a:lnTo>
                  <a:lnTo>
                    <a:pt x="0" y="4446016"/>
                  </a:lnTo>
                  <a:lnTo>
                    <a:pt x="0" y="0"/>
                  </a:lnTo>
                  <a:close/>
                </a:path>
              </a:pathLst>
            </a:custGeom>
            <a:blipFill>
              <a:blip r:embed="rId5"/>
              <a:stretch>
                <a:fillRect/>
              </a:stretch>
            </a:blipFill>
          </p:spPr>
          <p:txBody>
            <a:bodyPr/>
            <a:lstStyle/>
            <a:p>
              <a:endParaRPr lang="en-SG"/>
            </a:p>
          </p:txBody>
        </p:sp>
      </p:grpSp>
      <p:sp>
        <p:nvSpPr>
          <p:cNvPr id="13" name="TextBox 13"/>
          <p:cNvSpPr txBox="1"/>
          <p:nvPr/>
        </p:nvSpPr>
        <p:spPr>
          <a:xfrm>
            <a:off x="1632109" y="1286494"/>
            <a:ext cx="4500048" cy="2315185"/>
          </a:xfrm>
          <a:prstGeom prst="rect">
            <a:avLst/>
          </a:prstGeom>
        </p:spPr>
        <p:txBody>
          <a:bodyPr lIns="0" tIns="0" rIns="0" bIns="0" rtlCol="0" anchor="t">
            <a:spAutoFit/>
          </a:bodyPr>
          <a:lstStyle/>
          <a:p>
            <a:pPr algn="l">
              <a:lnSpc>
                <a:spcPts val="4715"/>
              </a:lnSpc>
            </a:pPr>
            <a:r>
              <a:rPr lang="en-US" sz="3048">
                <a:solidFill>
                  <a:srgbClr val="2C2C2C"/>
                </a:solidFill>
                <a:latin typeface="Montserrat"/>
                <a:ea typeface="Montserrat"/>
                <a:cs typeface="Montserrat"/>
                <a:sym typeface="Montserrat"/>
              </a:rPr>
              <a:t>Screwdriver Set</a:t>
            </a:r>
          </a:p>
          <a:p>
            <a:pPr algn="l">
              <a:lnSpc>
                <a:spcPts val="2895"/>
              </a:lnSpc>
            </a:pPr>
            <a:r>
              <a:rPr lang="en-US" sz="1872" spc="-14">
                <a:solidFill>
                  <a:srgbClr val="000000"/>
                </a:solidFill>
                <a:latin typeface="Montserrat"/>
                <a:ea typeface="Montserrat"/>
                <a:cs typeface="Montserrat"/>
                <a:sym typeface="Montserrat"/>
              </a:rPr>
              <a:t>The screwdriver set includes a variety of bits to accommodate the diverse types of screws used in different devices and applications. </a:t>
            </a:r>
          </a:p>
        </p:txBody>
      </p:sp>
      <p:sp>
        <p:nvSpPr>
          <p:cNvPr id="14" name="TextBox 14"/>
          <p:cNvSpPr txBox="1"/>
          <p:nvPr/>
        </p:nvSpPr>
        <p:spPr>
          <a:xfrm>
            <a:off x="1632109" y="3995223"/>
            <a:ext cx="4565523" cy="2183235"/>
          </a:xfrm>
          <a:prstGeom prst="rect">
            <a:avLst/>
          </a:prstGeom>
        </p:spPr>
        <p:txBody>
          <a:bodyPr lIns="0" tIns="0" rIns="0" bIns="0" rtlCol="0" anchor="t">
            <a:spAutoFit/>
          </a:bodyPr>
          <a:lstStyle/>
          <a:p>
            <a:pPr algn="just">
              <a:lnSpc>
                <a:spcPts val="2894"/>
              </a:lnSpc>
            </a:pPr>
            <a:r>
              <a:rPr lang="en-US" sz="1872" spc="-14">
                <a:solidFill>
                  <a:srgbClr val="000000"/>
                </a:solidFill>
                <a:latin typeface="Montserrat"/>
                <a:ea typeface="Montserrat"/>
                <a:cs typeface="Montserrat"/>
                <a:sym typeface="Montserrat"/>
              </a:rPr>
              <a:t>Various screws exist due to the need for specialized fastening solutions in manufacturing and design. Using the right bit for the corresponding screw head is crucial to prevent damage to screws or the bits themselves.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dirty="0"/>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1801368" y="2689860"/>
            <a:ext cx="103632" cy="103632"/>
            <a:chOff x="0" y="0"/>
            <a:chExt cx="103632" cy="103632"/>
          </a:xfrm>
        </p:grpSpPr>
        <p:sp>
          <p:nvSpPr>
            <p:cNvPr id="10" name="Freeform 10"/>
            <p:cNvSpPr/>
            <p:nvPr/>
          </p:nvSpPr>
          <p:spPr>
            <a:xfrm>
              <a:off x="0" y="0"/>
              <a:ext cx="103632" cy="103632"/>
            </a:xfrm>
            <a:custGeom>
              <a:avLst/>
              <a:gdLst/>
              <a:ahLst/>
              <a:cxnLst/>
              <a:rect l="l" t="t" r="r" b="b"/>
              <a:pathLst>
                <a:path w="103632" h="103632">
                  <a:moveTo>
                    <a:pt x="27432" y="7620"/>
                  </a:moveTo>
                  <a:cubicBezTo>
                    <a:pt x="18288" y="10668"/>
                    <a:pt x="12192" y="18288"/>
                    <a:pt x="7620" y="25908"/>
                  </a:cubicBezTo>
                  <a:cubicBezTo>
                    <a:pt x="3048" y="33528"/>
                    <a:pt x="0" y="42672"/>
                    <a:pt x="0" y="51816"/>
                  </a:cubicBezTo>
                  <a:cubicBezTo>
                    <a:pt x="0" y="67056"/>
                    <a:pt x="6096" y="79248"/>
                    <a:pt x="15240" y="88392"/>
                  </a:cubicBezTo>
                  <a:cubicBezTo>
                    <a:pt x="25908" y="99060"/>
                    <a:pt x="38100" y="103632"/>
                    <a:pt x="51816" y="103632"/>
                  </a:cubicBezTo>
                  <a:cubicBezTo>
                    <a:pt x="67056" y="103632"/>
                    <a:pt x="79248" y="99060"/>
                    <a:pt x="88392" y="88392"/>
                  </a:cubicBezTo>
                  <a:cubicBezTo>
                    <a:pt x="99060" y="79248"/>
                    <a:pt x="103632" y="67056"/>
                    <a:pt x="103632" y="51816"/>
                  </a:cubicBezTo>
                  <a:cubicBezTo>
                    <a:pt x="103632" y="42672"/>
                    <a:pt x="102108" y="35052"/>
                    <a:pt x="97536" y="25908"/>
                  </a:cubicBezTo>
                  <a:cubicBezTo>
                    <a:pt x="92964" y="18288"/>
                    <a:pt x="86868" y="10668"/>
                    <a:pt x="77724" y="7620"/>
                  </a:cubicBezTo>
                  <a:cubicBezTo>
                    <a:pt x="70104" y="3048"/>
                    <a:pt x="60960" y="0"/>
                    <a:pt x="51816" y="0"/>
                  </a:cubicBezTo>
                  <a:cubicBezTo>
                    <a:pt x="44196" y="0"/>
                    <a:pt x="35052" y="3048"/>
                    <a:pt x="27432" y="7620"/>
                  </a:cubicBezTo>
                  <a:close/>
                </a:path>
              </a:pathLst>
            </a:custGeom>
            <a:solidFill>
              <a:srgbClr val="000000"/>
            </a:solidFill>
          </p:spPr>
          <p:txBody>
            <a:bodyPr/>
            <a:lstStyle/>
            <a:p>
              <a:endParaRPr lang="en-SG"/>
            </a:p>
          </p:txBody>
        </p:sp>
      </p:grpSp>
      <p:grpSp>
        <p:nvGrpSpPr>
          <p:cNvPr id="11" name="Group 11"/>
          <p:cNvGrpSpPr/>
          <p:nvPr/>
        </p:nvGrpSpPr>
        <p:grpSpPr>
          <a:xfrm>
            <a:off x="1801368" y="3425952"/>
            <a:ext cx="103632" cy="103632"/>
            <a:chOff x="0" y="0"/>
            <a:chExt cx="103632" cy="103632"/>
          </a:xfrm>
        </p:grpSpPr>
        <p:sp>
          <p:nvSpPr>
            <p:cNvPr id="12" name="Freeform 12"/>
            <p:cNvSpPr/>
            <p:nvPr/>
          </p:nvSpPr>
          <p:spPr>
            <a:xfrm>
              <a:off x="0" y="0"/>
              <a:ext cx="103632" cy="103632"/>
            </a:xfrm>
            <a:custGeom>
              <a:avLst/>
              <a:gdLst/>
              <a:ahLst/>
              <a:cxnLst/>
              <a:rect l="l" t="t" r="r" b="b"/>
              <a:pathLst>
                <a:path w="103632" h="103632">
                  <a:moveTo>
                    <a:pt x="27432" y="7620"/>
                  </a:moveTo>
                  <a:cubicBezTo>
                    <a:pt x="18288" y="12192"/>
                    <a:pt x="12192" y="18288"/>
                    <a:pt x="7620" y="25908"/>
                  </a:cubicBezTo>
                  <a:cubicBezTo>
                    <a:pt x="3048" y="35052"/>
                    <a:pt x="0" y="42672"/>
                    <a:pt x="0" y="51816"/>
                  </a:cubicBezTo>
                  <a:cubicBezTo>
                    <a:pt x="0" y="67056"/>
                    <a:pt x="6096" y="79248"/>
                    <a:pt x="15240" y="88392"/>
                  </a:cubicBezTo>
                  <a:cubicBezTo>
                    <a:pt x="25908" y="99060"/>
                    <a:pt x="38100" y="103632"/>
                    <a:pt x="51816" y="103632"/>
                  </a:cubicBezTo>
                  <a:cubicBezTo>
                    <a:pt x="67056" y="103632"/>
                    <a:pt x="79248" y="99060"/>
                    <a:pt x="88392" y="88392"/>
                  </a:cubicBezTo>
                  <a:cubicBezTo>
                    <a:pt x="99060" y="79248"/>
                    <a:pt x="103632" y="67056"/>
                    <a:pt x="103632" y="51816"/>
                  </a:cubicBezTo>
                  <a:cubicBezTo>
                    <a:pt x="103632" y="42672"/>
                    <a:pt x="102108" y="35052"/>
                    <a:pt x="97536" y="25908"/>
                  </a:cubicBezTo>
                  <a:cubicBezTo>
                    <a:pt x="92964" y="18288"/>
                    <a:pt x="86868" y="12192"/>
                    <a:pt x="77724" y="7620"/>
                  </a:cubicBezTo>
                  <a:cubicBezTo>
                    <a:pt x="70104" y="3048"/>
                    <a:pt x="60960" y="0"/>
                    <a:pt x="51816" y="0"/>
                  </a:cubicBezTo>
                  <a:cubicBezTo>
                    <a:pt x="44196" y="0"/>
                    <a:pt x="35052" y="3048"/>
                    <a:pt x="27432" y="7620"/>
                  </a:cubicBezTo>
                  <a:close/>
                </a:path>
              </a:pathLst>
            </a:custGeom>
            <a:solidFill>
              <a:srgbClr val="000000"/>
            </a:solidFill>
          </p:spPr>
          <p:txBody>
            <a:bodyPr/>
            <a:lstStyle/>
            <a:p>
              <a:endParaRPr lang="en-SG"/>
            </a:p>
          </p:txBody>
        </p:sp>
      </p:grpSp>
      <p:grpSp>
        <p:nvGrpSpPr>
          <p:cNvPr id="13" name="Group 13"/>
          <p:cNvGrpSpPr/>
          <p:nvPr/>
        </p:nvGrpSpPr>
        <p:grpSpPr>
          <a:xfrm>
            <a:off x="1801368" y="4529328"/>
            <a:ext cx="103632" cy="103632"/>
            <a:chOff x="0" y="0"/>
            <a:chExt cx="103632" cy="103632"/>
          </a:xfrm>
        </p:grpSpPr>
        <p:sp>
          <p:nvSpPr>
            <p:cNvPr id="14" name="Freeform 14"/>
            <p:cNvSpPr/>
            <p:nvPr/>
          </p:nvSpPr>
          <p:spPr>
            <a:xfrm>
              <a:off x="0" y="0"/>
              <a:ext cx="103632" cy="103632"/>
            </a:xfrm>
            <a:custGeom>
              <a:avLst/>
              <a:gdLst/>
              <a:ahLst/>
              <a:cxnLst/>
              <a:rect l="l" t="t" r="r" b="b"/>
              <a:pathLst>
                <a:path w="103632" h="103632">
                  <a:moveTo>
                    <a:pt x="27432" y="7620"/>
                  </a:moveTo>
                  <a:cubicBezTo>
                    <a:pt x="18288" y="12192"/>
                    <a:pt x="12192" y="18288"/>
                    <a:pt x="7620" y="25908"/>
                  </a:cubicBezTo>
                  <a:cubicBezTo>
                    <a:pt x="3048" y="35052"/>
                    <a:pt x="0" y="42672"/>
                    <a:pt x="0" y="51816"/>
                  </a:cubicBezTo>
                  <a:cubicBezTo>
                    <a:pt x="0" y="67056"/>
                    <a:pt x="6096" y="79248"/>
                    <a:pt x="15240" y="88392"/>
                  </a:cubicBezTo>
                  <a:cubicBezTo>
                    <a:pt x="25908" y="99060"/>
                    <a:pt x="38100" y="103632"/>
                    <a:pt x="51816" y="103632"/>
                  </a:cubicBezTo>
                  <a:cubicBezTo>
                    <a:pt x="67056" y="103632"/>
                    <a:pt x="79248" y="99060"/>
                    <a:pt x="88392" y="88392"/>
                  </a:cubicBezTo>
                  <a:cubicBezTo>
                    <a:pt x="99060" y="79248"/>
                    <a:pt x="103632" y="67056"/>
                    <a:pt x="103632" y="51816"/>
                  </a:cubicBezTo>
                  <a:cubicBezTo>
                    <a:pt x="103632" y="42672"/>
                    <a:pt x="102108" y="35052"/>
                    <a:pt x="97536" y="25908"/>
                  </a:cubicBezTo>
                  <a:cubicBezTo>
                    <a:pt x="92964" y="18288"/>
                    <a:pt x="86868" y="12192"/>
                    <a:pt x="77724" y="7620"/>
                  </a:cubicBezTo>
                  <a:cubicBezTo>
                    <a:pt x="70104" y="3048"/>
                    <a:pt x="60960" y="0"/>
                    <a:pt x="51816" y="0"/>
                  </a:cubicBezTo>
                  <a:cubicBezTo>
                    <a:pt x="44196" y="0"/>
                    <a:pt x="35052" y="3048"/>
                    <a:pt x="27432" y="7620"/>
                  </a:cubicBezTo>
                  <a:close/>
                </a:path>
              </a:pathLst>
            </a:custGeom>
            <a:solidFill>
              <a:srgbClr val="000000"/>
            </a:solidFill>
          </p:spPr>
          <p:txBody>
            <a:bodyPr/>
            <a:lstStyle/>
            <a:p>
              <a:endParaRPr lang="en-SG"/>
            </a:p>
          </p:txBody>
        </p:sp>
      </p:grpSp>
      <p:grpSp>
        <p:nvGrpSpPr>
          <p:cNvPr id="15" name="Group 15"/>
          <p:cNvGrpSpPr/>
          <p:nvPr/>
        </p:nvGrpSpPr>
        <p:grpSpPr>
          <a:xfrm>
            <a:off x="6376416" y="2442972"/>
            <a:ext cx="4191000" cy="190500"/>
            <a:chOff x="0" y="0"/>
            <a:chExt cx="5588000" cy="254000"/>
          </a:xfrm>
        </p:grpSpPr>
        <p:sp>
          <p:nvSpPr>
            <p:cNvPr id="16" name="Freeform 16"/>
            <p:cNvSpPr/>
            <p:nvPr/>
          </p:nvSpPr>
          <p:spPr>
            <a:xfrm>
              <a:off x="0" y="0"/>
              <a:ext cx="5588000" cy="254000"/>
            </a:xfrm>
            <a:custGeom>
              <a:avLst/>
              <a:gdLst/>
              <a:ahLst/>
              <a:cxnLst/>
              <a:rect l="l" t="t" r="r" b="b"/>
              <a:pathLst>
                <a:path w="5588000" h="254000">
                  <a:moveTo>
                    <a:pt x="0" y="0"/>
                  </a:moveTo>
                  <a:lnTo>
                    <a:pt x="5588000" y="0"/>
                  </a:lnTo>
                  <a:lnTo>
                    <a:pt x="5588000" y="254000"/>
                  </a:lnTo>
                  <a:lnTo>
                    <a:pt x="0" y="254000"/>
                  </a:lnTo>
                  <a:lnTo>
                    <a:pt x="0" y="0"/>
                  </a:lnTo>
                  <a:close/>
                </a:path>
              </a:pathLst>
            </a:custGeom>
            <a:blipFill>
              <a:blip r:embed="rId4"/>
              <a:stretch>
                <a:fillRect t="-800"/>
              </a:stretch>
            </a:blipFill>
          </p:spPr>
          <p:txBody>
            <a:bodyPr/>
            <a:lstStyle/>
            <a:p>
              <a:endParaRPr lang="en-SG"/>
            </a:p>
          </p:txBody>
        </p:sp>
      </p:grpSp>
      <p:grpSp>
        <p:nvGrpSpPr>
          <p:cNvPr id="17" name="Group 17"/>
          <p:cNvGrpSpPr/>
          <p:nvPr/>
        </p:nvGrpSpPr>
        <p:grpSpPr>
          <a:xfrm>
            <a:off x="6376416" y="2630424"/>
            <a:ext cx="4191000" cy="3334512"/>
            <a:chOff x="0" y="0"/>
            <a:chExt cx="5588000" cy="4446016"/>
          </a:xfrm>
        </p:grpSpPr>
        <p:sp>
          <p:nvSpPr>
            <p:cNvPr id="18" name="Freeform 18"/>
            <p:cNvSpPr/>
            <p:nvPr/>
          </p:nvSpPr>
          <p:spPr>
            <a:xfrm>
              <a:off x="0" y="0"/>
              <a:ext cx="5588000" cy="4446016"/>
            </a:xfrm>
            <a:custGeom>
              <a:avLst/>
              <a:gdLst/>
              <a:ahLst/>
              <a:cxnLst/>
              <a:rect l="l" t="t" r="r" b="b"/>
              <a:pathLst>
                <a:path w="5588000" h="4446016">
                  <a:moveTo>
                    <a:pt x="0" y="0"/>
                  </a:moveTo>
                  <a:lnTo>
                    <a:pt x="5588000" y="0"/>
                  </a:lnTo>
                  <a:lnTo>
                    <a:pt x="5588000" y="4446016"/>
                  </a:lnTo>
                  <a:lnTo>
                    <a:pt x="0" y="4446016"/>
                  </a:lnTo>
                  <a:lnTo>
                    <a:pt x="0" y="0"/>
                  </a:lnTo>
                  <a:close/>
                </a:path>
              </a:pathLst>
            </a:custGeom>
            <a:blipFill>
              <a:blip r:embed="rId5"/>
              <a:stretch>
                <a:fillRect/>
              </a:stretch>
            </a:blipFill>
          </p:spPr>
          <p:txBody>
            <a:bodyPr/>
            <a:lstStyle/>
            <a:p>
              <a:endParaRPr lang="en-SG"/>
            </a:p>
          </p:txBody>
        </p:sp>
      </p:grpSp>
      <p:sp>
        <p:nvSpPr>
          <p:cNvPr id="19" name="TextBox 19"/>
          <p:cNvSpPr txBox="1"/>
          <p:nvPr/>
        </p:nvSpPr>
        <p:spPr>
          <a:xfrm>
            <a:off x="1632109" y="1334119"/>
            <a:ext cx="3090281" cy="1164184"/>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Screwdriver Set</a:t>
            </a:r>
          </a:p>
          <a:p>
            <a:pPr algn="l">
              <a:lnSpc>
                <a:spcPts val="2620"/>
              </a:lnSpc>
            </a:pPr>
            <a:r>
              <a:rPr lang="en-US" sz="1872" spc="-14">
                <a:solidFill>
                  <a:srgbClr val="000000"/>
                </a:solidFill>
                <a:latin typeface="Montserrat"/>
                <a:ea typeface="Montserrat"/>
                <a:cs typeface="Montserrat"/>
                <a:sym typeface="Montserrat"/>
              </a:rPr>
              <a:t>We have for instance:</a:t>
            </a:r>
          </a:p>
        </p:txBody>
      </p:sp>
      <p:sp>
        <p:nvSpPr>
          <p:cNvPr id="20" name="TextBox 20"/>
          <p:cNvSpPr txBox="1"/>
          <p:nvPr/>
        </p:nvSpPr>
        <p:spPr>
          <a:xfrm>
            <a:off x="2167033" y="2523115"/>
            <a:ext cx="4034457" cy="2551976"/>
          </a:xfrm>
          <a:prstGeom prst="rect">
            <a:avLst/>
          </a:prstGeom>
        </p:spPr>
        <p:txBody>
          <a:bodyPr lIns="0" tIns="0" rIns="0" bIns="0" rtlCol="0" anchor="t">
            <a:spAutoFit/>
          </a:bodyPr>
          <a:lstStyle/>
          <a:p>
            <a:pPr algn="l">
              <a:lnSpc>
                <a:spcPts val="2899"/>
              </a:lnSpc>
            </a:pPr>
            <a:r>
              <a:rPr lang="en-US" sz="1872" spc="-14" dirty="0">
                <a:solidFill>
                  <a:srgbClr val="000000"/>
                </a:solidFill>
                <a:latin typeface="Montserrat"/>
                <a:ea typeface="Montserrat"/>
                <a:cs typeface="Montserrat"/>
                <a:sym typeface="Montserrat"/>
              </a:rPr>
              <a:t>Hex screws, common in furniture and electronics.</a:t>
            </a:r>
          </a:p>
          <a:p>
            <a:pPr algn="l">
              <a:lnSpc>
                <a:spcPts val="2899"/>
              </a:lnSpc>
            </a:pPr>
            <a:r>
              <a:rPr lang="en-US" sz="1872" spc="-14" dirty="0">
                <a:solidFill>
                  <a:srgbClr val="000000"/>
                </a:solidFill>
                <a:latin typeface="Montserrat"/>
                <a:ea typeface="Montserrat"/>
                <a:cs typeface="Montserrat"/>
                <a:sym typeface="Montserrat"/>
              </a:rPr>
              <a:t>Phillips-head screws offering efficient torque transmission in many applications.</a:t>
            </a:r>
          </a:p>
          <a:p>
            <a:pPr algn="l">
              <a:lnSpc>
                <a:spcPts val="2899"/>
              </a:lnSpc>
            </a:pPr>
            <a:r>
              <a:rPr lang="en-US" sz="1872" spc="-14" dirty="0" err="1">
                <a:solidFill>
                  <a:srgbClr val="000000"/>
                </a:solidFill>
                <a:latin typeface="Montserrat"/>
                <a:ea typeface="Montserrat"/>
                <a:cs typeface="Montserrat"/>
                <a:sym typeface="Montserrat"/>
              </a:rPr>
              <a:t>Torx</a:t>
            </a:r>
            <a:r>
              <a:rPr lang="en-US" sz="1872" spc="-14" dirty="0">
                <a:solidFill>
                  <a:srgbClr val="000000"/>
                </a:solidFill>
                <a:latin typeface="Montserrat"/>
                <a:ea typeface="Montserrat"/>
                <a:cs typeface="Montserrat"/>
                <a:sym typeface="Montserrat"/>
              </a:rPr>
              <a:t> screws that provide enhanced security and durability.</a:t>
            </a:r>
          </a:p>
        </p:txBody>
      </p:sp>
      <p:sp>
        <p:nvSpPr>
          <p:cNvPr id="21" name="TextBox 20">
            <a:extLst>
              <a:ext uri="{FF2B5EF4-FFF2-40B4-BE49-F238E27FC236}">
                <a16:creationId xmlns:a16="http://schemas.microsoft.com/office/drawing/2014/main" id="{BBBDA6E2-DB7B-F9C1-0E94-110DF179B17D}"/>
              </a:ext>
            </a:extLst>
          </p:cNvPr>
          <p:cNvSpPr txBox="1"/>
          <p:nvPr/>
        </p:nvSpPr>
        <p:spPr>
          <a:xfrm>
            <a:off x="1632109" y="5707551"/>
            <a:ext cx="4744307" cy="923330"/>
          </a:xfrm>
          <a:prstGeom prst="rect">
            <a:avLst/>
          </a:prstGeom>
          <a:noFill/>
        </p:spPr>
        <p:txBody>
          <a:bodyPr wrap="square" rtlCol="0">
            <a:spAutoFit/>
          </a:bodyPr>
          <a:lstStyle/>
          <a:p>
            <a:r>
              <a:rPr lang="en-US" dirty="0"/>
              <a:t>Now refer to the </a:t>
            </a:r>
            <a:r>
              <a:rPr lang="en-US" dirty="0" err="1"/>
              <a:t>cubeSat</a:t>
            </a:r>
            <a:r>
              <a:rPr lang="en-US" dirty="0"/>
              <a:t> assembly manual inside the Starter kit</a:t>
            </a:r>
          </a:p>
          <a:p>
            <a:endParaRPr lang="en-SG"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2485644" y="2057400"/>
            <a:ext cx="6370320" cy="231648"/>
            <a:chOff x="0" y="0"/>
            <a:chExt cx="8493760" cy="308864"/>
          </a:xfrm>
        </p:grpSpPr>
        <p:sp>
          <p:nvSpPr>
            <p:cNvPr id="10" name="Freeform 10"/>
            <p:cNvSpPr/>
            <p:nvPr/>
          </p:nvSpPr>
          <p:spPr>
            <a:xfrm>
              <a:off x="0" y="0"/>
              <a:ext cx="8493760" cy="308864"/>
            </a:xfrm>
            <a:custGeom>
              <a:avLst/>
              <a:gdLst/>
              <a:ahLst/>
              <a:cxnLst/>
              <a:rect l="l" t="t" r="r" b="b"/>
              <a:pathLst>
                <a:path w="8493760" h="308864">
                  <a:moveTo>
                    <a:pt x="0" y="0"/>
                  </a:moveTo>
                  <a:lnTo>
                    <a:pt x="8493760" y="0"/>
                  </a:lnTo>
                  <a:lnTo>
                    <a:pt x="8493760" y="308864"/>
                  </a:lnTo>
                  <a:lnTo>
                    <a:pt x="0" y="308864"/>
                  </a:lnTo>
                  <a:lnTo>
                    <a:pt x="0" y="0"/>
                  </a:lnTo>
                  <a:close/>
                </a:path>
              </a:pathLst>
            </a:custGeom>
            <a:blipFill>
              <a:blip r:embed="rId4"/>
              <a:stretch>
                <a:fillRect l="-23" t="-657"/>
              </a:stretch>
            </a:blipFill>
          </p:spPr>
          <p:txBody>
            <a:bodyPr/>
            <a:lstStyle/>
            <a:p>
              <a:endParaRPr lang="en-SG"/>
            </a:p>
          </p:txBody>
        </p:sp>
      </p:grpSp>
      <p:grpSp>
        <p:nvGrpSpPr>
          <p:cNvPr id="11" name="Group 11"/>
          <p:cNvGrpSpPr/>
          <p:nvPr/>
        </p:nvGrpSpPr>
        <p:grpSpPr>
          <a:xfrm>
            <a:off x="2485644" y="2284476"/>
            <a:ext cx="6370320" cy="4178808"/>
            <a:chOff x="0" y="0"/>
            <a:chExt cx="8493760" cy="5571744"/>
          </a:xfrm>
        </p:grpSpPr>
        <p:sp>
          <p:nvSpPr>
            <p:cNvPr id="12" name="Freeform 12"/>
            <p:cNvSpPr/>
            <p:nvPr/>
          </p:nvSpPr>
          <p:spPr>
            <a:xfrm>
              <a:off x="0" y="0"/>
              <a:ext cx="8493760" cy="5571744"/>
            </a:xfrm>
            <a:custGeom>
              <a:avLst/>
              <a:gdLst/>
              <a:ahLst/>
              <a:cxnLst/>
              <a:rect l="l" t="t" r="r" b="b"/>
              <a:pathLst>
                <a:path w="8493760" h="5571744">
                  <a:moveTo>
                    <a:pt x="0" y="0"/>
                  </a:moveTo>
                  <a:lnTo>
                    <a:pt x="8493760" y="0"/>
                  </a:lnTo>
                  <a:lnTo>
                    <a:pt x="8493760" y="5571744"/>
                  </a:lnTo>
                  <a:lnTo>
                    <a:pt x="0" y="5571744"/>
                  </a:lnTo>
                  <a:lnTo>
                    <a:pt x="0" y="0"/>
                  </a:lnTo>
                  <a:close/>
                </a:path>
              </a:pathLst>
            </a:custGeom>
            <a:blipFill>
              <a:blip r:embed="rId5"/>
              <a:stretch>
                <a:fillRect/>
              </a:stretch>
            </a:blipFill>
          </p:spPr>
          <p:txBody>
            <a:bodyPr/>
            <a:lstStyle/>
            <a:p>
              <a:endParaRPr lang="en-SG"/>
            </a:p>
          </p:txBody>
        </p:sp>
      </p:grpSp>
      <p:sp>
        <p:nvSpPr>
          <p:cNvPr id="13" name="TextBox 13"/>
          <p:cNvSpPr txBox="1"/>
          <p:nvPr/>
        </p:nvSpPr>
        <p:spPr>
          <a:xfrm>
            <a:off x="1632385" y="1334119"/>
            <a:ext cx="5487457" cy="523504"/>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Satellite Boards Schematics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1815084" y="3377184"/>
            <a:ext cx="91440" cy="91440"/>
            <a:chOff x="0" y="0"/>
            <a:chExt cx="91440" cy="91440"/>
          </a:xfrm>
        </p:grpSpPr>
        <p:sp>
          <p:nvSpPr>
            <p:cNvPr id="10" name="Freeform 10"/>
            <p:cNvSpPr/>
            <p:nvPr/>
          </p:nvSpPr>
          <p:spPr>
            <a:xfrm>
              <a:off x="0" y="0"/>
              <a:ext cx="91440" cy="91440"/>
            </a:xfrm>
            <a:custGeom>
              <a:avLst/>
              <a:gdLst/>
              <a:ahLst/>
              <a:cxnLst/>
              <a:rect l="l" t="t" r="r" b="b"/>
              <a:pathLst>
                <a:path w="91440" h="91440">
                  <a:moveTo>
                    <a:pt x="22860" y="6096"/>
                  </a:moveTo>
                  <a:cubicBezTo>
                    <a:pt x="15240" y="9144"/>
                    <a:pt x="10668" y="15240"/>
                    <a:pt x="6096" y="22860"/>
                  </a:cubicBezTo>
                  <a:cubicBezTo>
                    <a:pt x="1524" y="30480"/>
                    <a:pt x="0" y="38100"/>
                    <a:pt x="0" y="45720"/>
                  </a:cubicBezTo>
                  <a:cubicBezTo>
                    <a:pt x="0" y="57912"/>
                    <a:pt x="4572" y="68580"/>
                    <a:pt x="13716" y="77724"/>
                  </a:cubicBezTo>
                  <a:cubicBezTo>
                    <a:pt x="22860" y="86868"/>
                    <a:pt x="33528" y="91440"/>
                    <a:pt x="45720" y="91440"/>
                  </a:cubicBezTo>
                  <a:cubicBezTo>
                    <a:pt x="57912" y="91440"/>
                    <a:pt x="68580" y="86868"/>
                    <a:pt x="77724" y="77724"/>
                  </a:cubicBezTo>
                  <a:cubicBezTo>
                    <a:pt x="86868" y="68580"/>
                    <a:pt x="91440" y="57912"/>
                    <a:pt x="91440" y="45720"/>
                  </a:cubicBezTo>
                  <a:cubicBezTo>
                    <a:pt x="91440" y="38100"/>
                    <a:pt x="89916" y="30480"/>
                    <a:pt x="85344" y="22860"/>
                  </a:cubicBezTo>
                  <a:cubicBezTo>
                    <a:pt x="80772" y="15240"/>
                    <a:pt x="74676" y="9144"/>
                    <a:pt x="68580" y="6096"/>
                  </a:cubicBezTo>
                  <a:cubicBezTo>
                    <a:pt x="60960" y="1524"/>
                    <a:pt x="53340" y="0"/>
                    <a:pt x="45720" y="0"/>
                  </a:cubicBezTo>
                  <a:cubicBezTo>
                    <a:pt x="38100" y="0"/>
                    <a:pt x="30480" y="1524"/>
                    <a:pt x="22860" y="6096"/>
                  </a:cubicBezTo>
                  <a:close/>
                </a:path>
              </a:pathLst>
            </a:custGeom>
            <a:solidFill>
              <a:srgbClr val="000000"/>
            </a:solidFill>
          </p:spPr>
          <p:txBody>
            <a:bodyPr/>
            <a:lstStyle/>
            <a:p>
              <a:endParaRPr lang="en-SG"/>
            </a:p>
          </p:txBody>
        </p:sp>
      </p:grpSp>
      <p:grpSp>
        <p:nvGrpSpPr>
          <p:cNvPr id="11" name="Group 11"/>
          <p:cNvGrpSpPr/>
          <p:nvPr/>
        </p:nvGrpSpPr>
        <p:grpSpPr>
          <a:xfrm>
            <a:off x="1815084" y="3698748"/>
            <a:ext cx="91440" cy="91440"/>
            <a:chOff x="0" y="0"/>
            <a:chExt cx="91440" cy="91440"/>
          </a:xfrm>
        </p:grpSpPr>
        <p:sp>
          <p:nvSpPr>
            <p:cNvPr id="12" name="Freeform 12"/>
            <p:cNvSpPr/>
            <p:nvPr/>
          </p:nvSpPr>
          <p:spPr>
            <a:xfrm>
              <a:off x="0" y="0"/>
              <a:ext cx="91440" cy="91440"/>
            </a:xfrm>
            <a:custGeom>
              <a:avLst/>
              <a:gdLst/>
              <a:ahLst/>
              <a:cxnLst/>
              <a:rect l="l" t="t" r="r" b="b"/>
              <a:pathLst>
                <a:path w="91440" h="91440">
                  <a:moveTo>
                    <a:pt x="22860" y="6096"/>
                  </a:moveTo>
                  <a:cubicBezTo>
                    <a:pt x="15240" y="10668"/>
                    <a:pt x="10668" y="16764"/>
                    <a:pt x="6096" y="22860"/>
                  </a:cubicBezTo>
                  <a:cubicBezTo>
                    <a:pt x="1524" y="30480"/>
                    <a:pt x="0" y="38100"/>
                    <a:pt x="0" y="45720"/>
                  </a:cubicBezTo>
                  <a:cubicBezTo>
                    <a:pt x="0" y="59436"/>
                    <a:pt x="4572" y="70104"/>
                    <a:pt x="13716" y="79248"/>
                  </a:cubicBezTo>
                  <a:cubicBezTo>
                    <a:pt x="22860" y="88392"/>
                    <a:pt x="33528" y="91440"/>
                    <a:pt x="45720" y="91440"/>
                  </a:cubicBezTo>
                  <a:cubicBezTo>
                    <a:pt x="57912" y="91440"/>
                    <a:pt x="68580" y="88392"/>
                    <a:pt x="77724" y="79248"/>
                  </a:cubicBezTo>
                  <a:cubicBezTo>
                    <a:pt x="86868" y="70104"/>
                    <a:pt x="91440" y="59436"/>
                    <a:pt x="91440" y="45720"/>
                  </a:cubicBezTo>
                  <a:cubicBezTo>
                    <a:pt x="91440" y="38100"/>
                    <a:pt x="89916" y="30480"/>
                    <a:pt x="85344" y="22860"/>
                  </a:cubicBezTo>
                  <a:cubicBezTo>
                    <a:pt x="80772" y="16764"/>
                    <a:pt x="74676" y="10668"/>
                    <a:pt x="68580" y="6096"/>
                  </a:cubicBezTo>
                  <a:cubicBezTo>
                    <a:pt x="60960" y="3048"/>
                    <a:pt x="53340" y="0"/>
                    <a:pt x="45720" y="0"/>
                  </a:cubicBezTo>
                  <a:cubicBezTo>
                    <a:pt x="38100" y="0"/>
                    <a:pt x="30480" y="3048"/>
                    <a:pt x="22860" y="6096"/>
                  </a:cubicBezTo>
                  <a:close/>
                </a:path>
              </a:pathLst>
            </a:custGeom>
            <a:solidFill>
              <a:srgbClr val="000000"/>
            </a:solidFill>
          </p:spPr>
          <p:txBody>
            <a:bodyPr/>
            <a:lstStyle/>
            <a:p>
              <a:endParaRPr lang="en-SG"/>
            </a:p>
          </p:txBody>
        </p:sp>
      </p:grpSp>
      <p:grpSp>
        <p:nvGrpSpPr>
          <p:cNvPr id="13" name="Group 13"/>
          <p:cNvGrpSpPr/>
          <p:nvPr/>
        </p:nvGrpSpPr>
        <p:grpSpPr>
          <a:xfrm>
            <a:off x="1815084" y="4666488"/>
            <a:ext cx="91440" cy="91440"/>
            <a:chOff x="0" y="0"/>
            <a:chExt cx="91440" cy="91440"/>
          </a:xfrm>
        </p:grpSpPr>
        <p:sp>
          <p:nvSpPr>
            <p:cNvPr id="14" name="Freeform 14"/>
            <p:cNvSpPr/>
            <p:nvPr/>
          </p:nvSpPr>
          <p:spPr>
            <a:xfrm>
              <a:off x="0" y="0"/>
              <a:ext cx="91440" cy="91440"/>
            </a:xfrm>
            <a:custGeom>
              <a:avLst/>
              <a:gdLst/>
              <a:ahLst/>
              <a:cxnLst/>
              <a:rect l="l" t="t" r="r" b="b"/>
              <a:pathLst>
                <a:path w="91440" h="91440">
                  <a:moveTo>
                    <a:pt x="22860" y="4572"/>
                  </a:moveTo>
                  <a:cubicBezTo>
                    <a:pt x="15240" y="9144"/>
                    <a:pt x="10668" y="15240"/>
                    <a:pt x="6096" y="22860"/>
                  </a:cubicBezTo>
                  <a:cubicBezTo>
                    <a:pt x="1524" y="28956"/>
                    <a:pt x="0" y="36576"/>
                    <a:pt x="0" y="45720"/>
                  </a:cubicBezTo>
                  <a:cubicBezTo>
                    <a:pt x="0" y="57912"/>
                    <a:pt x="4572" y="68580"/>
                    <a:pt x="13716" y="77724"/>
                  </a:cubicBezTo>
                  <a:cubicBezTo>
                    <a:pt x="22860" y="86868"/>
                    <a:pt x="33528" y="91440"/>
                    <a:pt x="45720" y="91440"/>
                  </a:cubicBezTo>
                  <a:cubicBezTo>
                    <a:pt x="57912" y="91440"/>
                    <a:pt x="68580" y="86868"/>
                    <a:pt x="77724" y="77724"/>
                  </a:cubicBezTo>
                  <a:cubicBezTo>
                    <a:pt x="86868" y="68580"/>
                    <a:pt x="91440" y="57912"/>
                    <a:pt x="91440" y="45720"/>
                  </a:cubicBezTo>
                  <a:cubicBezTo>
                    <a:pt x="91440" y="36576"/>
                    <a:pt x="89916" y="28956"/>
                    <a:pt x="85344" y="22860"/>
                  </a:cubicBezTo>
                  <a:cubicBezTo>
                    <a:pt x="80772" y="15240"/>
                    <a:pt x="74676" y="9144"/>
                    <a:pt x="68580" y="4572"/>
                  </a:cubicBezTo>
                  <a:cubicBezTo>
                    <a:pt x="60960" y="1524"/>
                    <a:pt x="53340" y="0"/>
                    <a:pt x="45720" y="0"/>
                  </a:cubicBezTo>
                  <a:cubicBezTo>
                    <a:pt x="38100" y="0"/>
                    <a:pt x="30480" y="1524"/>
                    <a:pt x="22860" y="4572"/>
                  </a:cubicBezTo>
                  <a:close/>
                </a:path>
              </a:pathLst>
            </a:custGeom>
            <a:solidFill>
              <a:srgbClr val="000000"/>
            </a:solidFill>
          </p:spPr>
          <p:txBody>
            <a:bodyPr/>
            <a:lstStyle/>
            <a:p>
              <a:endParaRPr lang="en-SG"/>
            </a:p>
          </p:txBody>
        </p:sp>
      </p:grpSp>
      <p:grpSp>
        <p:nvGrpSpPr>
          <p:cNvPr id="15" name="Group 15"/>
          <p:cNvGrpSpPr/>
          <p:nvPr/>
        </p:nvGrpSpPr>
        <p:grpSpPr>
          <a:xfrm>
            <a:off x="1815084" y="5629656"/>
            <a:ext cx="91440" cy="91440"/>
            <a:chOff x="0" y="0"/>
            <a:chExt cx="91440" cy="91440"/>
          </a:xfrm>
        </p:grpSpPr>
        <p:sp>
          <p:nvSpPr>
            <p:cNvPr id="16" name="Freeform 16"/>
            <p:cNvSpPr/>
            <p:nvPr/>
          </p:nvSpPr>
          <p:spPr>
            <a:xfrm>
              <a:off x="0" y="0"/>
              <a:ext cx="91440" cy="91440"/>
            </a:xfrm>
            <a:custGeom>
              <a:avLst/>
              <a:gdLst/>
              <a:ahLst/>
              <a:cxnLst/>
              <a:rect l="l" t="t" r="r" b="b"/>
              <a:pathLst>
                <a:path w="91440" h="91440">
                  <a:moveTo>
                    <a:pt x="22860" y="6096"/>
                  </a:moveTo>
                  <a:cubicBezTo>
                    <a:pt x="15240" y="10668"/>
                    <a:pt x="10668" y="15240"/>
                    <a:pt x="6096" y="22860"/>
                  </a:cubicBezTo>
                  <a:cubicBezTo>
                    <a:pt x="1524" y="30480"/>
                    <a:pt x="0" y="38100"/>
                    <a:pt x="0" y="45720"/>
                  </a:cubicBezTo>
                  <a:cubicBezTo>
                    <a:pt x="0" y="57912"/>
                    <a:pt x="4572" y="70104"/>
                    <a:pt x="13716" y="77724"/>
                  </a:cubicBezTo>
                  <a:cubicBezTo>
                    <a:pt x="22860" y="86868"/>
                    <a:pt x="33528" y="91440"/>
                    <a:pt x="45720" y="91440"/>
                  </a:cubicBezTo>
                  <a:cubicBezTo>
                    <a:pt x="57912" y="91440"/>
                    <a:pt x="68580" y="86868"/>
                    <a:pt x="77724" y="77724"/>
                  </a:cubicBezTo>
                  <a:cubicBezTo>
                    <a:pt x="86868" y="70104"/>
                    <a:pt x="91440" y="57912"/>
                    <a:pt x="91440" y="45720"/>
                  </a:cubicBezTo>
                  <a:cubicBezTo>
                    <a:pt x="91440" y="38100"/>
                    <a:pt x="89916" y="30480"/>
                    <a:pt x="85344" y="22860"/>
                  </a:cubicBezTo>
                  <a:cubicBezTo>
                    <a:pt x="80772" y="15240"/>
                    <a:pt x="74676" y="10668"/>
                    <a:pt x="68580" y="6096"/>
                  </a:cubicBezTo>
                  <a:cubicBezTo>
                    <a:pt x="60960" y="1524"/>
                    <a:pt x="53340" y="0"/>
                    <a:pt x="45720" y="0"/>
                  </a:cubicBezTo>
                  <a:cubicBezTo>
                    <a:pt x="38100" y="0"/>
                    <a:pt x="30480" y="1524"/>
                    <a:pt x="22860" y="6096"/>
                  </a:cubicBezTo>
                  <a:close/>
                </a:path>
              </a:pathLst>
            </a:custGeom>
            <a:solidFill>
              <a:srgbClr val="000000"/>
            </a:solidFill>
          </p:spPr>
          <p:txBody>
            <a:bodyPr/>
            <a:lstStyle/>
            <a:p>
              <a:endParaRPr lang="en-SG"/>
            </a:p>
          </p:txBody>
        </p:sp>
      </p:grpSp>
      <p:grpSp>
        <p:nvGrpSpPr>
          <p:cNvPr id="17" name="Group 17"/>
          <p:cNvGrpSpPr/>
          <p:nvPr/>
        </p:nvGrpSpPr>
        <p:grpSpPr>
          <a:xfrm>
            <a:off x="1815084" y="5952744"/>
            <a:ext cx="91440" cy="91440"/>
            <a:chOff x="0" y="0"/>
            <a:chExt cx="91440" cy="91440"/>
          </a:xfrm>
        </p:grpSpPr>
        <p:sp>
          <p:nvSpPr>
            <p:cNvPr id="18" name="Freeform 18"/>
            <p:cNvSpPr/>
            <p:nvPr/>
          </p:nvSpPr>
          <p:spPr>
            <a:xfrm>
              <a:off x="0" y="0"/>
              <a:ext cx="91440" cy="91440"/>
            </a:xfrm>
            <a:custGeom>
              <a:avLst/>
              <a:gdLst/>
              <a:ahLst/>
              <a:cxnLst/>
              <a:rect l="l" t="t" r="r" b="b"/>
              <a:pathLst>
                <a:path w="91440" h="91440">
                  <a:moveTo>
                    <a:pt x="22860" y="6096"/>
                  </a:moveTo>
                  <a:cubicBezTo>
                    <a:pt x="15240" y="10668"/>
                    <a:pt x="10668" y="15240"/>
                    <a:pt x="6096" y="22860"/>
                  </a:cubicBezTo>
                  <a:cubicBezTo>
                    <a:pt x="1524" y="30480"/>
                    <a:pt x="0" y="38100"/>
                    <a:pt x="0" y="45720"/>
                  </a:cubicBezTo>
                  <a:cubicBezTo>
                    <a:pt x="0" y="57912"/>
                    <a:pt x="4572" y="68580"/>
                    <a:pt x="13716" y="77724"/>
                  </a:cubicBezTo>
                  <a:cubicBezTo>
                    <a:pt x="22860" y="86868"/>
                    <a:pt x="33528" y="91440"/>
                    <a:pt x="45720" y="91440"/>
                  </a:cubicBezTo>
                  <a:cubicBezTo>
                    <a:pt x="57912" y="91440"/>
                    <a:pt x="68580" y="86868"/>
                    <a:pt x="77724" y="77724"/>
                  </a:cubicBezTo>
                  <a:cubicBezTo>
                    <a:pt x="86868" y="68580"/>
                    <a:pt x="91440" y="57912"/>
                    <a:pt x="91440" y="45720"/>
                  </a:cubicBezTo>
                  <a:cubicBezTo>
                    <a:pt x="91440" y="38100"/>
                    <a:pt x="89916" y="30480"/>
                    <a:pt x="85344" y="22860"/>
                  </a:cubicBezTo>
                  <a:cubicBezTo>
                    <a:pt x="80772" y="15240"/>
                    <a:pt x="74676" y="10668"/>
                    <a:pt x="68580" y="6096"/>
                  </a:cubicBezTo>
                  <a:cubicBezTo>
                    <a:pt x="60960" y="1524"/>
                    <a:pt x="53340" y="0"/>
                    <a:pt x="45720" y="0"/>
                  </a:cubicBezTo>
                  <a:cubicBezTo>
                    <a:pt x="38100" y="0"/>
                    <a:pt x="30480" y="1524"/>
                    <a:pt x="22860" y="6096"/>
                  </a:cubicBezTo>
                  <a:close/>
                </a:path>
              </a:pathLst>
            </a:custGeom>
            <a:solidFill>
              <a:srgbClr val="000000"/>
            </a:solidFill>
          </p:spPr>
          <p:txBody>
            <a:bodyPr/>
            <a:lstStyle/>
            <a:p>
              <a:endParaRPr lang="en-SG"/>
            </a:p>
          </p:txBody>
        </p:sp>
      </p:grpSp>
      <p:sp>
        <p:nvSpPr>
          <p:cNvPr id="19" name="Freeform 19"/>
          <p:cNvSpPr/>
          <p:nvPr/>
        </p:nvSpPr>
        <p:spPr>
          <a:xfrm>
            <a:off x="1594609" y="2297173"/>
            <a:ext cx="3655057" cy="322069"/>
          </a:xfrm>
          <a:custGeom>
            <a:avLst/>
            <a:gdLst/>
            <a:ahLst/>
            <a:cxnLst/>
            <a:rect l="l" t="t" r="r" b="b"/>
            <a:pathLst>
              <a:path w="3655057" h="322069">
                <a:moveTo>
                  <a:pt x="0" y="0"/>
                </a:moveTo>
                <a:lnTo>
                  <a:pt x="3655057" y="0"/>
                </a:lnTo>
                <a:lnTo>
                  <a:pt x="3655057" y="322069"/>
                </a:lnTo>
                <a:lnTo>
                  <a:pt x="0" y="32206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SG"/>
          </a:p>
        </p:txBody>
      </p:sp>
      <p:sp>
        <p:nvSpPr>
          <p:cNvPr id="20" name="TextBox 20"/>
          <p:cNvSpPr txBox="1"/>
          <p:nvPr/>
        </p:nvSpPr>
        <p:spPr>
          <a:xfrm>
            <a:off x="1632385" y="1334119"/>
            <a:ext cx="3015777" cy="523504"/>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Satellite Set Up</a:t>
            </a:r>
          </a:p>
        </p:txBody>
      </p:sp>
      <p:sp>
        <p:nvSpPr>
          <p:cNvPr id="21" name="TextBox 21"/>
          <p:cNvSpPr txBox="1"/>
          <p:nvPr/>
        </p:nvSpPr>
        <p:spPr>
          <a:xfrm>
            <a:off x="1632309" y="2922118"/>
            <a:ext cx="1862795" cy="289636"/>
          </a:xfrm>
          <a:prstGeom prst="rect">
            <a:avLst/>
          </a:prstGeom>
        </p:spPr>
        <p:txBody>
          <a:bodyPr lIns="0" tIns="0" rIns="0" bIns="0" rtlCol="0" anchor="t">
            <a:spAutoFit/>
          </a:bodyPr>
          <a:lstStyle/>
          <a:p>
            <a:pPr algn="l">
              <a:lnSpc>
                <a:spcPts val="2301"/>
              </a:lnSpc>
            </a:pPr>
            <a:r>
              <a:rPr lang="en-US" sz="1644" spc="-13">
                <a:solidFill>
                  <a:srgbClr val="3C78D8"/>
                </a:solidFill>
                <a:latin typeface="Montserrat"/>
                <a:ea typeface="Montserrat"/>
                <a:cs typeface="Montserrat"/>
                <a:sym typeface="Montserrat"/>
              </a:rPr>
              <a:t>Follow the guide: </a:t>
            </a:r>
          </a:p>
        </p:txBody>
      </p:sp>
      <p:sp>
        <p:nvSpPr>
          <p:cNvPr id="22" name="TextBox 22"/>
          <p:cNvSpPr txBox="1"/>
          <p:nvPr/>
        </p:nvSpPr>
        <p:spPr>
          <a:xfrm>
            <a:off x="2167223" y="3224603"/>
            <a:ext cx="6626790" cy="951757"/>
          </a:xfrm>
          <a:prstGeom prst="rect">
            <a:avLst/>
          </a:prstGeom>
        </p:spPr>
        <p:txBody>
          <a:bodyPr lIns="0" tIns="0" rIns="0" bIns="0" rtlCol="0" anchor="t">
            <a:spAutoFit/>
          </a:bodyPr>
          <a:lstStyle/>
          <a:p>
            <a:pPr algn="l">
              <a:lnSpc>
                <a:spcPts val="2531"/>
              </a:lnSpc>
            </a:pPr>
            <a:r>
              <a:rPr lang="en-US" sz="1644" spc="-13">
                <a:solidFill>
                  <a:srgbClr val="000000"/>
                </a:solidFill>
                <a:latin typeface="Montserrat"/>
                <a:ea typeface="Montserrat"/>
                <a:cs typeface="Montserrat"/>
                <a:sym typeface="Montserrat"/>
              </a:rPr>
              <a:t>Read carefully and understand each step before proceeding. Strictly adhere to the guide's sequence; do not skip or advance independently. </a:t>
            </a:r>
          </a:p>
        </p:txBody>
      </p:sp>
      <p:sp>
        <p:nvSpPr>
          <p:cNvPr id="23" name="TextBox 23"/>
          <p:cNvSpPr txBox="1"/>
          <p:nvPr/>
        </p:nvSpPr>
        <p:spPr>
          <a:xfrm>
            <a:off x="1632309" y="4209926"/>
            <a:ext cx="4457329" cy="289636"/>
          </a:xfrm>
          <a:prstGeom prst="rect">
            <a:avLst/>
          </a:prstGeom>
        </p:spPr>
        <p:txBody>
          <a:bodyPr lIns="0" tIns="0" rIns="0" bIns="0" rtlCol="0" anchor="t">
            <a:spAutoFit/>
          </a:bodyPr>
          <a:lstStyle/>
          <a:p>
            <a:pPr algn="l">
              <a:lnSpc>
                <a:spcPts val="2301"/>
              </a:lnSpc>
            </a:pPr>
            <a:r>
              <a:rPr lang="en-US" sz="1644" spc="-13">
                <a:solidFill>
                  <a:srgbClr val="FF0000"/>
                </a:solidFill>
                <a:latin typeface="Montserrat"/>
                <a:ea typeface="Montserrat"/>
                <a:cs typeface="Montserrat"/>
                <a:sym typeface="Montserrat"/>
              </a:rPr>
              <a:t>Do not power subsystems until instructed:</a:t>
            </a:r>
          </a:p>
        </p:txBody>
      </p:sp>
      <p:sp>
        <p:nvSpPr>
          <p:cNvPr id="24" name="TextBox 24"/>
          <p:cNvSpPr txBox="1"/>
          <p:nvPr/>
        </p:nvSpPr>
        <p:spPr>
          <a:xfrm>
            <a:off x="2167223" y="4513869"/>
            <a:ext cx="7042071" cy="628755"/>
          </a:xfrm>
          <a:prstGeom prst="rect">
            <a:avLst/>
          </a:prstGeom>
        </p:spPr>
        <p:txBody>
          <a:bodyPr lIns="0" tIns="0" rIns="0" bIns="0" rtlCol="0" anchor="t">
            <a:spAutoFit/>
          </a:bodyPr>
          <a:lstStyle/>
          <a:p>
            <a:pPr algn="l">
              <a:lnSpc>
                <a:spcPts val="2520"/>
              </a:lnSpc>
            </a:pPr>
            <a:r>
              <a:rPr lang="en-US" sz="1644" spc="-13">
                <a:solidFill>
                  <a:srgbClr val="000000"/>
                </a:solidFill>
                <a:latin typeface="Montserrat"/>
                <a:ea typeface="Montserrat"/>
                <a:cs typeface="Montserrat"/>
                <a:sym typeface="Montserrat"/>
              </a:rPr>
              <a:t>Avoid connecting or powering subsystems prematurely to prevent conflicts. Keep the RBF plugged in.</a:t>
            </a:r>
          </a:p>
        </p:txBody>
      </p:sp>
      <p:sp>
        <p:nvSpPr>
          <p:cNvPr id="25" name="TextBox 25"/>
          <p:cNvSpPr txBox="1"/>
          <p:nvPr/>
        </p:nvSpPr>
        <p:spPr>
          <a:xfrm>
            <a:off x="1632309" y="5175990"/>
            <a:ext cx="3458528" cy="289636"/>
          </a:xfrm>
          <a:prstGeom prst="rect">
            <a:avLst/>
          </a:prstGeom>
        </p:spPr>
        <p:txBody>
          <a:bodyPr lIns="0" tIns="0" rIns="0" bIns="0" rtlCol="0" anchor="t">
            <a:spAutoFit/>
          </a:bodyPr>
          <a:lstStyle/>
          <a:p>
            <a:pPr algn="l">
              <a:lnSpc>
                <a:spcPts val="2301"/>
              </a:lnSpc>
            </a:pPr>
            <a:r>
              <a:rPr lang="en-US" sz="1644" spc="-13">
                <a:solidFill>
                  <a:srgbClr val="6AA84F"/>
                </a:solidFill>
                <a:latin typeface="Montserrat"/>
                <a:ea typeface="Montserrat"/>
                <a:cs typeface="Montserrat"/>
                <a:sym typeface="Montserrat"/>
              </a:rPr>
              <a:t>Use the screwdriver set correctly:</a:t>
            </a:r>
          </a:p>
        </p:txBody>
      </p:sp>
      <p:sp>
        <p:nvSpPr>
          <p:cNvPr id="26" name="TextBox 26"/>
          <p:cNvSpPr txBox="1"/>
          <p:nvPr/>
        </p:nvSpPr>
        <p:spPr>
          <a:xfrm>
            <a:off x="2167223" y="5477008"/>
            <a:ext cx="7689485" cy="953424"/>
          </a:xfrm>
          <a:prstGeom prst="rect">
            <a:avLst/>
          </a:prstGeom>
        </p:spPr>
        <p:txBody>
          <a:bodyPr lIns="0" tIns="0" rIns="0" bIns="0" rtlCol="0" anchor="t">
            <a:spAutoFit/>
          </a:bodyPr>
          <a:lstStyle/>
          <a:p>
            <a:pPr algn="l">
              <a:lnSpc>
                <a:spcPts val="2536"/>
              </a:lnSpc>
            </a:pPr>
            <a:r>
              <a:rPr lang="en-US" sz="1644" spc="-13">
                <a:solidFill>
                  <a:srgbClr val="000000"/>
                </a:solidFill>
                <a:latin typeface="Montserrat"/>
                <a:ea typeface="Montserrat"/>
                <a:cs typeface="Montserrat"/>
                <a:sym typeface="Montserrat"/>
              </a:rPr>
              <a:t>Use the right size of the screwdriver inserts for each specific screw. </a:t>
            </a:r>
          </a:p>
          <a:p>
            <a:pPr algn="l">
              <a:lnSpc>
                <a:spcPts val="2536"/>
              </a:lnSpc>
            </a:pPr>
            <a:r>
              <a:rPr lang="en-US" sz="1644" spc="-13">
                <a:solidFill>
                  <a:srgbClr val="000000"/>
                </a:solidFill>
                <a:latin typeface="Montserrat"/>
                <a:ea typeface="Montserrat"/>
                <a:cs typeface="Montserrat"/>
                <a:sym typeface="Montserrat"/>
              </a:rPr>
              <a:t>Avoid over-tightening screws; tighten securely without excessive force to prevent damage.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1801368" y="3407664"/>
            <a:ext cx="103632" cy="103632"/>
            <a:chOff x="0" y="0"/>
            <a:chExt cx="103632" cy="103632"/>
          </a:xfrm>
        </p:grpSpPr>
        <p:sp>
          <p:nvSpPr>
            <p:cNvPr id="10" name="Freeform 10"/>
            <p:cNvSpPr/>
            <p:nvPr/>
          </p:nvSpPr>
          <p:spPr>
            <a:xfrm>
              <a:off x="0" y="0"/>
              <a:ext cx="103632" cy="103632"/>
            </a:xfrm>
            <a:custGeom>
              <a:avLst/>
              <a:gdLst/>
              <a:ahLst/>
              <a:cxnLst/>
              <a:rect l="l" t="t" r="r" b="b"/>
              <a:pathLst>
                <a:path w="103632" h="103632">
                  <a:moveTo>
                    <a:pt x="27432" y="7620"/>
                  </a:moveTo>
                  <a:cubicBezTo>
                    <a:pt x="18288" y="12192"/>
                    <a:pt x="12192" y="18288"/>
                    <a:pt x="7620" y="25908"/>
                  </a:cubicBezTo>
                  <a:cubicBezTo>
                    <a:pt x="3048" y="35052"/>
                    <a:pt x="0" y="42672"/>
                    <a:pt x="0" y="51816"/>
                  </a:cubicBezTo>
                  <a:cubicBezTo>
                    <a:pt x="0" y="67056"/>
                    <a:pt x="6096" y="79248"/>
                    <a:pt x="15240" y="88392"/>
                  </a:cubicBezTo>
                  <a:cubicBezTo>
                    <a:pt x="25908" y="99060"/>
                    <a:pt x="38100" y="103632"/>
                    <a:pt x="51816" y="103632"/>
                  </a:cubicBezTo>
                  <a:cubicBezTo>
                    <a:pt x="67056" y="103632"/>
                    <a:pt x="79248" y="99060"/>
                    <a:pt x="88392" y="88392"/>
                  </a:cubicBezTo>
                  <a:cubicBezTo>
                    <a:pt x="99060" y="79248"/>
                    <a:pt x="103632" y="67056"/>
                    <a:pt x="103632" y="51816"/>
                  </a:cubicBezTo>
                  <a:cubicBezTo>
                    <a:pt x="103632" y="42672"/>
                    <a:pt x="102108" y="35052"/>
                    <a:pt x="97536" y="25908"/>
                  </a:cubicBezTo>
                  <a:cubicBezTo>
                    <a:pt x="92964" y="18288"/>
                    <a:pt x="86868" y="12192"/>
                    <a:pt x="77724" y="7620"/>
                  </a:cubicBezTo>
                  <a:cubicBezTo>
                    <a:pt x="70104" y="3048"/>
                    <a:pt x="60960" y="0"/>
                    <a:pt x="51816" y="0"/>
                  </a:cubicBezTo>
                  <a:cubicBezTo>
                    <a:pt x="44196" y="0"/>
                    <a:pt x="35052" y="3048"/>
                    <a:pt x="27432" y="7620"/>
                  </a:cubicBezTo>
                  <a:close/>
                </a:path>
              </a:pathLst>
            </a:custGeom>
            <a:solidFill>
              <a:srgbClr val="000000"/>
            </a:solidFill>
          </p:spPr>
          <p:txBody>
            <a:bodyPr/>
            <a:lstStyle/>
            <a:p>
              <a:endParaRPr lang="en-SG"/>
            </a:p>
          </p:txBody>
        </p:sp>
      </p:grpSp>
      <p:grpSp>
        <p:nvGrpSpPr>
          <p:cNvPr id="11" name="Group 11"/>
          <p:cNvGrpSpPr/>
          <p:nvPr/>
        </p:nvGrpSpPr>
        <p:grpSpPr>
          <a:xfrm>
            <a:off x="1801368" y="4143756"/>
            <a:ext cx="103632" cy="103632"/>
            <a:chOff x="0" y="0"/>
            <a:chExt cx="103632" cy="103632"/>
          </a:xfrm>
        </p:grpSpPr>
        <p:sp>
          <p:nvSpPr>
            <p:cNvPr id="12" name="Freeform 12"/>
            <p:cNvSpPr/>
            <p:nvPr/>
          </p:nvSpPr>
          <p:spPr>
            <a:xfrm>
              <a:off x="0" y="0"/>
              <a:ext cx="103632" cy="103632"/>
            </a:xfrm>
            <a:custGeom>
              <a:avLst/>
              <a:gdLst/>
              <a:ahLst/>
              <a:cxnLst/>
              <a:rect l="l" t="t" r="r" b="b"/>
              <a:pathLst>
                <a:path w="103632" h="103632">
                  <a:moveTo>
                    <a:pt x="27432" y="7620"/>
                  </a:moveTo>
                  <a:cubicBezTo>
                    <a:pt x="18288" y="12192"/>
                    <a:pt x="12192" y="18288"/>
                    <a:pt x="7620" y="25908"/>
                  </a:cubicBezTo>
                  <a:cubicBezTo>
                    <a:pt x="3048" y="35052"/>
                    <a:pt x="0" y="44196"/>
                    <a:pt x="0" y="51816"/>
                  </a:cubicBezTo>
                  <a:cubicBezTo>
                    <a:pt x="0" y="67056"/>
                    <a:pt x="6096" y="79248"/>
                    <a:pt x="15240" y="89916"/>
                  </a:cubicBezTo>
                  <a:cubicBezTo>
                    <a:pt x="25908" y="99060"/>
                    <a:pt x="38100" y="103632"/>
                    <a:pt x="51816" y="103632"/>
                  </a:cubicBezTo>
                  <a:cubicBezTo>
                    <a:pt x="67056" y="103632"/>
                    <a:pt x="79248" y="99060"/>
                    <a:pt x="88392" y="89916"/>
                  </a:cubicBezTo>
                  <a:cubicBezTo>
                    <a:pt x="99060" y="79248"/>
                    <a:pt x="103632" y="67056"/>
                    <a:pt x="103632" y="51816"/>
                  </a:cubicBezTo>
                  <a:cubicBezTo>
                    <a:pt x="103632" y="44196"/>
                    <a:pt x="102108" y="35052"/>
                    <a:pt x="97536" y="25908"/>
                  </a:cubicBezTo>
                  <a:cubicBezTo>
                    <a:pt x="92964" y="18288"/>
                    <a:pt x="86868" y="12192"/>
                    <a:pt x="77724" y="7620"/>
                  </a:cubicBezTo>
                  <a:cubicBezTo>
                    <a:pt x="70104" y="3048"/>
                    <a:pt x="60960" y="0"/>
                    <a:pt x="51816" y="0"/>
                  </a:cubicBezTo>
                  <a:cubicBezTo>
                    <a:pt x="44196" y="0"/>
                    <a:pt x="35052" y="3048"/>
                    <a:pt x="27432" y="7620"/>
                  </a:cubicBezTo>
                  <a:close/>
                </a:path>
              </a:pathLst>
            </a:custGeom>
            <a:solidFill>
              <a:srgbClr val="000000"/>
            </a:solidFill>
          </p:spPr>
          <p:txBody>
            <a:bodyPr/>
            <a:lstStyle/>
            <a:p>
              <a:endParaRPr lang="en-SG"/>
            </a:p>
          </p:txBody>
        </p:sp>
      </p:grpSp>
      <p:sp>
        <p:nvSpPr>
          <p:cNvPr id="13" name="Freeform 13"/>
          <p:cNvSpPr/>
          <p:nvPr/>
        </p:nvSpPr>
        <p:spPr>
          <a:xfrm>
            <a:off x="2167128" y="4279392"/>
            <a:ext cx="6347460" cy="13716"/>
          </a:xfrm>
          <a:custGeom>
            <a:avLst/>
            <a:gdLst/>
            <a:ahLst/>
            <a:cxnLst/>
            <a:rect l="l" t="t" r="r" b="b"/>
            <a:pathLst>
              <a:path w="6347460" h="13716">
                <a:moveTo>
                  <a:pt x="0" y="0"/>
                </a:moveTo>
                <a:lnTo>
                  <a:pt x="6347460" y="0"/>
                </a:lnTo>
                <a:lnTo>
                  <a:pt x="6347460" y="13716"/>
                </a:lnTo>
                <a:lnTo>
                  <a:pt x="0" y="1371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SG"/>
          </a:p>
        </p:txBody>
      </p:sp>
      <p:sp>
        <p:nvSpPr>
          <p:cNvPr id="14" name="Freeform 14"/>
          <p:cNvSpPr/>
          <p:nvPr/>
        </p:nvSpPr>
        <p:spPr>
          <a:xfrm>
            <a:off x="2167128" y="4646676"/>
            <a:ext cx="2287524" cy="13716"/>
          </a:xfrm>
          <a:custGeom>
            <a:avLst/>
            <a:gdLst/>
            <a:ahLst/>
            <a:cxnLst/>
            <a:rect l="l" t="t" r="r" b="b"/>
            <a:pathLst>
              <a:path w="2287524" h="13716">
                <a:moveTo>
                  <a:pt x="0" y="0"/>
                </a:moveTo>
                <a:lnTo>
                  <a:pt x="2287524" y="0"/>
                </a:lnTo>
                <a:lnTo>
                  <a:pt x="2287524" y="13716"/>
                </a:lnTo>
                <a:lnTo>
                  <a:pt x="0" y="1371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SG"/>
          </a:p>
        </p:txBody>
      </p:sp>
      <p:grpSp>
        <p:nvGrpSpPr>
          <p:cNvPr id="15" name="Group 15"/>
          <p:cNvGrpSpPr/>
          <p:nvPr/>
        </p:nvGrpSpPr>
        <p:grpSpPr>
          <a:xfrm>
            <a:off x="8258556" y="4572000"/>
            <a:ext cx="845820" cy="845820"/>
            <a:chOff x="0" y="0"/>
            <a:chExt cx="1127760" cy="1127760"/>
          </a:xfrm>
        </p:grpSpPr>
        <p:sp>
          <p:nvSpPr>
            <p:cNvPr id="16" name="Freeform 16"/>
            <p:cNvSpPr/>
            <p:nvPr/>
          </p:nvSpPr>
          <p:spPr>
            <a:xfrm>
              <a:off x="0" y="0"/>
              <a:ext cx="1127760" cy="1127760"/>
            </a:xfrm>
            <a:custGeom>
              <a:avLst/>
              <a:gdLst/>
              <a:ahLst/>
              <a:cxnLst/>
              <a:rect l="l" t="t" r="r" b="b"/>
              <a:pathLst>
                <a:path w="1127760" h="1127760">
                  <a:moveTo>
                    <a:pt x="0" y="0"/>
                  </a:moveTo>
                  <a:lnTo>
                    <a:pt x="1127760" y="0"/>
                  </a:lnTo>
                  <a:lnTo>
                    <a:pt x="1127760" y="1127760"/>
                  </a:lnTo>
                  <a:lnTo>
                    <a:pt x="0" y="1127760"/>
                  </a:lnTo>
                  <a:lnTo>
                    <a:pt x="0" y="0"/>
                  </a:lnTo>
                  <a:close/>
                </a:path>
              </a:pathLst>
            </a:custGeom>
            <a:blipFill>
              <a:blip r:embed="rId6"/>
              <a:stretch>
                <a:fillRect l="-180" t="-360" r="-180"/>
              </a:stretch>
            </a:blipFill>
          </p:spPr>
          <p:txBody>
            <a:bodyPr/>
            <a:lstStyle/>
            <a:p>
              <a:endParaRPr lang="en-SG"/>
            </a:p>
          </p:txBody>
        </p:sp>
      </p:grpSp>
      <p:sp>
        <p:nvSpPr>
          <p:cNvPr id="17" name="TextBox 17"/>
          <p:cNvSpPr txBox="1"/>
          <p:nvPr/>
        </p:nvSpPr>
        <p:spPr>
          <a:xfrm>
            <a:off x="1632385" y="1334119"/>
            <a:ext cx="2455888" cy="523504"/>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EPS Testing!</a:t>
            </a:r>
          </a:p>
        </p:txBody>
      </p:sp>
      <p:sp>
        <p:nvSpPr>
          <p:cNvPr id="18" name="TextBox 18"/>
          <p:cNvSpPr txBox="1"/>
          <p:nvPr/>
        </p:nvSpPr>
        <p:spPr>
          <a:xfrm>
            <a:off x="1632109" y="2504808"/>
            <a:ext cx="8178765" cy="710889"/>
          </a:xfrm>
          <a:prstGeom prst="rect">
            <a:avLst/>
          </a:prstGeom>
        </p:spPr>
        <p:txBody>
          <a:bodyPr lIns="0" tIns="0" rIns="0" bIns="0" rtlCol="0" anchor="t">
            <a:spAutoFit/>
          </a:bodyPr>
          <a:lstStyle/>
          <a:p>
            <a:pPr algn="l">
              <a:lnSpc>
                <a:spcPts val="2892"/>
              </a:lnSpc>
            </a:pPr>
            <a:r>
              <a:rPr lang="en-US" sz="1872" spc="-14">
                <a:solidFill>
                  <a:srgbClr val="000000"/>
                </a:solidFill>
                <a:latin typeface="Montserrat"/>
                <a:ea typeface="Montserrat"/>
                <a:cs typeface="Montserrat"/>
                <a:sym typeface="Montserrat"/>
              </a:rPr>
              <a:t>By looking at the EPS schematics, use the continuity function of the multimeter to check ground connections around the board.</a:t>
            </a:r>
          </a:p>
        </p:txBody>
      </p:sp>
      <p:sp>
        <p:nvSpPr>
          <p:cNvPr id="19" name="TextBox 19"/>
          <p:cNvSpPr txBox="1"/>
          <p:nvPr/>
        </p:nvSpPr>
        <p:spPr>
          <a:xfrm>
            <a:off x="2167033" y="3240862"/>
            <a:ext cx="7446416" cy="1446943"/>
          </a:xfrm>
          <a:prstGeom prst="rect">
            <a:avLst/>
          </a:prstGeom>
        </p:spPr>
        <p:txBody>
          <a:bodyPr lIns="0" tIns="0" rIns="0" bIns="0" rtlCol="0" anchor="t">
            <a:spAutoFit/>
          </a:bodyPr>
          <a:lstStyle/>
          <a:p>
            <a:pPr algn="l">
              <a:lnSpc>
                <a:spcPts val="2895"/>
              </a:lnSpc>
            </a:pPr>
            <a:r>
              <a:rPr lang="en-US" sz="1872" spc="-14">
                <a:solidFill>
                  <a:srgbClr val="000000"/>
                </a:solidFill>
                <a:latin typeface="Montserrat"/>
                <a:ea typeface="Montserrat"/>
                <a:cs typeface="Montserrat"/>
                <a:sym typeface="Montserrat"/>
              </a:rPr>
              <a:t>Find and show me at least 5 ground (GND) connections using the multimeter.</a:t>
            </a:r>
          </a:p>
          <a:p>
            <a:pPr algn="l">
              <a:lnSpc>
                <a:spcPts val="2895"/>
              </a:lnSpc>
            </a:pPr>
            <a:r>
              <a:rPr lang="en-US" sz="1872" spc="-14">
                <a:solidFill>
                  <a:srgbClr val="000000"/>
                </a:solidFill>
                <a:latin typeface="Montserrat"/>
                <a:ea typeface="Montserrat"/>
                <a:cs typeface="Montserrat"/>
                <a:sym typeface="Montserrat"/>
              </a:rPr>
              <a:t>Be careful not to short circuit anything with the tips of multimeter probes!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2138172" y="2551176"/>
            <a:ext cx="3677412" cy="1588008"/>
            <a:chOff x="0" y="0"/>
            <a:chExt cx="4903216" cy="2117344"/>
          </a:xfrm>
        </p:grpSpPr>
        <p:sp>
          <p:nvSpPr>
            <p:cNvPr id="10" name="Freeform 10"/>
            <p:cNvSpPr/>
            <p:nvPr/>
          </p:nvSpPr>
          <p:spPr>
            <a:xfrm>
              <a:off x="0" y="0"/>
              <a:ext cx="4903216" cy="2117344"/>
            </a:xfrm>
            <a:custGeom>
              <a:avLst/>
              <a:gdLst/>
              <a:ahLst/>
              <a:cxnLst/>
              <a:rect l="l" t="t" r="r" b="b"/>
              <a:pathLst>
                <a:path w="4903216" h="2117344">
                  <a:moveTo>
                    <a:pt x="0" y="0"/>
                  </a:moveTo>
                  <a:lnTo>
                    <a:pt x="4903216" y="0"/>
                  </a:lnTo>
                  <a:lnTo>
                    <a:pt x="4903216" y="2117344"/>
                  </a:lnTo>
                  <a:lnTo>
                    <a:pt x="0" y="2117344"/>
                  </a:lnTo>
                  <a:lnTo>
                    <a:pt x="0" y="0"/>
                  </a:lnTo>
                  <a:close/>
                </a:path>
              </a:pathLst>
            </a:custGeom>
            <a:blipFill>
              <a:blip r:embed="rId4"/>
              <a:stretch>
                <a:fillRect l="-82" t="-95"/>
              </a:stretch>
            </a:blipFill>
          </p:spPr>
          <p:txBody>
            <a:bodyPr/>
            <a:lstStyle/>
            <a:p>
              <a:endParaRPr lang="en-SG"/>
            </a:p>
          </p:txBody>
        </p:sp>
      </p:grpSp>
      <p:grpSp>
        <p:nvGrpSpPr>
          <p:cNvPr id="11" name="Group 11"/>
          <p:cNvGrpSpPr/>
          <p:nvPr/>
        </p:nvGrpSpPr>
        <p:grpSpPr>
          <a:xfrm>
            <a:off x="2138172" y="4136136"/>
            <a:ext cx="3677412" cy="1589532"/>
            <a:chOff x="0" y="0"/>
            <a:chExt cx="4903216" cy="2119376"/>
          </a:xfrm>
        </p:grpSpPr>
        <p:sp>
          <p:nvSpPr>
            <p:cNvPr id="12" name="Freeform 12"/>
            <p:cNvSpPr/>
            <p:nvPr/>
          </p:nvSpPr>
          <p:spPr>
            <a:xfrm>
              <a:off x="0" y="0"/>
              <a:ext cx="4903216" cy="2119376"/>
            </a:xfrm>
            <a:custGeom>
              <a:avLst/>
              <a:gdLst/>
              <a:ahLst/>
              <a:cxnLst/>
              <a:rect l="l" t="t" r="r" b="b"/>
              <a:pathLst>
                <a:path w="4903216" h="2119376">
                  <a:moveTo>
                    <a:pt x="0" y="0"/>
                  </a:moveTo>
                  <a:lnTo>
                    <a:pt x="4903216" y="0"/>
                  </a:lnTo>
                  <a:lnTo>
                    <a:pt x="4903216" y="2119376"/>
                  </a:lnTo>
                  <a:lnTo>
                    <a:pt x="0" y="2119376"/>
                  </a:lnTo>
                  <a:lnTo>
                    <a:pt x="0" y="0"/>
                  </a:lnTo>
                  <a:close/>
                </a:path>
              </a:pathLst>
            </a:custGeom>
            <a:blipFill>
              <a:blip r:embed="rId5"/>
              <a:stretch>
                <a:fillRect l="-82"/>
              </a:stretch>
            </a:blipFill>
          </p:spPr>
          <p:txBody>
            <a:bodyPr/>
            <a:lstStyle/>
            <a:p>
              <a:endParaRPr lang="en-SG"/>
            </a:p>
          </p:txBody>
        </p:sp>
      </p:grpSp>
      <p:grpSp>
        <p:nvGrpSpPr>
          <p:cNvPr id="13" name="Group 13"/>
          <p:cNvGrpSpPr/>
          <p:nvPr/>
        </p:nvGrpSpPr>
        <p:grpSpPr>
          <a:xfrm>
            <a:off x="2138172" y="5721096"/>
            <a:ext cx="3677412" cy="348996"/>
            <a:chOff x="0" y="0"/>
            <a:chExt cx="4903216" cy="465328"/>
          </a:xfrm>
        </p:grpSpPr>
        <p:sp>
          <p:nvSpPr>
            <p:cNvPr id="14" name="Freeform 14"/>
            <p:cNvSpPr/>
            <p:nvPr/>
          </p:nvSpPr>
          <p:spPr>
            <a:xfrm>
              <a:off x="0" y="0"/>
              <a:ext cx="4903216" cy="465328"/>
            </a:xfrm>
            <a:custGeom>
              <a:avLst/>
              <a:gdLst/>
              <a:ahLst/>
              <a:cxnLst/>
              <a:rect l="l" t="t" r="r" b="b"/>
              <a:pathLst>
                <a:path w="4903216" h="465328">
                  <a:moveTo>
                    <a:pt x="0" y="0"/>
                  </a:moveTo>
                  <a:lnTo>
                    <a:pt x="4903216" y="0"/>
                  </a:lnTo>
                  <a:lnTo>
                    <a:pt x="4903216" y="465328"/>
                  </a:lnTo>
                  <a:lnTo>
                    <a:pt x="0" y="465328"/>
                  </a:lnTo>
                  <a:lnTo>
                    <a:pt x="0" y="0"/>
                  </a:lnTo>
                  <a:close/>
                </a:path>
              </a:pathLst>
            </a:custGeom>
            <a:blipFill>
              <a:blip r:embed="rId6"/>
              <a:stretch>
                <a:fillRect l="-82" b="-1310"/>
              </a:stretch>
            </a:blipFill>
          </p:spPr>
          <p:txBody>
            <a:bodyPr/>
            <a:lstStyle/>
            <a:p>
              <a:endParaRPr lang="en-SG"/>
            </a:p>
          </p:txBody>
        </p:sp>
      </p:grpSp>
      <p:grpSp>
        <p:nvGrpSpPr>
          <p:cNvPr id="15" name="Group 15"/>
          <p:cNvGrpSpPr/>
          <p:nvPr/>
        </p:nvGrpSpPr>
        <p:grpSpPr>
          <a:xfrm>
            <a:off x="5806440" y="2551176"/>
            <a:ext cx="2627376" cy="2218944"/>
            <a:chOff x="0" y="0"/>
            <a:chExt cx="3503168" cy="2958592"/>
          </a:xfrm>
        </p:grpSpPr>
        <p:sp>
          <p:nvSpPr>
            <p:cNvPr id="16" name="Freeform 16"/>
            <p:cNvSpPr/>
            <p:nvPr/>
          </p:nvSpPr>
          <p:spPr>
            <a:xfrm>
              <a:off x="0" y="0"/>
              <a:ext cx="3503168" cy="2958592"/>
            </a:xfrm>
            <a:custGeom>
              <a:avLst/>
              <a:gdLst/>
              <a:ahLst/>
              <a:cxnLst/>
              <a:rect l="l" t="t" r="r" b="b"/>
              <a:pathLst>
                <a:path w="3503168" h="2958592">
                  <a:moveTo>
                    <a:pt x="0" y="0"/>
                  </a:moveTo>
                  <a:lnTo>
                    <a:pt x="3503168" y="0"/>
                  </a:lnTo>
                  <a:lnTo>
                    <a:pt x="3503168" y="2958592"/>
                  </a:lnTo>
                  <a:lnTo>
                    <a:pt x="0" y="2958592"/>
                  </a:lnTo>
                  <a:lnTo>
                    <a:pt x="0" y="0"/>
                  </a:lnTo>
                  <a:close/>
                </a:path>
              </a:pathLst>
            </a:custGeom>
            <a:blipFill>
              <a:blip r:embed="rId7"/>
              <a:stretch>
                <a:fillRect l="-116" t="-68" r="-232"/>
              </a:stretch>
            </a:blipFill>
          </p:spPr>
          <p:txBody>
            <a:bodyPr/>
            <a:lstStyle/>
            <a:p>
              <a:endParaRPr lang="en-SG"/>
            </a:p>
          </p:txBody>
        </p:sp>
      </p:grpSp>
      <p:grpSp>
        <p:nvGrpSpPr>
          <p:cNvPr id="17" name="Group 17"/>
          <p:cNvGrpSpPr/>
          <p:nvPr/>
        </p:nvGrpSpPr>
        <p:grpSpPr>
          <a:xfrm>
            <a:off x="5806440" y="4767072"/>
            <a:ext cx="2627376" cy="1303020"/>
            <a:chOff x="0" y="0"/>
            <a:chExt cx="3503168" cy="1737360"/>
          </a:xfrm>
        </p:grpSpPr>
        <p:sp>
          <p:nvSpPr>
            <p:cNvPr id="18" name="Freeform 18"/>
            <p:cNvSpPr/>
            <p:nvPr/>
          </p:nvSpPr>
          <p:spPr>
            <a:xfrm>
              <a:off x="0" y="0"/>
              <a:ext cx="3503168" cy="1737360"/>
            </a:xfrm>
            <a:custGeom>
              <a:avLst/>
              <a:gdLst/>
              <a:ahLst/>
              <a:cxnLst/>
              <a:rect l="l" t="t" r="r" b="b"/>
              <a:pathLst>
                <a:path w="3503168" h="1737360">
                  <a:moveTo>
                    <a:pt x="0" y="0"/>
                  </a:moveTo>
                  <a:lnTo>
                    <a:pt x="3503168" y="0"/>
                  </a:lnTo>
                  <a:lnTo>
                    <a:pt x="3503168" y="1737360"/>
                  </a:lnTo>
                  <a:lnTo>
                    <a:pt x="0" y="1737360"/>
                  </a:lnTo>
                  <a:lnTo>
                    <a:pt x="0" y="0"/>
                  </a:lnTo>
                  <a:close/>
                </a:path>
              </a:pathLst>
            </a:custGeom>
            <a:blipFill>
              <a:blip r:embed="rId8"/>
              <a:stretch>
                <a:fillRect l="-116" r="-232" b="-350"/>
              </a:stretch>
            </a:blipFill>
          </p:spPr>
          <p:txBody>
            <a:bodyPr/>
            <a:lstStyle/>
            <a:p>
              <a:endParaRPr lang="en-SG"/>
            </a:p>
          </p:txBody>
        </p:sp>
      </p:grpSp>
      <p:sp>
        <p:nvSpPr>
          <p:cNvPr id="19" name="TextBox 19"/>
          <p:cNvSpPr txBox="1"/>
          <p:nvPr/>
        </p:nvSpPr>
        <p:spPr>
          <a:xfrm>
            <a:off x="1632385" y="1334119"/>
            <a:ext cx="6482839" cy="523504"/>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Building the Ground Station (GS)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3464052" y="1886712"/>
            <a:ext cx="3668268" cy="219456"/>
            <a:chOff x="0" y="0"/>
            <a:chExt cx="4891024" cy="292608"/>
          </a:xfrm>
        </p:grpSpPr>
        <p:sp>
          <p:nvSpPr>
            <p:cNvPr id="10" name="Freeform 10"/>
            <p:cNvSpPr/>
            <p:nvPr/>
          </p:nvSpPr>
          <p:spPr>
            <a:xfrm>
              <a:off x="0" y="0"/>
              <a:ext cx="4891024" cy="292608"/>
            </a:xfrm>
            <a:custGeom>
              <a:avLst/>
              <a:gdLst/>
              <a:ahLst/>
              <a:cxnLst/>
              <a:rect l="l" t="t" r="r" b="b"/>
              <a:pathLst>
                <a:path w="4891024" h="292608">
                  <a:moveTo>
                    <a:pt x="0" y="0"/>
                  </a:moveTo>
                  <a:lnTo>
                    <a:pt x="4891024" y="0"/>
                  </a:lnTo>
                  <a:lnTo>
                    <a:pt x="4891024" y="292608"/>
                  </a:lnTo>
                  <a:lnTo>
                    <a:pt x="0" y="292608"/>
                  </a:lnTo>
                  <a:lnTo>
                    <a:pt x="0" y="0"/>
                  </a:lnTo>
                  <a:close/>
                </a:path>
              </a:pathLst>
            </a:custGeom>
            <a:blipFill>
              <a:blip r:embed="rId4"/>
              <a:stretch>
                <a:fillRect l="-41"/>
              </a:stretch>
            </a:blipFill>
          </p:spPr>
          <p:txBody>
            <a:bodyPr/>
            <a:lstStyle/>
            <a:p>
              <a:endParaRPr lang="en-SG"/>
            </a:p>
          </p:txBody>
        </p:sp>
      </p:grpSp>
      <p:grpSp>
        <p:nvGrpSpPr>
          <p:cNvPr id="11" name="Group 11"/>
          <p:cNvGrpSpPr/>
          <p:nvPr/>
        </p:nvGrpSpPr>
        <p:grpSpPr>
          <a:xfrm>
            <a:off x="3464052" y="2103120"/>
            <a:ext cx="3668268" cy="4489704"/>
            <a:chOff x="0" y="0"/>
            <a:chExt cx="4891024" cy="5986272"/>
          </a:xfrm>
        </p:grpSpPr>
        <p:sp>
          <p:nvSpPr>
            <p:cNvPr id="12" name="Freeform 12"/>
            <p:cNvSpPr/>
            <p:nvPr/>
          </p:nvSpPr>
          <p:spPr>
            <a:xfrm>
              <a:off x="0" y="0"/>
              <a:ext cx="4891024" cy="5986272"/>
            </a:xfrm>
            <a:custGeom>
              <a:avLst/>
              <a:gdLst/>
              <a:ahLst/>
              <a:cxnLst/>
              <a:rect l="l" t="t" r="r" b="b"/>
              <a:pathLst>
                <a:path w="4891024" h="5986272">
                  <a:moveTo>
                    <a:pt x="0" y="0"/>
                  </a:moveTo>
                  <a:lnTo>
                    <a:pt x="4891024" y="0"/>
                  </a:lnTo>
                  <a:lnTo>
                    <a:pt x="4891024" y="5986272"/>
                  </a:lnTo>
                  <a:lnTo>
                    <a:pt x="0" y="5986272"/>
                  </a:lnTo>
                  <a:lnTo>
                    <a:pt x="0" y="0"/>
                  </a:lnTo>
                  <a:close/>
                </a:path>
              </a:pathLst>
            </a:custGeom>
            <a:blipFill>
              <a:blip r:embed="rId5"/>
              <a:stretch>
                <a:fillRect/>
              </a:stretch>
            </a:blipFill>
          </p:spPr>
          <p:txBody>
            <a:bodyPr/>
            <a:lstStyle/>
            <a:p>
              <a:endParaRPr lang="en-SG"/>
            </a:p>
          </p:txBody>
        </p:sp>
      </p:grpSp>
      <p:sp>
        <p:nvSpPr>
          <p:cNvPr id="13" name="TextBox 13"/>
          <p:cNvSpPr txBox="1"/>
          <p:nvPr/>
        </p:nvSpPr>
        <p:spPr>
          <a:xfrm>
            <a:off x="1632385" y="1334119"/>
            <a:ext cx="6482839" cy="523504"/>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Building the Ground Station (GS)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2772156" y="2465832"/>
            <a:ext cx="5149596" cy="155448"/>
            <a:chOff x="0" y="0"/>
            <a:chExt cx="6866128" cy="207264"/>
          </a:xfrm>
        </p:grpSpPr>
        <p:sp>
          <p:nvSpPr>
            <p:cNvPr id="10" name="Freeform 10"/>
            <p:cNvSpPr/>
            <p:nvPr/>
          </p:nvSpPr>
          <p:spPr>
            <a:xfrm>
              <a:off x="0" y="0"/>
              <a:ext cx="6866128" cy="207264"/>
            </a:xfrm>
            <a:custGeom>
              <a:avLst/>
              <a:gdLst/>
              <a:ahLst/>
              <a:cxnLst/>
              <a:rect l="l" t="t" r="r" b="b"/>
              <a:pathLst>
                <a:path w="6866128" h="207264">
                  <a:moveTo>
                    <a:pt x="0" y="0"/>
                  </a:moveTo>
                  <a:lnTo>
                    <a:pt x="6866128" y="0"/>
                  </a:lnTo>
                  <a:lnTo>
                    <a:pt x="6866128" y="207264"/>
                  </a:lnTo>
                  <a:lnTo>
                    <a:pt x="0" y="207264"/>
                  </a:lnTo>
                  <a:lnTo>
                    <a:pt x="0" y="0"/>
                  </a:lnTo>
                  <a:close/>
                </a:path>
              </a:pathLst>
            </a:custGeom>
            <a:blipFill>
              <a:blip r:embed="rId4"/>
              <a:stretch>
                <a:fillRect l="-29"/>
              </a:stretch>
            </a:blipFill>
          </p:spPr>
          <p:txBody>
            <a:bodyPr/>
            <a:lstStyle/>
            <a:p>
              <a:endParaRPr lang="en-SG"/>
            </a:p>
          </p:txBody>
        </p:sp>
      </p:grpSp>
      <p:grpSp>
        <p:nvGrpSpPr>
          <p:cNvPr id="11" name="Group 11"/>
          <p:cNvGrpSpPr/>
          <p:nvPr/>
        </p:nvGrpSpPr>
        <p:grpSpPr>
          <a:xfrm>
            <a:off x="2772156" y="2618232"/>
            <a:ext cx="5149596" cy="3355848"/>
            <a:chOff x="0" y="0"/>
            <a:chExt cx="6866128" cy="4474464"/>
          </a:xfrm>
        </p:grpSpPr>
        <p:sp>
          <p:nvSpPr>
            <p:cNvPr id="12" name="Freeform 12"/>
            <p:cNvSpPr/>
            <p:nvPr/>
          </p:nvSpPr>
          <p:spPr>
            <a:xfrm>
              <a:off x="0" y="0"/>
              <a:ext cx="6866128" cy="4474464"/>
            </a:xfrm>
            <a:custGeom>
              <a:avLst/>
              <a:gdLst/>
              <a:ahLst/>
              <a:cxnLst/>
              <a:rect l="l" t="t" r="r" b="b"/>
              <a:pathLst>
                <a:path w="6866128" h="4474464">
                  <a:moveTo>
                    <a:pt x="0" y="0"/>
                  </a:moveTo>
                  <a:lnTo>
                    <a:pt x="6866128" y="0"/>
                  </a:lnTo>
                  <a:lnTo>
                    <a:pt x="6866128" y="4474464"/>
                  </a:lnTo>
                  <a:lnTo>
                    <a:pt x="0" y="4474464"/>
                  </a:lnTo>
                  <a:lnTo>
                    <a:pt x="0" y="0"/>
                  </a:lnTo>
                  <a:close/>
                </a:path>
              </a:pathLst>
            </a:custGeom>
            <a:blipFill>
              <a:blip r:embed="rId5"/>
              <a:stretch>
                <a:fillRect/>
              </a:stretch>
            </a:blipFill>
          </p:spPr>
          <p:txBody>
            <a:bodyPr/>
            <a:lstStyle/>
            <a:p>
              <a:endParaRPr lang="en-SG"/>
            </a:p>
          </p:txBody>
        </p:sp>
      </p:grpSp>
      <p:grpSp>
        <p:nvGrpSpPr>
          <p:cNvPr id="13" name="Group 13"/>
          <p:cNvGrpSpPr/>
          <p:nvPr/>
        </p:nvGrpSpPr>
        <p:grpSpPr>
          <a:xfrm>
            <a:off x="2770632" y="5971032"/>
            <a:ext cx="5151120" cy="18288"/>
            <a:chOff x="0" y="0"/>
            <a:chExt cx="5151120" cy="18288"/>
          </a:xfrm>
        </p:grpSpPr>
        <p:sp>
          <p:nvSpPr>
            <p:cNvPr id="14" name="Freeform 14"/>
            <p:cNvSpPr/>
            <p:nvPr/>
          </p:nvSpPr>
          <p:spPr>
            <a:xfrm>
              <a:off x="0" y="0"/>
              <a:ext cx="5151120" cy="18288"/>
            </a:xfrm>
            <a:custGeom>
              <a:avLst/>
              <a:gdLst/>
              <a:ahLst/>
              <a:cxnLst/>
              <a:rect l="l" t="t" r="r" b="b"/>
              <a:pathLst>
                <a:path w="5151120" h="18288">
                  <a:moveTo>
                    <a:pt x="0" y="18288"/>
                  </a:moveTo>
                  <a:lnTo>
                    <a:pt x="5151120" y="18288"/>
                  </a:lnTo>
                  <a:lnTo>
                    <a:pt x="5151120" y="0"/>
                  </a:lnTo>
                  <a:lnTo>
                    <a:pt x="0" y="0"/>
                  </a:lnTo>
                  <a:lnTo>
                    <a:pt x="0" y="18288"/>
                  </a:lnTo>
                  <a:close/>
                </a:path>
              </a:pathLst>
            </a:custGeom>
            <a:solidFill>
              <a:srgbClr val="FFFFFF"/>
            </a:solidFill>
          </p:spPr>
          <p:txBody>
            <a:bodyPr/>
            <a:lstStyle/>
            <a:p>
              <a:endParaRPr lang="en-SG"/>
            </a:p>
          </p:txBody>
        </p:sp>
      </p:grpSp>
      <p:sp>
        <p:nvSpPr>
          <p:cNvPr id="15" name="TextBox 15"/>
          <p:cNvSpPr txBox="1"/>
          <p:nvPr/>
        </p:nvSpPr>
        <p:spPr>
          <a:xfrm>
            <a:off x="1632385" y="1334119"/>
            <a:ext cx="6482839" cy="523504"/>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Building the Ground Station (GS)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2772156" y="2465832"/>
            <a:ext cx="5149596" cy="155448"/>
            <a:chOff x="0" y="0"/>
            <a:chExt cx="6866128" cy="207264"/>
          </a:xfrm>
        </p:grpSpPr>
        <p:sp>
          <p:nvSpPr>
            <p:cNvPr id="10" name="Freeform 10"/>
            <p:cNvSpPr/>
            <p:nvPr/>
          </p:nvSpPr>
          <p:spPr>
            <a:xfrm>
              <a:off x="0" y="0"/>
              <a:ext cx="6866128" cy="207264"/>
            </a:xfrm>
            <a:custGeom>
              <a:avLst/>
              <a:gdLst/>
              <a:ahLst/>
              <a:cxnLst/>
              <a:rect l="l" t="t" r="r" b="b"/>
              <a:pathLst>
                <a:path w="6866128" h="207264">
                  <a:moveTo>
                    <a:pt x="0" y="0"/>
                  </a:moveTo>
                  <a:lnTo>
                    <a:pt x="6866128" y="0"/>
                  </a:lnTo>
                  <a:lnTo>
                    <a:pt x="6866128" y="207264"/>
                  </a:lnTo>
                  <a:lnTo>
                    <a:pt x="0" y="207264"/>
                  </a:lnTo>
                  <a:lnTo>
                    <a:pt x="0" y="0"/>
                  </a:lnTo>
                  <a:close/>
                </a:path>
              </a:pathLst>
            </a:custGeom>
            <a:blipFill>
              <a:blip r:embed="rId4"/>
              <a:stretch>
                <a:fillRect l="-29"/>
              </a:stretch>
            </a:blipFill>
          </p:spPr>
          <p:txBody>
            <a:bodyPr/>
            <a:lstStyle/>
            <a:p>
              <a:endParaRPr lang="en-SG"/>
            </a:p>
          </p:txBody>
        </p:sp>
      </p:grpSp>
      <p:grpSp>
        <p:nvGrpSpPr>
          <p:cNvPr id="11" name="Group 11"/>
          <p:cNvGrpSpPr/>
          <p:nvPr/>
        </p:nvGrpSpPr>
        <p:grpSpPr>
          <a:xfrm>
            <a:off x="2772156" y="2618232"/>
            <a:ext cx="5149596" cy="3355848"/>
            <a:chOff x="0" y="0"/>
            <a:chExt cx="6866128" cy="4474464"/>
          </a:xfrm>
        </p:grpSpPr>
        <p:sp>
          <p:nvSpPr>
            <p:cNvPr id="12" name="Freeform 12"/>
            <p:cNvSpPr/>
            <p:nvPr/>
          </p:nvSpPr>
          <p:spPr>
            <a:xfrm>
              <a:off x="0" y="0"/>
              <a:ext cx="6866128" cy="4474464"/>
            </a:xfrm>
            <a:custGeom>
              <a:avLst/>
              <a:gdLst/>
              <a:ahLst/>
              <a:cxnLst/>
              <a:rect l="l" t="t" r="r" b="b"/>
              <a:pathLst>
                <a:path w="6866128" h="4474464">
                  <a:moveTo>
                    <a:pt x="0" y="0"/>
                  </a:moveTo>
                  <a:lnTo>
                    <a:pt x="6866128" y="0"/>
                  </a:lnTo>
                  <a:lnTo>
                    <a:pt x="6866128" y="4474464"/>
                  </a:lnTo>
                  <a:lnTo>
                    <a:pt x="0" y="4474464"/>
                  </a:lnTo>
                  <a:lnTo>
                    <a:pt x="0" y="0"/>
                  </a:lnTo>
                  <a:close/>
                </a:path>
              </a:pathLst>
            </a:custGeom>
            <a:blipFill>
              <a:blip r:embed="rId5"/>
              <a:stretch>
                <a:fillRect/>
              </a:stretch>
            </a:blipFill>
          </p:spPr>
          <p:txBody>
            <a:bodyPr/>
            <a:lstStyle/>
            <a:p>
              <a:endParaRPr lang="en-SG"/>
            </a:p>
          </p:txBody>
        </p:sp>
      </p:grpSp>
      <p:grpSp>
        <p:nvGrpSpPr>
          <p:cNvPr id="13" name="Group 13"/>
          <p:cNvGrpSpPr/>
          <p:nvPr/>
        </p:nvGrpSpPr>
        <p:grpSpPr>
          <a:xfrm>
            <a:off x="2770632" y="5971032"/>
            <a:ext cx="5151120" cy="18288"/>
            <a:chOff x="0" y="0"/>
            <a:chExt cx="5151120" cy="18288"/>
          </a:xfrm>
        </p:grpSpPr>
        <p:sp>
          <p:nvSpPr>
            <p:cNvPr id="14" name="Freeform 14"/>
            <p:cNvSpPr/>
            <p:nvPr/>
          </p:nvSpPr>
          <p:spPr>
            <a:xfrm>
              <a:off x="0" y="0"/>
              <a:ext cx="5151120" cy="18288"/>
            </a:xfrm>
            <a:custGeom>
              <a:avLst/>
              <a:gdLst/>
              <a:ahLst/>
              <a:cxnLst/>
              <a:rect l="l" t="t" r="r" b="b"/>
              <a:pathLst>
                <a:path w="5151120" h="18288">
                  <a:moveTo>
                    <a:pt x="0" y="18288"/>
                  </a:moveTo>
                  <a:lnTo>
                    <a:pt x="5151120" y="18288"/>
                  </a:lnTo>
                  <a:lnTo>
                    <a:pt x="5151120" y="0"/>
                  </a:lnTo>
                  <a:lnTo>
                    <a:pt x="0" y="0"/>
                  </a:lnTo>
                  <a:lnTo>
                    <a:pt x="0" y="18288"/>
                  </a:lnTo>
                  <a:close/>
                </a:path>
              </a:pathLst>
            </a:custGeom>
            <a:solidFill>
              <a:srgbClr val="FFFFFF"/>
            </a:solidFill>
          </p:spPr>
          <p:txBody>
            <a:bodyPr/>
            <a:lstStyle/>
            <a:p>
              <a:endParaRPr lang="en-SG"/>
            </a:p>
          </p:txBody>
        </p:sp>
      </p:grpSp>
      <p:sp>
        <p:nvSpPr>
          <p:cNvPr id="15" name="Freeform 15"/>
          <p:cNvSpPr/>
          <p:nvPr/>
        </p:nvSpPr>
        <p:spPr>
          <a:xfrm>
            <a:off x="3227070" y="3870198"/>
            <a:ext cx="1395984" cy="1117092"/>
          </a:xfrm>
          <a:custGeom>
            <a:avLst/>
            <a:gdLst/>
            <a:ahLst/>
            <a:cxnLst/>
            <a:rect l="l" t="t" r="r" b="b"/>
            <a:pathLst>
              <a:path w="1395984" h="1117092">
                <a:moveTo>
                  <a:pt x="0" y="0"/>
                </a:moveTo>
                <a:lnTo>
                  <a:pt x="1395984" y="0"/>
                </a:lnTo>
                <a:lnTo>
                  <a:pt x="1395984" y="1117092"/>
                </a:lnTo>
                <a:lnTo>
                  <a:pt x="0" y="111709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SG"/>
          </a:p>
        </p:txBody>
      </p:sp>
      <p:sp>
        <p:nvSpPr>
          <p:cNvPr id="16" name="TextBox 16"/>
          <p:cNvSpPr txBox="1"/>
          <p:nvPr/>
        </p:nvSpPr>
        <p:spPr>
          <a:xfrm>
            <a:off x="1632385" y="1334119"/>
            <a:ext cx="6482839" cy="523504"/>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Building the Ground Station (GS)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3093720" y="2406396"/>
            <a:ext cx="4506468" cy="551688"/>
            <a:chOff x="0" y="0"/>
            <a:chExt cx="6008624" cy="735584"/>
          </a:xfrm>
        </p:grpSpPr>
        <p:sp>
          <p:nvSpPr>
            <p:cNvPr id="10" name="Freeform 10"/>
            <p:cNvSpPr/>
            <p:nvPr/>
          </p:nvSpPr>
          <p:spPr>
            <a:xfrm>
              <a:off x="0" y="0"/>
              <a:ext cx="6008624" cy="735584"/>
            </a:xfrm>
            <a:custGeom>
              <a:avLst/>
              <a:gdLst/>
              <a:ahLst/>
              <a:cxnLst/>
              <a:rect l="l" t="t" r="r" b="b"/>
              <a:pathLst>
                <a:path w="6008624" h="735584">
                  <a:moveTo>
                    <a:pt x="0" y="0"/>
                  </a:moveTo>
                  <a:lnTo>
                    <a:pt x="6008624" y="0"/>
                  </a:lnTo>
                  <a:lnTo>
                    <a:pt x="6008624" y="735584"/>
                  </a:lnTo>
                  <a:lnTo>
                    <a:pt x="0" y="735584"/>
                  </a:lnTo>
                  <a:lnTo>
                    <a:pt x="0" y="0"/>
                  </a:lnTo>
                  <a:close/>
                </a:path>
              </a:pathLst>
            </a:custGeom>
            <a:blipFill>
              <a:blip r:embed="rId4"/>
              <a:stretch>
                <a:fillRect l="-33" r="-33"/>
              </a:stretch>
            </a:blipFill>
          </p:spPr>
          <p:txBody>
            <a:bodyPr/>
            <a:lstStyle/>
            <a:p>
              <a:endParaRPr lang="en-SG"/>
            </a:p>
          </p:txBody>
        </p:sp>
      </p:grpSp>
      <p:grpSp>
        <p:nvGrpSpPr>
          <p:cNvPr id="11" name="Group 11"/>
          <p:cNvGrpSpPr/>
          <p:nvPr/>
        </p:nvGrpSpPr>
        <p:grpSpPr>
          <a:xfrm>
            <a:off x="3093720" y="2951988"/>
            <a:ext cx="4506468" cy="2977896"/>
            <a:chOff x="0" y="0"/>
            <a:chExt cx="6008624" cy="3970528"/>
          </a:xfrm>
        </p:grpSpPr>
        <p:sp>
          <p:nvSpPr>
            <p:cNvPr id="12" name="Freeform 12"/>
            <p:cNvSpPr/>
            <p:nvPr/>
          </p:nvSpPr>
          <p:spPr>
            <a:xfrm>
              <a:off x="0" y="0"/>
              <a:ext cx="6008624" cy="3970528"/>
            </a:xfrm>
            <a:custGeom>
              <a:avLst/>
              <a:gdLst/>
              <a:ahLst/>
              <a:cxnLst/>
              <a:rect l="l" t="t" r="r" b="b"/>
              <a:pathLst>
                <a:path w="6008624" h="3970528">
                  <a:moveTo>
                    <a:pt x="0" y="0"/>
                  </a:moveTo>
                  <a:lnTo>
                    <a:pt x="6008624" y="0"/>
                  </a:lnTo>
                  <a:lnTo>
                    <a:pt x="6008624" y="3970528"/>
                  </a:lnTo>
                  <a:lnTo>
                    <a:pt x="0" y="3970528"/>
                  </a:lnTo>
                  <a:lnTo>
                    <a:pt x="0" y="0"/>
                  </a:lnTo>
                  <a:close/>
                </a:path>
              </a:pathLst>
            </a:custGeom>
            <a:blipFill>
              <a:blip r:embed="rId5"/>
              <a:stretch>
                <a:fillRect/>
              </a:stretch>
            </a:blipFill>
          </p:spPr>
          <p:txBody>
            <a:bodyPr/>
            <a:lstStyle/>
            <a:p>
              <a:endParaRPr lang="en-SG"/>
            </a:p>
          </p:txBody>
        </p:sp>
      </p:grpSp>
      <p:sp>
        <p:nvSpPr>
          <p:cNvPr id="13" name="Freeform 13"/>
          <p:cNvSpPr/>
          <p:nvPr/>
        </p:nvSpPr>
        <p:spPr>
          <a:xfrm>
            <a:off x="3198876" y="2983992"/>
            <a:ext cx="998220" cy="2031492"/>
          </a:xfrm>
          <a:custGeom>
            <a:avLst/>
            <a:gdLst/>
            <a:ahLst/>
            <a:cxnLst/>
            <a:rect l="l" t="t" r="r" b="b"/>
            <a:pathLst>
              <a:path w="998220" h="2031492">
                <a:moveTo>
                  <a:pt x="0" y="0"/>
                </a:moveTo>
                <a:lnTo>
                  <a:pt x="998220" y="0"/>
                </a:lnTo>
                <a:lnTo>
                  <a:pt x="998220" y="2031492"/>
                </a:lnTo>
                <a:lnTo>
                  <a:pt x="0" y="203149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SG"/>
          </a:p>
        </p:txBody>
      </p:sp>
      <p:sp>
        <p:nvSpPr>
          <p:cNvPr id="14" name="TextBox 14"/>
          <p:cNvSpPr txBox="1"/>
          <p:nvPr/>
        </p:nvSpPr>
        <p:spPr>
          <a:xfrm>
            <a:off x="1632385" y="1334119"/>
            <a:ext cx="6482839" cy="523504"/>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Building the Ground Station (GS)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5705856" y="2406396"/>
            <a:ext cx="4506468" cy="551688"/>
            <a:chOff x="0" y="0"/>
            <a:chExt cx="6008624" cy="735584"/>
          </a:xfrm>
        </p:grpSpPr>
        <p:sp>
          <p:nvSpPr>
            <p:cNvPr id="10" name="Freeform 10"/>
            <p:cNvSpPr/>
            <p:nvPr/>
          </p:nvSpPr>
          <p:spPr>
            <a:xfrm>
              <a:off x="0" y="0"/>
              <a:ext cx="6008624" cy="735584"/>
            </a:xfrm>
            <a:custGeom>
              <a:avLst/>
              <a:gdLst/>
              <a:ahLst/>
              <a:cxnLst/>
              <a:rect l="l" t="t" r="r" b="b"/>
              <a:pathLst>
                <a:path w="6008624" h="735584">
                  <a:moveTo>
                    <a:pt x="0" y="0"/>
                  </a:moveTo>
                  <a:lnTo>
                    <a:pt x="6008624" y="0"/>
                  </a:lnTo>
                  <a:lnTo>
                    <a:pt x="6008624" y="735584"/>
                  </a:lnTo>
                  <a:lnTo>
                    <a:pt x="0" y="735584"/>
                  </a:lnTo>
                  <a:lnTo>
                    <a:pt x="0" y="0"/>
                  </a:lnTo>
                  <a:close/>
                </a:path>
              </a:pathLst>
            </a:custGeom>
            <a:blipFill>
              <a:blip r:embed="rId4"/>
              <a:stretch>
                <a:fillRect l="-67"/>
              </a:stretch>
            </a:blipFill>
          </p:spPr>
          <p:txBody>
            <a:bodyPr/>
            <a:lstStyle/>
            <a:p>
              <a:endParaRPr lang="en-SG"/>
            </a:p>
          </p:txBody>
        </p:sp>
      </p:grpSp>
      <p:grpSp>
        <p:nvGrpSpPr>
          <p:cNvPr id="11" name="Group 11"/>
          <p:cNvGrpSpPr/>
          <p:nvPr/>
        </p:nvGrpSpPr>
        <p:grpSpPr>
          <a:xfrm>
            <a:off x="5705856" y="2951988"/>
            <a:ext cx="4506468" cy="2977896"/>
            <a:chOff x="0" y="0"/>
            <a:chExt cx="6008624" cy="3970528"/>
          </a:xfrm>
        </p:grpSpPr>
        <p:sp>
          <p:nvSpPr>
            <p:cNvPr id="12" name="Freeform 12"/>
            <p:cNvSpPr/>
            <p:nvPr/>
          </p:nvSpPr>
          <p:spPr>
            <a:xfrm>
              <a:off x="0" y="0"/>
              <a:ext cx="6008624" cy="3970528"/>
            </a:xfrm>
            <a:custGeom>
              <a:avLst/>
              <a:gdLst/>
              <a:ahLst/>
              <a:cxnLst/>
              <a:rect l="l" t="t" r="r" b="b"/>
              <a:pathLst>
                <a:path w="6008624" h="3970528">
                  <a:moveTo>
                    <a:pt x="0" y="0"/>
                  </a:moveTo>
                  <a:lnTo>
                    <a:pt x="6008624" y="0"/>
                  </a:lnTo>
                  <a:lnTo>
                    <a:pt x="6008624" y="3970528"/>
                  </a:lnTo>
                  <a:lnTo>
                    <a:pt x="0" y="3970528"/>
                  </a:lnTo>
                  <a:lnTo>
                    <a:pt x="0" y="0"/>
                  </a:lnTo>
                  <a:close/>
                </a:path>
              </a:pathLst>
            </a:custGeom>
            <a:blipFill>
              <a:blip r:embed="rId5"/>
              <a:stretch>
                <a:fillRect/>
              </a:stretch>
            </a:blipFill>
          </p:spPr>
          <p:txBody>
            <a:bodyPr/>
            <a:lstStyle/>
            <a:p>
              <a:endParaRPr lang="en-SG"/>
            </a:p>
          </p:txBody>
        </p:sp>
      </p:grpSp>
      <p:sp>
        <p:nvSpPr>
          <p:cNvPr id="13" name="Freeform 13"/>
          <p:cNvSpPr/>
          <p:nvPr/>
        </p:nvSpPr>
        <p:spPr>
          <a:xfrm>
            <a:off x="5801868" y="3034284"/>
            <a:ext cx="998220" cy="2029968"/>
          </a:xfrm>
          <a:custGeom>
            <a:avLst/>
            <a:gdLst/>
            <a:ahLst/>
            <a:cxnLst/>
            <a:rect l="l" t="t" r="r" b="b"/>
            <a:pathLst>
              <a:path w="998220" h="2029968">
                <a:moveTo>
                  <a:pt x="0" y="0"/>
                </a:moveTo>
                <a:lnTo>
                  <a:pt x="998220" y="0"/>
                </a:lnTo>
                <a:lnTo>
                  <a:pt x="998220" y="2029968"/>
                </a:lnTo>
                <a:lnTo>
                  <a:pt x="0" y="202996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SG"/>
          </a:p>
        </p:txBody>
      </p:sp>
      <p:sp>
        <p:nvSpPr>
          <p:cNvPr id="14" name="TextBox 14"/>
          <p:cNvSpPr txBox="1"/>
          <p:nvPr/>
        </p:nvSpPr>
        <p:spPr>
          <a:xfrm>
            <a:off x="1632385" y="1334119"/>
            <a:ext cx="6482839" cy="523504"/>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Building the Ground Station (GS)</a:t>
            </a:r>
          </a:p>
        </p:txBody>
      </p:sp>
      <p:sp>
        <p:nvSpPr>
          <p:cNvPr id="15" name="TextBox 15"/>
          <p:cNvSpPr txBox="1"/>
          <p:nvPr/>
        </p:nvSpPr>
        <p:spPr>
          <a:xfrm>
            <a:off x="1632109" y="2523858"/>
            <a:ext cx="3523507" cy="324526"/>
          </a:xfrm>
          <a:prstGeom prst="rect">
            <a:avLst/>
          </a:prstGeom>
        </p:spPr>
        <p:txBody>
          <a:bodyPr lIns="0" tIns="0" rIns="0" bIns="0" rtlCol="0" anchor="t">
            <a:spAutoFit/>
          </a:bodyPr>
          <a:lstStyle/>
          <a:p>
            <a:pPr algn="l">
              <a:lnSpc>
                <a:spcPts val="2620"/>
              </a:lnSpc>
            </a:pPr>
            <a:r>
              <a:rPr lang="en-US" sz="1872" spc="-14">
                <a:solidFill>
                  <a:srgbClr val="000000"/>
                </a:solidFill>
                <a:latin typeface="Montserrat"/>
                <a:ea typeface="Montserrat"/>
                <a:cs typeface="Montserrat"/>
                <a:sym typeface="Montserrat"/>
              </a:rPr>
              <a:t>In the GS we have SMD LEDs.</a:t>
            </a:r>
          </a:p>
        </p:txBody>
      </p:sp>
      <p:sp>
        <p:nvSpPr>
          <p:cNvPr id="16" name="TextBox 16"/>
          <p:cNvSpPr txBox="1"/>
          <p:nvPr/>
        </p:nvSpPr>
        <p:spPr>
          <a:xfrm>
            <a:off x="1632109" y="3240862"/>
            <a:ext cx="3673135" cy="2550309"/>
          </a:xfrm>
          <a:prstGeom prst="rect">
            <a:avLst/>
          </a:prstGeom>
        </p:spPr>
        <p:txBody>
          <a:bodyPr lIns="0" tIns="0" rIns="0" bIns="0" rtlCol="0" anchor="t">
            <a:spAutoFit/>
          </a:bodyPr>
          <a:lstStyle/>
          <a:p>
            <a:pPr algn="l">
              <a:lnSpc>
                <a:spcPts val="2894"/>
              </a:lnSpc>
            </a:pPr>
            <a:r>
              <a:rPr lang="en-US" sz="1872" spc="-14">
                <a:solidFill>
                  <a:srgbClr val="000000"/>
                </a:solidFill>
                <a:latin typeface="Montserrat"/>
                <a:ea typeface="Montserrat"/>
                <a:cs typeface="Montserrat"/>
                <a:sym typeface="Montserrat"/>
              </a:rPr>
              <a:t>SMD components are smaller, mounted directly on the PCB surface, and suitable for automated production. </a:t>
            </a:r>
          </a:p>
          <a:p>
            <a:pPr algn="l">
              <a:lnSpc>
                <a:spcPts val="2894"/>
              </a:lnSpc>
            </a:pPr>
            <a:r>
              <a:rPr lang="en-US" sz="1872" spc="-14">
                <a:solidFill>
                  <a:srgbClr val="000000"/>
                </a:solidFill>
                <a:latin typeface="Montserrat"/>
                <a:ea typeface="Montserrat"/>
                <a:cs typeface="Montserrat"/>
                <a:sym typeface="Montserrat"/>
              </a:rPr>
              <a:t>PTH components are larger, have leads through holes, and are often manually soldered.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3288792" y="3229356"/>
            <a:ext cx="1840992" cy="1760220"/>
            <a:chOff x="0" y="0"/>
            <a:chExt cx="2454656" cy="2346960"/>
          </a:xfrm>
        </p:grpSpPr>
        <p:sp>
          <p:nvSpPr>
            <p:cNvPr id="10" name="Freeform 10"/>
            <p:cNvSpPr/>
            <p:nvPr/>
          </p:nvSpPr>
          <p:spPr>
            <a:xfrm>
              <a:off x="0" y="0"/>
              <a:ext cx="2454656" cy="2346960"/>
            </a:xfrm>
            <a:custGeom>
              <a:avLst/>
              <a:gdLst/>
              <a:ahLst/>
              <a:cxnLst/>
              <a:rect l="l" t="t" r="r" b="b"/>
              <a:pathLst>
                <a:path w="2454656" h="2346960">
                  <a:moveTo>
                    <a:pt x="0" y="0"/>
                  </a:moveTo>
                  <a:lnTo>
                    <a:pt x="2454656" y="0"/>
                  </a:lnTo>
                  <a:lnTo>
                    <a:pt x="2454656" y="2346960"/>
                  </a:lnTo>
                  <a:lnTo>
                    <a:pt x="0" y="2346960"/>
                  </a:lnTo>
                  <a:lnTo>
                    <a:pt x="0" y="0"/>
                  </a:lnTo>
                  <a:close/>
                </a:path>
              </a:pathLst>
            </a:custGeom>
            <a:blipFill>
              <a:blip r:embed="rId4"/>
              <a:stretch>
                <a:fillRect t="-86"/>
              </a:stretch>
            </a:blipFill>
          </p:spPr>
          <p:txBody>
            <a:bodyPr/>
            <a:lstStyle/>
            <a:p>
              <a:endParaRPr lang="en-SG"/>
            </a:p>
          </p:txBody>
        </p:sp>
      </p:grpSp>
      <p:grpSp>
        <p:nvGrpSpPr>
          <p:cNvPr id="11" name="Group 11"/>
          <p:cNvGrpSpPr/>
          <p:nvPr/>
        </p:nvGrpSpPr>
        <p:grpSpPr>
          <a:xfrm>
            <a:off x="3288792" y="4986528"/>
            <a:ext cx="1840992" cy="82296"/>
            <a:chOff x="0" y="0"/>
            <a:chExt cx="1840992" cy="82296"/>
          </a:xfrm>
        </p:grpSpPr>
        <p:sp>
          <p:nvSpPr>
            <p:cNvPr id="12" name="Freeform 12"/>
            <p:cNvSpPr/>
            <p:nvPr/>
          </p:nvSpPr>
          <p:spPr>
            <a:xfrm>
              <a:off x="0" y="0"/>
              <a:ext cx="1840992" cy="82296"/>
            </a:xfrm>
            <a:custGeom>
              <a:avLst/>
              <a:gdLst/>
              <a:ahLst/>
              <a:cxnLst/>
              <a:rect l="l" t="t" r="r" b="b"/>
              <a:pathLst>
                <a:path w="1840992" h="82296">
                  <a:moveTo>
                    <a:pt x="0" y="82296"/>
                  </a:moveTo>
                  <a:lnTo>
                    <a:pt x="1840992" y="82296"/>
                  </a:lnTo>
                  <a:lnTo>
                    <a:pt x="1840992" y="0"/>
                  </a:lnTo>
                  <a:lnTo>
                    <a:pt x="0" y="0"/>
                  </a:lnTo>
                  <a:lnTo>
                    <a:pt x="0" y="82296"/>
                  </a:lnTo>
                  <a:close/>
                </a:path>
              </a:pathLst>
            </a:custGeom>
            <a:solidFill>
              <a:srgbClr val="FFFFFF"/>
            </a:solidFill>
          </p:spPr>
          <p:txBody>
            <a:bodyPr/>
            <a:lstStyle/>
            <a:p>
              <a:endParaRPr lang="en-SG"/>
            </a:p>
          </p:txBody>
        </p:sp>
      </p:grpSp>
      <p:grpSp>
        <p:nvGrpSpPr>
          <p:cNvPr id="13" name="Group 13"/>
          <p:cNvGrpSpPr/>
          <p:nvPr/>
        </p:nvGrpSpPr>
        <p:grpSpPr>
          <a:xfrm>
            <a:off x="6618732" y="3229356"/>
            <a:ext cx="1470660" cy="1839468"/>
            <a:chOff x="0" y="0"/>
            <a:chExt cx="1960880" cy="2452624"/>
          </a:xfrm>
        </p:grpSpPr>
        <p:sp>
          <p:nvSpPr>
            <p:cNvPr id="14" name="Freeform 14"/>
            <p:cNvSpPr/>
            <p:nvPr/>
          </p:nvSpPr>
          <p:spPr>
            <a:xfrm>
              <a:off x="0" y="0"/>
              <a:ext cx="1960880" cy="2452624"/>
            </a:xfrm>
            <a:custGeom>
              <a:avLst/>
              <a:gdLst/>
              <a:ahLst/>
              <a:cxnLst/>
              <a:rect l="l" t="t" r="r" b="b"/>
              <a:pathLst>
                <a:path w="1960880" h="2452624">
                  <a:moveTo>
                    <a:pt x="0" y="0"/>
                  </a:moveTo>
                  <a:lnTo>
                    <a:pt x="1960880" y="0"/>
                  </a:lnTo>
                  <a:lnTo>
                    <a:pt x="1960880" y="2452624"/>
                  </a:lnTo>
                  <a:lnTo>
                    <a:pt x="0" y="2452624"/>
                  </a:lnTo>
                  <a:lnTo>
                    <a:pt x="0" y="0"/>
                  </a:lnTo>
                  <a:close/>
                </a:path>
              </a:pathLst>
            </a:custGeom>
            <a:blipFill>
              <a:blip r:embed="rId5"/>
              <a:stretch>
                <a:fillRect l="-103" t="-82"/>
              </a:stretch>
            </a:blipFill>
          </p:spPr>
          <p:txBody>
            <a:bodyPr/>
            <a:lstStyle/>
            <a:p>
              <a:endParaRPr lang="en-SG"/>
            </a:p>
          </p:txBody>
        </p:sp>
      </p:grpSp>
      <p:sp>
        <p:nvSpPr>
          <p:cNvPr id="15" name="TextBox 15"/>
          <p:cNvSpPr txBox="1"/>
          <p:nvPr/>
        </p:nvSpPr>
        <p:spPr>
          <a:xfrm>
            <a:off x="1632109" y="1286494"/>
            <a:ext cx="7856239" cy="1688963"/>
          </a:xfrm>
          <a:prstGeom prst="rect">
            <a:avLst/>
          </a:prstGeom>
        </p:spPr>
        <p:txBody>
          <a:bodyPr lIns="0" tIns="0" rIns="0" bIns="0" rtlCol="0" anchor="t">
            <a:spAutoFit/>
          </a:bodyPr>
          <a:lstStyle/>
          <a:p>
            <a:pPr algn="l">
              <a:lnSpc>
                <a:spcPts val="4709"/>
              </a:lnSpc>
            </a:pPr>
            <a:r>
              <a:rPr lang="en-US" sz="3048">
                <a:solidFill>
                  <a:srgbClr val="2C2C2C"/>
                </a:solidFill>
                <a:latin typeface="Montserrat"/>
                <a:ea typeface="Montserrat"/>
                <a:cs typeface="Montserrat"/>
                <a:sym typeface="Montserrat"/>
              </a:rPr>
              <a:t>Satellite Set-up -EPS</a:t>
            </a:r>
          </a:p>
          <a:p>
            <a:pPr algn="l">
              <a:lnSpc>
                <a:spcPts val="2892"/>
              </a:lnSpc>
            </a:pPr>
            <a:r>
              <a:rPr lang="en-US" sz="1872" spc="-14">
                <a:solidFill>
                  <a:srgbClr val="000000"/>
                </a:solidFill>
                <a:latin typeface="Montserrat"/>
                <a:ea typeface="Montserrat"/>
                <a:cs typeface="Montserrat"/>
                <a:sym typeface="Montserrat"/>
              </a:rPr>
              <a:t>First of all: find the RBF (Remove Before Flight) jack and plug it in the EPS </a:t>
            </a:r>
          </a:p>
        </p:txBody>
      </p:sp>
      <p:sp>
        <p:nvSpPr>
          <p:cNvPr id="16" name="TextBox 16"/>
          <p:cNvSpPr txBox="1"/>
          <p:nvPr/>
        </p:nvSpPr>
        <p:spPr>
          <a:xfrm>
            <a:off x="5643467" y="3866131"/>
            <a:ext cx="299971" cy="671093"/>
          </a:xfrm>
          <a:prstGeom prst="rect">
            <a:avLst/>
          </a:prstGeom>
        </p:spPr>
        <p:txBody>
          <a:bodyPr lIns="0" tIns="0" rIns="0" bIns="0" rtlCol="0" anchor="t">
            <a:spAutoFit/>
          </a:bodyPr>
          <a:lstStyle/>
          <a:p>
            <a:pPr algn="l">
              <a:lnSpc>
                <a:spcPts val="5560"/>
              </a:lnSpc>
            </a:pPr>
            <a:r>
              <a:rPr lang="en-US" sz="3972" spc="35">
                <a:solidFill>
                  <a:srgbClr val="000000"/>
                </a:solidFill>
                <a:latin typeface="Montserrat"/>
                <a:ea typeface="Montserrat"/>
                <a:cs typeface="Montserrat"/>
                <a:sym typeface="Montserrat"/>
              </a:rPr>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2503932" y="1911096"/>
            <a:ext cx="6332220" cy="509016"/>
            <a:chOff x="0" y="0"/>
            <a:chExt cx="8442960" cy="678688"/>
          </a:xfrm>
        </p:grpSpPr>
        <p:sp>
          <p:nvSpPr>
            <p:cNvPr id="10" name="Freeform 10"/>
            <p:cNvSpPr/>
            <p:nvPr/>
          </p:nvSpPr>
          <p:spPr>
            <a:xfrm>
              <a:off x="0" y="0"/>
              <a:ext cx="8442960" cy="678688"/>
            </a:xfrm>
            <a:custGeom>
              <a:avLst/>
              <a:gdLst/>
              <a:ahLst/>
              <a:cxnLst/>
              <a:rect l="l" t="t" r="r" b="b"/>
              <a:pathLst>
                <a:path w="8442960" h="678688">
                  <a:moveTo>
                    <a:pt x="0" y="0"/>
                  </a:moveTo>
                  <a:lnTo>
                    <a:pt x="8442960" y="0"/>
                  </a:lnTo>
                  <a:lnTo>
                    <a:pt x="8442960" y="678688"/>
                  </a:lnTo>
                  <a:lnTo>
                    <a:pt x="0" y="678688"/>
                  </a:lnTo>
                  <a:lnTo>
                    <a:pt x="0" y="0"/>
                  </a:lnTo>
                  <a:close/>
                </a:path>
              </a:pathLst>
            </a:custGeom>
            <a:blipFill>
              <a:blip r:embed="rId4"/>
              <a:stretch>
                <a:fillRect l="-24" t="-598" r="-48"/>
              </a:stretch>
            </a:blipFill>
          </p:spPr>
          <p:txBody>
            <a:bodyPr/>
            <a:lstStyle/>
            <a:p>
              <a:endParaRPr lang="en-SG"/>
            </a:p>
          </p:txBody>
        </p:sp>
      </p:grpSp>
      <p:grpSp>
        <p:nvGrpSpPr>
          <p:cNvPr id="11" name="Group 11"/>
          <p:cNvGrpSpPr/>
          <p:nvPr/>
        </p:nvGrpSpPr>
        <p:grpSpPr>
          <a:xfrm>
            <a:off x="2503932" y="2417064"/>
            <a:ext cx="6332220" cy="4177284"/>
            <a:chOff x="0" y="0"/>
            <a:chExt cx="8442960" cy="5569712"/>
          </a:xfrm>
        </p:grpSpPr>
        <p:sp>
          <p:nvSpPr>
            <p:cNvPr id="12" name="Freeform 12"/>
            <p:cNvSpPr/>
            <p:nvPr/>
          </p:nvSpPr>
          <p:spPr>
            <a:xfrm>
              <a:off x="0" y="0"/>
              <a:ext cx="8442960" cy="5569712"/>
            </a:xfrm>
            <a:custGeom>
              <a:avLst/>
              <a:gdLst/>
              <a:ahLst/>
              <a:cxnLst/>
              <a:rect l="l" t="t" r="r" b="b"/>
              <a:pathLst>
                <a:path w="8442960" h="5569712">
                  <a:moveTo>
                    <a:pt x="0" y="0"/>
                  </a:moveTo>
                  <a:lnTo>
                    <a:pt x="8442960" y="0"/>
                  </a:lnTo>
                  <a:lnTo>
                    <a:pt x="8442960" y="5569712"/>
                  </a:lnTo>
                  <a:lnTo>
                    <a:pt x="0" y="5569712"/>
                  </a:lnTo>
                  <a:lnTo>
                    <a:pt x="0" y="0"/>
                  </a:lnTo>
                  <a:close/>
                </a:path>
              </a:pathLst>
            </a:custGeom>
            <a:blipFill>
              <a:blip r:embed="rId5"/>
              <a:stretch>
                <a:fillRect/>
              </a:stretch>
            </a:blipFill>
          </p:spPr>
          <p:txBody>
            <a:bodyPr/>
            <a:lstStyle/>
            <a:p>
              <a:endParaRPr lang="en-SG"/>
            </a:p>
          </p:txBody>
        </p:sp>
      </p:grpSp>
      <p:sp>
        <p:nvSpPr>
          <p:cNvPr id="13" name="TextBox 13"/>
          <p:cNvSpPr txBox="1"/>
          <p:nvPr/>
        </p:nvSpPr>
        <p:spPr>
          <a:xfrm>
            <a:off x="1632385" y="1334119"/>
            <a:ext cx="4155672" cy="523504"/>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Satellite Set-up -EPS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sp>
        <p:nvSpPr>
          <p:cNvPr id="9" name="Freeform 9"/>
          <p:cNvSpPr/>
          <p:nvPr/>
        </p:nvSpPr>
        <p:spPr>
          <a:xfrm>
            <a:off x="1597657" y="2310889"/>
            <a:ext cx="7248649" cy="351025"/>
          </a:xfrm>
          <a:custGeom>
            <a:avLst/>
            <a:gdLst/>
            <a:ahLst/>
            <a:cxnLst/>
            <a:rect l="l" t="t" r="r" b="b"/>
            <a:pathLst>
              <a:path w="7248649" h="351025">
                <a:moveTo>
                  <a:pt x="0" y="0"/>
                </a:moveTo>
                <a:lnTo>
                  <a:pt x="7248649" y="0"/>
                </a:lnTo>
                <a:lnTo>
                  <a:pt x="7248649" y="351025"/>
                </a:lnTo>
                <a:lnTo>
                  <a:pt x="0" y="35102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SG"/>
          </a:p>
        </p:txBody>
      </p:sp>
      <p:grpSp>
        <p:nvGrpSpPr>
          <p:cNvPr id="10" name="Group 10"/>
          <p:cNvGrpSpPr/>
          <p:nvPr/>
        </p:nvGrpSpPr>
        <p:grpSpPr>
          <a:xfrm>
            <a:off x="3549396" y="3637788"/>
            <a:ext cx="1175004" cy="684276"/>
            <a:chOff x="0" y="0"/>
            <a:chExt cx="1566672" cy="912368"/>
          </a:xfrm>
        </p:grpSpPr>
        <p:sp>
          <p:nvSpPr>
            <p:cNvPr id="11" name="Freeform 11"/>
            <p:cNvSpPr/>
            <p:nvPr/>
          </p:nvSpPr>
          <p:spPr>
            <a:xfrm>
              <a:off x="0" y="0"/>
              <a:ext cx="1566672" cy="912368"/>
            </a:xfrm>
            <a:custGeom>
              <a:avLst/>
              <a:gdLst/>
              <a:ahLst/>
              <a:cxnLst/>
              <a:rect l="l" t="t" r="r" b="b"/>
              <a:pathLst>
                <a:path w="1566672" h="912368">
                  <a:moveTo>
                    <a:pt x="0" y="0"/>
                  </a:moveTo>
                  <a:lnTo>
                    <a:pt x="1566672" y="0"/>
                  </a:lnTo>
                  <a:lnTo>
                    <a:pt x="1566672" y="912368"/>
                  </a:lnTo>
                  <a:lnTo>
                    <a:pt x="0" y="912368"/>
                  </a:lnTo>
                  <a:lnTo>
                    <a:pt x="0" y="0"/>
                  </a:lnTo>
                  <a:close/>
                </a:path>
              </a:pathLst>
            </a:custGeom>
            <a:blipFill>
              <a:blip r:embed="rId5"/>
              <a:stretch>
                <a:fillRect l="-129" t="-222"/>
              </a:stretch>
            </a:blipFill>
          </p:spPr>
          <p:txBody>
            <a:bodyPr/>
            <a:lstStyle/>
            <a:p>
              <a:endParaRPr lang="en-SG"/>
            </a:p>
          </p:txBody>
        </p:sp>
      </p:grpSp>
      <p:grpSp>
        <p:nvGrpSpPr>
          <p:cNvPr id="12" name="Group 12"/>
          <p:cNvGrpSpPr/>
          <p:nvPr/>
        </p:nvGrpSpPr>
        <p:grpSpPr>
          <a:xfrm>
            <a:off x="3549396" y="4319016"/>
            <a:ext cx="1175004" cy="1146048"/>
            <a:chOff x="0" y="0"/>
            <a:chExt cx="1566672" cy="1528064"/>
          </a:xfrm>
        </p:grpSpPr>
        <p:sp>
          <p:nvSpPr>
            <p:cNvPr id="13" name="Freeform 13"/>
            <p:cNvSpPr/>
            <p:nvPr/>
          </p:nvSpPr>
          <p:spPr>
            <a:xfrm>
              <a:off x="0" y="0"/>
              <a:ext cx="1566672" cy="1528064"/>
            </a:xfrm>
            <a:custGeom>
              <a:avLst/>
              <a:gdLst/>
              <a:ahLst/>
              <a:cxnLst/>
              <a:rect l="l" t="t" r="r" b="b"/>
              <a:pathLst>
                <a:path w="1566672" h="1528064">
                  <a:moveTo>
                    <a:pt x="0" y="0"/>
                  </a:moveTo>
                  <a:lnTo>
                    <a:pt x="1566672" y="0"/>
                  </a:lnTo>
                  <a:lnTo>
                    <a:pt x="1566672" y="1528064"/>
                  </a:lnTo>
                  <a:lnTo>
                    <a:pt x="0" y="1528064"/>
                  </a:lnTo>
                  <a:lnTo>
                    <a:pt x="0" y="0"/>
                  </a:lnTo>
                  <a:close/>
                </a:path>
              </a:pathLst>
            </a:custGeom>
            <a:blipFill>
              <a:blip r:embed="rId6"/>
              <a:stretch>
                <a:fillRect/>
              </a:stretch>
            </a:blipFill>
          </p:spPr>
          <p:txBody>
            <a:bodyPr/>
            <a:lstStyle/>
            <a:p>
              <a:endParaRPr lang="en-SG"/>
            </a:p>
          </p:txBody>
        </p:sp>
      </p:grpSp>
      <p:grpSp>
        <p:nvGrpSpPr>
          <p:cNvPr id="14" name="Group 14"/>
          <p:cNvGrpSpPr/>
          <p:nvPr/>
        </p:nvGrpSpPr>
        <p:grpSpPr>
          <a:xfrm>
            <a:off x="5743956" y="3671316"/>
            <a:ext cx="2638044" cy="1226820"/>
            <a:chOff x="0" y="0"/>
            <a:chExt cx="3517392" cy="1635760"/>
          </a:xfrm>
        </p:grpSpPr>
        <p:sp>
          <p:nvSpPr>
            <p:cNvPr id="15" name="Freeform 15"/>
            <p:cNvSpPr/>
            <p:nvPr/>
          </p:nvSpPr>
          <p:spPr>
            <a:xfrm>
              <a:off x="0" y="0"/>
              <a:ext cx="3517392" cy="1635760"/>
            </a:xfrm>
            <a:custGeom>
              <a:avLst/>
              <a:gdLst/>
              <a:ahLst/>
              <a:cxnLst/>
              <a:rect l="l" t="t" r="r" b="b"/>
              <a:pathLst>
                <a:path w="3517392" h="1635760">
                  <a:moveTo>
                    <a:pt x="0" y="0"/>
                  </a:moveTo>
                  <a:lnTo>
                    <a:pt x="3517392" y="0"/>
                  </a:lnTo>
                  <a:lnTo>
                    <a:pt x="3517392" y="1635760"/>
                  </a:lnTo>
                  <a:lnTo>
                    <a:pt x="0" y="1635760"/>
                  </a:lnTo>
                  <a:lnTo>
                    <a:pt x="0" y="0"/>
                  </a:lnTo>
                  <a:close/>
                </a:path>
              </a:pathLst>
            </a:custGeom>
            <a:blipFill>
              <a:blip r:embed="rId7"/>
              <a:stretch>
                <a:fillRect l="-57" t="-124"/>
              </a:stretch>
            </a:blipFill>
          </p:spPr>
          <p:txBody>
            <a:bodyPr/>
            <a:lstStyle/>
            <a:p>
              <a:endParaRPr lang="en-SG"/>
            </a:p>
          </p:txBody>
        </p:sp>
      </p:grpSp>
      <p:grpSp>
        <p:nvGrpSpPr>
          <p:cNvPr id="16" name="Group 16"/>
          <p:cNvGrpSpPr/>
          <p:nvPr/>
        </p:nvGrpSpPr>
        <p:grpSpPr>
          <a:xfrm>
            <a:off x="5743956" y="4895088"/>
            <a:ext cx="2638044" cy="536448"/>
            <a:chOff x="0" y="0"/>
            <a:chExt cx="3517392" cy="715264"/>
          </a:xfrm>
        </p:grpSpPr>
        <p:sp>
          <p:nvSpPr>
            <p:cNvPr id="17" name="Freeform 17"/>
            <p:cNvSpPr/>
            <p:nvPr/>
          </p:nvSpPr>
          <p:spPr>
            <a:xfrm>
              <a:off x="0" y="0"/>
              <a:ext cx="3517392" cy="715264"/>
            </a:xfrm>
            <a:custGeom>
              <a:avLst/>
              <a:gdLst/>
              <a:ahLst/>
              <a:cxnLst/>
              <a:rect l="l" t="t" r="r" b="b"/>
              <a:pathLst>
                <a:path w="3517392" h="715264">
                  <a:moveTo>
                    <a:pt x="0" y="0"/>
                  </a:moveTo>
                  <a:lnTo>
                    <a:pt x="3517392" y="0"/>
                  </a:lnTo>
                  <a:lnTo>
                    <a:pt x="3517392" y="715264"/>
                  </a:lnTo>
                  <a:lnTo>
                    <a:pt x="0" y="715264"/>
                  </a:lnTo>
                  <a:lnTo>
                    <a:pt x="0" y="0"/>
                  </a:lnTo>
                  <a:close/>
                </a:path>
              </a:pathLst>
            </a:custGeom>
            <a:blipFill>
              <a:blip r:embed="rId8"/>
              <a:stretch>
                <a:fillRect l="-57"/>
              </a:stretch>
            </a:blipFill>
          </p:spPr>
          <p:txBody>
            <a:bodyPr/>
            <a:lstStyle/>
            <a:p>
              <a:endParaRPr lang="en-SG"/>
            </a:p>
          </p:txBody>
        </p:sp>
      </p:grpSp>
      <p:sp>
        <p:nvSpPr>
          <p:cNvPr id="18" name="TextBox 18"/>
          <p:cNvSpPr txBox="1"/>
          <p:nvPr/>
        </p:nvSpPr>
        <p:spPr>
          <a:xfrm>
            <a:off x="1632385" y="1334119"/>
            <a:ext cx="4155672" cy="523504"/>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Satellite Set-up -EPS</a:t>
            </a:r>
          </a:p>
        </p:txBody>
      </p:sp>
      <p:sp>
        <p:nvSpPr>
          <p:cNvPr id="19" name="TextBox 19"/>
          <p:cNvSpPr txBox="1"/>
          <p:nvPr/>
        </p:nvSpPr>
        <p:spPr>
          <a:xfrm>
            <a:off x="1632109" y="2651998"/>
            <a:ext cx="7568394" cy="324526"/>
          </a:xfrm>
          <a:prstGeom prst="rect">
            <a:avLst/>
          </a:prstGeom>
        </p:spPr>
        <p:txBody>
          <a:bodyPr lIns="0" tIns="0" rIns="0" bIns="0" rtlCol="0" anchor="t">
            <a:spAutoFit/>
          </a:bodyPr>
          <a:lstStyle/>
          <a:p>
            <a:pPr algn="l">
              <a:lnSpc>
                <a:spcPts val="2620"/>
              </a:lnSpc>
            </a:pPr>
            <a:r>
              <a:rPr lang="en-US" sz="1872" spc="-14">
                <a:solidFill>
                  <a:srgbClr val="000000"/>
                </a:solidFill>
                <a:latin typeface="Montserrat"/>
                <a:ea typeface="Montserrat"/>
                <a:cs typeface="Montserrat"/>
                <a:sym typeface="Montserrat"/>
              </a:rPr>
              <a:t>double-sided tape and then plug the battery into its connector.</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2313432" y="2302764"/>
            <a:ext cx="6714744" cy="117348"/>
            <a:chOff x="0" y="0"/>
            <a:chExt cx="8952992" cy="156464"/>
          </a:xfrm>
        </p:grpSpPr>
        <p:sp>
          <p:nvSpPr>
            <p:cNvPr id="10" name="Freeform 10"/>
            <p:cNvSpPr/>
            <p:nvPr/>
          </p:nvSpPr>
          <p:spPr>
            <a:xfrm>
              <a:off x="0" y="0"/>
              <a:ext cx="8952992" cy="156464"/>
            </a:xfrm>
            <a:custGeom>
              <a:avLst/>
              <a:gdLst/>
              <a:ahLst/>
              <a:cxnLst/>
              <a:rect l="l" t="t" r="r" b="b"/>
              <a:pathLst>
                <a:path w="8952992" h="156464">
                  <a:moveTo>
                    <a:pt x="0" y="0"/>
                  </a:moveTo>
                  <a:lnTo>
                    <a:pt x="8952992" y="0"/>
                  </a:lnTo>
                  <a:lnTo>
                    <a:pt x="8952992" y="156464"/>
                  </a:lnTo>
                  <a:lnTo>
                    <a:pt x="0" y="156464"/>
                  </a:lnTo>
                  <a:lnTo>
                    <a:pt x="0" y="0"/>
                  </a:lnTo>
                  <a:close/>
                </a:path>
              </a:pathLst>
            </a:custGeom>
            <a:blipFill>
              <a:blip r:embed="rId4"/>
              <a:stretch>
                <a:fillRect t="-1298"/>
              </a:stretch>
            </a:blipFill>
          </p:spPr>
          <p:txBody>
            <a:bodyPr/>
            <a:lstStyle/>
            <a:p>
              <a:endParaRPr lang="en-SG"/>
            </a:p>
          </p:txBody>
        </p:sp>
      </p:grpSp>
      <p:grpSp>
        <p:nvGrpSpPr>
          <p:cNvPr id="11" name="Group 11"/>
          <p:cNvGrpSpPr/>
          <p:nvPr/>
        </p:nvGrpSpPr>
        <p:grpSpPr>
          <a:xfrm>
            <a:off x="2313432" y="2417064"/>
            <a:ext cx="6714744" cy="3593592"/>
            <a:chOff x="0" y="0"/>
            <a:chExt cx="8952992" cy="4791456"/>
          </a:xfrm>
        </p:grpSpPr>
        <p:sp>
          <p:nvSpPr>
            <p:cNvPr id="12" name="Freeform 12"/>
            <p:cNvSpPr/>
            <p:nvPr/>
          </p:nvSpPr>
          <p:spPr>
            <a:xfrm>
              <a:off x="0" y="0"/>
              <a:ext cx="8952992" cy="4791456"/>
            </a:xfrm>
            <a:custGeom>
              <a:avLst/>
              <a:gdLst/>
              <a:ahLst/>
              <a:cxnLst/>
              <a:rect l="l" t="t" r="r" b="b"/>
              <a:pathLst>
                <a:path w="8952992" h="4791456">
                  <a:moveTo>
                    <a:pt x="0" y="0"/>
                  </a:moveTo>
                  <a:lnTo>
                    <a:pt x="8952992" y="0"/>
                  </a:lnTo>
                  <a:lnTo>
                    <a:pt x="8952992" y="4791456"/>
                  </a:lnTo>
                  <a:lnTo>
                    <a:pt x="0" y="4791456"/>
                  </a:lnTo>
                  <a:lnTo>
                    <a:pt x="0" y="0"/>
                  </a:lnTo>
                  <a:close/>
                </a:path>
              </a:pathLst>
            </a:custGeom>
            <a:blipFill>
              <a:blip r:embed="rId5"/>
              <a:stretch>
                <a:fillRect/>
              </a:stretch>
            </a:blipFill>
          </p:spPr>
          <p:txBody>
            <a:bodyPr/>
            <a:lstStyle/>
            <a:p>
              <a:endParaRPr lang="en-SG"/>
            </a:p>
          </p:txBody>
        </p:sp>
      </p:grpSp>
      <p:grpSp>
        <p:nvGrpSpPr>
          <p:cNvPr id="13" name="Group 13"/>
          <p:cNvGrpSpPr/>
          <p:nvPr/>
        </p:nvGrpSpPr>
        <p:grpSpPr>
          <a:xfrm>
            <a:off x="2313432" y="6007608"/>
            <a:ext cx="6714744" cy="64008"/>
            <a:chOff x="0" y="0"/>
            <a:chExt cx="6714744" cy="64008"/>
          </a:xfrm>
        </p:grpSpPr>
        <p:sp>
          <p:nvSpPr>
            <p:cNvPr id="14" name="Freeform 14"/>
            <p:cNvSpPr/>
            <p:nvPr/>
          </p:nvSpPr>
          <p:spPr>
            <a:xfrm>
              <a:off x="0" y="0"/>
              <a:ext cx="6714743" cy="64008"/>
            </a:xfrm>
            <a:custGeom>
              <a:avLst/>
              <a:gdLst/>
              <a:ahLst/>
              <a:cxnLst/>
              <a:rect l="l" t="t" r="r" b="b"/>
              <a:pathLst>
                <a:path w="6714743" h="64008">
                  <a:moveTo>
                    <a:pt x="0" y="64008"/>
                  </a:moveTo>
                  <a:lnTo>
                    <a:pt x="6714743" y="64008"/>
                  </a:lnTo>
                  <a:lnTo>
                    <a:pt x="6714743" y="0"/>
                  </a:lnTo>
                  <a:lnTo>
                    <a:pt x="0" y="0"/>
                  </a:lnTo>
                  <a:lnTo>
                    <a:pt x="0" y="64008"/>
                  </a:lnTo>
                  <a:close/>
                </a:path>
              </a:pathLst>
            </a:custGeom>
            <a:solidFill>
              <a:srgbClr val="FFFFFF"/>
            </a:solidFill>
          </p:spPr>
          <p:txBody>
            <a:bodyPr/>
            <a:lstStyle/>
            <a:p>
              <a:endParaRPr lang="en-SG"/>
            </a:p>
          </p:txBody>
        </p:sp>
      </p:grpSp>
      <p:sp>
        <p:nvSpPr>
          <p:cNvPr id="15" name="TextBox 15"/>
          <p:cNvSpPr txBox="1"/>
          <p:nvPr/>
        </p:nvSpPr>
        <p:spPr>
          <a:xfrm>
            <a:off x="1632385" y="1334119"/>
            <a:ext cx="4155672" cy="523504"/>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Satellite Set-up -EPS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2644140" y="2168652"/>
            <a:ext cx="5404104" cy="595884"/>
            <a:chOff x="0" y="0"/>
            <a:chExt cx="7205472" cy="794512"/>
          </a:xfrm>
        </p:grpSpPr>
        <p:sp>
          <p:nvSpPr>
            <p:cNvPr id="10" name="Freeform 10"/>
            <p:cNvSpPr/>
            <p:nvPr/>
          </p:nvSpPr>
          <p:spPr>
            <a:xfrm>
              <a:off x="0" y="0"/>
              <a:ext cx="7205472" cy="794512"/>
            </a:xfrm>
            <a:custGeom>
              <a:avLst/>
              <a:gdLst/>
              <a:ahLst/>
              <a:cxnLst/>
              <a:rect l="l" t="t" r="r" b="b"/>
              <a:pathLst>
                <a:path w="7205472" h="794512">
                  <a:moveTo>
                    <a:pt x="0" y="0"/>
                  </a:moveTo>
                  <a:lnTo>
                    <a:pt x="7205472" y="0"/>
                  </a:lnTo>
                  <a:lnTo>
                    <a:pt x="7205472" y="794512"/>
                  </a:lnTo>
                  <a:lnTo>
                    <a:pt x="0" y="794512"/>
                  </a:lnTo>
                  <a:lnTo>
                    <a:pt x="0" y="0"/>
                  </a:lnTo>
                  <a:close/>
                </a:path>
              </a:pathLst>
            </a:custGeom>
            <a:blipFill>
              <a:blip r:embed="rId4"/>
              <a:stretch>
                <a:fillRect l="-28" t="-255" r="-28"/>
              </a:stretch>
            </a:blipFill>
          </p:spPr>
          <p:txBody>
            <a:bodyPr/>
            <a:lstStyle/>
            <a:p>
              <a:endParaRPr lang="en-SG"/>
            </a:p>
          </p:txBody>
        </p:sp>
      </p:grpSp>
      <p:grpSp>
        <p:nvGrpSpPr>
          <p:cNvPr id="11" name="Group 11"/>
          <p:cNvGrpSpPr/>
          <p:nvPr/>
        </p:nvGrpSpPr>
        <p:grpSpPr>
          <a:xfrm>
            <a:off x="2644140" y="2761488"/>
            <a:ext cx="5404104" cy="3957828"/>
            <a:chOff x="0" y="0"/>
            <a:chExt cx="7205472" cy="5277104"/>
          </a:xfrm>
        </p:grpSpPr>
        <p:sp>
          <p:nvSpPr>
            <p:cNvPr id="12" name="Freeform 12"/>
            <p:cNvSpPr/>
            <p:nvPr/>
          </p:nvSpPr>
          <p:spPr>
            <a:xfrm>
              <a:off x="0" y="0"/>
              <a:ext cx="7205472" cy="5277104"/>
            </a:xfrm>
            <a:custGeom>
              <a:avLst/>
              <a:gdLst/>
              <a:ahLst/>
              <a:cxnLst/>
              <a:rect l="l" t="t" r="r" b="b"/>
              <a:pathLst>
                <a:path w="7205472" h="5277104">
                  <a:moveTo>
                    <a:pt x="0" y="0"/>
                  </a:moveTo>
                  <a:lnTo>
                    <a:pt x="7205472" y="0"/>
                  </a:lnTo>
                  <a:lnTo>
                    <a:pt x="7205472" y="5277104"/>
                  </a:lnTo>
                  <a:lnTo>
                    <a:pt x="0" y="5277104"/>
                  </a:lnTo>
                  <a:lnTo>
                    <a:pt x="0" y="0"/>
                  </a:lnTo>
                  <a:close/>
                </a:path>
              </a:pathLst>
            </a:custGeom>
            <a:blipFill>
              <a:blip r:embed="rId5"/>
              <a:stretch>
                <a:fillRect/>
              </a:stretch>
            </a:blipFill>
          </p:spPr>
          <p:txBody>
            <a:bodyPr/>
            <a:lstStyle/>
            <a:p>
              <a:endParaRPr lang="en-SG"/>
            </a:p>
          </p:txBody>
        </p:sp>
      </p:grpSp>
      <p:sp>
        <p:nvSpPr>
          <p:cNvPr id="13" name="TextBox 13"/>
          <p:cNvSpPr txBox="1"/>
          <p:nvPr/>
        </p:nvSpPr>
        <p:spPr>
          <a:xfrm>
            <a:off x="1632385" y="1334119"/>
            <a:ext cx="4155672" cy="523504"/>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Satellite Set-up -EPS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2401824" y="2232660"/>
            <a:ext cx="6766560" cy="117348"/>
            <a:chOff x="0" y="0"/>
            <a:chExt cx="9022080" cy="156464"/>
          </a:xfrm>
        </p:grpSpPr>
        <p:sp>
          <p:nvSpPr>
            <p:cNvPr id="10" name="Freeform 10"/>
            <p:cNvSpPr/>
            <p:nvPr/>
          </p:nvSpPr>
          <p:spPr>
            <a:xfrm>
              <a:off x="0" y="0"/>
              <a:ext cx="9022080" cy="156464"/>
            </a:xfrm>
            <a:custGeom>
              <a:avLst/>
              <a:gdLst/>
              <a:ahLst/>
              <a:cxnLst/>
              <a:rect l="l" t="t" r="r" b="b"/>
              <a:pathLst>
                <a:path w="9022080" h="156464">
                  <a:moveTo>
                    <a:pt x="0" y="0"/>
                  </a:moveTo>
                  <a:lnTo>
                    <a:pt x="9022080" y="0"/>
                  </a:lnTo>
                  <a:lnTo>
                    <a:pt x="9022080" y="156464"/>
                  </a:lnTo>
                  <a:lnTo>
                    <a:pt x="0" y="156464"/>
                  </a:lnTo>
                  <a:lnTo>
                    <a:pt x="0" y="0"/>
                  </a:lnTo>
                  <a:close/>
                </a:path>
              </a:pathLst>
            </a:custGeom>
            <a:blipFill>
              <a:blip r:embed="rId4"/>
              <a:stretch>
                <a:fillRect t="-1298"/>
              </a:stretch>
            </a:blipFill>
          </p:spPr>
          <p:txBody>
            <a:bodyPr/>
            <a:lstStyle/>
            <a:p>
              <a:endParaRPr lang="en-SG"/>
            </a:p>
          </p:txBody>
        </p:sp>
      </p:grpSp>
      <p:grpSp>
        <p:nvGrpSpPr>
          <p:cNvPr id="11" name="Group 11"/>
          <p:cNvGrpSpPr/>
          <p:nvPr/>
        </p:nvGrpSpPr>
        <p:grpSpPr>
          <a:xfrm>
            <a:off x="2401824" y="2346960"/>
            <a:ext cx="6766560" cy="118872"/>
            <a:chOff x="0" y="0"/>
            <a:chExt cx="9022080" cy="158496"/>
          </a:xfrm>
        </p:grpSpPr>
        <p:sp>
          <p:nvSpPr>
            <p:cNvPr id="12" name="Freeform 12"/>
            <p:cNvSpPr/>
            <p:nvPr/>
          </p:nvSpPr>
          <p:spPr>
            <a:xfrm>
              <a:off x="0" y="0"/>
              <a:ext cx="9022080" cy="158496"/>
            </a:xfrm>
            <a:custGeom>
              <a:avLst/>
              <a:gdLst/>
              <a:ahLst/>
              <a:cxnLst/>
              <a:rect l="l" t="t" r="r" b="b"/>
              <a:pathLst>
                <a:path w="9022080" h="158496">
                  <a:moveTo>
                    <a:pt x="0" y="0"/>
                  </a:moveTo>
                  <a:lnTo>
                    <a:pt x="9022080" y="0"/>
                  </a:lnTo>
                  <a:lnTo>
                    <a:pt x="9022080" y="158496"/>
                  </a:lnTo>
                  <a:lnTo>
                    <a:pt x="0" y="158496"/>
                  </a:lnTo>
                  <a:lnTo>
                    <a:pt x="0" y="0"/>
                  </a:lnTo>
                  <a:close/>
                </a:path>
              </a:pathLst>
            </a:custGeom>
            <a:blipFill>
              <a:blip r:embed="rId4"/>
              <a:stretch>
                <a:fillRect/>
              </a:stretch>
            </a:blipFill>
          </p:spPr>
          <p:txBody>
            <a:bodyPr/>
            <a:lstStyle/>
            <a:p>
              <a:endParaRPr lang="en-SG"/>
            </a:p>
          </p:txBody>
        </p:sp>
      </p:grpSp>
      <p:grpSp>
        <p:nvGrpSpPr>
          <p:cNvPr id="13" name="Group 13"/>
          <p:cNvGrpSpPr/>
          <p:nvPr/>
        </p:nvGrpSpPr>
        <p:grpSpPr>
          <a:xfrm>
            <a:off x="2401824" y="2462784"/>
            <a:ext cx="6766560" cy="118872"/>
            <a:chOff x="0" y="0"/>
            <a:chExt cx="9022080" cy="158496"/>
          </a:xfrm>
        </p:grpSpPr>
        <p:sp>
          <p:nvSpPr>
            <p:cNvPr id="14" name="Freeform 14"/>
            <p:cNvSpPr/>
            <p:nvPr/>
          </p:nvSpPr>
          <p:spPr>
            <a:xfrm>
              <a:off x="0" y="0"/>
              <a:ext cx="9022080" cy="158496"/>
            </a:xfrm>
            <a:custGeom>
              <a:avLst/>
              <a:gdLst/>
              <a:ahLst/>
              <a:cxnLst/>
              <a:rect l="l" t="t" r="r" b="b"/>
              <a:pathLst>
                <a:path w="9022080" h="158496">
                  <a:moveTo>
                    <a:pt x="0" y="0"/>
                  </a:moveTo>
                  <a:lnTo>
                    <a:pt x="9022080" y="0"/>
                  </a:lnTo>
                  <a:lnTo>
                    <a:pt x="9022080" y="158496"/>
                  </a:lnTo>
                  <a:lnTo>
                    <a:pt x="0" y="158496"/>
                  </a:lnTo>
                  <a:lnTo>
                    <a:pt x="0" y="0"/>
                  </a:lnTo>
                  <a:close/>
                </a:path>
              </a:pathLst>
            </a:custGeom>
            <a:blipFill>
              <a:blip r:embed="rId4"/>
              <a:stretch>
                <a:fillRect/>
              </a:stretch>
            </a:blipFill>
          </p:spPr>
          <p:txBody>
            <a:bodyPr/>
            <a:lstStyle/>
            <a:p>
              <a:endParaRPr lang="en-SG"/>
            </a:p>
          </p:txBody>
        </p:sp>
      </p:grpSp>
      <p:grpSp>
        <p:nvGrpSpPr>
          <p:cNvPr id="15" name="Group 15"/>
          <p:cNvGrpSpPr/>
          <p:nvPr/>
        </p:nvGrpSpPr>
        <p:grpSpPr>
          <a:xfrm>
            <a:off x="2401824" y="2578608"/>
            <a:ext cx="6766560" cy="118872"/>
            <a:chOff x="0" y="0"/>
            <a:chExt cx="9022080" cy="158496"/>
          </a:xfrm>
        </p:grpSpPr>
        <p:sp>
          <p:nvSpPr>
            <p:cNvPr id="16" name="Freeform 16"/>
            <p:cNvSpPr/>
            <p:nvPr/>
          </p:nvSpPr>
          <p:spPr>
            <a:xfrm>
              <a:off x="0" y="0"/>
              <a:ext cx="9022080" cy="158496"/>
            </a:xfrm>
            <a:custGeom>
              <a:avLst/>
              <a:gdLst/>
              <a:ahLst/>
              <a:cxnLst/>
              <a:rect l="l" t="t" r="r" b="b"/>
              <a:pathLst>
                <a:path w="9022080" h="158496">
                  <a:moveTo>
                    <a:pt x="0" y="0"/>
                  </a:moveTo>
                  <a:lnTo>
                    <a:pt x="9022080" y="0"/>
                  </a:lnTo>
                  <a:lnTo>
                    <a:pt x="9022080" y="158496"/>
                  </a:lnTo>
                  <a:lnTo>
                    <a:pt x="0" y="158496"/>
                  </a:lnTo>
                  <a:lnTo>
                    <a:pt x="0" y="0"/>
                  </a:lnTo>
                  <a:close/>
                </a:path>
              </a:pathLst>
            </a:custGeom>
            <a:blipFill>
              <a:blip r:embed="rId5"/>
              <a:stretch>
                <a:fillRect/>
              </a:stretch>
            </a:blipFill>
          </p:spPr>
          <p:txBody>
            <a:bodyPr/>
            <a:lstStyle/>
            <a:p>
              <a:endParaRPr lang="en-SG"/>
            </a:p>
          </p:txBody>
        </p:sp>
      </p:grpSp>
      <p:grpSp>
        <p:nvGrpSpPr>
          <p:cNvPr id="17" name="Group 17"/>
          <p:cNvGrpSpPr/>
          <p:nvPr/>
        </p:nvGrpSpPr>
        <p:grpSpPr>
          <a:xfrm>
            <a:off x="2401824" y="2694432"/>
            <a:ext cx="6766560" cy="118872"/>
            <a:chOff x="0" y="0"/>
            <a:chExt cx="9022080" cy="158496"/>
          </a:xfrm>
        </p:grpSpPr>
        <p:sp>
          <p:nvSpPr>
            <p:cNvPr id="18" name="Freeform 18"/>
            <p:cNvSpPr/>
            <p:nvPr/>
          </p:nvSpPr>
          <p:spPr>
            <a:xfrm>
              <a:off x="0" y="0"/>
              <a:ext cx="9022080" cy="158496"/>
            </a:xfrm>
            <a:custGeom>
              <a:avLst/>
              <a:gdLst/>
              <a:ahLst/>
              <a:cxnLst/>
              <a:rect l="l" t="t" r="r" b="b"/>
              <a:pathLst>
                <a:path w="9022080" h="158496">
                  <a:moveTo>
                    <a:pt x="0" y="0"/>
                  </a:moveTo>
                  <a:lnTo>
                    <a:pt x="9022080" y="0"/>
                  </a:lnTo>
                  <a:lnTo>
                    <a:pt x="9022080" y="158496"/>
                  </a:lnTo>
                  <a:lnTo>
                    <a:pt x="0" y="158496"/>
                  </a:lnTo>
                  <a:lnTo>
                    <a:pt x="0" y="0"/>
                  </a:lnTo>
                  <a:close/>
                </a:path>
              </a:pathLst>
            </a:custGeom>
            <a:blipFill>
              <a:blip r:embed="rId6"/>
              <a:stretch>
                <a:fillRect/>
              </a:stretch>
            </a:blipFill>
          </p:spPr>
          <p:txBody>
            <a:bodyPr/>
            <a:lstStyle/>
            <a:p>
              <a:endParaRPr lang="en-SG"/>
            </a:p>
          </p:txBody>
        </p:sp>
      </p:grpSp>
      <p:grpSp>
        <p:nvGrpSpPr>
          <p:cNvPr id="19" name="Group 19"/>
          <p:cNvGrpSpPr/>
          <p:nvPr/>
        </p:nvGrpSpPr>
        <p:grpSpPr>
          <a:xfrm>
            <a:off x="2401824" y="2810256"/>
            <a:ext cx="6766560" cy="118872"/>
            <a:chOff x="0" y="0"/>
            <a:chExt cx="9022080" cy="158496"/>
          </a:xfrm>
        </p:grpSpPr>
        <p:sp>
          <p:nvSpPr>
            <p:cNvPr id="20" name="Freeform 20"/>
            <p:cNvSpPr/>
            <p:nvPr/>
          </p:nvSpPr>
          <p:spPr>
            <a:xfrm>
              <a:off x="0" y="0"/>
              <a:ext cx="9022080" cy="158496"/>
            </a:xfrm>
            <a:custGeom>
              <a:avLst/>
              <a:gdLst/>
              <a:ahLst/>
              <a:cxnLst/>
              <a:rect l="l" t="t" r="r" b="b"/>
              <a:pathLst>
                <a:path w="9022080" h="158496">
                  <a:moveTo>
                    <a:pt x="0" y="0"/>
                  </a:moveTo>
                  <a:lnTo>
                    <a:pt x="9022080" y="0"/>
                  </a:lnTo>
                  <a:lnTo>
                    <a:pt x="9022080" y="158496"/>
                  </a:lnTo>
                  <a:lnTo>
                    <a:pt x="0" y="158496"/>
                  </a:lnTo>
                  <a:lnTo>
                    <a:pt x="0" y="0"/>
                  </a:lnTo>
                  <a:close/>
                </a:path>
              </a:pathLst>
            </a:custGeom>
            <a:blipFill>
              <a:blip r:embed="rId7"/>
              <a:stretch>
                <a:fillRect/>
              </a:stretch>
            </a:blipFill>
          </p:spPr>
          <p:txBody>
            <a:bodyPr/>
            <a:lstStyle/>
            <a:p>
              <a:endParaRPr lang="en-SG"/>
            </a:p>
          </p:txBody>
        </p:sp>
      </p:grpSp>
      <p:grpSp>
        <p:nvGrpSpPr>
          <p:cNvPr id="21" name="Group 21"/>
          <p:cNvGrpSpPr/>
          <p:nvPr/>
        </p:nvGrpSpPr>
        <p:grpSpPr>
          <a:xfrm>
            <a:off x="2401824" y="2926080"/>
            <a:ext cx="6766560" cy="118872"/>
            <a:chOff x="0" y="0"/>
            <a:chExt cx="9022080" cy="158496"/>
          </a:xfrm>
        </p:grpSpPr>
        <p:sp>
          <p:nvSpPr>
            <p:cNvPr id="22" name="Freeform 22"/>
            <p:cNvSpPr/>
            <p:nvPr/>
          </p:nvSpPr>
          <p:spPr>
            <a:xfrm>
              <a:off x="0" y="0"/>
              <a:ext cx="9022080" cy="158496"/>
            </a:xfrm>
            <a:custGeom>
              <a:avLst/>
              <a:gdLst/>
              <a:ahLst/>
              <a:cxnLst/>
              <a:rect l="l" t="t" r="r" b="b"/>
              <a:pathLst>
                <a:path w="9022080" h="158496">
                  <a:moveTo>
                    <a:pt x="0" y="0"/>
                  </a:moveTo>
                  <a:lnTo>
                    <a:pt x="9022080" y="0"/>
                  </a:lnTo>
                  <a:lnTo>
                    <a:pt x="9022080" y="158496"/>
                  </a:lnTo>
                  <a:lnTo>
                    <a:pt x="0" y="158496"/>
                  </a:lnTo>
                  <a:lnTo>
                    <a:pt x="0" y="0"/>
                  </a:lnTo>
                  <a:close/>
                </a:path>
              </a:pathLst>
            </a:custGeom>
            <a:blipFill>
              <a:blip r:embed="rId8"/>
              <a:stretch>
                <a:fillRect/>
              </a:stretch>
            </a:blipFill>
          </p:spPr>
          <p:txBody>
            <a:bodyPr/>
            <a:lstStyle/>
            <a:p>
              <a:endParaRPr lang="en-SG"/>
            </a:p>
          </p:txBody>
        </p:sp>
      </p:grpSp>
      <p:grpSp>
        <p:nvGrpSpPr>
          <p:cNvPr id="23" name="Group 23"/>
          <p:cNvGrpSpPr/>
          <p:nvPr/>
        </p:nvGrpSpPr>
        <p:grpSpPr>
          <a:xfrm>
            <a:off x="2401824" y="3041904"/>
            <a:ext cx="6766560" cy="118872"/>
            <a:chOff x="0" y="0"/>
            <a:chExt cx="9022080" cy="158496"/>
          </a:xfrm>
        </p:grpSpPr>
        <p:sp>
          <p:nvSpPr>
            <p:cNvPr id="24" name="Freeform 24"/>
            <p:cNvSpPr/>
            <p:nvPr/>
          </p:nvSpPr>
          <p:spPr>
            <a:xfrm>
              <a:off x="0" y="0"/>
              <a:ext cx="9022080" cy="158496"/>
            </a:xfrm>
            <a:custGeom>
              <a:avLst/>
              <a:gdLst/>
              <a:ahLst/>
              <a:cxnLst/>
              <a:rect l="l" t="t" r="r" b="b"/>
              <a:pathLst>
                <a:path w="9022080" h="158496">
                  <a:moveTo>
                    <a:pt x="0" y="0"/>
                  </a:moveTo>
                  <a:lnTo>
                    <a:pt x="9022080" y="0"/>
                  </a:lnTo>
                  <a:lnTo>
                    <a:pt x="9022080" y="158496"/>
                  </a:lnTo>
                  <a:lnTo>
                    <a:pt x="0" y="158496"/>
                  </a:lnTo>
                  <a:lnTo>
                    <a:pt x="0" y="0"/>
                  </a:lnTo>
                  <a:close/>
                </a:path>
              </a:pathLst>
            </a:custGeom>
            <a:blipFill>
              <a:blip r:embed="rId9"/>
              <a:stretch>
                <a:fillRect/>
              </a:stretch>
            </a:blipFill>
          </p:spPr>
          <p:txBody>
            <a:bodyPr/>
            <a:lstStyle/>
            <a:p>
              <a:endParaRPr lang="en-SG"/>
            </a:p>
          </p:txBody>
        </p:sp>
      </p:grpSp>
      <p:grpSp>
        <p:nvGrpSpPr>
          <p:cNvPr id="25" name="Group 25"/>
          <p:cNvGrpSpPr/>
          <p:nvPr/>
        </p:nvGrpSpPr>
        <p:grpSpPr>
          <a:xfrm>
            <a:off x="2401824" y="3157728"/>
            <a:ext cx="6766560" cy="118872"/>
            <a:chOff x="0" y="0"/>
            <a:chExt cx="9022080" cy="158496"/>
          </a:xfrm>
        </p:grpSpPr>
        <p:sp>
          <p:nvSpPr>
            <p:cNvPr id="26" name="Freeform 26"/>
            <p:cNvSpPr/>
            <p:nvPr/>
          </p:nvSpPr>
          <p:spPr>
            <a:xfrm>
              <a:off x="0" y="0"/>
              <a:ext cx="9022080" cy="158496"/>
            </a:xfrm>
            <a:custGeom>
              <a:avLst/>
              <a:gdLst/>
              <a:ahLst/>
              <a:cxnLst/>
              <a:rect l="l" t="t" r="r" b="b"/>
              <a:pathLst>
                <a:path w="9022080" h="158496">
                  <a:moveTo>
                    <a:pt x="0" y="0"/>
                  </a:moveTo>
                  <a:lnTo>
                    <a:pt x="9022080" y="0"/>
                  </a:lnTo>
                  <a:lnTo>
                    <a:pt x="9022080" y="158496"/>
                  </a:lnTo>
                  <a:lnTo>
                    <a:pt x="0" y="158496"/>
                  </a:lnTo>
                  <a:lnTo>
                    <a:pt x="0" y="0"/>
                  </a:lnTo>
                  <a:close/>
                </a:path>
              </a:pathLst>
            </a:custGeom>
            <a:blipFill>
              <a:blip r:embed="rId10"/>
              <a:stretch>
                <a:fillRect/>
              </a:stretch>
            </a:blipFill>
          </p:spPr>
          <p:txBody>
            <a:bodyPr/>
            <a:lstStyle/>
            <a:p>
              <a:endParaRPr lang="en-SG"/>
            </a:p>
          </p:txBody>
        </p:sp>
      </p:grpSp>
      <p:grpSp>
        <p:nvGrpSpPr>
          <p:cNvPr id="27" name="Group 27"/>
          <p:cNvGrpSpPr/>
          <p:nvPr/>
        </p:nvGrpSpPr>
        <p:grpSpPr>
          <a:xfrm>
            <a:off x="2401824" y="3273552"/>
            <a:ext cx="6766560" cy="118872"/>
            <a:chOff x="0" y="0"/>
            <a:chExt cx="9022080" cy="158496"/>
          </a:xfrm>
        </p:grpSpPr>
        <p:sp>
          <p:nvSpPr>
            <p:cNvPr id="28" name="Freeform 28"/>
            <p:cNvSpPr/>
            <p:nvPr/>
          </p:nvSpPr>
          <p:spPr>
            <a:xfrm>
              <a:off x="0" y="0"/>
              <a:ext cx="9022080" cy="158496"/>
            </a:xfrm>
            <a:custGeom>
              <a:avLst/>
              <a:gdLst/>
              <a:ahLst/>
              <a:cxnLst/>
              <a:rect l="l" t="t" r="r" b="b"/>
              <a:pathLst>
                <a:path w="9022080" h="158496">
                  <a:moveTo>
                    <a:pt x="0" y="0"/>
                  </a:moveTo>
                  <a:lnTo>
                    <a:pt x="9022080" y="0"/>
                  </a:lnTo>
                  <a:lnTo>
                    <a:pt x="9022080" y="158496"/>
                  </a:lnTo>
                  <a:lnTo>
                    <a:pt x="0" y="158496"/>
                  </a:lnTo>
                  <a:lnTo>
                    <a:pt x="0" y="0"/>
                  </a:lnTo>
                  <a:close/>
                </a:path>
              </a:pathLst>
            </a:custGeom>
            <a:blipFill>
              <a:blip r:embed="rId11"/>
              <a:stretch>
                <a:fillRect/>
              </a:stretch>
            </a:blipFill>
          </p:spPr>
          <p:txBody>
            <a:bodyPr/>
            <a:lstStyle/>
            <a:p>
              <a:endParaRPr lang="en-SG"/>
            </a:p>
          </p:txBody>
        </p:sp>
      </p:grpSp>
      <p:grpSp>
        <p:nvGrpSpPr>
          <p:cNvPr id="29" name="Group 29"/>
          <p:cNvGrpSpPr/>
          <p:nvPr/>
        </p:nvGrpSpPr>
        <p:grpSpPr>
          <a:xfrm>
            <a:off x="2401824" y="3389376"/>
            <a:ext cx="6766560" cy="118872"/>
            <a:chOff x="0" y="0"/>
            <a:chExt cx="9022080" cy="158496"/>
          </a:xfrm>
        </p:grpSpPr>
        <p:sp>
          <p:nvSpPr>
            <p:cNvPr id="30" name="Freeform 30"/>
            <p:cNvSpPr/>
            <p:nvPr/>
          </p:nvSpPr>
          <p:spPr>
            <a:xfrm>
              <a:off x="0" y="0"/>
              <a:ext cx="9022080" cy="158496"/>
            </a:xfrm>
            <a:custGeom>
              <a:avLst/>
              <a:gdLst/>
              <a:ahLst/>
              <a:cxnLst/>
              <a:rect l="l" t="t" r="r" b="b"/>
              <a:pathLst>
                <a:path w="9022080" h="158496">
                  <a:moveTo>
                    <a:pt x="0" y="0"/>
                  </a:moveTo>
                  <a:lnTo>
                    <a:pt x="9022080" y="0"/>
                  </a:lnTo>
                  <a:lnTo>
                    <a:pt x="9022080" y="158496"/>
                  </a:lnTo>
                  <a:lnTo>
                    <a:pt x="0" y="158496"/>
                  </a:lnTo>
                  <a:lnTo>
                    <a:pt x="0" y="0"/>
                  </a:lnTo>
                  <a:close/>
                </a:path>
              </a:pathLst>
            </a:custGeom>
            <a:blipFill>
              <a:blip r:embed="rId12"/>
              <a:stretch>
                <a:fillRect/>
              </a:stretch>
            </a:blipFill>
          </p:spPr>
          <p:txBody>
            <a:bodyPr/>
            <a:lstStyle/>
            <a:p>
              <a:endParaRPr lang="en-SG"/>
            </a:p>
          </p:txBody>
        </p:sp>
      </p:grpSp>
      <p:grpSp>
        <p:nvGrpSpPr>
          <p:cNvPr id="31" name="Group 31"/>
          <p:cNvGrpSpPr/>
          <p:nvPr/>
        </p:nvGrpSpPr>
        <p:grpSpPr>
          <a:xfrm>
            <a:off x="2401824" y="3505200"/>
            <a:ext cx="6766560" cy="118872"/>
            <a:chOff x="0" y="0"/>
            <a:chExt cx="9022080" cy="158496"/>
          </a:xfrm>
        </p:grpSpPr>
        <p:sp>
          <p:nvSpPr>
            <p:cNvPr id="32" name="Freeform 32"/>
            <p:cNvSpPr/>
            <p:nvPr/>
          </p:nvSpPr>
          <p:spPr>
            <a:xfrm>
              <a:off x="0" y="0"/>
              <a:ext cx="9022080" cy="158496"/>
            </a:xfrm>
            <a:custGeom>
              <a:avLst/>
              <a:gdLst/>
              <a:ahLst/>
              <a:cxnLst/>
              <a:rect l="l" t="t" r="r" b="b"/>
              <a:pathLst>
                <a:path w="9022080" h="158496">
                  <a:moveTo>
                    <a:pt x="0" y="0"/>
                  </a:moveTo>
                  <a:lnTo>
                    <a:pt x="9022080" y="0"/>
                  </a:lnTo>
                  <a:lnTo>
                    <a:pt x="9022080" y="158496"/>
                  </a:lnTo>
                  <a:lnTo>
                    <a:pt x="0" y="158496"/>
                  </a:lnTo>
                  <a:lnTo>
                    <a:pt x="0" y="0"/>
                  </a:lnTo>
                  <a:close/>
                </a:path>
              </a:pathLst>
            </a:custGeom>
            <a:blipFill>
              <a:blip r:embed="rId13"/>
              <a:stretch>
                <a:fillRect/>
              </a:stretch>
            </a:blipFill>
          </p:spPr>
          <p:txBody>
            <a:bodyPr/>
            <a:lstStyle/>
            <a:p>
              <a:endParaRPr lang="en-SG"/>
            </a:p>
          </p:txBody>
        </p:sp>
      </p:grpSp>
      <p:grpSp>
        <p:nvGrpSpPr>
          <p:cNvPr id="33" name="Group 33"/>
          <p:cNvGrpSpPr/>
          <p:nvPr/>
        </p:nvGrpSpPr>
        <p:grpSpPr>
          <a:xfrm>
            <a:off x="2401824" y="3621024"/>
            <a:ext cx="6766560" cy="118872"/>
            <a:chOff x="0" y="0"/>
            <a:chExt cx="9022080" cy="158496"/>
          </a:xfrm>
        </p:grpSpPr>
        <p:sp>
          <p:nvSpPr>
            <p:cNvPr id="34" name="Freeform 34"/>
            <p:cNvSpPr/>
            <p:nvPr/>
          </p:nvSpPr>
          <p:spPr>
            <a:xfrm>
              <a:off x="0" y="0"/>
              <a:ext cx="9022080" cy="158496"/>
            </a:xfrm>
            <a:custGeom>
              <a:avLst/>
              <a:gdLst/>
              <a:ahLst/>
              <a:cxnLst/>
              <a:rect l="l" t="t" r="r" b="b"/>
              <a:pathLst>
                <a:path w="9022080" h="158496">
                  <a:moveTo>
                    <a:pt x="0" y="0"/>
                  </a:moveTo>
                  <a:lnTo>
                    <a:pt x="9022080" y="0"/>
                  </a:lnTo>
                  <a:lnTo>
                    <a:pt x="9022080" y="158496"/>
                  </a:lnTo>
                  <a:lnTo>
                    <a:pt x="0" y="158496"/>
                  </a:lnTo>
                  <a:lnTo>
                    <a:pt x="0" y="0"/>
                  </a:lnTo>
                  <a:close/>
                </a:path>
              </a:pathLst>
            </a:custGeom>
            <a:blipFill>
              <a:blip r:embed="rId14"/>
              <a:stretch>
                <a:fillRect/>
              </a:stretch>
            </a:blipFill>
          </p:spPr>
          <p:txBody>
            <a:bodyPr/>
            <a:lstStyle/>
            <a:p>
              <a:endParaRPr lang="en-SG"/>
            </a:p>
          </p:txBody>
        </p:sp>
      </p:grpSp>
      <p:grpSp>
        <p:nvGrpSpPr>
          <p:cNvPr id="35" name="Group 35"/>
          <p:cNvGrpSpPr/>
          <p:nvPr/>
        </p:nvGrpSpPr>
        <p:grpSpPr>
          <a:xfrm>
            <a:off x="2401824" y="3736848"/>
            <a:ext cx="6766560" cy="118872"/>
            <a:chOff x="0" y="0"/>
            <a:chExt cx="9022080" cy="158496"/>
          </a:xfrm>
        </p:grpSpPr>
        <p:sp>
          <p:nvSpPr>
            <p:cNvPr id="36" name="Freeform 36"/>
            <p:cNvSpPr/>
            <p:nvPr/>
          </p:nvSpPr>
          <p:spPr>
            <a:xfrm>
              <a:off x="0" y="0"/>
              <a:ext cx="9022080" cy="158496"/>
            </a:xfrm>
            <a:custGeom>
              <a:avLst/>
              <a:gdLst/>
              <a:ahLst/>
              <a:cxnLst/>
              <a:rect l="l" t="t" r="r" b="b"/>
              <a:pathLst>
                <a:path w="9022080" h="158496">
                  <a:moveTo>
                    <a:pt x="0" y="0"/>
                  </a:moveTo>
                  <a:lnTo>
                    <a:pt x="9022080" y="0"/>
                  </a:lnTo>
                  <a:lnTo>
                    <a:pt x="9022080" y="158496"/>
                  </a:lnTo>
                  <a:lnTo>
                    <a:pt x="0" y="158496"/>
                  </a:lnTo>
                  <a:lnTo>
                    <a:pt x="0" y="0"/>
                  </a:lnTo>
                  <a:close/>
                </a:path>
              </a:pathLst>
            </a:custGeom>
            <a:blipFill>
              <a:blip r:embed="rId15"/>
              <a:stretch>
                <a:fillRect/>
              </a:stretch>
            </a:blipFill>
          </p:spPr>
          <p:txBody>
            <a:bodyPr/>
            <a:lstStyle/>
            <a:p>
              <a:endParaRPr lang="en-SG"/>
            </a:p>
          </p:txBody>
        </p:sp>
      </p:grpSp>
      <p:grpSp>
        <p:nvGrpSpPr>
          <p:cNvPr id="37" name="Group 37"/>
          <p:cNvGrpSpPr/>
          <p:nvPr/>
        </p:nvGrpSpPr>
        <p:grpSpPr>
          <a:xfrm>
            <a:off x="2401824" y="3852672"/>
            <a:ext cx="6766560" cy="118872"/>
            <a:chOff x="0" y="0"/>
            <a:chExt cx="9022080" cy="158496"/>
          </a:xfrm>
        </p:grpSpPr>
        <p:sp>
          <p:nvSpPr>
            <p:cNvPr id="38" name="Freeform 38"/>
            <p:cNvSpPr/>
            <p:nvPr/>
          </p:nvSpPr>
          <p:spPr>
            <a:xfrm>
              <a:off x="0" y="0"/>
              <a:ext cx="9022080" cy="158496"/>
            </a:xfrm>
            <a:custGeom>
              <a:avLst/>
              <a:gdLst/>
              <a:ahLst/>
              <a:cxnLst/>
              <a:rect l="l" t="t" r="r" b="b"/>
              <a:pathLst>
                <a:path w="9022080" h="158496">
                  <a:moveTo>
                    <a:pt x="0" y="0"/>
                  </a:moveTo>
                  <a:lnTo>
                    <a:pt x="9022080" y="0"/>
                  </a:lnTo>
                  <a:lnTo>
                    <a:pt x="9022080" y="158496"/>
                  </a:lnTo>
                  <a:lnTo>
                    <a:pt x="0" y="158496"/>
                  </a:lnTo>
                  <a:lnTo>
                    <a:pt x="0" y="0"/>
                  </a:lnTo>
                  <a:close/>
                </a:path>
              </a:pathLst>
            </a:custGeom>
            <a:blipFill>
              <a:blip r:embed="rId16"/>
              <a:stretch>
                <a:fillRect/>
              </a:stretch>
            </a:blipFill>
          </p:spPr>
          <p:txBody>
            <a:bodyPr/>
            <a:lstStyle/>
            <a:p>
              <a:endParaRPr lang="en-SG"/>
            </a:p>
          </p:txBody>
        </p:sp>
      </p:grpSp>
      <p:grpSp>
        <p:nvGrpSpPr>
          <p:cNvPr id="39" name="Group 39"/>
          <p:cNvGrpSpPr/>
          <p:nvPr/>
        </p:nvGrpSpPr>
        <p:grpSpPr>
          <a:xfrm>
            <a:off x="2401824" y="3968496"/>
            <a:ext cx="6766560" cy="118872"/>
            <a:chOff x="0" y="0"/>
            <a:chExt cx="9022080" cy="158496"/>
          </a:xfrm>
        </p:grpSpPr>
        <p:sp>
          <p:nvSpPr>
            <p:cNvPr id="40" name="Freeform 40"/>
            <p:cNvSpPr/>
            <p:nvPr/>
          </p:nvSpPr>
          <p:spPr>
            <a:xfrm>
              <a:off x="0" y="0"/>
              <a:ext cx="9022080" cy="158496"/>
            </a:xfrm>
            <a:custGeom>
              <a:avLst/>
              <a:gdLst/>
              <a:ahLst/>
              <a:cxnLst/>
              <a:rect l="l" t="t" r="r" b="b"/>
              <a:pathLst>
                <a:path w="9022080" h="158496">
                  <a:moveTo>
                    <a:pt x="0" y="0"/>
                  </a:moveTo>
                  <a:lnTo>
                    <a:pt x="9022080" y="0"/>
                  </a:lnTo>
                  <a:lnTo>
                    <a:pt x="9022080" y="158496"/>
                  </a:lnTo>
                  <a:lnTo>
                    <a:pt x="0" y="158496"/>
                  </a:lnTo>
                  <a:lnTo>
                    <a:pt x="0" y="0"/>
                  </a:lnTo>
                  <a:close/>
                </a:path>
              </a:pathLst>
            </a:custGeom>
            <a:blipFill>
              <a:blip r:embed="rId17"/>
              <a:stretch>
                <a:fillRect/>
              </a:stretch>
            </a:blipFill>
          </p:spPr>
          <p:txBody>
            <a:bodyPr/>
            <a:lstStyle/>
            <a:p>
              <a:endParaRPr lang="en-SG"/>
            </a:p>
          </p:txBody>
        </p:sp>
      </p:grpSp>
      <p:grpSp>
        <p:nvGrpSpPr>
          <p:cNvPr id="41" name="Group 41"/>
          <p:cNvGrpSpPr/>
          <p:nvPr/>
        </p:nvGrpSpPr>
        <p:grpSpPr>
          <a:xfrm>
            <a:off x="2401824" y="4084320"/>
            <a:ext cx="6766560" cy="118872"/>
            <a:chOff x="0" y="0"/>
            <a:chExt cx="9022080" cy="158496"/>
          </a:xfrm>
        </p:grpSpPr>
        <p:sp>
          <p:nvSpPr>
            <p:cNvPr id="42" name="Freeform 42"/>
            <p:cNvSpPr/>
            <p:nvPr/>
          </p:nvSpPr>
          <p:spPr>
            <a:xfrm>
              <a:off x="0" y="0"/>
              <a:ext cx="9022080" cy="158496"/>
            </a:xfrm>
            <a:custGeom>
              <a:avLst/>
              <a:gdLst/>
              <a:ahLst/>
              <a:cxnLst/>
              <a:rect l="l" t="t" r="r" b="b"/>
              <a:pathLst>
                <a:path w="9022080" h="158496">
                  <a:moveTo>
                    <a:pt x="0" y="0"/>
                  </a:moveTo>
                  <a:lnTo>
                    <a:pt x="9022080" y="0"/>
                  </a:lnTo>
                  <a:lnTo>
                    <a:pt x="9022080" y="158496"/>
                  </a:lnTo>
                  <a:lnTo>
                    <a:pt x="0" y="158496"/>
                  </a:lnTo>
                  <a:lnTo>
                    <a:pt x="0" y="0"/>
                  </a:lnTo>
                  <a:close/>
                </a:path>
              </a:pathLst>
            </a:custGeom>
            <a:blipFill>
              <a:blip r:embed="rId18"/>
              <a:stretch>
                <a:fillRect/>
              </a:stretch>
            </a:blipFill>
          </p:spPr>
          <p:txBody>
            <a:bodyPr/>
            <a:lstStyle/>
            <a:p>
              <a:endParaRPr lang="en-SG"/>
            </a:p>
          </p:txBody>
        </p:sp>
      </p:grpSp>
      <p:grpSp>
        <p:nvGrpSpPr>
          <p:cNvPr id="43" name="Group 43"/>
          <p:cNvGrpSpPr/>
          <p:nvPr/>
        </p:nvGrpSpPr>
        <p:grpSpPr>
          <a:xfrm>
            <a:off x="2401824" y="4200144"/>
            <a:ext cx="6766560" cy="118872"/>
            <a:chOff x="0" y="0"/>
            <a:chExt cx="9022080" cy="158496"/>
          </a:xfrm>
        </p:grpSpPr>
        <p:sp>
          <p:nvSpPr>
            <p:cNvPr id="44" name="Freeform 44"/>
            <p:cNvSpPr/>
            <p:nvPr/>
          </p:nvSpPr>
          <p:spPr>
            <a:xfrm>
              <a:off x="0" y="0"/>
              <a:ext cx="9022080" cy="158496"/>
            </a:xfrm>
            <a:custGeom>
              <a:avLst/>
              <a:gdLst/>
              <a:ahLst/>
              <a:cxnLst/>
              <a:rect l="l" t="t" r="r" b="b"/>
              <a:pathLst>
                <a:path w="9022080" h="158496">
                  <a:moveTo>
                    <a:pt x="0" y="0"/>
                  </a:moveTo>
                  <a:lnTo>
                    <a:pt x="9022080" y="0"/>
                  </a:lnTo>
                  <a:lnTo>
                    <a:pt x="9022080" y="158496"/>
                  </a:lnTo>
                  <a:lnTo>
                    <a:pt x="0" y="158496"/>
                  </a:lnTo>
                  <a:lnTo>
                    <a:pt x="0" y="0"/>
                  </a:lnTo>
                  <a:close/>
                </a:path>
              </a:pathLst>
            </a:custGeom>
            <a:blipFill>
              <a:blip r:embed="rId19"/>
              <a:stretch>
                <a:fillRect/>
              </a:stretch>
            </a:blipFill>
          </p:spPr>
          <p:txBody>
            <a:bodyPr/>
            <a:lstStyle/>
            <a:p>
              <a:endParaRPr lang="en-SG"/>
            </a:p>
          </p:txBody>
        </p:sp>
      </p:grpSp>
      <p:grpSp>
        <p:nvGrpSpPr>
          <p:cNvPr id="45" name="Group 45"/>
          <p:cNvGrpSpPr/>
          <p:nvPr/>
        </p:nvGrpSpPr>
        <p:grpSpPr>
          <a:xfrm>
            <a:off x="2401824" y="4315968"/>
            <a:ext cx="6766560" cy="118872"/>
            <a:chOff x="0" y="0"/>
            <a:chExt cx="9022080" cy="158496"/>
          </a:xfrm>
        </p:grpSpPr>
        <p:sp>
          <p:nvSpPr>
            <p:cNvPr id="46" name="Freeform 46"/>
            <p:cNvSpPr/>
            <p:nvPr/>
          </p:nvSpPr>
          <p:spPr>
            <a:xfrm>
              <a:off x="0" y="0"/>
              <a:ext cx="9022080" cy="158496"/>
            </a:xfrm>
            <a:custGeom>
              <a:avLst/>
              <a:gdLst/>
              <a:ahLst/>
              <a:cxnLst/>
              <a:rect l="l" t="t" r="r" b="b"/>
              <a:pathLst>
                <a:path w="9022080" h="158496">
                  <a:moveTo>
                    <a:pt x="0" y="0"/>
                  </a:moveTo>
                  <a:lnTo>
                    <a:pt x="9022080" y="0"/>
                  </a:lnTo>
                  <a:lnTo>
                    <a:pt x="9022080" y="158496"/>
                  </a:lnTo>
                  <a:lnTo>
                    <a:pt x="0" y="158496"/>
                  </a:lnTo>
                  <a:lnTo>
                    <a:pt x="0" y="0"/>
                  </a:lnTo>
                  <a:close/>
                </a:path>
              </a:pathLst>
            </a:custGeom>
            <a:blipFill>
              <a:blip r:embed="rId20"/>
              <a:stretch>
                <a:fillRect/>
              </a:stretch>
            </a:blipFill>
          </p:spPr>
          <p:txBody>
            <a:bodyPr/>
            <a:lstStyle/>
            <a:p>
              <a:endParaRPr lang="en-SG"/>
            </a:p>
          </p:txBody>
        </p:sp>
      </p:grpSp>
      <p:grpSp>
        <p:nvGrpSpPr>
          <p:cNvPr id="47" name="Group 47"/>
          <p:cNvGrpSpPr/>
          <p:nvPr/>
        </p:nvGrpSpPr>
        <p:grpSpPr>
          <a:xfrm>
            <a:off x="2401824" y="4431792"/>
            <a:ext cx="6766560" cy="118872"/>
            <a:chOff x="0" y="0"/>
            <a:chExt cx="9022080" cy="158496"/>
          </a:xfrm>
        </p:grpSpPr>
        <p:sp>
          <p:nvSpPr>
            <p:cNvPr id="48" name="Freeform 48"/>
            <p:cNvSpPr/>
            <p:nvPr/>
          </p:nvSpPr>
          <p:spPr>
            <a:xfrm>
              <a:off x="0" y="0"/>
              <a:ext cx="9022080" cy="158496"/>
            </a:xfrm>
            <a:custGeom>
              <a:avLst/>
              <a:gdLst/>
              <a:ahLst/>
              <a:cxnLst/>
              <a:rect l="l" t="t" r="r" b="b"/>
              <a:pathLst>
                <a:path w="9022080" h="158496">
                  <a:moveTo>
                    <a:pt x="0" y="0"/>
                  </a:moveTo>
                  <a:lnTo>
                    <a:pt x="9022080" y="0"/>
                  </a:lnTo>
                  <a:lnTo>
                    <a:pt x="9022080" y="158496"/>
                  </a:lnTo>
                  <a:lnTo>
                    <a:pt x="0" y="158496"/>
                  </a:lnTo>
                  <a:lnTo>
                    <a:pt x="0" y="0"/>
                  </a:lnTo>
                  <a:close/>
                </a:path>
              </a:pathLst>
            </a:custGeom>
            <a:blipFill>
              <a:blip r:embed="rId21"/>
              <a:stretch>
                <a:fillRect/>
              </a:stretch>
            </a:blipFill>
          </p:spPr>
          <p:txBody>
            <a:bodyPr/>
            <a:lstStyle/>
            <a:p>
              <a:endParaRPr lang="en-SG"/>
            </a:p>
          </p:txBody>
        </p:sp>
      </p:grpSp>
      <p:grpSp>
        <p:nvGrpSpPr>
          <p:cNvPr id="49" name="Group 49"/>
          <p:cNvGrpSpPr/>
          <p:nvPr/>
        </p:nvGrpSpPr>
        <p:grpSpPr>
          <a:xfrm>
            <a:off x="2401824" y="4547616"/>
            <a:ext cx="6766560" cy="118872"/>
            <a:chOff x="0" y="0"/>
            <a:chExt cx="9022080" cy="158496"/>
          </a:xfrm>
        </p:grpSpPr>
        <p:sp>
          <p:nvSpPr>
            <p:cNvPr id="50" name="Freeform 50"/>
            <p:cNvSpPr/>
            <p:nvPr/>
          </p:nvSpPr>
          <p:spPr>
            <a:xfrm>
              <a:off x="0" y="0"/>
              <a:ext cx="9022080" cy="158496"/>
            </a:xfrm>
            <a:custGeom>
              <a:avLst/>
              <a:gdLst/>
              <a:ahLst/>
              <a:cxnLst/>
              <a:rect l="l" t="t" r="r" b="b"/>
              <a:pathLst>
                <a:path w="9022080" h="158496">
                  <a:moveTo>
                    <a:pt x="0" y="0"/>
                  </a:moveTo>
                  <a:lnTo>
                    <a:pt x="9022080" y="0"/>
                  </a:lnTo>
                  <a:lnTo>
                    <a:pt x="9022080" y="158496"/>
                  </a:lnTo>
                  <a:lnTo>
                    <a:pt x="0" y="158496"/>
                  </a:lnTo>
                  <a:lnTo>
                    <a:pt x="0" y="0"/>
                  </a:lnTo>
                  <a:close/>
                </a:path>
              </a:pathLst>
            </a:custGeom>
            <a:blipFill>
              <a:blip r:embed="rId22"/>
              <a:stretch>
                <a:fillRect/>
              </a:stretch>
            </a:blipFill>
          </p:spPr>
          <p:txBody>
            <a:bodyPr/>
            <a:lstStyle/>
            <a:p>
              <a:endParaRPr lang="en-SG"/>
            </a:p>
          </p:txBody>
        </p:sp>
      </p:grpSp>
      <p:grpSp>
        <p:nvGrpSpPr>
          <p:cNvPr id="51" name="Group 51"/>
          <p:cNvGrpSpPr/>
          <p:nvPr/>
        </p:nvGrpSpPr>
        <p:grpSpPr>
          <a:xfrm>
            <a:off x="2401824" y="4663440"/>
            <a:ext cx="6766560" cy="118872"/>
            <a:chOff x="0" y="0"/>
            <a:chExt cx="9022080" cy="158496"/>
          </a:xfrm>
        </p:grpSpPr>
        <p:sp>
          <p:nvSpPr>
            <p:cNvPr id="52" name="Freeform 52"/>
            <p:cNvSpPr/>
            <p:nvPr/>
          </p:nvSpPr>
          <p:spPr>
            <a:xfrm>
              <a:off x="0" y="0"/>
              <a:ext cx="9022080" cy="158496"/>
            </a:xfrm>
            <a:custGeom>
              <a:avLst/>
              <a:gdLst/>
              <a:ahLst/>
              <a:cxnLst/>
              <a:rect l="l" t="t" r="r" b="b"/>
              <a:pathLst>
                <a:path w="9022080" h="158496">
                  <a:moveTo>
                    <a:pt x="0" y="0"/>
                  </a:moveTo>
                  <a:lnTo>
                    <a:pt x="9022080" y="0"/>
                  </a:lnTo>
                  <a:lnTo>
                    <a:pt x="9022080" y="158496"/>
                  </a:lnTo>
                  <a:lnTo>
                    <a:pt x="0" y="158496"/>
                  </a:lnTo>
                  <a:lnTo>
                    <a:pt x="0" y="0"/>
                  </a:lnTo>
                  <a:close/>
                </a:path>
              </a:pathLst>
            </a:custGeom>
            <a:blipFill>
              <a:blip r:embed="rId23"/>
              <a:stretch>
                <a:fillRect/>
              </a:stretch>
            </a:blipFill>
          </p:spPr>
          <p:txBody>
            <a:bodyPr/>
            <a:lstStyle/>
            <a:p>
              <a:endParaRPr lang="en-SG"/>
            </a:p>
          </p:txBody>
        </p:sp>
      </p:grpSp>
      <p:grpSp>
        <p:nvGrpSpPr>
          <p:cNvPr id="53" name="Group 53"/>
          <p:cNvGrpSpPr/>
          <p:nvPr/>
        </p:nvGrpSpPr>
        <p:grpSpPr>
          <a:xfrm>
            <a:off x="2401824" y="4779264"/>
            <a:ext cx="6766560" cy="118872"/>
            <a:chOff x="0" y="0"/>
            <a:chExt cx="9022080" cy="158496"/>
          </a:xfrm>
        </p:grpSpPr>
        <p:sp>
          <p:nvSpPr>
            <p:cNvPr id="54" name="Freeform 54"/>
            <p:cNvSpPr/>
            <p:nvPr/>
          </p:nvSpPr>
          <p:spPr>
            <a:xfrm>
              <a:off x="0" y="0"/>
              <a:ext cx="9022080" cy="158496"/>
            </a:xfrm>
            <a:custGeom>
              <a:avLst/>
              <a:gdLst/>
              <a:ahLst/>
              <a:cxnLst/>
              <a:rect l="l" t="t" r="r" b="b"/>
              <a:pathLst>
                <a:path w="9022080" h="158496">
                  <a:moveTo>
                    <a:pt x="0" y="0"/>
                  </a:moveTo>
                  <a:lnTo>
                    <a:pt x="9022080" y="0"/>
                  </a:lnTo>
                  <a:lnTo>
                    <a:pt x="9022080" y="158496"/>
                  </a:lnTo>
                  <a:lnTo>
                    <a:pt x="0" y="158496"/>
                  </a:lnTo>
                  <a:lnTo>
                    <a:pt x="0" y="0"/>
                  </a:lnTo>
                  <a:close/>
                </a:path>
              </a:pathLst>
            </a:custGeom>
            <a:blipFill>
              <a:blip r:embed="rId24"/>
              <a:stretch>
                <a:fillRect/>
              </a:stretch>
            </a:blipFill>
          </p:spPr>
          <p:txBody>
            <a:bodyPr/>
            <a:lstStyle/>
            <a:p>
              <a:endParaRPr lang="en-SG"/>
            </a:p>
          </p:txBody>
        </p:sp>
      </p:grpSp>
      <p:grpSp>
        <p:nvGrpSpPr>
          <p:cNvPr id="55" name="Group 55"/>
          <p:cNvGrpSpPr/>
          <p:nvPr/>
        </p:nvGrpSpPr>
        <p:grpSpPr>
          <a:xfrm>
            <a:off x="2401824" y="4895088"/>
            <a:ext cx="6766560" cy="118872"/>
            <a:chOff x="0" y="0"/>
            <a:chExt cx="9022080" cy="158496"/>
          </a:xfrm>
        </p:grpSpPr>
        <p:sp>
          <p:nvSpPr>
            <p:cNvPr id="56" name="Freeform 56"/>
            <p:cNvSpPr/>
            <p:nvPr/>
          </p:nvSpPr>
          <p:spPr>
            <a:xfrm>
              <a:off x="0" y="0"/>
              <a:ext cx="9022080" cy="158496"/>
            </a:xfrm>
            <a:custGeom>
              <a:avLst/>
              <a:gdLst/>
              <a:ahLst/>
              <a:cxnLst/>
              <a:rect l="l" t="t" r="r" b="b"/>
              <a:pathLst>
                <a:path w="9022080" h="158496">
                  <a:moveTo>
                    <a:pt x="0" y="0"/>
                  </a:moveTo>
                  <a:lnTo>
                    <a:pt x="9022080" y="0"/>
                  </a:lnTo>
                  <a:lnTo>
                    <a:pt x="9022080" y="158496"/>
                  </a:lnTo>
                  <a:lnTo>
                    <a:pt x="0" y="158496"/>
                  </a:lnTo>
                  <a:lnTo>
                    <a:pt x="0" y="0"/>
                  </a:lnTo>
                  <a:close/>
                </a:path>
              </a:pathLst>
            </a:custGeom>
            <a:blipFill>
              <a:blip r:embed="rId25"/>
              <a:stretch>
                <a:fillRect/>
              </a:stretch>
            </a:blipFill>
          </p:spPr>
          <p:txBody>
            <a:bodyPr/>
            <a:lstStyle/>
            <a:p>
              <a:endParaRPr lang="en-SG"/>
            </a:p>
          </p:txBody>
        </p:sp>
      </p:grpSp>
      <p:grpSp>
        <p:nvGrpSpPr>
          <p:cNvPr id="57" name="Group 57"/>
          <p:cNvGrpSpPr/>
          <p:nvPr/>
        </p:nvGrpSpPr>
        <p:grpSpPr>
          <a:xfrm>
            <a:off x="2401824" y="5010912"/>
            <a:ext cx="6766560" cy="118872"/>
            <a:chOff x="0" y="0"/>
            <a:chExt cx="9022080" cy="158496"/>
          </a:xfrm>
        </p:grpSpPr>
        <p:sp>
          <p:nvSpPr>
            <p:cNvPr id="58" name="Freeform 58"/>
            <p:cNvSpPr/>
            <p:nvPr/>
          </p:nvSpPr>
          <p:spPr>
            <a:xfrm>
              <a:off x="0" y="0"/>
              <a:ext cx="9022080" cy="158496"/>
            </a:xfrm>
            <a:custGeom>
              <a:avLst/>
              <a:gdLst/>
              <a:ahLst/>
              <a:cxnLst/>
              <a:rect l="l" t="t" r="r" b="b"/>
              <a:pathLst>
                <a:path w="9022080" h="158496">
                  <a:moveTo>
                    <a:pt x="0" y="0"/>
                  </a:moveTo>
                  <a:lnTo>
                    <a:pt x="9022080" y="0"/>
                  </a:lnTo>
                  <a:lnTo>
                    <a:pt x="9022080" y="158496"/>
                  </a:lnTo>
                  <a:lnTo>
                    <a:pt x="0" y="158496"/>
                  </a:lnTo>
                  <a:lnTo>
                    <a:pt x="0" y="0"/>
                  </a:lnTo>
                  <a:close/>
                </a:path>
              </a:pathLst>
            </a:custGeom>
            <a:blipFill>
              <a:blip r:embed="rId26"/>
              <a:stretch>
                <a:fillRect/>
              </a:stretch>
            </a:blipFill>
          </p:spPr>
          <p:txBody>
            <a:bodyPr/>
            <a:lstStyle/>
            <a:p>
              <a:endParaRPr lang="en-SG"/>
            </a:p>
          </p:txBody>
        </p:sp>
      </p:grpSp>
      <p:grpSp>
        <p:nvGrpSpPr>
          <p:cNvPr id="59" name="Group 59"/>
          <p:cNvGrpSpPr/>
          <p:nvPr/>
        </p:nvGrpSpPr>
        <p:grpSpPr>
          <a:xfrm>
            <a:off x="2401824" y="5126736"/>
            <a:ext cx="6766560" cy="118872"/>
            <a:chOff x="0" y="0"/>
            <a:chExt cx="9022080" cy="158496"/>
          </a:xfrm>
        </p:grpSpPr>
        <p:sp>
          <p:nvSpPr>
            <p:cNvPr id="60" name="Freeform 60"/>
            <p:cNvSpPr/>
            <p:nvPr/>
          </p:nvSpPr>
          <p:spPr>
            <a:xfrm>
              <a:off x="0" y="0"/>
              <a:ext cx="9022080" cy="158496"/>
            </a:xfrm>
            <a:custGeom>
              <a:avLst/>
              <a:gdLst/>
              <a:ahLst/>
              <a:cxnLst/>
              <a:rect l="l" t="t" r="r" b="b"/>
              <a:pathLst>
                <a:path w="9022080" h="158496">
                  <a:moveTo>
                    <a:pt x="0" y="0"/>
                  </a:moveTo>
                  <a:lnTo>
                    <a:pt x="9022080" y="0"/>
                  </a:lnTo>
                  <a:lnTo>
                    <a:pt x="9022080" y="158496"/>
                  </a:lnTo>
                  <a:lnTo>
                    <a:pt x="0" y="158496"/>
                  </a:lnTo>
                  <a:lnTo>
                    <a:pt x="0" y="0"/>
                  </a:lnTo>
                  <a:close/>
                </a:path>
              </a:pathLst>
            </a:custGeom>
            <a:blipFill>
              <a:blip r:embed="rId27"/>
              <a:stretch>
                <a:fillRect/>
              </a:stretch>
            </a:blipFill>
          </p:spPr>
          <p:txBody>
            <a:bodyPr/>
            <a:lstStyle/>
            <a:p>
              <a:endParaRPr lang="en-SG"/>
            </a:p>
          </p:txBody>
        </p:sp>
      </p:grpSp>
      <p:grpSp>
        <p:nvGrpSpPr>
          <p:cNvPr id="61" name="Group 61"/>
          <p:cNvGrpSpPr/>
          <p:nvPr/>
        </p:nvGrpSpPr>
        <p:grpSpPr>
          <a:xfrm>
            <a:off x="2401824" y="5242560"/>
            <a:ext cx="6766560" cy="118872"/>
            <a:chOff x="0" y="0"/>
            <a:chExt cx="9022080" cy="158496"/>
          </a:xfrm>
        </p:grpSpPr>
        <p:sp>
          <p:nvSpPr>
            <p:cNvPr id="62" name="Freeform 62"/>
            <p:cNvSpPr/>
            <p:nvPr/>
          </p:nvSpPr>
          <p:spPr>
            <a:xfrm>
              <a:off x="0" y="0"/>
              <a:ext cx="9022080" cy="158496"/>
            </a:xfrm>
            <a:custGeom>
              <a:avLst/>
              <a:gdLst/>
              <a:ahLst/>
              <a:cxnLst/>
              <a:rect l="l" t="t" r="r" b="b"/>
              <a:pathLst>
                <a:path w="9022080" h="158496">
                  <a:moveTo>
                    <a:pt x="0" y="0"/>
                  </a:moveTo>
                  <a:lnTo>
                    <a:pt x="9022080" y="0"/>
                  </a:lnTo>
                  <a:lnTo>
                    <a:pt x="9022080" y="158496"/>
                  </a:lnTo>
                  <a:lnTo>
                    <a:pt x="0" y="158496"/>
                  </a:lnTo>
                  <a:lnTo>
                    <a:pt x="0" y="0"/>
                  </a:lnTo>
                  <a:close/>
                </a:path>
              </a:pathLst>
            </a:custGeom>
            <a:blipFill>
              <a:blip r:embed="rId4"/>
              <a:stretch>
                <a:fillRect/>
              </a:stretch>
            </a:blipFill>
          </p:spPr>
          <p:txBody>
            <a:bodyPr/>
            <a:lstStyle/>
            <a:p>
              <a:endParaRPr lang="en-SG"/>
            </a:p>
          </p:txBody>
        </p:sp>
      </p:grpSp>
      <p:grpSp>
        <p:nvGrpSpPr>
          <p:cNvPr id="63" name="Group 63"/>
          <p:cNvGrpSpPr/>
          <p:nvPr/>
        </p:nvGrpSpPr>
        <p:grpSpPr>
          <a:xfrm>
            <a:off x="2401824" y="5358384"/>
            <a:ext cx="6766560" cy="118872"/>
            <a:chOff x="0" y="0"/>
            <a:chExt cx="9022080" cy="158496"/>
          </a:xfrm>
        </p:grpSpPr>
        <p:sp>
          <p:nvSpPr>
            <p:cNvPr id="64" name="Freeform 64"/>
            <p:cNvSpPr/>
            <p:nvPr/>
          </p:nvSpPr>
          <p:spPr>
            <a:xfrm>
              <a:off x="0" y="0"/>
              <a:ext cx="9022080" cy="158496"/>
            </a:xfrm>
            <a:custGeom>
              <a:avLst/>
              <a:gdLst/>
              <a:ahLst/>
              <a:cxnLst/>
              <a:rect l="l" t="t" r="r" b="b"/>
              <a:pathLst>
                <a:path w="9022080" h="158496">
                  <a:moveTo>
                    <a:pt x="0" y="0"/>
                  </a:moveTo>
                  <a:lnTo>
                    <a:pt x="9022080" y="0"/>
                  </a:lnTo>
                  <a:lnTo>
                    <a:pt x="9022080" y="158496"/>
                  </a:lnTo>
                  <a:lnTo>
                    <a:pt x="0" y="158496"/>
                  </a:lnTo>
                  <a:lnTo>
                    <a:pt x="0" y="0"/>
                  </a:lnTo>
                  <a:close/>
                </a:path>
              </a:pathLst>
            </a:custGeom>
            <a:blipFill>
              <a:blip r:embed="rId28"/>
              <a:stretch>
                <a:fillRect/>
              </a:stretch>
            </a:blipFill>
          </p:spPr>
          <p:txBody>
            <a:bodyPr/>
            <a:lstStyle/>
            <a:p>
              <a:endParaRPr lang="en-SG"/>
            </a:p>
          </p:txBody>
        </p:sp>
      </p:grpSp>
      <p:grpSp>
        <p:nvGrpSpPr>
          <p:cNvPr id="65" name="Group 65"/>
          <p:cNvGrpSpPr/>
          <p:nvPr/>
        </p:nvGrpSpPr>
        <p:grpSpPr>
          <a:xfrm>
            <a:off x="2401824" y="5474208"/>
            <a:ext cx="6766560" cy="118872"/>
            <a:chOff x="0" y="0"/>
            <a:chExt cx="9022080" cy="158496"/>
          </a:xfrm>
        </p:grpSpPr>
        <p:sp>
          <p:nvSpPr>
            <p:cNvPr id="66" name="Freeform 66"/>
            <p:cNvSpPr/>
            <p:nvPr/>
          </p:nvSpPr>
          <p:spPr>
            <a:xfrm>
              <a:off x="0" y="0"/>
              <a:ext cx="9022080" cy="158496"/>
            </a:xfrm>
            <a:custGeom>
              <a:avLst/>
              <a:gdLst/>
              <a:ahLst/>
              <a:cxnLst/>
              <a:rect l="l" t="t" r="r" b="b"/>
              <a:pathLst>
                <a:path w="9022080" h="158496">
                  <a:moveTo>
                    <a:pt x="0" y="0"/>
                  </a:moveTo>
                  <a:lnTo>
                    <a:pt x="9022080" y="0"/>
                  </a:lnTo>
                  <a:lnTo>
                    <a:pt x="9022080" y="158496"/>
                  </a:lnTo>
                  <a:lnTo>
                    <a:pt x="0" y="158496"/>
                  </a:lnTo>
                  <a:lnTo>
                    <a:pt x="0" y="0"/>
                  </a:lnTo>
                  <a:close/>
                </a:path>
              </a:pathLst>
            </a:custGeom>
            <a:blipFill>
              <a:blip r:embed="rId29"/>
              <a:stretch>
                <a:fillRect/>
              </a:stretch>
            </a:blipFill>
          </p:spPr>
          <p:txBody>
            <a:bodyPr/>
            <a:lstStyle/>
            <a:p>
              <a:endParaRPr lang="en-SG"/>
            </a:p>
          </p:txBody>
        </p:sp>
      </p:grpSp>
      <p:grpSp>
        <p:nvGrpSpPr>
          <p:cNvPr id="67" name="Group 67"/>
          <p:cNvGrpSpPr/>
          <p:nvPr/>
        </p:nvGrpSpPr>
        <p:grpSpPr>
          <a:xfrm>
            <a:off x="2401824" y="5590032"/>
            <a:ext cx="6766560" cy="118872"/>
            <a:chOff x="0" y="0"/>
            <a:chExt cx="9022080" cy="158496"/>
          </a:xfrm>
        </p:grpSpPr>
        <p:sp>
          <p:nvSpPr>
            <p:cNvPr id="68" name="Freeform 68"/>
            <p:cNvSpPr/>
            <p:nvPr/>
          </p:nvSpPr>
          <p:spPr>
            <a:xfrm>
              <a:off x="0" y="0"/>
              <a:ext cx="9022080" cy="158496"/>
            </a:xfrm>
            <a:custGeom>
              <a:avLst/>
              <a:gdLst/>
              <a:ahLst/>
              <a:cxnLst/>
              <a:rect l="l" t="t" r="r" b="b"/>
              <a:pathLst>
                <a:path w="9022080" h="158496">
                  <a:moveTo>
                    <a:pt x="0" y="0"/>
                  </a:moveTo>
                  <a:lnTo>
                    <a:pt x="9022080" y="0"/>
                  </a:lnTo>
                  <a:lnTo>
                    <a:pt x="9022080" y="158496"/>
                  </a:lnTo>
                  <a:lnTo>
                    <a:pt x="0" y="158496"/>
                  </a:lnTo>
                  <a:lnTo>
                    <a:pt x="0" y="0"/>
                  </a:lnTo>
                  <a:close/>
                </a:path>
              </a:pathLst>
            </a:custGeom>
            <a:blipFill>
              <a:blip r:embed="rId30"/>
              <a:stretch>
                <a:fillRect/>
              </a:stretch>
            </a:blipFill>
          </p:spPr>
          <p:txBody>
            <a:bodyPr/>
            <a:lstStyle/>
            <a:p>
              <a:endParaRPr lang="en-SG"/>
            </a:p>
          </p:txBody>
        </p:sp>
      </p:grpSp>
      <p:grpSp>
        <p:nvGrpSpPr>
          <p:cNvPr id="69" name="Group 69"/>
          <p:cNvGrpSpPr/>
          <p:nvPr/>
        </p:nvGrpSpPr>
        <p:grpSpPr>
          <a:xfrm>
            <a:off x="2401824" y="5705856"/>
            <a:ext cx="6766560" cy="118872"/>
            <a:chOff x="0" y="0"/>
            <a:chExt cx="9022080" cy="158496"/>
          </a:xfrm>
        </p:grpSpPr>
        <p:sp>
          <p:nvSpPr>
            <p:cNvPr id="70" name="Freeform 70"/>
            <p:cNvSpPr/>
            <p:nvPr/>
          </p:nvSpPr>
          <p:spPr>
            <a:xfrm>
              <a:off x="0" y="0"/>
              <a:ext cx="9022080" cy="158496"/>
            </a:xfrm>
            <a:custGeom>
              <a:avLst/>
              <a:gdLst/>
              <a:ahLst/>
              <a:cxnLst/>
              <a:rect l="l" t="t" r="r" b="b"/>
              <a:pathLst>
                <a:path w="9022080" h="158496">
                  <a:moveTo>
                    <a:pt x="0" y="0"/>
                  </a:moveTo>
                  <a:lnTo>
                    <a:pt x="9022080" y="0"/>
                  </a:lnTo>
                  <a:lnTo>
                    <a:pt x="9022080" y="158496"/>
                  </a:lnTo>
                  <a:lnTo>
                    <a:pt x="0" y="158496"/>
                  </a:lnTo>
                  <a:lnTo>
                    <a:pt x="0" y="0"/>
                  </a:lnTo>
                  <a:close/>
                </a:path>
              </a:pathLst>
            </a:custGeom>
            <a:blipFill>
              <a:blip r:embed="rId4"/>
              <a:stretch>
                <a:fillRect/>
              </a:stretch>
            </a:blipFill>
          </p:spPr>
          <p:txBody>
            <a:bodyPr/>
            <a:lstStyle/>
            <a:p>
              <a:endParaRPr lang="en-SG"/>
            </a:p>
          </p:txBody>
        </p:sp>
      </p:grpSp>
      <p:grpSp>
        <p:nvGrpSpPr>
          <p:cNvPr id="71" name="Group 71"/>
          <p:cNvGrpSpPr/>
          <p:nvPr/>
        </p:nvGrpSpPr>
        <p:grpSpPr>
          <a:xfrm>
            <a:off x="2401824" y="5821680"/>
            <a:ext cx="6766560" cy="118872"/>
            <a:chOff x="0" y="0"/>
            <a:chExt cx="9022080" cy="158496"/>
          </a:xfrm>
        </p:grpSpPr>
        <p:sp>
          <p:nvSpPr>
            <p:cNvPr id="72" name="Freeform 72"/>
            <p:cNvSpPr/>
            <p:nvPr/>
          </p:nvSpPr>
          <p:spPr>
            <a:xfrm>
              <a:off x="0" y="0"/>
              <a:ext cx="9022080" cy="158496"/>
            </a:xfrm>
            <a:custGeom>
              <a:avLst/>
              <a:gdLst/>
              <a:ahLst/>
              <a:cxnLst/>
              <a:rect l="l" t="t" r="r" b="b"/>
              <a:pathLst>
                <a:path w="9022080" h="158496">
                  <a:moveTo>
                    <a:pt x="0" y="0"/>
                  </a:moveTo>
                  <a:lnTo>
                    <a:pt x="9022080" y="0"/>
                  </a:lnTo>
                  <a:lnTo>
                    <a:pt x="9022080" y="158496"/>
                  </a:lnTo>
                  <a:lnTo>
                    <a:pt x="0" y="158496"/>
                  </a:lnTo>
                  <a:lnTo>
                    <a:pt x="0" y="0"/>
                  </a:lnTo>
                  <a:close/>
                </a:path>
              </a:pathLst>
            </a:custGeom>
            <a:blipFill>
              <a:blip r:embed="rId4"/>
              <a:stretch>
                <a:fillRect/>
              </a:stretch>
            </a:blipFill>
          </p:spPr>
          <p:txBody>
            <a:bodyPr/>
            <a:lstStyle/>
            <a:p>
              <a:endParaRPr lang="en-SG"/>
            </a:p>
          </p:txBody>
        </p:sp>
      </p:grpSp>
      <p:grpSp>
        <p:nvGrpSpPr>
          <p:cNvPr id="73" name="Group 73"/>
          <p:cNvGrpSpPr/>
          <p:nvPr/>
        </p:nvGrpSpPr>
        <p:grpSpPr>
          <a:xfrm>
            <a:off x="2401824" y="5937504"/>
            <a:ext cx="6766560" cy="118872"/>
            <a:chOff x="0" y="0"/>
            <a:chExt cx="9022080" cy="158496"/>
          </a:xfrm>
        </p:grpSpPr>
        <p:sp>
          <p:nvSpPr>
            <p:cNvPr id="74" name="Freeform 74"/>
            <p:cNvSpPr/>
            <p:nvPr/>
          </p:nvSpPr>
          <p:spPr>
            <a:xfrm>
              <a:off x="0" y="0"/>
              <a:ext cx="9022080" cy="158496"/>
            </a:xfrm>
            <a:custGeom>
              <a:avLst/>
              <a:gdLst/>
              <a:ahLst/>
              <a:cxnLst/>
              <a:rect l="l" t="t" r="r" b="b"/>
              <a:pathLst>
                <a:path w="9022080" h="158496">
                  <a:moveTo>
                    <a:pt x="0" y="0"/>
                  </a:moveTo>
                  <a:lnTo>
                    <a:pt x="9022080" y="0"/>
                  </a:lnTo>
                  <a:lnTo>
                    <a:pt x="9022080" y="158496"/>
                  </a:lnTo>
                  <a:lnTo>
                    <a:pt x="0" y="158496"/>
                  </a:lnTo>
                  <a:lnTo>
                    <a:pt x="0" y="0"/>
                  </a:lnTo>
                  <a:close/>
                </a:path>
              </a:pathLst>
            </a:custGeom>
            <a:blipFill>
              <a:blip r:embed="rId4"/>
              <a:stretch>
                <a:fillRect/>
              </a:stretch>
            </a:blipFill>
          </p:spPr>
          <p:txBody>
            <a:bodyPr/>
            <a:lstStyle/>
            <a:p>
              <a:endParaRPr lang="en-SG"/>
            </a:p>
          </p:txBody>
        </p:sp>
      </p:grpSp>
      <p:grpSp>
        <p:nvGrpSpPr>
          <p:cNvPr id="75" name="Group 75"/>
          <p:cNvGrpSpPr/>
          <p:nvPr/>
        </p:nvGrpSpPr>
        <p:grpSpPr>
          <a:xfrm>
            <a:off x="2401824" y="6053328"/>
            <a:ext cx="6766560" cy="79248"/>
            <a:chOff x="0" y="0"/>
            <a:chExt cx="6766560" cy="79248"/>
          </a:xfrm>
        </p:grpSpPr>
        <p:sp>
          <p:nvSpPr>
            <p:cNvPr id="76" name="Freeform 76"/>
            <p:cNvSpPr/>
            <p:nvPr/>
          </p:nvSpPr>
          <p:spPr>
            <a:xfrm>
              <a:off x="0" y="0"/>
              <a:ext cx="6766559" cy="79248"/>
            </a:xfrm>
            <a:custGeom>
              <a:avLst/>
              <a:gdLst/>
              <a:ahLst/>
              <a:cxnLst/>
              <a:rect l="l" t="t" r="r" b="b"/>
              <a:pathLst>
                <a:path w="6766559" h="79248">
                  <a:moveTo>
                    <a:pt x="0" y="79248"/>
                  </a:moveTo>
                  <a:lnTo>
                    <a:pt x="6766559" y="79248"/>
                  </a:lnTo>
                  <a:lnTo>
                    <a:pt x="6766559" y="0"/>
                  </a:lnTo>
                  <a:lnTo>
                    <a:pt x="0" y="0"/>
                  </a:lnTo>
                  <a:lnTo>
                    <a:pt x="0" y="79248"/>
                  </a:lnTo>
                  <a:close/>
                </a:path>
              </a:pathLst>
            </a:custGeom>
            <a:solidFill>
              <a:srgbClr val="FFFFFF"/>
            </a:solidFill>
          </p:spPr>
          <p:txBody>
            <a:bodyPr/>
            <a:lstStyle/>
            <a:p>
              <a:endParaRPr lang="en-SG"/>
            </a:p>
          </p:txBody>
        </p:sp>
      </p:grpSp>
      <p:sp>
        <p:nvSpPr>
          <p:cNvPr id="77" name="TextBox 77"/>
          <p:cNvSpPr txBox="1"/>
          <p:nvPr/>
        </p:nvSpPr>
        <p:spPr>
          <a:xfrm>
            <a:off x="1632385" y="1334119"/>
            <a:ext cx="4499181" cy="523504"/>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Satellite Set-up -ADCS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5708904" y="1949196"/>
            <a:ext cx="4983480" cy="160020"/>
            <a:chOff x="0" y="0"/>
            <a:chExt cx="6644640" cy="213360"/>
          </a:xfrm>
        </p:grpSpPr>
        <p:sp>
          <p:nvSpPr>
            <p:cNvPr id="10" name="Freeform 10"/>
            <p:cNvSpPr/>
            <p:nvPr/>
          </p:nvSpPr>
          <p:spPr>
            <a:xfrm>
              <a:off x="0" y="0"/>
              <a:ext cx="6644640" cy="213360"/>
            </a:xfrm>
            <a:custGeom>
              <a:avLst/>
              <a:gdLst/>
              <a:ahLst/>
              <a:cxnLst/>
              <a:rect l="l" t="t" r="r" b="b"/>
              <a:pathLst>
                <a:path w="6644640" h="213360">
                  <a:moveTo>
                    <a:pt x="0" y="0"/>
                  </a:moveTo>
                  <a:lnTo>
                    <a:pt x="6644640" y="0"/>
                  </a:lnTo>
                  <a:lnTo>
                    <a:pt x="6644640" y="213360"/>
                  </a:lnTo>
                  <a:lnTo>
                    <a:pt x="0" y="213360"/>
                  </a:lnTo>
                  <a:lnTo>
                    <a:pt x="0" y="0"/>
                  </a:lnTo>
                  <a:close/>
                </a:path>
              </a:pathLst>
            </a:custGeom>
            <a:blipFill>
              <a:blip r:embed="rId4"/>
              <a:stretch>
                <a:fillRect t="-952"/>
              </a:stretch>
            </a:blipFill>
          </p:spPr>
          <p:txBody>
            <a:bodyPr/>
            <a:lstStyle/>
            <a:p>
              <a:endParaRPr lang="en-SG"/>
            </a:p>
          </p:txBody>
        </p:sp>
      </p:grpSp>
      <p:grpSp>
        <p:nvGrpSpPr>
          <p:cNvPr id="11" name="Group 11"/>
          <p:cNvGrpSpPr/>
          <p:nvPr/>
        </p:nvGrpSpPr>
        <p:grpSpPr>
          <a:xfrm>
            <a:off x="5708904" y="2106168"/>
            <a:ext cx="4983480" cy="4017264"/>
            <a:chOff x="0" y="0"/>
            <a:chExt cx="6644640" cy="5356352"/>
          </a:xfrm>
        </p:grpSpPr>
        <p:sp>
          <p:nvSpPr>
            <p:cNvPr id="12" name="Freeform 12"/>
            <p:cNvSpPr/>
            <p:nvPr/>
          </p:nvSpPr>
          <p:spPr>
            <a:xfrm>
              <a:off x="0" y="0"/>
              <a:ext cx="6644640" cy="5356352"/>
            </a:xfrm>
            <a:custGeom>
              <a:avLst/>
              <a:gdLst/>
              <a:ahLst/>
              <a:cxnLst/>
              <a:rect l="l" t="t" r="r" b="b"/>
              <a:pathLst>
                <a:path w="6644640" h="5356352">
                  <a:moveTo>
                    <a:pt x="0" y="0"/>
                  </a:moveTo>
                  <a:lnTo>
                    <a:pt x="6644640" y="0"/>
                  </a:lnTo>
                  <a:lnTo>
                    <a:pt x="6644640" y="5356352"/>
                  </a:lnTo>
                  <a:lnTo>
                    <a:pt x="0" y="5356352"/>
                  </a:lnTo>
                  <a:lnTo>
                    <a:pt x="0" y="0"/>
                  </a:lnTo>
                  <a:close/>
                </a:path>
              </a:pathLst>
            </a:custGeom>
            <a:blipFill>
              <a:blip r:embed="rId5"/>
              <a:stretch>
                <a:fillRect/>
              </a:stretch>
            </a:blipFill>
          </p:spPr>
          <p:txBody>
            <a:bodyPr/>
            <a:lstStyle/>
            <a:p>
              <a:endParaRPr lang="en-SG"/>
            </a:p>
          </p:txBody>
        </p:sp>
      </p:grpSp>
      <p:sp>
        <p:nvSpPr>
          <p:cNvPr id="13" name="TextBox 13"/>
          <p:cNvSpPr txBox="1"/>
          <p:nvPr/>
        </p:nvSpPr>
        <p:spPr>
          <a:xfrm>
            <a:off x="1632109" y="1286494"/>
            <a:ext cx="3876827" cy="2425017"/>
          </a:xfrm>
          <a:prstGeom prst="rect">
            <a:avLst/>
          </a:prstGeom>
        </p:spPr>
        <p:txBody>
          <a:bodyPr lIns="0" tIns="0" rIns="0" bIns="0" rtlCol="0" anchor="t">
            <a:spAutoFit/>
          </a:bodyPr>
          <a:lstStyle/>
          <a:p>
            <a:pPr algn="l">
              <a:lnSpc>
                <a:spcPts val="4715"/>
              </a:lnSpc>
            </a:pPr>
            <a:r>
              <a:rPr lang="en-US" sz="3048">
                <a:solidFill>
                  <a:srgbClr val="2C2C2C"/>
                </a:solidFill>
                <a:latin typeface="Montserrat"/>
                <a:ea typeface="Montserrat"/>
                <a:cs typeface="Montserrat"/>
                <a:sym typeface="Montserrat"/>
              </a:rPr>
              <a:t>Satellite Set-up</a:t>
            </a:r>
          </a:p>
          <a:p>
            <a:pPr algn="l">
              <a:lnSpc>
                <a:spcPts val="2895"/>
              </a:lnSpc>
            </a:pPr>
            <a:r>
              <a:rPr lang="en-US" sz="1872" spc="-14">
                <a:solidFill>
                  <a:srgbClr val="000000"/>
                </a:solidFill>
                <a:latin typeface="Montserrat"/>
                <a:ea typeface="Montserrat"/>
                <a:cs typeface="Montserrat"/>
                <a:sym typeface="Montserrat"/>
              </a:rPr>
              <a:t>Be careful with the motor wires, unroll them from the motor case and plug them into the connector.</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sp>
        <p:nvSpPr>
          <p:cNvPr id="9" name="Freeform 9"/>
          <p:cNvSpPr/>
          <p:nvPr/>
        </p:nvSpPr>
        <p:spPr>
          <a:xfrm>
            <a:off x="1597657" y="2310889"/>
            <a:ext cx="2470909" cy="305305"/>
          </a:xfrm>
          <a:custGeom>
            <a:avLst/>
            <a:gdLst/>
            <a:ahLst/>
            <a:cxnLst/>
            <a:rect l="l" t="t" r="r" b="b"/>
            <a:pathLst>
              <a:path w="2470909" h="305305">
                <a:moveTo>
                  <a:pt x="0" y="0"/>
                </a:moveTo>
                <a:lnTo>
                  <a:pt x="2470909" y="0"/>
                </a:lnTo>
                <a:lnTo>
                  <a:pt x="2470909" y="305305"/>
                </a:lnTo>
                <a:lnTo>
                  <a:pt x="0" y="30530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SG"/>
          </a:p>
        </p:txBody>
      </p:sp>
      <p:sp>
        <p:nvSpPr>
          <p:cNvPr id="10" name="Freeform 10"/>
          <p:cNvSpPr/>
          <p:nvPr/>
        </p:nvSpPr>
        <p:spPr>
          <a:xfrm>
            <a:off x="1573273" y="3783073"/>
            <a:ext cx="3440173" cy="351025"/>
          </a:xfrm>
          <a:custGeom>
            <a:avLst/>
            <a:gdLst/>
            <a:ahLst/>
            <a:cxnLst/>
            <a:rect l="l" t="t" r="r" b="b"/>
            <a:pathLst>
              <a:path w="3440173" h="351025">
                <a:moveTo>
                  <a:pt x="0" y="0"/>
                </a:moveTo>
                <a:lnTo>
                  <a:pt x="3440173" y="0"/>
                </a:lnTo>
                <a:lnTo>
                  <a:pt x="3440173" y="351025"/>
                </a:lnTo>
                <a:lnTo>
                  <a:pt x="0" y="35102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SG"/>
          </a:p>
        </p:txBody>
      </p:sp>
      <p:grpSp>
        <p:nvGrpSpPr>
          <p:cNvPr id="11" name="Group 11"/>
          <p:cNvGrpSpPr/>
          <p:nvPr/>
        </p:nvGrpSpPr>
        <p:grpSpPr>
          <a:xfrm>
            <a:off x="5532120" y="2761488"/>
            <a:ext cx="5160264" cy="627888"/>
            <a:chOff x="0" y="0"/>
            <a:chExt cx="6880352" cy="837184"/>
          </a:xfrm>
        </p:grpSpPr>
        <p:sp>
          <p:nvSpPr>
            <p:cNvPr id="12" name="Freeform 12"/>
            <p:cNvSpPr/>
            <p:nvPr/>
          </p:nvSpPr>
          <p:spPr>
            <a:xfrm>
              <a:off x="0" y="0"/>
              <a:ext cx="6880352" cy="837184"/>
            </a:xfrm>
            <a:custGeom>
              <a:avLst/>
              <a:gdLst/>
              <a:ahLst/>
              <a:cxnLst/>
              <a:rect l="l" t="t" r="r" b="b"/>
              <a:pathLst>
                <a:path w="6880352" h="837184">
                  <a:moveTo>
                    <a:pt x="0" y="0"/>
                  </a:moveTo>
                  <a:lnTo>
                    <a:pt x="6880352" y="0"/>
                  </a:lnTo>
                  <a:lnTo>
                    <a:pt x="6880352" y="837184"/>
                  </a:lnTo>
                  <a:lnTo>
                    <a:pt x="0" y="837184"/>
                  </a:lnTo>
                  <a:lnTo>
                    <a:pt x="0" y="0"/>
                  </a:lnTo>
                  <a:close/>
                </a:path>
              </a:pathLst>
            </a:custGeom>
            <a:blipFill>
              <a:blip r:embed="rId6"/>
              <a:stretch>
                <a:fillRect/>
              </a:stretch>
            </a:blipFill>
          </p:spPr>
          <p:txBody>
            <a:bodyPr/>
            <a:lstStyle/>
            <a:p>
              <a:endParaRPr lang="en-SG"/>
            </a:p>
          </p:txBody>
        </p:sp>
      </p:grpSp>
      <p:grpSp>
        <p:nvGrpSpPr>
          <p:cNvPr id="13" name="Group 13"/>
          <p:cNvGrpSpPr/>
          <p:nvPr/>
        </p:nvGrpSpPr>
        <p:grpSpPr>
          <a:xfrm>
            <a:off x="5532120" y="3386328"/>
            <a:ext cx="5160264" cy="2767584"/>
            <a:chOff x="0" y="0"/>
            <a:chExt cx="6880352" cy="3690112"/>
          </a:xfrm>
        </p:grpSpPr>
        <p:sp>
          <p:nvSpPr>
            <p:cNvPr id="14" name="Freeform 14"/>
            <p:cNvSpPr/>
            <p:nvPr/>
          </p:nvSpPr>
          <p:spPr>
            <a:xfrm>
              <a:off x="0" y="0"/>
              <a:ext cx="6880352" cy="3690112"/>
            </a:xfrm>
            <a:custGeom>
              <a:avLst/>
              <a:gdLst/>
              <a:ahLst/>
              <a:cxnLst/>
              <a:rect l="l" t="t" r="r" b="b"/>
              <a:pathLst>
                <a:path w="6880352" h="3690112">
                  <a:moveTo>
                    <a:pt x="0" y="0"/>
                  </a:moveTo>
                  <a:lnTo>
                    <a:pt x="6880352" y="0"/>
                  </a:lnTo>
                  <a:lnTo>
                    <a:pt x="6880352" y="3690112"/>
                  </a:lnTo>
                  <a:lnTo>
                    <a:pt x="0" y="3690112"/>
                  </a:lnTo>
                  <a:lnTo>
                    <a:pt x="0" y="0"/>
                  </a:lnTo>
                  <a:close/>
                </a:path>
              </a:pathLst>
            </a:custGeom>
            <a:blipFill>
              <a:blip r:embed="rId7"/>
              <a:stretch>
                <a:fillRect/>
              </a:stretch>
            </a:blipFill>
          </p:spPr>
          <p:txBody>
            <a:bodyPr/>
            <a:lstStyle/>
            <a:p>
              <a:endParaRPr lang="en-SG"/>
            </a:p>
          </p:txBody>
        </p:sp>
      </p:grpSp>
      <p:grpSp>
        <p:nvGrpSpPr>
          <p:cNvPr id="15" name="Group 15"/>
          <p:cNvGrpSpPr/>
          <p:nvPr/>
        </p:nvGrpSpPr>
        <p:grpSpPr>
          <a:xfrm>
            <a:off x="8458200" y="1944624"/>
            <a:ext cx="1018032" cy="1018032"/>
            <a:chOff x="0" y="0"/>
            <a:chExt cx="1357376" cy="1357376"/>
          </a:xfrm>
        </p:grpSpPr>
        <p:sp>
          <p:nvSpPr>
            <p:cNvPr id="16" name="Freeform 16"/>
            <p:cNvSpPr/>
            <p:nvPr/>
          </p:nvSpPr>
          <p:spPr>
            <a:xfrm>
              <a:off x="0" y="0"/>
              <a:ext cx="1357376" cy="1357376"/>
            </a:xfrm>
            <a:custGeom>
              <a:avLst/>
              <a:gdLst/>
              <a:ahLst/>
              <a:cxnLst/>
              <a:rect l="l" t="t" r="r" b="b"/>
              <a:pathLst>
                <a:path w="1357376" h="1357376">
                  <a:moveTo>
                    <a:pt x="0" y="0"/>
                  </a:moveTo>
                  <a:lnTo>
                    <a:pt x="1357376" y="0"/>
                  </a:lnTo>
                  <a:lnTo>
                    <a:pt x="1357376" y="1357376"/>
                  </a:lnTo>
                  <a:lnTo>
                    <a:pt x="0" y="1357376"/>
                  </a:lnTo>
                  <a:lnTo>
                    <a:pt x="0" y="0"/>
                  </a:lnTo>
                  <a:close/>
                </a:path>
              </a:pathLst>
            </a:custGeom>
            <a:blipFill>
              <a:blip r:embed="rId8"/>
              <a:stretch>
                <a:fillRect/>
              </a:stretch>
            </a:blipFill>
          </p:spPr>
          <p:txBody>
            <a:bodyPr/>
            <a:lstStyle/>
            <a:p>
              <a:endParaRPr lang="en-SG"/>
            </a:p>
          </p:txBody>
        </p:sp>
      </p:grpSp>
      <p:sp>
        <p:nvSpPr>
          <p:cNvPr id="17" name="Freeform 17"/>
          <p:cNvSpPr/>
          <p:nvPr/>
        </p:nvSpPr>
        <p:spPr>
          <a:xfrm>
            <a:off x="5531101" y="2608069"/>
            <a:ext cx="1038349" cy="1695193"/>
          </a:xfrm>
          <a:custGeom>
            <a:avLst/>
            <a:gdLst/>
            <a:ahLst/>
            <a:cxnLst/>
            <a:rect l="l" t="t" r="r" b="b"/>
            <a:pathLst>
              <a:path w="1038349" h="1695193">
                <a:moveTo>
                  <a:pt x="0" y="0"/>
                </a:moveTo>
                <a:lnTo>
                  <a:pt x="1038349" y="0"/>
                </a:lnTo>
                <a:lnTo>
                  <a:pt x="1038349" y="1695193"/>
                </a:lnTo>
                <a:lnTo>
                  <a:pt x="0" y="1695193"/>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SG"/>
          </a:p>
        </p:txBody>
      </p:sp>
      <p:sp>
        <p:nvSpPr>
          <p:cNvPr id="18" name="TextBox 18"/>
          <p:cNvSpPr txBox="1"/>
          <p:nvPr/>
        </p:nvSpPr>
        <p:spPr>
          <a:xfrm>
            <a:off x="1632385" y="1334119"/>
            <a:ext cx="4499181" cy="523504"/>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Satellite Set-up -ADCS</a:t>
            </a:r>
          </a:p>
        </p:txBody>
      </p:sp>
      <p:sp>
        <p:nvSpPr>
          <p:cNvPr id="19" name="TextBox 19"/>
          <p:cNvSpPr txBox="1"/>
          <p:nvPr/>
        </p:nvSpPr>
        <p:spPr>
          <a:xfrm>
            <a:off x="1632109" y="4124115"/>
            <a:ext cx="3373155" cy="324526"/>
          </a:xfrm>
          <a:prstGeom prst="rect">
            <a:avLst/>
          </a:prstGeom>
        </p:spPr>
        <p:txBody>
          <a:bodyPr lIns="0" tIns="0" rIns="0" bIns="0" rtlCol="0" anchor="t">
            <a:spAutoFit/>
          </a:bodyPr>
          <a:lstStyle/>
          <a:p>
            <a:pPr algn="l">
              <a:lnSpc>
                <a:spcPts val="2620"/>
              </a:lnSpc>
            </a:pPr>
            <a:r>
              <a:rPr lang="en-US" sz="1872" spc="-14">
                <a:solidFill>
                  <a:srgbClr val="000000"/>
                </a:solidFill>
                <a:latin typeface="Montserrat"/>
                <a:ea typeface="Montserrat"/>
                <a:cs typeface="Montserrat"/>
                <a:sym typeface="Montserrat"/>
              </a:rPr>
              <a:t>or get close to exposed pins.</a:t>
            </a:r>
          </a:p>
        </p:txBody>
      </p:sp>
      <p:sp>
        <p:nvSpPr>
          <p:cNvPr id="20" name="TextBox 20"/>
          <p:cNvSpPr txBox="1"/>
          <p:nvPr/>
        </p:nvSpPr>
        <p:spPr>
          <a:xfrm>
            <a:off x="1632109" y="3001689"/>
            <a:ext cx="3471853" cy="710889"/>
          </a:xfrm>
          <a:prstGeom prst="rect">
            <a:avLst/>
          </a:prstGeom>
        </p:spPr>
        <p:txBody>
          <a:bodyPr lIns="0" tIns="0" rIns="0" bIns="0" rtlCol="0" anchor="t">
            <a:spAutoFit/>
          </a:bodyPr>
          <a:lstStyle/>
          <a:p>
            <a:pPr algn="l">
              <a:lnSpc>
                <a:spcPts val="2892"/>
              </a:lnSpc>
            </a:pPr>
            <a:r>
              <a:rPr lang="en-US" sz="1872" spc="-14">
                <a:solidFill>
                  <a:srgbClr val="000000"/>
                </a:solidFill>
                <a:latin typeface="Montserrat"/>
                <a:ea typeface="Montserrat"/>
                <a:cs typeface="Montserrat"/>
                <a:sym typeface="Montserrat"/>
              </a:rPr>
              <a:t>Use the same tape to secure motor wires to the board so</a:t>
            </a:r>
          </a:p>
        </p:txBody>
      </p:sp>
      <p:sp>
        <p:nvSpPr>
          <p:cNvPr id="21" name="TextBox 21"/>
          <p:cNvSpPr txBox="1"/>
          <p:nvPr/>
        </p:nvSpPr>
        <p:spPr>
          <a:xfrm>
            <a:off x="4017159" y="2284686"/>
            <a:ext cx="4473378" cy="324526"/>
          </a:xfrm>
          <a:prstGeom prst="rect">
            <a:avLst/>
          </a:prstGeom>
        </p:spPr>
        <p:txBody>
          <a:bodyPr lIns="0" tIns="0" rIns="0" bIns="0" rtlCol="0" anchor="t">
            <a:spAutoFit/>
          </a:bodyPr>
          <a:lstStyle/>
          <a:p>
            <a:pPr algn="l">
              <a:lnSpc>
                <a:spcPts val="2620"/>
              </a:lnSpc>
            </a:pPr>
            <a:r>
              <a:rPr lang="en-US" sz="1872" spc="-14">
                <a:solidFill>
                  <a:srgbClr val="000000"/>
                </a:solidFill>
                <a:latin typeface="Montserrat"/>
                <a:ea typeface="Montserrat"/>
                <a:cs typeface="Montserrat"/>
                <a:sym typeface="Montserrat"/>
              </a:rPr>
              <a:t>-104 connector pins with kapton tape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2115312" y="2167128"/>
            <a:ext cx="7109460" cy="454152"/>
            <a:chOff x="0" y="0"/>
            <a:chExt cx="9479280" cy="605536"/>
          </a:xfrm>
        </p:grpSpPr>
        <p:sp>
          <p:nvSpPr>
            <p:cNvPr id="10" name="Freeform 10"/>
            <p:cNvSpPr/>
            <p:nvPr/>
          </p:nvSpPr>
          <p:spPr>
            <a:xfrm>
              <a:off x="0" y="0"/>
              <a:ext cx="9479280" cy="605536"/>
            </a:xfrm>
            <a:custGeom>
              <a:avLst/>
              <a:gdLst/>
              <a:ahLst/>
              <a:cxnLst/>
              <a:rect l="l" t="t" r="r" b="b"/>
              <a:pathLst>
                <a:path w="9479280" h="605536">
                  <a:moveTo>
                    <a:pt x="0" y="0"/>
                  </a:moveTo>
                  <a:lnTo>
                    <a:pt x="9479280" y="0"/>
                  </a:lnTo>
                  <a:lnTo>
                    <a:pt x="9479280" y="605536"/>
                  </a:lnTo>
                  <a:lnTo>
                    <a:pt x="0" y="605536"/>
                  </a:lnTo>
                  <a:lnTo>
                    <a:pt x="0" y="0"/>
                  </a:lnTo>
                  <a:close/>
                </a:path>
              </a:pathLst>
            </a:custGeom>
            <a:blipFill>
              <a:blip r:embed="rId4"/>
              <a:stretch>
                <a:fillRect r="-21"/>
              </a:stretch>
            </a:blipFill>
          </p:spPr>
          <p:txBody>
            <a:bodyPr/>
            <a:lstStyle/>
            <a:p>
              <a:endParaRPr lang="en-SG"/>
            </a:p>
          </p:txBody>
        </p:sp>
      </p:grpSp>
      <p:grpSp>
        <p:nvGrpSpPr>
          <p:cNvPr id="11" name="Group 11"/>
          <p:cNvGrpSpPr/>
          <p:nvPr/>
        </p:nvGrpSpPr>
        <p:grpSpPr>
          <a:xfrm>
            <a:off x="2115312" y="2618232"/>
            <a:ext cx="7109460" cy="3843528"/>
            <a:chOff x="0" y="0"/>
            <a:chExt cx="9479280" cy="5124704"/>
          </a:xfrm>
        </p:grpSpPr>
        <p:sp>
          <p:nvSpPr>
            <p:cNvPr id="12" name="Freeform 12"/>
            <p:cNvSpPr/>
            <p:nvPr/>
          </p:nvSpPr>
          <p:spPr>
            <a:xfrm>
              <a:off x="0" y="0"/>
              <a:ext cx="9479280" cy="5124704"/>
            </a:xfrm>
            <a:custGeom>
              <a:avLst/>
              <a:gdLst/>
              <a:ahLst/>
              <a:cxnLst/>
              <a:rect l="l" t="t" r="r" b="b"/>
              <a:pathLst>
                <a:path w="9479280" h="5124704">
                  <a:moveTo>
                    <a:pt x="0" y="0"/>
                  </a:moveTo>
                  <a:lnTo>
                    <a:pt x="9479280" y="0"/>
                  </a:lnTo>
                  <a:lnTo>
                    <a:pt x="9479280" y="5124704"/>
                  </a:lnTo>
                  <a:lnTo>
                    <a:pt x="0" y="5124704"/>
                  </a:lnTo>
                  <a:lnTo>
                    <a:pt x="0" y="0"/>
                  </a:lnTo>
                  <a:close/>
                </a:path>
              </a:pathLst>
            </a:custGeom>
            <a:blipFill>
              <a:blip r:embed="rId5"/>
              <a:stretch>
                <a:fillRect/>
              </a:stretch>
            </a:blipFill>
          </p:spPr>
          <p:txBody>
            <a:bodyPr/>
            <a:lstStyle/>
            <a:p>
              <a:endParaRPr lang="en-SG"/>
            </a:p>
          </p:txBody>
        </p:sp>
      </p:grpSp>
      <p:sp>
        <p:nvSpPr>
          <p:cNvPr id="13" name="TextBox 13"/>
          <p:cNvSpPr txBox="1"/>
          <p:nvPr/>
        </p:nvSpPr>
        <p:spPr>
          <a:xfrm>
            <a:off x="1632385" y="1334119"/>
            <a:ext cx="5801754" cy="523504"/>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Satellite Set-up -Bottom side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6074664" y="2232660"/>
            <a:ext cx="4349496" cy="184404"/>
            <a:chOff x="0" y="0"/>
            <a:chExt cx="5799328" cy="245872"/>
          </a:xfrm>
        </p:grpSpPr>
        <p:sp>
          <p:nvSpPr>
            <p:cNvPr id="10" name="Freeform 10"/>
            <p:cNvSpPr/>
            <p:nvPr/>
          </p:nvSpPr>
          <p:spPr>
            <a:xfrm>
              <a:off x="0" y="0"/>
              <a:ext cx="5799328" cy="245872"/>
            </a:xfrm>
            <a:custGeom>
              <a:avLst/>
              <a:gdLst/>
              <a:ahLst/>
              <a:cxnLst/>
              <a:rect l="l" t="t" r="r" b="b"/>
              <a:pathLst>
                <a:path w="5799328" h="245872">
                  <a:moveTo>
                    <a:pt x="0" y="0"/>
                  </a:moveTo>
                  <a:lnTo>
                    <a:pt x="5799328" y="0"/>
                  </a:lnTo>
                  <a:lnTo>
                    <a:pt x="5799328" y="245872"/>
                  </a:lnTo>
                  <a:lnTo>
                    <a:pt x="0" y="245872"/>
                  </a:lnTo>
                  <a:lnTo>
                    <a:pt x="0" y="0"/>
                  </a:lnTo>
                  <a:close/>
                </a:path>
              </a:pathLst>
            </a:custGeom>
            <a:blipFill>
              <a:blip r:embed="rId4"/>
              <a:stretch>
                <a:fillRect t="-826"/>
              </a:stretch>
            </a:blipFill>
          </p:spPr>
          <p:txBody>
            <a:bodyPr/>
            <a:lstStyle/>
            <a:p>
              <a:endParaRPr lang="en-SG"/>
            </a:p>
          </p:txBody>
        </p:sp>
      </p:grpSp>
      <p:grpSp>
        <p:nvGrpSpPr>
          <p:cNvPr id="11" name="Group 11"/>
          <p:cNvGrpSpPr/>
          <p:nvPr/>
        </p:nvGrpSpPr>
        <p:grpSpPr>
          <a:xfrm>
            <a:off x="6074664" y="2414016"/>
            <a:ext cx="4349496" cy="185928"/>
            <a:chOff x="0" y="0"/>
            <a:chExt cx="5799328" cy="247904"/>
          </a:xfrm>
        </p:grpSpPr>
        <p:sp>
          <p:nvSpPr>
            <p:cNvPr id="12" name="Freeform 12"/>
            <p:cNvSpPr/>
            <p:nvPr/>
          </p:nvSpPr>
          <p:spPr>
            <a:xfrm>
              <a:off x="0" y="0"/>
              <a:ext cx="5799328" cy="247904"/>
            </a:xfrm>
            <a:custGeom>
              <a:avLst/>
              <a:gdLst/>
              <a:ahLst/>
              <a:cxnLst/>
              <a:rect l="l" t="t" r="r" b="b"/>
              <a:pathLst>
                <a:path w="5799328" h="247904">
                  <a:moveTo>
                    <a:pt x="0" y="0"/>
                  </a:moveTo>
                  <a:lnTo>
                    <a:pt x="5799328" y="0"/>
                  </a:lnTo>
                  <a:lnTo>
                    <a:pt x="5799328" y="247904"/>
                  </a:lnTo>
                  <a:lnTo>
                    <a:pt x="0" y="247904"/>
                  </a:lnTo>
                  <a:lnTo>
                    <a:pt x="0" y="0"/>
                  </a:lnTo>
                  <a:close/>
                </a:path>
              </a:pathLst>
            </a:custGeom>
            <a:blipFill>
              <a:blip r:embed="rId5"/>
              <a:stretch>
                <a:fillRect/>
              </a:stretch>
            </a:blipFill>
          </p:spPr>
          <p:txBody>
            <a:bodyPr/>
            <a:lstStyle/>
            <a:p>
              <a:endParaRPr lang="en-SG"/>
            </a:p>
          </p:txBody>
        </p:sp>
      </p:grpSp>
      <p:grpSp>
        <p:nvGrpSpPr>
          <p:cNvPr id="13" name="Group 13"/>
          <p:cNvGrpSpPr/>
          <p:nvPr/>
        </p:nvGrpSpPr>
        <p:grpSpPr>
          <a:xfrm>
            <a:off x="6074664" y="2596896"/>
            <a:ext cx="4349496" cy="185928"/>
            <a:chOff x="0" y="0"/>
            <a:chExt cx="5799328" cy="247904"/>
          </a:xfrm>
        </p:grpSpPr>
        <p:sp>
          <p:nvSpPr>
            <p:cNvPr id="14" name="Freeform 14"/>
            <p:cNvSpPr/>
            <p:nvPr/>
          </p:nvSpPr>
          <p:spPr>
            <a:xfrm>
              <a:off x="0" y="0"/>
              <a:ext cx="5799328" cy="247904"/>
            </a:xfrm>
            <a:custGeom>
              <a:avLst/>
              <a:gdLst/>
              <a:ahLst/>
              <a:cxnLst/>
              <a:rect l="l" t="t" r="r" b="b"/>
              <a:pathLst>
                <a:path w="5799328" h="247904">
                  <a:moveTo>
                    <a:pt x="0" y="0"/>
                  </a:moveTo>
                  <a:lnTo>
                    <a:pt x="5799328" y="0"/>
                  </a:lnTo>
                  <a:lnTo>
                    <a:pt x="5799328" y="247904"/>
                  </a:lnTo>
                  <a:lnTo>
                    <a:pt x="0" y="247904"/>
                  </a:lnTo>
                  <a:lnTo>
                    <a:pt x="0" y="0"/>
                  </a:lnTo>
                  <a:close/>
                </a:path>
              </a:pathLst>
            </a:custGeom>
            <a:blipFill>
              <a:blip r:embed="rId6"/>
              <a:stretch>
                <a:fillRect/>
              </a:stretch>
            </a:blipFill>
          </p:spPr>
          <p:txBody>
            <a:bodyPr/>
            <a:lstStyle/>
            <a:p>
              <a:endParaRPr lang="en-SG"/>
            </a:p>
          </p:txBody>
        </p:sp>
      </p:grpSp>
      <p:grpSp>
        <p:nvGrpSpPr>
          <p:cNvPr id="15" name="Group 15"/>
          <p:cNvGrpSpPr/>
          <p:nvPr/>
        </p:nvGrpSpPr>
        <p:grpSpPr>
          <a:xfrm>
            <a:off x="6074664" y="2779776"/>
            <a:ext cx="4349496" cy="185928"/>
            <a:chOff x="0" y="0"/>
            <a:chExt cx="5799328" cy="247904"/>
          </a:xfrm>
        </p:grpSpPr>
        <p:sp>
          <p:nvSpPr>
            <p:cNvPr id="16" name="Freeform 16"/>
            <p:cNvSpPr/>
            <p:nvPr/>
          </p:nvSpPr>
          <p:spPr>
            <a:xfrm>
              <a:off x="0" y="0"/>
              <a:ext cx="5799328" cy="247904"/>
            </a:xfrm>
            <a:custGeom>
              <a:avLst/>
              <a:gdLst/>
              <a:ahLst/>
              <a:cxnLst/>
              <a:rect l="l" t="t" r="r" b="b"/>
              <a:pathLst>
                <a:path w="5799328" h="247904">
                  <a:moveTo>
                    <a:pt x="0" y="0"/>
                  </a:moveTo>
                  <a:lnTo>
                    <a:pt x="5799328" y="0"/>
                  </a:lnTo>
                  <a:lnTo>
                    <a:pt x="5799328" y="247904"/>
                  </a:lnTo>
                  <a:lnTo>
                    <a:pt x="0" y="247904"/>
                  </a:lnTo>
                  <a:lnTo>
                    <a:pt x="0" y="0"/>
                  </a:lnTo>
                  <a:close/>
                </a:path>
              </a:pathLst>
            </a:custGeom>
            <a:blipFill>
              <a:blip r:embed="rId7"/>
              <a:stretch>
                <a:fillRect/>
              </a:stretch>
            </a:blipFill>
          </p:spPr>
          <p:txBody>
            <a:bodyPr/>
            <a:lstStyle/>
            <a:p>
              <a:endParaRPr lang="en-SG"/>
            </a:p>
          </p:txBody>
        </p:sp>
      </p:grpSp>
      <p:grpSp>
        <p:nvGrpSpPr>
          <p:cNvPr id="17" name="Group 17"/>
          <p:cNvGrpSpPr/>
          <p:nvPr/>
        </p:nvGrpSpPr>
        <p:grpSpPr>
          <a:xfrm>
            <a:off x="6074664" y="2962656"/>
            <a:ext cx="4349496" cy="185928"/>
            <a:chOff x="0" y="0"/>
            <a:chExt cx="5799328" cy="247904"/>
          </a:xfrm>
        </p:grpSpPr>
        <p:sp>
          <p:nvSpPr>
            <p:cNvPr id="18" name="Freeform 18"/>
            <p:cNvSpPr/>
            <p:nvPr/>
          </p:nvSpPr>
          <p:spPr>
            <a:xfrm>
              <a:off x="0" y="0"/>
              <a:ext cx="5799328" cy="247904"/>
            </a:xfrm>
            <a:custGeom>
              <a:avLst/>
              <a:gdLst/>
              <a:ahLst/>
              <a:cxnLst/>
              <a:rect l="l" t="t" r="r" b="b"/>
              <a:pathLst>
                <a:path w="5799328" h="247904">
                  <a:moveTo>
                    <a:pt x="0" y="0"/>
                  </a:moveTo>
                  <a:lnTo>
                    <a:pt x="5799328" y="0"/>
                  </a:lnTo>
                  <a:lnTo>
                    <a:pt x="5799328" y="247904"/>
                  </a:lnTo>
                  <a:lnTo>
                    <a:pt x="0" y="247904"/>
                  </a:lnTo>
                  <a:lnTo>
                    <a:pt x="0" y="0"/>
                  </a:lnTo>
                  <a:close/>
                </a:path>
              </a:pathLst>
            </a:custGeom>
            <a:blipFill>
              <a:blip r:embed="rId8"/>
              <a:stretch>
                <a:fillRect/>
              </a:stretch>
            </a:blipFill>
          </p:spPr>
          <p:txBody>
            <a:bodyPr/>
            <a:lstStyle/>
            <a:p>
              <a:endParaRPr lang="en-SG"/>
            </a:p>
          </p:txBody>
        </p:sp>
      </p:grpSp>
      <p:grpSp>
        <p:nvGrpSpPr>
          <p:cNvPr id="19" name="Group 19"/>
          <p:cNvGrpSpPr/>
          <p:nvPr/>
        </p:nvGrpSpPr>
        <p:grpSpPr>
          <a:xfrm>
            <a:off x="6074664" y="3145536"/>
            <a:ext cx="4349496" cy="185928"/>
            <a:chOff x="0" y="0"/>
            <a:chExt cx="5799328" cy="247904"/>
          </a:xfrm>
        </p:grpSpPr>
        <p:sp>
          <p:nvSpPr>
            <p:cNvPr id="20" name="Freeform 20"/>
            <p:cNvSpPr/>
            <p:nvPr/>
          </p:nvSpPr>
          <p:spPr>
            <a:xfrm>
              <a:off x="0" y="0"/>
              <a:ext cx="5799328" cy="247904"/>
            </a:xfrm>
            <a:custGeom>
              <a:avLst/>
              <a:gdLst/>
              <a:ahLst/>
              <a:cxnLst/>
              <a:rect l="l" t="t" r="r" b="b"/>
              <a:pathLst>
                <a:path w="5799328" h="247904">
                  <a:moveTo>
                    <a:pt x="0" y="0"/>
                  </a:moveTo>
                  <a:lnTo>
                    <a:pt x="5799328" y="0"/>
                  </a:lnTo>
                  <a:lnTo>
                    <a:pt x="5799328" y="247904"/>
                  </a:lnTo>
                  <a:lnTo>
                    <a:pt x="0" y="247904"/>
                  </a:lnTo>
                  <a:lnTo>
                    <a:pt x="0" y="0"/>
                  </a:lnTo>
                  <a:close/>
                </a:path>
              </a:pathLst>
            </a:custGeom>
            <a:blipFill>
              <a:blip r:embed="rId9"/>
              <a:stretch>
                <a:fillRect/>
              </a:stretch>
            </a:blipFill>
          </p:spPr>
          <p:txBody>
            <a:bodyPr/>
            <a:lstStyle/>
            <a:p>
              <a:endParaRPr lang="en-SG"/>
            </a:p>
          </p:txBody>
        </p:sp>
      </p:grpSp>
      <p:grpSp>
        <p:nvGrpSpPr>
          <p:cNvPr id="21" name="Group 21"/>
          <p:cNvGrpSpPr/>
          <p:nvPr/>
        </p:nvGrpSpPr>
        <p:grpSpPr>
          <a:xfrm>
            <a:off x="6074664" y="3328416"/>
            <a:ext cx="4349496" cy="185928"/>
            <a:chOff x="0" y="0"/>
            <a:chExt cx="5799328" cy="247904"/>
          </a:xfrm>
        </p:grpSpPr>
        <p:sp>
          <p:nvSpPr>
            <p:cNvPr id="22" name="Freeform 22"/>
            <p:cNvSpPr/>
            <p:nvPr/>
          </p:nvSpPr>
          <p:spPr>
            <a:xfrm>
              <a:off x="0" y="0"/>
              <a:ext cx="5799328" cy="247904"/>
            </a:xfrm>
            <a:custGeom>
              <a:avLst/>
              <a:gdLst/>
              <a:ahLst/>
              <a:cxnLst/>
              <a:rect l="l" t="t" r="r" b="b"/>
              <a:pathLst>
                <a:path w="5799328" h="247904">
                  <a:moveTo>
                    <a:pt x="0" y="0"/>
                  </a:moveTo>
                  <a:lnTo>
                    <a:pt x="5799328" y="0"/>
                  </a:lnTo>
                  <a:lnTo>
                    <a:pt x="5799328" y="247904"/>
                  </a:lnTo>
                  <a:lnTo>
                    <a:pt x="0" y="247904"/>
                  </a:lnTo>
                  <a:lnTo>
                    <a:pt x="0" y="0"/>
                  </a:lnTo>
                  <a:close/>
                </a:path>
              </a:pathLst>
            </a:custGeom>
            <a:blipFill>
              <a:blip r:embed="rId10"/>
              <a:stretch>
                <a:fillRect/>
              </a:stretch>
            </a:blipFill>
          </p:spPr>
          <p:txBody>
            <a:bodyPr/>
            <a:lstStyle/>
            <a:p>
              <a:endParaRPr lang="en-SG"/>
            </a:p>
          </p:txBody>
        </p:sp>
      </p:grpSp>
      <p:grpSp>
        <p:nvGrpSpPr>
          <p:cNvPr id="23" name="Group 23"/>
          <p:cNvGrpSpPr/>
          <p:nvPr/>
        </p:nvGrpSpPr>
        <p:grpSpPr>
          <a:xfrm>
            <a:off x="6074664" y="3511296"/>
            <a:ext cx="4349496" cy="185928"/>
            <a:chOff x="0" y="0"/>
            <a:chExt cx="5799328" cy="247904"/>
          </a:xfrm>
        </p:grpSpPr>
        <p:sp>
          <p:nvSpPr>
            <p:cNvPr id="24" name="Freeform 24"/>
            <p:cNvSpPr/>
            <p:nvPr/>
          </p:nvSpPr>
          <p:spPr>
            <a:xfrm>
              <a:off x="0" y="0"/>
              <a:ext cx="5799328" cy="247904"/>
            </a:xfrm>
            <a:custGeom>
              <a:avLst/>
              <a:gdLst/>
              <a:ahLst/>
              <a:cxnLst/>
              <a:rect l="l" t="t" r="r" b="b"/>
              <a:pathLst>
                <a:path w="5799328" h="247904">
                  <a:moveTo>
                    <a:pt x="0" y="0"/>
                  </a:moveTo>
                  <a:lnTo>
                    <a:pt x="5799328" y="0"/>
                  </a:lnTo>
                  <a:lnTo>
                    <a:pt x="5799328" y="247904"/>
                  </a:lnTo>
                  <a:lnTo>
                    <a:pt x="0" y="247904"/>
                  </a:lnTo>
                  <a:lnTo>
                    <a:pt x="0" y="0"/>
                  </a:lnTo>
                  <a:close/>
                </a:path>
              </a:pathLst>
            </a:custGeom>
            <a:blipFill>
              <a:blip r:embed="rId11"/>
              <a:stretch>
                <a:fillRect/>
              </a:stretch>
            </a:blipFill>
          </p:spPr>
          <p:txBody>
            <a:bodyPr/>
            <a:lstStyle/>
            <a:p>
              <a:endParaRPr lang="en-SG"/>
            </a:p>
          </p:txBody>
        </p:sp>
      </p:grpSp>
      <p:grpSp>
        <p:nvGrpSpPr>
          <p:cNvPr id="25" name="Group 25"/>
          <p:cNvGrpSpPr/>
          <p:nvPr/>
        </p:nvGrpSpPr>
        <p:grpSpPr>
          <a:xfrm>
            <a:off x="6074664" y="3694176"/>
            <a:ext cx="4349496" cy="185928"/>
            <a:chOff x="0" y="0"/>
            <a:chExt cx="5799328" cy="247904"/>
          </a:xfrm>
        </p:grpSpPr>
        <p:sp>
          <p:nvSpPr>
            <p:cNvPr id="26" name="Freeform 26"/>
            <p:cNvSpPr/>
            <p:nvPr/>
          </p:nvSpPr>
          <p:spPr>
            <a:xfrm>
              <a:off x="0" y="0"/>
              <a:ext cx="5799328" cy="247904"/>
            </a:xfrm>
            <a:custGeom>
              <a:avLst/>
              <a:gdLst/>
              <a:ahLst/>
              <a:cxnLst/>
              <a:rect l="l" t="t" r="r" b="b"/>
              <a:pathLst>
                <a:path w="5799328" h="247904">
                  <a:moveTo>
                    <a:pt x="0" y="0"/>
                  </a:moveTo>
                  <a:lnTo>
                    <a:pt x="5799328" y="0"/>
                  </a:lnTo>
                  <a:lnTo>
                    <a:pt x="5799328" y="247904"/>
                  </a:lnTo>
                  <a:lnTo>
                    <a:pt x="0" y="247904"/>
                  </a:lnTo>
                  <a:lnTo>
                    <a:pt x="0" y="0"/>
                  </a:lnTo>
                  <a:close/>
                </a:path>
              </a:pathLst>
            </a:custGeom>
            <a:blipFill>
              <a:blip r:embed="rId12"/>
              <a:stretch>
                <a:fillRect/>
              </a:stretch>
            </a:blipFill>
          </p:spPr>
          <p:txBody>
            <a:bodyPr/>
            <a:lstStyle/>
            <a:p>
              <a:endParaRPr lang="en-SG"/>
            </a:p>
          </p:txBody>
        </p:sp>
      </p:grpSp>
      <p:grpSp>
        <p:nvGrpSpPr>
          <p:cNvPr id="27" name="Group 27"/>
          <p:cNvGrpSpPr/>
          <p:nvPr/>
        </p:nvGrpSpPr>
        <p:grpSpPr>
          <a:xfrm>
            <a:off x="6074664" y="3877056"/>
            <a:ext cx="4349496" cy="185928"/>
            <a:chOff x="0" y="0"/>
            <a:chExt cx="5799328" cy="247904"/>
          </a:xfrm>
        </p:grpSpPr>
        <p:sp>
          <p:nvSpPr>
            <p:cNvPr id="28" name="Freeform 28"/>
            <p:cNvSpPr/>
            <p:nvPr/>
          </p:nvSpPr>
          <p:spPr>
            <a:xfrm>
              <a:off x="0" y="0"/>
              <a:ext cx="5799328" cy="247904"/>
            </a:xfrm>
            <a:custGeom>
              <a:avLst/>
              <a:gdLst/>
              <a:ahLst/>
              <a:cxnLst/>
              <a:rect l="l" t="t" r="r" b="b"/>
              <a:pathLst>
                <a:path w="5799328" h="247904">
                  <a:moveTo>
                    <a:pt x="0" y="0"/>
                  </a:moveTo>
                  <a:lnTo>
                    <a:pt x="5799328" y="0"/>
                  </a:lnTo>
                  <a:lnTo>
                    <a:pt x="5799328" y="247904"/>
                  </a:lnTo>
                  <a:lnTo>
                    <a:pt x="0" y="247904"/>
                  </a:lnTo>
                  <a:lnTo>
                    <a:pt x="0" y="0"/>
                  </a:lnTo>
                  <a:close/>
                </a:path>
              </a:pathLst>
            </a:custGeom>
            <a:blipFill>
              <a:blip r:embed="rId13"/>
              <a:stretch>
                <a:fillRect/>
              </a:stretch>
            </a:blipFill>
          </p:spPr>
          <p:txBody>
            <a:bodyPr/>
            <a:lstStyle/>
            <a:p>
              <a:endParaRPr lang="en-SG"/>
            </a:p>
          </p:txBody>
        </p:sp>
      </p:grpSp>
      <p:grpSp>
        <p:nvGrpSpPr>
          <p:cNvPr id="29" name="Group 29"/>
          <p:cNvGrpSpPr/>
          <p:nvPr/>
        </p:nvGrpSpPr>
        <p:grpSpPr>
          <a:xfrm>
            <a:off x="6074664" y="4059936"/>
            <a:ext cx="4349496" cy="185928"/>
            <a:chOff x="0" y="0"/>
            <a:chExt cx="5799328" cy="247904"/>
          </a:xfrm>
        </p:grpSpPr>
        <p:sp>
          <p:nvSpPr>
            <p:cNvPr id="30" name="Freeform 30"/>
            <p:cNvSpPr/>
            <p:nvPr/>
          </p:nvSpPr>
          <p:spPr>
            <a:xfrm>
              <a:off x="0" y="0"/>
              <a:ext cx="5799328" cy="247904"/>
            </a:xfrm>
            <a:custGeom>
              <a:avLst/>
              <a:gdLst/>
              <a:ahLst/>
              <a:cxnLst/>
              <a:rect l="l" t="t" r="r" b="b"/>
              <a:pathLst>
                <a:path w="5799328" h="247904">
                  <a:moveTo>
                    <a:pt x="0" y="0"/>
                  </a:moveTo>
                  <a:lnTo>
                    <a:pt x="5799328" y="0"/>
                  </a:lnTo>
                  <a:lnTo>
                    <a:pt x="5799328" y="247904"/>
                  </a:lnTo>
                  <a:lnTo>
                    <a:pt x="0" y="247904"/>
                  </a:lnTo>
                  <a:lnTo>
                    <a:pt x="0" y="0"/>
                  </a:lnTo>
                  <a:close/>
                </a:path>
              </a:pathLst>
            </a:custGeom>
            <a:blipFill>
              <a:blip r:embed="rId14"/>
              <a:stretch>
                <a:fillRect/>
              </a:stretch>
            </a:blipFill>
          </p:spPr>
          <p:txBody>
            <a:bodyPr/>
            <a:lstStyle/>
            <a:p>
              <a:endParaRPr lang="en-SG"/>
            </a:p>
          </p:txBody>
        </p:sp>
      </p:grpSp>
      <p:grpSp>
        <p:nvGrpSpPr>
          <p:cNvPr id="31" name="Group 31"/>
          <p:cNvGrpSpPr/>
          <p:nvPr/>
        </p:nvGrpSpPr>
        <p:grpSpPr>
          <a:xfrm>
            <a:off x="6074664" y="4242816"/>
            <a:ext cx="4349496" cy="185928"/>
            <a:chOff x="0" y="0"/>
            <a:chExt cx="5799328" cy="247904"/>
          </a:xfrm>
        </p:grpSpPr>
        <p:sp>
          <p:nvSpPr>
            <p:cNvPr id="32" name="Freeform 32"/>
            <p:cNvSpPr/>
            <p:nvPr/>
          </p:nvSpPr>
          <p:spPr>
            <a:xfrm>
              <a:off x="0" y="0"/>
              <a:ext cx="5799328" cy="247904"/>
            </a:xfrm>
            <a:custGeom>
              <a:avLst/>
              <a:gdLst/>
              <a:ahLst/>
              <a:cxnLst/>
              <a:rect l="l" t="t" r="r" b="b"/>
              <a:pathLst>
                <a:path w="5799328" h="247904">
                  <a:moveTo>
                    <a:pt x="0" y="0"/>
                  </a:moveTo>
                  <a:lnTo>
                    <a:pt x="5799328" y="0"/>
                  </a:lnTo>
                  <a:lnTo>
                    <a:pt x="5799328" y="247904"/>
                  </a:lnTo>
                  <a:lnTo>
                    <a:pt x="0" y="247904"/>
                  </a:lnTo>
                  <a:lnTo>
                    <a:pt x="0" y="0"/>
                  </a:lnTo>
                  <a:close/>
                </a:path>
              </a:pathLst>
            </a:custGeom>
            <a:blipFill>
              <a:blip r:embed="rId15"/>
              <a:stretch>
                <a:fillRect/>
              </a:stretch>
            </a:blipFill>
          </p:spPr>
          <p:txBody>
            <a:bodyPr/>
            <a:lstStyle/>
            <a:p>
              <a:endParaRPr lang="en-SG"/>
            </a:p>
          </p:txBody>
        </p:sp>
      </p:grpSp>
      <p:grpSp>
        <p:nvGrpSpPr>
          <p:cNvPr id="33" name="Group 33"/>
          <p:cNvGrpSpPr/>
          <p:nvPr/>
        </p:nvGrpSpPr>
        <p:grpSpPr>
          <a:xfrm>
            <a:off x="6074664" y="4425696"/>
            <a:ext cx="4349496" cy="185928"/>
            <a:chOff x="0" y="0"/>
            <a:chExt cx="5799328" cy="247904"/>
          </a:xfrm>
        </p:grpSpPr>
        <p:sp>
          <p:nvSpPr>
            <p:cNvPr id="34" name="Freeform 34"/>
            <p:cNvSpPr/>
            <p:nvPr/>
          </p:nvSpPr>
          <p:spPr>
            <a:xfrm>
              <a:off x="0" y="0"/>
              <a:ext cx="5799328" cy="247904"/>
            </a:xfrm>
            <a:custGeom>
              <a:avLst/>
              <a:gdLst/>
              <a:ahLst/>
              <a:cxnLst/>
              <a:rect l="l" t="t" r="r" b="b"/>
              <a:pathLst>
                <a:path w="5799328" h="247904">
                  <a:moveTo>
                    <a:pt x="0" y="0"/>
                  </a:moveTo>
                  <a:lnTo>
                    <a:pt x="5799328" y="0"/>
                  </a:lnTo>
                  <a:lnTo>
                    <a:pt x="5799328" y="247904"/>
                  </a:lnTo>
                  <a:lnTo>
                    <a:pt x="0" y="247904"/>
                  </a:lnTo>
                  <a:lnTo>
                    <a:pt x="0" y="0"/>
                  </a:lnTo>
                  <a:close/>
                </a:path>
              </a:pathLst>
            </a:custGeom>
            <a:blipFill>
              <a:blip r:embed="rId16"/>
              <a:stretch>
                <a:fillRect/>
              </a:stretch>
            </a:blipFill>
          </p:spPr>
          <p:txBody>
            <a:bodyPr/>
            <a:lstStyle/>
            <a:p>
              <a:endParaRPr lang="en-SG"/>
            </a:p>
          </p:txBody>
        </p:sp>
      </p:grpSp>
      <p:grpSp>
        <p:nvGrpSpPr>
          <p:cNvPr id="35" name="Group 35"/>
          <p:cNvGrpSpPr/>
          <p:nvPr/>
        </p:nvGrpSpPr>
        <p:grpSpPr>
          <a:xfrm>
            <a:off x="6074664" y="4608576"/>
            <a:ext cx="4349496" cy="185928"/>
            <a:chOff x="0" y="0"/>
            <a:chExt cx="5799328" cy="247904"/>
          </a:xfrm>
        </p:grpSpPr>
        <p:sp>
          <p:nvSpPr>
            <p:cNvPr id="36" name="Freeform 36"/>
            <p:cNvSpPr/>
            <p:nvPr/>
          </p:nvSpPr>
          <p:spPr>
            <a:xfrm>
              <a:off x="0" y="0"/>
              <a:ext cx="5799328" cy="247904"/>
            </a:xfrm>
            <a:custGeom>
              <a:avLst/>
              <a:gdLst/>
              <a:ahLst/>
              <a:cxnLst/>
              <a:rect l="l" t="t" r="r" b="b"/>
              <a:pathLst>
                <a:path w="5799328" h="247904">
                  <a:moveTo>
                    <a:pt x="0" y="0"/>
                  </a:moveTo>
                  <a:lnTo>
                    <a:pt x="5799328" y="0"/>
                  </a:lnTo>
                  <a:lnTo>
                    <a:pt x="5799328" y="247904"/>
                  </a:lnTo>
                  <a:lnTo>
                    <a:pt x="0" y="247904"/>
                  </a:lnTo>
                  <a:lnTo>
                    <a:pt x="0" y="0"/>
                  </a:lnTo>
                  <a:close/>
                </a:path>
              </a:pathLst>
            </a:custGeom>
            <a:blipFill>
              <a:blip r:embed="rId17"/>
              <a:stretch>
                <a:fillRect/>
              </a:stretch>
            </a:blipFill>
          </p:spPr>
          <p:txBody>
            <a:bodyPr/>
            <a:lstStyle/>
            <a:p>
              <a:endParaRPr lang="en-SG"/>
            </a:p>
          </p:txBody>
        </p:sp>
      </p:grpSp>
      <p:grpSp>
        <p:nvGrpSpPr>
          <p:cNvPr id="37" name="Group 37"/>
          <p:cNvGrpSpPr/>
          <p:nvPr/>
        </p:nvGrpSpPr>
        <p:grpSpPr>
          <a:xfrm>
            <a:off x="6074664" y="4791456"/>
            <a:ext cx="4349496" cy="185928"/>
            <a:chOff x="0" y="0"/>
            <a:chExt cx="5799328" cy="247904"/>
          </a:xfrm>
        </p:grpSpPr>
        <p:sp>
          <p:nvSpPr>
            <p:cNvPr id="38" name="Freeform 38"/>
            <p:cNvSpPr/>
            <p:nvPr/>
          </p:nvSpPr>
          <p:spPr>
            <a:xfrm>
              <a:off x="0" y="0"/>
              <a:ext cx="5799328" cy="247904"/>
            </a:xfrm>
            <a:custGeom>
              <a:avLst/>
              <a:gdLst/>
              <a:ahLst/>
              <a:cxnLst/>
              <a:rect l="l" t="t" r="r" b="b"/>
              <a:pathLst>
                <a:path w="5799328" h="247904">
                  <a:moveTo>
                    <a:pt x="0" y="0"/>
                  </a:moveTo>
                  <a:lnTo>
                    <a:pt x="5799328" y="0"/>
                  </a:lnTo>
                  <a:lnTo>
                    <a:pt x="5799328" y="247904"/>
                  </a:lnTo>
                  <a:lnTo>
                    <a:pt x="0" y="247904"/>
                  </a:lnTo>
                  <a:lnTo>
                    <a:pt x="0" y="0"/>
                  </a:lnTo>
                  <a:close/>
                </a:path>
              </a:pathLst>
            </a:custGeom>
            <a:blipFill>
              <a:blip r:embed="rId18"/>
              <a:stretch>
                <a:fillRect/>
              </a:stretch>
            </a:blipFill>
          </p:spPr>
          <p:txBody>
            <a:bodyPr/>
            <a:lstStyle/>
            <a:p>
              <a:endParaRPr lang="en-SG"/>
            </a:p>
          </p:txBody>
        </p:sp>
      </p:grpSp>
      <p:grpSp>
        <p:nvGrpSpPr>
          <p:cNvPr id="39" name="Group 39"/>
          <p:cNvGrpSpPr/>
          <p:nvPr/>
        </p:nvGrpSpPr>
        <p:grpSpPr>
          <a:xfrm>
            <a:off x="6074664" y="4974336"/>
            <a:ext cx="4349496" cy="185928"/>
            <a:chOff x="0" y="0"/>
            <a:chExt cx="5799328" cy="247904"/>
          </a:xfrm>
        </p:grpSpPr>
        <p:sp>
          <p:nvSpPr>
            <p:cNvPr id="40" name="Freeform 40"/>
            <p:cNvSpPr/>
            <p:nvPr/>
          </p:nvSpPr>
          <p:spPr>
            <a:xfrm>
              <a:off x="0" y="0"/>
              <a:ext cx="5799328" cy="247904"/>
            </a:xfrm>
            <a:custGeom>
              <a:avLst/>
              <a:gdLst/>
              <a:ahLst/>
              <a:cxnLst/>
              <a:rect l="l" t="t" r="r" b="b"/>
              <a:pathLst>
                <a:path w="5799328" h="247904">
                  <a:moveTo>
                    <a:pt x="0" y="0"/>
                  </a:moveTo>
                  <a:lnTo>
                    <a:pt x="5799328" y="0"/>
                  </a:lnTo>
                  <a:lnTo>
                    <a:pt x="5799328" y="247904"/>
                  </a:lnTo>
                  <a:lnTo>
                    <a:pt x="0" y="247904"/>
                  </a:lnTo>
                  <a:lnTo>
                    <a:pt x="0" y="0"/>
                  </a:lnTo>
                  <a:close/>
                </a:path>
              </a:pathLst>
            </a:custGeom>
            <a:blipFill>
              <a:blip r:embed="rId19"/>
              <a:stretch>
                <a:fillRect/>
              </a:stretch>
            </a:blipFill>
          </p:spPr>
          <p:txBody>
            <a:bodyPr/>
            <a:lstStyle/>
            <a:p>
              <a:endParaRPr lang="en-SG"/>
            </a:p>
          </p:txBody>
        </p:sp>
      </p:grpSp>
      <p:grpSp>
        <p:nvGrpSpPr>
          <p:cNvPr id="41" name="Group 41"/>
          <p:cNvGrpSpPr/>
          <p:nvPr/>
        </p:nvGrpSpPr>
        <p:grpSpPr>
          <a:xfrm>
            <a:off x="6074664" y="5157216"/>
            <a:ext cx="4349496" cy="185928"/>
            <a:chOff x="0" y="0"/>
            <a:chExt cx="5799328" cy="247904"/>
          </a:xfrm>
        </p:grpSpPr>
        <p:sp>
          <p:nvSpPr>
            <p:cNvPr id="42" name="Freeform 42"/>
            <p:cNvSpPr/>
            <p:nvPr/>
          </p:nvSpPr>
          <p:spPr>
            <a:xfrm>
              <a:off x="0" y="0"/>
              <a:ext cx="5799328" cy="247904"/>
            </a:xfrm>
            <a:custGeom>
              <a:avLst/>
              <a:gdLst/>
              <a:ahLst/>
              <a:cxnLst/>
              <a:rect l="l" t="t" r="r" b="b"/>
              <a:pathLst>
                <a:path w="5799328" h="247904">
                  <a:moveTo>
                    <a:pt x="0" y="0"/>
                  </a:moveTo>
                  <a:lnTo>
                    <a:pt x="5799328" y="0"/>
                  </a:lnTo>
                  <a:lnTo>
                    <a:pt x="5799328" y="247904"/>
                  </a:lnTo>
                  <a:lnTo>
                    <a:pt x="0" y="247904"/>
                  </a:lnTo>
                  <a:lnTo>
                    <a:pt x="0" y="0"/>
                  </a:lnTo>
                  <a:close/>
                </a:path>
              </a:pathLst>
            </a:custGeom>
            <a:blipFill>
              <a:blip r:embed="rId20"/>
              <a:stretch>
                <a:fillRect/>
              </a:stretch>
            </a:blipFill>
          </p:spPr>
          <p:txBody>
            <a:bodyPr/>
            <a:lstStyle/>
            <a:p>
              <a:endParaRPr lang="en-SG"/>
            </a:p>
          </p:txBody>
        </p:sp>
      </p:grpSp>
      <p:grpSp>
        <p:nvGrpSpPr>
          <p:cNvPr id="43" name="Group 43"/>
          <p:cNvGrpSpPr/>
          <p:nvPr/>
        </p:nvGrpSpPr>
        <p:grpSpPr>
          <a:xfrm>
            <a:off x="6074664" y="5340096"/>
            <a:ext cx="4349496" cy="185928"/>
            <a:chOff x="0" y="0"/>
            <a:chExt cx="5799328" cy="247904"/>
          </a:xfrm>
        </p:grpSpPr>
        <p:sp>
          <p:nvSpPr>
            <p:cNvPr id="44" name="Freeform 44"/>
            <p:cNvSpPr/>
            <p:nvPr/>
          </p:nvSpPr>
          <p:spPr>
            <a:xfrm>
              <a:off x="0" y="0"/>
              <a:ext cx="5799328" cy="247904"/>
            </a:xfrm>
            <a:custGeom>
              <a:avLst/>
              <a:gdLst/>
              <a:ahLst/>
              <a:cxnLst/>
              <a:rect l="l" t="t" r="r" b="b"/>
              <a:pathLst>
                <a:path w="5799328" h="247904">
                  <a:moveTo>
                    <a:pt x="0" y="0"/>
                  </a:moveTo>
                  <a:lnTo>
                    <a:pt x="5799328" y="0"/>
                  </a:lnTo>
                  <a:lnTo>
                    <a:pt x="5799328" y="247904"/>
                  </a:lnTo>
                  <a:lnTo>
                    <a:pt x="0" y="247904"/>
                  </a:lnTo>
                  <a:lnTo>
                    <a:pt x="0" y="0"/>
                  </a:lnTo>
                  <a:close/>
                </a:path>
              </a:pathLst>
            </a:custGeom>
            <a:blipFill>
              <a:blip r:embed="rId21"/>
              <a:stretch>
                <a:fillRect/>
              </a:stretch>
            </a:blipFill>
          </p:spPr>
          <p:txBody>
            <a:bodyPr/>
            <a:lstStyle/>
            <a:p>
              <a:endParaRPr lang="en-SG"/>
            </a:p>
          </p:txBody>
        </p:sp>
      </p:grpSp>
      <p:grpSp>
        <p:nvGrpSpPr>
          <p:cNvPr id="45" name="Group 45"/>
          <p:cNvGrpSpPr/>
          <p:nvPr/>
        </p:nvGrpSpPr>
        <p:grpSpPr>
          <a:xfrm>
            <a:off x="6074664" y="5522976"/>
            <a:ext cx="4349496" cy="185928"/>
            <a:chOff x="0" y="0"/>
            <a:chExt cx="5799328" cy="247904"/>
          </a:xfrm>
        </p:grpSpPr>
        <p:sp>
          <p:nvSpPr>
            <p:cNvPr id="46" name="Freeform 46"/>
            <p:cNvSpPr/>
            <p:nvPr/>
          </p:nvSpPr>
          <p:spPr>
            <a:xfrm>
              <a:off x="0" y="0"/>
              <a:ext cx="5799328" cy="247904"/>
            </a:xfrm>
            <a:custGeom>
              <a:avLst/>
              <a:gdLst/>
              <a:ahLst/>
              <a:cxnLst/>
              <a:rect l="l" t="t" r="r" b="b"/>
              <a:pathLst>
                <a:path w="5799328" h="247904">
                  <a:moveTo>
                    <a:pt x="0" y="0"/>
                  </a:moveTo>
                  <a:lnTo>
                    <a:pt x="5799328" y="0"/>
                  </a:lnTo>
                  <a:lnTo>
                    <a:pt x="5799328" y="247904"/>
                  </a:lnTo>
                  <a:lnTo>
                    <a:pt x="0" y="247904"/>
                  </a:lnTo>
                  <a:lnTo>
                    <a:pt x="0" y="0"/>
                  </a:lnTo>
                  <a:close/>
                </a:path>
              </a:pathLst>
            </a:custGeom>
            <a:blipFill>
              <a:blip r:embed="rId22"/>
              <a:stretch>
                <a:fillRect/>
              </a:stretch>
            </a:blipFill>
          </p:spPr>
          <p:txBody>
            <a:bodyPr/>
            <a:lstStyle/>
            <a:p>
              <a:endParaRPr lang="en-SG"/>
            </a:p>
          </p:txBody>
        </p:sp>
      </p:grpSp>
      <p:grpSp>
        <p:nvGrpSpPr>
          <p:cNvPr id="47" name="Group 47"/>
          <p:cNvGrpSpPr/>
          <p:nvPr/>
        </p:nvGrpSpPr>
        <p:grpSpPr>
          <a:xfrm>
            <a:off x="6074664" y="5705856"/>
            <a:ext cx="4349496" cy="185928"/>
            <a:chOff x="0" y="0"/>
            <a:chExt cx="5799328" cy="247904"/>
          </a:xfrm>
        </p:grpSpPr>
        <p:sp>
          <p:nvSpPr>
            <p:cNvPr id="48" name="Freeform 48"/>
            <p:cNvSpPr/>
            <p:nvPr/>
          </p:nvSpPr>
          <p:spPr>
            <a:xfrm>
              <a:off x="0" y="0"/>
              <a:ext cx="5799328" cy="247904"/>
            </a:xfrm>
            <a:custGeom>
              <a:avLst/>
              <a:gdLst/>
              <a:ahLst/>
              <a:cxnLst/>
              <a:rect l="l" t="t" r="r" b="b"/>
              <a:pathLst>
                <a:path w="5799328" h="247904">
                  <a:moveTo>
                    <a:pt x="0" y="0"/>
                  </a:moveTo>
                  <a:lnTo>
                    <a:pt x="5799328" y="0"/>
                  </a:lnTo>
                  <a:lnTo>
                    <a:pt x="5799328" y="247904"/>
                  </a:lnTo>
                  <a:lnTo>
                    <a:pt x="0" y="247904"/>
                  </a:lnTo>
                  <a:lnTo>
                    <a:pt x="0" y="0"/>
                  </a:lnTo>
                  <a:close/>
                </a:path>
              </a:pathLst>
            </a:custGeom>
            <a:blipFill>
              <a:blip r:embed="rId23"/>
              <a:stretch>
                <a:fillRect/>
              </a:stretch>
            </a:blipFill>
          </p:spPr>
          <p:txBody>
            <a:bodyPr/>
            <a:lstStyle/>
            <a:p>
              <a:endParaRPr lang="en-SG"/>
            </a:p>
          </p:txBody>
        </p:sp>
      </p:grpSp>
      <p:grpSp>
        <p:nvGrpSpPr>
          <p:cNvPr id="49" name="Group 49"/>
          <p:cNvGrpSpPr/>
          <p:nvPr/>
        </p:nvGrpSpPr>
        <p:grpSpPr>
          <a:xfrm>
            <a:off x="6074664" y="5888736"/>
            <a:ext cx="4349496" cy="185928"/>
            <a:chOff x="0" y="0"/>
            <a:chExt cx="5799328" cy="247904"/>
          </a:xfrm>
        </p:grpSpPr>
        <p:sp>
          <p:nvSpPr>
            <p:cNvPr id="50" name="Freeform 50"/>
            <p:cNvSpPr/>
            <p:nvPr/>
          </p:nvSpPr>
          <p:spPr>
            <a:xfrm>
              <a:off x="0" y="0"/>
              <a:ext cx="5799328" cy="247904"/>
            </a:xfrm>
            <a:custGeom>
              <a:avLst/>
              <a:gdLst/>
              <a:ahLst/>
              <a:cxnLst/>
              <a:rect l="l" t="t" r="r" b="b"/>
              <a:pathLst>
                <a:path w="5799328" h="247904">
                  <a:moveTo>
                    <a:pt x="0" y="0"/>
                  </a:moveTo>
                  <a:lnTo>
                    <a:pt x="5799328" y="0"/>
                  </a:lnTo>
                  <a:lnTo>
                    <a:pt x="5799328" y="247904"/>
                  </a:lnTo>
                  <a:lnTo>
                    <a:pt x="0" y="247904"/>
                  </a:lnTo>
                  <a:lnTo>
                    <a:pt x="0" y="0"/>
                  </a:lnTo>
                  <a:close/>
                </a:path>
              </a:pathLst>
            </a:custGeom>
            <a:blipFill>
              <a:blip r:embed="rId24"/>
              <a:stretch>
                <a:fillRect/>
              </a:stretch>
            </a:blipFill>
          </p:spPr>
          <p:txBody>
            <a:bodyPr/>
            <a:lstStyle/>
            <a:p>
              <a:endParaRPr lang="en-SG"/>
            </a:p>
          </p:txBody>
        </p:sp>
      </p:grpSp>
      <p:grpSp>
        <p:nvGrpSpPr>
          <p:cNvPr id="51" name="Group 51"/>
          <p:cNvGrpSpPr/>
          <p:nvPr/>
        </p:nvGrpSpPr>
        <p:grpSpPr>
          <a:xfrm>
            <a:off x="6074664" y="6071616"/>
            <a:ext cx="4349496" cy="185928"/>
            <a:chOff x="0" y="0"/>
            <a:chExt cx="5799328" cy="247904"/>
          </a:xfrm>
        </p:grpSpPr>
        <p:sp>
          <p:nvSpPr>
            <p:cNvPr id="52" name="Freeform 52"/>
            <p:cNvSpPr/>
            <p:nvPr/>
          </p:nvSpPr>
          <p:spPr>
            <a:xfrm>
              <a:off x="0" y="0"/>
              <a:ext cx="5799328" cy="247904"/>
            </a:xfrm>
            <a:custGeom>
              <a:avLst/>
              <a:gdLst/>
              <a:ahLst/>
              <a:cxnLst/>
              <a:rect l="l" t="t" r="r" b="b"/>
              <a:pathLst>
                <a:path w="5799328" h="247904">
                  <a:moveTo>
                    <a:pt x="0" y="0"/>
                  </a:moveTo>
                  <a:lnTo>
                    <a:pt x="5799328" y="0"/>
                  </a:lnTo>
                  <a:lnTo>
                    <a:pt x="5799328" y="247904"/>
                  </a:lnTo>
                  <a:lnTo>
                    <a:pt x="0" y="247904"/>
                  </a:lnTo>
                  <a:lnTo>
                    <a:pt x="0" y="0"/>
                  </a:lnTo>
                  <a:close/>
                </a:path>
              </a:pathLst>
            </a:custGeom>
            <a:blipFill>
              <a:blip r:embed="rId25"/>
              <a:stretch>
                <a:fillRect/>
              </a:stretch>
            </a:blipFill>
          </p:spPr>
          <p:txBody>
            <a:bodyPr/>
            <a:lstStyle/>
            <a:p>
              <a:endParaRPr lang="en-SG"/>
            </a:p>
          </p:txBody>
        </p:sp>
      </p:grpSp>
      <p:grpSp>
        <p:nvGrpSpPr>
          <p:cNvPr id="53" name="Group 53"/>
          <p:cNvGrpSpPr/>
          <p:nvPr/>
        </p:nvGrpSpPr>
        <p:grpSpPr>
          <a:xfrm>
            <a:off x="6074664" y="6254496"/>
            <a:ext cx="4349496" cy="185928"/>
            <a:chOff x="0" y="0"/>
            <a:chExt cx="5799328" cy="247904"/>
          </a:xfrm>
        </p:grpSpPr>
        <p:sp>
          <p:nvSpPr>
            <p:cNvPr id="54" name="Freeform 54"/>
            <p:cNvSpPr/>
            <p:nvPr/>
          </p:nvSpPr>
          <p:spPr>
            <a:xfrm>
              <a:off x="0" y="0"/>
              <a:ext cx="5799328" cy="247904"/>
            </a:xfrm>
            <a:custGeom>
              <a:avLst/>
              <a:gdLst/>
              <a:ahLst/>
              <a:cxnLst/>
              <a:rect l="l" t="t" r="r" b="b"/>
              <a:pathLst>
                <a:path w="5799328" h="247904">
                  <a:moveTo>
                    <a:pt x="0" y="0"/>
                  </a:moveTo>
                  <a:lnTo>
                    <a:pt x="5799328" y="0"/>
                  </a:lnTo>
                  <a:lnTo>
                    <a:pt x="5799328" y="247904"/>
                  </a:lnTo>
                  <a:lnTo>
                    <a:pt x="0" y="247904"/>
                  </a:lnTo>
                  <a:lnTo>
                    <a:pt x="0" y="0"/>
                  </a:lnTo>
                  <a:close/>
                </a:path>
              </a:pathLst>
            </a:custGeom>
            <a:blipFill>
              <a:blip r:embed="rId26"/>
              <a:stretch>
                <a:fillRect/>
              </a:stretch>
            </a:blipFill>
          </p:spPr>
          <p:txBody>
            <a:bodyPr/>
            <a:lstStyle/>
            <a:p>
              <a:endParaRPr lang="en-SG"/>
            </a:p>
          </p:txBody>
        </p:sp>
      </p:grpSp>
      <p:sp>
        <p:nvSpPr>
          <p:cNvPr id="55" name="Freeform 55"/>
          <p:cNvSpPr/>
          <p:nvPr/>
        </p:nvSpPr>
        <p:spPr>
          <a:xfrm>
            <a:off x="3379213" y="2812285"/>
            <a:ext cx="3057649" cy="1274569"/>
          </a:xfrm>
          <a:custGeom>
            <a:avLst/>
            <a:gdLst/>
            <a:ahLst/>
            <a:cxnLst/>
            <a:rect l="l" t="t" r="r" b="b"/>
            <a:pathLst>
              <a:path w="3057649" h="1274569">
                <a:moveTo>
                  <a:pt x="0" y="0"/>
                </a:moveTo>
                <a:lnTo>
                  <a:pt x="3057649" y="0"/>
                </a:lnTo>
                <a:lnTo>
                  <a:pt x="3057649" y="1274569"/>
                </a:lnTo>
                <a:lnTo>
                  <a:pt x="0" y="1274569"/>
                </a:lnTo>
                <a:lnTo>
                  <a:pt x="0" y="0"/>
                </a:lnTo>
                <a:close/>
              </a:path>
            </a:pathLst>
          </a:custGeom>
          <a:blipFill>
            <a:blip>
              <a:extLst>
                <a:ext uri="{96DAC541-7B7A-43D3-8B79-37D633B846F1}">
                  <asvg:svgBlip xmlns:asvg="http://schemas.microsoft.com/office/drawing/2016/SVG/main" r:embed="rId27"/>
                </a:ext>
              </a:extLst>
            </a:blip>
            <a:stretch>
              <a:fillRect/>
            </a:stretch>
          </a:blipFill>
        </p:spPr>
        <p:txBody>
          <a:bodyPr/>
          <a:lstStyle/>
          <a:p>
            <a:endParaRPr lang="en-SG"/>
          </a:p>
        </p:txBody>
      </p:sp>
      <p:grpSp>
        <p:nvGrpSpPr>
          <p:cNvPr id="56" name="Group 56"/>
          <p:cNvGrpSpPr/>
          <p:nvPr/>
        </p:nvGrpSpPr>
        <p:grpSpPr>
          <a:xfrm>
            <a:off x="6074664" y="6437376"/>
            <a:ext cx="4349496" cy="42672"/>
            <a:chOff x="0" y="0"/>
            <a:chExt cx="4349496" cy="42672"/>
          </a:xfrm>
        </p:grpSpPr>
        <p:sp>
          <p:nvSpPr>
            <p:cNvPr id="57" name="Freeform 57"/>
            <p:cNvSpPr/>
            <p:nvPr/>
          </p:nvSpPr>
          <p:spPr>
            <a:xfrm>
              <a:off x="0" y="0"/>
              <a:ext cx="4349496" cy="42672"/>
            </a:xfrm>
            <a:custGeom>
              <a:avLst/>
              <a:gdLst/>
              <a:ahLst/>
              <a:cxnLst/>
              <a:rect l="l" t="t" r="r" b="b"/>
              <a:pathLst>
                <a:path w="4349496" h="42672">
                  <a:moveTo>
                    <a:pt x="0" y="42672"/>
                  </a:moveTo>
                  <a:lnTo>
                    <a:pt x="4349496" y="42672"/>
                  </a:lnTo>
                  <a:lnTo>
                    <a:pt x="4349496" y="0"/>
                  </a:lnTo>
                  <a:lnTo>
                    <a:pt x="0" y="0"/>
                  </a:lnTo>
                  <a:lnTo>
                    <a:pt x="0" y="42672"/>
                  </a:lnTo>
                  <a:close/>
                </a:path>
              </a:pathLst>
            </a:custGeom>
            <a:solidFill>
              <a:srgbClr val="FFFFFF"/>
            </a:solidFill>
          </p:spPr>
          <p:txBody>
            <a:bodyPr/>
            <a:lstStyle/>
            <a:p>
              <a:endParaRPr lang="en-SG"/>
            </a:p>
          </p:txBody>
        </p:sp>
      </p:grpSp>
      <p:sp>
        <p:nvSpPr>
          <p:cNvPr id="58" name="TextBox 58"/>
          <p:cNvSpPr txBox="1"/>
          <p:nvPr/>
        </p:nvSpPr>
        <p:spPr>
          <a:xfrm>
            <a:off x="1632109" y="1286494"/>
            <a:ext cx="5802030" cy="1688963"/>
          </a:xfrm>
          <a:prstGeom prst="rect">
            <a:avLst/>
          </a:prstGeom>
        </p:spPr>
        <p:txBody>
          <a:bodyPr lIns="0" tIns="0" rIns="0" bIns="0" rtlCol="0" anchor="t">
            <a:spAutoFit/>
          </a:bodyPr>
          <a:lstStyle/>
          <a:p>
            <a:pPr algn="l">
              <a:lnSpc>
                <a:spcPts val="4709"/>
              </a:lnSpc>
            </a:pPr>
            <a:r>
              <a:rPr lang="en-US" sz="3048">
                <a:solidFill>
                  <a:srgbClr val="2C2C2C"/>
                </a:solidFill>
                <a:latin typeface="Montserrat"/>
                <a:ea typeface="Montserrat"/>
                <a:cs typeface="Montserrat"/>
                <a:sym typeface="Montserrat"/>
              </a:rPr>
              <a:t>Satellite Set-up -Bottom side</a:t>
            </a:r>
          </a:p>
          <a:p>
            <a:pPr algn="l">
              <a:lnSpc>
                <a:spcPts val="2892"/>
              </a:lnSpc>
            </a:pPr>
            <a:r>
              <a:rPr lang="en-US" sz="1872" spc="-14">
                <a:solidFill>
                  <a:srgbClr val="000000"/>
                </a:solidFill>
                <a:latin typeface="Montserrat"/>
                <a:ea typeface="Montserrat"/>
                <a:cs typeface="Montserrat"/>
                <a:sym typeface="Montserrat"/>
              </a:rPr>
              <a:t>Look at the orientation of the </a:t>
            </a:r>
          </a:p>
          <a:p>
            <a:pPr algn="l">
              <a:lnSpc>
                <a:spcPts val="2892"/>
              </a:lnSpc>
            </a:pPr>
            <a:r>
              <a:rPr lang="en-US" sz="1872" spc="-14">
                <a:solidFill>
                  <a:srgbClr val="000000"/>
                </a:solidFill>
                <a:latin typeface="Montserrat"/>
                <a:ea typeface="Montserrat"/>
                <a:cs typeface="Montserrat"/>
                <a:sym typeface="Montserrat"/>
              </a:rPr>
              <a:t>bottom frame!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2290572" y="2232660"/>
            <a:ext cx="6758940" cy="117348"/>
            <a:chOff x="0" y="0"/>
            <a:chExt cx="9011920" cy="156464"/>
          </a:xfrm>
        </p:grpSpPr>
        <p:sp>
          <p:nvSpPr>
            <p:cNvPr id="10" name="Freeform 10"/>
            <p:cNvSpPr/>
            <p:nvPr/>
          </p:nvSpPr>
          <p:spPr>
            <a:xfrm>
              <a:off x="0" y="0"/>
              <a:ext cx="9011920" cy="156464"/>
            </a:xfrm>
            <a:custGeom>
              <a:avLst/>
              <a:gdLst/>
              <a:ahLst/>
              <a:cxnLst/>
              <a:rect l="l" t="t" r="r" b="b"/>
              <a:pathLst>
                <a:path w="9011920" h="156464">
                  <a:moveTo>
                    <a:pt x="0" y="0"/>
                  </a:moveTo>
                  <a:lnTo>
                    <a:pt x="9011920" y="0"/>
                  </a:lnTo>
                  <a:lnTo>
                    <a:pt x="9011920" y="156464"/>
                  </a:lnTo>
                  <a:lnTo>
                    <a:pt x="0" y="156464"/>
                  </a:lnTo>
                  <a:lnTo>
                    <a:pt x="0" y="0"/>
                  </a:lnTo>
                  <a:close/>
                </a:path>
              </a:pathLst>
            </a:custGeom>
            <a:blipFill>
              <a:blip r:embed="rId4"/>
              <a:stretch>
                <a:fillRect l="-22" t="-1298"/>
              </a:stretch>
            </a:blipFill>
          </p:spPr>
          <p:txBody>
            <a:bodyPr/>
            <a:lstStyle/>
            <a:p>
              <a:endParaRPr lang="en-SG"/>
            </a:p>
          </p:txBody>
        </p:sp>
      </p:grpSp>
      <p:grpSp>
        <p:nvGrpSpPr>
          <p:cNvPr id="11" name="Group 11"/>
          <p:cNvGrpSpPr/>
          <p:nvPr/>
        </p:nvGrpSpPr>
        <p:grpSpPr>
          <a:xfrm>
            <a:off x="2290572" y="2346960"/>
            <a:ext cx="6758940" cy="118872"/>
            <a:chOff x="0" y="0"/>
            <a:chExt cx="9011920" cy="158496"/>
          </a:xfrm>
        </p:grpSpPr>
        <p:sp>
          <p:nvSpPr>
            <p:cNvPr id="12" name="Freeform 12"/>
            <p:cNvSpPr/>
            <p:nvPr/>
          </p:nvSpPr>
          <p:spPr>
            <a:xfrm>
              <a:off x="0" y="0"/>
              <a:ext cx="9011920" cy="158496"/>
            </a:xfrm>
            <a:custGeom>
              <a:avLst/>
              <a:gdLst/>
              <a:ahLst/>
              <a:cxnLst/>
              <a:rect l="l" t="t" r="r" b="b"/>
              <a:pathLst>
                <a:path w="9011920" h="158496">
                  <a:moveTo>
                    <a:pt x="0" y="0"/>
                  </a:moveTo>
                  <a:lnTo>
                    <a:pt x="9011920" y="0"/>
                  </a:lnTo>
                  <a:lnTo>
                    <a:pt x="9011920" y="158496"/>
                  </a:lnTo>
                  <a:lnTo>
                    <a:pt x="0" y="158496"/>
                  </a:lnTo>
                  <a:lnTo>
                    <a:pt x="0" y="0"/>
                  </a:lnTo>
                  <a:close/>
                </a:path>
              </a:pathLst>
            </a:custGeom>
            <a:blipFill>
              <a:blip r:embed="rId4"/>
              <a:stretch>
                <a:fillRect l="-22"/>
              </a:stretch>
            </a:blipFill>
          </p:spPr>
          <p:txBody>
            <a:bodyPr/>
            <a:lstStyle/>
            <a:p>
              <a:endParaRPr lang="en-SG"/>
            </a:p>
          </p:txBody>
        </p:sp>
      </p:grpSp>
      <p:grpSp>
        <p:nvGrpSpPr>
          <p:cNvPr id="13" name="Group 13"/>
          <p:cNvGrpSpPr/>
          <p:nvPr/>
        </p:nvGrpSpPr>
        <p:grpSpPr>
          <a:xfrm>
            <a:off x="2290572" y="2462784"/>
            <a:ext cx="6758940" cy="118872"/>
            <a:chOff x="0" y="0"/>
            <a:chExt cx="9011920" cy="158496"/>
          </a:xfrm>
        </p:grpSpPr>
        <p:sp>
          <p:nvSpPr>
            <p:cNvPr id="14" name="Freeform 14"/>
            <p:cNvSpPr/>
            <p:nvPr/>
          </p:nvSpPr>
          <p:spPr>
            <a:xfrm>
              <a:off x="0" y="0"/>
              <a:ext cx="9011920" cy="158496"/>
            </a:xfrm>
            <a:custGeom>
              <a:avLst/>
              <a:gdLst/>
              <a:ahLst/>
              <a:cxnLst/>
              <a:rect l="l" t="t" r="r" b="b"/>
              <a:pathLst>
                <a:path w="9011920" h="158496">
                  <a:moveTo>
                    <a:pt x="0" y="0"/>
                  </a:moveTo>
                  <a:lnTo>
                    <a:pt x="9011920" y="0"/>
                  </a:lnTo>
                  <a:lnTo>
                    <a:pt x="9011920" y="158496"/>
                  </a:lnTo>
                  <a:lnTo>
                    <a:pt x="0" y="158496"/>
                  </a:lnTo>
                  <a:lnTo>
                    <a:pt x="0" y="0"/>
                  </a:lnTo>
                  <a:close/>
                </a:path>
              </a:pathLst>
            </a:custGeom>
            <a:blipFill>
              <a:blip r:embed="rId4"/>
              <a:stretch>
                <a:fillRect l="-22"/>
              </a:stretch>
            </a:blipFill>
          </p:spPr>
          <p:txBody>
            <a:bodyPr/>
            <a:lstStyle/>
            <a:p>
              <a:endParaRPr lang="en-SG"/>
            </a:p>
          </p:txBody>
        </p:sp>
      </p:grpSp>
      <p:grpSp>
        <p:nvGrpSpPr>
          <p:cNvPr id="15" name="Group 15"/>
          <p:cNvGrpSpPr/>
          <p:nvPr/>
        </p:nvGrpSpPr>
        <p:grpSpPr>
          <a:xfrm>
            <a:off x="2290572" y="2578608"/>
            <a:ext cx="6758940" cy="118872"/>
            <a:chOff x="0" y="0"/>
            <a:chExt cx="9011920" cy="158496"/>
          </a:xfrm>
        </p:grpSpPr>
        <p:sp>
          <p:nvSpPr>
            <p:cNvPr id="16" name="Freeform 16"/>
            <p:cNvSpPr/>
            <p:nvPr/>
          </p:nvSpPr>
          <p:spPr>
            <a:xfrm>
              <a:off x="0" y="0"/>
              <a:ext cx="9011920" cy="158496"/>
            </a:xfrm>
            <a:custGeom>
              <a:avLst/>
              <a:gdLst/>
              <a:ahLst/>
              <a:cxnLst/>
              <a:rect l="l" t="t" r="r" b="b"/>
              <a:pathLst>
                <a:path w="9011920" h="158496">
                  <a:moveTo>
                    <a:pt x="0" y="0"/>
                  </a:moveTo>
                  <a:lnTo>
                    <a:pt x="9011920" y="0"/>
                  </a:lnTo>
                  <a:lnTo>
                    <a:pt x="9011920" y="158496"/>
                  </a:lnTo>
                  <a:lnTo>
                    <a:pt x="0" y="158496"/>
                  </a:lnTo>
                  <a:lnTo>
                    <a:pt x="0" y="0"/>
                  </a:lnTo>
                  <a:close/>
                </a:path>
              </a:pathLst>
            </a:custGeom>
            <a:blipFill>
              <a:blip r:embed="rId4"/>
              <a:stretch>
                <a:fillRect l="-22"/>
              </a:stretch>
            </a:blipFill>
          </p:spPr>
          <p:txBody>
            <a:bodyPr/>
            <a:lstStyle/>
            <a:p>
              <a:endParaRPr lang="en-SG"/>
            </a:p>
          </p:txBody>
        </p:sp>
      </p:grpSp>
      <p:grpSp>
        <p:nvGrpSpPr>
          <p:cNvPr id="17" name="Group 17"/>
          <p:cNvGrpSpPr/>
          <p:nvPr/>
        </p:nvGrpSpPr>
        <p:grpSpPr>
          <a:xfrm>
            <a:off x="2290572" y="2694432"/>
            <a:ext cx="6758940" cy="118872"/>
            <a:chOff x="0" y="0"/>
            <a:chExt cx="9011920" cy="158496"/>
          </a:xfrm>
        </p:grpSpPr>
        <p:sp>
          <p:nvSpPr>
            <p:cNvPr id="18" name="Freeform 18"/>
            <p:cNvSpPr/>
            <p:nvPr/>
          </p:nvSpPr>
          <p:spPr>
            <a:xfrm>
              <a:off x="0" y="0"/>
              <a:ext cx="9011920" cy="158496"/>
            </a:xfrm>
            <a:custGeom>
              <a:avLst/>
              <a:gdLst/>
              <a:ahLst/>
              <a:cxnLst/>
              <a:rect l="l" t="t" r="r" b="b"/>
              <a:pathLst>
                <a:path w="9011920" h="158496">
                  <a:moveTo>
                    <a:pt x="0" y="0"/>
                  </a:moveTo>
                  <a:lnTo>
                    <a:pt x="9011920" y="0"/>
                  </a:lnTo>
                  <a:lnTo>
                    <a:pt x="9011920" y="158496"/>
                  </a:lnTo>
                  <a:lnTo>
                    <a:pt x="0" y="158496"/>
                  </a:lnTo>
                  <a:lnTo>
                    <a:pt x="0" y="0"/>
                  </a:lnTo>
                  <a:close/>
                </a:path>
              </a:pathLst>
            </a:custGeom>
            <a:blipFill>
              <a:blip r:embed="rId5"/>
              <a:stretch>
                <a:fillRect l="-22"/>
              </a:stretch>
            </a:blipFill>
          </p:spPr>
          <p:txBody>
            <a:bodyPr/>
            <a:lstStyle/>
            <a:p>
              <a:endParaRPr lang="en-SG"/>
            </a:p>
          </p:txBody>
        </p:sp>
      </p:grpSp>
      <p:grpSp>
        <p:nvGrpSpPr>
          <p:cNvPr id="19" name="Group 19"/>
          <p:cNvGrpSpPr/>
          <p:nvPr/>
        </p:nvGrpSpPr>
        <p:grpSpPr>
          <a:xfrm>
            <a:off x="2290572" y="2810256"/>
            <a:ext cx="6758940" cy="118872"/>
            <a:chOff x="0" y="0"/>
            <a:chExt cx="9011920" cy="158496"/>
          </a:xfrm>
        </p:grpSpPr>
        <p:sp>
          <p:nvSpPr>
            <p:cNvPr id="20" name="Freeform 20"/>
            <p:cNvSpPr/>
            <p:nvPr/>
          </p:nvSpPr>
          <p:spPr>
            <a:xfrm>
              <a:off x="0" y="0"/>
              <a:ext cx="9011920" cy="158496"/>
            </a:xfrm>
            <a:custGeom>
              <a:avLst/>
              <a:gdLst/>
              <a:ahLst/>
              <a:cxnLst/>
              <a:rect l="l" t="t" r="r" b="b"/>
              <a:pathLst>
                <a:path w="9011920" h="158496">
                  <a:moveTo>
                    <a:pt x="0" y="0"/>
                  </a:moveTo>
                  <a:lnTo>
                    <a:pt x="9011920" y="0"/>
                  </a:lnTo>
                  <a:lnTo>
                    <a:pt x="9011920" y="158496"/>
                  </a:lnTo>
                  <a:lnTo>
                    <a:pt x="0" y="158496"/>
                  </a:lnTo>
                  <a:lnTo>
                    <a:pt x="0" y="0"/>
                  </a:lnTo>
                  <a:close/>
                </a:path>
              </a:pathLst>
            </a:custGeom>
            <a:blipFill>
              <a:blip r:embed="rId6"/>
              <a:stretch>
                <a:fillRect l="-22"/>
              </a:stretch>
            </a:blipFill>
          </p:spPr>
          <p:txBody>
            <a:bodyPr/>
            <a:lstStyle/>
            <a:p>
              <a:endParaRPr lang="en-SG"/>
            </a:p>
          </p:txBody>
        </p:sp>
      </p:grpSp>
      <p:grpSp>
        <p:nvGrpSpPr>
          <p:cNvPr id="21" name="Group 21"/>
          <p:cNvGrpSpPr/>
          <p:nvPr/>
        </p:nvGrpSpPr>
        <p:grpSpPr>
          <a:xfrm>
            <a:off x="2290572" y="2926080"/>
            <a:ext cx="6758940" cy="118872"/>
            <a:chOff x="0" y="0"/>
            <a:chExt cx="9011920" cy="158496"/>
          </a:xfrm>
        </p:grpSpPr>
        <p:sp>
          <p:nvSpPr>
            <p:cNvPr id="22" name="Freeform 22"/>
            <p:cNvSpPr/>
            <p:nvPr/>
          </p:nvSpPr>
          <p:spPr>
            <a:xfrm>
              <a:off x="0" y="0"/>
              <a:ext cx="9011920" cy="158496"/>
            </a:xfrm>
            <a:custGeom>
              <a:avLst/>
              <a:gdLst/>
              <a:ahLst/>
              <a:cxnLst/>
              <a:rect l="l" t="t" r="r" b="b"/>
              <a:pathLst>
                <a:path w="9011920" h="158496">
                  <a:moveTo>
                    <a:pt x="0" y="0"/>
                  </a:moveTo>
                  <a:lnTo>
                    <a:pt x="9011920" y="0"/>
                  </a:lnTo>
                  <a:lnTo>
                    <a:pt x="9011920" y="158496"/>
                  </a:lnTo>
                  <a:lnTo>
                    <a:pt x="0" y="158496"/>
                  </a:lnTo>
                  <a:lnTo>
                    <a:pt x="0" y="0"/>
                  </a:lnTo>
                  <a:close/>
                </a:path>
              </a:pathLst>
            </a:custGeom>
            <a:blipFill>
              <a:blip r:embed="rId7"/>
              <a:stretch>
                <a:fillRect l="-22"/>
              </a:stretch>
            </a:blipFill>
          </p:spPr>
          <p:txBody>
            <a:bodyPr/>
            <a:lstStyle/>
            <a:p>
              <a:endParaRPr lang="en-SG"/>
            </a:p>
          </p:txBody>
        </p:sp>
      </p:grpSp>
      <p:grpSp>
        <p:nvGrpSpPr>
          <p:cNvPr id="23" name="Group 23"/>
          <p:cNvGrpSpPr/>
          <p:nvPr/>
        </p:nvGrpSpPr>
        <p:grpSpPr>
          <a:xfrm>
            <a:off x="2290572" y="3041904"/>
            <a:ext cx="6758940" cy="118872"/>
            <a:chOff x="0" y="0"/>
            <a:chExt cx="9011920" cy="158496"/>
          </a:xfrm>
        </p:grpSpPr>
        <p:sp>
          <p:nvSpPr>
            <p:cNvPr id="24" name="Freeform 24"/>
            <p:cNvSpPr/>
            <p:nvPr/>
          </p:nvSpPr>
          <p:spPr>
            <a:xfrm>
              <a:off x="0" y="0"/>
              <a:ext cx="9011920" cy="158496"/>
            </a:xfrm>
            <a:custGeom>
              <a:avLst/>
              <a:gdLst/>
              <a:ahLst/>
              <a:cxnLst/>
              <a:rect l="l" t="t" r="r" b="b"/>
              <a:pathLst>
                <a:path w="9011920" h="158496">
                  <a:moveTo>
                    <a:pt x="0" y="0"/>
                  </a:moveTo>
                  <a:lnTo>
                    <a:pt x="9011920" y="0"/>
                  </a:lnTo>
                  <a:lnTo>
                    <a:pt x="9011920" y="158496"/>
                  </a:lnTo>
                  <a:lnTo>
                    <a:pt x="0" y="158496"/>
                  </a:lnTo>
                  <a:lnTo>
                    <a:pt x="0" y="0"/>
                  </a:lnTo>
                  <a:close/>
                </a:path>
              </a:pathLst>
            </a:custGeom>
            <a:blipFill>
              <a:blip r:embed="rId8"/>
              <a:stretch>
                <a:fillRect l="-22"/>
              </a:stretch>
            </a:blipFill>
          </p:spPr>
          <p:txBody>
            <a:bodyPr/>
            <a:lstStyle/>
            <a:p>
              <a:endParaRPr lang="en-SG"/>
            </a:p>
          </p:txBody>
        </p:sp>
      </p:grpSp>
      <p:grpSp>
        <p:nvGrpSpPr>
          <p:cNvPr id="25" name="Group 25"/>
          <p:cNvGrpSpPr/>
          <p:nvPr/>
        </p:nvGrpSpPr>
        <p:grpSpPr>
          <a:xfrm>
            <a:off x="2290572" y="3157728"/>
            <a:ext cx="6758940" cy="118872"/>
            <a:chOff x="0" y="0"/>
            <a:chExt cx="9011920" cy="158496"/>
          </a:xfrm>
        </p:grpSpPr>
        <p:sp>
          <p:nvSpPr>
            <p:cNvPr id="26" name="Freeform 26"/>
            <p:cNvSpPr/>
            <p:nvPr/>
          </p:nvSpPr>
          <p:spPr>
            <a:xfrm>
              <a:off x="0" y="0"/>
              <a:ext cx="9011920" cy="158496"/>
            </a:xfrm>
            <a:custGeom>
              <a:avLst/>
              <a:gdLst/>
              <a:ahLst/>
              <a:cxnLst/>
              <a:rect l="l" t="t" r="r" b="b"/>
              <a:pathLst>
                <a:path w="9011920" h="158496">
                  <a:moveTo>
                    <a:pt x="0" y="0"/>
                  </a:moveTo>
                  <a:lnTo>
                    <a:pt x="9011920" y="0"/>
                  </a:lnTo>
                  <a:lnTo>
                    <a:pt x="9011920" y="158496"/>
                  </a:lnTo>
                  <a:lnTo>
                    <a:pt x="0" y="158496"/>
                  </a:lnTo>
                  <a:lnTo>
                    <a:pt x="0" y="0"/>
                  </a:lnTo>
                  <a:close/>
                </a:path>
              </a:pathLst>
            </a:custGeom>
            <a:blipFill>
              <a:blip r:embed="rId9"/>
              <a:stretch>
                <a:fillRect l="-22"/>
              </a:stretch>
            </a:blipFill>
          </p:spPr>
          <p:txBody>
            <a:bodyPr/>
            <a:lstStyle/>
            <a:p>
              <a:endParaRPr lang="en-SG"/>
            </a:p>
          </p:txBody>
        </p:sp>
      </p:grpSp>
      <p:grpSp>
        <p:nvGrpSpPr>
          <p:cNvPr id="27" name="Group 27"/>
          <p:cNvGrpSpPr/>
          <p:nvPr/>
        </p:nvGrpSpPr>
        <p:grpSpPr>
          <a:xfrm>
            <a:off x="2290572" y="3273552"/>
            <a:ext cx="6758940" cy="118872"/>
            <a:chOff x="0" y="0"/>
            <a:chExt cx="9011920" cy="158496"/>
          </a:xfrm>
        </p:grpSpPr>
        <p:sp>
          <p:nvSpPr>
            <p:cNvPr id="28" name="Freeform 28"/>
            <p:cNvSpPr/>
            <p:nvPr/>
          </p:nvSpPr>
          <p:spPr>
            <a:xfrm>
              <a:off x="0" y="0"/>
              <a:ext cx="9011920" cy="158496"/>
            </a:xfrm>
            <a:custGeom>
              <a:avLst/>
              <a:gdLst/>
              <a:ahLst/>
              <a:cxnLst/>
              <a:rect l="l" t="t" r="r" b="b"/>
              <a:pathLst>
                <a:path w="9011920" h="158496">
                  <a:moveTo>
                    <a:pt x="0" y="0"/>
                  </a:moveTo>
                  <a:lnTo>
                    <a:pt x="9011920" y="0"/>
                  </a:lnTo>
                  <a:lnTo>
                    <a:pt x="9011920" y="158496"/>
                  </a:lnTo>
                  <a:lnTo>
                    <a:pt x="0" y="158496"/>
                  </a:lnTo>
                  <a:lnTo>
                    <a:pt x="0" y="0"/>
                  </a:lnTo>
                  <a:close/>
                </a:path>
              </a:pathLst>
            </a:custGeom>
            <a:blipFill>
              <a:blip r:embed="rId10"/>
              <a:stretch>
                <a:fillRect l="-22"/>
              </a:stretch>
            </a:blipFill>
          </p:spPr>
          <p:txBody>
            <a:bodyPr/>
            <a:lstStyle/>
            <a:p>
              <a:endParaRPr lang="en-SG"/>
            </a:p>
          </p:txBody>
        </p:sp>
      </p:grpSp>
      <p:grpSp>
        <p:nvGrpSpPr>
          <p:cNvPr id="29" name="Group 29"/>
          <p:cNvGrpSpPr/>
          <p:nvPr/>
        </p:nvGrpSpPr>
        <p:grpSpPr>
          <a:xfrm>
            <a:off x="2290572" y="3389376"/>
            <a:ext cx="6758940" cy="118872"/>
            <a:chOff x="0" y="0"/>
            <a:chExt cx="9011920" cy="158496"/>
          </a:xfrm>
        </p:grpSpPr>
        <p:sp>
          <p:nvSpPr>
            <p:cNvPr id="30" name="Freeform 30"/>
            <p:cNvSpPr/>
            <p:nvPr/>
          </p:nvSpPr>
          <p:spPr>
            <a:xfrm>
              <a:off x="0" y="0"/>
              <a:ext cx="9011920" cy="158496"/>
            </a:xfrm>
            <a:custGeom>
              <a:avLst/>
              <a:gdLst/>
              <a:ahLst/>
              <a:cxnLst/>
              <a:rect l="l" t="t" r="r" b="b"/>
              <a:pathLst>
                <a:path w="9011920" h="158496">
                  <a:moveTo>
                    <a:pt x="0" y="0"/>
                  </a:moveTo>
                  <a:lnTo>
                    <a:pt x="9011920" y="0"/>
                  </a:lnTo>
                  <a:lnTo>
                    <a:pt x="9011920" y="158496"/>
                  </a:lnTo>
                  <a:lnTo>
                    <a:pt x="0" y="158496"/>
                  </a:lnTo>
                  <a:lnTo>
                    <a:pt x="0" y="0"/>
                  </a:lnTo>
                  <a:close/>
                </a:path>
              </a:pathLst>
            </a:custGeom>
            <a:blipFill>
              <a:blip r:embed="rId11"/>
              <a:stretch>
                <a:fillRect l="-22"/>
              </a:stretch>
            </a:blipFill>
          </p:spPr>
          <p:txBody>
            <a:bodyPr/>
            <a:lstStyle/>
            <a:p>
              <a:endParaRPr lang="en-SG"/>
            </a:p>
          </p:txBody>
        </p:sp>
      </p:grpSp>
      <p:grpSp>
        <p:nvGrpSpPr>
          <p:cNvPr id="31" name="Group 31"/>
          <p:cNvGrpSpPr/>
          <p:nvPr/>
        </p:nvGrpSpPr>
        <p:grpSpPr>
          <a:xfrm>
            <a:off x="2290572" y="3505200"/>
            <a:ext cx="6758940" cy="118872"/>
            <a:chOff x="0" y="0"/>
            <a:chExt cx="9011920" cy="158496"/>
          </a:xfrm>
        </p:grpSpPr>
        <p:sp>
          <p:nvSpPr>
            <p:cNvPr id="32" name="Freeform 32"/>
            <p:cNvSpPr/>
            <p:nvPr/>
          </p:nvSpPr>
          <p:spPr>
            <a:xfrm>
              <a:off x="0" y="0"/>
              <a:ext cx="9011920" cy="158496"/>
            </a:xfrm>
            <a:custGeom>
              <a:avLst/>
              <a:gdLst/>
              <a:ahLst/>
              <a:cxnLst/>
              <a:rect l="l" t="t" r="r" b="b"/>
              <a:pathLst>
                <a:path w="9011920" h="158496">
                  <a:moveTo>
                    <a:pt x="0" y="0"/>
                  </a:moveTo>
                  <a:lnTo>
                    <a:pt x="9011920" y="0"/>
                  </a:lnTo>
                  <a:lnTo>
                    <a:pt x="9011920" y="158496"/>
                  </a:lnTo>
                  <a:lnTo>
                    <a:pt x="0" y="158496"/>
                  </a:lnTo>
                  <a:lnTo>
                    <a:pt x="0" y="0"/>
                  </a:lnTo>
                  <a:close/>
                </a:path>
              </a:pathLst>
            </a:custGeom>
            <a:blipFill>
              <a:blip r:embed="rId12"/>
              <a:stretch>
                <a:fillRect l="-22"/>
              </a:stretch>
            </a:blipFill>
          </p:spPr>
          <p:txBody>
            <a:bodyPr/>
            <a:lstStyle/>
            <a:p>
              <a:endParaRPr lang="en-SG"/>
            </a:p>
          </p:txBody>
        </p:sp>
      </p:grpSp>
      <p:grpSp>
        <p:nvGrpSpPr>
          <p:cNvPr id="33" name="Group 33"/>
          <p:cNvGrpSpPr/>
          <p:nvPr/>
        </p:nvGrpSpPr>
        <p:grpSpPr>
          <a:xfrm>
            <a:off x="2290572" y="3621024"/>
            <a:ext cx="6758940" cy="118872"/>
            <a:chOff x="0" y="0"/>
            <a:chExt cx="9011920" cy="158496"/>
          </a:xfrm>
        </p:grpSpPr>
        <p:sp>
          <p:nvSpPr>
            <p:cNvPr id="34" name="Freeform 34"/>
            <p:cNvSpPr/>
            <p:nvPr/>
          </p:nvSpPr>
          <p:spPr>
            <a:xfrm>
              <a:off x="0" y="0"/>
              <a:ext cx="9011920" cy="158496"/>
            </a:xfrm>
            <a:custGeom>
              <a:avLst/>
              <a:gdLst/>
              <a:ahLst/>
              <a:cxnLst/>
              <a:rect l="l" t="t" r="r" b="b"/>
              <a:pathLst>
                <a:path w="9011920" h="158496">
                  <a:moveTo>
                    <a:pt x="0" y="0"/>
                  </a:moveTo>
                  <a:lnTo>
                    <a:pt x="9011920" y="0"/>
                  </a:lnTo>
                  <a:lnTo>
                    <a:pt x="9011920" y="158496"/>
                  </a:lnTo>
                  <a:lnTo>
                    <a:pt x="0" y="158496"/>
                  </a:lnTo>
                  <a:lnTo>
                    <a:pt x="0" y="0"/>
                  </a:lnTo>
                  <a:close/>
                </a:path>
              </a:pathLst>
            </a:custGeom>
            <a:blipFill>
              <a:blip r:embed="rId13"/>
              <a:stretch>
                <a:fillRect l="-22"/>
              </a:stretch>
            </a:blipFill>
          </p:spPr>
          <p:txBody>
            <a:bodyPr/>
            <a:lstStyle/>
            <a:p>
              <a:endParaRPr lang="en-SG"/>
            </a:p>
          </p:txBody>
        </p:sp>
      </p:grpSp>
      <p:grpSp>
        <p:nvGrpSpPr>
          <p:cNvPr id="35" name="Group 35"/>
          <p:cNvGrpSpPr/>
          <p:nvPr/>
        </p:nvGrpSpPr>
        <p:grpSpPr>
          <a:xfrm>
            <a:off x="2290572" y="3736848"/>
            <a:ext cx="6758940" cy="118872"/>
            <a:chOff x="0" y="0"/>
            <a:chExt cx="9011920" cy="158496"/>
          </a:xfrm>
        </p:grpSpPr>
        <p:sp>
          <p:nvSpPr>
            <p:cNvPr id="36" name="Freeform 36"/>
            <p:cNvSpPr/>
            <p:nvPr/>
          </p:nvSpPr>
          <p:spPr>
            <a:xfrm>
              <a:off x="0" y="0"/>
              <a:ext cx="9011920" cy="158496"/>
            </a:xfrm>
            <a:custGeom>
              <a:avLst/>
              <a:gdLst/>
              <a:ahLst/>
              <a:cxnLst/>
              <a:rect l="l" t="t" r="r" b="b"/>
              <a:pathLst>
                <a:path w="9011920" h="158496">
                  <a:moveTo>
                    <a:pt x="0" y="0"/>
                  </a:moveTo>
                  <a:lnTo>
                    <a:pt x="9011920" y="0"/>
                  </a:lnTo>
                  <a:lnTo>
                    <a:pt x="9011920" y="158496"/>
                  </a:lnTo>
                  <a:lnTo>
                    <a:pt x="0" y="158496"/>
                  </a:lnTo>
                  <a:lnTo>
                    <a:pt x="0" y="0"/>
                  </a:lnTo>
                  <a:close/>
                </a:path>
              </a:pathLst>
            </a:custGeom>
            <a:blipFill>
              <a:blip r:embed="rId14"/>
              <a:stretch>
                <a:fillRect l="-22"/>
              </a:stretch>
            </a:blipFill>
          </p:spPr>
          <p:txBody>
            <a:bodyPr/>
            <a:lstStyle/>
            <a:p>
              <a:endParaRPr lang="en-SG"/>
            </a:p>
          </p:txBody>
        </p:sp>
      </p:grpSp>
      <p:grpSp>
        <p:nvGrpSpPr>
          <p:cNvPr id="37" name="Group 37"/>
          <p:cNvGrpSpPr/>
          <p:nvPr/>
        </p:nvGrpSpPr>
        <p:grpSpPr>
          <a:xfrm>
            <a:off x="2290572" y="3852672"/>
            <a:ext cx="6758940" cy="118872"/>
            <a:chOff x="0" y="0"/>
            <a:chExt cx="9011920" cy="158496"/>
          </a:xfrm>
        </p:grpSpPr>
        <p:sp>
          <p:nvSpPr>
            <p:cNvPr id="38" name="Freeform 38"/>
            <p:cNvSpPr/>
            <p:nvPr/>
          </p:nvSpPr>
          <p:spPr>
            <a:xfrm>
              <a:off x="0" y="0"/>
              <a:ext cx="9011920" cy="158496"/>
            </a:xfrm>
            <a:custGeom>
              <a:avLst/>
              <a:gdLst/>
              <a:ahLst/>
              <a:cxnLst/>
              <a:rect l="l" t="t" r="r" b="b"/>
              <a:pathLst>
                <a:path w="9011920" h="158496">
                  <a:moveTo>
                    <a:pt x="0" y="0"/>
                  </a:moveTo>
                  <a:lnTo>
                    <a:pt x="9011920" y="0"/>
                  </a:lnTo>
                  <a:lnTo>
                    <a:pt x="9011920" y="158496"/>
                  </a:lnTo>
                  <a:lnTo>
                    <a:pt x="0" y="158496"/>
                  </a:lnTo>
                  <a:lnTo>
                    <a:pt x="0" y="0"/>
                  </a:lnTo>
                  <a:close/>
                </a:path>
              </a:pathLst>
            </a:custGeom>
            <a:blipFill>
              <a:blip r:embed="rId15"/>
              <a:stretch>
                <a:fillRect l="-22"/>
              </a:stretch>
            </a:blipFill>
          </p:spPr>
          <p:txBody>
            <a:bodyPr/>
            <a:lstStyle/>
            <a:p>
              <a:endParaRPr lang="en-SG"/>
            </a:p>
          </p:txBody>
        </p:sp>
      </p:grpSp>
      <p:grpSp>
        <p:nvGrpSpPr>
          <p:cNvPr id="39" name="Group 39"/>
          <p:cNvGrpSpPr/>
          <p:nvPr/>
        </p:nvGrpSpPr>
        <p:grpSpPr>
          <a:xfrm>
            <a:off x="2290572" y="3968496"/>
            <a:ext cx="6758940" cy="118872"/>
            <a:chOff x="0" y="0"/>
            <a:chExt cx="9011920" cy="158496"/>
          </a:xfrm>
        </p:grpSpPr>
        <p:sp>
          <p:nvSpPr>
            <p:cNvPr id="40" name="Freeform 40"/>
            <p:cNvSpPr/>
            <p:nvPr/>
          </p:nvSpPr>
          <p:spPr>
            <a:xfrm>
              <a:off x="0" y="0"/>
              <a:ext cx="9011920" cy="158496"/>
            </a:xfrm>
            <a:custGeom>
              <a:avLst/>
              <a:gdLst/>
              <a:ahLst/>
              <a:cxnLst/>
              <a:rect l="l" t="t" r="r" b="b"/>
              <a:pathLst>
                <a:path w="9011920" h="158496">
                  <a:moveTo>
                    <a:pt x="0" y="0"/>
                  </a:moveTo>
                  <a:lnTo>
                    <a:pt x="9011920" y="0"/>
                  </a:lnTo>
                  <a:lnTo>
                    <a:pt x="9011920" y="158496"/>
                  </a:lnTo>
                  <a:lnTo>
                    <a:pt x="0" y="158496"/>
                  </a:lnTo>
                  <a:lnTo>
                    <a:pt x="0" y="0"/>
                  </a:lnTo>
                  <a:close/>
                </a:path>
              </a:pathLst>
            </a:custGeom>
            <a:blipFill>
              <a:blip r:embed="rId16"/>
              <a:stretch>
                <a:fillRect l="-22"/>
              </a:stretch>
            </a:blipFill>
          </p:spPr>
          <p:txBody>
            <a:bodyPr/>
            <a:lstStyle/>
            <a:p>
              <a:endParaRPr lang="en-SG"/>
            </a:p>
          </p:txBody>
        </p:sp>
      </p:grpSp>
      <p:grpSp>
        <p:nvGrpSpPr>
          <p:cNvPr id="41" name="Group 41"/>
          <p:cNvGrpSpPr/>
          <p:nvPr/>
        </p:nvGrpSpPr>
        <p:grpSpPr>
          <a:xfrm>
            <a:off x="2290572" y="4084320"/>
            <a:ext cx="6758940" cy="118872"/>
            <a:chOff x="0" y="0"/>
            <a:chExt cx="9011920" cy="158496"/>
          </a:xfrm>
        </p:grpSpPr>
        <p:sp>
          <p:nvSpPr>
            <p:cNvPr id="42" name="Freeform 42"/>
            <p:cNvSpPr/>
            <p:nvPr/>
          </p:nvSpPr>
          <p:spPr>
            <a:xfrm>
              <a:off x="0" y="0"/>
              <a:ext cx="9011920" cy="158496"/>
            </a:xfrm>
            <a:custGeom>
              <a:avLst/>
              <a:gdLst/>
              <a:ahLst/>
              <a:cxnLst/>
              <a:rect l="l" t="t" r="r" b="b"/>
              <a:pathLst>
                <a:path w="9011920" h="158496">
                  <a:moveTo>
                    <a:pt x="0" y="0"/>
                  </a:moveTo>
                  <a:lnTo>
                    <a:pt x="9011920" y="0"/>
                  </a:lnTo>
                  <a:lnTo>
                    <a:pt x="9011920" y="158496"/>
                  </a:lnTo>
                  <a:lnTo>
                    <a:pt x="0" y="158496"/>
                  </a:lnTo>
                  <a:lnTo>
                    <a:pt x="0" y="0"/>
                  </a:lnTo>
                  <a:close/>
                </a:path>
              </a:pathLst>
            </a:custGeom>
            <a:blipFill>
              <a:blip r:embed="rId17"/>
              <a:stretch>
                <a:fillRect l="-22"/>
              </a:stretch>
            </a:blipFill>
          </p:spPr>
          <p:txBody>
            <a:bodyPr/>
            <a:lstStyle/>
            <a:p>
              <a:endParaRPr lang="en-SG"/>
            </a:p>
          </p:txBody>
        </p:sp>
      </p:grpSp>
      <p:grpSp>
        <p:nvGrpSpPr>
          <p:cNvPr id="43" name="Group 43"/>
          <p:cNvGrpSpPr/>
          <p:nvPr/>
        </p:nvGrpSpPr>
        <p:grpSpPr>
          <a:xfrm>
            <a:off x="2290572" y="4200144"/>
            <a:ext cx="6758940" cy="118872"/>
            <a:chOff x="0" y="0"/>
            <a:chExt cx="9011920" cy="158496"/>
          </a:xfrm>
        </p:grpSpPr>
        <p:sp>
          <p:nvSpPr>
            <p:cNvPr id="44" name="Freeform 44"/>
            <p:cNvSpPr/>
            <p:nvPr/>
          </p:nvSpPr>
          <p:spPr>
            <a:xfrm>
              <a:off x="0" y="0"/>
              <a:ext cx="9011920" cy="158496"/>
            </a:xfrm>
            <a:custGeom>
              <a:avLst/>
              <a:gdLst/>
              <a:ahLst/>
              <a:cxnLst/>
              <a:rect l="l" t="t" r="r" b="b"/>
              <a:pathLst>
                <a:path w="9011920" h="158496">
                  <a:moveTo>
                    <a:pt x="0" y="0"/>
                  </a:moveTo>
                  <a:lnTo>
                    <a:pt x="9011920" y="0"/>
                  </a:lnTo>
                  <a:lnTo>
                    <a:pt x="9011920" y="158496"/>
                  </a:lnTo>
                  <a:lnTo>
                    <a:pt x="0" y="158496"/>
                  </a:lnTo>
                  <a:lnTo>
                    <a:pt x="0" y="0"/>
                  </a:lnTo>
                  <a:close/>
                </a:path>
              </a:pathLst>
            </a:custGeom>
            <a:blipFill>
              <a:blip r:embed="rId18"/>
              <a:stretch>
                <a:fillRect l="-22"/>
              </a:stretch>
            </a:blipFill>
          </p:spPr>
          <p:txBody>
            <a:bodyPr/>
            <a:lstStyle/>
            <a:p>
              <a:endParaRPr lang="en-SG"/>
            </a:p>
          </p:txBody>
        </p:sp>
      </p:grpSp>
      <p:grpSp>
        <p:nvGrpSpPr>
          <p:cNvPr id="45" name="Group 45"/>
          <p:cNvGrpSpPr/>
          <p:nvPr/>
        </p:nvGrpSpPr>
        <p:grpSpPr>
          <a:xfrm>
            <a:off x="2290572" y="4315968"/>
            <a:ext cx="6758940" cy="118872"/>
            <a:chOff x="0" y="0"/>
            <a:chExt cx="9011920" cy="158496"/>
          </a:xfrm>
        </p:grpSpPr>
        <p:sp>
          <p:nvSpPr>
            <p:cNvPr id="46" name="Freeform 46"/>
            <p:cNvSpPr/>
            <p:nvPr/>
          </p:nvSpPr>
          <p:spPr>
            <a:xfrm>
              <a:off x="0" y="0"/>
              <a:ext cx="9011920" cy="158496"/>
            </a:xfrm>
            <a:custGeom>
              <a:avLst/>
              <a:gdLst/>
              <a:ahLst/>
              <a:cxnLst/>
              <a:rect l="l" t="t" r="r" b="b"/>
              <a:pathLst>
                <a:path w="9011920" h="158496">
                  <a:moveTo>
                    <a:pt x="0" y="0"/>
                  </a:moveTo>
                  <a:lnTo>
                    <a:pt x="9011920" y="0"/>
                  </a:lnTo>
                  <a:lnTo>
                    <a:pt x="9011920" y="158496"/>
                  </a:lnTo>
                  <a:lnTo>
                    <a:pt x="0" y="158496"/>
                  </a:lnTo>
                  <a:lnTo>
                    <a:pt x="0" y="0"/>
                  </a:lnTo>
                  <a:close/>
                </a:path>
              </a:pathLst>
            </a:custGeom>
            <a:blipFill>
              <a:blip r:embed="rId19"/>
              <a:stretch>
                <a:fillRect l="-22"/>
              </a:stretch>
            </a:blipFill>
          </p:spPr>
          <p:txBody>
            <a:bodyPr/>
            <a:lstStyle/>
            <a:p>
              <a:endParaRPr lang="en-SG"/>
            </a:p>
          </p:txBody>
        </p:sp>
      </p:grpSp>
      <p:grpSp>
        <p:nvGrpSpPr>
          <p:cNvPr id="47" name="Group 47"/>
          <p:cNvGrpSpPr/>
          <p:nvPr/>
        </p:nvGrpSpPr>
        <p:grpSpPr>
          <a:xfrm>
            <a:off x="2290572" y="4431792"/>
            <a:ext cx="6758940" cy="118872"/>
            <a:chOff x="0" y="0"/>
            <a:chExt cx="9011920" cy="158496"/>
          </a:xfrm>
        </p:grpSpPr>
        <p:sp>
          <p:nvSpPr>
            <p:cNvPr id="48" name="Freeform 48"/>
            <p:cNvSpPr/>
            <p:nvPr/>
          </p:nvSpPr>
          <p:spPr>
            <a:xfrm>
              <a:off x="0" y="0"/>
              <a:ext cx="9011920" cy="158496"/>
            </a:xfrm>
            <a:custGeom>
              <a:avLst/>
              <a:gdLst/>
              <a:ahLst/>
              <a:cxnLst/>
              <a:rect l="l" t="t" r="r" b="b"/>
              <a:pathLst>
                <a:path w="9011920" h="158496">
                  <a:moveTo>
                    <a:pt x="0" y="0"/>
                  </a:moveTo>
                  <a:lnTo>
                    <a:pt x="9011920" y="0"/>
                  </a:lnTo>
                  <a:lnTo>
                    <a:pt x="9011920" y="158496"/>
                  </a:lnTo>
                  <a:lnTo>
                    <a:pt x="0" y="158496"/>
                  </a:lnTo>
                  <a:lnTo>
                    <a:pt x="0" y="0"/>
                  </a:lnTo>
                  <a:close/>
                </a:path>
              </a:pathLst>
            </a:custGeom>
            <a:blipFill>
              <a:blip r:embed="rId20"/>
              <a:stretch>
                <a:fillRect l="-22"/>
              </a:stretch>
            </a:blipFill>
          </p:spPr>
          <p:txBody>
            <a:bodyPr/>
            <a:lstStyle/>
            <a:p>
              <a:endParaRPr lang="en-SG"/>
            </a:p>
          </p:txBody>
        </p:sp>
      </p:grpSp>
      <p:grpSp>
        <p:nvGrpSpPr>
          <p:cNvPr id="49" name="Group 49"/>
          <p:cNvGrpSpPr/>
          <p:nvPr/>
        </p:nvGrpSpPr>
        <p:grpSpPr>
          <a:xfrm>
            <a:off x="2290572" y="4547616"/>
            <a:ext cx="6758940" cy="118872"/>
            <a:chOff x="0" y="0"/>
            <a:chExt cx="9011920" cy="158496"/>
          </a:xfrm>
        </p:grpSpPr>
        <p:sp>
          <p:nvSpPr>
            <p:cNvPr id="50" name="Freeform 50"/>
            <p:cNvSpPr/>
            <p:nvPr/>
          </p:nvSpPr>
          <p:spPr>
            <a:xfrm>
              <a:off x="0" y="0"/>
              <a:ext cx="9011920" cy="158496"/>
            </a:xfrm>
            <a:custGeom>
              <a:avLst/>
              <a:gdLst/>
              <a:ahLst/>
              <a:cxnLst/>
              <a:rect l="l" t="t" r="r" b="b"/>
              <a:pathLst>
                <a:path w="9011920" h="158496">
                  <a:moveTo>
                    <a:pt x="0" y="0"/>
                  </a:moveTo>
                  <a:lnTo>
                    <a:pt x="9011920" y="0"/>
                  </a:lnTo>
                  <a:lnTo>
                    <a:pt x="9011920" y="158496"/>
                  </a:lnTo>
                  <a:lnTo>
                    <a:pt x="0" y="158496"/>
                  </a:lnTo>
                  <a:lnTo>
                    <a:pt x="0" y="0"/>
                  </a:lnTo>
                  <a:close/>
                </a:path>
              </a:pathLst>
            </a:custGeom>
            <a:blipFill>
              <a:blip r:embed="rId21"/>
              <a:stretch>
                <a:fillRect l="-22"/>
              </a:stretch>
            </a:blipFill>
          </p:spPr>
          <p:txBody>
            <a:bodyPr/>
            <a:lstStyle/>
            <a:p>
              <a:endParaRPr lang="en-SG"/>
            </a:p>
          </p:txBody>
        </p:sp>
      </p:grpSp>
      <p:grpSp>
        <p:nvGrpSpPr>
          <p:cNvPr id="51" name="Group 51"/>
          <p:cNvGrpSpPr/>
          <p:nvPr/>
        </p:nvGrpSpPr>
        <p:grpSpPr>
          <a:xfrm>
            <a:off x="2290572" y="4663440"/>
            <a:ext cx="6758940" cy="118872"/>
            <a:chOff x="0" y="0"/>
            <a:chExt cx="9011920" cy="158496"/>
          </a:xfrm>
        </p:grpSpPr>
        <p:sp>
          <p:nvSpPr>
            <p:cNvPr id="52" name="Freeform 52"/>
            <p:cNvSpPr/>
            <p:nvPr/>
          </p:nvSpPr>
          <p:spPr>
            <a:xfrm>
              <a:off x="0" y="0"/>
              <a:ext cx="9011920" cy="158496"/>
            </a:xfrm>
            <a:custGeom>
              <a:avLst/>
              <a:gdLst/>
              <a:ahLst/>
              <a:cxnLst/>
              <a:rect l="l" t="t" r="r" b="b"/>
              <a:pathLst>
                <a:path w="9011920" h="158496">
                  <a:moveTo>
                    <a:pt x="0" y="0"/>
                  </a:moveTo>
                  <a:lnTo>
                    <a:pt x="9011920" y="0"/>
                  </a:lnTo>
                  <a:lnTo>
                    <a:pt x="9011920" y="158496"/>
                  </a:lnTo>
                  <a:lnTo>
                    <a:pt x="0" y="158496"/>
                  </a:lnTo>
                  <a:lnTo>
                    <a:pt x="0" y="0"/>
                  </a:lnTo>
                  <a:close/>
                </a:path>
              </a:pathLst>
            </a:custGeom>
            <a:blipFill>
              <a:blip r:embed="rId22"/>
              <a:stretch>
                <a:fillRect l="-22"/>
              </a:stretch>
            </a:blipFill>
          </p:spPr>
          <p:txBody>
            <a:bodyPr/>
            <a:lstStyle/>
            <a:p>
              <a:endParaRPr lang="en-SG"/>
            </a:p>
          </p:txBody>
        </p:sp>
      </p:grpSp>
      <p:grpSp>
        <p:nvGrpSpPr>
          <p:cNvPr id="53" name="Group 53"/>
          <p:cNvGrpSpPr/>
          <p:nvPr/>
        </p:nvGrpSpPr>
        <p:grpSpPr>
          <a:xfrm>
            <a:off x="2290572" y="4779264"/>
            <a:ext cx="6758940" cy="118872"/>
            <a:chOff x="0" y="0"/>
            <a:chExt cx="9011920" cy="158496"/>
          </a:xfrm>
        </p:grpSpPr>
        <p:sp>
          <p:nvSpPr>
            <p:cNvPr id="54" name="Freeform 54"/>
            <p:cNvSpPr/>
            <p:nvPr/>
          </p:nvSpPr>
          <p:spPr>
            <a:xfrm>
              <a:off x="0" y="0"/>
              <a:ext cx="9011920" cy="158496"/>
            </a:xfrm>
            <a:custGeom>
              <a:avLst/>
              <a:gdLst/>
              <a:ahLst/>
              <a:cxnLst/>
              <a:rect l="l" t="t" r="r" b="b"/>
              <a:pathLst>
                <a:path w="9011920" h="158496">
                  <a:moveTo>
                    <a:pt x="0" y="0"/>
                  </a:moveTo>
                  <a:lnTo>
                    <a:pt x="9011920" y="0"/>
                  </a:lnTo>
                  <a:lnTo>
                    <a:pt x="9011920" y="158496"/>
                  </a:lnTo>
                  <a:lnTo>
                    <a:pt x="0" y="158496"/>
                  </a:lnTo>
                  <a:lnTo>
                    <a:pt x="0" y="0"/>
                  </a:lnTo>
                  <a:close/>
                </a:path>
              </a:pathLst>
            </a:custGeom>
            <a:blipFill>
              <a:blip r:embed="rId23"/>
              <a:stretch>
                <a:fillRect l="-22"/>
              </a:stretch>
            </a:blipFill>
          </p:spPr>
          <p:txBody>
            <a:bodyPr/>
            <a:lstStyle/>
            <a:p>
              <a:endParaRPr lang="en-SG"/>
            </a:p>
          </p:txBody>
        </p:sp>
      </p:grpSp>
      <p:grpSp>
        <p:nvGrpSpPr>
          <p:cNvPr id="55" name="Group 55"/>
          <p:cNvGrpSpPr/>
          <p:nvPr/>
        </p:nvGrpSpPr>
        <p:grpSpPr>
          <a:xfrm>
            <a:off x="2290572" y="4895088"/>
            <a:ext cx="6758940" cy="118872"/>
            <a:chOff x="0" y="0"/>
            <a:chExt cx="9011920" cy="158496"/>
          </a:xfrm>
        </p:grpSpPr>
        <p:sp>
          <p:nvSpPr>
            <p:cNvPr id="56" name="Freeform 56"/>
            <p:cNvSpPr/>
            <p:nvPr/>
          </p:nvSpPr>
          <p:spPr>
            <a:xfrm>
              <a:off x="0" y="0"/>
              <a:ext cx="9011920" cy="158496"/>
            </a:xfrm>
            <a:custGeom>
              <a:avLst/>
              <a:gdLst/>
              <a:ahLst/>
              <a:cxnLst/>
              <a:rect l="l" t="t" r="r" b="b"/>
              <a:pathLst>
                <a:path w="9011920" h="158496">
                  <a:moveTo>
                    <a:pt x="0" y="0"/>
                  </a:moveTo>
                  <a:lnTo>
                    <a:pt x="9011920" y="0"/>
                  </a:lnTo>
                  <a:lnTo>
                    <a:pt x="9011920" y="158496"/>
                  </a:lnTo>
                  <a:lnTo>
                    <a:pt x="0" y="158496"/>
                  </a:lnTo>
                  <a:lnTo>
                    <a:pt x="0" y="0"/>
                  </a:lnTo>
                  <a:close/>
                </a:path>
              </a:pathLst>
            </a:custGeom>
            <a:blipFill>
              <a:blip r:embed="rId24"/>
              <a:stretch>
                <a:fillRect l="-22"/>
              </a:stretch>
            </a:blipFill>
          </p:spPr>
          <p:txBody>
            <a:bodyPr/>
            <a:lstStyle/>
            <a:p>
              <a:endParaRPr lang="en-SG"/>
            </a:p>
          </p:txBody>
        </p:sp>
      </p:grpSp>
      <p:grpSp>
        <p:nvGrpSpPr>
          <p:cNvPr id="57" name="Group 57"/>
          <p:cNvGrpSpPr/>
          <p:nvPr/>
        </p:nvGrpSpPr>
        <p:grpSpPr>
          <a:xfrm>
            <a:off x="2290572" y="5010912"/>
            <a:ext cx="6758940" cy="118872"/>
            <a:chOff x="0" y="0"/>
            <a:chExt cx="9011920" cy="158496"/>
          </a:xfrm>
        </p:grpSpPr>
        <p:sp>
          <p:nvSpPr>
            <p:cNvPr id="58" name="Freeform 58"/>
            <p:cNvSpPr/>
            <p:nvPr/>
          </p:nvSpPr>
          <p:spPr>
            <a:xfrm>
              <a:off x="0" y="0"/>
              <a:ext cx="9011920" cy="158496"/>
            </a:xfrm>
            <a:custGeom>
              <a:avLst/>
              <a:gdLst/>
              <a:ahLst/>
              <a:cxnLst/>
              <a:rect l="l" t="t" r="r" b="b"/>
              <a:pathLst>
                <a:path w="9011920" h="158496">
                  <a:moveTo>
                    <a:pt x="0" y="0"/>
                  </a:moveTo>
                  <a:lnTo>
                    <a:pt x="9011920" y="0"/>
                  </a:lnTo>
                  <a:lnTo>
                    <a:pt x="9011920" y="158496"/>
                  </a:lnTo>
                  <a:lnTo>
                    <a:pt x="0" y="158496"/>
                  </a:lnTo>
                  <a:lnTo>
                    <a:pt x="0" y="0"/>
                  </a:lnTo>
                  <a:close/>
                </a:path>
              </a:pathLst>
            </a:custGeom>
            <a:blipFill>
              <a:blip r:embed="rId25"/>
              <a:stretch>
                <a:fillRect l="-22"/>
              </a:stretch>
            </a:blipFill>
          </p:spPr>
          <p:txBody>
            <a:bodyPr/>
            <a:lstStyle/>
            <a:p>
              <a:endParaRPr lang="en-SG"/>
            </a:p>
          </p:txBody>
        </p:sp>
      </p:grpSp>
      <p:grpSp>
        <p:nvGrpSpPr>
          <p:cNvPr id="59" name="Group 59"/>
          <p:cNvGrpSpPr/>
          <p:nvPr/>
        </p:nvGrpSpPr>
        <p:grpSpPr>
          <a:xfrm>
            <a:off x="2290572" y="5126736"/>
            <a:ext cx="6758940" cy="118872"/>
            <a:chOff x="0" y="0"/>
            <a:chExt cx="9011920" cy="158496"/>
          </a:xfrm>
        </p:grpSpPr>
        <p:sp>
          <p:nvSpPr>
            <p:cNvPr id="60" name="Freeform 60"/>
            <p:cNvSpPr/>
            <p:nvPr/>
          </p:nvSpPr>
          <p:spPr>
            <a:xfrm>
              <a:off x="0" y="0"/>
              <a:ext cx="9011920" cy="158496"/>
            </a:xfrm>
            <a:custGeom>
              <a:avLst/>
              <a:gdLst/>
              <a:ahLst/>
              <a:cxnLst/>
              <a:rect l="l" t="t" r="r" b="b"/>
              <a:pathLst>
                <a:path w="9011920" h="158496">
                  <a:moveTo>
                    <a:pt x="0" y="0"/>
                  </a:moveTo>
                  <a:lnTo>
                    <a:pt x="9011920" y="0"/>
                  </a:lnTo>
                  <a:lnTo>
                    <a:pt x="9011920" y="158496"/>
                  </a:lnTo>
                  <a:lnTo>
                    <a:pt x="0" y="158496"/>
                  </a:lnTo>
                  <a:lnTo>
                    <a:pt x="0" y="0"/>
                  </a:lnTo>
                  <a:close/>
                </a:path>
              </a:pathLst>
            </a:custGeom>
            <a:blipFill>
              <a:blip r:embed="rId26"/>
              <a:stretch>
                <a:fillRect l="-22"/>
              </a:stretch>
            </a:blipFill>
          </p:spPr>
          <p:txBody>
            <a:bodyPr/>
            <a:lstStyle/>
            <a:p>
              <a:endParaRPr lang="en-SG"/>
            </a:p>
          </p:txBody>
        </p:sp>
      </p:grpSp>
      <p:grpSp>
        <p:nvGrpSpPr>
          <p:cNvPr id="61" name="Group 61"/>
          <p:cNvGrpSpPr/>
          <p:nvPr/>
        </p:nvGrpSpPr>
        <p:grpSpPr>
          <a:xfrm>
            <a:off x="2290572" y="5242560"/>
            <a:ext cx="6758940" cy="118872"/>
            <a:chOff x="0" y="0"/>
            <a:chExt cx="9011920" cy="158496"/>
          </a:xfrm>
        </p:grpSpPr>
        <p:sp>
          <p:nvSpPr>
            <p:cNvPr id="62" name="Freeform 62"/>
            <p:cNvSpPr/>
            <p:nvPr/>
          </p:nvSpPr>
          <p:spPr>
            <a:xfrm>
              <a:off x="0" y="0"/>
              <a:ext cx="9011920" cy="158496"/>
            </a:xfrm>
            <a:custGeom>
              <a:avLst/>
              <a:gdLst/>
              <a:ahLst/>
              <a:cxnLst/>
              <a:rect l="l" t="t" r="r" b="b"/>
              <a:pathLst>
                <a:path w="9011920" h="158496">
                  <a:moveTo>
                    <a:pt x="0" y="0"/>
                  </a:moveTo>
                  <a:lnTo>
                    <a:pt x="9011920" y="0"/>
                  </a:lnTo>
                  <a:lnTo>
                    <a:pt x="9011920" y="158496"/>
                  </a:lnTo>
                  <a:lnTo>
                    <a:pt x="0" y="158496"/>
                  </a:lnTo>
                  <a:lnTo>
                    <a:pt x="0" y="0"/>
                  </a:lnTo>
                  <a:close/>
                </a:path>
              </a:pathLst>
            </a:custGeom>
            <a:blipFill>
              <a:blip r:embed="rId27"/>
              <a:stretch>
                <a:fillRect l="-22"/>
              </a:stretch>
            </a:blipFill>
          </p:spPr>
          <p:txBody>
            <a:bodyPr/>
            <a:lstStyle/>
            <a:p>
              <a:endParaRPr lang="en-SG"/>
            </a:p>
          </p:txBody>
        </p:sp>
      </p:grpSp>
      <p:grpSp>
        <p:nvGrpSpPr>
          <p:cNvPr id="63" name="Group 63"/>
          <p:cNvGrpSpPr/>
          <p:nvPr/>
        </p:nvGrpSpPr>
        <p:grpSpPr>
          <a:xfrm>
            <a:off x="2290572" y="5358384"/>
            <a:ext cx="6758940" cy="118872"/>
            <a:chOff x="0" y="0"/>
            <a:chExt cx="9011920" cy="158496"/>
          </a:xfrm>
        </p:grpSpPr>
        <p:sp>
          <p:nvSpPr>
            <p:cNvPr id="64" name="Freeform 64"/>
            <p:cNvSpPr/>
            <p:nvPr/>
          </p:nvSpPr>
          <p:spPr>
            <a:xfrm>
              <a:off x="0" y="0"/>
              <a:ext cx="9011920" cy="158496"/>
            </a:xfrm>
            <a:custGeom>
              <a:avLst/>
              <a:gdLst/>
              <a:ahLst/>
              <a:cxnLst/>
              <a:rect l="l" t="t" r="r" b="b"/>
              <a:pathLst>
                <a:path w="9011920" h="158496">
                  <a:moveTo>
                    <a:pt x="0" y="0"/>
                  </a:moveTo>
                  <a:lnTo>
                    <a:pt x="9011920" y="0"/>
                  </a:lnTo>
                  <a:lnTo>
                    <a:pt x="9011920" y="158496"/>
                  </a:lnTo>
                  <a:lnTo>
                    <a:pt x="0" y="158496"/>
                  </a:lnTo>
                  <a:lnTo>
                    <a:pt x="0" y="0"/>
                  </a:lnTo>
                  <a:close/>
                </a:path>
              </a:pathLst>
            </a:custGeom>
            <a:blipFill>
              <a:blip r:embed="rId28"/>
              <a:stretch>
                <a:fillRect l="-22"/>
              </a:stretch>
            </a:blipFill>
          </p:spPr>
          <p:txBody>
            <a:bodyPr/>
            <a:lstStyle/>
            <a:p>
              <a:endParaRPr lang="en-SG"/>
            </a:p>
          </p:txBody>
        </p:sp>
      </p:grpSp>
      <p:grpSp>
        <p:nvGrpSpPr>
          <p:cNvPr id="65" name="Group 65"/>
          <p:cNvGrpSpPr/>
          <p:nvPr/>
        </p:nvGrpSpPr>
        <p:grpSpPr>
          <a:xfrm>
            <a:off x="2290572" y="5474208"/>
            <a:ext cx="6758940" cy="118872"/>
            <a:chOff x="0" y="0"/>
            <a:chExt cx="9011920" cy="158496"/>
          </a:xfrm>
        </p:grpSpPr>
        <p:sp>
          <p:nvSpPr>
            <p:cNvPr id="66" name="Freeform 66"/>
            <p:cNvSpPr/>
            <p:nvPr/>
          </p:nvSpPr>
          <p:spPr>
            <a:xfrm>
              <a:off x="0" y="0"/>
              <a:ext cx="9011920" cy="158496"/>
            </a:xfrm>
            <a:custGeom>
              <a:avLst/>
              <a:gdLst/>
              <a:ahLst/>
              <a:cxnLst/>
              <a:rect l="l" t="t" r="r" b="b"/>
              <a:pathLst>
                <a:path w="9011920" h="158496">
                  <a:moveTo>
                    <a:pt x="0" y="0"/>
                  </a:moveTo>
                  <a:lnTo>
                    <a:pt x="9011920" y="0"/>
                  </a:lnTo>
                  <a:lnTo>
                    <a:pt x="9011920" y="158496"/>
                  </a:lnTo>
                  <a:lnTo>
                    <a:pt x="0" y="158496"/>
                  </a:lnTo>
                  <a:lnTo>
                    <a:pt x="0" y="0"/>
                  </a:lnTo>
                  <a:close/>
                </a:path>
              </a:pathLst>
            </a:custGeom>
            <a:blipFill>
              <a:blip r:embed="rId29"/>
              <a:stretch>
                <a:fillRect l="-22"/>
              </a:stretch>
            </a:blipFill>
          </p:spPr>
          <p:txBody>
            <a:bodyPr/>
            <a:lstStyle/>
            <a:p>
              <a:endParaRPr lang="en-SG"/>
            </a:p>
          </p:txBody>
        </p:sp>
      </p:grpSp>
      <p:grpSp>
        <p:nvGrpSpPr>
          <p:cNvPr id="67" name="Group 67"/>
          <p:cNvGrpSpPr/>
          <p:nvPr/>
        </p:nvGrpSpPr>
        <p:grpSpPr>
          <a:xfrm>
            <a:off x="2290572" y="5590032"/>
            <a:ext cx="6758940" cy="118872"/>
            <a:chOff x="0" y="0"/>
            <a:chExt cx="9011920" cy="158496"/>
          </a:xfrm>
        </p:grpSpPr>
        <p:sp>
          <p:nvSpPr>
            <p:cNvPr id="68" name="Freeform 68"/>
            <p:cNvSpPr/>
            <p:nvPr/>
          </p:nvSpPr>
          <p:spPr>
            <a:xfrm>
              <a:off x="0" y="0"/>
              <a:ext cx="9011920" cy="158496"/>
            </a:xfrm>
            <a:custGeom>
              <a:avLst/>
              <a:gdLst/>
              <a:ahLst/>
              <a:cxnLst/>
              <a:rect l="l" t="t" r="r" b="b"/>
              <a:pathLst>
                <a:path w="9011920" h="158496">
                  <a:moveTo>
                    <a:pt x="0" y="0"/>
                  </a:moveTo>
                  <a:lnTo>
                    <a:pt x="9011920" y="0"/>
                  </a:lnTo>
                  <a:lnTo>
                    <a:pt x="9011920" y="158496"/>
                  </a:lnTo>
                  <a:lnTo>
                    <a:pt x="0" y="158496"/>
                  </a:lnTo>
                  <a:lnTo>
                    <a:pt x="0" y="0"/>
                  </a:lnTo>
                  <a:close/>
                </a:path>
              </a:pathLst>
            </a:custGeom>
            <a:blipFill>
              <a:blip r:embed="rId30"/>
              <a:stretch>
                <a:fillRect l="-22"/>
              </a:stretch>
            </a:blipFill>
          </p:spPr>
          <p:txBody>
            <a:bodyPr/>
            <a:lstStyle/>
            <a:p>
              <a:endParaRPr lang="en-SG"/>
            </a:p>
          </p:txBody>
        </p:sp>
      </p:grpSp>
      <p:grpSp>
        <p:nvGrpSpPr>
          <p:cNvPr id="69" name="Group 69"/>
          <p:cNvGrpSpPr/>
          <p:nvPr/>
        </p:nvGrpSpPr>
        <p:grpSpPr>
          <a:xfrm>
            <a:off x="2290572" y="5705856"/>
            <a:ext cx="6758940" cy="118872"/>
            <a:chOff x="0" y="0"/>
            <a:chExt cx="9011920" cy="158496"/>
          </a:xfrm>
        </p:grpSpPr>
        <p:sp>
          <p:nvSpPr>
            <p:cNvPr id="70" name="Freeform 70"/>
            <p:cNvSpPr/>
            <p:nvPr/>
          </p:nvSpPr>
          <p:spPr>
            <a:xfrm>
              <a:off x="0" y="0"/>
              <a:ext cx="9011920" cy="158496"/>
            </a:xfrm>
            <a:custGeom>
              <a:avLst/>
              <a:gdLst/>
              <a:ahLst/>
              <a:cxnLst/>
              <a:rect l="l" t="t" r="r" b="b"/>
              <a:pathLst>
                <a:path w="9011920" h="158496">
                  <a:moveTo>
                    <a:pt x="0" y="0"/>
                  </a:moveTo>
                  <a:lnTo>
                    <a:pt x="9011920" y="0"/>
                  </a:lnTo>
                  <a:lnTo>
                    <a:pt x="9011920" y="158496"/>
                  </a:lnTo>
                  <a:lnTo>
                    <a:pt x="0" y="158496"/>
                  </a:lnTo>
                  <a:lnTo>
                    <a:pt x="0" y="0"/>
                  </a:lnTo>
                  <a:close/>
                </a:path>
              </a:pathLst>
            </a:custGeom>
            <a:blipFill>
              <a:blip r:embed="rId31"/>
              <a:stretch>
                <a:fillRect l="-22"/>
              </a:stretch>
            </a:blipFill>
          </p:spPr>
          <p:txBody>
            <a:bodyPr/>
            <a:lstStyle/>
            <a:p>
              <a:endParaRPr lang="en-SG"/>
            </a:p>
          </p:txBody>
        </p:sp>
      </p:grpSp>
      <p:grpSp>
        <p:nvGrpSpPr>
          <p:cNvPr id="71" name="Group 71"/>
          <p:cNvGrpSpPr/>
          <p:nvPr/>
        </p:nvGrpSpPr>
        <p:grpSpPr>
          <a:xfrm>
            <a:off x="2289048" y="5821680"/>
            <a:ext cx="6760464" cy="9144"/>
            <a:chOff x="0" y="0"/>
            <a:chExt cx="6760464" cy="9144"/>
          </a:xfrm>
        </p:grpSpPr>
        <p:sp>
          <p:nvSpPr>
            <p:cNvPr id="72" name="Freeform 72"/>
            <p:cNvSpPr/>
            <p:nvPr/>
          </p:nvSpPr>
          <p:spPr>
            <a:xfrm>
              <a:off x="0" y="0"/>
              <a:ext cx="6760464" cy="9144"/>
            </a:xfrm>
            <a:custGeom>
              <a:avLst/>
              <a:gdLst/>
              <a:ahLst/>
              <a:cxnLst/>
              <a:rect l="l" t="t" r="r" b="b"/>
              <a:pathLst>
                <a:path w="6760464" h="9144">
                  <a:moveTo>
                    <a:pt x="0" y="9144"/>
                  </a:moveTo>
                  <a:lnTo>
                    <a:pt x="6760464" y="9144"/>
                  </a:lnTo>
                  <a:lnTo>
                    <a:pt x="6760464" y="0"/>
                  </a:lnTo>
                  <a:lnTo>
                    <a:pt x="0" y="0"/>
                  </a:lnTo>
                  <a:lnTo>
                    <a:pt x="0" y="9144"/>
                  </a:lnTo>
                  <a:close/>
                </a:path>
              </a:pathLst>
            </a:custGeom>
            <a:solidFill>
              <a:srgbClr val="FFFFFF"/>
            </a:solidFill>
          </p:spPr>
          <p:txBody>
            <a:bodyPr/>
            <a:lstStyle/>
            <a:p>
              <a:endParaRPr lang="en-SG"/>
            </a:p>
          </p:txBody>
        </p:sp>
      </p:grpSp>
      <p:sp>
        <p:nvSpPr>
          <p:cNvPr id="73" name="TextBox 73"/>
          <p:cNvSpPr txBox="1"/>
          <p:nvPr/>
        </p:nvSpPr>
        <p:spPr>
          <a:xfrm>
            <a:off x="1632385" y="1334119"/>
            <a:ext cx="7568251" cy="523504"/>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Satellite Set-up -OBC and ADCS Stack</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2798064" y="2232660"/>
            <a:ext cx="5096256" cy="156972"/>
            <a:chOff x="0" y="0"/>
            <a:chExt cx="6795008" cy="209296"/>
          </a:xfrm>
        </p:grpSpPr>
        <p:sp>
          <p:nvSpPr>
            <p:cNvPr id="10" name="Freeform 10"/>
            <p:cNvSpPr/>
            <p:nvPr/>
          </p:nvSpPr>
          <p:spPr>
            <a:xfrm>
              <a:off x="0" y="0"/>
              <a:ext cx="6795008" cy="209296"/>
            </a:xfrm>
            <a:custGeom>
              <a:avLst/>
              <a:gdLst/>
              <a:ahLst/>
              <a:cxnLst/>
              <a:rect l="l" t="t" r="r" b="b"/>
              <a:pathLst>
                <a:path w="6795008" h="209296">
                  <a:moveTo>
                    <a:pt x="0" y="0"/>
                  </a:moveTo>
                  <a:lnTo>
                    <a:pt x="6795008" y="0"/>
                  </a:lnTo>
                  <a:lnTo>
                    <a:pt x="6795008" y="209296"/>
                  </a:lnTo>
                  <a:lnTo>
                    <a:pt x="0" y="209296"/>
                  </a:lnTo>
                  <a:lnTo>
                    <a:pt x="0" y="0"/>
                  </a:lnTo>
                  <a:close/>
                </a:path>
              </a:pathLst>
            </a:custGeom>
            <a:blipFill>
              <a:blip r:embed="rId4"/>
              <a:stretch>
                <a:fillRect t="-970"/>
              </a:stretch>
            </a:blipFill>
          </p:spPr>
          <p:txBody>
            <a:bodyPr/>
            <a:lstStyle/>
            <a:p>
              <a:endParaRPr lang="en-SG"/>
            </a:p>
          </p:txBody>
        </p:sp>
      </p:grpSp>
      <p:grpSp>
        <p:nvGrpSpPr>
          <p:cNvPr id="11" name="Group 11"/>
          <p:cNvGrpSpPr/>
          <p:nvPr/>
        </p:nvGrpSpPr>
        <p:grpSpPr>
          <a:xfrm>
            <a:off x="2798064" y="2386584"/>
            <a:ext cx="5096256" cy="158496"/>
            <a:chOff x="0" y="0"/>
            <a:chExt cx="6795008" cy="211328"/>
          </a:xfrm>
        </p:grpSpPr>
        <p:sp>
          <p:nvSpPr>
            <p:cNvPr id="12" name="Freeform 12"/>
            <p:cNvSpPr/>
            <p:nvPr/>
          </p:nvSpPr>
          <p:spPr>
            <a:xfrm>
              <a:off x="0" y="0"/>
              <a:ext cx="6795008" cy="211328"/>
            </a:xfrm>
            <a:custGeom>
              <a:avLst/>
              <a:gdLst/>
              <a:ahLst/>
              <a:cxnLst/>
              <a:rect l="l" t="t" r="r" b="b"/>
              <a:pathLst>
                <a:path w="6795008" h="211328">
                  <a:moveTo>
                    <a:pt x="0" y="0"/>
                  </a:moveTo>
                  <a:lnTo>
                    <a:pt x="6795008" y="0"/>
                  </a:lnTo>
                  <a:lnTo>
                    <a:pt x="6795008" y="211328"/>
                  </a:lnTo>
                  <a:lnTo>
                    <a:pt x="0" y="211328"/>
                  </a:lnTo>
                  <a:lnTo>
                    <a:pt x="0" y="0"/>
                  </a:lnTo>
                  <a:close/>
                </a:path>
              </a:pathLst>
            </a:custGeom>
            <a:blipFill>
              <a:blip r:embed="rId5"/>
              <a:stretch>
                <a:fillRect/>
              </a:stretch>
            </a:blipFill>
          </p:spPr>
          <p:txBody>
            <a:bodyPr/>
            <a:lstStyle/>
            <a:p>
              <a:endParaRPr lang="en-SG"/>
            </a:p>
          </p:txBody>
        </p:sp>
      </p:grpSp>
      <p:grpSp>
        <p:nvGrpSpPr>
          <p:cNvPr id="13" name="Group 13"/>
          <p:cNvGrpSpPr/>
          <p:nvPr/>
        </p:nvGrpSpPr>
        <p:grpSpPr>
          <a:xfrm>
            <a:off x="2798064" y="2542032"/>
            <a:ext cx="5096256" cy="158496"/>
            <a:chOff x="0" y="0"/>
            <a:chExt cx="6795008" cy="211328"/>
          </a:xfrm>
        </p:grpSpPr>
        <p:sp>
          <p:nvSpPr>
            <p:cNvPr id="14" name="Freeform 14"/>
            <p:cNvSpPr/>
            <p:nvPr/>
          </p:nvSpPr>
          <p:spPr>
            <a:xfrm>
              <a:off x="0" y="0"/>
              <a:ext cx="6795008" cy="211328"/>
            </a:xfrm>
            <a:custGeom>
              <a:avLst/>
              <a:gdLst/>
              <a:ahLst/>
              <a:cxnLst/>
              <a:rect l="l" t="t" r="r" b="b"/>
              <a:pathLst>
                <a:path w="6795008" h="211328">
                  <a:moveTo>
                    <a:pt x="0" y="0"/>
                  </a:moveTo>
                  <a:lnTo>
                    <a:pt x="6795008" y="0"/>
                  </a:lnTo>
                  <a:lnTo>
                    <a:pt x="6795008" y="211328"/>
                  </a:lnTo>
                  <a:lnTo>
                    <a:pt x="0" y="211328"/>
                  </a:lnTo>
                  <a:lnTo>
                    <a:pt x="0" y="0"/>
                  </a:lnTo>
                  <a:close/>
                </a:path>
              </a:pathLst>
            </a:custGeom>
            <a:blipFill>
              <a:blip r:embed="rId6"/>
              <a:stretch>
                <a:fillRect/>
              </a:stretch>
            </a:blipFill>
          </p:spPr>
          <p:txBody>
            <a:bodyPr/>
            <a:lstStyle/>
            <a:p>
              <a:endParaRPr lang="en-SG"/>
            </a:p>
          </p:txBody>
        </p:sp>
      </p:grpSp>
      <p:grpSp>
        <p:nvGrpSpPr>
          <p:cNvPr id="15" name="Group 15"/>
          <p:cNvGrpSpPr/>
          <p:nvPr/>
        </p:nvGrpSpPr>
        <p:grpSpPr>
          <a:xfrm>
            <a:off x="2798064" y="2697480"/>
            <a:ext cx="5096256" cy="158496"/>
            <a:chOff x="0" y="0"/>
            <a:chExt cx="6795008" cy="211328"/>
          </a:xfrm>
        </p:grpSpPr>
        <p:sp>
          <p:nvSpPr>
            <p:cNvPr id="16" name="Freeform 16"/>
            <p:cNvSpPr/>
            <p:nvPr/>
          </p:nvSpPr>
          <p:spPr>
            <a:xfrm>
              <a:off x="0" y="0"/>
              <a:ext cx="6795008" cy="211328"/>
            </a:xfrm>
            <a:custGeom>
              <a:avLst/>
              <a:gdLst/>
              <a:ahLst/>
              <a:cxnLst/>
              <a:rect l="l" t="t" r="r" b="b"/>
              <a:pathLst>
                <a:path w="6795008" h="211328">
                  <a:moveTo>
                    <a:pt x="0" y="0"/>
                  </a:moveTo>
                  <a:lnTo>
                    <a:pt x="6795008" y="0"/>
                  </a:lnTo>
                  <a:lnTo>
                    <a:pt x="6795008" y="211328"/>
                  </a:lnTo>
                  <a:lnTo>
                    <a:pt x="0" y="211328"/>
                  </a:lnTo>
                  <a:lnTo>
                    <a:pt x="0" y="0"/>
                  </a:lnTo>
                  <a:close/>
                </a:path>
              </a:pathLst>
            </a:custGeom>
            <a:blipFill>
              <a:blip r:embed="rId7"/>
              <a:stretch>
                <a:fillRect/>
              </a:stretch>
            </a:blipFill>
          </p:spPr>
          <p:txBody>
            <a:bodyPr/>
            <a:lstStyle/>
            <a:p>
              <a:endParaRPr lang="en-SG"/>
            </a:p>
          </p:txBody>
        </p:sp>
      </p:grpSp>
      <p:grpSp>
        <p:nvGrpSpPr>
          <p:cNvPr id="17" name="Group 17"/>
          <p:cNvGrpSpPr/>
          <p:nvPr/>
        </p:nvGrpSpPr>
        <p:grpSpPr>
          <a:xfrm>
            <a:off x="2798064" y="2852928"/>
            <a:ext cx="5096256" cy="158496"/>
            <a:chOff x="0" y="0"/>
            <a:chExt cx="6795008" cy="211328"/>
          </a:xfrm>
        </p:grpSpPr>
        <p:sp>
          <p:nvSpPr>
            <p:cNvPr id="18" name="Freeform 18"/>
            <p:cNvSpPr/>
            <p:nvPr/>
          </p:nvSpPr>
          <p:spPr>
            <a:xfrm>
              <a:off x="0" y="0"/>
              <a:ext cx="6795008" cy="211328"/>
            </a:xfrm>
            <a:custGeom>
              <a:avLst/>
              <a:gdLst/>
              <a:ahLst/>
              <a:cxnLst/>
              <a:rect l="l" t="t" r="r" b="b"/>
              <a:pathLst>
                <a:path w="6795008" h="211328">
                  <a:moveTo>
                    <a:pt x="0" y="0"/>
                  </a:moveTo>
                  <a:lnTo>
                    <a:pt x="6795008" y="0"/>
                  </a:lnTo>
                  <a:lnTo>
                    <a:pt x="6795008" y="211328"/>
                  </a:lnTo>
                  <a:lnTo>
                    <a:pt x="0" y="211328"/>
                  </a:lnTo>
                  <a:lnTo>
                    <a:pt x="0" y="0"/>
                  </a:lnTo>
                  <a:close/>
                </a:path>
              </a:pathLst>
            </a:custGeom>
            <a:blipFill>
              <a:blip r:embed="rId8"/>
              <a:stretch>
                <a:fillRect/>
              </a:stretch>
            </a:blipFill>
          </p:spPr>
          <p:txBody>
            <a:bodyPr/>
            <a:lstStyle/>
            <a:p>
              <a:endParaRPr lang="en-SG"/>
            </a:p>
          </p:txBody>
        </p:sp>
      </p:grpSp>
      <p:grpSp>
        <p:nvGrpSpPr>
          <p:cNvPr id="19" name="Group 19"/>
          <p:cNvGrpSpPr/>
          <p:nvPr/>
        </p:nvGrpSpPr>
        <p:grpSpPr>
          <a:xfrm>
            <a:off x="2798064" y="3008376"/>
            <a:ext cx="5096256" cy="158496"/>
            <a:chOff x="0" y="0"/>
            <a:chExt cx="6795008" cy="211328"/>
          </a:xfrm>
        </p:grpSpPr>
        <p:sp>
          <p:nvSpPr>
            <p:cNvPr id="20" name="Freeform 20"/>
            <p:cNvSpPr/>
            <p:nvPr/>
          </p:nvSpPr>
          <p:spPr>
            <a:xfrm>
              <a:off x="0" y="0"/>
              <a:ext cx="6795008" cy="211328"/>
            </a:xfrm>
            <a:custGeom>
              <a:avLst/>
              <a:gdLst/>
              <a:ahLst/>
              <a:cxnLst/>
              <a:rect l="l" t="t" r="r" b="b"/>
              <a:pathLst>
                <a:path w="6795008" h="211328">
                  <a:moveTo>
                    <a:pt x="0" y="0"/>
                  </a:moveTo>
                  <a:lnTo>
                    <a:pt x="6795008" y="0"/>
                  </a:lnTo>
                  <a:lnTo>
                    <a:pt x="6795008" y="211328"/>
                  </a:lnTo>
                  <a:lnTo>
                    <a:pt x="0" y="211328"/>
                  </a:lnTo>
                  <a:lnTo>
                    <a:pt x="0" y="0"/>
                  </a:lnTo>
                  <a:close/>
                </a:path>
              </a:pathLst>
            </a:custGeom>
            <a:blipFill>
              <a:blip r:embed="rId9"/>
              <a:stretch>
                <a:fillRect/>
              </a:stretch>
            </a:blipFill>
          </p:spPr>
          <p:txBody>
            <a:bodyPr/>
            <a:lstStyle/>
            <a:p>
              <a:endParaRPr lang="en-SG"/>
            </a:p>
          </p:txBody>
        </p:sp>
      </p:grpSp>
      <p:grpSp>
        <p:nvGrpSpPr>
          <p:cNvPr id="21" name="Group 21"/>
          <p:cNvGrpSpPr/>
          <p:nvPr/>
        </p:nvGrpSpPr>
        <p:grpSpPr>
          <a:xfrm>
            <a:off x="2798064" y="3163824"/>
            <a:ext cx="5096256" cy="158496"/>
            <a:chOff x="0" y="0"/>
            <a:chExt cx="6795008" cy="211328"/>
          </a:xfrm>
        </p:grpSpPr>
        <p:sp>
          <p:nvSpPr>
            <p:cNvPr id="22" name="Freeform 22"/>
            <p:cNvSpPr/>
            <p:nvPr/>
          </p:nvSpPr>
          <p:spPr>
            <a:xfrm>
              <a:off x="0" y="0"/>
              <a:ext cx="6795008" cy="211328"/>
            </a:xfrm>
            <a:custGeom>
              <a:avLst/>
              <a:gdLst/>
              <a:ahLst/>
              <a:cxnLst/>
              <a:rect l="l" t="t" r="r" b="b"/>
              <a:pathLst>
                <a:path w="6795008" h="211328">
                  <a:moveTo>
                    <a:pt x="0" y="0"/>
                  </a:moveTo>
                  <a:lnTo>
                    <a:pt x="6795008" y="0"/>
                  </a:lnTo>
                  <a:lnTo>
                    <a:pt x="6795008" y="211328"/>
                  </a:lnTo>
                  <a:lnTo>
                    <a:pt x="0" y="211328"/>
                  </a:lnTo>
                  <a:lnTo>
                    <a:pt x="0" y="0"/>
                  </a:lnTo>
                  <a:close/>
                </a:path>
              </a:pathLst>
            </a:custGeom>
            <a:blipFill>
              <a:blip r:embed="rId10"/>
              <a:stretch>
                <a:fillRect/>
              </a:stretch>
            </a:blipFill>
          </p:spPr>
          <p:txBody>
            <a:bodyPr/>
            <a:lstStyle/>
            <a:p>
              <a:endParaRPr lang="en-SG"/>
            </a:p>
          </p:txBody>
        </p:sp>
      </p:grpSp>
      <p:grpSp>
        <p:nvGrpSpPr>
          <p:cNvPr id="23" name="Group 23"/>
          <p:cNvGrpSpPr/>
          <p:nvPr/>
        </p:nvGrpSpPr>
        <p:grpSpPr>
          <a:xfrm>
            <a:off x="2798064" y="3319272"/>
            <a:ext cx="5096256" cy="158496"/>
            <a:chOff x="0" y="0"/>
            <a:chExt cx="6795008" cy="211328"/>
          </a:xfrm>
        </p:grpSpPr>
        <p:sp>
          <p:nvSpPr>
            <p:cNvPr id="24" name="Freeform 24"/>
            <p:cNvSpPr/>
            <p:nvPr/>
          </p:nvSpPr>
          <p:spPr>
            <a:xfrm>
              <a:off x="0" y="0"/>
              <a:ext cx="6795008" cy="211328"/>
            </a:xfrm>
            <a:custGeom>
              <a:avLst/>
              <a:gdLst/>
              <a:ahLst/>
              <a:cxnLst/>
              <a:rect l="l" t="t" r="r" b="b"/>
              <a:pathLst>
                <a:path w="6795008" h="211328">
                  <a:moveTo>
                    <a:pt x="0" y="0"/>
                  </a:moveTo>
                  <a:lnTo>
                    <a:pt x="6795008" y="0"/>
                  </a:lnTo>
                  <a:lnTo>
                    <a:pt x="6795008" y="211328"/>
                  </a:lnTo>
                  <a:lnTo>
                    <a:pt x="0" y="211328"/>
                  </a:lnTo>
                  <a:lnTo>
                    <a:pt x="0" y="0"/>
                  </a:lnTo>
                  <a:close/>
                </a:path>
              </a:pathLst>
            </a:custGeom>
            <a:blipFill>
              <a:blip r:embed="rId11"/>
              <a:stretch>
                <a:fillRect/>
              </a:stretch>
            </a:blipFill>
          </p:spPr>
          <p:txBody>
            <a:bodyPr/>
            <a:lstStyle/>
            <a:p>
              <a:endParaRPr lang="en-SG"/>
            </a:p>
          </p:txBody>
        </p:sp>
      </p:grpSp>
      <p:grpSp>
        <p:nvGrpSpPr>
          <p:cNvPr id="25" name="Group 25"/>
          <p:cNvGrpSpPr/>
          <p:nvPr/>
        </p:nvGrpSpPr>
        <p:grpSpPr>
          <a:xfrm>
            <a:off x="2798064" y="3474720"/>
            <a:ext cx="5096256" cy="158496"/>
            <a:chOff x="0" y="0"/>
            <a:chExt cx="6795008" cy="211328"/>
          </a:xfrm>
        </p:grpSpPr>
        <p:sp>
          <p:nvSpPr>
            <p:cNvPr id="26" name="Freeform 26"/>
            <p:cNvSpPr/>
            <p:nvPr/>
          </p:nvSpPr>
          <p:spPr>
            <a:xfrm>
              <a:off x="0" y="0"/>
              <a:ext cx="6795008" cy="211328"/>
            </a:xfrm>
            <a:custGeom>
              <a:avLst/>
              <a:gdLst/>
              <a:ahLst/>
              <a:cxnLst/>
              <a:rect l="l" t="t" r="r" b="b"/>
              <a:pathLst>
                <a:path w="6795008" h="211328">
                  <a:moveTo>
                    <a:pt x="0" y="0"/>
                  </a:moveTo>
                  <a:lnTo>
                    <a:pt x="6795008" y="0"/>
                  </a:lnTo>
                  <a:lnTo>
                    <a:pt x="6795008" y="211328"/>
                  </a:lnTo>
                  <a:lnTo>
                    <a:pt x="0" y="211328"/>
                  </a:lnTo>
                  <a:lnTo>
                    <a:pt x="0" y="0"/>
                  </a:lnTo>
                  <a:close/>
                </a:path>
              </a:pathLst>
            </a:custGeom>
            <a:blipFill>
              <a:blip r:embed="rId12"/>
              <a:stretch>
                <a:fillRect/>
              </a:stretch>
            </a:blipFill>
          </p:spPr>
          <p:txBody>
            <a:bodyPr/>
            <a:lstStyle/>
            <a:p>
              <a:endParaRPr lang="en-SG"/>
            </a:p>
          </p:txBody>
        </p:sp>
      </p:grpSp>
      <p:grpSp>
        <p:nvGrpSpPr>
          <p:cNvPr id="27" name="Group 27"/>
          <p:cNvGrpSpPr/>
          <p:nvPr/>
        </p:nvGrpSpPr>
        <p:grpSpPr>
          <a:xfrm>
            <a:off x="2798064" y="3630168"/>
            <a:ext cx="5096256" cy="158496"/>
            <a:chOff x="0" y="0"/>
            <a:chExt cx="6795008" cy="211328"/>
          </a:xfrm>
        </p:grpSpPr>
        <p:sp>
          <p:nvSpPr>
            <p:cNvPr id="28" name="Freeform 28"/>
            <p:cNvSpPr/>
            <p:nvPr/>
          </p:nvSpPr>
          <p:spPr>
            <a:xfrm>
              <a:off x="0" y="0"/>
              <a:ext cx="6795008" cy="211328"/>
            </a:xfrm>
            <a:custGeom>
              <a:avLst/>
              <a:gdLst/>
              <a:ahLst/>
              <a:cxnLst/>
              <a:rect l="l" t="t" r="r" b="b"/>
              <a:pathLst>
                <a:path w="6795008" h="211328">
                  <a:moveTo>
                    <a:pt x="0" y="0"/>
                  </a:moveTo>
                  <a:lnTo>
                    <a:pt x="6795008" y="0"/>
                  </a:lnTo>
                  <a:lnTo>
                    <a:pt x="6795008" y="211328"/>
                  </a:lnTo>
                  <a:lnTo>
                    <a:pt x="0" y="211328"/>
                  </a:lnTo>
                  <a:lnTo>
                    <a:pt x="0" y="0"/>
                  </a:lnTo>
                  <a:close/>
                </a:path>
              </a:pathLst>
            </a:custGeom>
            <a:blipFill>
              <a:blip r:embed="rId13"/>
              <a:stretch>
                <a:fillRect/>
              </a:stretch>
            </a:blipFill>
          </p:spPr>
          <p:txBody>
            <a:bodyPr/>
            <a:lstStyle/>
            <a:p>
              <a:endParaRPr lang="en-SG"/>
            </a:p>
          </p:txBody>
        </p:sp>
      </p:grpSp>
      <p:grpSp>
        <p:nvGrpSpPr>
          <p:cNvPr id="29" name="Group 29"/>
          <p:cNvGrpSpPr/>
          <p:nvPr/>
        </p:nvGrpSpPr>
        <p:grpSpPr>
          <a:xfrm>
            <a:off x="2798064" y="3785616"/>
            <a:ext cx="5096256" cy="158496"/>
            <a:chOff x="0" y="0"/>
            <a:chExt cx="6795008" cy="211328"/>
          </a:xfrm>
        </p:grpSpPr>
        <p:sp>
          <p:nvSpPr>
            <p:cNvPr id="30" name="Freeform 30"/>
            <p:cNvSpPr/>
            <p:nvPr/>
          </p:nvSpPr>
          <p:spPr>
            <a:xfrm>
              <a:off x="0" y="0"/>
              <a:ext cx="6795008" cy="211328"/>
            </a:xfrm>
            <a:custGeom>
              <a:avLst/>
              <a:gdLst/>
              <a:ahLst/>
              <a:cxnLst/>
              <a:rect l="l" t="t" r="r" b="b"/>
              <a:pathLst>
                <a:path w="6795008" h="211328">
                  <a:moveTo>
                    <a:pt x="0" y="0"/>
                  </a:moveTo>
                  <a:lnTo>
                    <a:pt x="6795008" y="0"/>
                  </a:lnTo>
                  <a:lnTo>
                    <a:pt x="6795008" y="211328"/>
                  </a:lnTo>
                  <a:lnTo>
                    <a:pt x="0" y="211328"/>
                  </a:lnTo>
                  <a:lnTo>
                    <a:pt x="0" y="0"/>
                  </a:lnTo>
                  <a:close/>
                </a:path>
              </a:pathLst>
            </a:custGeom>
            <a:blipFill>
              <a:blip r:embed="rId14"/>
              <a:stretch>
                <a:fillRect/>
              </a:stretch>
            </a:blipFill>
          </p:spPr>
          <p:txBody>
            <a:bodyPr/>
            <a:lstStyle/>
            <a:p>
              <a:endParaRPr lang="en-SG"/>
            </a:p>
          </p:txBody>
        </p:sp>
      </p:grpSp>
      <p:grpSp>
        <p:nvGrpSpPr>
          <p:cNvPr id="31" name="Group 31"/>
          <p:cNvGrpSpPr/>
          <p:nvPr/>
        </p:nvGrpSpPr>
        <p:grpSpPr>
          <a:xfrm>
            <a:off x="2798064" y="3941064"/>
            <a:ext cx="5096256" cy="158496"/>
            <a:chOff x="0" y="0"/>
            <a:chExt cx="6795008" cy="211328"/>
          </a:xfrm>
        </p:grpSpPr>
        <p:sp>
          <p:nvSpPr>
            <p:cNvPr id="32" name="Freeform 32"/>
            <p:cNvSpPr/>
            <p:nvPr/>
          </p:nvSpPr>
          <p:spPr>
            <a:xfrm>
              <a:off x="0" y="0"/>
              <a:ext cx="6795008" cy="211328"/>
            </a:xfrm>
            <a:custGeom>
              <a:avLst/>
              <a:gdLst/>
              <a:ahLst/>
              <a:cxnLst/>
              <a:rect l="l" t="t" r="r" b="b"/>
              <a:pathLst>
                <a:path w="6795008" h="211328">
                  <a:moveTo>
                    <a:pt x="0" y="0"/>
                  </a:moveTo>
                  <a:lnTo>
                    <a:pt x="6795008" y="0"/>
                  </a:lnTo>
                  <a:lnTo>
                    <a:pt x="6795008" y="211328"/>
                  </a:lnTo>
                  <a:lnTo>
                    <a:pt x="0" y="211328"/>
                  </a:lnTo>
                  <a:lnTo>
                    <a:pt x="0" y="0"/>
                  </a:lnTo>
                  <a:close/>
                </a:path>
              </a:pathLst>
            </a:custGeom>
            <a:blipFill>
              <a:blip r:embed="rId15"/>
              <a:stretch>
                <a:fillRect/>
              </a:stretch>
            </a:blipFill>
          </p:spPr>
          <p:txBody>
            <a:bodyPr/>
            <a:lstStyle/>
            <a:p>
              <a:endParaRPr lang="en-SG"/>
            </a:p>
          </p:txBody>
        </p:sp>
      </p:grpSp>
      <p:grpSp>
        <p:nvGrpSpPr>
          <p:cNvPr id="33" name="Group 33"/>
          <p:cNvGrpSpPr/>
          <p:nvPr/>
        </p:nvGrpSpPr>
        <p:grpSpPr>
          <a:xfrm>
            <a:off x="2798064" y="4096512"/>
            <a:ext cx="5096256" cy="158496"/>
            <a:chOff x="0" y="0"/>
            <a:chExt cx="6795008" cy="211328"/>
          </a:xfrm>
        </p:grpSpPr>
        <p:sp>
          <p:nvSpPr>
            <p:cNvPr id="34" name="Freeform 34"/>
            <p:cNvSpPr/>
            <p:nvPr/>
          </p:nvSpPr>
          <p:spPr>
            <a:xfrm>
              <a:off x="0" y="0"/>
              <a:ext cx="6795008" cy="211328"/>
            </a:xfrm>
            <a:custGeom>
              <a:avLst/>
              <a:gdLst/>
              <a:ahLst/>
              <a:cxnLst/>
              <a:rect l="l" t="t" r="r" b="b"/>
              <a:pathLst>
                <a:path w="6795008" h="211328">
                  <a:moveTo>
                    <a:pt x="0" y="0"/>
                  </a:moveTo>
                  <a:lnTo>
                    <a:pt x="6795008" y="0"/>
                  </a:lnTo>
                  <a:lnTo>
                    <a:pt x="6795008" y="211328"/>
                  </a:lnTo>
                  <a:lnTo>
                    <a:pt x="0" y="211328"/>
                  </a:lnTo>
                  <a:lnTo>
                    <a:pt x="0" y="0"/>
                  </a:lnTo>
                  <a:close/>
                </a:path>
              </a:pathLst>
            </a:custGeom>
            <a:blipFill>
              <a:blip r:embed="rId16"/>
              <a:stretch>
                <a:fillRect/>
              </a:stretch>
            </a:blipFill>
          </p:spPr>
          <p:txBody>
            <a:bodyPr/>
            <a:lstStyle/>
            <a:p>
              <a:endParaRPr lang="en-SG"/>
            </a:p>
          </p:txBody>
        </p:sp>
      </p:grpSp>
      <p:grpSp>
        <p:nvGrpSpPr>
          <p:cNvPr id="35" name="Group 35"/>
          <p:cNvGrpSpPr/>
          <p:nvPr/>
        </p:nvGrpSpPr>
        <p:grpSpPr>
          <a:xfrm>
            <a:off x="2798064" y="4251960"/>
            <a:ext cx="5096256" cy="158496"/>
            <a:chOff x="0" y="0"/>
            <a:chExt cx="6795008" cy="211328"/>
          </a:xfrm>
        </p:grpSpPr>
        <p:sp>
          <p:nvSpPr>
            <p:cNvPr id="36" name="Freeform 36"/>
            <p:cNvSpPr/>
            <p:nvPr/>
          </p:nvSpPr>
          <p:spPr>
            <a:xfrm>
              <a:off x="0" y="0"/>
              <a:ext cx="6795008" cy="211328"/>
            </a:xfrm>
            <a:custGeom>
              <a:avLst/>
              <a:gdLst/>
              <a:ahLst/>
              <a:cxnLst/>
              <a:rect l="l" t="t" r="r" b="b"/>
              <a:pathLst>
                <a:path w="6795008" h="211328">
                  <a:moveTo>
                    <a:pt x="0" y="0"/>
                  </a:moveTo>
                  <a:lnTo>
                    <a:pt x="6795008" y="0"/>
                  </a:lnTo>
                  <a:lnTo>
                    <a:pt x="6795008" y="211328"/>
                  </a:lnTo>
                  <a:lnTo>
                    <a:pt x="0" y="211328"/>
                  </a:lnTo>
                  <a:lnTo>
                    <a:pt x="0" y="0"/>
                  </a:lnTo>
                  <a:close/>
                </a:path>
              </a:pathLst>
            </a:custGeom>
            <a:blipFill>
              <a:blip r:embed="rId17"/>
              <a:stretch>
                <a:fillRect/>
              </a:stretch>
            </a:blipFill>
          </p:spPr>
          <p:txBody>
            <a:bodyPr/>
            <a:lstStyle/>
            <a:p>
              <a:endParaRPr lang="en-SG"/>
            </a:p>
          </p:txBody>
        </p:sp>
      </p:grpSp>
      <p:grpSp>
        <p:nvGrpSpPr>
          <p:cNvPr id="37" name="Group 37"/>
          <p:cNvGrpSpPr/>
          <p:nvPr/>
        </p:nvGrpSpPr>
        <p:grpSpPr>
          <a:xfrm>
            <a:off x="2798064" y="4407408"/>
            <a:ext cx="5096256" cy="158496"/>
            <a:chOff x="0" y="0"/>
            <a:chExt cx="6795008" cy="211328"/>
          </a:xfrm>
        </p:grpSpPr>
        <p:sp>
          <p:nvSpPr>
            <p:cNvPr id="38" name="Freeform 38"/>
            <p:cNvSpPr/>
            <p:nvPr/>
          </p:nvSpPr>
          <p:spPr>
            <a:xfrm>
              <a:off x="0" y="0"/>
              <a:ext cx="6795008" cy="211328"/>
            </a:xfrm>
            <a:custGeom>
              <a:avLst/>
              <a:gdLst/>
              <a:ahLst/>
              <a:cxnLst/>
              <a:rect l="l" t="t" r="r" b="b"/>
              <a:pathLst>
                <a:path w="6795008" h="211328">
                  <a:moveTo>
                    <a:pt x="0" y="0"/>
                  </a:moveTo>
                  <a:lnTo>
                    <a:pt x="6795008" y="0"/>
                  </a:lnTo>
                  <a:lnTo>
                    <a:pt x="6795008" y="211328"/>
                  </a:lnTo>
                  <a:lnTo>
                    <a:pt x="0" y="211328"/>
                  </a:lnTo>
                  <a:lnTo>
                    <a:pt x="0" y="0"/>
                  </a:lnTo>
                  <a:close/>
                </a:path>
              </a:pathLst>
            </a:custGeom>
            <a:blipFill>
              <a:blip r:embed="rId18"/>
              <a:stretch>
                <a:fillRect/>
              </a:stretch>
            </a:blipFill>
          </p:spPr>
          <p:txBody>
            <a:bodyPr/>
            <a:lstStyle/>
            <a:p>
              <a:endParaRPr lang="en-SG"/>
            </a:p>
          </p:txBody>
        </p:sp>
      </p:grpSp>
      <p:grpSp>
        <p:nvGrpSpPr>
          <p:cNvPr id="39" name="Group 39"/>
          <p:cNvGrpSpPr/>
          <p:nvPr/>
        </p:nvGrpSpPr>
        <p:grpSpPr>
          <a:xfrm>
            <a:off x="2798064" y="4562856"/>
            <a:ext cx="5096256" cy="158496"/>
            <a:chOff x="0" y="0"/>
            <a:chExt cx="6795008" cy="211328"/>
          </a:xfrm>
        </p:grpSpPr>
        <p:sp>
          <p:nvSpPr>
            <p:cNvPr id="40" name="Freeform 40"/>
            <p:cNvSpPr/>
            <p:nvPr/>
          </p:nvSpPr>
          <p:spPr>
            <a:xfrm>
              <a:off x="0" y="0"/>
              <a:ext cx="6795008" cy="211328"/>
            </a:xfrm>
            <a:custGeom>
              <a:avLst/>
              <a:gdLst/>
              <a:ahLst/>
              <a:cxnLst/>
              <a:rect l="l" t="t" r="r" b="b"/>
              <a:pathLst>
                <a:path w="6795008" h="211328">
                  <a:moveTo>
                    <a:pt x="0" y="0"/>
                  </a:moveTo>
                  <a:lnTo>
                    <a:pt x="6795008" y="0"/>
                  </a:lnTo>
                  <a:lnTo>
                    <a:pt x="6795008" y="211328"/>
                  </a:lnTo>
                  <a:lnTo>
                    <a:pt x="0" y="211328"/>
                  </a:lnTo>
                  <a:lnTo>
                    <a:pt x="0" y="0"/>
                  </a:lnTo>
                  <a:close/>
                </a:path>
              </a:pathLst>
            </a:custGeom>
            <a:blipFill>
              <a:blip r:embed="rId19"/>
              <a:stretch>
                <a:fillRect/>
              </a:stretch>
            </a:blipFill>
          </p:spPr>
          <p:txBody>
            <a:bodyPr/>
            <a:lstStyle/>
            <a:p>
              <a:endParaRPr lang="en-SG"/>
            </a:p>
          </p:txBody>
        </p:sp>
      </p:grpSp>
      <p:grpSp>
        <p:nvGrpSpPr>
          <p:cNvPr id="41" name="Group 41"/>
          <p:cNvGrpSpPr/>
          <p:nvPr/>
        </p:nvGrpSpPr>
        <p:grpSpPr>
          <a:xfrm>
            <a:off x="2798064" y="4718304"/>
            <a:ext cx="5096256" cy="158496"/>
            <a:chOff x="0" y="0"/>
            <a:chExt cx="6795008" cy="211328"/>
          </a:xfrm>
        </p:grpSpPr>
        <p:sp>
          <p:nvSpPr>
            <p:cNvPr id="42" name="Freeform 42"/>
            <p:cNvSpPr/>
            <p:nvPr/>
          </p:nvSpPr>
          <p:spPr>
            <a:xfrm>
              <a:off x="0" y="0"/>
              <a:ext cx="6795008" cy="211328"/>
            </a:xfrm>
            <a:custGeom>
              <a:avLst/>
              <a:gdLst/>
              <a:ahLst/>
              <a:cxnLst/>
              <a:rect l="l" t="t" r="r" b="b"/>
              <a:pathLst>
                <a:path w="6795008" h="211328">
                  <a:moveTo>
                    <a:pt x="0" y="0"/>
                  </a:moveTo>
                  <a:lnTo>
                    <a:pt x="6795008" y="0"/>
                  </a:lnTo>
                  <a:lnTo>
                    <a:pt x="6795008" y="211328"/>
                  </a:lnTo>
                  <a:lnTo>
                    <a:pt x="0" y="211328"/>
                  </a:lnTo>
                  <a:lnTo>
                    <a:pt x="0" y="0"/>
                  </a:lnTo>
                  <a:close/>
                </a:path>
              </a:pathLst>
            </a:custGeom>
            <a:blipFill>
              <a:blip r:embed="rId20"/>
              <a:stretch>
                <a:fillRect/>
              </a:stretch>
            </a:blipFill>
          </p:spPr>
          <p:txBody>
            <a:bodyPr/>
            <a:lstStyle/>
            <a:p>
              <a:endParaRPr lang="en-SG"/>
            </a:p>
          </p:txBody>
        </p:sp>
      </p:grpSp>
      <p:grpSp>
        <p:nvGrpSpPr>
          <p:cNvPr id="43" name="Group 43"/>
          <p:cNvGrpSpPr/>
          <p:nvPr/>
        </p:nvGrpSpPr>
        <p:grpSpPr>
          <a:xfrm>
            <a:off x="2798064" y="4873752"/>
            <a:ext cx="5096256" cy="158496"/>
            <a:chOff x="0" y="0"/>
            <a:chExt cx="6795008" cy="211328"/>
          </a:xfrm>
        </p:grpSpPr>
        <p:sp>
          <p:nvSpPr>
            <p:cNvPr id="44" name="Freeform 44"/>
            <p:cNvSpPr/>
            <p:nvPr/>
          </p:nvSpPr>
          <p:spPr>
            <a:xfrm>
              <a:off x="0" y="0"/>
              <a:ext cx="6795008" cy="211328"/>
            </a:xfrm>
            <a:custGeom>
              <a:avLst/>
              <a:gdLst/>
              <a:ahLst/>
              <a:cxnLst/>
              <a:rect l="l" t="t" r="r" b="b"/>
              <a:pathLst>
                <a:path w="6795008" h="211328">
                  <a:moveTo>
                    <a:pt x="0" y="0"/>
                  </a:moveTo>
                  <a:lnTo>
                    <a:pt x="6795008" y="0"/>
                  </a:lnTo>
                  <a:lnTo>
                    <a:pt x="6795008" y="211328"/>
                  </a:lnTo>
                  <a:lnTo>
                    <a:pt x="0" y="211328"/>
                  </a:lnTo>
                  <a:lnTo>
                    <a:pt x="0" y="0"/>
                  </a:lnTo>
                  <a:close/>
                </a:path>
              </a:pathLst>
            </a:custGeom>
            <a:blipFill>
              <a:blip r:embed="rId21"/>
              <a:stretch>
                <a:fillRect/>
              </a:stretch>
            </a:blipFill>
          </p:spPr>
          <p:txBody>
            <a:bodyPr/>
            <a:lstStyle/>
            <a:p>
              <a:endParaRPr lang="en-SG"/>
            </a:p>
          </p:txBody>
        </p:sp>
      </p:grpSp>
      <p:grpSp>
        <p:nvGrpSpPr>
          <p:cNvPr id="45" name="Group 45"/>
          <p:cNvGrpSpPr/>
          <p:nvPr/>
        </p:nvGrpSpPr>
        <p:grpSpPr>
          <a:xfrm>
            <a:off x="2798064" y="5029200"/>
            <a:ext cx="5096256" cy="158496"/>
            <a:chOff x="0" y="0"/>
            <a:chExt cx="6795008" cy="211328"/>
          </a:xfrm>
        </p:grpSpPr>
        <p:sp>
          <p:nvSpPr>
            <p:cNvPr id="46" name="Freeform 46"/>
            <p:cNvSpPr/>
            <p:nvPr/>
          </p:nvSpPr>
          <p:spPr>
            <a:xfrm>
              <a:off x="0" y="0"/>
              <a:ext cx="6795008" cy="211328"/>
            </a:xfrm>
            <a:custGeom>
              <a:avLst/>
              <a:gdLst/>
              <a:ahLst/>
              <a:cxnLst/>
              <a:rect l="l" t="t" r="r" b="b"/>
              <a:pathLst>
                <a:path w="6795008" h="211328">
                  <a:moveTo>
                    <a:pt x="0" y="0"/>
                  </a:moveTo>
                  <a:lnTo>
                    <a:pt x="6795008" y="0"/>
                  </a:lnTo>
                  <a:lnTo>
                    <a:pt x="6795008" y="211328"/>
                  </a:lnTo>
                  <a:lnTo>
                    <a:pt x="0" y="211328"/>
                  </a:lnTo>
                  <a:lnTo>
                    <a:pt x="0" y="0"/>
                  </a:lnTo>
                  <a:close/>
                </a:path>
              </a:pathLst>
            </a:custGeom>
            <a:blipFill>
              <a:blip r:embed="rId22"/>
              <a:stretch>
                <a:fillRect/>
              </a:stretch>
            </a:blipFill>
          </p:spPr>
          <p:txBody>
            <a:bodyPr/>
            <a:lstStyle/>
            <a:p>
              <a:endParaRPr lang="en-SG"/>
            </a:p>
          </p:txBody>
        </p:sp>
      </p:grpSp>
      <p:grpSp>
        <p:nvGrpSpPr>
          <p:cNvPr id="47" name="Group 47"/>
          <p:cNvGrpSpPr/>
          <p:nvPr/>
        </p:nvGrpSpPr>
        <p:grpSpPr>
          <a:xfrm>
            <a:off x="2798064" y="5184648"/>
            <a:ext cx="5096256" cy="158496"/>
            <a:chOff x="0" y="0"/>
            <a:chExt cx="6795008" cy="211328"/>
          </a:xfrm>
        </p:grpSpPr>
        <p:sp>
          <p:nvSpPr>
            <p:cNvPr id="48" name="Freeform 48"/>
            <p:cNvSpPr/>
            <p:nvPr/>
          </p:nvSpPr>
          <p:spPr>
            <a:xfrm>
              <a:off x="0" y="0"/>
              <a:ext cx="6795008" cy="211328"/>
            </a:xfrm>
            <a:custGeom>
              <a:avLst/>
              <a:gdLst/>
              <a:ahLst/>
              <a:cxnLst/>
              <a:rect l="l" t="t" r="r" b="b"/>
              <a:pathLst>
                <a:path w="6795008" h="211328">
                  <a:moveTo>
                    <a:pt x="0" y="0"/>
                  </a:moveTo>
                  <a:lnTo>
                    <a:pt x="6795008" y="0"/>
                  </a:lnTo>
                  <a:lnTo>
                    <a:pt x="6795008" y="211328"/>
                  </a:lnTo>
                  <a:lnTo>
                    <a:pt x="0" y="211328"/>
                  </a:lnTo>
                  <a:lnTo>
                    <a:pt x="0" y="0"/>
                  </a:lnTo>
                  <a:close/>
                </a:path>
              </a:pathLst>
            </a:custGeom>
            <a:blipFill>
              <a:blip r:embed="rId23"/>
              <a:stretch>
                <a:fillRect/>
              </a:stretch>
            </a:blipFill>
          </p:spPr>
          <p:txBody>
            <a:bodyPr/>
            <a:lstStyle/>
            <a:p>
              <a:endParaRPr lang="en-SG"/>
            </a:p>
          </p:txBody>
        </p:sp>
      </p:grpSp>
      <p:grpSp>
        <p:nvGrpSpPr>
          <p:cNvPr id="49" name="Group 49"/>
          <p:cNvGrpSpPr/>
          <p:nvPr/>
        </p:nvGrpSpPr>
        <p:grpSpPr>
          <a:xfrm>
            <a:off x="2798064" y="5340096"/>
            <a:ext cx="5096256" cy="158496"/>
            <a:chOff x="0" y="0"/>
            <a:chExt cx="6795008" cy="211328"/>
          </a:xfrm>
        </p:grpSpPr>
        <p:sp>
          <p:nvSpPr>
            <p:cNvPr id="50" name="Freeform 50"/>
            <p:cNvSpPr/>
            <p:nvPr/>
          </p:nvSpPr>
          <p:spPr>
            <a:xfrm>
              <a:off x="0" y="0"/>
              <a:ext cx="6795008" cy="211328"/>
            </a:xfrm>
            <a:custGeom>
              <a:avLst/>
              <a:gdLst/>
              <a:ahLst/>
              <a:cxnLst/>
              <a:rect l="l" t="t" r="r" b="b"/>
              <a:pathLst>
                <a:path w="6795008" h="211328">
                  <a:moveTo>
                    <a:pt x="0" y="0"/>
                  </a:moveTo>
                  <a:lnTo>
                    <a:pt x="6795008" y="0"/>
                  </a:lnTo>
                  <a:lnTo>
                    <a:pt x="6795008" y="211328"/>
                  </a:lnTo>
                  <a:lnTo>
                    <a:pt x="0" y="211328"/>
                  </a:lnTo>
                  <a:lnTo>
                    <a:pt x="0" y="0"/>
                  </a:lnTo>
                  <a:close/>
                </a:path>
              </a:pathLst>
            </a:custGeom>
            <a:blipFill>
              <a:blip r:embed="rId24"/>
              <a:stretch>
                <a:fillRect/>
              </a:stretch>
            </a:blipFill>
          </p:spPr>
          <p:txBody>
            <a:bodyPr/>
            <a:lstStyle/>
            <a:p>
              <a:endParaRPr lang="en-SG"/>
            </a:p>
          </p:txBody>
        </p:sp>
      </p:grpSp>
      <p:grpSp>
        <p:nvGrpSpPr>
          <p:cNvPr id="51" name="Group 51"/>
          <p:cNvGrpSpPr/>
          <p:nvPr/>
        </p:nvGrpSpPr>
        <p:grpSpPr>
          <a:xfrm>
            <a:off x="2798064" y="5495544"/>
            <a:ext cx="5096256" cy="158496"/>
            <a:chOff x="0" y="0"/>
            <a:chExt cx="6795008" cy="211328"/>
          </a:xfrm>
        </p:grpSpPr>
        <p:sp>
          <p:nvSpPr>
            <p:cNvPr id="52" name="Freeform 52"/>
            <p:cNvSpPr/>
            <p:nvPr/>
          </p:nvSpPr>
          <p:spPr>
            <a:xfrm>
              <a:off x="0" y="0"/>
              <a:ext cx="6795008" cy="211328"/>
            </a:xfrm>
            <a:custGeom>
              <a:avLst/>
              <a:gdLst/>
              <a:ahLst/>
              <a:cxnLst/>
              <a:rect l="l" t="t" r="r" b="b"/>
              <a:pathLst>
                <a:path w="6795008" h="211328">
                  <a:moveTo>
                    <a:pt x="0" y="0"/>
                  </a:moveTo>
                  <a:lnTo>
                    <a:pt x="6795008" y="0"/>
                  </a:lnTo>
                  <a:lnTo>
                    <a:pt x="6795008" y="211328"/>
                  </a:lnTo>
                  <a:lnTo>
                    <a:pt x="0" y="211328"/>
                  </a:lnTo>
                  <a:lnTo>
                    <a:pt x="0" y="0"/>
                  </a:lnTo>
                  <a:close/>
                </a:path>
              </a:pathLst>
            </a:custGeom>
            <a:blipFill>
              <a:blip r:embed="rId25"/>
              <a:stretch>
                <a:fillRect/>
              </a:stretch>
            </a:blipFill>
          </p:spPr>
          <p:txBody>
            <a:bodyPr/>
            <a:lstStyle/>
            <a:p>
              <a:endParaRPr lang="en-SG"/>
            </a:p>
          </p:txBody>
        </p:sp>
      </p:grpSp>
      <p:grpSp>
        <p:nvGrpSpPr>
          <p:cNvPr id="53" name="Group 53"/>
          <p:cNvGrpSpPr/>
          <p:nvPr/>
        </p:nvGrpSpPr>
        <p:grpSpPr>
          <a:xfrm>
            <a:off x="2798064" y="5650992"/>
            <a:ext cx="5096256" cy="158496"/>
            <a:chOff x="0" y="0"/>
            <a:chExt cx="6795008" cy="211328"/>
          </a:xfrm>
        </p:grpSpPr>
        <p:sp>
          <p:nvSpPr>
            <p:cNvPr id="54" name="Freeform 54"/>
            <p:cNvSpPr/>
            <p:nvPr/>
          </p:nvSpPr>
          <p:spPr>
            <a:xfrm>
              <a:off x="0" y="0"/>
              <a:ext cx="6795008" cy="211328"/>
            </a:xfrm>
            <a:custGeom>
              <a:avLst/>
              <a:gdLst/>
              <a:ahLst/>
              <a:cxnLst/>
              <a:rect l="l" t="t" r="r" b="b"/>
              <a:pathLst>
                <a:path w="6795008" h="211328">
                  <a:moveTo>
                    <a:pt x="0" y="0"/>
                  </a:moveTo>
                  <a:lnTo>
                    <a:pt x="6795008" y="0"/>
                  </a:lnTo>
                  <a:lnTo>
                    <a:pt x="6795008" y="211328"/>
                  </a:lnTo>
                  <a:lnTo>
                    <a:pt x="0" y="211328"/>
                  </a:lnTo>
                  <a:lnTo>
                    <a:pt x="0" y="0"/>
                  </a:lnTo>
                  <a:close/>
                </a:path>
              </a:pathLst>
            </a:custGeom>
            <a:blipFill>
              <a:blip r:embed="rId26"/>
              <a:stretch>
                <a:fillRect/>
              </a:stretch>
            </a:blipFill>
          </p:spPr>
          <p:txBody>
            <a:bodyPr/>
            <a:lstStyle/>
            <a:p>
              <a:endParaRPr lang="en-SG"/>
            </a:p>
          </p:txBody>
        </p:sp>
      </p:grpSp>
      <p:grpSp>
        <p:nvGrpSpPr>
          <p:cNvPr id="55" name="Group 55"/>
          <p:cNvGrpSpPr/>
          <p:nvPr/>
        </p:nvGrpSpPr>
        <p:grpSpPr>
          <a:xfrm>
            <a:off x="2798064" y="5806440"/>
            <a:ext cx="5096256" cy="158496"/>
            <a:chOff x="0" y="0"/>
            <a:chExt cx="6795008" cy="211328"/>
          </a:xfrm>
        </p:grpSpPr>
        <p:sp>
          <p:nvSpPr>
            <p:cNvPr id="56" name="Freeform 56"/>
            <p:cNvSpPr/>
            <p:nvPr/>
          </p:nvSpPr>
          <p:spPr>
            <a:xfrm>
              <a:off x="0" y="0"/>
              <a:ext cx="6795008" cy="211328"/>
            </a:xfrm>
            <a:custGeom>
              <a:avLst/>
              <a:gdLst/>
              <a:ahLst/>
              <a:cxnLst/>
              <a:rect l="l" t="t" r="r" b="b"/>
              <a:pathLst>
                <a:path w="6795008" h="211328">
                  <a:moveTo>
                    <a:pt x="0" y="0"/>
                  </a:moveTo>
                  <a:lnTo>
                    <a:pt x="6795008" y="0"/>
                  </a:lnTo>
                  <a:lnTo>
                    <a:pt x="6795008" y="211328"/>
                  </a:lnTo>
                  <a:lnTo>
                    <a:pt x="0" y="211328"/>
                  </a:lnTo>
                  <a:lnTo>
                    <a:pt x="0" y="0"/>
                  </a:lnTo>
                  <a:close/>
                </a:path>
              </a:pathLst>
            </a:custGeom>
            <a:blipFill>
              <a:blip r:embed="rId27"/>
              <a:stretch>
                <a:fillRect/>
              </a:stretch>
            </a:blipFill>
          </p:spPr>
          <p:txBody>
            <a:bodyPr/>
            <a:lstStyle/>
            <a:p>
              <a:endParaRPr lang="en-SG"/>
            </a:p>
          </p:txBody>
        </p:sp>
      </p:grpSp>
      <p:grpSp>
        <p:nvGrpSpPr>
          <p:cNvPr id="57" name="Group 57"/>
          <p:cNvGrpSpPr/>
          <p:nvPr/>
        </p:nvGrpSpPr>
        <p:grpSpPr>
          <a:xfrm>
            <a:off x="2798064" y="5961888"/>
            <a:ext cx="5096256" cy="158496"/>
            <a:chOff x="0" y="0"/>
            <a:chExt cx="6795008" cy="211328"/>
          </a:xfrm>
        </p:grpSpPr>
        <p:sp>
          <p:nvSpPr>
            <p:cNvPr id="58" name="Freeform 58"/>
            <p:cNvSpPr/>
            <p:nvPr/>
          </p:nvSpPr>
          <p:spPr>
            <a:xfrm>
              <a:off x="0" y="0"/>
              <a:ext cx="6795008" cy="211328"/>
            </a:xfrm>
            <a:custGeom>
              <a:avLst/>
              <a:gdLst/>
              <a:ahLst/>
              <a:cxnLst/>
              <a:rect l="l" t="t" r="r" b="b"/>
              <a:pathLst>
                <a:path w="6795008" h="211328">
                  <a:moveTo>
                    <a:pt x="0" y="0"/>
                  </a:moveTo>
                  <a:lnTo>
                    <a:pt x="6795008" y="0"/>
                  </a:lnTo>
                  <a:lnTo>
                    <a:pt x="6795008" y="211328"/>
                  </a:lnTo>
                  <a:lnTo>
                    <a:pt x="0" y="211328"/>
                  </a:lnTo>
                  <a:lnTo>
                    <a:pt x="0" y="0"/>
                  </a:lnTo>
                  <a:close/>
                </a:path>
              </a:pathLst>
            </a:custGeom>
            <a:blipFill>
              <a:blip r:embed="rId28"/>
              <a:stretch>
                <a:fillRect/>
              </a:stretch>
            </a:blipFill>
          </p:spPr>
          <p:txBody>
            <a:bodyPr/>
            <a:lstStyle/>
            <a:p>
              <a:endParaRPr lang="en-SG"/>
            </a:p>
          </p:txBody>
        </p:sp>
      </p:grpSp>
      <p:grpSp>
        <p:nvGrpSpPr>
          <p:cNvPr id="59" name="Group 59"/>
          <p:cNvGrpSpPr/>
          <p:nvPr/>
        </p:nvGrpSpPr>
        <p:grpSpPr>
          <a:xfrm>
            <a:off x="2798064" y="6117336"/>
            <a:ext cx="5096256" cy="88392"/>
            <a:chOff x="0" y="0"/>
            <a:chExt cx="6795008" cy="117856"/>
          </a:xfrm>
        </p:grpSpPr>
        <p:sp>
          <p:nvSpPr>
            <p:cNvPr id="60" name="Freeform 60"/>
            <p:cNvSpPr/>
            <p:nvPr/>
          </p:nvSpPr>
          <p:spPr>
            <a:xfrm>
              <a:off x="0" y="0"/>
              <a:ext cx="6795008" cy="117856"/>
            </a:xfrm>
            <a:custGeom>
              <a:avLst/>
              <a:gdLst/>
              <a:ahLst/>
              <a:cxnLst/>
              <a:rect l="l" t="t" r="r" b="b"/>
              <a:pathLst>
                <a:path w="6795008" h="117856">
                  <a:moveTo>
                    <a:pt x="0" y="0"/>
                  </a:moveTo>
                  <a:lnTo>
                    <a:pt x="6795008" y="0"/>
                  </a:lnTo>
                  <a:lnTo>
                    <a:pt x="6795008" y="117856"/>
                  </a:lnTo>
                  <a:lnTo>
                    <a:pt x="0" y="117856"/>
                  </a:lnTo>
                  <a:lnTo>
                    <a:pt x="0" y="0"/>
                  </a:lnTo>
                  <a:close/>
                </a:path>
              </a:pathLst>
            </a:custGeom>
            <a:blipFill>
              <a:blip r:embed="rId29"/>
              <a:stretch>
                <a:fillRect/>
              </a:stretch>
            </a:blipFill>
          </p:spPr>
          <p:txBody>
            <a:bodyPr/>
            <a:lstStyle/>
            <a:p>
              <a:endParaRPr lang="en-SG"/>
            </a:p>
          </p:txBody>
        </p:sp>
      </p:grpSp>
      <p:sp>
        <p:nvSpPr>
          <p:cNvPr id="61" name="TextBox 61"/>
          <p:cNvSpPr txBox="1"/>
          <p:nvPr/>
        </p:nvSpPr>
        <p:spPr>
          <a:xfrm>
            <a:off x="1632385" y="1334119"/>
            <a:ext cx="7568251" cy="523504"/>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Satellite Set-up -OBC and ADCS Stack</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2011680" y="2289048"/>
            <a:ext cx="7318248" cy="109728"/>
            <a:chOff x="0" y="0"/>
            <a:chExt cx="9757664" cy="146304"/>
          </a:xfrm>
        </p:grpSpPr>
        <p:sp>
          <p:nvSpPr>
            <p:cNvPr id="10" name="Freeform 10"/>
            <p:cNvSpPr/>
            <p:nvPr/>
          </p:nvSpPr>
          <p:spPr>
            <a:xfrm>
              <a:off x="0" y="0"/>
              <a:ext cx="9757664" cy="146304"/>
            </a:xfrm>
            <a:custGeom>
              <a:avLst/>
              <a:gdLst/>
              <a:ahLst/>
              <a:cxnLst/>
              <a:rect l="l" t="t" r="r" b="b"/>
              <a:pathLst>
                <a:path w="9757664" h="146304">
                  <a:moveTo>
                    <a:pt x="0" y="0"/>
                  </a:moveTo>
                  <a:lnTo>
                    <a:pt x="9757664" y="0"/>
                  </a:lnTo>
                  <a:lnTo>
                    <a:pt x="9757664" y="146304"/>
                  </a:lnTo>
                  <a:lnTo>
                    <a:pt x="0" y="146304"/>
                  </a:lnTo>
                  <a:lnTo>
                    <a:pt x="0" y="0"/>
                  </a:lnTo>
                  <a:close/>
                </a:path>
              </a:pathLst>
            </a:custGeom>
            <a:blipFill>
              <a:blip r:embed="rId4"/>
              <a:stretch>
                <a:fillRect/>
              </a:stretch>
            </a:blipFill>
          </p:spPr>
          <p:txBody>
            <a:bodyPr/>
            <a:lstStyle/>
            <a:p>
              <a:endParaRPr lang="en-SG"/>
            </a:p>
          </p:txBody>
        </p:sp>
      </p:grpSp>
      <p:grpSp>
        <p:nvGrpSpPr>
          <p:cNvPr id="11" name="Group 11"/>
          <p:cNvGrpSpPr/>
          <p:nvPr/>
        </p:nvGrpSpPr>
        <p:grpSpPr>
          <a:xfrm>
            <a:off x="2011680" y="2395728"/>
            <a:ext cx="7318248" cy="3950208"/>
            <a:chOff x="0" y="0"/>
            <a:chExt cx="9757664" cy="5266944"/>
          </a:xfrm>
        </p:grpSpPr>
        <p:sp>
          <p:nvSpPr>
            <p:cNvPr id="12" name="Freeform 12"/>
            <p:cNvSpPr/>
            <p:nvPr/>
          </p:nvSpPr>
          <p:spPr>
            <a:xfrm>
              <a:off x="0" y="0"/>
              <a:ext cx="9757664" cy="5266944"/>
            </a:xfrm>
            <a:custGeom>
              <a:avLst/>
              <a:gdLst/>
              <a:ahLst/>
              <a:cxnLst/>
              <a:rect l="l" t="t" r="r" b="b"/>
              <a:pathLst>
                <a:path w="9757664" h="5266944">
                  <a:moveTo>
                    <a:pt x="0" y="0"/>
                  </a:moveTo>
                  <a:lnTo>
                    <a:pt x="9757664" y="0"/>
                  </a:lnTo>
                  <a:lnTo>
                    <a:pt x="9757664" y="5266944"/>
                  </a:lnTo>
                  <a:lnTo>
                    <a:pt x="0" y="5266944"/>
                  </a:lnTo>
                  <a:lnTo>
                    <a:pt x="0" y="0"/>
                  </a:lnTo>
                  <a:close/>
                </a:path>
              </a:pathLst>
            </a:custGeom>
            <a:blipFill>
              <a:blip r:embed="rId5"/>
              <a:stretch>
                <a:fillRect/>
              </a:stretch>
            </a:blipFill>
          </p:spPr>
          <p:txBody>
            <a:bodyPr/>
            <a:lstStyle/>
            <a:p>
              <a:endParaRPr lang="en-SG"/>
            </a:p>
          </p:txBody>
        </p:sp>
      </p:grpSp>
      <p:grpSp>
        <p:nvGrpSpPr>
          <p:cNvPr id="13" name="Group 13"/>
          <p:cNvGrpSpPr/>
          <p:nvPr/>
        </p:nvGrpSpPr>
        <p:grpSpPr>
          <a:xfrm>
            <a:off x="2011680" y="6342888"/>
            <a:ext cx="7318248" cy="48768"/>
            <a:chOff x="0" y="0"/>
            <a:chExt cx="7318248" cy="48768"/>
          </a:xfrm>
        </p:grpSpPr>
        <p:sp>
          <p:nvSpPr>
            <p:cNvPr id="14" name="Freeform 14"/>
            <p:cNvSpPr/>
            <p:nvPr/>
          </p:nvSpPr>
          <p:spPr>
            <a:xfrm>
              <a:off x="0" y="0"/>
              <a:ext cx="7318248" cy="48768"/>
            </a:xfrm>
            <a:custGeom>
              <a:avLst/>
              <a:gdLst/>
              <a:ahLst/>
              <a:cxnLst/>
              <a:rect l="l" t="t" r="r" b="b"/>
              <a:pathLst>
                <a:path w="7318248" h="48768">
                  <a:moveTo>
                    <a:pt x="0" y="48768"/>
                  </a:moveTo>
                  <a:lnTo>
                    <a:pt x="7318248" y="48768"/>
                  </a:lnTo>
                  <a:lnTo>
                    <a:pt x="7318248" y="0"/>
                  </a:lnTo>
                  <a:lnTo>
                    <a:pt x="0" y="0"/>
                  </a:lnTo>
                  <a:lnTo>
                    <a:pt x="0" y="48768"/>
                  </a:lnTo>
                  <a:close/>
                </a:path>
              </a:pathLst>
            </a:custGeom>
            <a:solidFill>
              <a:srgbClr val="FFFFFF"/>
            </a:solidFill>
          </p:spPr>
          <p:txBody>
            <a:bodyPr/>
            <a:lstStyle/>
            <a:p>
              <a:endParaRPr lang="en-SG"/>
            </a:p>
          </p:txBody>
        </p:sp>
      </p:grpSp>
      <p:sp>
        <p:nvSpPr>
          <p:cNvPr id="15" name="TextBox 15"/>
          <p:cNvSpPr txBox="1"/>
          <p:nvPr/>
        </p:nvSpPr>
        <p:spPr>
          <a:xfrm>
            <a:off x="1632233" y="1347149"/>
            <a:ext cx="7514311" cy="477260"/>
          </a:xfrm>
          <a:prstGeom prst="rect">
            <a:avLst/>
          </a:prstGeom>
        </p:spPr>
        <p:txBody>
          <a:bodyPr lIns="0" tIns="0" rIns="0" bIns="0" rtlCol="0" anchor="t">
            <a:spAutoFit/>
          </a:bodyPr>
          <a:lstStyle/>
          <a:p>
            <a:pPr algn="l">
              <a:lnSpc>
                <a:spcPts val="3931"/>
              </a:lnSpc>
            </a:pPr>
            <a:r>
              <a:rPr lang="en-US" sz="2808">
                <a:solidFill>
                  <a:srgbClr val="2C2C2C"/>
                </a:solidFill>
                <a:latin typeface="Montserrat"/>
                <a:ea typeface="Montserrat"/>
                <a:cs typeface="Montserrat"/>
                <a:sym typeface="Montserrat"/>
              </a:rPr>
              <a:t>Satellite Set-up -Preparing the Full Stack</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6137148" y="2008632"/>
            <a:ext cx="4427220" cy="182880"/>
            <a:chOff x="0" y="0"/>
            <a:chExt cx="5902960" cy="243840"/>
          </a:xfrm>
        </p:grpSpPr>
        <p:sp>
          <p:nvSpPr>
            <p:cNvPr id="10" name="Freeform 10"/>
            <p:cNvSpPr/>
            <p:nvPr/>
          </p:nvSpPr>
          <p:spPr>
            <a:xfrm>
              <a:off x="0" y="0"/>
              <a:ext cx="5902960" cy="243840"/>
            </a:xfrm>
            <a:custGeom>
              <a:avLst/>
              <a:gdLst/>
              <a:ahLst/>
              <a:cxnLst/>
              <a:rect l="l" t="t" r="r" b="b"/>
              <a:pathLst>
                <a:path w="5902960" h="243840">
                  <a:moveTo>
                    <a:pt x="0" y="0"/>
                  </a:moveTo>
                  <a:lnTo>
                    <a:pt x="5902960" y="0"/>
                  </a:lnTo>
                  <a:lnTo>
                    <a:pt x="5902960" y="243840"/>
                  </a:lnTo>
                  <a:lnTo>
                    <a:pt x="0" y="243840"/>
                  </a:lnTo>
                  <a:lnTo>
                    <a:pt x="0" y="0"/>
                  </a:lnTo>
                  <a:close/>
                </a:path>
              </a:pathLst>
            </a:custGeom>
            <a:blipFill>
              <a:blip r:embed="rId4"/>
              <a:stretch>
                <a:fillRect l="-34"/>
              </a:stretch>
            </a:blipFill>
          </p:spPr>
          <p:txBody>
            <a:bodyPr/>
            <a:lstStyle/>
            <a:p>
              <a:endParaRPr lang="en-SG"/>
            </a:p>
          </p:txBody>
        </p:sp>
      </p:grpSp>
      <p:grpSp>
        <p:nvGrpSpPr>
          <p:cNvPr id="11" name="Group 11"/>
          <p:cNvGrpSpPr/>
          <p:nvPr/>
        </p:nvGrpSpPr>
        <p:grpSpPr>
          <a:xfrm>
            <a:off x="6137148" y="2188464"/>
            <a:ext cx="4427220" cy="4498848"/>
            <a:chOff x="0" y="0"/>
            <a:chExt cx="5902960" cy="5998464"/>
          </a:xfrm>
        </p:grpSpPr>
        <p:sp>
          <p:nvSpPr>
            <p:cNvPr id="12" name="Freeform 12"/>
            <p:cNvSpPr/>
            <p:nvPr/>
          </p:nvSpPr>
          <p:spPr>
            <a:xfrm>
              <a:off x="0" y="0"/>
              <a:ext cx="5902960" cy="5998464"/>
            </a:xfrm>
            <a:custGeom>
              <a:avLst/>
              <a:gdLst/>
              <a:ahLst/>
              <a:cxnLst/>
              <a:rect l="l" t="t" r="r" b="b"/>
              <a:pathLst>
                <a:path w="5902960" h="5998464">
                  <a:moveTo>
                    <a:pt x="0" y="0"/>
                  </a:moveTo>
                  <a:lnTo>
                    <a:pt x="5902960" y="0"/>
                  </a:lnTo>
                  <a:lnTo>
                    <a:pt x="5902960" y="5998464"/>
                  </a:lnTo>
                  <a:lnTo>
                    <a:pt x="0" y="5998464"/>
                  </a:lnTo>
                  <a:lnTo>
                    <a:pt x="0" y="0"/>
                  </a:lnTo>
                  <a:close/>
                </a:path>
              </a:pathLst>
            </a:custGeom>
            <a:blipFill>
              <a:blip r:embed="rId5"/>
              <a:stretch>
                <a:fillRect/>
              </a:stretch>
            </a:blipFill>
          </p:spPr>
          <p:txBody>
            <a:bodyPr/>
            <a:lstStyle/>
            <a:p>
              <a:endParaRPr lang="en-SG"/>
            </a:p>
          </p:txBody>
        </p:sp>
      </p:grpSp>
      <p:grpSp>
        <p:nvGrpSpPr>
          <p:cNvPr id="13" name="Group 13"/>
          <p:cNvGrpSpPr/>
          <p:nvPr/>
        </p:nvGrpSpPr>
        <p:grpSpPr>
          <a:xfrm>
            <a:off x="6135624" y="6684264"/>
            <a:ext cx="4428744" cy="6096"/>
            <a:chOff x="0" y="0"/>
            <a:chExt cx="4428744" cy="6096"/>
          </a:xfrm>
        </p:grpSpPr>
        <p:sp>
          <p:nvSpPr>
            <p:cNvPr id="14" name="Freeform 14"/>
            <p:cNvSpPr/>
            <p:nvPr/>
          </p:nvSpPr>
          <p:spPr>
            <a:xfrm>
              <a:off x="0" y="0"/>
              <a:ext cx="4428744" cy="6096"/>
            </a:xfrm>
            <a:custGeom>
              <a:avLst/>
              <a:gdLst/>
              <a:ahLst/>
              <a:cxnLst/>
              <a:rect l="l" t="t" r="r" b="b"/>
              <a:pathLst>
                <a:path w="4428744" h="6096">
                  <a:moveTo>
                    <a:pt x="0" y="6096"/>
                  </a:moveTo>
                  <a:lnTo>
                    <a:pt x="4428744" y="6096"/>
                  </a:lnTo>
                  <a:lnTo>
                    <a:pt x="4428744" y="0"/>
                  </a:lnTo>
                  <a:lnTo>
                    <a:pt x="0" y="0"/>
                  </a:lnTo>
                  <a:lnTo>
                    <a:pt x="0" y="6096"/>
                  </a:lnTo>
                  <a:close/>
                </a:path>
              </a:pathLst>
            </a:custGeom>
            <a:solidFill>
              <a:srgbClr val="FFFFFF"/>
            </a:solidFill>
          </p:spPr>
          <p:txBody>
            <a:bodyPr/>
            <a:lstStyle/>
            <a:p>
              <a:endParaRPr lang="en-SG"/>
            </a:p>
          </p:txBody>
        </p:sp>
      </p:grpSp>
      <p:sp>
        <p:nvSpPr>
          <p:cNvPr id="15" name="TextBox 15"/>
          <p:cNvSpPr txBox="1"/>
          <p:nvPr/>
        </p:nvSpPr>
        <p:spPr>
          <a:xfrm>
            <a:off x="1632109" y="1286494"/>
            <a:ext cx="5290318" cy="2057705"/>
          </a:xfrm>
          <a:prstGeom prst="rect">
            <a:avLst/>
          </a:prstGeom>
        </p:spPr>
        <p:txBody>
          <a:bodyPr lIns="0" tIns="0" rIns="0" bIns="0" rtlCol="0" anchor="t">
            <a:spAutoFit/>
          </a:bodyPr>
          <a:lstStyle/>
          <a:p>
            <a:pPr algn="l">
              <a:lnSpc>
                <a:spcPts val="4721"/>
              </a:lnSpc>
            </a:pPr>
            <a:r>
              <a:rPr lang="en-US" sz="3048">
                <a:solidFill>
                  <a:srgbClr val="2C2C2C"/>
                </a:solidFill>
                <a:latin typeface="Montserrat"/>
                <a:ea typeface="Montserrat"/>
                <a:cs typeface="Montserrat"/>
                <a:sym typeface="Montserrat"/>
              </a:rPr>
              <a:t>Satellite Set-up -Full Stack</a:t>
            </a:r>
          </a:p>
          <a:p>
            <a:pPr algn="l">
              <a:lnSpc>
                <a:spcPts val="2899"/>
              </a:lnSpc>
            </a:pPr>
            <a:r>
              <a:rPr lang="en-US" sz="1872" spc="-14">
                <a:solidFill>
                  <a:srgbClr val="000000"/>
                </a:solidFill>
                <a:latin typeface="Montserrat"/>
                <a:ea typeface="Montserrat"/>
                <a:cs typeface="Montserrat"/>
                <a:sym typeface="Montserrat"/>
              </a:rPr>
              <a:t>Plug the camera connector to the </a:t>
            </a:r>
          </a:p>
          <a:p>
            <a:pPr algn="l">
              <a:lnSpc>
                <a:spcPts val="2899"/>
              </a:lnSpc>
            </a:pPr>
            <a:r>
              <a:rPr lang="en-US" sz="1872" spc="-14">
                <a:solidFill>
                  <a:srgbClr val="000000"/>
                </a:solidFill>
                <a:latin typeface="Montserrat"/>
                <a:ea typeface="Montserrat"/>
                <a:cs typeface="Montserrat"/>
                <a:sym typeface="Montserrat"/>
              </a:rPr>
              <a:t>OBC BEFORE placing the EPS on </a:t>
            </a:r>
          </a:p>
          <a:p>
            <a:pPr algn="l">
              <a:lnSpc>
                <a:spcPts val="2899"/>
              </a:lnSpc>
            </a:pPr>
            <a:r>
              <a:rPr lang="en-US" sz="1872" spc="-14">
                <a:solidFill>
                  <a:srgbClr val="000000"/>
                </a:solidFill>
                <a:latin typeface="Montserrat"/>
                <a:ea typeface="Montserrat"/>
                <a:cs typeface="Montserrat"/>
                <a:sym typeface="Montserrat"/>
              </a:rPr>
              <a:t>top of it!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2647188" y="2615184"/>
            <a:ext cx="6475476" cy="124968"/>
            <a:chOff x="0" y="0"/>
            <a:chExt cx="8633968" cy="166624"/>
          </a:xfrm>
        </p:grpSpPr>
        <p:sp>
          <p:nvSpPr>
            <p:cNvPr id="10" name="Freeform 10"/>
            <p:cNvSpPr/>
            <p:nvPr/>
          </p:nvSpPr>
          <p:spPr>
            <a:xfrm>
              <a:off x="0" y="0"/>
              <a:ext cx="8633968" cy="166624"/>
            </a:xfrm>
            <a:custGeom>
              <a:avLst/>
              <a:gdLst/>
              <a:ahLst/>
              <a:cxnLst/>
              <a:rect l="l" t="t" r="r" b="b"/>
              <a:pathLst>
                <a:path w="8633968" h="166624">
                  <a:moveTo>
                    <a:pt x="0" y="0"/>
                  </a:moveTo>
                  <a:lnTo>
                    <a:pt x="8633968" y="0"/>
                  </a:lnTo>
                  <a:lnTo>
                    <a:pt x="8633968" y="166624"/>
                  </a:lnTo>
                  <a:lnTo>
                    <a:pt x="0" y="166624"/>
                  </a:lnTo>
                  <a:lnTo>
                    <a:pt x="0" y="0"/>
                  </a:lnTo>
                  <a:close/>
                </a:path>
              </a:pathLst>
            </a:custGeom>
            <a:blipFill>
              <a:blip r:embed="rId4"/>
              <a:stretch>
                <a:fillRect l="-23"/>
              </a:stretch>
            </a:blipFill>
          </p:spPr>
          <p:txBody>
            <a:bodyPr/>
            <a:lstStyle/>
            <a:p>
              <a:endParaRPr lang="en-SG"/>
            </a:p>
          </p:txBody>
        </p:sp>
      </p:grpSp>
      <p:grpSp>
        <p:nvGrpSpPr>
          <p:cNvPr id="11" name="Group 11"/>
          <p:cNvGrpSpPr/>
          <p:nvPr/>
        </p:nvGrpSpPr>
        <p:grpSpPr>
          <a:xfrm>
            <a:off x="2647188" y="2737104"/>
            <a:ext cx="6475476" cy="3782568"/>
            <a:chOff x="0" y="0"/>
            <a:chExt cx="8633968" cy="5043424"/>
          </a:xfrm>
        </p:grpSpPr>
        <p:sp>
          <p:nvSpPr>
            <p:cNvPr id="12" name="Freeform 12"/>
            <p:cNvSpPr/>
            <p:nvPr/>
          </p:nvSpPr>
          <p:spPr>
            <a:xfrm>
              <a:off x="0" y="0"/>
              <a:ext cx="8633968" cy="5043424"/>
            </a:xfrm>
            <a:custGeom>
              <a:avLst/>
              <a:gdLst/>
              <a:ahLst/>
              <a:cxnLst/>
              <a:rect l="l" t="t" r="r" b="b"/>
              <a:pathLst>
                <a:path w="8633968" h="5043424">
                  <a:moveTo>
                    <a:pt x="0" y="0"/>
                  </a:moveTo>
                  <a:lnTo>
                    <a:pt x="8633968" y="0"/>
                  </a:lnTo>
                  <a:lnTo>
                    <a:pt x="8633968" y="5043424"/>
                  </a:lnTo>
                  <a:lnTo>
                    <a:pt x="0" y="5043424"/>
                  </a:lnTo>
                  <a:lnTo>
                    <a:pt x="0" y="0"/>
                  </a:lnTo>
                  <a:close/>
                </a:path>
              </a:pathLst>
            </a:custGeom>
            <a:blipFill>
              <a:blip r:embed="rId5"/>
              <a:stretch>
                <a:fillRect/>
              </a:stretch>
            </a:blipFill>
          </p:spPr>
          <p:txBody>
            <a:bodyPr/>
            <a:lstStyle/>
            <a:p>
              <a:endParaRPr lang="en-SG"/>
            </a:p>
          </p:txBody>
        </p:sp>
      </p:grpSp>
      <p:grpSp>
        <p:nvGrpSpPr>
          <p:cNvPr id="13" name="Group 13"/>
          <p:cNvGrpSpPr/>
          <p:nvPr/>
        </p:nvGrpSpPr>
        <p:grpSpPr>
          <a:xfrm>
            <a:off x="2645664" y="6516624"/>
            <a:ext cx="6477000" cy="6096"/>
            <a:chOff x="0" y="0"/>
            <a:chExt cx="6477000" cy="6096"/>
          </a:xfrm>
        </p:grpSpPr>
        <p:sp>
          <p:nvSpPr>
            <p:cNvPr id="14" name="Freeform 14"/>
            <p:cNvSpPr/>
            <p:nvPr/>
          </p:nvSpPr>
          <p:spPr>
            <a:xfrm>
              <a:off x="0" y="0"/>
              <a:ext cx="6477000" cy="6096"/>
            </a:xfrm>
            <a:custGeom>
              <a:avLst/>
              <a:gdLst/>
              <a:ahLst/>
              <a:cxnLst/>
              <a:rect l="l" t="t" r="r" b="b"/>
              <a:pathLst>
                <a:path w="6477000" h="6096">
                  <a:moveTo>
                    <a:pt x="0" y="6096"/>
                  </a:moveTo>
                  <a:lnTo>
                    <a:pt x="6477000" y="6096"/>
                  </a:lnTo>
                  <a:lnTo>
                    <a:pt x="6477000" y="0"/>
                  </a:lnTo>
                  <a:lnTo>
                    <a:pt x="0" y="0"/>
                  </a:lnTo>
                  <a:lnTo>
                    <a:pt x="0" y="6096"/>
                  </a:lnTo>
                  <a:close/>
                </a:path>
              </a:pathLst>
            </a:custGeom>
            <a:solidFill>
              <a:srgbClr val="FFFFFF"/>
            </a:solidFill>
          </p:spPr>
          <p:txBody>
            <a:bodyPr/>
            <a:lstStyle/>
            <a:p>
              <a:endParaRPr lang="en-SG"/>
            </a:p>
          </p:txBody>
        </p:sp>
      </p:grpSp>
      <p:sp>
        <p:nvSpPr>
          <p:cNvPr id="15" name="TextBox 15"/>
          <p:cNvSpPr txBox="1"/>
          <p:nvPr/>
        </p:nvSpPr>
        <p:spPr>
          <a:xfrm>
            <a:off x="1632109" y="1334119"/>
            <a:ext cx="8266062" cy="1274026"/>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Satellite Set-up -Top Frame</a:t>
            </a:r>
          </a:p>
          <a:p>
            <a:pPr algn="l">
              <a:lnSpc>
                <a:spcPts val="2620"/>
              </a:lnSpc>
            </a:pPr>
            <a:r>
              <a:rPr lang="en-US" sz="1872" spc="-14">
                <a:solidFill>
                  <a:srgbClr val="000000"/>
                </a:solidFill>
                <a:latin typeface="Montserrat"/>
                <a:ea typeface="Montserrat"/>
                <a:cs typeface="Montserrat"/>
                <a:sym typeface="Montserrat"/>
              </a:rPr>
              <a:t>Build the top frame of the 1U in a similar way as for the bottom frame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4088892" y="2167128"/>
            <a:ext cx="3323844" cy="243840"/>
            <a:chOff x="0" y="0"/>
            <a:chExt cx="4431792" cy="325120"/>
          </a:xfrm>
        </p:grpSpPr>
        <p:sp>
          <p:nvSpPr>
            <p:cNvPr id="10" name="Freeform 10"/>
            <p:cNvSpPr/>
            <p:nvPr/>
          </p:nvSpPr>
          <p:spPr>
            <a:xfrm>
              <a:off x="0" y="0"/>
              <a:ext cx="4431792" cy="325120"/>
            </a:xfrm>
            <a:custGeom>
              <a:avLst/>
              <a:gdLst/>
              <a:ahLst/>
              <a:cxnLst/>
              <a:rect l="l" t="t" r="r" b="b"/>
              <a:pathLst>
                <a:path w="4431792" h="325120">
                  <a:moveTo>
                    <a:pt x="0" y="0"/>
                  </a:moveTo>
                  <a:lnTo>
                    <a:pt x="4431792" y="0"/>
                  </a:lnTo>
                  <a:lnTo>
                    <a:pt x="4431792" y="325120"/>
                  </a:lnTo>
                  <a:lnTo>
                    <a:pt x="0" y="325120"/>
                  </a:lnTo>
                  <a:lnTo>
                    <a:pt x="0" y="0"/>
                  </a:lnTo>
                  <a:close/>
                </a:path>
              </a:pathLst>
            </a:custGeom>
            <a:blipFill>
              <a:blip r:embed="rId4"/>
              <a:stretch>
                <a:fillRect l="-45"/>
              </a:stretch>
            </a:blipFill>
          </p:spPr>
          <p:txBody>
            <a:bodyPr/>
            <a:lstStyle/>
            <a:p>
              <a:endParaRPr lang="en-SG"/>
            </a:p>
          </p:txBody>
        </p:sp>
      </p:grpSp>
      <p:grpSp>
        <p:nvGrpSpPr>
          <p:cNvPr id="11" name="Group 11"/>
          <p:cNvGrpSpPr/>
          <p:nvPr/>
        </p:nvGrpSpPr>
        <p:grpSpPr>
          <a:xfrm>
            <a:off x="4088892" y="2407920"/>
            <a:ext cx="3323844" cy="4294632"/>
            <a:chOff x="0" y="0"/>
            <a:chExt cx="4431792" cy="5726176"/>
          </a:xfrm>
        </p:grpSpPr>
        <p:sp>
          <p:nvSpPr>
            <p:cNvPr id="12" name="Freeform 12"/>
            <p:cNvSpPr/>
            <p:nvPr/>
          </p:nvSpPr>
          <p:spPr>
            <a:xfrm>
              <a:off x="0" y="0"/>
              <a:ext cx="4431792" cy="5726176"/>
            </a:xfrm>
            <a:custGeom>
              <a:avLst/>
              <a:gdLst/>
              <a:ahLst/>
              <a:cxnLst/>
              <a:rect l="l" t="t" r="r" b="b"/>
              <a:pathLst>
                <a:path w="4431792" h="5726176">
                  <a:moveTo>
                    <a:pt x="0" y="0"/>
                  </a:moveTo>
                  <a:lnTo>
                    <a:pt x="4431792" y="0"/>
                  </a:lnTo>
                  <a:lnTo>
                    <a:pt x="4431792" y="5726176"/>
                  </a:lnTo>
                  <a:lnTo>
                    <a:pt x="0" y="5726176"/>
                  </a:lnTo>
                  <a:lnTo>
                    <a:pt x="0" y="0"/>
                  </a:lnTo>
                  <a:close/>
                </a:path>
              </a:pathLst>
            </a:custGeom>
            <a:blipFill>
              <a:blip r:embed="rId5"/>
              <a:stretch>
                <a:fillRect/>
              </a:stretch>
            </a:blipFill>
          </p:spPr>
          <p:txBody>
            <a:bodyPr/>
            <a:lstStyle/>
            <a:p>
              <a:endParaRPr lang="en-SG"/>
            </a:p>
          </p:txBody>
        </p:sp>
      </p:grpSp>
      <p:sp>
        <p:nvSpPr>
          <p:cNvPr id="13" name="TextBox 13"/>
          <p:cNvSpPr txBox="1"/>
          <p:nvPr/>
        </p:nvSpPr>
        <p:spPr>
          <a:xfrm>
            <a:off x="1632385" y="1334119"/>
            <a:ext cx="5505621" cy="523504"/>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Satellite Set-up -Top Frame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2350008" y="2167128"/>
            <a:ext cx="5992368" cy="134112"/>
            <a:chOff x="0" y="0"/>
            <a:chExt cx="7989824" cy="178816"/>
          </a:xfrm>
        </p:grpSpPr>
        <p:sp>
          <p:nvSpPr>
            <p:cNvPr id="10" name="Freeform 10"/>
            <p:cNvSpPr/>
            <p:nvPr/>
          </p:nvSpPr>
          <p:spPr>
            <a:xfrm>
              <a:off x="0" y="0"/>
              <a:ext cx="7989824" cy="178816"/>
            </a:xfrm>
            <a:custGeom>
              <a:avLst/>
              <a:gdLst/>
              <a:ahLst/>
              <a:cxnLst/>
              <a:rect l="l" t="t" r="r" b="b"/>
              <a:pathLst>
                <a:path w="7989824" h="178816">
                  <a:moveTo>
                    <a:pt x="0" y="0"/>
                  </a:moveTo>
                  <a:lnTo>
                    <a:pt x="7989824" y="0"/>
                  </a:lnTo>
                  <a:lnTo>
                    <a:pt x="7989824" y="178816"/>
                  </a:lnTo>
                  <a:lnTo>
                    <a:pt x="0" y="178816"/>
                  </a:lnTo>
                  <a:lnTo>
                    <a:pt x="0" y="0"/>
                  </a:lnTo>
                  <a:close/>
                </a:path>
              </a:pathLst>
            </a:custGeom>
            <a:blipFill>
              <a:blip r:embed="rId4"/>
              <a:stretch>
                <a:fillRect/>
              </a:stretch>
            </a:blipFill>
          </p:spPr>
          <p:txBody>
            <a:bodyPr/>
            <a:lstStyle/>
            <a:p>
              <a:endParaRPr lang="en-SG"/>
            </a:p>
          </p:txBody>
        </p:sp>
      </p:grpSp>
      <p:grpSp>
        <p:nvGrpSpPr>
          <p:cNvPr id="11" name="Group 11"/>
          <p:cNvGrpSpPr/>
          <p:nvPr/>
        </p:nvGrpSpPr>
        <p:grpSpPr>
          <a:xfrm>
            <a:off x="2350008" y="2298192"/>
            <a:ext cx="5992368" cy="4197096"/>
            <a:chOff x="0" y="0"/>
            <a:chExt cx="7989824" cy="5596128"/>
          </a:xfrm>
        </p:grpSpPr>
        <p:sp>
          <p:nvSpPr>
            <p:cNvPr id="12" name="Freeform 12"/>
            <p:cNvSpPr/>
            <p:nvPr/>
          </p:nvSpPr>
          <p:spPr>
            <a:xfrm>
              <a:off x="0" y="0"/>
              <a:ext cx="7989824" cy="5596128"/>
            </a:xfrm>
            <a:custGeom>
              <a:avLst/>
              <a:gdLst/>
              <a:ahLst/>
              <a:cxnLst/>
              <a:rect l="l" t="t" r="r" b="b"/>
              <a:pathLst>
                <a:path w="7989824" h="5596128">
                  <a:moveTo>
                    <a:pt x="0" y="0"/>
                  </a:moveTo>
                  <a:lnTo>
                    <a:pt x="7989824" y="0"/>
                  </a:lnTo>
                  <a:lnTo>
                    <a:pt x="7989824" y="5596128"/>
                  </a:lnTo>
                  <a:lnTo>
                    <a:pt x="0" y="5596128"/>
                  </a:lnTo>
                  <a:lnTo>
                    <a:pt x="0" y="0"/>
                  </a:lnTo>
                  <a:close/>
                </a:path>
              </a:pathLst>
            </a:custGeom>
            <a:blipFill>
              <a:blip r:embed="rId5"/>
              <a:stretch>
                <a:fillRect/>
              </a:stretch>
            </a:blipFill>
          </p:spPr>
          <p:txBody>
            <a:bodyPr/>
            <a:lstStyle/>
            <a:p>
              <a:endParaRPr lang="en-SG"/>
            </a:p>
          </p:txBody>
        </p:sp>
      </p:grpSp>
      <p:grpSp>
        <p:nvGrpSpPr>
          <p:cNvPr id="13" name="Group 13"/>
          <p:cNvGrpSpPr/>
          <p:nvPr/>
        </p:nvGrpSpPr>
        <p:grpSpPr>
          <a:xfrm>
            <a:off x="2350008" y="6492240"/>
            <a:ext cx="5992368" cy="51816"/>
            <a:chOff x="0" y="0"/>
            <a:chExt cx="5992368" cy="51816"/>
          </a:xfrm>
        </p:grpSpPr>
        <p:sp>
          <p:nvSpPr>
            <p:cNvPr id="14" name="Freeform 14"/>
            <p:cNvSpPr/>
            <p:nvPr/>
          </p:nvSpPr>
          <p:spPr>
            <a:xfrm>
              <a:off x="0" y="0"/>
              <a:ext cx="5992368" cy="51816"/>
            </a:xfrm>
            <a:custGeom>
              <a:avLst/>
              <a:gdLst/>
              <a:ahLst/>
              <a:cxnLst/>
              <a:rect l="l" t="t" r="r" b="b"/>
              <a:pathLst>
                <a:path w="5992368" h="51816">
                  <a:moveTo>
                    <a:pt x="0" y="51816"/>
                  </a:moveTo>
                  <a:lnTo>
                    <a:pt x="5992368" y="51816"/>
                  </a:lnTo>
                  <a:lnTo>
                    <a:pt x="5992368" y="0"/>
                  </a:lnTo>
                  <a:lnTo>
                    <a:pt x="0" y="0"/>
                  </a:lnTo>
                  <a:lnTo>
                    <a:pt x="0" y="51816"/>
                  </a:lnTo>
                  <a:close/>
                </a:path>
              </a:pathLst>
            </a:custGeom>
            <a:solidFill>
              <a:srgbClr val="FFFFFF"/>
            </a:solidFill>
          </p:spPr>
          <p:txBody>
            <a:bodyPr/>
            <a:lstStyle/>
            <a:p>
              <a:endParaRPr lang="en-SG"/>
            </a:p>
          </p:txBody>
        </p:sp>
      </p:grpSp>
      <p:sp>
        <p:nvSpPr>
          <p:cNvPr id="15" name="TextBox 15"/>
          <p:cNvSpPr txBox="1"/>
          <p:nvPr/>
        </p:nvSpPr>
        <p:spPr>
          <a:xfrm>
            <a:off x="1632385" y="1334119"/>
            <a:ext cx="6383741" cy="523504"/>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Satellite Set-up -Side Structures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5408676" y="1914144"/>
            <a:ext cx="5195316" cy="155448"/>
            <a:chOff x="0" y="0"/>
            <a:chExt cx="6927088" cy="207264"/>
          </a:xfrm>
        </p:grpSpPr>
        <p:sp>
          <p:nvSpPr>
            <p:cNvPr id="10" name="Freeform 10"/>
            <p:cNvSpPr/>
            <p:nvPr/>
          </p:nvSpPr>
          <p:spPr>
            <a:xfrm>
              <a:off x="0" y="0"/>
              <a:ext cx="6927088" cy="207264"/>
            </a:xfrm>
            <a:custGeom>
              <a:avLst/>
              <a:gdLst/>
              <a:ahLst/>
              <a:cxnLst/>
              <a:rect l="l" t="t" r="r" b="b"/>
              <a:pathLst>
                <a:path w="6927088" h="207264">
                  <a:moveTo>
                    <a:pt x="0" y="0"/>
                  </a:moveTo>
                  <a:lnTo>
                    <a:pt x="6927088" y="0"/>
                  </a:lnTo>
                  <a:lnTo>
                    <a:pt x="6927088" y="207264"/>
                  </a:lnTo>
                  <a:lnTo>
                    <a:pt x="0" y="207264"/>
                  </a:lnTo>
                  <a:lnTo>
                    <a:pt x="0" y="0"/>
                  </a:lnTo>
                  <a:close/>
                </a:path>
              </a:pathLst>
            </a:custGeom>
            <a:blipFill>
              <a:blip r:embed="rId4"/>
              <a:stretch>
                <a:fillRect l="-29"/>
              </a:stretch>
            </a:blipFill>
          </p:spPr>
          <p:txBody>
            <a:bodyPr/>
            <a:lstStyle/>
            <a:p>
              <a:endParaRPr lang="en-SG"/>
            </a:p>
          </p:txBody>
        </p:sp>
      </p:grpSp>
      <p:grpSp>
        <p:nvGrpSpPr>
          <p:cNvPr id="11" name="Group 11"/>
          <p:cNvGrpSpPr/>
          <p:nvPr/>
        </p:nvGrpSpPr>
        <p:grpSpPr>
          <a:xfrm>
            <a:off x="5408676" y="2066544"/>
            <a:ext cx="5195316" cy="4575048"/>
            <a:chOff x="0" y="0"/>
            <a:chExt cx="6927088" cy="6100064"/>
          </a:xfrm>
        </p:grpSpPr>
        <p:sp>
          <p:nvSpPr>
            <p:cNvPr id="12" name="Freeform 12"/>
            <p:cNvSpPr/>
            <p:nvPr/>
          </p:nvSpPr>
          <p:spPr>
            <a:xfrm>
              <a:off x="0" y="0"/>
              <a:ext cx="6927088" cy="6100064"/>
            </a:xfrm>
            <a:custGeom>
              <a:avLst/>
              <a:gdLst/>
              <a:ahLst/>
              <a:cxnLst/>
              <a:rect l="l" t="t" r="r" b="b"/>
              <a:pathLst>
                <a:path w="6927088" h="6100064">
                  <a:moveTo>
                    <a:pt x="0" y="0"/>
                  </a:moveTo>
                  <a:lnTo>
                    <a:pt x="6927088" y="0"/>
                  </a:lnTo>
                  <a:lnTo>
                    <a:pt x="6927088" y="6100064"/>
                  </a:lnTo>
                  <a:lnTo>
                    <a:pt x="0" y="6100064"/>
                  </a:lnTo>
                  <a:lnTo>
                    <a:pt x="0" y="0"/>
                  </a:lnTo>
                  <a:close/>
                </a:path>
              </a:pathLst>
            </a:custGeom>
            <a:blipFill>
              <a:blip r:embed="rId5"/>
              <a:stretch>
                <a:fillRect/>
              </a:stretch>
            </a:blipFill>
          </p:spPr>
          <p:txBody>
            <a:bodyPr/>
            <a:lstStyle/>
            <a:p>
              <a:endParaRPr lang="en-SG"/>
            </a:p>
          </p:txBody>
        </p:sp>
      </p:grpSp>
      <p:grpSp>
        <p:nvGrpSpPr>
          <p:cNvPr id="13" name="Group 13"/>
          <p:cNvGrpSpPr/>
          <p:nvPr/>
        </p:nvGrpSpPr>
        <p:grpSpPr>
          <a:xfrm>
            <a:off x="5407152" y="6638544"/>
            <a:ext cx="5196840" cy="42672"/>
            <a:chOff x="0" y="0"/>
            <a:chExt cx="5196840" cy="42672"/>
          </a:xfrm>
        </p:grpSpPr>
        <p:sp>
          <p:nvSpPr>
            <p:cNvPr id="14" name="Freeform 14"/>
            <p:cNvSpPr/>
            <p:nvPr/>
          </p:nvSpPr>
          <p:spPr>
            <a:xfrm>
              <a:off x="0" y="0"/>
              <a:ext cx="5196841" cy="42672"/>
            </a:xfrm>
            <a:custGeom>
              <a:avLst/>
              <a:gdLst/>
              <a:ahLst/>
              <a:cxnLst/>
              <a:rect l="l" t="t" r="r" b="b"/>
              <a:pathLst>
                <a:path w="5196841" h="42672">
                  <a:moveTo>
                    <a:pt x="0" y="42672"/>
                  </a:moveTo>
                  <a:lnTo>
                    <a:pt x="5196841" y="42672"/>
                  </a:lnTo>
                  <a:lnTo>
                    <a:pt x="5196841" y="0"/>
                  </a:lnTo>
                  <a:lnTo>
                    <a:pt x="0" y="0"/>
                  </a:lnTo>
                  <a:lnTo>
                    <a:pt x="0" y="42672"/>
                  </a:lnTo>
                  <a:close/>
                </a:path>
              </a:pathLst>
            </a:custGeom>
            <a:solidFill>
              <a:srgbClr val="FFFFFF"/>
            </a:solidFill>
          </p:spPr>
          <p:txBody>
            <a:bodyPr/>
            <a:lstStyle/>
            <a:p>
              <a:endParaRPr lang="en-SG"/>
            </a:p>
          </p:txBody>
        </p:sp>
      </p:grpSp>
      <p:sp>
        <p:nvSpPr>
          <p:cNvPr id="15" name="TextBox 15"/>
          <p:cNvSpPr txBox="1"/>
          <p:nvPr/>
        </p:nvSpPr>
        <p:spPr>
          <a:xfrm>
            <a:off x="1632109" y="1286494"/>
            <a:ext cx="6384017" cy="1688963"/>
          </a:xfrm>
          <a:prstGeom prst="rect">
            <a:avLst/>
          </a:prstGeom>
        </p:spPr>
        <p:txBody>
          <a:bodyPr lIns="0" tIns="0" rIns="0" bIns="0" rtlCol="0" anchor="t">
            <a:spAutoFit/>
          </a:bodyPr>
          <a:lstStyle/>
          <a:p>
            <a:pPr algn="l">
              <a:lnSpc>
                <a:spcPts val="4709"/>
              </a:lnSpc>
            </a:pPr>
            <a:r>
              <a:rPr lang="en-US" sz="3048">
                <a:solidFill>
                  <a:srgbClr val="2C2C2C"/>
                </a:solidFill>
                <a:latin typeface="Montserrat"/>
                <a:ea typeface="Montserrat"/>
                <a:cs typeface="Montserrat"/>
                <a:sym typeface="Montserrat"/>
              </a:rPr>
              <a:t>Satellite Set-up -Side Structures</a:t>
            </a:r>
          </a:p>
          <a:p>
            <a:pPr algn="l">
              <a:lnSpc>
                <a:spcPts val="2892"/>
              </a:lnSpc>
            </a:pPr>
            <a:r>
              <a:rPr lang="en-US" sz="1872" spc="-14">
                <a:solidFill>
                  <a:srgbClr val="000000"/>
                </a:solidFill>
                <a:latin typeface="Montserrat"/>
                <a:ea typeface="Montserrat"/>
                <a:cs typeface="Montserrat"/>
                <a:sym typeface="Montserrat"/>
              </a:rPr>
              <a:t>Pay attention to the mounting </a:t>
            </a:r>
          </a:p>
          <a:p>
            <a:pPr algn="l">
              <a:lnSpc>
                <a:spcPts val="2892"/>
              </a:lnSpc>
            </a:pPr>
            <a:r>
              <a:rPr lang="en-US" sz="1872" spc="-14">
                <a:solidFill>
                  <a:srgbClr val="000000"/>
                </a:solidFill>
                <a:latin typeface="Montserrat"/>
                <a:ea typeface="Montserrat"/>
                <a:cs typeface="Montserrat"/>
                <a:sym typeface="Montserrat"/>
              </a:rPr>
              <a:t>direction of the side structures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1540764" y="2310384"/>
            <a:ext cx="7612380" cy="423672"/>
            <a:chOff x="0" y="0"/>
            <a:chExt cx="10149840" cy="564896"/>
          </a:xfrm>
        </p:grpSpPr>
        <p:sp>
          <p:nvSpPr>
            <p:cNvPr id="10" name="Freeform 10"/>
            <p:cNvSpPr/>
            <p:nvPr/>
          </p:nvSpPr>
          <p:spPr>
            <a:xfrm>
              <a:off x="0" y="0"/>
              <a:ext cx="10149840" cy="564896"/>
            </a:xfrm>
            <a:custGeom>
              <a:avLst/>
              <a:gdLst/>
              <a:ahLst/>
              <a:cxnLst/>
              <a:rect l="l" t="t" r="r" b="b"/>
              <a:pathLst>
                <a:path w="10149840" h="564896">
                  <a:moveTo>
                    <a:pt x="0" y="0"/>
                  </a:moveTo>
                  <a:lnTo>
                    <a:pt x="10149840" y="0"/>
                  </a:lnTo>
                  <a:lnTo>
                    <a:pt x="10149840" y="564896"/>
                  </a:lnTo>
                  <a:lnTo>
                    <a:pt x="0" y="564896"/>
                  </a:lnTo>
                  <a:lnTo>
                    <a:pt x="0" y="0"/>
                  </a:lnTo>
                  <a:close/>
                </a:path>
              </a:pathLst>
            </a:custGeom>
            <a:blipFill>
              <a:blip r:embed="rId4"/>
              <a:stretch>
                <a:fillRect l="-20"/>
              </a:stretch>
            </a:blipFill>
          </p:spPr>
          <p:txBody>
            <a:bodyPr/>
            <a:lstStyle/>
            <a:p>
              <a:endParaRPr lang="en-SG"/>
            </a:p>
          </p:txBody>
        </p:sp>
      </p:grpSp>
      <p:grpSp>
        <p:nvGrpSpPr>
          <p:cNvPr id="11" name="Group 11"/>
          <p:cNvGrpSpPr/>
          <p:nvPr/>
        </p:nvGrpSpPr>
        <p:grpSpPr>
          <a:xfrm>
            <a:off x="1540764" y="2731008"/>
            <a:ext cx="7612380" cy="3342132"/>
            <a:chOff x="0" y="0"/>
            <a:chExt cx="10149840" cy="4456176"/>
          </a:xfrm>
        </p:grpSpPr>
        <p:sp>
          <p:nvSpPr>
            <p:cNvPr id="12" name="Freeform 12"/>
            <p:cNvSpPr/>
            <p:nvPr/>
          </p:nvSpPr>
          <p:spPr>
            <a:xfrm>
              <a:off x="0" y="0"/>
              <a:ext cx="10149840" cy="4456176"/>
            </a:xfrm>
            <a:custGeom>
              <a:avLst/>
              <a:gdLst/>
              <a:ahLst/>
              <a:cxnLst/>
              <a:rect l="l" t="t" r="r" b="b"/>
              <a:pathLst>
                <a:path w="10149840" h="4456176">
                  <a:moveTo>
                    <a:pt x="0" y="0"/>
                  </a:moveTo>
                  <a:lnTo>
                    <a:pt x="10149840" y="0"/>
                  </a:lnTo>
                  <a:lnTo>
                    <a:pt x="10149840" y="4456176"/>
                  </a:lnTo>
                  <a:lnTo>
                    <a:pt x="0" y="4456176"/>
                  </a:lnTo>
                  <a:lnTo>
                    <a:pt x="0" y="0"/>
                  </a:lnTo>
                  <a:close/>
                </a:path>
              </a:pathLst>
            </a:custGeom>
            <a:blipFill>
              <a:blip r:embed="rId5"/>
              <a:stretch>
                <a:fillRect/>
              </a:stretch>
            </a:blipFill>
          </p:spPr>
          <p:txBody>
            <a:bodyPr/>
            <a:lstStyle/>
            <a:p>
              <a:endParaRPr lang="en-SG"/>
            </a:p>
          </p:txBody>
        </p:sp>
      </p:grpSp>
      <p:sp>
        <p:nvSpPr>
          <p:cNvPr id="13" name="TextBox 13"/>
          <p:cNvSpPr txBox="1"/>
          <p:nvPr/>
        </p:nvSpPr>
        <p:spPr>
          <a:xfrm>
            <a:off x="1632385" y="1334119"/>
            <a:ext cx="6225807" cy="523504"/>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Satellite Set-up -Bottom Guard</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3761232" y="2057400"/>
            <a:ext cx="3288792" cy="243840"/>
            <a:chOff x="0" y="0"/>
            <a:chExt cx="4385056" cy="325120"/>
          </a:xfrm>
        </p:grpSpPr>
        <p:sp>
          <p:nvSpPr>
            <p:cNvPr id="10" name="Freeform 10"/>
            <p:cNvSpPr/>
            <p:nvPr/>
          </p:nvSpPr>
          <p:spPr>
            <a:xfrm>
              <a:off x="0" y="0"/>
              <a:ext cx="4385056" cy="325120"/>
            </a:xfrm>
            <a:custGeom>
              <a:avLst/>
              <a:gdLst/>
              <a:ahLst/>
              <a:cxnLst/>
              <a:rect l="l" t="t" r="r" b="b"/>
              <a:pathLst>
                <a:path w="4385056" h="325120">
                  <a:moveTo>
                    <a:pt x="0" y="0"/>
                  </a:moveTo>
                  <a:lnTo>
                    <a:pt x="4385056" y="0"/>
                  </a:lnTo>
                  <a:lnTo>
                    <a:pt x="4385056" y="325120"/>
                  </a:lnTo>
                  <a:lnTo>
                    <a:pt x="0" y="325120"/>
                  </a:lnTo>
                  <a:lnTo>
                    <a:pt x="0" y="0"/>
                  </a:lnTo>
                  <a:close/>
                </a:path>
              </a:pathLst>
            </a:custGeom>
            <a:blipFill>
              <a:blip r:embed="rId4"/>
              <a:stretch>
                <a:fillRect/>
              </a:stretch>
            </a:blipFill>
          </p:spPr>
          <p:txBody>
            <a:bodyPr/>
            <a:lstStyle/>
            <a:p>
              <a:endParaRPr lang="en-SG"/>
            </a:p>
          </p:txBody>
        </p:sp>
      </p:grpSp>
      <p:grpSp>
        <p:nvGrpSpPr>
          <p:cNvPr id="11" name="Group 11"/>
          <p:cNvGrpSpPr/>
          <p:nvPr/>
        </p:nvGrpSpPr>
        <p:grpSpPr>
          <a:xfrm>
            <a:off x="3761232" y="2298192"/>
            <a:ext cx="3288792" cy="4294632"/>
            <a:chOff x="0" y="0"/>
            <a:chExt cx="4385056" cy="5726176"/>
          </a:xfrm>
        </p:grpSpPr>
        <p:sp>
          <p:nvSpPr>
            <p:cNvPr id="12" name="Freeform 12"/>
            <p:cNvSpPr/>
            <p:nvPr/>
          </p:nvSpPr>
          <p:spPr>
            <a:xfrm>
              <a:off x="0" y="0"/>
              <a:ext cx="4385056" cy="5726176"/>
            </a:xfrm>
            <a:custGeom>
              <a:avLst/>
              <a:gdLst/>
              <a:ahLst/>
              <a:cxnLst/>
              <a:rect l="l" t="t" r="r" b="b"/>
              <a:pathLst>
                <a:path w="4385056" h="5726176">
                  <a:moveTo>
                    <a:pt x="0" y="0"/>
                  </a:moveTo>
                  <a:lnTo>
                    <a:pt x="4385056" y="0"/>
                  </a:lnTo>
                  <a:lnTo>
                    <a:pt x="4385056" y="5726176"/>
                  </a:lnTo>
                  <a:lnTo>
                    <a:pt x="0" y="5726176"/>
                  </a:lnTo>
                  <a:lnTo>
                    <a:pt x="0" y="0"/>
                  </a:lnTo>
                  <a:close/>
                </a:path>
              </a:pathLst>
            </a:custGeom>
            <a:blipFill>
              <a:blip r:embed="rId5"/>
              <a:stretch>
                <a:fillRect/>
              </a:stretch>
            </a:blipFill>
          </p:spPr>
          <p:txBody>
            <a:bodyPr/>
            <a:lstStyle/>
            <a:p>
              <a:endParaRPr lang="en-SG"/>
            </a:p>
          </p:txBody>
        </p:sp>
      </p:grpSp>
      <p:sp>
        <p:nvSpPr>
          <p:cNvPr id="13" name="TextBox 13"/>
          <p:cNvSpPr txBox="1"/>
          <p:nvPr/>
        </p:nvSpPr>
        <p:spPr>
          <a:xfrm>
            <a:off x="1632385" y="1334119"/>
            <a:ext cx="6225807" cy="523504"/>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Satellite Set-up -Bottom Guard</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1801368" y="3904488"/>
            <a:ext cx="103632" cy="103632"/>
            <a:chOff x="0" y="0"/>
            <a:chExt cx="103632" cy="103632"/>
          </a:xfrm>
        </p:grpSpPr>
        <p:sp>
          <p:nvSpPr>
            <p:cNvPr id="10" name="Freeform 10"/>
            <p:cNvSpPr/>
            <p:nvPr/>
          </p:nvSpPr>
          <p:spPr>
            <a:xfrm>
              <a:off x="0" y="0"/>
              <a:ext cx="103632" cy="103632"/>
            </a:xfrm>
            <a:custGeom>
              <a:avLst/>
              <a:gdLst/>
              <a:ahLst/>
              <a:cxnLst/>
              <a:rect l="l" t="t" r="r" b="b"/>
              <a:pathLst>
                <a:path w="103632" h="103632">
                  <a:moveTo>
                    <a:pt x="27432" y="7620"/>
                  </a:moveTo>
                  <a:cubicBezTo>
                    <a:pt x="18288" y="12192"/>
                    <a:pt x="12192" y="18288"/>
                    <a:pt x="7620" y="25908"/>
                  </a:cubicBezTo>
                  <a:cubicBezTo>
                    <a:pt x="3048" y="35052"/>
                    <a:pt x="0" y="42672"/>
                    <a:pt x="0" y="51816"/>
                  </a:cubicBezTo>
                  <a:cubicBezTo>
                    <a:pt x="0" y="67056"/>
                    <a:pt x="6096" y="79248"/>
                    <a:pt x="15240" y="88392"/>
                  </a:cubicBezTo>
                  <a:cubicBezTo>
                    <a:pt x="25908" y="99060"/>
                    <a:pt x="38100" y="103632"/>
                    <a:pt x="51816" y="103632"/>
                  </a:cubicBezTo>
                  <a:cubicBezTo>
                    <a:pt x="67056" y="103632"/>
                    <a:pt x="79248" y="99060"/>
                    <a:pt x="88392" y="88392"/>
                  </a:cubicBezTo>
                  <a:cubicBezTo>
                    <a:pt x="99060" y="79248"/>
                    <a:pt x="103632" y="67056"/>
                    <a:pt x="103632" y="51816"/>
                  </a:cubicBezTo>
                  <a:cubicBezTo>
                    <a:pt x="103632" y="42672"/>
                    <a:pt x="102108" y="35052"/>
                    <a:pt x="97536" y="25908"/>
                  </a:cubicBezTo>
                  <a:cubicBezTo>
                    <a:pt x="92964" y="18288"/>
                    <a:pt x="86868" y="12192"/>
                    <a:pt x="77724" y="7620"/>
                  </a:cubicBezTo>
                  <a:cubicBezTo>
                    <a:pt x="70104" y="3048"/>
                    <a:pt x="60960" y="0"/>
                    <a:pt x="51816" y="0"/>
                  </a:cubicBezTo>
                  <a:cubicBezTo>
                    <a:pt x="44196" y="0"/>
                    <a:pt x="35052" y="3048"/>
                    <a:pt x="27432" y="7620"/>
                  </a:cubicBezTo>
                  <a:close/>
                </a:path>
              </a:pathLst>
            </a:custGeom>
            <a:solidFill>
              <a:srgbClr val="000000"/>
            </a:solidFill>
          </p:spPr>
          <p:txBody>
            <a:bodyPr/>
            <a:lstStyle/>
            <a:p>
              <a:endParaRPr lang="en-SG"/>
            </a:p>
          </p:txBody>
        </p:sp>
      </p:grpSp>
      <p:grpSp>
        <p:nvGrpSpPr>
          <p:cNvPr id="11" name="Group 11"/>
          <p:cNvGrpSpPr/>
          <p:nvPr/>
        </p:nvGrpSpPr>
        <p:grpSpPr>
          <a:xfrm>
            <a:off x="1801368" y="4271772"/>
            <a:ext cx="103632" cy="103632"/>
            <a:chOff x="0" y="0"/>
            <a:chExt cx="103632" cy="103632"/>
          </a:xfrm>
        </p:grpSpPr>
        <p:sp>
          <p:nvSpPr>
            <p:cNvPr id="12" name="Freeform 12"/>
            <p:cNvSpPr/>
            <p:nvPr/>
          </p:nvSpPr>
          <p:spPr>
            <a:xfrm>
              <a:off x="0" y="0"/>
              <a:ext cx="103632" cy="103632"/>
            </a:xfrm>
            <a:custGeom>
              <a:avLst/>
              <a:gdLst/>
              <a:ahLst/>
              <a:cxnLst/>
              <a:rect l="l" t="t" r="r" b="b"/>
              <a:pathLst>
                <a:path w="103632" h="103632">
                  <a:moveTo>
                    <a:pt x="27432" y="7620"/>
                  </a:moveTo>
                  <a:cubicBezTo>
                    <a:pt x="18288" y="12192"/>
                    <a:pt x="12192" y="18288"/>
                    <a:pt x="7620" y="25908"/>
                  </a:cubicBezTo>
                  <a:cubicBezTo>
                    <a:pt x="3048" y="35052"/>
                    <a:pt x="0" y="42672"/>
                    <a:pt x="0" y="51816"/>
                  </a:cubicBezTo>
                  <a:cubicBezTo>
                    <a:pt x="0" y="67056"/>
                    <a:pt x="6096" y="79248"/>
                    <a:pt x="15240" y="88392"/>
                  </a:cubicBezTo>
                  <a:cubicBezTo>
                    <a:pt x="25908" y="99060"/>
                    <a:pt x="38100" y="103632"/>
                    <a:pt x="51816" y="103632"/>
                  </a:cubicBezTo>
                  <a:cubicBezTo>
                    <a:pt x="67056" y="103632"/>
                    <a:pt x="79248" y="99060"/>
                    <a:pt x="88392" y="88392"/>
                  </a:cubicBezTo>
                  <a:cubicBezTo>
                    <a:pt x="99060" y="79248"/>
                    <a:pt x="103632" y="67056"/>
                    <a:pt x="103632" y="51816"/>
                  </a:cubicBezTo>
                  <a:cubicBezTo>
                    <a:pt x="103632" y="42672"/>
                    <a:pt x="102108" y="35052"/>
                    <a:pt x="97536" y="25908"/>
                  </a:cubicBezTo>
                  <a:cubicBezTo>
                    <a:pt x="92964" y="18288"/>
                    <a:pt x="86868" y="12192"/>
                    <a:pt x="77724" y="7620"/>
                  </a:cubicBezTo>
                  <a:cubicBezTo>
                    <a:pt x="70104" y="3048"/>
                    <a:pt x="60960" y="0"/>
                    <a:pt x="51816" y="0"/>
                  </a:cubicBezTo>
                  <a:cubicBezTo>
                    <a:pt x="44196" y="0"/>
                    <a:pt x="35052" y="3048"/>
                    <a:pt x="27432" y="7620"/>
                  </a:cubicBezTo>
                  <a:close/>
                </a:path>
              </a:pathLst>
            </a:custGeom>
            <a:solidFill>
              <a:srgbClr val="000000"/>
            </a:solidFill>
          </p:spPr>
          <p:txBody>
            <a:bodyPr/>
            <a:lstStyle/>
            <a:p>
              <a:endParaRPr lang="en-SG"/>
            </a:p>
          </p:txBody>
        </p:sp>
      </p:grpSp>
      <p:sp>
        <p:nvSpPr>
          <p:cNvPr id="13" name="Freeform 13"/>
          <p:cNvSpPr/>
          <p:nvPr/>
        </p:nvSpPr>
        <p:spPr>
          <a:xfrm>
            <a:off x="7676893" y="2310889"/>
            <a:ext cx="1711957" cy="349501"/>
          </a:xfrm>
          <a:custGeom>
            <a:avLst/>
            <a:gdLst/>
            <a:ahLst/>
            <a:cxnLst/>
            <a:rect l="l" t="t" r="r" b="b"/>
            <a:pathLst>
              <a:path w="1711957" h="349501">
                <a:moveTo>
                  <a:pt x="0" y="0"/>
                </a:moveTo>
                <a:lnTo>
                  <a:pt x="1711957" y="0"/>
                </a:lnTo>
                <a:lnTo>
                  <a:pt x="1711957" y="349501"/>
                </a:lnTo>
                <a:lnTo>
                  <a:pt x="0" y="34950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SG"/>
          </a:p>
        </p:txBody>
      </p:sp>
      <p:sp>
        <p:nvSpPr>
          <p:cNvPr id="14" name="TextBox 14"/>
          <p:cNvSpPr txBox="1"/>
          <p:nvPr/>
        </p:nvSpPr>
        <p:spPr>
          <a:xfrm>
            <a:off x="1632109" y="1286494"/>
            <a:ext cx="6205785" cy="1688963"/>
          </a:xfrm>
          <a:prstGeom prst="rect">
            <a:avLst/>
          </a:prstGeom>
        </p:spPr>
        <p:txBody>
          <a:bodyPr lIns="0" tIns="0" rIns="0" bIns="0" rtlCol="0" anchor="t">
            <a:spAutoFit/>
          </a:bodyPr>
          <a:lstStyle/>
          <a:p>
            <a:pPr algn="l">
              <a:lnSpc>
                <a:spcPts val="4709"/>
              </a:lnSpc>
            </a:pPr>
            <a:r>
              <a:rPr lang="en-US" sz="3048">
                <a:solidFill>
                  <a:srgbClr val="2C2C2C"/>
                </a:solidFill>
                <a:latin typeface="Montserrat"/>
                <a:ea typeface="Montserrat"/>
                <a:cs typeface="Montserrat"/>
                <a:sym typeface="Montserrat"/>
              </a:rPr>
              <a:t>Satellite Set-up -Boards Check</a:t>
            </a:r>
          </a:p>
          <a:p>
            <a:pPr algn="l">
              <a:lnSpc>
                <a:spcPts val="2892"/>
              </a:lnSpc>
            </a:pPr>
            <a:r>
              <a:rPr lang="en-US" sz="1872" spc="-14">
                <a:solidFill>
                  <a:srgbClr val="000000"/>
                </a:solidFill>
                <a:latin typeface="Montserrat"/>
                <a:ea typeface="Montserrat"/>
                <a:cs typeface="Montserrat"/>
                <a:sym typeface="Montserrat"/>
              </a:rPr>
              <a:t>Before continuing with the satellite mechanical set- sure our boards can be programmed!</a:t>
            </a:r>
          </a:p>
        </p:txBody>
      </p:sp>
      <p:sp>
        <p:nvSpPr>
          <p:cNvPr id="15" name="TextBox 15"/>
          <p:cNvSpPr txBox="1"/>
          <p:nvPr/>
        </p:nvSpPr>
        <p:spPr>
          <a:xfrm>
            <a:off x="1632109" y="3388062"/>
            <a:ext cx="1428321" cy="324526"/>
          </a:xfrm>
          <a:prstGeom prst="rect">
            <a:avLst/>
          </a:prstGeom>
        </p:spPr>
        <p:txBody>
          <a:bodyPr lIns="0" tIns="0" rIns="0" bIns="0" rtlCol="0" anchor="t">
            <a:spAutoFit/>
          </a:bodyPr>
          <a:lstStyle/>
          <a:p>
            <a:pPr algn="l">
              <a:lnSpc>
                <a:spcPts val="2620"/>
              </a:lnSpc>
            </a:pPr>
            <a:r>
              <a:rPr lang="en-US" sz="1872" spc="-14">
                <a:solidFill>
                  <a:srgbClr val="000000"/>
                </a:solidFill>
                <a:latin typeface="Montserrat"/>
                <a:ea typeface="Montserrat"/>
                <a:cs typeface="Montserrat"/>
                <a:sym typeface="Montserrat"/>
              </a:rPr>
              <a:t>Remember:</a:t>
            </a:r>
          </a:p>
        </p:txBody>
      </p:sp>
      <p:sp>
        <p:nvSpPr>
          <p:cNvPr id="16" name="TextBox 16"/>
          <p:cNvSpPr txBox="1"/>
          <p:nvPr/>
        </p:nvSpPr>
        <p:spPr>
          <a:xfrm>
            <a:off x="3956294" y="3756803"/>
            <a:ext cx="2837964" cy="324526"/>
          </a:xfrm>
          <a:prstGeom prst="rect">
            <a:avLst/>
          </a:prstGeom>
        </p:spPr>
        <p:txBody>
          <a:bodyPr lIns="0" tIns="0" rIns="0" bIns="0" rtlCol="0" anchor="t">
            <a:spAutoFit/>
          </a:bodyPr>
          <a:lstStyle/>
          <a:p>
            <a:pPr algn="l">
              <a:lnSpc>
                <a:spcPts val="2620"/>
              </a:lnSpc>
            </a:pPr>
            <a:r>
              <a:rPr lang="en-US" sz="1872" spc="-14">
                <a:solidFill>
                  <a:srgbClr val="000000"/>
                </a:solidFill>
                <a:latin typeface="Montserrat"/>
                <a:ea typeface="Montserrat"/>
                <a:cs typeface="Montserrat"/>
                <a:sym typeface="Montserrat"/>
              </a:rPr>
              <a:t>-OBC &amp; Ground Station</a:t>
            </a:r>
          </a:p>
        </p:txBody>
      </p:sp>
      <p:sp>
        <p:nvSpPr>
          <p:cNvPr id="17" name="TextBox 17"/>
          <p:cNvSpPr txBox="1"/>
          <p:nvPr/>
        </p:nvSpPr>
        <p:spPr>
          <a:xfrm>
            <a:off x="3893058" y="4124115"/>
            <a:ext cx="68628" cy="324526"/>
          </a:xfrm>
          <a:prstGeom prst="rect">
            <a:avLst/>
          </a:prstGeom>
        </p:spPr>
        <p:txBody>
          <a:bodyPr lIns="0" tIns="0" rIns="0" bIns="0" rtlCol="0" anchor="t">
            <a:spAutoFit/>
          </a:bodyPr>
          <a:lstStyle/>
          <a:p>
            <a:pPr algn="l">
              <a:lnSpc>
                <a:spcPts val="2620"/>
              </a:lnSpc>
            </a:pPr>
            <a:r>
              <a:rPr lang="en-US" sz="1872" spc="35">
                <a:solidFill>
                  <a:srgbClr val="93C47D"/>
                </a:solidFill>
                <a:latin typeface="Montserrat"/>
                <a:ea typeface="Montserrat"/>
                <a:cs typeface="Montserrat"/>
                <a:sym typeface="Montserrat"/>
              </a:rPr>
              <a:t> </a:t>
            </a:r>
          </a:p>
        </p:txBody>
      </p:sp>
      <p:sp>
        <p:nvSpPr>
          <p:cNvPr id="18" name="TextBox 18"/>
          <p:cNvSpPr txBox="1"/>
          <p:nvPr/>
        </p:nvSpPr>
        <p:spPr>
          <a:xfrm>
            <a:off x="4721362" y="4124115"/>
            <a:ext cx="848506" cy="324526"/>
          </a:xfrm>
          <a:prstGeom prst="rect">
            <a:avLst/>
          </a:prstGeom>
        </p:spPr>
        <p:txBody>
          <a:bodyPr lIns="0" tIns="0" rIns="0" bIns="0" rtlCol="0" anchor="t">
            <a:spAutoFit/>
          </a:bodyPr>
          <a:lstStyle/>
          <a:p>
            <a:pPr algn="l">
              <a:lnSpc>
                <a:spcPts val="2620"/>
              </a:lnSpc>
            </a:pPr>
            <a:r>
              <a:rPr lang="en-US" sz="1872" spc="-14">
                <a:solidFill>
                  <a:srgbClr val="000000"/>
                </a:solidFill>
                <a:latin typeface="Montserrat"/>
                <a:ea typeface="Montserrat"/>
                <a:cs typeface="Montserrat"/>
                <a:sym typeface="Montserrat"/>
              </a:rPr>
              <a:t>-ADCS</a:t>
            </a:r>
          </a:p>
        </p:txBody>
      </p:sp>
      <p:sp>
        <p:nvSpPr>
          <p:cNvPr id="19" name="TextBox 19"/>
          <p:cNvSpPr txBox="1"/>
          <p:nvPr/>
        </p:nvSpPr>
        <p:spPr>
          <a:xfrm>
            <a:off x="2167033" y="3756803"/>
            <a:ext cx="1761754" cy="324526"/>
          </a:xfrm>
          <a:prstGeom prst="rect">
            <a:avLst/>
          </a:prstGeom>
        </p:spPr>
        <p:txBody>
          <a:bodyPr lIns="0" tIns="0" rIns="0" bIns="0" rtlCol="0" anchor="t">
            <a:spAutoFit/>
          </a:bodyPr>
          <a:lstStyle/>
          <a:p>
            <a:pPr algn="l">
              <a:lnSpc>
                <a:spcPts val="2620"/>
              </a:lnSpc>
            </a:pPr>
            <a:r>
              <a:rPr lang="en-US" sz="1872" spc="35">
                <a:solidFill>
                  <a:srgbClr val="6D9EEB"/>
                </a:solidFill>
                <a:latin typeface="Montserrat"/>
                <a:ea typeface="Montserrat"/>
                <a:cs typeface="Montserrat"/>
                <a:sym typeface="Montserrat"/>
              </a:rPr>
              <a:t>Arduino Nano</a:t>
            </a:r>
          </a:p>
        </p:txBody>
      </p:sp>
      <p:sp>
        <p:nvSpPr>
          <p:cNvPr id="20" name="TextBox 20"/>
          <p:cNvSpPr txBox="1"/>
          <p:nvPr/>
        </p:nvSpPr>
        <p:spPr>
          <a:xfrm>
            <a:off x="2167033" y="4124115"/>
            <a:ext cx="2538479" cy="324526"/>
          </a:xfrm>
          <a:prstGeom prst="rect">
            <a:avLst/>
          </a:prstGeom>
        </p:spPr>
        <p:txBody>
          <a:bodyPr lIns="0" tIns="0" rIns="0" bIns="0" rtlCol="0" anchor="t">
            <a:spAutoFit/>
          </a:bodyPr>
          <a:lstStyle/>
          <a:p>
            <a:pPr algn="l">
              <a:lnSpc>
                <a:spcPts val="2620"/>
              </a:lnSpc>
            </a:pPr>
            <a:r>
              <a:rPr lang="en-US" sz="1872" spc="35">
                <a:solidFill>
                  <a:srgbClr val="93C47D"/>
                </a:solidFill>
                <a:latin typeface="Montserrat"/>
                <a:ea typeface="Montserrat"/>
                <a:cs typeface="Montserrat"/>
                <a:sym typeface="Montserrat"/>
              </a:rPr>
              <a:t>Arduino NanoEvery</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1801368" y="2799588"/>
            <a:ext cx="103632" cy="103632"/>
            <a:chOff x="0" y="0"/>
            <a:chExt cx="103632" cy="103632"/>
          </a:xfrm>
        </p:grpSpPr>
        <p:sp>
          <p:nvSpPr>
            <p:cNvPr id="10" name="Freeform 10"/>
            <p:cNvSpPr/>
            <p:nvPr/>
          </p:nvSpPr>
          <p:spPr>
            <a:xfrm>
              <a:off x="0" y="0"/>
              <a:ext cx="103632" cy="103632"/>
            </a:xfrm>
            <a:custGeom>
              <a:avLst/>
              <a:gdLst/>
              <a:ahLst/>
              <a:cxnLst/>
              <a:rect l="l" t="t" r="r" b="b"/>
              <a:pathLst>
                <a:path w="103632" h="103632">
                  <a:moveTo>
                    <a:pt x="27432" y="7620"/>
                  </a:moveTo>
                  <a:cubicBezTo>
                    <a:pt x="18288" y="10668"/>
                    <a:pt x="12192" y="18288"/>
                    <a:pt x="7620" y="25908"/>
                  </a:cubicBezTo>
                  <a:cubicBezTo>
                    <a:pt x="3048" y="35052"/>
                    <a:pt x="0" y="42672"/>
                    <a:pt x="0" y="51816"/>
                  </a:cubicBezTo>
                  <a:cubicBezTo>
                    <a:pt x="0" y="67056"/>
                    <a:pt x="6096" y="79248"/>
                    <a:pt x="15240" y="88392"/>
                  </a:cubicBezTo>
                  <a:cubicBezTo>
                    <a:pt x="25908" y="99060"/>
                    <a:pt x="38100" y="103632"/>
                    <a:pt x="51816" y="103632"/>
                  </a:cubicBezTo>
                  <a:cubicBezTo>
                    <a:pt x="67056" y="103632"/>
                    <a:pt x="79248" y="99060"/>
                    <a:pt x="88392" y="88392"/>
                  </a:cubicBezTo>
                  <a:cubicBezTo>
                    <a:pt x="99060" y="79248"/>
                    <a:pt x="103632" y="67056"/>
                    <a:pt x="103632" y="51816"/>
                  </a:cubicBezTo>
                  <a:cubicBezTo>
                    <a:pt x="103632" y="42672"/>
                    <a:pt x="102108" y="35052"/>
                    <a:pt x="97536" y="25908"/>
                  </a:cubicBezTo>
                  <a:cubicBezTo>
                    <a:pt x="92964" y="18288"/>
                    <a:pt x="86868" y="10668"/>
                    <a:pt x="77724" y="7620"/>
                  </a:cubicBezTo>
                  <a:cubicBezTo>
                    <a:pt x="70104" y="3048"/>
                    <a:pt x="60960" y="0"/>
                    <a:pt x="51816" y="0"/>
                  </a:cubicBezTo>
                  <a:cubicBezTo>
                    <a:pt x="44196" y="0"/>
                    <a:pt x="35052" y="3048"/>
                    <a:pt x="27432" y="7620"/>
                  </a:cubicBezTo>
                  <a:close/>
                </a:path>
              </a:pathLst>
            </a:custGeom>
            <a:solidFill>
              <a:srgbClr val="000000"/>
            </a:solidFill>
          </p:spPr>
          <p:txBody>
            <a:bodyPr/>
            <a:lstStyle/>
            <a:p>
              <a:endParaRPr lang="en-SG"/>
            </a:p>
          </p:txBody>
        </p:sp>
      </p:grpSp>
      <p:grpSp>
        <p:nvGrpSpPr>
          <p:cNvPr id="11" name="Group 11"/>
          <p:cNvGrpSpPr/>
          <p:nvPr/>
        </p:nvGrpSpPr>
        <p:grpSpPr>
          <a:xfrm>
            <a:off x="1801368" y="3168396"/>
            <a:ext cx="103632" cy="103632"/>
            <a:chOff x="0" y="0"/>
            <a:chExt cx="103632" cy="103632"/>
          </a:xfrm>
        </p:grpSpPr>
        <p:sp>
          <p:nvSpPr>
            <p:cNvPr id="12" name="Freeform 12"/>
            <p:cNvSpPr/>
            <p:nvPr/>
          </p:nvSpPr>
          <p:spPr>
            <a:xfrm>
              <a:off x="0" y="0"/>
              <a:ext cx="103632" cy="103632"/>
            </a:xfrm>
            <a:custGeom>
              <a:avLst/>
              <a:gdLst/>
              <a:ahLst/>
              <a:cxnLst/>
              <a:rect l="l" t="t" r="r" b="b"/>
              <a:pathLst>
                <a:path w="103632" h="103632">
                  <a:moveTo>
                    <a:pt x="27432" y="7620"/>
                  </a:moveTo>
                  <a:cubicBezTo>
                    <a:pt x="18288" y="12192"/>
                    <a:pt x="12192" y="18288"/>
                    <a:pt x="7620" y="25908"/>
                  </a:cubicBezTo>
                  <a:cubicBezTo>
                    <a:pt x="3048" y="35052"/>
                    <a:pt x="0" y="42672"/>
                    <a:pt x="0" y="51816"/>
                  </a:cubicBezTo>
                  <a:cubicBezTo>
                    <a:pt x="0" y="67056"/>
                    <a:pt x="6096" y="79248"/>
                    <a:pt x="15240" y="88392"/>
                  </a:cubicBezTo>
                  <a:cubicBezTo>
                    <a:pt x="25908" y="99060"/>
                    <a:pt x="38100" y="103632"/>
                    <a:pt x="51816" y="103632"/>
                  </a:cubicBezTo>
                  <a:cubicBezTo>
                    <a:pt x="67056" y="103632"/>
                    <a:pt x="79248" y="99060"/>
                    <a:pt x="88392" y="88392"/>
                  </a:cubicBezTo>
                  <a:cubicBezTo>
                    <a:pt x="99060" y="79248"/>
                    <a:pt x="103632" y="67056"/>
                    <a:pt x="103632" y="51816"/>
                  </a:cubicBezTo>
                  <a:cubicBezTo>
                    <a:pt x="103632" y="42672"/>
                    <a:pt x="102108" y="35052"/>
                    <a:pt x="97536" y="25908"/>
                  </a:cubicBezTo>
                  <a:cubicBezTo>
                    <a:pt x="92964" y="18288"/>
                    <a:pt x="86868" y="12192"/>
                    <a:pt x="77724" y="7620"/>
                  </a:cubicBezTo>
                  <a:cubicBezTo>
                    <a:pt x="70104" y="3048"/>
                    <a:pt x="60960" y="0"/>
                    <a:pt x="51816" y="0"/>
                  </a:cubicBezTo>
                  <a:cubicBezTo>
                    <a:pt x="44196" y="0"/>
                    <a:pt x="35052" y="3048"/>
                    <a:pt x="27432" y="7620"/>
                  </a:cubicBezTo>
                  <a:close/>
                </a:path>
              </a:pathLst>
            </a:custGeom>
            <a:solidFill>
              <a:srgbClr val="000000"/>
            </a:solidFill>
          </p:spPr>
          <p:txBody>
            <a:bodyPr/>
            <a:lstStyle/>
            <a:p>
              <a:endParaRPr lang="en-SG"/>
            </a:p>
          </p:txBody>
        </p:sp>
      </p:grpSp>
      <p:grpSp>
        <p:nvGrpSpPr>
          <p:cNvPr id="13" name="Group 13"/>
          <p:cNvGrpSpPr/>
          <p:nvPr/>
        </p:nvGrpSpPr>
        <p:grpSpPr>
          <a:xfrm>
            <a:off x="1801368" y="4271772"/>
            <a:ext cx="103632" cy="103632"/>
            <a:chOff x="0" y="0"/>
            <a:chExt cx="103632" cy="103632"/>
          </a:xfrm>
        </p:grpSpPr>
        <p:sp>
          <p:nvSpPr>
            <p:cNvPr id="14" name="Freeform 14"/>
            <p:cNvSpPr/>
            <p:nvPr/>
          </p:nvSpPr>
          <p:spPr>
            <a:xfrm>
              <a:off x="0" y="0"/>
              <a:ext cx="103632" cy="103632"/>
            </a:xfrm>
            <a:custGeom>
              <a:avLst/>
              <a:gdLst/>
              <a:ahLst/>
              <a:cxnLst/>
              <a:rect l="l" t="t" r="r" b="b"/>
              <a:pathLst>
                <a:path w="103632" h="103632">
                  <a:moveTo>
                    <a:pt x="27432" y="7620"/>
                  </a:moveTo>
                  <a:cubicBezTo>
                    <a:pt x="18288" y="12192"/>
                    <a:pt x="12192" y="18288"/>
                    <a:pt x="7620" y="25908"/>
                  </a:cubicBezTo>
                  <a:cubicBezTo>
                    <a:pt x="3048" y="35052"/>
                    <a:pt x="0" y="42672"/>
                    <a:pt x="0" y="51816"/>
                  </a:cubicBezTo>
                  <a:cubicBezTo>
                    <a:pt x="0" y="67056"/>
                    <a:pt x="6096" y="79248"/>
                    <a:pt x="15240" y="88392"/>
                  </a:cubicBezTo>
                  <a:cubicBezTo>
                    <a:pt x="25908" y="99060"/>
                    <a:pt x="38100" y="103632"/>
                    <a:pt x="51816" y="103632"/>
                  </a:cubicBezTo>
                  <a:cubicBezTo>
                    <a:pt x="67056" y="103632"/>
                    <a:pt x="79248" y="99060"/>
                    <a:pt x="88392" y="88392"/>
                  </a:cubicBezTo>
                  <a:cubicBezTo>
                    <a:pt x="99060" y="79248"/>
                    <a:pt x="103632" y="67056"/>
                    <a:pt x="103632" y="51816"/>
                  </a:cubicBezTo>
                  <a:cubicBezTo>
                    <a:pt x="103632" y="42672"/>
                    <a:pt x="102108" y="35052"/>
                    <a:pt x="97536" y="25908"/>
                  </a:cubicBezTo>
                  <a:cubicBezTo>
                    <a:pt x="92964" y="18288"/>
                    <a:pt x="86868" y="12192"/>
                    <a:pt x="77724" y="7620"/>
                  </a:cubicBezTo>
                  <a:cubicBezTo>
                    <a:pt x="70104" y="3048"/>
                    <a:pt x="60960" y="0"/>
                    <a:pt x="51816" y="0"/>
                  </a:cubicBezTo>
                  <a:cubicBezTo>
                    <a:pt x="44196" y="0"/>
                    <a:pt x="35052" y="3048"/>
                    <a:pt x="27432" y="7620"/>
                  </a:cubicBezTo>
                  <a:close/>
                </a:path>
              </a:pathLst>
            </a:custGeom>
            <a:solidFill>
              <a:srgbClr val="000000"/>
            </a:solidFill>
          </p:spPr>
          <p:txBody>
            <a:bodyPr/>
            <a:lstStyle/>
            <a:p>
              <a:endParaRPr lang="en-SG"/>
            </a:p>
          </p:txBody>
        </p:sp>
      </p:grpSp>
      <p:grpSp>
        <p:nvGrpSpPr>
          <p:cNvPr id="15" name="Group 15"/>
          <p:cNvGrpSpPr/>
          <p:nvPr/>
        </p:nvGrpSpPr>
        <p:grpSpPr>
          <a:xfrm>
            <a:off x="3439668" y="4596384"/>
            <a:ext cx="4390644" cy="563880"/>
            <a:chOff x="0" y="0"/>
            <a:chExt cx="5854192" cy="751840"/>
          </a:xfrm>
        </p:grpSpPr>
        <p:sp>
          <p:nvSpPr>
            <p:cNvPr id="16" name="Freeform 16"/>
            <p:cNvSpPr/>
            <p:nvPr/>
          </p:nvSpPr>
          <p:spPr>
            <a:xfrm>
              <a:off x="0" y="0"/>
              <a:ext cx="5854192" cy="751840"/>
            </a:xfrm>
            <a:custGeom>
              <a:avLst/>
              <a:gdLst/>
              <a:ahLst/>
              <a:cxnLst/>
              <a:rect l="l" t="t" r="r" b="b"/>
              <a:pathLst>
                <a:path w="5854192" h="751840">
                  <a:moveTo>
                    <a:pt x="0" y="0"/>
                  </a:moveTo>
                  <a:lnTo>
                    <a:pt x="5854192" y="0"/>
                  </a:lnTo>
                  <a:lnTo>
                    <a:pt x="5854192" y="751840"/>
                  </a:lnTo>
                  <a:lnTo>
                    <a:pt x="0" y="751840"/>
                  </a:lnTo>
                  <a:lnTo>
                    <a:pt x="0" y="0"/>
                  </a:lnTo>
                  <a:close/>
                </a:path>
              </a:pathLst>
            </a:custGeom>
            <a:blipFill>
              <a:blip r:embed="rId4"/>
              <a:stretch>
                <a:fillRect l="-69" t="-540"/>
              </a:stretch>
            </a:blipFill>
          </p:spPr>
          <p:txBody>
            <a:bodyPr/>
            <a:lstStyle/>
            <a:p>
              <a:endParaRPr lang="en-SG"/>
            </a:p>
          </p:txBody>
        </p:sp>
      </p:grpSp>
      <p:grpSp>
        <p:nvGrpSpPr>
          <p:cNvPr id="17" name="Group 17"/>
          <p:cNvGrpSpPr/>
          <p:nvPr/>
        </p:nvGrpSpPr>
        <p:grpSpPr>
          <a:xfrm>
            <a:off x="3439668" y="5155692"/>
            <a:ext cx="4390644" cy="1519428"/>
            <a:chOff x="0" y="0"/>
            <a:chExt cx="5854192" cy="2025904"/>
          </a:xfrm>
        </p:grpSpPr>
        <p:sp>
          <p:nvSpPr>
            <p:cNvPr id="18" name="Freeform 18"/>
            <p:cNvSpPr/>
            <p:nvPr/>
          </p:nvSpPr>
          <p:spPr>
            <a:xfrm>
              <a:off x="0" y="0"/>
              <a:ext cx="5854192" cy="2025904"/>
            </a:xfrm>
            <a:custGeom>
              <a:avLst/>
              <a:gdLst/>
              <a:ahLst/>
              <a:cxnLst/>
              <a:rect l="l" t="t" r="r" b="b"/>
              <a:pathLst>
                <a:path w="5854192" h="2025904">
                  <a:moveTo>
                    <a:pt x="0" y="0"/>
                  </a:moveTo>
                  <a:lnTo>
                    <a:pt x="5854192" y="0"/>
                  </a:lnTo>
                  <a:lnTo>
                    <a:pt x="5854192" y="2025904"/>
                  </a:lnTo>
                  <a:lnTo>
                    <a:pt x="0" y="2025904"/>
                  </a:lnTo>
                  <a:lnTo>
                    <a:pt x="0" y="0"/>
                  </a:lnTo>
                  <a:close/>
                </a:path>
              </a:pathLst>
            </a:custGeom>
            <a:blipFill>
              <a:blip r:embed="rId5"/>
              <a:stretch>
                <a:fillRect/>
              </a:stretch>
            </a:blipFill>
          </p:spPr>
          <p:txBody>
            <a:bodyPr/>
            <a:lstStyle/>
            <a:p>
              <a:endParaRPr lang="en-SG"/>
            </a:p>
          </p:txBody>
        </p:sp>
      </p:grpSp>
      <p:sp>
        <p:nvSpPr>
          <p:cNvPr id="19" name="TextBox 19"/>
          <p:cNvSpPr txBox="1"/>
          <p:nvPr/>
        </p:nvSpPr>
        <p:spPr>
          <a:xfrm>
            <a:off x="1632109" y="1334119"/>
            <a:ext cx="6107630" cy="1274026"/>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Satellite Set-up -Boards Check</a:t>
            </a:r>
          </a:p>
          <a:p>
            <a:pPr algn="l">
              <a:lnSpc>
                <a:spcPts val="2620"/>
              </a:lnSpc>
            </a:pPr>
            <a:r>
              <a:rPr lang="en-US" sz="1872" spc="-14">
                <a:solidFill>
                  <a:srgbClr val="000000"/>
                </a:solidFill>
                <a:latin typeface="Montserrat"/>
                <a:ea typeface="Montserrat"/>
                <a:cs typeface="Montserrat"/>
                <a:sym typeface="Montserrat"/>
              </a:rPr>
              <a:t>Hardware side:</a:t>
            </a:r>
          </a:p>
        </p:txBody>
      </p:sp>
      <p:sp>
        <p:nvSpPr>
          <p:cNvPr id="20" name="TextBox 20"/>
          <p:cNvSpPr txBox="1"/>
          <p:nvPr/>
        </p:nvSpPr>
        <p:spPr>
          <a:xfrm>
            <a:off x="2167033" y="2623423"/>
            <a:ext cx="6341345" cy="721843"/>
          </a:xfrm>
          <a:prstGeom prst="rect">
            <a:avLst/>
          </a:prstGeom>
        </p:spPr>
        <p:txBody>
          <a:bodyPr lIns="0" tIns="0" rIns="0" bIns="0" rtlCol="0" anchor="t">
            <a:spAutoFit/>
          </a:bodyPr>
          <a:lstStyle/>
          <a:p>
            <a:pPr algn="l">
              <a:lnSpc>
                <a:spcPts val="2903"/>
              </a:lnSpc>
            </a:pPr>
            <a:r>
              <a:rPr lang="en-US" sz="1872" spc="-14">
                <a:solidFill>
                  <a:srgbClr val="000000"/>
                </a:solidFill>
                <a:latin typeface="Montserrat"/>
                <a:ea typeface="Montserrat"/>
                <a:cs typeface="Montserrat"/>
                <a:sym typeface="Montserrat"/>
              </a:rPr>
              <a:t>Connect the USB C to the EPS and plug it in your PC. Now remove the RBF.</a:t>
            </a:r>
          </a:p>
        </p:txBody>
      </p:sp>
      <p:sp>
        <p:nvSpPr>
          <p:cNvPr id="21" name="TextBox 21"/>
          <p:cNvSpPr txBox="1"/>
          <p:nvPr/>
        </p:nvSpPr>
        <p:spPr>
          <a:xfrm>
            <a:off x="1632109" y="3756803"/>
            <a:ext cx="1658693" cy="324526"/>
          </a:xfrm>
          <a:prstGeom prst="rect">
            <a:avLst/>
          </a:prstGeom>
        </p:spPr>
        <p:txBody>
          <a:bodyPr lIns="0" tIns="0" rIns="0" bIns="0" rtlCol="0" anchor="t">
            <a:spAutoFit/>
          </a:bodyPr>
          <a:lstStyle/>
          <a:p>
            <a:pPr algn="l">
              <a:lnSpc>
                <a:spcPts val="2620"/>
              </a:lnSpc>
            </a:pPr>
            <a:r>
              <a:rPr lang="en-US" sz="1872" spc="-14">
                <a:solidFill>
                  <a:srgbClr val="000000"/>
                </a:solidFill>
                <a:latin typeface="Montserrat"/>
                <a:ea typeface="Montserrat"/>
                <a:cs typeface="Montserrat"/>
                <a:sym typeface="Montserrat"/>
              </a:rPr>
              <a:t>Software side:</a:t>
            </a:r>
          </a:p>
        </p:txBody>
      </p:sp>
      <p:sp>
        <p:nvSpPr>
          <p:cNvPr id="22" name="TextBox 22"/>
          <p:cNvSpPr txBox="1"/>
          <p:nvPr/>
        </p:nvSpPr>
        <p:spPr>
          <a:xfrm>
            <a:off x="2167033" y="4124115"/>
            <a:ext cx="7456360" cy="324526"/>
          </a:xfrm>
          <a:prstGeom prst="rect">
            <a:avLst/>
          </a:prstGeom>
        </p:spPr>
        <p:txBody>
          <a:bodyPr lIns="0" tIns="0" rIns="0" bIns="0" rtlCol="0" anchor="t">
            <a:spAutoFit/>
          </a:bodyPr>
          <a:lstStyle/>
          <a:p>
            <a:pPr algn="l">
              <a:lnSpc>
                <a:spcPts val="2620"/>
              </a:lnSpc>
            </a:pPr>
            <a:r>
              <a:rPr lang="en-US" sz="1872" spc="-14">
                <a:solidFill>
                  <a:srgbClr val="000000"/>
                </a:solidFill>
                <a:latin typeface="Montserrat"/>
                <a:ea typeface="Montserrat"/>
                <a:cs typeface="Montserrat"/>
                <a:sym typeface="Montserrat"/>
              </a:rPr>
              <a:t>Open a new sketch in Arduino IDE -do not write any code in it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1801368" y="2799588"/>
            <a:ext cx="103632" cy="103632"/>
            <a:chOff x="0" y="0"/>
            <a:chExt cx="103632" cy="103632"/>
          </a:xfrm>
        </p:grpSpPr>
        <p:sp>
          <p:nvSpPr>
            <p:cNvPr id="10" name="Freeform 10"/>
            <p:cNvSpPr/>
            <p:nvPr/>
          </p:nvSpPr>
          <p:spPr>
            <a:xfrm>
              <a:off x="0" y="0"/>
              <a:ext cx="103632" cy="103632"/>
            </a:xfrm>
            <a:custGeom>
              <a:avLst/>
              <a:gdLst/>
              <a:ahLst/>
              <a:cxnLst/>
              <a:rect l="l" t="t" r="r" b="b"/>
              <a:pathLst>
                <a:path w="103632" h="103632">
                  <a:moveTo>
                    <a:pt x="27432" y="7620"/>
                  </a:moveTo>
                  <a:cubicBezTo>
                    <a:pt x="18288" y="10668"/>
                    <a:pt x="12192" y="18288"/>
                    <a:pt x="7620" y="25908"/>
                  </a:cubicBezTo>
                  <a:cubicBezTo>
                    <a:pt x="3048" y="35052"/>
                    <a:pt x="0" y="42672"/>
                    <a:pt x="0" y="51816"/>
                  </a:cubicBezTo>
                  <a:cubicBezTo>
                    <a:pt x="0" y="67056"/>
                    <a:pt x="6096" y="79248"/>
                    <a:pt x="15240" y="88392"/>
                  </a:cubicBezTo>
                  <a:cubicBezTo>
                    <a:pt x="25908" y="99060"/>
                    <a:pt x="38100" y="103632"/>
                    <a:pt x="51816" y="103632"/>
                  </a:cubicBezTo>
                  <a:cubicBezTo>
                    <a:pt x="67056" y="103632"/>
                    <a:pt x="79248" y="99060"/>
                    <a:pt x="88392" y="88392"/>
                  </a:cubicBezTo>
                  <a:cubicBezTo>
                    <a:pt x="99060" y="79248"/>
                    <a:pt x="103632" y="67056"/>
                    <a:pt x="103632" y="51816"/>
                  </a:cubicBezTo>
                  <a:cubicBezTo>
                    <a:pt x="103632" y="42672"/>
                    <a:pt x="102108" y="35052"/>
                    <a:pt x="97536" y="25908"/>
                  </a:cubicBezTo>
                  <a:cubicBezTo>
                    <a:pt x="92964" y="18288"/>
                    <a:pt x="86868" y="10668"/>
                    <a:pt x="77724" y="7620"/>
                  </a:cubicBezTo>
                  <a:cubicBezTo>
                    <a:pt x="70104" y="3048"/>
                    <a:pt x="60960" y="0"/>
                    <a:pt x="51816" y="0"/>
                  </a:cubicBezTo>
                  <a:cubicBezTo>
                    <a:pt x="44196" y="0"/>
                    <a:pt x="35052" y="3048"/>
                    <a:pt x="27432" y="7620"/>
                  </a:cubicBezTo>
                  <a:close/>
                </a:path>
              </a:pathLst>
            </a:custGeom>
            <a:solidFill>
              <a:srgbClr val="000000"/>
            </a:solidFill>
          </p:spPr>
          <p:txBody>
            <a:bodyPr/>
            <a:lstStyle/>
            <a:p>
              <a:endParaRPr lang="en-SG"/>
            </a:p>
          </p:txBody>
        </p:sp>
      </p:grpSp>
      <p:grpSp>
        <p:nvGrpSpPr>
          <p:cNvPr id="11" name="Group 11"/>
          <p:cNvGrpSpPr/>
          <p:nvPr/>
        </p:nvGrpSpPr>
        <p:grpSpPr>
          <a:xfrm>
            <a:off x="1801368" y="3168396"/>
            <a:ext cx="103632" cy="103632"/>
            <a:chOff x="0" y="0"/>
            <a:chExt cx="103632" cy="103632"/>
          </a:xfrm>
        </p:grpSpPr>
        <p:sp>
          <p:nvSpPr>
            <p:cNvPr id="12" name="Freeform 12"/>
            <p:cNvSpPr/>
            <p:nvPr/>
          </p:nvSpPr>
          <p:spPr>
            <a:xfrm>
              <a:off x="0" y="0"/>
              <a:ext cx="103632" cy="103632"/>
            </a:xfrm>
            <a:custGeom>
              <a:avLst/>
              <a:gdLst/>
              <a:ahLst/>
              <a:cxnLst/>
              <a:rect l="l" t="t" r="r" b="b"/>
              <a:pathLst>
                <a:path w="103632" h="103632">
                  <a:moveTo>
                    <a:pt x="27432" y="7620"/>
                  </a:moveTo>
                  <a:cubicBezTo>
                    <a:pt x="18288" y="12192"/>
                    <a:pt x="12192" y="18288"/>
                    <a:pt x="7620" y="25908"/>
                  </a:cubicBezTo>
                  <a:cubicBezTo>
                    <a:pt x="3048" y="35052"/>
                    <a:pt x="0" y="42672"/>
                    <a:pt x="0" y="51816"/>
                  </a:cubicBezTo>
                  <a:cubicBezTo>
                    <a:pt x="0" y="67056"/>
                    <a:pt x="6096" y="79248"/>
                    <a:pt x="15240" y="88392"/>
                  </a:cubicBezTo>
                  <a:cubicBezTo>
                    <a:pt x="25908" y="99060"/>
                    <a:pt x="38100" y="103632"/>
                    <a:pt x="51816" y="103632"/>
                  </a:cubicBezTo>
                  <a:cubicBezTo>
                    <a:pt x="67056" y="103632"/>
                    <a:pt x="79248" y="99060"/>
                    <a:pt x="88392" y="88392"/>
                  </a:cubicBezTo>
                  <a:cubicBezTo>
                    <a:pt x="99060" y="79248"/>
                    <a:pt x="103632" y="67056"/>
                    <a:pt x="103632" y="51816"/>
                  </a:cubicBezTo>
                  <a:cubicBezTo>
                    <a:pt x="103632" y="42672"/>
                    <a:pt x="102108" y="35052"/>
                    <a:pt x="97536" y="25908"/>
                  </a:cubicBezTo>
                  <a:cubicBezTo>
                    <a:pt x="92964" y="18288"/>
                    <a:pt x="86868" y="12192"/>
                    <a:pt x="77724" y="7620"/>
                  </a:cubicBezTo>
                  <a:cubicBezTo>
                    <a:pt x="70104" y="3048"/>
                    <a:pt x="60960" y="0"/>
                    <a:pt x="51816" y="0"/>
                  </a:cubicBezTo>
                  <a:cubicBezTo>
                    <a:pt x="44196" y="0"/>
                    <a:pt x="35052" y="3048"/>
                    <a:pt x="27432" y="7620"/>
                  </a:cubicBezTo>
                  <a:close/>
                </a:path>
              </a:pathLst>
            </a:custGeom>
            <a:solidFill>
              <a:srgbClr val="000000"/>
            </a:solidFill>
          </p:spPr>
          <p:txBody>
            <a:bodyPr/>
            <a:lstStyle/>
            <a:p>
              <a:endParaRPr lang="en-SG"/>
            </a:p>
          </p:txBody>
        </p:sp>
      </p:grpSp>
      <p:grpSp>
        <p:nvGrpSpPr>
          <p:cNvPr id="13" name="Group 13"/>
          <p:cNvGrpSpPr/>
          <p:nvPr/>
        </p:nvGrpSpPr>
        <p:grpSpPr>
          <a:xfrm>
            <a:off x="1801368" y="3535680"/>
            <a:ext cx="103632" cy="103632"/>
            <a:chOff x="0" y="0"/>
            <a:chExt cx="103632" cy="103632"/>
          </a:xfrm>
        </p:grpSpPr>
        <p:sp>
          <p:nvSpPr>
            <p:cNvPr id="14" name="Freeform 14"/>
            <p:cNvSpPr/>
            <p:nvPr/>
          </p:nvSpPr>
          <p:spPr>
            <a:xfrm>
              <a:off x="0" y="0"/>
              <a:ext cx="103632" cy="103632"/>
            </a:xfrm>
            <a:custGeom>
              <a:avLst/>
              <a:gdLst/>
              <a:ahLst/>
              <a:cxnLst/>
              <a:rect l="l" t="t" r="r" b="b"/>
              <a:pathLst>
                <a:path w="103632" h="103632">
                  <a:moveTo>
                    <a:pt x="27432" y="7620"/>
                  </a:moveTo>
                  <a:cubicBezTo>
                    <a:pt x="18288" y="12192"/>
                    <a:pt x="12192" y="18288"/>
                    <a:pt x="7620" y="25908"/>
                  </a:cubicBezTo>
                  <a:cubicBezTo>
                    <a:pt x="3048" y="35052"/>
                    <a:pt x="0" y="42672"/>
                    <a:pt x="0" y="51816"/>
                  </a:cubicBezTo>
                  <a:cubicBezTo>
                    <a:pt x="0" y="67056"/>
                    <a:pt x="6096" y="79248"/>
                    <a:pt x="15240" y="88392"/>
                  </a:cubicBezTo>
                  <a:cubicBezTo>
                    <a:pt x="25908" y="99060"/>
                    <a:pt x="38100" y="103632"/>
                    <a:pt x="51816" y="103632"/>
                  </a:cubicBezTo>
                  <a:cubicBezTo>
                    <a:pt x="67056" y="103632"/>
                    <a:pt x="79248" y="99060"/>
                    <a:pt x="88392" y="88392"/>
                  </a:cubicBezTo>
                  <a:cubicBezTo>
                    <a:pt x="99060" y="79248"/>
                    <a:pt x="103632" y="67056"/>
                    <a:pt x="103632" y="51816"/>
                  </a:cubicBezTo>
                  <a:cubicBezTo>
                    <a:pt x="103632" y="42672"/>
                    <a:pt x="102108" y="35052"/>
                    <a:pt x="97536" y="25908"/>
                  </a:cubicBezTo>
                  <a:cubicBezTo>
                    <a:pt x="92964" y="18288"/>
                    <a:pt x="86868" y="12192"/>
                    <a:pt x="77724" y="7620"/>
                  </a:cubicBezTo>
                  <a:cubicBezTo>
                    <a:pt x="70104" y="3048"/>
                    <a:pt x="60960" y="0"/>
                    <a:pt x="51816" y="0"/>
                  </a:cubicBezTo>
                  <a:cubicBezTo>
                    <a:pt x="44196" y="0"/>
                    <a:pt x="35052" y="3048"/>
                    <a:pt x="27432" y="7620"/>
                  </a:cubicBezTo>
                  <a:close/>
                </a:path>
              </a:pathLst>
            </a:custGeom>
            <a:solidFill>
              <a:srgbClr val="000000"/>
            </a:solidFill>
          </p:spPr>
          <p:txBody>
            <a:bodyPr/>
            <a:lstStyle/>
            <a:p>
              <a:endParaRPr lang="en-SG"/>
            </a:p>
          </p:txBody>
        </p:sp>
      </p:grpSp>
      <p:grpSp>
        <p:nvGrpSpPr>
          <p:cNvPr id="15" name="Group 15"/>
          <p:cNvGrpSpPr/>
          <p:nvPr/>
        </p:nvGrpSpPr>
        <p:grpSpPr>
          <a:xfrm>
            <a:off x="1801368" y="3904488"/>
            <a:ext cx="103632" cy="103632"/>
            <a:chOff x="0" y="0"/>
            <a:chExt cx="103632" cy="103632"/>
          </a:xfrm>
        </p:grpSpPr>
        <p:sp>
          <p:nvSpPr>
            <p:cNvPr id="16" name="Freeform 16"/>
            <p:cNvSpPr/>
            <p:nvPr/>
          </p:nvSpPr>
          <p:spPr>
            <a:xfrm>
              <a:off x="0" y="0"/>
              <a:ext cx="103632" cy="103632"/>
            </a:xfrm>
            <a:custGeom>
              <a:avLst/>
              <a:gdLst/>
              <a:ahLst/>
              <a:cxnLst/>
              <a:rect l="l" t="t" r="r" b="b"/>
              <a:pathLst>
                <a:path w="103632" h="103632">
                  <a:moveTo>
                    <a:pt x="27432" y="7620"/>
                  </a:moveTo>
                  <a:cubicBezTo>
                    <a:pt x="18288" y="12192"/>
                    <a:pt x="12192" y="18288"/>
                    <a:pt x="7620" y="25908"/>
                  </a:cubicBezTo>
                  <a:cubicBezTo>
                    <a:pt x="3048" y="35052"/>
                    <a:pt x="0" y="42672"/>
                    <a:pt x="0" y="51816"/>
                  </a:cubicBezTo>
                  <a:cubicBezTo>
                    <a:pt x="0" y="67056"/>
                    <a:pt x="6096" y="79248"/>
                    <a:pt x="15240" y="88392"/>
                  </a:cubicBezTo>
                  <a:cubicBezTo>
                    <a:pt x="25908" y="99060"/>
                    <a:pt x="38100" y="103632"/>
                    <a:pt x="51816" y="103632"/>
                  </a:cubicBezTo>
                  <a:cubicBezTo>
                    <a:pt x="67056" y="103632"/>
                    <a:pt x="79248" y="99060"/>
                    <a:pt x="88392" y="88392"/>
                  </a:cubicBezTo>
                  <a:cubicBezTo>
                    <a:pt x="99060" y="79248"/>
                    <a:pt x="103632" y="67056"/>
                    <a:pt x="103632" y="51816"/>
                  </a:cubicBezTo>
                  <a:cubicBezTo>
                    <a:pt x="103632" y="42672"/>
                    <a:pt x="102108" y="35052"/>
                    <a:pt x="97536" y="25908"/>
                  </a:cubicBezTo>
                  <a:cubicBezTo>
                    <a:pt x="92964" y="18288"/>
                    <a:pt x="86868" y="12192"/>
                    <a:pt x="77724" y="7620"/>
                  </a:cubicBezTo>
                  <a:cubicBezTo>
                    <a:pt x="70104" y="3048"/>
                    <a:pt x="60960" y="0"/>
                    <a:pt x="51816" y="0"/>
                  </a:cubicBezTo>
                  <a:cubicBezTo>
                    <a:pt x="44196" y="0"/>
                    <a:pt x="35052" y="3048"/>
                    <a:pt x="27432" y="7620"/>
                  </a:cubicBezTo>
                  <a:close/>
                </a:path>
              </a:pathLst>
            </a:custGeom>
            <a:solidFill>
              <a:srgbClr val="000000"/>
            </a:solidFill>
          </p:spPr>
          <p:txBody>
            <a:bodyPr/>
            <a:lstStyle/>
            <a:p>
              <a:endParaRPr lang="en-SG"/>
            </a:p>
          </p:txBody>
        </p:sp>
      </p:grpSp>
      <p:grpSp>
        <p:nvGrpSpPr>
          <p:cNvPr id="17" name="Group 17"/>
          <p:cNvGrpSpPr/>
          <p:nvPr/>
        </p:nvGrpSpPr>
        <p:grpSpPr>
          <a:xfrm>
            <a:off x="3439668" y="4261104"/>
            <a:ext cx="4390644" cy="568452"/>
            <a:chOff x="0" y="0"/>
            <a:chExt cx="5854192" cy="757936"/>
          </a:xfrm>
        </p:grpSpPr>
        <p:sp>
          <p:nvSpPr>
            <p:cNvPr id="18" name="Freeform 18"/>
            <p:cNvSpPr/>
            <p:nvPr/>
          </p:nvSpPr>
          <p:spPr>
            <a:xfrm>
              <a:off x="0" y="0"/>
              <a:ext cx="5854192" cy="757936"/>
            </a:xfrm>
            <a:custGeom>
              <a:avLst/>
              <a:gdLst/>
              <a:ahLst/>
              <a:cxnLst/>
              <a:rect l="l" t="t" r="r" b="b"/>
              <a:pathLst>
                <a:path w="5854192" h="757936">
                  <a:moveTo>
                    <a:pt x="0" y="0"/>
                  </a:moveTo>
                  <a:lnTo>
                    <a:pt x="5854192" y="0"/>
                  </a:lnTo>
                  <a:lnTo>
                    <a:pt x="5854192" y="757936"/>
                  </a:lnTo>
                  <a:lnTo>
                    <a:pt x="0" y="757936"/>
                  </a:lnTo>
                  <a:lnTo>
                    <a:pt x="0" y="0"/>
                  </a:lnTo>
                  <a:close/>
                </a:path>
              </a:pathLst>
            </a:custGeom>
            <a:blipFill>
              <a:blip r:embed="rId4"/>
              <a:stretch>
                <a:fillRect l="-69"/>
              </a:stretch>
            </a:blipFill>
          </p:spPr>
          <p:txBody>
            <a:bodyPr/>
            <a:lstStyle/>
            <a:p>
              <a:endParaRPr lang="en-SG"/>
            </a:p>
          </p:txBody>
        </p:sp>
      </p:grpSp>
      <p:grpSp>
        <p:nvGrpSpPr>
          <p:cNvPr id="19" name="Group 19"/>
          <p:cNvGrpSpPr/>
          <p:nvPr/>
        </p:nvGrpSpPr>
        <p:grpSpPr>
          <a:xfrm>
            <a:off x="3439668" y="4823460"/>
            <a:ext cx="4390644" cy="1517904"/>
            <a:chOff x="0" y="0"/>
            <a:chExt cx="5854192" cy="2023872"/>
          </a:xfrm>
        </p:grpSpPr>
        <p:sp>
          <p:nvSpPr>
            <p:cNvPr id="20" name="Freeform 20"/>
            <p:cNvSpPr/>
            <p:nvPr/>
          </p:nvSpPr>
          <p:spPr>
            <a:xfrm>
              <a:off x="0" y="0"/>
              <a:ext cx="5854192" cy="2023872"/>
            </a:xfrm>
            <a:custGeom>
              <a:avLst/>
              <a:gdLst/>
              <a:ahLst/>
              <a:cxnLst/>
              <a:rect l="l" t="t" r="r" b="b"/>
              <a:pathLst>
                <a:path w="5854192" h="2023872">
                  <a:moveTo>
                    <a:pt x="0" y="0"/>
                  </a:moveTo>
                  <a:lnTo>
                    <a:pt x="5854192" y="0"/>
                  </a:lnTo>
                  <a:lnTo>
                    <a:pt x="5854192" y="2023872"/>
                  </a:lnTo>
                  <a:lnTo>
                    <a:pt x="0" y="2023872"/>
                  </a:lnTo>
                  <a:lnTo>
                    <a:pt x="0" y="0"/>
                  </a:lnTo>
                  <a:close/>
                </a:path>
              </a:pathLst>
            </a:custGeom>
            <a:blipFill>
              <a:blip r:embed="rId5"/>
              <a:stretch>
                <a:fillRect/>
              </a:stretch>
            </a:blipFill>
          </p:spPr>
          <p:txBody>
            <a:bodyPr/>
            <a:lstStyle/>
            <a:p>
              <a:endParaRPr lang="en-SG"/>
            </a:p>
          </p:txBody>
        </p:sp>
      </p:grpSp>
      <p:sp>
        <p:nvSpPr>
          <p:cNvPr id="21" name="TextBox 21"/>
          <p:cNvSpPr txBox="1"/>
          <p:nvPr/>
        </p:nvSpPr>
        <p:spPr>
          <a:xfrm>
            <a:off x="1632109" y="1334119"/>
            <a:ext cx="6107630" cy="1274026"/>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Satellite Set-up -Boards Check</a:t>
            </a:r>
          </a:p>
          <a:p>
            <a:pPr algn="l">
              <a:lnSpc>
                <a:spcPts val="2620"/>
              </a:lnSpc>
            </a:pPr>
            <a:r>
              <a:rPr lang="en-US" sz="1872" spc="-14">
                <a:solidFill>
                  <a:srgbClr val="000000"/>
                </a:solidFill>
                <a:latin typeface="Montserrat"/>
                <a:ea typeface="Montserrat"/>
                <a:cs typeface="Montserrat"/>
                <a:sym typeface="Montserrat"/>
              </a:rPr>
              <a:t>Software side:</a:t>
            </a:r>
          </a:p>
        </p:txBody>
      </p:sp>
      <p:sp>
        <p:nvSpPr>
          <p:cNvPr id="22" name="TextBox 22"/>
          <p:cNvSpPr txBox="1"/>
          <p:nvPr/>
        </p:nvSpPr>
        <p:spPr>
          <a:xfrm>
            <a:off x="2167033" y="2623423"/>
            <a:ext cx="7456360" cy="1457897"/>
          </a:xfrm>
          <a:prstGeom prst="rect">
            <a:avLst/>
          </a:prstGeom>
        </p:spPr>
        <p:txBody>
          <a:bodyPr lIns="0" tIns="0" rIns="0" bIns="0" rtlCol="0" anchor="t">
            <a:spAutoFit/>
          </a:bodyPr>
          <a:lstStyle/>
          <a:p>
            <a:pPr algn="l">
              <a:lnSpc>
                <a:spcPts val="2901"/>
              </a:lnSpc>
            </a:pPr>
            <a:r>
              <a:rPr lang="en-US" sz="1872" spc="-14">
                <a:solidFill>
                  <a:srgbClr val="000000"/>
                </a:solidFill>
                <a:latin typeface="Montserrat"/>
                <a:ea typeface="Montserrat"/>
                <a:cs typeface="Montserrat"/>
                <a:sym typeface="Montserrat"/>
              </a:rPr>
              <a:t>Open a new sketch in Arduino IDE -do not write any code in it Connect and upload the empty code on the OBC first.</a:t>
            </a:r>
          </a:p>
          <a:p>
            <a:pPr algn="l">
              <a:lnSpc>
                <a:spcPts val="2901"/>
              </a:lnSpc>
            </a:pPr>
            <a:r>
              <a:rPr lang="en-US" sz="1872" spc="-14">
                <a:solidFill>
                  <a:srgbClr val="000000"/>
                </a:solidFill>
                <a:latin typeface="Montserrat"/>
                <a:ea typeface="Montserrat"/>
                <a:cs typeface="Montserrat"/>
                <a:sym typeface="Montserrat"/>
              </a:rPr>
              <a:t>Then, disconnect the OBC cable.</a:t>
            </a:r>
          </a:p>
          <a:p>
            <a:pPr algn="l">
              <a:lnSpc>
                <a:spcPts val="2901"/>
              </a:lnSpc>
            </a:pPr>
            <a:r>
              <a:rPr lang="en-US" sz="1872" spc="-14">
                <a:solidFill>
                  <a:srgbClr val="000000"/>
                </a:solidFill>
                <a:latin typeface="Montserrat"/>
                <a:ea typeface="Montserrat"/>
                <a:cs typeface="Montserrat"/>
                <a:sym typeface="Montserrat"/>
              </a:rPr>
              <a:t>Connect and upload the empty code on the ADCS.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1801368" y="2799588"/>
            <a:ext cx="103632" cy="103632"/>
            <a:chOff x="0" y="0"/>
            <a:chExt cx="103632" cy="103632"/>
          </a:xfrm>
        </p:grpSpPr>
        <p:sp>
          <p:nvSpPr>
            <p:cNvPr id="10" name="Freeform 10"/>
            <p:cNvSpPr/>
            <p:nvPr/>
          </p:nvSpPr>
          <p:spPr>
            <a:xfrm>
              <a:off x="0" y="0"/>
              <a:ext cx="103632" cy="103632"/>
            </a:xfrm>
            <a:custGeom>
              <a:avLst/>
              <a:gdLst/>
              <a:ahLst/>
              <a:cxnLst/>
              <a:rect l="l" t="t" r="r" b="b"/>
              <a:pathLst>
                <a:path w="103632" h="103632">
                  <a:moveTo>
                    <a:pt x="27432" y="7620"/>
                  </a:moveTo>
                  <a:cubicBezTo>
                    <a:pt x="18288" y="10668"/>
                    <a:pt x="12192" y="18288"/>
                    <a:pt x="7620" y="25908"/>
                  </a:cubicBezTo>
                  <a:cubicBezTo>
                    <a:pt x="3048" y="35052"/>
                    <a:pt x="0" y="42672"/>
                    <a:pt x="0" y="51816"/>
                  </a:cubicBezTo>
                  <a:cubicBezTo>
                    <a:pt x="0" y="67056"/>
                    <a:pt x="6096" y="79248"/>
                    <a:pt x="15240" y="88392"/>
                  </a:cubicBezTo>
                  <a:cubicBezTo>
                    <a:pt x="25908" y="99060"/>
                    <a:pt x="38100" y="103632"/>
                    <a:pt x="51816" y="103632"/>
                  </a:cubicBezTo>
                  <a:cubicBezTo>
                    <a:pt x="67056" y="103632"/>
                    <a:pt x="79248" y="99060"/>
                    <a:pt x="88392" y="88392"/>
                  </a:cubicBezTo>
                  <a:cubicBezTo>
                    <a:pt x="99060" y="79248"/>
                    <a:pt x="103632" y="67056"/>
                    <a:pt x="103632" y="51816"/>
                  </a:cubicBezTo>
                  <a:cubicBezTo>
                    <a:pt x="103632" y="42672"/>
                    <a:pt x="102108" y="35052"/>
                    <a:pt x="97536" y="25908"/>
                  </a:cubicBezTo>
                  <a:cubicBezTo>
                    <a:pt x="92964" y="18288"/>
                    <a:pt x="86868" y="10668"/>
                    <a:pt x="77724" y="7620"/>
                  </a:cubicBezTo>
                  <a:cubicBezTo>
                    <a:pt x="70104" y="3048"/>
                    <a:pt x="60960" y="0"/>
                    <a:pt x="51816" y="0"/>
                  </a:cubicBezTo>
                  <a:cubicBezTo>
                    <a:pt x="44196" y="0"/>
                    <a:pt x="35052" y="3048"/>
                    <a:pt x="27432" y="7620"/>
                  </a:cubicBezTo>
                  <a:close/>
                </a:path>
              </a:pathLst>
            </a:custGeom>
            <a:solidFill>
              <a:srgbClr val="000000"/>
            </a:solidFill>
          </p:spPr>
          <p:txBody>
            <a:bodyPr/>
            <a:lstStyle/>
            <a:p>
              <a:endParaRPr lang="en-SG"/>
            </a:p>
          </p:txBody>
        </p:sp>
      </p:grpSp>
      <p:grpSp>
        <p:nvGrpSpPr>
          <p:cNvPr id="11" name="Group 11"/>
          <p:cNvGrpSpPr/>
          <p:nvPr/>
        </p:nvGrpSpPr>
        <p:grpSpPr>
          <a:xfrm>
            <a:off x="1801368" y="3168396"/>
            <a:ext cx="103632" cy="103632"/>
            <a:chOff x="0" y="0"/>
            <a:chExt cx="103632" cy="103632"/>
          </a:xfrm>
        </p:grpSpPr>
        <p:sp>
          <p:nvSpPr>
            <p:cNvPr id="12" name="Freeform 12"/>
            <p:cNvSpPr/>
            <p:nvPr/>
          </p:nvSpPr>
          <p:spPr>
            <a:xfrm>
              <a:off x="0" y="0"/>
              <a:ext cx="103632" cy="103632"/>
            </a:xfrm>
            <a:custGeom>
              <a:avLst/>
              <a:gdLst/>
              <a:ahLst/>
              <a:cxnLst/>
              <a:rect l="l" t="t" r="r" b="b"/>
              <a:pathLst>
                <a:path w="103632" h="103632">
                  <a:moveTo>
                    <a:pt x="27432" y="7620"/>
                  </a:moveTo>
                  <a:cubicBezTo>
                    <a:pt x="18288" y="12192"/>
                    <a:pt x="12192" y="18288"/>
                    <a:pt x="7620" y="25908"/>
                  </a:cubicBezTo>
                  <a:cubicBezTo>
                    <a:pt x="3048" y="35052"/>
                    <a:pt x="0" y="42672"/>
                    <a:pt x="0" y="51816"/>
                  </a:cubicBezTo>
                  <a:cubicBezTo>
                    <a:pt x="0" y="67056"/>
                    <a:pt x="6096" y="79248"/>
                    <a:pt x="15240" y="88392"/>
                  </a:cubicBezTo>
                  <a:cubicBezTo>
                    <a:pt x="25908" y="99060"/>
                    <a:pt x="38100" y="103632"/>
                    <a:pt x="51816" y="103632"/>
                  </a:cubicBezTo>
                  <a:cubicBezTo>
                    <a:pt x="67056" y="103632"/>
                    <a:pt x="79248" y="99060"/>
                    <a:pt x="88392" y="88392"/>
                  </a:cubicBezTo>
                  <a:cubicBezTo>
                    <a:pt x="99060" y="79248"/>
                    <a:pt x="103632" y="67056"/>
                    <a:pt x="103632" y="51816"/>
                  </a:cubicBezTo>
                  <a:cubicBezTo>
                    <a:pt x="103632" y="42672"/>
                    <a:pt x="102108" y="35052"/>
                    <a:pt x="97536" y="25908"/>
                  </a:cubicBezTo>
                  <a:cubicBezTo>
                    <a:pt x="92964" y="18288"/>
                    <a:pt x="86868" y="12192"/>
                    <a:pt x="77724" y="7620"/>
                  </a:cubicBezTo>
                  <a:cubicBezTo>
                    <a:pt x="70104" y="3048"/>
                    <a:pt x="60960" y="0"/>
                    <a:pt x="51816" y="0"/>
                  </a:cubicBezTo>
                  <a:cubicBezTo>
                    <a:pt x="44196" y="0"/>
                    <a:pt x="35052" y="3048"/>
                    <a:pt x="27432" y="7620"/>
                  </a:cubicBezTo>
                  <a:close/>
                </a:path>
              </a:pathLst>
            </a:custGeom>
            <a:solidFill>
              <a:srgbClr val="000000"/>
            </a:solidFill>
          </p:spPr>
          <p:txBody>
            <a:bodyPr/>
            <a:lstStyle/>
            <a:p>
              <a:endParaRPr lang="en-SG"/>
            </a:p>
          </p:txBody>
        </p:sp>
      </p:grpSp>
      <p:grpSp>
        <p:nvGrpSpPr>
          <p:cNvPr id="13" name="Group 13"/>
          <p:cNvGrpSpPr/>
          <p:nvPr/>
        </p:nvGrpSpPr>
        <p:grpSpPr>
          <a:xfrm>
            <a:off x="1801368" y="3535680"/>
            <a:ext cx="103632" cy="103632"/>
            <a:chOff x="0" y="0"/>
            <a:chExt cx="103632" cy="103632"/>
          </a:xfrm>
        </p:grpSpPr>
        <p:sp>
          <p:nvSpPr>
            <p:cNvPr id="14" name="Freeform 14"/>
            <p:cNvSpPr/>
            <p:nvPr/>
          </p:nvSpPr>
          <p:spPr>
            <a:xfrm>
              <a:off x="0" y="0"/>
              <a:ext cx="103632" cy="103632"/>
            </a:xfrm>
            <a:custGeom>
              <a:avLst/>
              <a:gdLst/>
              <a:ahLst/>
              <a:cxnLst/>
              <a:rect l="l" t="t" r="r" b="b"/>
              <a:pathLst>
                <a:path w="103632" h="103632">
                  <a:moveTo>
                    <a:pt x="27432" y="7620"/>
                  </a:moveTo>
                  <a:cubicBezTo>
                    <a:pt x="18288" y="12192"/>
                    <a:pt x="12192" y="18288"/>
                    <a:pt x="7620" y="25908"/>
                  </a:cubicBezTo>
                  <a:cubicBezTo>
                    <a:pt x="3048" y="35052"/>
                    <a:pt x="0" y="42672"/>
                    <a:pt x="0" y="51816"/>
                  </a:cubicBezTo>
                  <a:cubicBezTo>
                    <a:pt x="0" y="67056"/>
                    <a:pt x="6096" y="79248"/>
                    <a:pt x="15240" y="88392"/>
                  </a:cubicBezTo>
                  <a:cubicBezTo>
                    <a:pt x="25908" y="99060"/>
                    <a:pt x="38100" y="103632"/>
                    <a:pt x="51816" y="103632"/>
                  </a:cubicBezTo>
                  <a:cubicBezTo>
                    <a:pt x="67056" y="103632"/>
                    <a:pt x="79248" y="99060"/>
                    <a:pt x="88392" y="88392"/>
                  </a:cubicBezTo>
                  <a:cubicBezTo>
                    <a:pt x="99060" y="79248"/>
                    <a:pt x="103632" y="67056"/>
                    <a:pt x="103632" y="51816"/>
                  </a:cubicBezTo>
                  <a:cubicBezTo>
                    <a:pt x="103632" y="42672"/>
                    <a:pt x="102108" y="35052"/>
                    <a:pt x="97536" y="25908"/>
                  </a:cubicBezTo>
                  <a:cubicBezTo>
                    <a:pt x="92964" y="18288"/>
                    <a:pt x="86868" y="12192"/>
                    <a:pt x="77724" y="7620"/>
                  </a:cubicBezTo>
                  <a:cubicBezTo>
                    <a:pt x="70104" y="3048"/>
                    <a:pt x="60960" y="0"/>
                    <a:pt x="51816" y="0"/>
                  </a:cubicBezTo>
                  <a:cubicBezTo>
                    <a:pt x="44196" y="0"/>
                    <a:pt x="35052" y="3048"/>
                    <a:pt x="27432" y="7620"/>
                  </a:cubicBezTo>
                  <a:close/>
                </a:path>
              </a:pathLst>
            </a:custGeom>
            <a:solidFill>
              <a:srgbClr val="000000"/>
            </a:solidFill>
          </p:spPr>
          <p:txBody>
            <a:bodyPr/>
            <a:lstStyle/>
            <a:p>
              <a:endParaRPr lang="en-SG"/>
            </a:p>
          </p:txBody>
        </p:sp>
      </p:grpSp>
      <p:grpSp>
        <p:nvGrpSpPr>
          <p:cNvPr id="15" name="Group 15"/>
          <p:cNvGrpSpPr/>
          <p:nvPr/>
        </p:nvGrpSpPr>
        <p:grpSpPr>
          <a:xfrm>
            <a:off x="1981200" y="4631436"/>
            <a:ext cx="6728460" cy="1594104"/>
            <a:chOff x="0" y="0"/>
            <a:chExt cx="8971280" cy="2125472"/>
          </a:xfrm>
        </p:grpSpPr>
        <p:sp>
          <p:nvSpPr>
            <p:cNvPr id="16" name="Freeform 16"/>
            <p:cNvSpPr/>
            <p:nvPr/>
          </p:nvSpPr>
          <p:spPr>
            <a:xfrm>
              <a:off x="0" y="0"/>
              <a:ext cx="8971280" cy="2125472"/>
            </a:xfrm>
            <a:custGeom>
              <a:avLst/>
              <a:gdLst/>
              <a:ahLst/>
              <a:cxnLst/>
              <a:rect l="l" t="t" r="r" b="b"/>
              <a:pathLst>
                <a:path w="8971280" h="2125472">
                  <a:moveTo>
                    <a:pt x="0" y="0"/>
                  </a:moveTo>
                  <a:lnTo>
                    <a:pt x="8971280" y="0"/>
                  </a:lnTo>
                  <a:lnTo>
                    <a:pt x="8971280" y="2125472"/>
                  </a:lnTo>
                  <a:lnTo>
                    <a:pt x="0" y="2125472"/>
                  </a:lnTo>
                  <a:lnTo>
                    <a:pt x="0" y="0"/>
                  </a:lnTo>
                  <a:close/>
                </a:path>
              </a:pathLst>
            </a:custGeom>
            <a:blipFill>
              <a:blip r:embed="rId4"/>
              <a:stretch>
                <a:fillRect l="-135" t="-573"/>
              </a:stretch>
            </a:blipFill>
          </p:spPr>
          <p:txBody>
            <a:bodyPr/>
            <a:lstStyle/>
            <a:p>
              <a:endParaRPr lang="en-SG"/>
            </a:p>
          </p:txBody>
        </p:sp>
      </p:grpSp>
      <p:grpSp>
        <p:nvGrpSpPr>
          <p:cNvPr id="17" name="Group 17"/>
          <p:cNvGrpSpPr/>
          <p:nvPr/>
        </p:nvGrpSpPr>
        <p:grpSpPr>
          <a:xfrm>
            <a:off x="1981200" y="6214872"/>
            <a:ext cx="6728460" cy="155448"/>
            <a:chOff x="0" y="0"/>
            <a:chExt cx="8971280" cy="207264"/>
          </a:xfrm>
        </p:grpSpPr>
        <p:sp>
          <p:nvSpPr>
            <p:cNvPr id="18" name="Freeform 18"/>
            <p:cNvSpPr/>
            <p:nvPr/>
          </p:nvSpPr>
          <p:spPr>
            <a:xfrm>
              <a:off x="0" y="0"/>
              <a:ext cx="8971280" cy="207264"/>
            </a:xfrm>
            <a:custGeom>
              <a:avLst/>
              <a:gdLst/>
              <a:ahLst/>
              <a:cxnLst/>
              <a:rect l="l" t="t" r="r" b="b"/>
              <a:pathLst>
                <a:path w="8971280" h="207264">
                  <a:moveTo>
                    <a:pt x="0" y="0"/>
                  </a:moveTo>
                  <a:lnTo>
                    <a:pt x="8971280" y="0"/>
                  </a:lnTo>
                  <a:lnTo>
                    <a:pt x="8971280" y="207264"/>
                  </a:lnTo>
                  <a:lnTo>
                    <a:pt x="0" y="207264"/>
                  </a:lnTo>
                  <a:lnTo>
                    <a:pt x="0" y="0"/>
                  </a:lnTo>
                  <a:close/>
                </a:path>
              </a:pathLst>
            </a:custGeom>
            <a:blipFill>
              <a:blip r:embed="rId5"/>
              <a:stretch>
                <a:fillRect l="-135"/>
              </a:stretch>
            </a:blipFill>
          </p:spPr>
          <p:txBody>
            <a:bodyPr/>
            <a:lstStyle/>
            <a:p>
              <a:endParaRPr lang="en-SG"/>
            </a:p>
          </p:txBody>
        </p:sp>
      </p:grpSp>
      <p:sp>
        <p:nvSpPr>
          <p:cNvPr id="19" name="TextBox 19"/>
          <p:cNvSpPr txBox="1"/>
          <p:nvPr/>
        </p:nvSpPr>
        <p:spPr>
          <a:xfrm>
            <a:off x="1632109" y="1334119"/>
            <a:ext cx="6107630" cy="1274026"/>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Satellite Set-up -Boards Check</a:t>
            </a:r>
          </a:p>
          <a:p>
            <a:pPr algn="l">
              <a:lnSpc>
                <a:spcPts val="2620"/>
              </a:lnSpc>
            </a:pPr>
            <a:r>
              <a:rPr lang="en-US" sz="1872" spc="-14">
                <a:solidFill>
                  <a:srgbClr val="000000"/>
                </a:solidFill>
                <a:latin typeface="Montserrat"/>
                <a:ea typeface="Montserrat"/>
                <a:cs typeface="Montserrat"/>
                <a:sym typeface="Montserrat"/>
              </a:rPr>
              <a:t>Hardware side:</a:t>
            </a:r>
          </a:p>
        </p:txBody>
      </p:sp>
      <p:sp>
        <p:nvSpPr>
          <p:cNvPr id="20" name="TextBox 20"/>
          <p:cNvSpPr txBox="1"/>
          <p:nvPr/>
        </p:nvSpPr>
        <p:spPr>
          <a:xfrm>
            <a:off x="2167033" y="2632948"/>
            <a:ext cx="4692358" cy="1079630"/>
          </a:xfrm>
          <a:prstGeom prst="rect">
            <a:avLst/>
          </a:prstGeom>
        </p:spPr>
        <p:txBody>
          <a:bodyPr lIns="0" tIns="0" rIns="0" bIns="0" rtlCol="0" anchor="t">
            <a:spAutoFit/>
          </a:bodyPr>
          <a:lstStyle/>
          <a:p>
            <a:pPr algn="l">
              <a:lnSpc>
                <a:spcPts val="2895"/>
              </a:lnSpc>
            </a:pPr>
            <a:r>
              <a:rPr lang="en-US" sz="1872" spc="-14">
                <a:solidFill>
                  <a:srgbClr val="000000"/>
                </a:solidFill>
                <a:latin typeface="Montserrat"/>
                <a:ea typeface="Montserrat"/>
                <a:cs typeface="Montserrat"/>
                <a:sym typeface="Montserrat"/>
              </a:rPr>
              <a:t>Plug the RBF back in.</a:t>
            </a:r>
          </a:p>
          <a:p>
            <a:pPr algn="l">
              <a:lnSpc>
                <a:spcPts val="2895"/>
              </a:lnSpc>
            </a:pPr>
            <a:r>
              <a:rPr lang="en-US" sz="1872" spc="-14">
                <a:solidFill>
                  <a:srgbClr val="000000"/>
                </a:solidFill>
                <a:latin typeface="Montserrat"/>
                <a:ea typeface="Montserrat"/>
                <a:cs typeface="Montserrat"/>
                <a:sym typeface="Montserrat"/>
              </a:rPr>
              <a:t>Remove the remaining Arduino cable. Remove the USB C cable from the EPS.</a:t>
            </a:r>
          </a:p>
        </p:txBody>
      </p:sp>
      <p:sp>
        <p:nvSpPr>
          <p:cNvPr id="21" name="TextBox 21"/>
          <p:cNvSpPr txBox="1"/>
          <p:nvPr/>
        </p:nvSpPr>
        <p:spPr>
          <a:xfrm>
            <a:off x="1632109" y="4124115"/>
            <a:ext cx="7886548" cy="324526"/>
          </a:xfrm>
          <a:prstGeom prst="rect">
            <a:avLst/>
          </a:prstGeom>
        </p:spPr>
        <p:txBody>
          <a:bodyPr lIns="0" tIns="0" rIns="0" bIns="0" rtlCol="0" anchor="t">
            <a:spAutoFit/>
          </a:bodyPr>
          <a:lstStyle/>
          <a:p>
            <a:pPr algn="l">
              <a:lnSpc>
                <a:spcPts val="2620"/>
              </a:lnSpc>
            </a:pPr>
            <a:r>
              <a:rPr lang="en-US" sz="1872" spc="-14">
                <a:solidFill>
                  <a:srgbClr val="000000"/>
                </a:solidFill>
                <a:latin typeface="Montserrat"/>
                <a:ea typeface="Montserrat"/>
                <a:cs typeface="Montserrat"/>
                <a:sym typeface="Montserrat"/>
              </a:rPr>
              <a:t>Now we know that both OBC and the ADCS can be programmed!</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3503" y="709165"/>
            <a:ext cx="10819381" cy="6142225"/>
          </a:xfrm>
          <a:custGeom>
            <a:avLst/>
            <a:gdLst/>
            <a:ahLst/>
            <a:cxnLst/>
            <a:rect l="l" t="t" r="r" b="b"/>
            <a:pathLst>
              <a:path w="10819381" h="6142225">
                <a:moveTo>
                  <a:pt x="0" y="0"/>
                </a:moveTo>
                <a:lnTo>
                  <a:pt x="10819381" y="0"/>
                </a:lnTo>
                <a:lnTo>
                  <a:pt x="10819381" y="6142225"/>
                </a:lnTo>
                <a:lnTo>
                  <a:pt x="0" y="614222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SG"/>
          </a:p>
        </p:txBody>
      </p:sp>
      <p:grpSp>
        <p:nvGrpSpPr>
          <p:cNvPr id="3" name="Group 3"/>
          <p:cNvGrpSpPr/>
          <p:nvPr/>
        </p:nvGrpSpPr>
        <p:grpSpPr>
          <a:xfrm>
            <a:off x="192024" y="950976"/>
            <a:ext cx="568452" cy="1284732"/>
            <a:chOff x="0" y="0"/>
            <a:chExt cx="757936" cy="1712976"/>
          </a:xfrm>
        </p:grpSpPr>
        <p:sp>
          <p:nvSpPr>
            <p:cNvPr id="4" name="Freeform 4"/>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3"/>
              <a:stretch>
                <a:fillRect l="-804" b="-237"/>
              </a:stretch>
            </a:blipFill>
          </p:spPr>
          <p:txBody>
            <a:bodyPr/>
            <a:lstStyle/>
            <a:p>
              <a:endParaRPr lang="en-SG"/>
            </a:p>
          </p:txBody>
        </p:sp>
      </p:grpSp>
      <p:grpSp>
        <p:nvGrpSpPr>
          <p:cNvPr id="5" name="Group 5"/>
          <p:cNvGrpSpPr/>
          <p:nvPr/>
        </p:nvGrpSpPr>
        <p:grpSpPr>
          <a:xfrm>
            <a:off x="179832" y="5116068"/>
            <a:ext cx="592836" cy="1478280"/>
            <a:chOff x="0" y="0"/>
            <a:chExt cx="790448" cy="1971040"/>
          </a:xfrm>
        </p:grpSpPr>
        <p:sp>
          <p:nvSpPr>
            <p:cNvPr id="6" name="Freeform 6"/>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4"/>
              <a:stretch>
                <a:fillRect l="-514" b="-206"/>
              </a:stretch>
            </a:blipFill>
          </p:spPr>
          <p:txBody>
            <a:bodyPr/>
            <a:lstStyle/>
            <a:p>
              <a:endParaRPr lang="en-SG"/>
            </a:p>
          </p:txBody>
        </p:sp>
      </p:grpSp>
      <p:sp>
        <p:nvSpPr>
          <p:cNvPr id="7" name="TextBox 7"/>
          <p:cNvSpPr txBox="1"/>
          <p:nvPr/>
        </p:nvSpPr>
        <p:spPr>
          <a:xfrm>
            <a:off x="1632309" y="3867674"/>
            <a:ext cx="7996152" cy="613351"/>
          </a:xfrm>
          <a:prstGeom prst="rect">
            <a:avLst/>
          </a:prstGeom>
        </p:spPr>
        <p:txBody>
          <a:bodyPr lIns="0" tIns="0" rIns="0" bIns="0" rtlCol="0" anchor="t">
            <a:spAutoFit/>
          </a:bodyPr>
          <a:lstStyle/>
          <a:p>
            <a:pPr algn="l">
              <a:lnSpc>
                <a:spcPts val="2543"/>
              </a:lnSpc>
            </a:pPr>
            <a:r>
              <a:rPr lang="en-US" sz="1644" spc="-13">
                <a:solidFill>
                  <a:srgbClr val="000000"/>
                </a:solidFill>
                <a:latin typeface="Montserrat"/>
                <a:ea typeface="Montserrat"/>
                <a:cs typeface="Montserrat"/>
                <a:sym typeface="Montserrat"/>
              </a:rPr>
              <a:t>Utilize all available online resources to help you figure out how to complete the exercises. </a:t>
            </a:r>
          </a:p>
        </p:txBody>
      </p:sp>
      <p:sp>
        <p:nvSpPr>
          <p:cNvPr id="8" name="TextBox 8"/>
          <p:cNvSpPr txBox="1"/>
          <p:nvPr/>
        </p:nvSpPr>
        <p:spPr>
          <a:xfrm>
            <a:off x="1632309" y="2258339"/>
            <a:ext cx="8070685" cy="1274959"/>
          </a:xfrm>
          <a:prstGeom prst="rect">
            <a:avLst/>
          </a:prstGeom>
        </p:spPr>
        <p:txBody>
          <a:bodyPr lIns="0" tIns="0" rIns="0" bIns="0" rtlCol="0" anchor="t">
            <a:spAutoFit/>
          </a:bodyPr>
          <a:lstStyle/>
          <a:p>
            <a:pPr algn="l">
              <a:lnSpc>
                <a:spcPts val="2535"/>
              </a:lnSpc>
            </a:pPr>
            <a:r>
              <a:rPr lang="en-US" sz="1644" spc="-13">
                <a:solidFill>
                  <a:srgbClr val="000000"/>
                </a:solidFill>
                <a:latin typeface="Montserrat"/>
                <a:ea typeface="Montserrat"/>
                <a:cs typeface="Montserrat"/>
                <a:sym typeface="Montserrat"/>
              </a:rPr>
              <a:t>During this workshop, we will cover all the relevant aspects of Arduino programming, using the satellite as an example of a complete platform with inputs, outputs, both digital and analog, sensors, communication modules, and more. </a:t>
            </a:r>
          </a:p>
        </p:txBody>
      </p:sp>
      <p:sp>
        <p:nvSpPr>
          <p:cNvPr id="9" name="TextBox 9"/>
          <p:cNvSpPr txBox="1"/>
          <p:nvPr/>
        </p:nvSpPr>
        <p:spPr>
          <a:xfrm>
            <a:off x="1632309" y="4814399"/>
            <a:ext cx="8057912" cy="928511"/>
          </a:xfrm>
          <a:prstGeom prst="rect">
            <a:avLst/>
          </a:prstGeom>
        </p:spPr>
        <p:txBody>
          <a:bodyPr lIns="0" tIns="0" rIns="0" bIns="0" rtlCol="0" anchor="t">
            <a:spAutoFit/>
          </a:bodyPr>
          <a:lstStyle/>
          <a:p>
            <a:pPr algn="l">
              <a:lnSpc>
                <a:spcPts val="2536"/>
              </a:lnSpc>
            </a:pPr>
            <a:r>
              <a:rPr lang="en-US" sz="1644" strike="sngStrike" spc="-13">
                <a:solidFill>
                  <a:srgbClr val="FF0000"/>
                </a:solidFill>
                <a:latin typeface="Montserrat"/>
                <a:ea typeface="Montserrat"/>
                <a:cs typeface="Montserrat"/>
                <a:sym typeface="Montserrat"/>
              </a:rPr>
              <a:t>Please refrain from using ChatGPT</a:t>
            </a:r>
            <a:r>
              <a:rPr lang="en-US" sz="1644" strike="sngStrike" spc="-13">
                <a:solidFill>
                  <a:srgbClr val="000000"/>
                </a:solidFill>
                <a:latin typeface="Montserrat"/>
                <a:ea typeface="Montserrat"/>
                <a:cs typeface="Montserrat"/>
                <a:sym typeface="Montserrat"/>
              </a:rPr>
              <a:t>or other AI systems, as they may provide solutions that can be misinterpreted, potentially leading to errors or a lack of understanding of how microcontroller programming works.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7155180" y="1066800"/>
            <a:ext cx="1053084" cy="1053084"/>
            <a:chOff x="0" y="0"/>
            <a:chExt cx="1404112" cy="1404112"/>
          </a:xfrm>
        </p:grpSpPr>
        <p:sp>
          <p:nvSpPr>
            <p:cNvPr id="10" name="Freeform 10"/>
            <p:cNvSpPr/>
            <p:nvPr/>
          </p:nvSpPr>
          <p:spPr>
            <a:xfrm>
              <a:off x="0" y="0"/>
              <a:ext cx="1404112" cy="1404112"/>
            </a:xfrm>
            <a:custGeom>
              <a:avLst/>
              <a:gdLst/>
              <a:ahLst/>
              <a:cxnLst/>
              <a:rect l="l" t="t" r="r" b="b"/>
              <a:pathLst>
                <a:path w="1404112" h="1404112">
                  <a:moveTo>
                    <a:pt x="0" y="0"/>
                  </a:moveTo>
                  <a:lnTo>
                    <a:pt x="1404112" y="0"/>
                  </a:lnTo>
                  <a:lnTo>
                    <a:pt x="1404112" y="1404112"/>
                  </a:lnTo>
                  <a:lnTo>
                    <a:pt x="0" y="1404112"/>
                  </a:lnTo>
                  <a:lnTo>
                    <a:pt x="0" y="0"/>
                  </a:lnTo>
                  <a:close/>
                </a:path>
              </a:pathLst>
            </a:custGeom>
            <a:blipFill>
              <a:blip r:embed="rId4"/>
              <a:stretch>
                <a:fillRect l="-289" t="-289" r="-289" b="-289"/>
              </a:stretch>
            </a:blipFill>
          </p:spPr>
          <p:txBody>
            <a:bodyPr/>
            <a:lstStyle/>
            <a:p>
              <a:endParaRPr lang="en-SG"/>
            </a:p>
          </p:txBody>
        </p:sp>
      </p:grpSp>
      <p:sp>
        <p:nvSpPr>
          <p:cNvPr id="11" name="TextBox 11"/>
          <p:cNvSpPr txBox="1"/>
          <p:nvPr/>
        </p:nvSpPr>
        <p:spPr>
          <a:xfrm>
            <a:off x="1632109" y="1286494"/>
            <a:ext cx="8343662" cy="2045579"/>
          </a:xfrm>
          <a:prstGeom prst="rect">
            <a:avLst/>
          </a:prstGeom>
        </p:spPr>
        <p:txBody>
          <a:bodyPr lIns="0" tIns="0" rIns="0" bIns="0" rtlCol="0" anchor="t">
            <a:spAutoFit/>
          </a:bodyPr>
          <a:lstStyle/>
          <a:p>
            <a:pPr algn="l">
              <a:lnSpc>
                <a:spcPts val="4733"/>
              </a:lnSpc>
            </a:pPr>
            <a:r>
              <a:rPr lang="en-US" sz="3048">
                <a:solidFill>
                  <a:srgbClr val="2C2C2C"/>
                </a:solidFill>
                <a:latin typeface="Montserrat"/>
                <a:ea typeface="Montserrat"/>
                <a:cs typeface="Montserrat"/>
                <a:sym typeface="Montserrat"/>
              </a:rPr>
              <a:t>IMPORTANT INFORMATION!</a:t>
            </a:r>
          </a:p>
          <a:p>
            <a:pPr algn="l">
              <a:lnSpc>
                <a:spcPts val="2907"/>
              </a:lnSpc>
            </a:pPr>
            <a:r>
              <a:rPr lang="en-US" sz="1872" spc="-14">
                <a:solidFill>
                  <a:srgbClr val="2C2C2C"/>
                </a:solidFill>
                <a:latin typeface="Montserrat"/>
                <a:ea typeface="Montserrat"/>
                <a:cs typeface="Montserrat"/>
                <a:sym typeface="Montserrat"/>
              </a:rPr>
              <a:t>If you mistakenly tell an INPUT pin to act like an OUTPUT in your Arduino code and it tries to send or receive current, you could end up damaging your Arduino. </a:t>
            </a:r>
          </a:p>
        </p:txBody>
      </p:sp>
      <p:sp>
        <p:nvSpPr>
          <p:cNvPr id="12" name="TextBox 12"/>
          <p:cNvSpPr txBox="1"/>
          <p:nvPr/>
        </p:nvSpPr>
        <p:spPr>
          <a:xfrm>
            <a:off x="1632109" y="6317066"/>
            <a:ext cx="8074485" cy="324526"/>
          </a:xfrm>
          <a:prstGeom prst="rect">
            <a:avLst/>
          </a:prstGeom>
        </p:spPr>
        <p:txBody>
          <a:bodyPr lIns="0" tIns="0" rIns="0" bIns="0" rtlCol="0" anchor="t">
            <a:spAutoFit/>
          </a:bodyPr>
          <a:lstStyle/>
          <a:p>
            <a:pPr algn="l">
              <a:lnSpc>
                <a:spcPts val="2620"/>
              </a:lnSpc>
            </a:pPr>
            <a:r>
              <a:rPr lang="en-US" sz="1872" spc="-14">
                <a:solidFill>
                  <a:srgbClr val="2C2C2C"/>
                </a:solidFill>
                <a:latin typeface="Montserrat"/>
                <a:ea typeface="Montserrat"/>
                <a:cs typeface="Montserrat"/>
                <a:sym typeface="Montserrat"/>
              </a:rPr>
              <a:t>Always double check what code are you uploading on the Arduino! </a:t>
            </a:r>
          </a:p>
        </p:txBody>
      </p:sp>
      <p:sp>
        <p:nvSpPr>
          <p:cNvPr id="13" name="TextBox 13"/>
          <p:cNvSpPr txBox="1"/>
          <p:nvPr/>
        </p:nvSpPr>
        <p:spPr>
          <a:xfrm>
            <a:off x="1941176" y="4111990"/>
            <a:ext cx="68628" cy="324526"/>
          </a:xfrm>
          <a:prstGeom prst="rect">
            <a:avLst/>
          </a:prstGeom>
        </p:spPr>
        <p:txBody>
          <a:bodyPr lIns="0" tIns="0" rIns="0" bIns="0" rtlCol="0" anchor="t">
            <a:spAutoFit/>
          </a:bodyPr>
          <a:lstStyle/>
          <a:p>
            <a:pPr algn="l">
              <a:lnSpc>
                <a:spcPts val="2620"/>
              </a:lnSpc>
            </a:pPr>
            <a:r>
              <a:rPr lang="en-US" sz="1872" spc="35">
                <a:solidFill>
                  <a:srgbClr val="2C2C2C"/>
                </a:solidFill>
                <a:latin typeface="Montserrat"/>
                <a:ea typeface="Montserrat"/>
                <a:cs typeface="Montserrat"/>
                <a:sym typeface="Montserrat"/>
              </a:rPr>
              <a:t> </a:t>
            </a:r>
          </a:p>
        </p:txBody>
      </p:sp>
      <p:sp>
        <p:nvSpPr>
          <p:cNvPr id="14" name="TextBox 14"/>
          <p:cNvSpPr txBox="1"/>
          <p:nvPr/>
        </p:nvSpPr>
        <p:spPr>
          <a:xfrm>
            <a:off x="3113494" y="4111990"/>
            <a:ext cx="5821670" cy="324526"/>
          </a:xfrm>
          <a:prstGeom prst="rect">
            <a:avLst/>
          </a:prstGeom>
        </p:spPr>
        <p:txBody>
          <a:bodyPr lIns="0" tIns="0" rIns="0" bIns="0" rtlCol="0" anchor="t">
            <a:spAutoFit/>
          </a:bodyPr>
          <a:lstStyle/>
          <a:p>
            <a:pPr algn="l">
              <a:lnSpc>
                <a:spcPts val="2620"/>
              </a:lnSpc>
            </a:pPr>
            <a:r>
              <a:rPr lang="en-US" sz="1872" spc="-14">
                <a:solidFill>
                  <a:srgbClr val="2C2C2C"/>
                </a:solidFill>
                <a:latin typeface="Montserrat"/>
                <a:ea typeface="Montserrat"/>
                <a:cs typeface="Montserrat"/>
                <a:sym typeface="Montserrat"/>
              </a:rPr>
              <a:t>in your code, it means you're giving it the wrong </a:t>
            </a:r>
          </a:p>
        </p:txBody>
      </p:sp>
      <p:sp>
        <p:nvSpPr>
          <p:cNvPr id="15" name="TextBox 15"/>
          <p:cNvSpPr txBox="1"/>
          <p:nvPr/>
        </p:nvSpPr>
        <p:spPr>
          <a:xfrm>
            <a:off x="1632109" y="4449061"/>
            <a:ext cx="8591007" cy="1459554"/>
          </a:xfrm>
          <a:prstGeom prst="rect">
            <a:avLst/>
          </a:prstGeom>
        </p:spPr>
        <p:txBody>
          <a:bodyPr lIns="0" tIns="0" rIns="0" bIns="0" rtlCol="0" anchor="t">
            <a:spAutoFit/>
          </a:bodyPr>
          <a:lstStyle/>
          <a:p>
            <a:pPr algn="l">
              <a:lnSpc>
                <a:spcPts val="2903"/>
              </a:lnSpc>
            </a:pPr>
            <a:r>
              <a:rPr lang="en-US" sz="1872" spc="-14">
                <a:solidFill>
                  <a:srgbClr val="2C2C2C"/>
                </a:solidFill>
                <a:latin typeface="Montserrat"/>
                <a:ea typeface="Montserrat"/>
                <a:cs typeface="Montserrat"/>
                <a:sym typeface="Montserrat"/>
              </a:rPr>
              <a:t>instructions. INPUT pins are meant to sense signals, while OUTPUT pins are used to send signals or power devices like LEDs. If you mix them up in your code and tell an INPUT pin to send current, it can lead to too much current flowing through the pin, possibly harming your Arduino.</a:t>
            </a:r>
          </a:p>
        </p:txBody>
      </p:sp>
      <p:sp>
        <p:nvSpPr>
          <p:cNvPr id="16" name="TextBox 16"/>
          <p:cNvSpPr txBox="1"/>
          <p:nvPr/>
        </p:nvSpPr>
        <p:spPr>
          <a:xfrm>
            <a:off x="1632109" y="3743011"/>
            <a:ext cx="8548811" cy="324526"/>
          </a:xfrm>
          <a:prstGeom prst="rect">
            <a:avLst/>
          </a:prstGeom>
        </p:spPr>
        <p:txBody>
          <a:bodyPr lIns="0" tIns="0" rIns="0" bIns="0" rtlCol="0" anchor="t">
            <a:spAutoFit/>
          </a:bodyPr>
          <a:lstStyle/>
          <a:p>
            <a:pPr algn="l">
              <a:lnSpc>
                <a:spcPts val="2620"/>
              </a:lnSpc>
            </a:pPr>
            <a:r>
              <a:rPr lang="en-US" sz="1872" spc="35">
                <a:solidFill>
                  <a:srgbClr val="2C2C2C"/>
                </a:solidFill>
                <a:latin typeface="Montserrat"/>
                <a:ea typeface="Montserrat"/>
                <a:cs typeface="Montserrat"/>
                <a:sym typeface="Montserrat"/>
              </a:rPr>
              <a:t>Coding Mistake: If you accidentally make an INPUT pin behave like </a:t>
            </a:r>
          </a:p>
        </p:txBody>
      </p:sp>
      <p:sp>
        <p:nvSpPr>
          <p:cNvPr id="17" name="TextBox 17"/>
          <p:cNvSpPr txBox="1"/>
          <p:nvPr/>
        </p:nvSpPr>
        <p:spPr>
          <a:xfrm>
            <a:off x="1632109" y="4111990"/>
            <a:ext cx="1442380" cy="324526"/>
          </a:xfrm>
          <a:prstGeom prst="rect">
            <a:avLst/>
          </a:prstGeom>
        </p:spPr>
        <p:txBody>
          <a:bodyPr lIns="0" tIns="0" rIns="0" bIns="0" rtlCol="0" anchor="t">
            <a:spAutoFit/>
          </a:bodyPr>
          <a:lstStyle/>
          <a:p>
            <a:pPr algn="l">
              <a:lnSpc>
                <a:spcPts val="2620"/>
              </a:lnSpc>
            </a:pPr>
            <a:r>
              <a:rPr lang="en-US" sz="1872" spc="35">
                <a:solidFill>
                  <a:srgbClr val="2C2C2C"/>
                </a:solidFill>
                <a:latin typeface="Montserrat"/>
                <a:ea typeface="Montserrat"/>
                <a:cs typeface="Montserrat"/>
                <a:sym typeface="Montserrat"/>
              </a:rPr>
              <a:t>an</a:t>
            </a:r>
            <a:r>
              <a:rPr lang="en-US" sz="1872" spc="35">
                <a:solidFill>
                  <a:srgbClr val="000000"/>
                </a:solidFill>
                <a:latin typeface="Montserrat"/>
                <a:ea typeface="Montserrat"/>
                <a:cs typeface="Montserrat"/>
                <a:sym typeface="Montserrat"/>
              </a:rPr>
              <a:t> </a:t>
            </a:r>
            <a:r>
              <a:rPr lang="en-US" sz="1872" spc="35">
                <a:solidFill>
                  <a:srgbClr val="2C2C2C"/>
                </a:solidFill>
                <a:latin typeface="Montserrat"/>
                <a:ea typeface="Montserrat"/>
                <a:cs typeface="Montserrat"/>
                <a:sym typeface="Montserrat"/>
              </a:rPr>
              <a:t>OUTPUT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1801368" y="3038856"/>
            <a:ext cx="103632" cy="103632"/>
            <a:chOff x="0" y="0"/>
            <a:chExt cx="103632" cy="103632"/>
          </a:xfrm>
        </p:grpSpPr>
        <p:sp>
          <p:nvSpPr>
            <p:cNvPr id="10" name="Freeform 10"/>
            <p:cNvSpPr/>
            <p:nvPr/>
          </p:nvSpPr>
          <p:spPr>
            <a:xfrm>
              <a:off x="0" y="0"/>
              <a:ext cx="103632" cy="103632"/>
            </a:xfrm>
            <a:custGeom>
              <a:avLst/>
              <a:gdLst/>
              <a:ahLst/>
              <a:cxnLst/>
              <a:rect l="l" t="t" r="r" b="b"/>
              <a:pathLst>
                <a:path w="103632" h="103632">
                  <a:moveTo>
                    <a:pt x="27432" y="7620"/>
                  </a:moveTo>
                  <a:cubicBezTo>
                    <a:pt x="18288" y="12192"/>
                    <a:pt x="12192" y="18288"/>
                    <a:pt x="7620" y="25908"/>
                  </a:cubicBezTo>
                  <a:cubicBezTo>
                    <a:pt x="3048" y="35052"/>
                    <a:pt x="0" y="42672"/>
                    <a:pt x="0" y="51816"/>
                  </a:cubicBezTo>
                  <a:cubicBezTo>
                    <a:pt x="0" y="67056"/>
                    <a:pt x="6096" y="79248"/>
                    <a:pt x="15240" y="88392"/>
                  </a:cubicBezTo>
                  <a:cubicBezTo>
                    <a:pt x="25908" y="99060"/>
                    <a:pt x="38100" y="103632"/>
                    <a:pt x="51816" y="103632"/>
                  </a:cubicBezTo>
                  <a:cubicBezTo>
                    <a:pt x="67056" y="103632"/>
                    <a:pt x="79248" y="99060"/>
                    <a:pt x="88392" y="88392"/>
                  </a:cubicBezTo>
                  <a:cubicBezTo>
                    <a:pt x="99060" y="79248"/>
                    <a:pt x="103632" y="67056"/>
                    <a:pt x="103632" y="51816"/>
                  </a:cubicBezTo>
                  <a:cubicBezTo>
                    <a:pt x="103632" y="42672"/>
                    <a:pt x="102108" y="35052"/>
                    <a:pt x="97536" y="25908"/>
                  </a:cubicBezTo>
                  <a:cubicBezTo>
                    <a:pt x="92964" y="18288"/>
                    <a:pt x="86868" y="12192"/>
                    <a:pt x="77724" y="7620"/>
                  </a:cubicBezTo>
                  <a:cubicBezTo>
                    <a:pt x="70104" y="3048"/>
                    <a:pt x="60960" y="0"/>
                    <a:pt x="51816" y="0"/>
                  </a:cubicBezTo>
                  <a:cubicBezTo>
                    <a:pt x="44196" y="0"/>
                    <a:pt x="35052" y="3048"/>
                    <a:pt x="27432" y="7620"/>
                  </a:cubicBezTo>
                  <a:close/>
                </a:path>
              </a:pathLst>
            </a:custGeom>
            <a:solidFill>
              <a:srgbClr val="000000"/>
            </a:solidFill>
          </p:spPr>
          <p:txBody>
            <a:bodyPr/>
            <a:lstStyle/>
            <a:p>
              <a:endParaRPr lang="en-SG"/>
            </a:p>
          </p:txBody>
        </p:sp>
      </p:grpSp>
      <p:grpSp>
        <p:nvGrpSpPr>
          <p:cNvPr id="11" name="Group 11"/>
          <p:cNvGrpSpPr/>
          <p:nvPr/>
        </p:nvGrpSpPr>
        <p:grpSpPr>
          <a:xfrm>
            <a:off x="1801368" y="4143756"/>
            <a:ext cx="103632" cy="103632"/>
            <a:chOff x="0" y="0"/>
            <a:chExt cx="103632" cy="103632"/>
          </a:xfrm>
        </p:grpSpPr>
        <p:sp>
          <p:nvSpPr>
            <p:cNvPr id="12" name="Freeform 12"/>
            <p:cNvSpPr/>
            <p:nvPr/>
          </p:nvSpPr>
          <p:spPr>
            <a:xfrm>
              <a:off x="0" y="0"/>
              <a:ext cx="103632" cy="103632"/>
            </a:xfrm>
            <a:custGeom>
              <a:avLst/>
              <a:gdLst/>
              <a:ahLst/>
              <a:cxnLst/>
              <a:rect l="l" t="t" r="r" b="b"/>
              <a:pathLst>
                <a:path w="103632" h="103632">
                  <a:moveTo>
                    <a:pt x="27432" y="7620"/>
                  </a:moveTo>
                  <a:cubicBezTo>
                    <a:pt x="18288" y="12192"/>
                    <a:pt x="12192" y="18288"/>
                    <a:pt x="7620" y="25908"/>
                  </a:cubicBezTo>
                  <a:cubicBezTo>
                    <a:pt x="3048" y="35052"/>
                    <a:pt x="0" y="44196"/>
                    <a:pt x="0" y="51816"/>
                  </a:cubicBezTo>
                  <a:cubicBezTo>
                    <a:pt x="0" y="67056"/>
                    <a:pt x="6096" y="79248"/>
                    <a:pt x="15240" y="89916"/>
                  </a:cubicBezTo>
                  <a:cubicBezTo>
                    <a:pt x="25908" y="99060"/>
                    <a:pt x="38100" y="103632"/>
                    <a:pt x="51816" y="103632"/>
                  </a:cubicBezTo>
                  <a:cubicBezTo>
                    <a:pt x="67056" y="103632"/>
                    <a:pt x="79248" y="99060"/>
                    <a:pt x="88392" y="89916"/>
                  </a:cubicBezTo>
                  <a:cubicBezTo>
                    <a:pt x="99060" y="79248"/>
                    <a:pt x="103632" y="67056"/>
                    <a:pt x="103632" y="51816"/>
                  </a:cubicBezTo>
                  <a:cubicBezTo>
                    <a:pt x="103632" y="44196"/>
                    <a:pt x="102108" y="35052"/>
                    <a:pt x="97536" y="25908"/>
                  </a:cubicBezTo>
                  <a:cubicBezTo>
                    <a:pt x="92964" y="18288"/>
                    <a:pt x="86868" y="12192"/>
                    <a:pt x="77724" y="7620"/>
                  </a:cubicBezTo>
                  <a:cubicBezTo>
                    <a:pt x="70104" y="3048"/>
                    <a:pt x="60960" y="0"/>
                    <a:pt x="51816" y="0"/>
                  </a:cubicBezTo>
                  <a:cubicBezTo>
                    <a:pt x="44196" y="0"/>
                    <a:pt x="35052" y="3048"/>
                    <a:pt x="27432" y="7620"/>
                  </a:cubicBezTo>
                  <a:close/>
                </a:path>
              </a:pathLst>
            </a:custGeom>
            <a:solidFill>
              <a:srgbClr val="000000"/>
            </a:solidFill>
          </p:spPr>
          <p:txBody>
            <a:bodyPr/>
            <a:lstStyle/>
            <a:p>
              <a:endParaRPr lang="en-SG"/>
            </a:p>
          </p:txBody>
        </p:sp>
      </p:grpSp>
      <p:sp>
        <p:nvSpPr>
          <p:cNvPr id="13" name="Freeform 13"/>
          <p:cNvSpPr/>
          <p:nvPr/>
        </p:nvSpPr>
        <p:spPr>
          <a:xfrm>
            <a:off x="1597657" y="2550157"/>
            <a:ext cx="4101589" cy="305305"/>
          </a:xfrm>
          <a:custGeom>
            <a:avLst/>
            <a:gdLst/>
            <a:ahLst/>
            <a:cxnLst/>
            <a:rect l="l" t="t" r="r" b="b"/>
            <a:pathLst>
              <a:path w="4101589" h="305305">
                <a:moveTo>
                  <a:pt x="0" y="0"/>
                </a:moveTo>
                <a:lnTo>
                  <a:pt x="4101589" y="0"/>
                </a:lnTo>
                <a:lnTo>
                  <a:pt x="4101589" y="305305"/>
                </a:lnTo>
                <a:lnTo>
                  <a:pt x="0" y="30530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SG"/>
          </a:p>
        </p:txBody>
      </p:sp>
      <p:grpSp>
        <p:nvGrpSpPr>
          <p:cNvPr id="14" name="Group 14"/>
          <p:cNvGrpSpPr/>
          <p:nvPr/>
        </p:nvGrpSpPr>
        <p:grpSpPr>
          <a:xfrm>
            <a:off x="5766816" y="2057400"/>
            <a:ext cx="4678680" cy="528828"/>
            <a:chOff x="0" y="0"/>
            <a:chExt cx="6238240" cy="705104"/>
          </a:xfrm>
        </p:grpSpPr>
        <p:sp>
          <p:nvSpPr>
            <p:cNvPr id="15" name="Freeform 15"/>
            <p:cNvSpPr/>
            <p:nvPr/>
          </p:nvSpPr>
          <p:spPr>
            <a:xfrm>
              <a:off x="0" y="0"/>
              <a:ext cx="6238240" cy="705104"/>
            </a:xfrm>
            <a:custGeom>
              <a:avLst/>
              <a:gdLst/>
              <a:ahLst/>
              <a:cxnLst/>
              <a:rect l="l" t="t" r="r" b="b"/>
              <a:pathLst>
                <a:path w="6238240" h="705104">
                  <a:moveTo>
                    <a:pt x="0" y="0"/>
                  </a:moveTo>
                  <a:lnTo>
                    <a:pt x="6238240" y="0"/>
                  </a:lnTo>
                  <a:lnTo>
                    <a:pt x="6238240" y="705104"/>
                  </a:lnTo>
                  <a:lnTo>
                    <a:pt x="0" y="705104"/>
                  </a:lnTo>
                  <a:lnTo>
                    <a:pt x="0" y="0"/>
                  </a:lnTo>
                  <a:close/>
                </a:path>
              </a:pathLst>
            </a:custGeom>
            <a:blipFill>
              <a:blip r:embed="rId5"/>
              <a:stretch>
                <a:fillRect t="-288" r="-32"/>
              </a:stretch>
            </a:blipFill>
          </p:spPr>
          <p:txBody>
            <a:bodyPr/>
            <a:lstStyle/>
            <a:p>
              <a:endParaRPr lang="en-SG"/>
            </a:p>
          </p:txBody>
        </p:sp>
      </p:grpSp>
      <p:grpSp>
        <p:nvGrpSpPr>
          <p:cNvPr id="16" name="Group 16"/>
          <p:cNvGrpSpPr/>
          <p:nvPr/>
        </p:nvGrpSpPr>
        <p:grpSpPr>
          <a:xfrm>
            <a:off x="5766816" y="2580132"/>
            <a:ext cx="4678680" cy="2718816"/>
            <a:chOff x="0" y="0"/>
            <a:chExt cx="6238240" cy="3625088"/>
          </a:xfrm>
        </p:grpSpPr>
        <p:sp>
          <p:nvSpPr>
            <p:cNvPr id="17" name="Freeform 17"/>
            <p:cNvSpPr/>
            <p:nvPr/>
          </p:nvSpPr>
          <p:spPr>
            <a:xfrm>
              <a:off x="0" y="0"/>
              <a:ext cx="6238240" cy="3625088"/>
            </a:xfrm>
            <a:custGeom>
              <a:avLst/>
              <a:gdLst/>
              <a:ahLst/>
              <a:cxnLst/>
              <a:rect l="l" t="t" r="r" b="b"/>
              <a:pathLst>
                <a:path w="6238240" h="3625088">
                  <a:moveTo>
                    <a:pt x="0" y="0"/>
                  </a:moveTo>
                  <a:lnTo>
                    <a:pt x="6238240" y="0"/>
                  </a:lnTo>
                  <a:lnTo>
                    <a:pt x="6238240" y="3625088"/>
                  </a:lnTo>
                  <a:lnTo>
                    <a:pt x="0" y="3625088"/>
                  </a:lnTo>
                  <a:lnTo>
                    <a:pt x="0" y="0"/>
                  </a:lnTo>
                  <a:close/>
                </a:path>
              </a:pathLst>
            </a:custGeom>
            <a:blipFill>
              <a:blip r:embed="rId6"/>
              <a:stretch>
                <a:fillRect/>
              </a:stretch>
            </a:blipFill>
          </p:spPr>
          <p:txBody>
            <a:bodyPr/>
            <a:lstStyle/>
            <a:p>
              <a:endParaRPr lang="en-SG"/>
            </a:p>
          </p:txBody>
        </p:sp>
      </p:grpSp>
      <p:sp>
        <p:nvSpPr>
          <p:cNvPr id="18" name="Freeform 18"/>
          <p:cNvSpPr/>
          <p:nvPr/>
        </p:nvSpPr>
        <p:spPr>
          <a:xfrm>
            <a:off x="5698741" y="2634739"/>
            <a:ext cx="2256787" cy="1551937"/>
          </a:xfrm>
          <a:custGeom>
            <a:avLst/>
            <a:gdLst/>
            <a:ahLst/>
            <a:cxnLst/>
            <a:rect l="l" t="t" r="r" b="b"/>
            <a:pathLst>
              <a:path w="2256787" h="1551937">
                <a:moveTo>
                  <a:pt x="0" y="0"/>
                </a:moveTo>
                <a:lnTo>
                  <a:pt x="2256787" y="0"/>
                </a:lnTo>
                <a:lnTo>
                  <a:pt x="2256787" y="1551937"/>
                </a:lnTo>
                <a:lnTo>
                  <a:pt x="0" y="1551937"/>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SG"/>
          </a:p>
        </p:txBody>
      </p:sp>
      <p:sp>
        <p:nvSpPr>
          <p:cNvPr id="19" name="Freeform 19"/>
          <p:cNvSpPr/>
          <p:nvPr/>
        </p:nvSpPr>
        <p:spPr>
          <a:xfrm>
            <a:off x="8219694" y="3598926"/>
            <a:ext cx="355092" cy="1071372"/>
          </a:xfrm>
          <a:custGeom>
            <a:avLst/>
            <a:gdLst/>
            <a:ahLst/>
            <a:cxnLst/>
            <a:rect l="l" t="t" r="r" b="b"/>
            <a:pathLst>
              <a:path w="355092" h="1071372">
                <a:moveTo>
                  <a:pt x="0" y="0"/>
                </a:moveTo>
                <a:lnTo>
                  <a:pt x="355092" y="0"/>
                </a:lnTo>
                <a:lnTo>
                  <a:pt x="355092" y="1071372"/>
                </a:lnTo>
                <a:lnTo>
                  <a:pt x="0" y="1071372"/>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SG"/>
          </a:p>
        </p:txBody>
      </p:sp>
      <p:grpSp>
        <p:nvGrpSpPr>
          <p:cNvPr id="20" name="Group 20"/>
          <p:cNvGrpSpPr/>
          <p:nvPr/>
        </p:nvGrpSpPr>
        <p:grpSpPr>
          <a:xfrm>
            <a:off x="2188464" y="4325112"/>
            <a:ext cx="2968752" cy="289560"/>
            <a:chOff x="0" y="0"/>
            <a:chExt cx="3958336" cy="386080"/>
          </a:xfrm>
        </p:grpSpPr>
        <p:sp>
          <p:nvSpPr>
            <p:cNvPr id="21" name="Freeform 21"/>
            <p:cNvSpPr/>
            <p:nvPr/>
          </p:nvSpPr>
          <p:spPr>
            <a:xfrm>
              <a:off x="0" y="0"/>
              <a:ext cx="3958336" cy="386080"/>
            </a:xfrm>
            <a:custGeom>
              <a:avLst/>
              <a:gdLst/>
              <a:ahLst/>
              <a:cxnLst/>
              <a:rect l="l" t="t" r="r" b="b"/>
              <a:pathLst>
                <a:path w="3958336" h="386080">
                  <a:moveTo>
                    <a:pt x="0" y="0"/>
                  </a:moveTo>
                  <a:lnTo>
                    <a:pt x="3958336" y="0"/>
                  </a:lnTo>
                  <a:lnTo>
                    <a:pt x="3958336" y="386080"/>
                  </a:lnTo>
                  <a:lnTo>
                    <a:pt x="0" y="386080"/>
                  </a:lnTo>
                  <a:lnTo>
                    <a:pt x="0" y="0"/>
                  </a:lnTo>
                  <a:close/>
                </a:path>
              </a:pathLst>
            </a:custGeom>
            <a:blipFill>
              <a:blip r:embed="rId9"/>
              <a:stretch>
                <a:fillRect r="-51" b="-526"/>
              </a:stretch>
            </a:blipFill>
          </p:spPr>
          <p:txBody>
            <a:bodyPr/>
            <a:lstStyle/>
            <a:p>
              <a:endParaRPr lang="en-SG"/>
            </a:p>
          </p:txBody>
        </p:sp>
      </p:grpSp>
      <p:grpSp>
        <p:nvGrpSpPr>
          <p:cNvPr id="22" name="Group 22"/>
          <p:cNvGrpSpPr/>
          <p:nvPr/>
        </p:nvGrpSpPr>
        <p:grpSpPr>
          <a:xfrm>
            <a:off x="2188464" y="4739640"/>
            <a:ext cx="2766060" cy="289560"/>
            <a:chOff x="0" y="0"/>
            <a:chExt cx="3688080" cy="386080"/>
          </a:xfrm>
        </p:grpSpPr>
        <p:sp>
          <p:nvSpPr>
            <p:cNvPr id="23" name="Freeform 23"/>
            <p:cNvSpPr/>
            <p:nvPr/>
          </p:nvSpPr>
          <p:spPr>
            <a:xfrm>
              <a:off x="0" y="0"/>
              <a:ext cx="3688080" cy="386080"/>
            </a:xfrm>
            <a:custGeom>
              <a:avLst/>
              <a:gdLst/>
              <a:ahLst/>
              <a:cxnLst/>
              <a:rect l="l" t="t" r="r" b="b"/>
              <a:pathLst>
                <a:path w="3688080" h="386080">
                  <a:moveTo>
                    <a:pt x="0" y="0"/>
                  </a:moveTo>
                  <a:lnTo>
                    <a:pt x="3688080" y="0"/>
                  </a:lnTo>
                  <a:lnTo>
                    <a:pt x="3688080" y="386080"/>
                  </a:lnTo>
                  <a:lnTo>
                    <a:pt x="0" y="386080"/>
                  </a:lnTo>
                  <a:lnTo>
                    <a:pt x="0" y="0"/>
                  </a:lnTo>
                  <a:close/>
                </a:path>
              </a:pathLst>
            </a:custGeom>
            <a:blipFill>
              <a:blip r:embed="rId10"/>
              <a:stretch>
                <a:fillRect l="-110" b="-1052"/>
              </a:stretch>
            </a:blipFill>
          </p:spPr>
          <p:txBody>
            <a:bodyPr/>
            <a:lstStyle/>
            <a:p>
              <a:endParaRPr lang="en-SG"/>
            </a:p>
          </p:txBody>
        </p:sp>
      </p:grpSp>
      <p:sp>
        <p:nvSpPr>
          <p:cNvPr id="24" name="TextBox 24"/>
          <p:cNvSpPr txBox="1"/>
          <p:nvPr/>
        </p:nvSpPr>
        <p:spPr>
          <a:xfrm>
            <a:off x="1632385" y="1334119"/>
            <a:ext cx="5862552" cy="523504"/>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How to Read Arduino Pinouts</a:t>
            </a:r>
          </a:p>
        </p:txBody>
      </p:sp>
      <p:sp>
        <p:nvSpPr>
          <p:cNvPr id="25" name="TextBox 25"/>
          <p:cNvSpPr txBox="1"/>
          <p:nvPr/>
        </p:nvSpPr>
        <p:spPr>
          <a:xfrm>
            <a:off x="2167033" y="2872121"/>
            <a:ext cx="3559159" cy="1448372"/>
          </a:xfrm>
          <a:prstGeom prst="rect">
            <a:avLst/>
          </a:prstGeom>
        </p:spPr>
        <p:txBody>
          <a:bodyPr lIns="0" tIns="0" rIns="0" bIns="0" rtlCol="0" anchor="t">
            <a:spAutoFit/>
          </a:bodyPr>
          <a:lstStyle/>
          <a:p>
            <a:pPr algn="l">
              <a:lnSpc>
                <a:spcPts val="2899"/>
              </a:lnSpc>
            </a:pPr>
            <a:r>
              <a:rPr lang="en-US" sz="1872" spc="-14">
                <a:solidFill>
                  <a:srgbClr val="000000"/>
                </a:solidFill>
                <a:latin typeface="Montserrat"/>
                <a:ea typeface="Montserrat"/>
                <a:cs typeface="Montserrat"/>
                <a:sym typeface="Montserrat"/>
              </a:rPr>
              <a:t>When writing the code, you need to read the pinout from here (internal side of the box) EXAMPLE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1821180" y="2663952"/>
            <a:ext cx="83820" cy="83820"/>
            <a:chOff x="0" y="0"/>
            <a:chExt cx="83820" cy="83820"/>
          </a:xfrm>
        </p:grpSpPr>
        <p:sp>
          <p:nvSpPr>
            <p:cNvPr id="10" name="Freeform 10"/>
            <p:cNvSpPr/>
            <p:nvPr/>
          </p:nvSpPr>
          <p:spPr>
            <a:xfrm>
              <a:off x="0" y="0"/>
              <a:ext cx="83820" cy="83820"/>
            </a:xfrm>
            <a:custGeom>
              <a:avLst/>
              <a:gdLst/>
              <a:ahLst/>
              <a:cxnLst/>
              <a:rect l="l" t="t" r="r" b="b"/>
              <a:pathLst>
                <a:path w="83820" h="83820">
                  <a:moveTo>
                    <a:pt x="21336" y="4572"/>
                  </a:moveTo>
                  <a:cubicBezTo>
                    <a:pt x="13716" y="9144"/>
                    <a:pt x="9144" y="13716"/>
                    <a:pt x="4572" y="19812"/>
                  </a:cubicBezTo>
                  <a:cubicBezTo>
                    <a:pt x="1524" y="27432"/>
                    <a:pt x="0" y="33528"/>
                    <a:pt x="0" y="41148"/>
                  </a:cubicBezTo>
                  <a:cubicBezTo>
                    <a:pt x="0" y="53340"/>
                    <a:pt x="3048" y="62484"/>
                    <a:pt x="12192" y="71628"/>
                  </a:cubicBezTo>
                  <a:cubicBezTo>
                    <a:pt x="19812" y="79248"/>
                    <a:pt x="28956" y="83820"/>
                    <a:pt x="41148" y="83820"/>
                  </a:cubicBezTo>
                  <a:cubicBezTo>
                    <a:pt x="53340" y="83820"/>
                    <a:pt x="62484" y="79248"/>
                    <a:pt x="70104" y="71628"/>
                  </a:cubicBezTo>
                  <a:cubicBezTo>
                    <a:pt x="79248" y="62484"/>
                    <a:pt x="83820" y="53340"/>
                    <a:pt x="83820" y="41148"/>
                  </a:cubicBezTo>
                  <a:cubicBezTo>
                    <a:pt x="83820" y="33528"/>
                    <a:pt x="80772" y="27432"/>
                    <a:pt x="77724" y="19812"/>
                  </a:cubicBezTo>
                  <a:cubicBezTo>
                    <a:pt x="73152" y="13716"/>
                    <a:pt x="68580" y="9144"/>
                    <a:pt x="62484" y="4572"/>
                  </a:cubicBezTo>
                  <a:cubicBezTo>
                    <a:pt x="54864" y="1524"/>
                    <a:pt x="48768" y="0"/>
                    <a:pt x="41148" y="0"/>
                  </a:cubicBezTo>
                  <a:cubicBezTo>
                    <a:pt x="33528" y="0"/>
                    <a:pt x="27432" y="1524"/>
                    <a:pt x="21336" y="4572"/>
                  </a:cubicBezTo>
                  <a:close/>
                </a:path>
              </a:pathLst>
            </a:custGeom>
            <a:solidFill>
              <a:srgbClr val="000000"/>
            </a:solidFill>
          </p:spPr>
          <p:txBody>
            <a:bodyPr/>
            <a:lstStyle/>
            <a:p>
              <a:endParaRPr lang="en-SG"/>
            </a:p>
          </p:txBody>
        </p:sp>
      </p:grpSp>
      <p:sp>
        <p:nvSpPr>
          <p:cNvPr id="11" name="Freeform 11"/>
          <p:cNvSpPr/>
          <p:nvPr/>
        </p:nvSpPr>
        <p:spPr>
          <a:xfrm>
            <a:off x="1593085" y="2251453"/>
            <a:ext cx="4769101" cy="309877"/>
          </a:xfrm>
          <a:custGeom>
            <a:avLst/>
            <a:gdLst/>
            <a:ahLst/>
            <a:cxnLst/>
            <a:rect l="l" t="t" r="r" b="b"/>
            <a:pathLst>
              <a:path w="4769101" h="309877">
                <a:moveTo>
                  <a:pt x="0" y="0"/>
                </a:moveTo>
                <a:lnTo>
                  <a:pt x="4769101" y="0"/>
                </a:lnTo>
                <a:lnTo>
                  <a:pt x="4769101" y="309877"/>
                </a:lnTo>
                <a:lnTo>
                  <a:pt x="0" y="30987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SG"/>
          </a:p>
        </p:txBody>
      </p:sp>
      <p:sp>
        <p:nvSpPr>
          <p:cNvPr id="12" name="TextBox 12"/>
          <p:cNvSpPr txBox="1"/>
          <p:nvPr/>
        </p:nvSpPr>
        <p:spPr>
          <a:xfrm>
            <a:off x="1632385" y="1334119"/>
            <a:ext cx="5120640" cy="523504"/>
          </a:xfrm>
          <a:prstGeom prst="rect">
            <a:avLst/>
          </a:prstGeom>
        </p:spPr>
        <p:txBody>
          <a:bodyPr wrap="square" lIns="0" tIns="0" rIns="0" bIns="0" rtlCol="0" anchor="t">
            <a:spAutoFit/>
          </a:bodyPr>
          <a:lstStyle/>
          <a:p>
            <a:pPr algn="l">
              <a:lnSpc>
                <a:spcPts val="4267"/>
              </a:lnSpc>
            </a:pPr>
            <a:r>
              <a:rPr lang="en-US" sz="2300">
                <a:solidFill>
                  <a:srgbClr val="2C2C2C"/>
                </a:solidFill>
                <a:latin typeface="Montserrat"/>
                <a:ea typeface="Montserrat"/>
                <a:cs typeface="Montserrat"/>
                <a:sym typeface="Montserrat"/>
              </a:rPr>
              <a:t>Open a new sketch for the OBC</a:t>
            </a:r>
          </a:p>
        </p:txBody>
      </p:sp>
      <p:sp>
        <p:nvSpPr>
          <p:cNvPr id="13" name="TextBox 13"/>
          <p:cNvSpPr txBox="1"/>
          <p:nvPr/>
        </p:nvSpPr>
        <p:spPr>
          <a:xfrm>
            <a:off x="2167185" y="2537346"/>
            <a:ext cx="763286" cy="269443"/>
          </a:xfrm>
          <a:prstGeom prst="rect">
            <a:avLst/>
          </a:prstGeom>
        </p:spPr>
        <p:txBody>
          <a:bodyPr lIns="0" tIns="0" rIns="0" bIns="0" rtlCol="0" anchor="t">
            <a:spAutoFit/>
          </a:bodyPr>
          <a:lstStyle/>
          <a:p>
            <a:pPr algn="l">
              <a:lnSpc>
                <a:spcPts val="2116"/>
              </a:lnSpc>
            </a:pPr>
            <a:r>
              <a:rPr lang="en-US" sz="1512" spc="-7">
                <a:solidFill>
                  <a:srgbClr val="000000"/>
                </a:solidFill>
                <a:latin typeface="Montserrat"/>
                <a:ea typeface="Montserrat"/>
                <a:cs typeface="Montserrat"/>
                <a:sym typeface="Montserrat"/>
              </a:rPr>
              <a:t>Open a </a:t>
            </a:r>
          </a:p>
        </p:txBody>
      </p:sp>
      <p:sp>
        <p:nvSpPr>
          <p:cNvPr id="14" name="TextBox 14"/>
          <p:cNvSpPr txBox="1"/>
          <p:nvPr/>
        </p:nvSpPr>
        <p:spPr>
          <a:xfrm>
            <a:off x="4011378" y="2537346"/>
            <a:ext cx="2888409" cy="269443"/>
          </a:xfrm>
          <a:prstGeom prst="rect">
            <a:avLst/>
          </a:prstGeom>
        </p:spPr>
        <p:txBody>
          <a:bodyPr lIns="0" tIns="0" rIns="0" bIns="0" rtlCol="0" anchor="t">
            <a:spAutoFit/>
          </a:bodyPr>
          <a:lstStyle/>
          <a:p>
            <a:pPr algn="l">
              <a:lnSpc>
                <a:spcPts val="2116"/>
              </a:lnSpc>
            </a:pPr>
            <a:r>
              <a:rPr lang="en-US" sz="1512" spc="-9">
                <a:solidFill>
                  <a:srgbClr val="000000"/>
                </a:solidFill>
                <a:latin typeface="Montserrat"/>
                <a:ea typeface="Montserrat"/>
                <a:cs typeface="Montserrat"/>
                <a:sym typeface="Montserrat"/>
              </a:rPr>
              <a:t> and save it as OBC_Exercises.</a:t>
            </a:r>
          </a:p>
        </p:txBody>
      </p:sp>
      <p:sp>
        <p:nvSpPr>
          <p:cNvPr id="15" name="TextBox 15"/>
          <p:cNvSpPr txBox="1"/>
          <p:nvPr/>
        </p:nvSpPr>
        <p:spPr>
          <a:xfrm>
            <a:off x="2916841" y="2537346"/>
            <a:ext cx="1115054" cy="269443"/>
          </a:xfrm>
          <a:prstGeom prst="rect">
            <a:avLst/>
          </a:prstGeom>
        </p:spPr>
        <p:txBody>
          <a:bodyPr lIns="0" tIns="0" rIns="0" bIns="0" rtlCol="0" anchor="t">
            <a:spAutoFit/>
          </a:bodyPr>
          <a:lstStyle/>
          <a:p>
            <a:pPr algn="l">
              <a:lnSpc>
                <a:spcPts val="2116"/>
              </a:lnSpc>
            </a:pPr>
            <a:r>
              <a:rPr lang="en-US" sz="1512" spc="-7">
                <a:solidFill>
                  <a:srgbClr val="000000"/>
                </a:solidFill>
                <a:latin typeface="Montserrat"/>
                <a:ea typeface="Montserrat"/>
                <a:cs typeface="Montserrat"/>
                <a:sym typeface="Montserrat"/>
              </a:rPr>
              <a:t>new sketch</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381" y="16404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1821180" y="2363724"/>
            <a:ext cx="83820" cy="83820"/>
            <a:chOff x="0" y="0"/>
            <a:chExt cx="83820" cy="83820"/>
          </a:xfrm>
        </p:grpSpPr>
        <p:sp>
          <p:nvSpPr>
            <p:cNvPr id="10" name="Freeform 10"/>
            <p:cNvSpPr/>
            <p:nvPr/>
          </p:nvSpPr>
          <p:spPr>
            <a:xfrm>
              <a:off x="0" y="0"/>
              <a:ext cx="83820" cy="83820"/>
            </a:xfrm>
            <a:custGeom>
              <a:avLst/>
              <a:gdLst/>
              <a:ahLst/>
              <a:cxnLst/>
              <a:rect l="l" t="t" r="r" b="b"/>
              <a:pathLst>
                <a:path w="83820" h="83820">
                  <a:moveTo>
                    <a:pt x="21336" y="6096"/>
                  </a:moveTo>
                  <a:cubicBezTo>
                    <a:pt x="13716" y="9144"/>
                    <a:pt x="9144" y="13716"/>
                    <a:pt x="4572" y="21336"/>
                  </a:cubicBezTo>
                  <a:cubicBezTo>
                    <a:pt x="1524" y="27432"/>
                    <a:pt x="0" y="35052"/>
                    <a:pt x="0" y="42672"/>
                  </a:cubicBezTo>
                  <a:cubicBezTo>
                    <a:pt x="0" y="53340"/>
                    <a:pt x="3048" y="64008"/>
                    <a:pt x="12192" y="71628"/>
                  </a:cubicBezTo>
                  <a:cubicBezTo>
                    <a:pt x="19812" y="79248"/>
                    <a:pt x="28956" y="83820"/>
                    <a:pt x="41148" y="83820"/>
                  </a:cubicBezTo>
                  <a:cubicBezTo>
                    <a:pt x="53340" y="83820"/>
                    <a:pt x="62484" y="79248"/>
                    <a:pt x="70104" y="71628"/>
                  </a:cubicBezTo>
                  <a:cubicBezTo>
                    <a:pt x="79248" y="64008"/>
                    <a:pt x="83820" y="53340"/>
                    <a:pt x="83820" y="42672"/>
                  </a:cubicBezTo>
                  <a:cubicBezTo>
                    <a:pt x="83820" y="35052"/>
                    <a:pt x="80772" y="27432"/>
                    <a:pt x="77724" y="21336"/>
                  </a:cubicBezTo>
                  <a:cubicBezTo>
                    <a:pt x="73152" y="13716"/>
                    <a:pt x="68580" y="9144"/>
                    <a:pt x="62484" y="6096"/>
                  </a:cubicBezTo>
                  <a:cubicBezTo>
                    <a:pt x="54864" y="1524"/>
                    <a:pt x="48768" y="0"/>
                    <a:pt x="41148" y="0"/>
                  </a:cubicBezTo>
                  <a:cubicBezTo>
                    <a:pt x="33528" y="0"/>
                    <a:pt x="27432" y="1524"/>
                    <a:pt x="21336" y="6096"/>
                  </a:cubicBezTo>
                  <a:close/>
                </a:path>
              </a:pathLst>
            </a:custGeom>
            <a:solidFill>
              <a:srgbClr val="000000"/>
            </a:solidFill>
          </p:spPr>
          <p:txBody>
            <a:bodyPr/>
            <a:lstStyle/>
            <a:p>
              <a:endParaRPr lang="en-SG"/>
            </a:p>
          </p:txBody>
        </p:sp>
      </p:grpSp>
      <p:grpSp>
        <p:nvGrpSpPr>
          <p:cNvPr id="11" name="Group 11"/>
          <p:cNvGrpSpPr/>
          <p:nvPr/>
        </p:nvGrpSpPr>
        <p:grpSpPr>
          <a:xfrm>
            <a:off x="1821180" y="2961132"/>
            <a:ext cx="83820" cy="83820"/>
            <a:chOff x="0" y="0"/>
            <a:chExt cx="83820" cy="83820"/>
          </a:xfrm>
        </p:grpSpPr>
        <p:sp>
          <p:nvSpPr>
            <p:cNvPr id="12" name="Freeform 12"/>
            <p:cNvSpPr/>
            <p:nvPr/>
          </p:nvSpPr>
          <p:spPr>
            <a:xfrm>
              <a:off x="0" y="0"/>
              <a:ext cx="83820" cy="83820"/>
            </a:xfrm>
            <a:custGeom>
              <a:avLst/>
              <a:gdLst/>
              <a:ahLst/>
              <a:cxnLst/>
              <a:rect l="l" t="t" r="r" b="b"/>
              <a:pathLst>
                <a:path w="83820" h="83820">
                  <a:moveTo>
                    <a:pt x="21336" y="4572"/>
                  </a:moveTo>
                  <a:cubicBezTo>
                    <a:pt x="13716" y="9144"/>
                    <a:pt x="9144" y="13716"/>
                    <a:pt x="4572" y="21336"/>
                  </a:cubicBezTo>
                  <a:cubicBezTo>
                    <a:pt x="1524" y="27432"/>
                    <a:pt x="0" y="35052"/>
                    <a:pt x="0" y="41148"/>
                  </a:cubicBezTo>
                  <a:cubicBezTo>
                    <a:pt x="0" y="53340"/>
                    <a:pt x="3048" y="62484"/>
                    <a:pt x="12192" y="71628"/>
                  </a:cubicBezTo>
                  <a:cubicBezTo>
                    <a:pt x="19812" y="79248"/>
                    <a:pt x="28956" y="83820"/>
                    <a:pt x="41148" y="83820"/>
                  </a:cubicBezTo>
                  <a:cubicBezTo>
                    <a:pt x="53340" y="83820"/>
                    <a:pt x="62484" y="79248"/>
                    <a:pt x="70104" y="71628"/>
                  </a:cubicBezTo>
                  <a:cubicBezTo>
                    <a:pt x="79248" y="62484"/>
                    <a:pt x="83820" y="53340"/>
                    <a:pt x="83820" y="41148"/>
                  </a:cubicBezTo>
                  <a:cubicBezTo>
                    <a:pt x="83820" y="35052"/>
                    <a:pt x="80772" y="27432"/>
                    <a:pt x="77724" y="21336"/>
                  </a:cubicBezTo>
                  <a:cubicBezTo>
                    <a:pt x="73152" y="13716"/>
                    <a:pt x="68580" y="9144"/>
                    <a:pt x="62484" y="4572"/>
                  </a:cubicBezTo>
                  <a:cubicBezTo>
                    <a:pt x="54864" y="1524"/>
                    <a:pt x="48768" y="0"/>
                    <a:pt x="41148" y="0"/>
                  </a:cubicBezTo>
                  <a:cubicBezTo>
                    <a:pt x="33528" y="0"/>
                    <a:pt x="27432" y="1524"/>
                    <a:pt x="21336" y="4572"/>
                  </a:cubicBezTo>
                  <a:close/>
                </a:path>
              </a:pathLst>
            </a:custGeom>
            <a:solidFill>
              <a:srgbClr val="000000"/>
            </a:solidFill>
          </p:spPr>
          <p:txBody>
            <a:bodyPr/>
            <a:lstStyle/>
            <a:p>
              <a:endParaRPr lang="en-SG"/>
            </a:p>
          </p:txBody>
        </p:sp>
      </p:grpSp>
      <p:grpSp>
        <p:nvGrpSpPr>
          <p:cNvPr id="13" name="Group 13"/>
          <p:cNvGrpSpPr/>
          <p:nvPr/>
        </p:nvGrpSpPr>
        <p:grpSpPr>
          <a:xfrm>
            <a:off x="7348728" y="2473452"/>
            <a:ext cx="1333500" cy="10668"/>
            <a:chOff x="0" y="0"/>
            <a:chExt cx="1333500" cy="10668"/>
          </a:xfrm>
        </p:grpSpPr>
        <p:sp>
          <p:nvSpPr>
            <p:cNvPr id="14" name="Freeform 14"/>
            <p:cNvSpPr/>
            <p:nvPr/>
          </p:nvSpPr>
          <p:spPr>
            <a:xfrm>
              <a:off x="0" y="0"/>
              <a:ext cx="1333500" cy="10668"/>
            </a:xfrm>
            <a:custGeom>
              <a:avLst/>
              <a:gdLst/>
              <a:ahLst/>
              <a:cxnLst/>
              <a:rect l="l" t="t" r="r" b="b"/>
              <a:pathLst>
                <a:path w="1333500" h="10668">
                  <a:moveTo>
                    <a:pt x="0" y="0"/>
                  </a:moveTo>
                  <a:lnTo>
                    <a:pt x="1333500" y="0"/>
                  </a:lnTo>
                  <a:lnTo>
                    <a:pt x="1333500" y="10668"/>
                  </a:lnTo>
                  <a:lnTo>
                    <a:pt x="0" y="10668"/>
                  </a:lnTo>
                  <a:close/>
                </a:path>
              </a:pathLst>
            </a:custGeom>
            <a:solidFill>
              <a:srgbClr val="000000"/>
            </a:solidFill>
          </p:spPr>
          <p:txBody>
            <a:bodyPr/>
            <a:lstStyle/>
            <a:p>
              <a:endParaRPr lang="en-SG"/>
            </a:p>
          </p:txBody>
        </p:sp>
      </p:grpSp>
      <p:grpSp>
        <p:nvGrpSpPr>
          <p:cNvPr id="15" name="Group 15"/>
          <p:cNvGrpSpPr/>
          <p:nvPr/>
        </p:nvGrpSpPr>
        <p:grpSpPr>
          <a:xfrm>
            <a:off x="4898587" y="4267202"/>
            <a:ext cx="1278636" cy="1019556"/>
            <a:chOff x="0" y="0"/>
            <a:chExt cx="1704848" cy="1359408"/>
          </a:xfrm>
        </p:grpSpPr>
        <p:sp>
          <p:nvSpPr>
            <p:cNvPr id="16" name="Freeform 16"/>
            <p:cNvSpPr/>
            <p:nvPr/>
          </p:nvSpPr>
          <p:spPr>
            <a:xfrm>
              <a:off x="0" y="0"/>
              <a:ext cx="1704848" cy="1359408"/>
            </a:xfrm>
            <a:custGeom>
              <a:avLst/>
              <a:gdLst/>
              <a:ahLst/>
              <a:cxnLst/>
              <a:rect l="l" t="t" r="r" b="b"/>
              <a:pathLst>
                <a:path w="1704848" h="1359408">
                  <a:moveTo>
                    <a:pt x="0" y="0"/>
                  </a:moveTo>
                  <a:lnTo>
                    <a:pt x="1704848" y="0"/>
                  </a:lnTo>
                  <a:lnTo>
                    <a:pt x="1704848" y="1359408"/>
                  </a:lnTo>
                  <a:lnTo>
                    <a:pt x="0" y="1359408"/>
                  </a:lnTo>
                  <a:lnTo>
                    <a:pt x="0" y="0"/>
                  </a:lnTo>
                  <a:close/>
                </a:path>
              </a:pathLst>
            </a:custGeom>
            <a:blipFill>
              <a:blip r:embed="rId4"/>
              <a:stretch>
                <a:fillRect l="-119" t="-149"/>
              </a:stretch>
            </a:blipFill>
          </p:spPr>
          <p:txBody>
            <a:bodyPr/>
            <a:lstStyle/>
            <a:p>
              <a:endParaRPr lang="en-SG"/>
            </a:p>
          </p:txBody>
        </p:sp>
      </p:grpSp>
      <p:grpSp>
        <p:nvGrpSpPr>
          <p:cNvPr id="17" name="Group 17"/>
          <p:cNvGrpSpPr/>
          <p:nvPr/>
        </p:nvGrpSpPr>
        <p:grpSpPr>
          <a:xfrm>
            <a:off x="1874520" y="5286758"/>
            <a:ext cx="6807708" cy="1495042"/>
            <a:chOff x="0" y="0"/>
            <a:chExt cx="10113264" cy="2220976"/>
          </a:xfrm>
        </p:grpSpPr>
        <p:sp>
          <p:nvSpPr>
            <p:cNvPr id="18" name="Freeform 18"/>
            <p:cNvSpPr/>
            <p:nvPr/>
          </p:nvSpPr>
          <p:spPr>
            <a:xfrm>
              <a:off x="0" y="0"/>
              <a:ext cx="10113264" cy="2220976"/>
            </a:xfrm>
            <a:custGeom>
              <a:avLst/>
              <a:gdLst/>
              <a:ahLst/>
              <a:cxnLst/>
              <a:rect l="l" t="t" r="r" b="b"/>
              <a:pathLst>
                <a:path w="10113264" h="2220976">
                  <a:moveTo>
                    <a:pt x="0" y="0"/>
                  </a:moveTo>
                  <a:lnTo>
                    <a:pt x="10113264" y="0"/>
                  </a:lnTo>
                  <a:lnTo>
                    <a:pt x="10113264" y="2220976"/>
                  </a:lnTo>
                  <a:lnTo>
                    <a:pt x="0" y="2220976"/>
                  </a:lnTo>
                  <a:lnTo>
                    <a:pt x="0" y="0"/>
                  </a:lnTo>
                  <a:close/>
                </a:path>
              </a:pathLst>
            </a:custGeom>
            <a:blipFill>
              <a:blip r:embed="rId5"/>
              <a:stretch>
                <a:fillRect/>
              </a:stretch>
            </a:blipFill>
          </p:spPr>
          <p:txBody>
            <a:bodyPr/>
            <a:lstStyle/>
            <a:p>
              <a:endParaRPr lang="en-SG"/>
            </a:p>
          </p:txBody>
        </p:sp>
      </p:grpSp>
      <p:grpSp>
        <p:nvGrpSpPr>
          <p:cNvPr id="19" name="Group 19"/>
          <p:cNvGrpSpPr/>
          <p:nvPr/>
        </p:nvGrpSpPr>
        <p:grpSpPr>
          <a:xfrm>
            <a:off x="1264300" y="950976"/>
            <a:ext cx="8547211" cy="3219170"/>
            <a:chOff x="0" y="0"/>
            <a:chExt cx="11396282" cy="4292227"/>
          </a:xfrm>
        </p:grpSpPr>
        <p:sp>
          <p:nvSpPr>
            <p:cNvPr id="20" name="TextBox 20"/>
            <p:cNvSpPr txBox="1"/>
            <p:nvPr/>
          </p:nvSpPr>
          <p:spPr>
            <a:xfrm>
              <a:off x="241" y="-57150"/>
              <a:ext cx="5120640" cy="678955"/>
            </a:xfrm>
            <a:prstGeom prst="rect">
              <a:avLst/>
            </a:prstGeom>
          </p:spPr>
          <p:txBody>
            <a:bodyPr wrap="square" lIns="0" tIns="0" rIns="0" bIns="0" rtlCol="0" anchor="t">
              <a:spAutoFit/>
            </a:bodyPr>
            <a:lstStyle/>
            <a:p>
              <a:pPr algn="l">
                <a:lnSpc>
                  <a:spcPts val="4267"/>
                </a:lnSpc>
              </a:pPr>
              <a:r>
                <a:rPr lang="en-US" sz="2000">
                  <a:solidFill>
                    <a:srgbClr val="2C2C2C"/>
                  </a:solidFill>
                  <a:latin typeface="Montserrat"/>
                  <a:ea typeface="Montserrat"/>
                  <a:cs typeface="Montserrat"/>
                  <a:sym typeface="Montserrat"/>
                </a:rPr>
                <a:t>Reading the OBC temperature sensor</a:t>
              </a:r>
            </a:p>
          </p:txBody>
        </p:sp>
        <p:sp>
          <p:nvSpPr>
            <p:cNvPr id="21" name="TextBox 21"/>
            <p:cNvSpPr txBox="1"/>
            <p:nvPr/>
          </p:nvSpPr>
          <p:spPr>
            <a:xfrm>
              <a:off x="713308" y="1121575"/>
              <a:ext cx="10682973" cy="1562303"/>
            </a:xfrm>
            <a:prstGeom prst="rect">
              <a:avLst/>
            </a:prstGeom>
          </p:spPr>
          <p:txBody>
            <a:bodyPr lIns="0" tIns="0" rIns="0" bIns="0" rtlCol="0" anchor="t">
              <a:spAutoFit/>
            </a:bodyPr>
            <a:lstStyle/>
            <a:p>
              <a:pPr algn="l">
                <a:lnSpc>
                  <a:spcPts val="2357"/>
                </a:lnSpc>
              </a:pPr>
              <a:r>
                <a:rPr lang="en-US" sz="1512" spc="-9">
                  <a:solidFill>
                    <a:srgbClr val="000000"/>
                  </a:solidFill>
                  <a:latin typeface="Montserrat"/>
                  <a:ea typeface="Montserrat"/>
                  <a:cs typeface="Montserrat"/>
                  <a:sym typeface="Montserrat"/>
                </a:rPr>
                <a:t>The OBC has a temperature sensor, LM35, which is an analog sensorconnected to pin A1. </a:t>
              </a:r>
            </a:p>
            <a:p>
              <a:pPr algn="l">
                <a:lnSpc>
                  <a:spcPts val="2357"/>
                </a:lnSpc>
              </a:pPr>
              <a:r>
                <a:rPr lang="en-US" sz="1512" spc="-9">
                  <a:solidFill>
                    <a:srgbClr val="000000"/>
                  </a:solidFill>
                  <a:latin typeface="Montserrat"/>
                  <a:ea typeface="Montserrat"/>
                  <a:cs typeface="Montserrat"/>
                  <a:sym typeface="Montserrat"/>
                </a:rPr>
                <a:t>Look at the online datasheet of the LM35 to understand how it reads temperature and find a way to display it in the serial monitor every 2 seconds.</a:t>
              </a:r>
            </a:p>
          </p:txBody>
        </p:sp>
        <p:sp>
          <p:nvSpPr>
            <p:cNvPr id="22" name="TextBox 22"/>
            <p:cNvSpPr txBox="1"/>
            <p:nvPr/>
          </p:nvSpPr>
          <p:spPr>
            <a:xfrm>
              <a:off x="0" y="2716657"/>
              <a:ext cx="3583013" cy="755707"/>
            </a:xfrm>
            <a:prstGeom prst="rect">
              <a:avLst/>
            </a:prstGeom>
          </p:spPr>
          <p:txBody>
            <a:bodyPr lIns="0" tIns="0" rIns="0" bIns="0" rtlCol="0" anchor="t">
              <a:spAutoFit/>
            </a:bodyPr>
            <a:lstStyle/>
            <a:p>
              <a:pPr algn="l">
                <a:lnSpc>
                  <a:spcPts val="2339"/>
                </a:lnSpc>
              </a:pPr>
              <a:r>
                <a:rPr lang="en-US" sz="1512" spc="-9">
                  <a:solidFill>
                    <a:srgbClr val="000000"/>
                  </a:solidFill>
                  <a:latin typeface="Montserrat"/>
                  <a:ea typeface="Montserrat"/>
                  <a:cs typeface="Montserrat"/>
                  <a:sym typeface="Montserrat"/>
                </a:rPr>
                <a:t>The output should look like: TEMPOBC = 26.2 deg</a:t>
              </a:r>
            </a:p>
          </p:txBody>
        </p:sp>
        <p:sp>
          <p:nvSpPr>
            <p:cNvPr id="23" name="TextBox 23"/>
            <p:cNvSpPr txBox="1"/>
            <p:nvPr/>
          </p:nvSpPr>
          <p:spPr>
            <a:xfrm>
              <a:off x="0" y="3528487"/>
              <a:ext cx="10557612" cy="763740"/>
            </a:xfrm>
            <a:prstGeom prst="rect">
              <a:avLst/>
            </a:prstGeom>
          </p:spPr>
          <p:txBody>
            <a:bodyPr lIns="0" tIns="0" rIns="0" bIns="0" rtlCol="0" anchor="t">
              <a:spAutoFit/>
            </a:bodyPr>
            <a:lstStyle/>
            <a:p>
              <a:pPr algn="l">
                <a:lnSpc>
                  <a:spcPts val="2351"/>
                </a:lnSpc>
              </a:pPr>
              <a:r>
                <a:rPr lang="en-US" sz="1512" spc="-7">
                  <a:solidFill>
                    <a:srgbClr val="000000"/>
                  </a:solidFill>
                  <a:latin typeface="Montserrat"/>
                  <a:ea typeface="Montserrat"/>
                  <a:cs typeface="Montserrat"/>
                  <a:sym typeface="Montserrat"/>
                </a:rPr>
                <a:t>Find a way to request the temperature using the string 'TEMPOBC' and display it on the serial monitor when requested.</a:t>
              </a:r>
            </a:p>
          </p:txBody>
        </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a:p>
          </p:txBody>
        </p:sp>
      </p:grpSp>
      <p:grpSp>
        <p:nvGrpSpPr>
          <p:cNvPr id="9" name="Group 9"/>
          <p:cNvGrpSpPr/>
          <p:nvPr/>
        </p:nvGrpSpPr>
        <p:grpSpPr>
          <a:xfrm>
            <a:off x="2927604" y="3127248"/>
            <a:ext cx="4838700" cy="167640"/>
            <a:chOff x="0" y="0"/>
            <a:chExt cx="6451600" cy="223520"/>
          </a:xfrm>
        </p:grpSpPr>
        <p:sp>
          <p:nvSpPr>
            <p:cNvPr id="10" name="Freeform 10"/>
            <p:cNvSpPr/>
            <p:nvPr/>
          </p:nvSpPr>
          <p:spPr>
            <a:xfrm>
              <a:off x="0" y="0"/>
              <a:ext cx="6451600" cy="223520"/>
            </a:xfrm>
            <a:custGeom>
              <a:avLst/>
              <a:gdLst/>
              <a:ahLst/>
              <a:cxnLst/>
              <a:rect l="l" t="t" r="r" b="b"/>
              <a:pathLst>
                <a:path w="6451600" h="223520">
                  <a:moveTo>
                    <a:pt x="0" y="0"/>
                  </a:moveTo>
                  <a:lnTo>
                    <a:pt x="6451600" y="0"/>
                  </a:lnTo>
                  <a:lnTo>
                    <a:pt x="6451600" y="223520"/>
                  </a:lnTo>
                  <a:lnTo>
                    <a:pt x="0" y="223520"/>
                  </a:lnTo>
                  <a:lnTo>
                    <a:pt x="0" y="0"/>
                  </a:lnTo>
                  <a:close/>
                </a:path>
              </a:pathLst>
            </a:custGeom>
            <a:blipFill>
              <a:blip r:embed="rId4"/>
              <a:stretch>
                <a:fillRect l="-31"/>
              </a:stretch>
            </a:blipFill>
          </p:spPr>
          <p:txBody>
            <a:bodyPr/>
            <a:lstStyle/>
            <a:p>
              <a:endParaRPr/>
            </a:p>
          </p:txBody>
        </p:sp>
      </p:grpSp>
      <p:grpSp>
        <p:nvGrpSpPr>
          <p:cNvPr id="11" name="Group 11"/>
          <p:cNvGrpSpPr/>
          <p:nvPr/>
        </p:nvGrpSpPr>
        <p:grpSpPr>
          <a:xfrm>
            <a:off x="2927604" y="3291840"/>
            <a:ext cx="4838700" cy="3090672"/>
            <a:chOff x="0" y="0"/>
            <a:chExt cx="6451600" cy="4120896"/>
          </a:xfrm>
        </p:grpSpPr>
        <p:sp>
          <p:nvSpPr>
            <p:cNvPr id="12" name="Freeform 12"/>
            <p:cNvSpPr/>
            <p:nvPr/>
          </p:nvSpPr>
          <p:spPr>
            <a:xfrm>
              <a:off x="0" y="0"/>
              <a:ext cx="6451600" cy="4120896"/>
            </a:xfrm>
            <a:custGeom>
              <a:avLst/>
              <a:gdLst/>
              <a:ahLst/>
              <a:cxnLst/>
              <a:rect l="l" t="t" r="r" b="b"/>
              <a:pathLst>
                <a:path w="6451600" h="4120896">
                  <a:moveTo>
                    <a:pt x="0" y="0"/>
                  </a:moveTo>
                  <a:lnTo>
                    <a:pt x="6451600" y="0"/>
                  </a:lnTo>
                  <a:lnTo>
                    <a:pt x="6451600" y="4120896"/>
                  </a:lnTo>
                  <a:lnTo>
                    <a:pt x="0" y="4120896"/>
                  </a:lnTo>
                  <a:lnTo>
                    <a:pt x="0" y="0"/>
                  </a:lnTo>
                  <a:close/>
                </a:path>
              </a:pathLst>
            </a:custGeom>
            <a:blipFill>
              <a:blip r:embed="rId5"/>
              <a:stretch>
                <a:fillRect/>
              </a:stretch>
            </a:blipFill>
          </p:spPr>
          <p:txBody>
            <a:bodyPr/>
            <a:lstStyle/>
            <a:p>
              <a:endParaRPr/>
            </a:p>
          </p:txBody>
        </p:sp>
      </p:grpSp>
      <p:sp>
        <p:nvSpPr>
          <p:cNvPr id="13" name="TextBox 13"/>
          <p:cNvSpPr txBox="1"/>
          <p:nvPr/>
        </p:nvSpPr>
        <p:spPr>
          <a:xfrm>
            <a:off x="1632204" y="1286494"/>
            <a:ext cx="5120640" cy="1518904"/>
          </a:xfrm>
          <a:prstGeom prst="rect">
            <a:avLst/>
          </a:prstGeom>
        </p:spPr>
        <p:txBody>
          <a:bodyPr wrap="square" lIns="0" tIns="0" rIns="0" bIns="0" rtlCol="0" anchor="t">
            <a:spAutoFit/>
          </a:bodyPr>
          <a:lstStyle/>
          <a:p>
            <a:pPr algn="l">
              <a:lnSpc>
                <a:spcPts val="4764"/>
              </a:lnSpc>
            </a:pPr>
            <a:r>
              <a:rPr lang="en-US" sz="2400">
                <a:solidFill>
                  <a:srgbClr val="2C2C2C"/>
                </a:solidFill>
                <a:latin typeface="Montserrat"/>
                <a:ea typeface="Montserrat"/>
                <a:cs typeface="Montserrat"/>
                <a:sym typeface="Montserrat"/>
              </a:rPr>
              <a:t>Reading sensors across PC104</a:t>
            </a:r>
          </a:p>
          <a:p>
            <a:pPr algn="l">
              <a:lnSpc>
                <a:spcPts val="2363"/>
              </a:lnSpc>
            </a:pPr>
            <a:r>
              <a:rPr lang="en-US" sz="1512" spc="-7">
                <a:solidFill>
                  <a:srgbClr val="000000"/>
                </a:solidFill>
                <a:latin typeface="Montserrat"/>
                <a:ea typeface="Montserrat"/>
                <a:cs typeface="Montserrat"/>
                <a:sym typeface="Montserrat"/>
              </a:rPr>
              <a:t>We can read sensors from other boards around the satellite using the industry- standard PC104 connector.</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lang="en-SG"/>
            </a:p>
          </p:txBody>
        </p:sp>
      </p:grpSp>
      <p:grpSp>
        <p:nvGrpSpPr>
          <p:cNvPr id="9" name="Group 9"/>
          <p:cNvGrpSpPr/>
          <p:nvPr/>
        </p:nvGrpSpPr>
        <p:grpSpPr>
          <a:xfrm>
            <a:off x="2028444" y="1906524"/>
            <a:ext cx="7139940" cy="111252"/>
            <a:chOff x="0" y="0"/>
            <a:chExt cx="9519920" cy="148336"/>
          </a:xfrm>
        </p:grpSpPr>
        <p:sp>
          <p:nvSpPr>
            <p:cNvPr id="10" name="Freeform 10"/>
            <p:cNvSpPr/>
            <p:nvPr/>
          </p:nvSpPr>
          <p:spPr>
            <a:xfrm>
              <a:off x="0" y="0"/>
              <a:ext cx="9519920" cy="148336"/>
            </a:xfrm>
            <a:custGeom>
              <a:avLst/>
              <a:gdLst/>
              <a:ahLst/>
              <a:cxnLst/>
              <a:rect l="l" t="t" r="r" b="b"/>
              <a:pathLst>
                <a:path w="9519920" h="148336">
                  <a:moveTo>
                    <a:pt x="0" y="0"/>
                  </a:moveTo>
                  <a:lnTo>
                    <a:pt x="9519920" y="0"/>
                  </a:lnTo>
                  <a:lnTo>
                    <a:pt x="9519920" y="148336"/>
                  </a:lnTo>
                  <a:lnTo>
                    <a:pt x="0" y="148336"/>
                  </a:lnTo>
                  <a:lnTo>
                    <a:pt x="0" y="0"/>
                  </a:lnTo>
                  <a:close/>
                </a:path>
              </a:pathLst>
            </a:custGeom>
            <a:blipFill>
              <a:blip r:embed="rId4"/>
              <a:stretch>
                <a:fillRect l="-21" t="-1369"/>
              </a:stretch>
            </a:blipFill>
          </p:spPr>
          <p:txBody>
            <a:bodyPr/>
            <a:lstStyle/>
            <a:p>
              <a:endParaRPr lang="en-SG"/>
            </a:p>
          </p:txBody>
        </p:sp>
      </p:grpSp>
      <p:grpSp>
        <p:nvGrpSpPr>
          <p:cNvPr id="11" name="Group 11"/>
          <p:cNvGrpSpPr/>
          <p:nvPr/>
        </p:nvGrpSpPr>
        <p:grpSpPr>
          <a:xfrm>
            <a:off x="2028444" y="2014728"/>
            <a:ext cx="7139940" cy="4578096"/>
            <a:chOff x="0" y="0"/>
            <a:chExt cx="9519920" cy="6104128"/>
          </a:xfrm>
        </p:grpSpPr>
        <p:sp>
          <p:nvSpPr>
            <p:cNvPr id="12" name="Freeform 12"/>
            <p:cNvSpPr/>
            <p:nvPr/>
          </p:nvSpPr>
          <p:spPr>
            <a:xfrm>
              <a:off x="0" y="0"/>
              <a:ext cx="9519920" cy="6104128"/>
            </a:xfrm>
            <a:custGeom>
              <a:avLst/>
              <a:gdLst/>
              <a:ahLst/>
              <a:cxnLst/>
              <a:rect l="l" t="t" r="r" b="b"/>
              <a:pathLst>
                <a:path w="9519920" h="6104128">
                  <a:moveTo>
                    <a:pt x="0" y="0"/>
                  </a:moveTo>
                  <a:lnTo>
                    <a:pt x="9519920" y="0"/>
                  </a:lnTo>
                  <a:lnTo>
                    <a:pt x="9519920" y="6104128"/>
                  </a:lnTo>
                  <a:lnTo>
                    <a:pt x="0" y="6104128"/>
                  </a:lnTo>
                  <a:lnTo>
                    <a:pt x="0" y="0"/>
                  </a:lnTo>
                  <a:close/>
                </a:path>
              </a:pathLst>
            </a:custGeom>
            <a:blipFill>
              <a:blip r:embed="rId5"/>
              <a:stretch>
                <a:fillRect/>
              </a:stretch>
            </a:blipFill>
          </p:spPr>
          <p:txBody>
            <a:bodyPr/>
            <a:lstStyle/>
            <a:p>
              <a:endParaRPr lang="en-SG"/>
            </a:p>
          </p:txBody>
        </p:sp>
      </p:grpSp>
      <p:sp>
        <p:nvSpPr>
          <p:cNvPr id="13" name="TextBox 13"/>
          <p:cNvSpPr txBox="1"/>
          <p:nvPr/>
        </p:nvSpPr>
        <p:spPr>
          <a:xfrm>
            <a:off x="1632385" y="1334119"/>
            <a:ext cx="2934433" cy="523504"/>
          </a:xfrm>
          <a:prstGeom prst="rect">
            <a:avLst/>
          </a:prstGeom>
        </p:spPr>
        <p:txBody>
          <a:bodyPr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OBC Exercises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1546</Words>
  <Application>Microsoft Office PowerPoint</Application>
  <PresentationFormat>Custom</PresentationFormat>
  <Paragraphs>185</Paragraphs>
  <Slides>58</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58</vt:i4>
      </vt:variant>
    </vt:vector>
  </HeadingPairs>
  <TitlesOfParts>
    <vt:vector size="62" baseType="lpstr">
      <vt:lpstr>Arial</vt:lpstr>
      <vt:lpstr>Montserrat</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Utilize all available online resources to help you figure out how to complete the exercises.</dc:title>
  <cp:lastModifiedBy>Rohini Parthasarathy</cp:lastModifiedBy>
  <cp:revision>3</cp:revision>
  <dcterms:created xsi:type="dcterms:W3CDTF">2006-08-16T00:00:00Z</dcterms:created>
  <dcterms:modified xsi:type="dcterms:W3CDTF">2026-10-14T14:49:28Z</dcterms:modified>
  <dc:identifier>DAHXyX_H0fo</dc:identifier>
</cp:coreProperties>
</file>