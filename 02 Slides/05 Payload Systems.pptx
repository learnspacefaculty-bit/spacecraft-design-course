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8.jpg" ContentType="image/jpg"/>
  <Override PartName="/ppt/media/image19.jpg" ContentType="image/jpg"/>
  <Override PartName="/ppt/media/image20.jpg" ContentType="image/jpg"/>
  <Override PartName="/ppt/media/image21.jpg" ContentType="image/jpg"/>
  <Override PartName="/ppt/media/image22.jpg" ContentType="image/jpg"/>
  <Override PartName="/ppt/media/image23.jpg" ContentType="image/jp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63.jpg" ContentType="image/jpg"/>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1669" r:id="rId2"/>
    <p:sldId id="1667" r:id="rId3"/>
    <p:sldId id="1666" r:id="rId4"/>
    <p:sldId id="260" r:id="rId5"/>
    <p:sldId id="277" r:id="rId6"/>
    <p:sldId id="270" r:id="rId7"/>
    <p:sldId id="271" r:id="rId8"/>
    <p:sldId id="1662" r:id="rId9"/>
    <p:sldId id="269" r:id="rId10"/>
    <p:sldId id="275" r:id="rId11"/>
    <p:sldId id="289" r:id="rId12"/>
    <p:sldId id="279" r:id="rId13"/>
    <p:sldId id="259" r:id="rId14"/>
    <p:sldId id="1658" r:id="rId15"/>
    <p:sldId id="1657" r:id="rId16"/>
    <p:sldId id="262" r:id="rId17"/>
    <p:sldId id="1672" r:id="rId18"/>
    <p:sldId id="1660" r:id="rId19"/>
    <p:sldId id="284" r:id="rId20"/>
    <p:sldId id="1682" r:id="rId21"/>
    <p:sldId id="1616" r:id="rId22"/>
    <p:sldId id="1617" r:id="rId23"/>
    <p:sldId id="282" r:id="rId24"/>
    <p:sldId id="594" r:id="rId25"/>
    <p:sldId id="593" r:id="rId26"/>
    <p:sldId id="1619" r:id="rId27"/>
    <p:sldId id="288" r:id="rId28"/>
    <p:sldId id="1620" r:id="rId29"/>
    <p:sldId id="283" r:id="rId30"/>
    <p:sldId id="1614" r:id="rId31"/>
    <p:sldId id="296" r:id="rId32"/>
    <p:sldId id="306" r:id="rId33"/>
    <p:sldId id="1661" r:id="rId34"/>
    <p:sldId id="1673" r:id="rId35"/>
    <p:sldId id="1680" r:id="rId36"/>
    <p:sldId id="1671" r:id="rId37"/>
    <p:sldId id="1627" r:id="rId38"/>
    <p:sldId id="257" r:id="rId39"/>
    <p:sldId id="1679" r:id="rId40"/>
    <p:sldId id="1674" r:id="rId41"/>
    <p:sldId id="1675" r:id="rId42"/>
    <p:sldId id="1676" r:id="rId43"/>
    <p:sldId id="1677" r:id="rId44"/>
    <p:sldId id="1678" r:id="rId45"/>
    <p:sldId id="267" r:id="rId46"/>
    <p:sldId id="278" r:id="rId47"/>
    <p:sldId id="1665" r:id="rId48"/>
    <p:sldId id="1664"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760" autoAdjust="0"/>
  </p:normalViewPr>
  <p:slideViewPr>
    <p:cSldViewPr snapToGrid="0" snapToObjects="1">
      <p:cViewPr>
        <p:scale>
          <a:sx n="58" d="100"/>
          <a:sy n="58" d="100"/>
        </p:scale>
        <p:origin x="964"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3727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slide is the band at the foot. What makes a piece of hardware the payload is not what it is, but the role it plays in the mission. The magnetometer example is the clearest: identical part, science instrument on one satellite, attitude sensor on the next.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reference slide. Work down the list once. Every question has appeared earlier in the lecture — XI-IV answers the fourth, and the ship-counting example answers the fifth.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2" name="Google Shape;113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0" name="Google Shape;111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GreenCube grew microgreens in a 3U above the Van Allen belts. Worth one minute. The wider point for this audience is that demonstration missions have clean, verifiable objectives, which makes them a natural fit for a first mission.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is a public, maintained source. The NASA State-of-the-Art report is the single most useful reference for anyone continuing this work.</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working: 4 passes × 8 minutes × 60 × 9.6 kbit/s ≈ 18.4 Mbit a day, against 200 × 2 = 400 Mbit produced — the link returns under five per cent of what the camera takes. That gap is the whole reason onboard processing exists, and it is the point Φ-sat-1 demonstrated by filtering cloudy images before downlink. The figures here are stated assumptions for the exercise, not kit measurements. The answer that should never be discarded is the housekeeping telemetry: without it the team cannot tell whether the satellite is healthy, and that is the argument to put to the customer.</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subtitle style</a:t>
            </a:r>
          </a:p>
        </p:txBody>
      </p:sp>
      <p:sp>
        <p:nvSpPr>
          <p:cNvPr id="4" name="Date Placeholder 3"/>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pPr>
              <a:defRPr>
                <a:latin typeface="Ubuntu"/>
                <a:ea typeface="Ubuntu"/>
                <a:cs typeface="Ubuntu"/>
              </a:defRPr>
            </a:pPr>
            <a:endParaRPr lang="en-US"/>
          </a:p>
        </p:txBody>
      </p:sp>
      <p:sp>
        <p:nvSpPr>
          <p:cNvPr id="6" name="Slide Number Placeholder 5"/>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Content Placeholder 2"/>
          <p:cNvSpPr>
            <a:spLocks noGrp="1"/>
          </p:cNvSpPr>
          <p:nvPr>
            <p:ph idx="1"/>
          </p:nvPr>
        </p:nvSpPr>
        <p:spPr/>
        <p:txBody>
          <a:bodyPr/>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4" name="Date Placeholder 3"/>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pPr>
              <a:defRPr>
                <a:latin typeface="Ubuntu"/>
                <a:ea typeface="Ubuntu"/>
                <a:cs typeface="Ubuntu"/>
              </a:defRPr>
            </a:pPr>
            <a:endParaRPr lang="en-US"/>
          </a:p>
        </p:txBody>
      </p:sp>
      <p:sp>
        <p:nvSpPr>
          <p:cNvPr id="6" name="Slide Number Placeholder 5"/>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latin typeface="Ubuntu"/>
                <a:ea typeface="Ubuntu"/>
                <a:cs typeface="Ubuntu"/>
              </a:defRPr>
            </a:pPr>
            <a:r>
              <a:rPr lang="en-US">
                <a:latin typeface="Ubuntu"/>
                <a:ea typeface="Ubuntu"/>
                <a:cs typeface="Ubuntu"/>
              </a:rPr>
              <a:t>Click to edit Master text styles</a:t>
            </a:r>
          </a:p>
        </p:txBody>
      </p:sp>
      <p:sp>
        <p:nvSpPr>
          <p:cNvPr id="4" name="Date Placeholder 3"/>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pPr>
              <a:defRPr>
                <a:latin typeface="Ubuntu"/>
                <a:ea typeface="Ubuntu"/>
                <a:cs typeface="Ubuntu"/>
              </a:defRPr>
            </a:pPr>
            <a:endParaRPr lang="en-US"/>
          </a:p>
        </p:txBody>
      </p:sp>
      <p:sp>
        <p:nvSpPr>
          <p:cNvPr id="6" name="Slide Number Placeholder 5"/>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5" name="Date Placeholder 4"/>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pPr>
              <a:defRPr>
                <a:latin typeface="Ubuntu"/>
                <a:ea typeface="Ubuntu"/>
                <a:cs typeface="Ubuntu"/>
              </a:defRPr>
            </a:pPr>
            <a:endParaRPr lang="en-US"/>
          </a:p>
        </p:txBody>
      </p:sp>
      <p:sp>
        <p:nvSpPr>
          <p:cNvPr id="7" name="Slide Number Placeholder 6"/>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latin typeface="Ubuntu"/>
                <a:ea typeface="Ubuntu"/>
                <a:cs typeface="Ubuntu"/>
              </a:defRPr>
            </a:pPr>
            <a:r>
              <a:rPr lang="en-US">
                <a:latin typeface="Ubuntu"/>
                <a:ea typeface="Ubuntu"/>
                <a:cs typeface="Ubuntu"/>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latin typeface="Ubuntu"/>
                <a:ea typeface="Ubuntu"/>
                <a:cs typeface="Ubuntu"/>
              </a:defRPr>
            </a:pPr>
            <a:r>
              <a:rPr lang="en-US">
                <a:latin typeface="Ubuntu"/>
                <a:ea typeface="Ubuntu"/>
                <a:cs typeface="Ubuntu"/>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7" name="Date Placeholder 6"/>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pPr>
              <a:defRPr>
                <a:latin typeface="Ubuntu"/>
                <a:ea typeface="Ubuntu"/>
                <a:cs typeface="Ubuntu"/>
              </a:defRPr>
            </a:pPr>
            <a:endParaRPr lang="en-US"/>
          </a:p>
        </p:txBody>
      </p:sp>
      <p:sp>
        <p:nvSpPr>
          <p:cNvPr id="9" name="Slide Number Placeholder 8"/>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Date Placeholder 2"/>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pPr>
              <a:defRPr>
                <a:latin typeface="Ubuntu"/>
                <a:ea typeface="Ubuntu"/>
                <a:cs typeface="Ubuntu"/>
              </a:defRPr>
            </a:pPr>
            <a:endParaRPr lang="en-US"/>
          </a:p>
        </p:txBody>
      </p:sp>
      <p:sp>
        <p:nvSpPr>
          <p:cNvPr id="5" name="Slide Number Placeholder 4"/>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pPr>
              <a:defRPr>
                <a:latin typeface="Ubuntu"/>
                <a:ea typeface="Ubuntu"/>
                <a:cs typeface="Ubuntu"/>
              </a:defRPr>
            </a:pPr>
            <a:endParaRPr lang="en-US"/>
          </a:p>
        </p:txBody>
      </p:sp>
      <p:sp>
        <p:nvSpPr>
          <p:cNvPr id="4" name="Slide Number Placeholder 3"/>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latin typeface="Ubuntu"/>
                <a:ea typeface="Ubuntu"/>
                <a:cs typeface="Ubuntu"/>
              </a:defRPr>
            </a:pPr>
            <a:r>
              <a:rPr lang="en-US">
                <a:latin typeface="Ubuntu"/>
                <a:ea typeface="Ubuntu"/>
                <a:cs typeface="Ubuntu"/>
              </a:rPr>
              <a:t>Click to edit Master text styles</a:t>
            </a:r>
          </a:p>
        </p:txBody>
      </p:sp>
      <p:sp>
        <p:nvSpPr>
          <p:cNvPr id="5" name="Date Placeholder 4"/>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pPr>
              <a:defRPr>
                <a:latin typeface="Ubuntu"/>
                <a:ea typeface="Ubuntu"/>
                <a:cs typeface="Ubuntu"/>
              </a:defRPr>
            </a:pPr>
            <a:endParaRPr lang="en-US"/>
          </a:p>
        </p:txBody>
      </p:sp>
      <p:sp>
        <p:nvSpPr>
          <p:cNvPr id="7" name="Slide Number Placeholder 6"/>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latin typeface="Ubuntu"/>
                <a:ea typeface="Ubuntu"/>
                <a:cs typeface="Ubuntu"/>
              </a:defRPr>
            </a:pP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latin typeface="Ubuntu"/>
                <a:ea typeface="Ubuntu"/>
                <a:cs typeface="Ubuntu"/>
              </a:defRPr>
            </a:pPr>
            <a:r>
              <a:rPr lang="en-US">
                <a:latin typeface="Ubuntu"/>
                <a:ea typeface="Ubuntu"/>
                <a:cs typeface="Ubuntu"/>
              </a:rPr>
              <a:t>Click to edit Master text styles</a:t>
            </a:r>
          </a:p>
        </p:txBody>
      </p:sp>
      <p:sp>
        <p:nvSpPr>
          <p:cNvPr id="5" name="Date Placeholder 4"/>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pPr>
              <a:defRPr>
                <a:latin typeface="Ubuntu"/>
                <a:ea typeface="Ubuntu"/>
                <a:cs typeface="Ubuntu"/>
              </a:defRPr>
            </a:pPr>
            <a:endParaRPr lang="en-US"/>
          </a:p>
        </p:txBody>
      </p:sp>
      <p:sp>
        <p:nvSpPr>
          <p:cNvPr id="7" name="Slide Number Placeholder 6"/>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Vertical Text Placeholder 2"/>
          <p:cNvSpPr>
            <a:spLocks noGrp="1"/>
          </p:cNvSpPr>
          <p:nvPr>
            <p:ph type="body" orient="vert" idx="1"/>
          </p:nvPr>
        </p:nvSpPr>
        <p:spPr/>
        <p:txBody>
          <a:bodyPr vert="eaVert"/>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4" name="Date Placeholder 3"/>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pPr>
              <a:defRPr>
                <a:latin typeface="Ubuntu"/>
                <a:ea typeface="Ubuntu"/>
                <a:cs typeface="Ubuntu"/>
              </a:defRPr>
            </a:pPr>
            <a:endParaRPr lang="en-US"/>
          </a:p>
        </p:txBody>
      </p:sp>
      <p:sp>
        <p:nvSpPr>
          <p:cNvPr id="6" name="Slide Number Placeholder 5"/>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4" name="Date Placeholder 3"/>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pPr>
              <a:defRPr>
                <a:latin typeface="Ubuntu"/>
                <a:ea typeface="Ubuntu"/>
                <a:cs typeface="Ubuntu"/>
              </a:defRPr>
            </a:pPr>
            <a:endParaRPr lang="en-US"/>
          </a:p>
        </p:txBody>
      </p:sp>
      <p:sp>
        <p:nvSpPr>
          <p:cNvPr id="6" name="Slide Number Placeholder 5"/>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26799" y="232155"/>
            <a:ext cx="4938400" cy="635000"/>
          </a:xfrm>
          <a:prstGeom prst="rect">
            <a:avLst/>
          </a:prstGeom>
        </p:spPr>
        <p:txBody>
          <a:bodyPr wrap="square" lIns="0" tIns="0" rIns="0" bIns="0">
            <a:spAutoFit/>
          </a:bodyPr>
          <a:lstStyle>
            <a:lvl1pPr>
              <a:defRPr sz="4000" b="0" i="0">
                <a:solidFill>
                  <a:schemeClr val="tx1"/>
                </a:solidFill>
                <a:latin typeface="Microsoft Sans Serif"/>
                <a:cs typeface="Microsoft Sans Serif"/>
              </a:defRPr>
            </a:lvl1pPr>
          </a:lstStyle>
          <a:p>
            <a:pPr>
              <a:defRPr>
                <a:latin typeface="House Movements Runway"/>
                <a:ea typeface="House Movements Runway"/>
                <a:cs typeface="House Movements Runway"/>
              </a:defRPr>
            </a:pPr>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pPr>
              <a:defRPr>
                <a:latin typeface="House Movements Runway"/>
                <a:ea typeface="House Movements Runway"/>
                <a:cs typeface="House Movements Runway"/>
              </a:defRPr>
            </a:pP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a:defRPr>
                <a:latin typeface="Ubuntu"/>
                <a:ea typeface="Ubuntu"/>
                <a:cs typeface="Ubuntu"/>
              </a:defRPr>
            </a:pP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a:defRPr>
                <a:latin typeface="Ubuntu"/>
                <a:ea typeface="Ubuntu"/>
                <a:cs typeface="Ubuntu"/>
              </a:defRPr>
            </a:pPr>
            <a:fld id="{BBF4089C-68AC-4C0A-8066-1FEE7867C9C4}" type="datetime1">
              <a:rPr lang="en-US" smtClean="0"/>
              <a:t>10/15/2026</a:t>
            </a:fld>
            <a:endParaRPr lang="en-US"/>
          </a:p>
        </p:txBody>
      </p:sp>
      <p:sp>
        <p:nvSpPr>
          <p:cNvPr id="6" name="Holder 6"/>
          <p:cNvSpPr>
            <a:spLocks noGrp="1"/>
          </p:cNvSpPr>
          <p:nvPr>
            <p:ph type="sldNum" sz="quarter" idx="7"/>
          </p:nvPr>
        </p:nvSpPr>
        <p:spPr/>
        <p:txBody>
          <a:bodyPr lIns="0" tIns="0" rIns="0" bIns="0"/>
          <a:lstStyle>
            <a:lvl1pPr>
              <a:defRPr sz="1600" b="0" i="0">
                <a:solidFill>
                  <a:srgbClr val="051C4B"/>
                </a:solidFill>
                <a:latin typeface="Arial MT"/>
                <a:cs typeface="Arial MT"/>
              </a:defRPr>
            </a:lvl1pPr>
          </a:lstStyle>
          <a:p>
            <a:pPr marL="37465">
              <a:lnSpc>
                <a:spcPts val="1870"/>
              </a:lnSpc>
              <a:defRPr>
                <a:latin typeface="Ubuntu"/>
                <a:ea typeface="Ubuntu"/>
                <a:cs typeface="Ubuntu"/>
              </a:defRPr>
            </a:pPr>
            <a:fld id="{81D60167-4931-47E6-BA6A-407CBD079E47}" type="slidenum">
              <a:rPr dirty="0"/>
              <a:t>‹#›</a:t>
            </a:fld>
            <a:endParaRPr dirty="0"/>
          </a:p>
        </p:txBody>
      </p:sp>
    </p:spTree>
    <p:extLst>
      <p:ext uri="{BB962C8B-B14F-4D97-AF65-F5344CB8AC3E}">
        <p14:creationId xmlns:p14="http://schemas.microsoft.com/office/powerpoint/2010/main" val="4087880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7"/>
        <p:cNvGrpSpPr/>
        <p:nvPr/>
      </p:nvGrpSpPr>
      <p:grpSpPr>
        <a:xfrm>
          <a:off x="0" y="0"/>
          <a:ext cx="0" cy="0"/>
          <a:chOff x="0" y="0"/>
          <a:chExt cx="0" cy="0"/>
        </a:xfrm>
      </p:grpSpPr>
      <p:sp>
        <p:nvSpPr>
          <p:cNvPr id="28" name="Google Shape;28;p316"/>
          <p:cNvSpPr txBox="1">
            <a:spLocks noGrp="1"/>
          </p:cNvSpPr>
          <p:nvPr>
            <p:ph type="body" idx="1"/>
          </p:nvPr>
        </p:nvSpPr>
        <p:spPr>
          <a:xfrm>
            <a:off x="323765" y="1100518"/>
            <a:ext cx="11441512" cy="4847522"/>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marL="914400" lvl="1" indent="-381000" algn="l">
              <a:lnSpc>
                <a:spcPct val="90000"/>
              </a:lnSpc>
              <a:spcBef>
                <a:spcPts val="500"/>
              </a:spcBef>
              <a:spcAft>
                <a:spcPts val="0"/>
              </a:spcAft>
              <a:buClr>
                <a:schemeClr val="dk1"/>
              </a:buClr>
              <a:buSzPts val="2400"/>
              <a:buChar char="•"/>
              <a:defRPr>
                <a:latin typeface="Times New Roman"/>
                <a:ea typeface="Times New Roman"/>
                <a:cs typeface="Times New Roman"/>
                <a:sym typeface="Times New Roman"/>
              </a:defRPr>
            </a:lvl2pPr>
            <a:lvl3pPr marL="1371600" lvl="2" indent="-355600" algn="l">
              <a:lnSpc>
                <a:spcPct val="90000"/>
              </a:lnSpc>
              <a:spcBef>
                <a:spcPts val="500"/>
              </a:spcBef>
              <a:spcAft>
                <a:spcPts val="0"/>
              </a:spcAft>
              <a:buClr>
                <a:schemeClr val="dk1"/>
              </a:buClr>
              <a:buSzPts val="2000"/>
              <a:buChar char="•"/>
              <a:defRPr>
                <a:latin typeface="Times New Roman"/>
                <a:ea typeface="Times New Roman"/>
                <a:cs typeface="Times New Roman"/>
                <a:sym typeface="Times New Roman"/>
              </a:defRPr>
            </a:lvl3pPr>
            <a:lvl4pPr marL="1828800" lvl="3" indent="-342900" algn="l">
              <a:lnSpc>
                <a:spcPct val="90000"/>
              </a:lnSpc>
              <a:spcBef>
                <a:spcPts val="500"/>
              </a:spcBef>
              <a:spcAft>
                <a:spcPts val="0"/>
              </a:spcAft>
              <a:buClr>
                <a:schemeClr val="dk1"/>
              </a:buClr>
              <a:buSzPts val="1800"/>
              <a:buChar char="•"/>
              <a:defRPr>
                <a:latin typeface="Times New Roman"/>
                <a:ea typeface="Times New Roman"/>
                <a:cs typeface="Times New Roman"/>
                <a:sym typeface="Times New Roman"/>
              </a:defRPr>
            </a:lvl4pPr>
            <a:lvl5pPr marL="2286000" lvl="4" indent="-342900" algn="l">
              <a:lnSpc>
                <a:spcPct val="90000"/>
              </a:lnSpc>
              <a:spcBef>
                <a:spcPts val="500"/>
              </a:spcBef>
              <a:spcAft>
                <a:spcPts val="0"/>
              </a:spcAft>
              <a:buClr>
                <a:schemeClr val="dk1"/>
              </a:buClr>
              <a:buSzPts val="1800"/>
              <a:buChar char="•"/>
              <a:defRPr>
                <a:latin typeface="Times New Roman"/>
                <a:ea typeface="Times New Roman"/>
                <a:cs typeface="Times New Roman"/>
                <a:sym typeface="Times New Roman"/>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latin typeface="Ubuntu"/>
                <a:ea typeface="Ubuntu"/>
                <a:cs typeface="Ubuntu"/>
              </a:defRPr>
            </a:pPr>
            <a:endParaRPr/>
          </a:p>
        </p:txBody>
      </p:sp>
      <p:sp>
        <p:nvSpPr>
          <p:cNvPr id="29" name="Google Shape;29;p316"/>
          <p:cNvSpPr txBox="1">
            <a:spLocks noGrp="1"/>
          </p:cNvSpPr>
          <p:nvPr>
            <p:ph type="title"/>
          </p:nvPr>
        </p:nvSpPr>
        <p:spPr>
          <a:xfrm>
            <a:off x="323765" y="1"/>
            <a:ext cx="11441512" cy="82889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000"/>
              <a:buFont typeface="Times New Roman"/>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latin typeface="House Movements Runway"/>
                <a:ea typeface="House Movements Runway"/>
                <a:cs typeface="House Movements Runway"/>
              </a:defRPr>
            </a:pPr>
            <a:endParaRPr/>
          </a:p>
        </p:txBody>
      </p:sp>
      <p:sp>
        <p:nvSpPr>
          <p:cNvPr id="30" name="Google Shape;30;p316"/>
          <p:cNvSpPr txBox="1">
            <a:spLocks noGrp="1"/>
          </p:cNvSpPr>
          <p:nvPr>
            <p:ph type="dt" idx="10"/>
          </p:nvPr>
        </p:nvSpPr>
        <p:spPr>
          <a:xfrm>
            <a:off x="838200" y="6412996"/>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latin typeface="Ubuntu"/>
                <a:ea typeface="Ubuntu"/>
                <a:cs typeface="Ubuntu"/>
              </a:defRPr>
            </a:pPr>
            <a:fld id="{E7395FE8-6D54-4529-A1E5-B2A54D8DD3A1}" type="datetime1">
              <a:rPr lang="en-US" smtClean="0"/>
              <a:t>10/15/2026</a:t>
            </a:fld>
            <a:endParaRPr/>
          </a:p>
        </p:txBody>
      </p:sp>
      <p:sp>
        <p:nvSpPr>
          <p:cNvPr id="31" name="Google Shape;31;p316"/>
          <p:cNvSpPr txBox="1">
            <a:spLocks noGrp="1"/>
          </p:cNvSpPr>
          <p:nvPr>
            <p:ph type="ftr" idx="11"/>
          </p:nvPr>
        </p:nvSpPr>
        <p:spPr>
          <a:xfrm>
            <a:off x="4038600" y="6412996"/>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latin typeface="Ubuntu"/>
                <a:ea typeface="Ubuntu"/>
                <a:cs typeface="Ubuntu"/>
              </a:defRPr>
            </a:pPr>
            <a:endParaRPr/>
          </a:p>
        </p:txBody>
      </p:sp>
      <p:sp>
        <p:nvSpPr>
          <p:cNvPr id="32" name="Google Shape;32;p316"/>
          <p:cNvSpPr txBox="1">
            <a:spLocks noGrp="1"/>
          </p:cNvSpPr>
          <p:nvPr>
            <p:ph type="sldNum" idx="12"/>
          </p:nvPr>
        </p:nvSpPr>
        <p:spPr>
          <a:xfrm>
            <a:off x="8610600" y="6412996"/>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latin typeface="Ubuntu"/>
                <a:ea typeface="Ubuntu"/>
                <a:cs typeface="Ubuntu"/>
              </a:defRPr>
            </a:pPr>
            <a:fld id="{00000000-1234-1234-1234-123412341234}" type="slidenum">
              <a:rPr lang="en-US" smtClean="0"/>
              <a:pPr/>
              <a:t>‹#›</a:t>
            </a:fld>
            <a:endParaRPr lang="en-US"/>
          </a:p>
        </p:txBody>
      </p:sp>
    </p:spTree>
    <p:extLst>
      <p:ext uri="{BB962C8B-B14F-4D97-AF65-F5344CB8AC3E}">
        <p14:creationId xmlns:p14="http://schemas.microsoft.com/office/powerpoint/2010/main" val="17213109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032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alphaModFix amt="18000"/>
            <a:lum/>
          </a:blip>
          <a:srcRect/>
          <a:stretch>
            <a:fillRect l="-4000" r="-4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latin typeface="Ubuntu"/>
                <a:ea typeface="Ubuntu"/>
                <a:cs typeface="Ubuntu"/>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4"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2.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3.wdp"/></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2.jp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6.jpg"/><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3.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30.jpg"/></Relationships>
</file>

<file path=ppt/slides/_rels/slide26.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image" Target="../media/image31.jp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image" Target="../media/image31.jp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2.png"/><Relationship Id="rId2" Type="http://schemas.openxmlformats.org/officeDocument/2006/relationships/image" Target="../media/image33.jpeg"/><Relationship Id="rId1"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2.png"/><Relationship Id="rId5" Type="http://schemas.microsoft.com/office/2007/relationships/hdphoto" Target="../media/hdphoto8.wdp"/><Relationship Id="rId4" Type="http://schemas.openxmlformats.org/officeDocument/2006/relationships/image" Target="../media/image42.jpg"/></Relationships>
</file>

<file path=ppt/slides/_rels/slide34.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jp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46.jpg"/><Relationship Id="rId4" Type="http://schemas.openxmlformats.org/officeDocument/2006/relationships/image" Target="../media/image45.jpg"/></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jp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0.jpg"/><Relationship Id="rId4" Type="http://schemas.openxmlformats.org/officeDocument/2006/relationships/image" Target="../media/image49.jpg"/></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52.jpg"/><Relationship Id="rId4" Type="http://schemas.microsoft.com/office/2007/relationships/hdphoto" Target="../media/hdphoto9.wdp"/></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54.jpg"/><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57.png"/><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image" Target="../media/image58.jp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0.jpg"/></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61.jp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www.nasa.gov/smallsat-institute/sst-soa" TargetMode="External"/><Relationship Id="rId7" Type="http://schemas.openxmlformats.org/officeDocument/2006/relationships/hyperlink" Target="https://www.esa.int/Enabling_Support/Space_Engineering_Technology/CubeSats" TargetMode="External"/><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hyperlink" Target="https://www.nanosats.eu/" TargetMode="External"/><Relationship Id="rId5" Type="http://schemas.openxmlformats.org/officeDocument/2006/relationships/hyperlink" Target="https://www.esa.int/ESA_Multimedia/Keywords/System/CubeSats/(result_type)/videos" TargetMode="External"/><Relationship Id="rId4" Type="http://schemas.openxmlformats.org/officeDocument/2006/relationships/hyperlink" Target="https://www.jpl.nasa.gov/missions/mars-cube-one-marco"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17A0F-0CDC-794D-6FC3-B60AE5D655DA}"/>
              </a:ext>
            </a:extLst>
          </p:cNvPr>
          <p:cNvSpPr>
            <a:spLocks noGrp="1"/>
          </p:cNvSpPr>
          <p:nvPr>
            <p:ph type="ctrTitle"/>
          </p:nvPr>
        </p:nvSpPr>
        <p:spPr>
          <a:xfrm>
            <a:off x="2448378" y="2799928"/>
            <a:ext cx="7772400" cy="1470025"/>
          </a:xfrm>
        </p:spPr>
        <p:txBody>
          <a:bodyPr>
            <a:normAutofit/>
          </a:bodyPr>
          <a:lstStyle/>
          <a:p>
            <a:pPr>
              <a:defRPr>
                <a:latin typeface="House Movements Runway"/>
                <a:ea typeface="House Movements Runway"/>
                <a:cs typeface="House Movements Runway"/>
              </a:defRPr>
            </a:pPr>
            <a:r>
              <a:rPr lang="en-US" sz="6600" b="1" dirty="0">
                <a:latin typeface="House Movements Runway"/>
                <a:ea typeface="House Movements Runway"/>
                <a:cs typeface="House Movements Runway"/>
              </a:rPr>
              <a:t>Payload Systems</a:t>
            </a:r>
          </a:p>
        </p:txBody>
      </p:sp>
      <p:sp>
        <p:nvSpPr>
          <p:cNvPr id="3" name="Subtitle 2">
            <a:extLst>
              <a:ext uri="{FF2B5EF4-FFF2-40B4-BE49-F238E27FC236}">
                <a16:creationId xmlns:a16="http://schemas.microsoft.com/office/drawing/2014/main" id="{BFB1DB44-5B35-E8F8-1ECF-E0D270D00D10}"/>
              </a:ext>
            </a:extLst>
          </p:cNvPr>
          <p:cNvSpPr>
            <a:spLocks noGrp="1"/>
          </p:cNvSpPr>
          <p:nvPr>
            <p:ph type="subTitle" idx="1"/>
          </p:nvPr>
        </p:nvSpPr>
        <p:spPr>
          <a:xfrm>
            <a:off x="2564835" y="5621526"/>
            <a:ext cx="6400800" cy="742399"/>
          </a:xfrm>
        </p:spPr>
        <p:txBody>
          <a:bodyPr>
            <a:noAutofit/>
          </a:bodyPr>
          <a:lstStyle/>
          <a:p>
            <a:pPr>
              <a:defRPr>
                <a:latin typeface="House Movements Runway"/>
                <a:ea typeface="House Movements Runway"/>
                <a:cs typeface="House Movements Runway"/>
              </a:defRPr>
            </a:pPr>
            <a:r>
              <a:rPr lang="en-US" sz="4400" b="1" dirty="0">
                <a:solidFill>
                  <a:schemeClr val="tx1"/>
                </a:solidFill>
                <a:latin typeface="House Movements Runway"/>
                <a:ea typeface="House Movements Runway"/>
                <a:cs typeface="House Movements Runway"/>
              </a:rPr>
              <a:t>Lecture 5</a:t>
            </a:r>
          </a:p>
        </p:txBody>
      </p:sp>
      <p:sp>
        <p:nvSpPr>
          <p:cNvPr id="7" name="Slide Number Placeholder 7">
            <a:extLst>
              <a:ext uri="{FF2B5EF4-FFF2-40B4-BE49-F238E27FC236}">
                <a16:creationId xmlns:a16="http://schemas.microsoft.com/office/drawing/2014/main" id="{796FAA70-1EF5-C425-1994-AF3B17FBBFDB}"/>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a:t>
            </a:fld>
            <a:endParaRPr lang="en-US" sz="4800" b="1" dirty="0">
              <a:solidFill>
                <a:srgbClr val="FF0000"/>
              </a:solidFill>
            </a:endParaRPr>
          </a:p>
        </p:txBody>
      </p:sp>
      <p:pic>
        <p:nvPicPr>
          <p:cNvPr id="8" name="Space Faculty logo" descr="sf_logo.png"/>
          <p:cNvPicPr>
            <a:picLocks noChangeAspect="1"/>
          </p:cNvPicPr>
          <p:nvPr/>
        </p:nvPicPr>
        <p:blipFill>
          <a:blip r:embed="rId2"/>
          <a:stretch>
            <a:fillRect/>
          </a:stretch>
        </p:blipFill>
        <p:spPr>
          <a:xfrm>
            <a:off x="10510224" y="54863"/>
            <a:ext cx="1569000" cy="445879"/>
          </a:xfrm>
          <a:prstGeom prst="rect">
            <a:avLst/>
          </a:prstGeom>
        </p:spPr>
      </p:pic>
    </p:spTree>
    <p:extLst>
      <p:ext uri="{BB962C8B-B14F-4D97-AF65-F5344CB8AC3E}">
        <p14:creationId xmlns:p14="http://schemas.microsoft.com/office/powerpoint/2010/main" val="1952162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1A79F-9996-439C-0991-EDC1A1B10BE6}"/>
              </a:ext>
            </a:extLst>
          </p:cNvPr>
          <p:cNvSpPr>
            <a:spLocks noGrp="1"/>
          </p:cNvSpPr>
          <p:nvPr>
            <p:ph type="title"/>
          </p:nvPr>
        </p:nvSpPr>
        <p:spPr>
          <a:xfrm>
            <a:off x="1084053" y="669896"/>
            <a:ext cx="4632385" cy="1143000"/>
          </a:xfrm>
        </p:spPr>
        <p:txBody>
          <a:bodyPr/>
          <a:lstStyle/>
          <a:p>
            <a:pPr>
              <a:defRPr>
                <a:latin typeface="House Movements Runway"/>
                <a:ea typeface="House Movements Runway"/>
                <a:cs typeface="House Movements Runway"/>
              </a:defRPr>
            </a:pPr>
            <a:r>
              <a:rPr lang="en-US" b="1" dirty="0">
                <a:latin typeface="House Movements Runway"/>
                <a:ea typeface="House Movements Runway"/>
                <a:cs typeface="House Movements Runway"/>
              </a:rPr>
              <a:t>Lecture Outline</a:t>
            </a:r>
          </a:p>
        </p:txBody>
      </p:sp>
      <p:sp>
        <p:nvSpPr>
          <p:cNvPr id="3" name="Content Placeholder 2">
            <a:extLst>
              <a:ext uri="{FF2B5EF4-FFF2-40B4-BE49-F238E27FC236}">
                <a16:creationId xmlns:a16="http://schemas.microsoft.com/office/drawing/2014/main" id="{552353BC-749C-8ABF-CEAD-7A88B54BB665}"/>
              </a:ext>
            </a:extLst>
          </p:cNvPr>
          <p:cNvSpPr>
            <a:spLocks noGrp="1"/>
          </p:cNvSpPr>
          <p:nvPr>
            <p:ph idx="1"/>
          </p:nvPr>
        </p:nvSpPr>
        <p:spPr>
          <a:xfrm>
            <a:off x="313754" y="1628969"/>
            <a:ext cx="5964215" cy="4954393"/>
          </a:xfrm>
        </p:spPr>
        <p:txBody>
          <a:bodyPr/>
          <a:lstStyle/>
          <a:p>
            <a:pPr>
              <a:buFont typeface="Wingdings" panose="05000000000000000000" pitchFamily="2" charset="2"/>
              <a:buChar char="q"/>
              <a:defRPr>
                <a:latin typeface="Ubuntu"/>
                <a:ea typeface="Ubuntu"/>
                <a:cs typeface="Ubuntu"/>
              </a:defRPr>
            </a:pPr>
            <a:r>
              <a:rPr lang="en-US" dirty="0">
                <a:latin typeface="Ubuntu"/>
                <a:ea typeface="Ubuntu"/>
                <a:cs typeface="Ubuntu"/>
              </a:rPr>
              <a:t>Satellite Payload, classifying payloads, spacecraft configuration, payload design and selection</a:t>
            </a:r>
          </a:p>
          <a:p>
            <a:pPr>
              <a:buFont typeface="Wingdings" panose="05000000000000000000" pitchFamily="2" charset="2"/>
              <a:buChar char="q"/>
              <a:defRPr>
                <a:latin typeface="Ubuntu"/>
                <a:ea typeface="Ubuntu"/>
                <a:cs typeface="Ubuntu"/>
              </a:defRPr>
            </a:pPr>
            <a:r>
              <a:rPr lang="en-US" dirty="0">
                <a:latin typeface="Ubuntu"/>
                <a:ea typeface="Ubuntu"/>
                <a:cs typeface="Ubuntu"/>
              </a:rPr>
              <a:t>Remote sensing: Active and passive sensors</a:t>
            </a:r>
          </a:p>
          <a:p>
            <a:pPr>
              <a:buFont typeface="Wingdings" panose="05000000000000000000" pitchFamily="2" charset="2"/>
              <a:buChar char="q"/>
              <a:defRPr>
                <a:latin typeface="Ubuntu"/>
                <a:ea typeface="Ubuntu"/>
                <a:cs typeface="Ubuntu"/>
              </a:defRPr>
            </a:pPr>
            <a:r>
              <a:rPr lang="en-US" dirty="0">
                <a:latin typeface="Ubuntu"/>
                <a:ea typeface="Ubuntu"/>
                <a:cs typeface="Ubuntu"/>
              </a:rPr>
              <a:t>Optical, microwave sensors</a:t>
            </a:r>
          </a:p>
          <a:p>
            <a:pPr>
              <a:buFont typeface="Wingdings" panose="05000000000000000000" pitchFamily="2" charset="2"/>
              <a:buChar char="q"/>
              <a:defRPr>
                <a:latin typeface="Ubuntu"/>
                <a:ea typeface="Ubuntu"/>
                <a:cs typeface="Ubuntu"/>
              </a:defRPr>
            </a:pPr>
            <a:r>
              <a:rPr lang="en-US" dirty="0">
                <a:latin typeface="Ubuntu"/>
                <a:ea typeface="Ubuntu"/>
                <a:cs typeface="Ubuntu"/>
              </a:rPr>
              <a:t>Comms payloads </a:t>
            </a:r>
          </a:p>
        </p:txBody>
      </p:sp>
      <p:pic>
        <p:nvPicPr>
          <p:cNvPr id="9" name="Picture 8">
            <a:extLst>
              <a:ext uri="{FF2B5EF4-FFF2-40B4-BE49-F238E27FC236}">
                <a16:creationId xmlns:a16="http://schemas.microsoft.com/office/drawing/2014/main" id="{04AF7D41-A952-239C-1589-0BCC97E0E82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6933119" y="87191"/>
            <a:ext cx="4995023" cy="3333369"/>
          </a:xfrm>
          <a:prstGeom prst="rect">
            <a:avLst/>
          </a:prstGeom>
        </p:spPr>
      </p:pic>
      <p:sp>
        <p:nvSpPr>
          <p:cNvPr id="15" name="Slide Number Placeholder 7">
            <a:extLst>
              <a:ext uri="{FF2B5EF4-FFF2-40B4-BE49-F238E27FC236}">
                <a16:creationId xmlns:a16="http://schemas.microsoft.com/office/drawing/2014/main" id="{7D8E2640-2C40-7E18-615A-7B9E85CD35CE}"/>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a:t>
            </a:fld>
            <a:endParaRPr lang="en-US" sz="4800" b="1" dirty="0">
              <a:solidFill>
                <a:srgbClr val="FF0000"/>
              </a:solidFill>
            </a:endParaRPr>
          </a:p>
        </p:txBody>
      </p:sp>
      <p:pic>
        <p:nvPicPr>
          <p:cNvPr id="17" name="Picture 16">
            <a:extLst>
              <a:ext uri="{FF2B5EF4-FFF2-40B4-BE49-F238E27FC236}">
                <a16:creationId xmlns:a16="http://schemas.microsoft.com/office/drawing/2014/main" id="{300D1D2B-ACB2-97A7-F752-017234EB76B2}"/>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a:off x="6096000" y="3497142"/>
            <a:ext cx="4759075" cy="3273667"/>
          </a:xfrm>
          <a:prstGeom prst="rect">
            <a:avLst/>
          </a:prstGeom>
        </p:spPr>
      </p:pic>
      <p:pic>
        <p:nvPicPr>
          <p:cNvPr id="18" name="Space Faculty logo" descr="sf_logo.png"/>
          <p:cNvPicPr>
            <a:picLocks noChangeAspect="1"/>
          </p:cNvPicPr>
          <p:nvPr/>
        </p:nvPicPr>
        <p:blipFill>
          <a:blip r:embed="rId6"/>
          <a:stretch>
            <a:fillRect/>
          </a:stretch>
        </p:blipFill>
        <p:spPr>
          <a:xfrm>
            <a:off x="10510224" y="54863"/>
            <a:ext cx="1569000" cy="445879"/>
          </a:xfrm>
          <a:prstGeom prst="rect">
            <a:avLst/>
          </a:prstGeom>
        </p:spPr>
      </p:pic>
    </p:spTree>
    <p:extLst>
      <p:ext uri="{BB962C8B-B14F-4D97-AF65-F5344CB8AC3E}">
        <p14:creationId xmlns:p14="http://schemas.microsoft.com/office/powerpoint/2010/main" val="3735003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9D82-FA3F-F7A1-26B8-DA8CD665A44D}"/>
              </a:ext>
            </a:extLst>
          </p:cNvPr>
          <p:cNvSpPr>
            <a:spLocks noGrp="1"/>
          </p:cNvSpPr>
          <p:nvPr>
            <p:ph type="title"/>
          </p:nvPr>
        </p:nvSpPr>
        <p:spPr>
          <a:xfrm>
            <a:off x="457200" y="92883"/>
            <a:ext cx="8229600" cy="1143000"/>
          </a:xfrm>
        </p:spPr>
        <p:txBody>
          <a:bodyPr/>
          <a:lstStyle/>
          <a:p>
            <a:pPr>
              <a:defRPr>
                <a:latin typeface="House Movements Runway"/>
                <a:ea typeface="House Movements Runway"/>
                <a:cs typeface="House Movements Runway"/>
              </a:defRPr>
            </a:pPr>
            <a:r>
              <a:rPr lang="en-US" b="1" dirty="0">
                <a:latin typeface="House Movements Runway"/>
                <a:ea typeface="House Movements Runway"/>
                <a:cs typeface="House Movements Runway"/>
              </a:rPr>
              <a:t>Lecture Objectives</a:t>
            </a:r>
          </a:p>
        </p:txBody>
      </p:sp>
      <p:sp>
        <p:nvSpPr>
          <p:cNvPr id="3" name="Content Placeholder 2">
            <a:extLst>
              <a:ext uri="{FF2B5EF4-FFF2-40B4-BE49-F238E27FC236}">
                <a16:creationId xmlns:a16="http://schemas.microsoft.com/office/drawing/2014/main" id="{E641FBF8-0AB3-B265-F2C6-63C1E070DB95}"/>
              </a:ext>
            </a:extLst>
          </p:cNvPr>
          <p:cNvSpPr>
            <a:spLocks noGrp="1"/>
          </p:cNvSpPr>
          <p:nvPr>
            <p:ph idx="1"/>
          </p:nvPr>
        </p:nvSpPr>
        <p:spPr>
          <a:xfrm>
            <a:off x="150606" y="1166018"/>
            <a:ext cx="7112968" cy="5424563"/>
          </a:xfrm>
        </p:spPr>
        <p:txBody>
          <a:bodyPr>
            <a:noAutofit/>
          </a:bodyPr>
          <a:lstStyle/>
          <a:p>
            <a:pPr>
              <a:buFont typeface="Wingdings" panose="05000000000000000000" pitchFamily="2" charset="2"/>
              <a:buChar char="q"/>
              <a:defRPr>
                <a:latin typeface="Ubuntu"/>
                <a:ea typeface="Ubuntu"/>
                <a:cs typeface="Ubuntu"/>
              </a:defRPr>
            </a:pPr>
            <a:r>
              <a:rPr lang="en-US" sz="2000" b="1" dirty="0">
                <a:latin typeface="Ubuntu"/>
                <a:ea typeface="Ubuntu"/>
                <a:cs typeface="Ubuntu"/>
              </a:rPr>
              <a:t>By the end of this lecture, students will be able to:</a:t>
            </a:r>
            <a:endParaRPr lang="en-US" sz="2000" dirty="0"/>
          </a:p>
          <a:p>
            <a:pPr lvl="1">
              <a:buFont typeface="Wingdings" panose="05000000000000000000" pitchFamily="2" charset="2"/>
              <a:buChar char="§"/>
              <a:defRPr>
                <a:latin typeface="Ubuntu"/>
                <a:ea typeface="Ubuntu"/>
                <a:cs typeface="Ubuntu"/>
              </a:defRPr>
            </a:pPr>
            <a:r>
              <a:rPr lang="en-US" sz="2000" dirty="0">
                <a:latin typeface="Ubuntu"/>
                <a:ea typeface="Ubuntu"/>
                <a:cs typeface="Ubuntu"/>
              </a:rPr>
              <a:t>Explain the role and functions of satellite payloads. </a:t>
            </a:r>
          </a:p>
          <a:p>
            <a:pPr lvl="1">
              <a:buFont typeface="Wingdings" panose="05000000000000000000" pitchFamily="2" charset="2"/>
              <a:buChar char="§"/>
              <a:defRPr>
                <a:latin typeface="Ubuntu"/>
                <a:ea typeface="Ubuntu"/>
                <a:cs typeface="Ubuntu"/>
              </a:defRPr>
            </a:pPr>
            <a:r>
              <a:rPr lang="en-US" sz="2000" dirty="0">
                <a:latin typeface="Ubuntu"/>
                <a:ea typeface="Ubuntu"/>
                <a:cs typeface="Ubuntu"/>
              </a:rPr>
              <a:t>Classify payloads according to mission objectives and applications. </a:t>
            </a:r>
          </a:p>
          <a:p>
            <a:pPr lvl="1">
              <a:buFont typeface="Wingdings" panose="05000000000000000000" pitchFamily="2" charset="2"/>
              <a:buChar char="§"/>
              <a:defRPr>
                <a:latin typeface="Ubuntu"/>
                <a:ea typeface="Ubuntu"/>
                <a:cs typeface="Ubuntu"/>
              </a:defRPr>
            </a:pPr>
            <a:r>
              <a:rPr lang="en-US" sz="2000" dirty="0">
                <a:latin typeface="Ubuntu"/>
                <a:ea typeface="Ubuntu"/>
                <a:cs typeface="Ubuntu"/>
              </a:rPr>
              <a:t>Explain how payload requirements influence spacecraft configuration. </a:t>
            </a:r>
          </a:p>
          <a:p>
            <a:pPr lvl="1">
              <a:buFont typeface="Wingdings" panose="05000000000000000000" pitchFamily="2" charset="2"/>
              <a:buChar char="§"/>
              <a:defRPr>
                <a:latin typeface="Ubuntu"/>
                <a:ea typeface="Ubuntu"/>
                <a:cs typeface="Ubuntu"/>
              </a:defRPr>
            </a:pPr>
            <a:r>
              <a:rPr lang="en-US" sz="2000" dirty="0">
                <a:latin typeface="Ubuntu"/>
                <a:ea typeface="Ubuntu"/>
                <a:cs typeface="Ubuntu"/>
              </a:rPr>
              <a:t>Identify key payload design and selection criteria. </a:t>
            </a:r>
          </a:p>
          <a:p>
            <a:pPr lvl="1">
              <a:buFont typeface="Wingdings" panose="05000000000000000000" pitchFamily="2" charset="2"/>
              <a:buChar char="§"/>
              <a:defRPr>
                <a:latin typeface="Ubuntu"/>
                <a:ea typeface="Ubuntu"/>
                <a:cs typeface="Ubuntu"/>
              </a:defRPr>
            </a:pPr>
            <a:r>
              <a:rPr lang="en-US" sz="2000" dirty="0">
                <a:latin typeface="Ubuntu"/>
                <a:ea typeface="Ubuntu"/>
                <a:cs typeface="Ubuntu"/>
              </a:rPr>
              <a:t>Distinguish between active and passive remote-sensing sensors. </a:t>
            </a:r>
          </a:p>
          <a:p>
            <a:pPr lvl="1">
              <a:buFont typeface="Wingdings" panose="05000000000000000000" pitchFamily="2" charset="2"/>
              <a:buChar char="§"/>
              <a:defRPr>
                <a:latin typeface="Ubuntu"/>
                <a:ea typeface="Ubuntu"/>
                <a:cs typeface="Ubuntu"/>
              </a:defRPr>
            </a:pPr>
            <a:r>
              <a:rPr lang="en-US" sz="2000" dirty="0">
                <a:latin typeface="Ubuntu"/>
                <a:ea typeface="Ubuntu"/>
                <a:cs typeface="Ubuntu"/>
              </a:rPr>
              <a:t>Compare optical and microwave sensors. </a:t>
            </a:r>
          </a:p>
          <a:p>
            <a:pPr lvl="1">
              <a:buFont typeface="Wingdings" panose="05000000000000000000" pitchFamily="2" charset="2"/>
              <a:buChar char="§"/>
              <a:defRPr>
                <a:latin typeface="Ubuntu"/>
                <a:ea typeface="Ubuntu"/>
                <a:cs typeface="Ubuntu"/>
              </a:defRPr>
            </a:pPr>
            <a:r>
              <a:rPr lang="en-US" sz="2000" dirty="0">
                <a:latin typeface="Ubuntu"/>
                <a:ea typeface="Ubuntu"/>
                <a:cs typeface="Ubuntu"/>
              </a:rPr>
              <a:t>Explain the functions and architecture of communications payloads. </a:t>
            </a:r>
          </a:p>
          <a:p>
            <a:pPr lvl="1">
              <a:buFont typeface="Wingdings" panose="05000000000000000000" pitchFamily="2" charset="2"/>
              <a:buChar char="§"/>
              <a:defRPr>
                <a:latin typeface="Ubuntu"/>
                <a:ea typeface="Ubuntu"/>
                <a:cs typeface="Ubuntu"/>
              </a:defRPr>
            </a:pPr>
            <a:r>
              <a:rPr lang="en-US" sz="2000" dirty="0">
                <a:latin typeface="Ubuntu"/>
                <a:ea typeface="Ubuntu"/>
                <a:cs typeface="Ubuntu"/>
              </a:rPr>
              <a:t>Select suitable payload technologies for a given mission.</a:t>
            </a:r>
          </a:p>
          <a:p>
            <a:pPr>
              <a:buFont typeface="Wingdings" panose="05000000000000000000" pitchFamily="2" charset="2"/>
              <a:buChar char="q"/>
              <a:defRPr>
                <a:latin typeface="Ubuntu"/>
                <a:ea typeface="Ubuntu"/>
                <a:cs typeface="Ubuntu"/>
              </a:defRPr>
            </a:pPr>
            <a:endParaRPr lang="en-US" sz="2000" dirty="0"/>
          </a:p>
        </p:txBody>
      </p:sp>
      <p:pic>
        <p:nvPicPr>
          <p:cNvPr id="5" name="Picture 4">
            <a:extLst>
              <a:ext uri="{FF2B5EF4-FFF2-40B4-BE49-F238E27FC236}">
                <a16:creationId xmlns:a16="http://schemas.microsoft.com/office/drawing/2014/main" id="{24C09AD9-0109-3F14-57AE-EDABA1F74792}"/>
              </a:ext>
            </a:extLst>
          </p:cNvPr>
          <p:cNvPicPr>
            <a:picLocks noChangeAspect="1"/>
          </p:cNvPicPr>
          <p:nvPr/>
        </p:nvPicPr>
        <p:blipFill>
          <a:blip r:embed="rId2"/>
          <a:stretch>
            <a:fillRect/>
          </a:stretch>
        </p:blipFill>
        <p:spPr>
          <a:xfrm>
            <a:off x="6931544" y="-743802"/>
            <a:ext cx="5167360" cy="5167360"/>
          </a:xfrm>
          <a:prstGeom prst="rect">
            <a:avLst/>
          </a:prstGeom>
        </p:spPr>
      </p:pic>
      <p:pic>
        <p:nvPicPr>
          <p:cNvPr id="7" name="Picture 6">
            <a:extLst>
              <a:ext uri="{FF2B5EF4-FFF2-40B4-BE49-F238E27FC236}">
                <a16:creationId xmlns:a16="http://schemas.microsoft.com/office/drawing/2014/main" id="{355D65C1-AA23-81C2-64A2-41A3D7758328}"/>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300"/>
                    </a14:imgEffect>
                  </a14:imgLayer>
                </a14:imgProps>
              </a:ext>
            </a:extLst>
          </a:blip>
          <a:stretch>
            <a:fillRect/>
          </a:stretch>
        </p:blipFill>
        <p:spPr>
          <a:xfrm>
            <a:off x="7413863" y="3772924"/>
            <a:ext cx="4534752" cy="2992193"/>
          </a:xfrm>
          <a:prstGeom prst="rect">
            <a:avLst/>
          </a:prstGeom>
        </p:spPr>
      </p:pic>
      <p:sp>
        <p:nvSpPr>
          <p:cNvPr id="9" name="Slide Number Placeholder 7">
            <a:extLst>
              <a:ext uri="{FF2B5EF4-FFF2-40B4-BE49-F238E27FC236}">
                <a16:creationId xmlns:a16="http://schemas.microsoft.com/office/drawing/2014/main" id="{546CD290-344C-EB76-472B-E37F368B0EE9}"/>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a:t>
            </a:fld>
            <a:endParaRPr lang="en-US" sz="4800" b="1" dirty="0">
              <a:solidFill>
                <a:srgbClr val="FF0000"/>
              </a:solidFill>
            </a:endParaRPr>
          </a:p>
        </p:txBody>
      </p:sp>
      <p:pic>
        <p:nvPicPr>
          <p:cNvPr id="10" name="Space Faculty logo" descr="sf_logo.png"/>
          <p:cNvPicPr>
            <a:picLocks noChangeAspect="1"/>
          </p:cNvPicPr>
          <p:nvPr/>
        </p:nvPicPr>
        <p:blipFill>
          <a:blip r:embed="rId5"/>
          <a:stretch>
            <a:fillRect/>
          </a:stretch>
        </p:blipFill>
        <p:spPr>
          <a:xfrm>
            <a:off x="10682828" y="54864"/>
            <a:ext cx="1396395" cy="396828"/>
          </a:xfrm>
          <a:prstGeom prst="rect">
            <a:avLst/>
          </a:prstGeom>
        </p:spPr>
      </p:pic>
    </p:spTree>
    <p:extLst>
      <p:ext uri="{BB962C8B-B14F-4D97-AF65-F5344CB8AC3E}">
        <p14:creationId xmlns:p14="http://schemas.microsoft.com/office/powerpoint/2010/main" val="1441340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31110" y="0"/>
            <a:ext cx="8759657" cy="1243930"/>
          </a:xfrm>
          <a:prstGeom prst="rect">
            <a:avLst/>
          </a:prstGeom>
        </p:spPr>
        <p:txBody>
          <a:bodyPr vert="horz" wrap="square" lIns="0" tIns="12700" rIns="0" bIns="0" rtlCol="0">
            <a:spAutoFit/>
          </a:bodyPr>
          <a:lstStyle/>
          <a:p>
            <a:pPr marL="12700" algn="ctr">
              <a:lnSpc>
                <a:spcPct val="100000"/>
              </a:lnSpc>
              <a:spcBef>
                <a:spcPts val="100"/>
              </a:spcBef>
              <a:defRPr>
                <a:latin typeface="House Movements Runway"/>
                <a:ea typeface="House Movements Runway"/>
                <a:cs typeface="House Movements Runway"/>
              </a:defRPr>
            </a:pPr>
            <a:r>
              <a:rPr lang="en-US" sz="4000" b="1" spc="-5" dirty="0">
                <a:latin typeface="House Movements Runway" panose="020B0604020202020204" pitchFamily="34" charset="0"/>
                <a:cs typeface="House Movements Runway" panose="020B0604020202020204" pitchFamily="34" charset="0"/>
              </a:rPr>
              <a:t>Satellite </a:t>
            </a:r>
            <a:r>
              <a:rPr sz="4000" b="1" spc="-5" dirty="0">
                <a:latin typeface="House Movements Runway" panose="020B0604020202020204" pitchFamily="34" charset="0"/>
                <a:cs typeface="House Movements Runway" panose="020B0604020202020204" pitchFamily="34" charset="0"/>
              </a:rPr>
              <a:t>Payload</a:t>
            </a:r>
            <a:r>
              <a:rPr lang="en-US" sz="4000" b="1" spc="-5" dirty="0">
                <a:latin typeface="House Movements Runway" panose="020B0604020202020204" pitchFamily="34" charset="0"/>
                <a:cs typeface="House Movements Runway" panose="020B0604020202020204" pitchFamily="34" charset="0"/>
              </a:rPr>
              <a:t>/Mission Subsystem</a:t>
            </a:r>
            <a:endParaRPr sz="4000" b="1" dirty="0">
              <a:latin typeface="Arial" panose="020B0604020202020204" pitchFamily="34" charset="0"/>
              <a:cs typeface="Arial" panose="020B0604020202020204" pitchFamily="34" charset="0"/>
            </a:endParaRPr>
          </a:p>
        </p:txBody>
      </p:sp>
      <p:sp>
        <p:nvSpPr>
          <p:cNvPr id="3" name="object 3"/>
          <p:cNvSpPr txBox="1"/>
          <p:nvPr/>
        </p:nvSpPr>
        <p:spPr>
          <a:xfrm>
            <a:off x="210120" y="1663461"/>
            <a:ext cx="12085397" cy="4600940"/>
          </a:xfrm>
          <a:prstGeom prst="rect">
            <a:avLst/>
          </a:prstGeom>
        </p:spPr>
        <p:txBody>
          <a:bodyPr vert="horz" wrap="square" lIns="0" tIns="12700" rIns="0" bIns="0" rtlCol="0">
            <a:spAutoFit/>
          </a:bodyPr>
          <a:lstStyle/>
          <a:p>
            <a:pPr marL="355600" marR="5080" indent="-342900">
              <a:lnSpc>
                <a:spcPct val="149200"/>
              </a:lnSpc>
              <a:spcBef>
                <a:spcPts val="1295"/>
              </a:spcBef>
              <a:buFont typeface="Wingdings" panose="05000000000000000000" pitchFamily="2" charset="2"/>
              <a:buChar char="q"/>
              <a:tabLst>
                <a:tab pos="354965" algn="l"/>
                <a:tab pos="355600" algn="l"/>
                <a:tab pos="1628775" algn="l"/>
                <a:tab pos="2019300" algn="l"/>
                <a:tab pos="2613025" algn="l"/>
                <a:tab pos="4429760" algn="l"/>
                <a:tab pos="4853305" algn="l"/>
                <a:tab pos="6296660" algn="l"/>
                <a:tab pos="6976109" algn="l"/>
                <a:tab pos="8298815" algn="l"/>
                <a:tab pos="8808720" algn="l"/>
                <a:tab pos="9402445" algn="l"/>
                <a:tab pos="10978515" algn="l"/>
              </a:tabLst>
              <a:defRPr>
                <a:latin typeface="Ubuntu"/>
                <a:ea typeface="Ubuntu"/>
                <a:cs typeface="Ubuntu"/>
              </a:defRPr>
            </a:pPr>
            <a:r>
              <a:rPr lang="en-US" sz="2600" spc="-5" dirty="0">
                <a:latin typeface="Ubuntu" panose="020B0604020202020204" pitchFamily="34" charset="0"/>
                <a:cs typeface="Ubuntu" panose="020B0604020202020204" pitchFamily="34" charset="0"/>
              </a:rPr>
              <a:t>P</a:t>
            </a:r>
            <a:r>
              <a:rPr lang="en-US" sz="2600" dirty="0">
                <a:latin typeface="Ubuntu" panose="020B0604020202020204" pitchFamily="34" charset="0"/>
                <a:cs typeface="Ubuntu" panose="020B0604020202020204" pitchFamily="34" charset="0"/>
              </a:rPr>
              <a:t>ayload	is	</a:t>
            </a:r>
            <a:r>
              <a:rPr lang="en-US" sz="2600" spc="-5" dirty="0">
                <a:latin typeface="Ubuntu" panose="020B0604020202020204" pitchFamily="34" charset="0"/>
                <a:cs typeface="Ubuntu" panose="020B0604020202020204" pitchFamily="34" charset="0"/>
              </a:rPr>
              <a:t>t</a:t>
            </a:r>
            <a:r>
              <a:rPr lang="en-US" sz="2600" dirty="0">
                <a:latin typeface="Ubuntu" panose="020B0604020202020204" pitchFamily="34" charset="0"/>
                <a:cs typeface="Ubuntu" panose="020B0604020202020204" pitchFamily="34" charset="0"/>
              </a:rPr>
              <a:t>he	</a:t>
            </a:r>
            <a:r>
              <a:rPr lang="en-US" sz="2600" dirty="0">
                <a:solidFill>
                  <a:srgbClr val="77933C"/>
                </a:solidFill>
                <a:latin typeface="Ubuntu" panose="020B0604020202020204" pitchFamily="34" charset="0"/>
                <a:cs typeface="Ubuntu" panose="020B0604020202020204" pitchFamily="34" charset="0"/>
              </a:rPr>
              <a:t>combina</a:t>
            </a:r>
            <a:r>
              <a:rPr lang="en-US" sz="2600" spc="-5" dirty="0">
                <a:solidFill>
                  <a:srgbClr val="77933C"/>
                </a:solidFill>
                <a:latin typeface="Ubuntu" panose="020B0604020202020204" pitchFamily="34" charset="0"/>
                <a:cs typeface="Ubuntu" panose="020B0604020202020204" pitchFamily="34" charset="0"/>
              </a:rPr>
              <a:t>t</a:t>
            </a:r>
            <a:r>
              <a:rPr lang="en-US" sz="2600" dirty="0">
                <a:solidFill>
                  <a:srgbClr val="77933C"/>
                </a:solidFill>
                <a:latin typeface="Ubuntu" panose="020B0604020202020204" pitchFamily="34" charset="0"/>
                <a:cs typeface="Ubuntu" panose="020B0604020202020204" pitchFamily="34" charset="0"/>
              </a:rPr>
              <a:t>ion	of	hard</a:t>
            </a:r>
            <a:r>
              <a:rPr lang="en-US" sz="2600" spc="5" dirty="0">
                <a:solidFill>
                  <a:srgbClr val="77933C"/>
                </a:solidFill>
                <a:latin typeface="Ubuntu" panose="020B0604020202020204" pitchFamily="34" charset="0"/>
                <a:cs typeface="Ubuntu" panose="020B0604020202020204" pitchFamily="34" charset="0"/>
              </a:rPr>
              <a:t>w</a:t>
            </a:r>
            <a:r>
              <a:rPr lang="en-US" sz="2600" dirty="0">
                <a:solidFill>
                  <a:srgbClr val="77933C"/>
                </a:solidFill>
                <a:latin typeface="Ubuntu" panose="020B0604020202020204" pitchFamily="34" charset="0"/>
                <a:cs typeface="Ubuntu" panose="020B0604020202020204" pitchFamily="34" charset="0"/>
              </a:rPr>
              <a:t>are	and	so</a:t>
            </a:r>
            <a:r>
              <a:rPr lang="en-US" sz="2600" spc="-5" dirty="0">
                <a:solidFill>
                  <a:srgbClr val="77933C"/>
                </a:solidFill>
                <a:latin typeface="Ubuntu" panose="020B0604020202020204" pitchFamily="34" charset="0"/>
                <a:cs typeface="Ubuntu" panose="020B0604020202020204" pitchFamily="34" charset="0"/>
              </a:rPr>
              <a:t>ft</a:t>
            </a:r>
            <a:r>
              <a:rPr lang="en-US" sz="2600" dirty="0">
                <a:solidFill>
                  <a:srgbClr val="77933C"/>
                </a:solidFill>
                <a:latin typeface="Ubuntu" panose="020B0604020202020204" pitchFamily="34" charset="0"/>
                <a:cs typeface="Ubuntu" panose="020B0604020202020204" pitchFamily="34" charset="0"/>
              </a:rPr>
              <a:t>ware	</a:t>
            </a:r>
            <a:r>
              <a:rPr lang="en-US" sz="2600" dirty="0">
                <a:latin typeface="Ubuntu" panose="020B0604020202020204" pitchFamily="34" charset="0"/>
                <a:cs typeface="Ubuntu" panose="020B0604020202020204" pitchFamily="34" charset="0"/>
              </a:rPr>
              <a:t>on	</a:t>
            </a:r>
            <a:r>
              <a:rPr lang="en-US" sz="2600" spc="-5" dirty="0">
                <a:latin typeface="Ubuntu" panose="020B0604020202020204" pitchFamily="34" charset="0"/>
                <a:cs typeface="Ubuntu" panose="020B0604020202020204" pitchFamily="34" charset="0"/>
              </a:rPr>
              <a:t>t</a:t>
            </a:r>
            <a:r>
              <a:rPr lang="en-US" sz="2600" dirty="0">
                <a:latin typeface="Ubuntu" panose="020B0604020202020204" pitchFamily="34" charset="0"/>
                <a:cs typeface="Ubuntu" panose="020B0604020202020204" pitchFamily="34" charset="0"/>
              </a:rPr>
              <a:t>he	spacecra</a:t>
            </a:r>
            <a:r>
              <a:rPr lang="en-US" sz="2600" spc="-5" dirty="0">
                <a:latin typeface="Ubuntu" panose="020B0604020202020204" pitchFamily="34" charset="0"/>
                <a:cs typeface="Ubuntu" panose="020B0604020202020204" pitchFamily="34" charset="0"/>
              </a:rPr>
              <a:t>f</a:t>
            </a:r>
            <a:r>
              <a:rPr lang="en-US" sz="2600" dirty="0">
                <a:latin typeface="Ubuntu" panose="020B0604020202020204" pitchFamily="34" charset="0"/>
                <a:cs typeface="Ubuntu" panose="020B0604020202020204" pitchFamily="34" charset="0"/>
              </a:rPr>
              <a:t>t </a:t>
            </a:r>
            <a:r>
              <a:rPr lang="en-US" sz="2600" spc="-5" dirty="0">
                <a:latin typeface="Ubuntu" panose="020B0604020202020204" pitchFamily="34" charset="0"/>
                <a:cs typeface="Ubuntu" panose="020B0604020202020204" pitchFamily="34" charset="0"/>
              </a:rPr>
              <a:t>t</a:t>
            </a:r>
            <a:r>
              <a:rPr lang="en-US" sz="2600" dirty="0">
                <a:latin typeface="Ubuntu" panose="020B0604020202020204" pitchFamily="34" charset="0"/>
                <a:cs typeface="Ubuntu" panose="020B0604020202020204" pitchFamily="34" charset="0"/>
              </a:rPr>
              <a:t>hat interacts</a:t>
            </a:r>
            <a:r>
              <a:rPr lang="en-US" sz="2600" spc="-15" dirty="0">
                <a:latin typeface="Ubuntu" panose="020B0604020202020204" pitchFamily="34" charset="0"/>
                <a:cs typeface="Ubuntu" panose="020B0604020202020204" pitchFamily="34" charset="0"/>
              </a:rPr>
              <a:t> </a:t>
            </a:r>
            <a:r>
              <a:rPr lang="en-US" sz="2600" spc="-5" dirty="0">
                <a:latin typeface="Ubuntu" panose="020B0604020202020204" pitchFamily="34" charset="0"/>
                <a:cs typeface="Ubuntu" panose="020B0604020202020204" pitchFamily="34" charset="0"/>
              </a:rPr>
              <a:t>with the </a:t>
            </a:r>
            <a:r>
              <a:rPr lang="en-US" sz="2600" b="1" spc="-5" dirty="0">
                <a:solidFill>
                  <a:srgbClr val="FF0000"/>
                </a:solidFill>
                <a:latin typeface="Ubuntu" panose="020B0604020202020204" pitchFamily="34" charset="0"/>
                <a:cs typeface="Ubuntu" panose="020B0604020202020204" pitchFamily="34" charset="0"/>
              </a:rPr>
              <a:t>subject</a:t>
            </a:r>
            <a:r>
              <a:rPr lang="en-US" sz="2600" spc="-5" dirty="0">
                <a:latin typeface="Ubuntu" panose="020B0604020202020204" pitchFamily="34" charset="0"/>
                <a:cs typeface="Ubuntu" panose="020B0604020202020204" pitchFamily="34" charset="0"/>
              </a:rPr>
              <a:t>.</a:t>
            </a:r>
            <a:endParaRPr lang="en-US" sz="2600" dirty="0">
              <a:latin typeface="Arial" panose="020B0604020202020204" pitchFamily="34" charset="0"/>
              <a:cs typeface="Arial" panose="020B0604020202020204" pitchFamily="34" charset="0"/>
            </a:endParaRPr>
          </a:p>
          <a:p>
            <a:pPr marL="355600" marR="5715" indent="-342900">
              <a:lnSpc>
                <a:spcPct val="150000"/>
              </a:lnSpc>
              <a:spcBef>
                <a:spcPts val="1175"/>
              </a:spcBef>
              <a:buFont typeface="Wingdings" panose="05000000000000000000" pitchFamily="2" charset="2"/>
              <a:buChar char="q"/>
              <a:tabLst>
                <a:tab pos="354965" algn="l"/>
                <a:tab pos="355600" algn="l"/>
                <a:tab pos="1662430" algn="l"/>
                <a:tab pos="2086610" algn="l"/>
                <a:tab pos="3208020" algn="l"/>
                <a:tab pos="3665220" algn="l"/>
                <a:tab pos="4530725" algn="l"/>
                <a:tab pos="5769610" algn="l"/>
                <a:tab pos="7007859" algn="l"/>
                <a:tab pos="7721600" algn="l"/>
                <a:tab pos="8348980" algn="l"/>
                <a:tab pos="9214485" algn="l"/>
                <a:tab pos="10351135" algn="l"/>
                <a:tab pos="11062970" algn="l"/>
              </a:tabLst>
              <a:defRPr>
                <a:latin typeface="Ubuntu"/>
                <a:ea typeface="Ubuntu"/>
                <a:cs typeface="Ubuntu"/>
              </a:defRPr>
            </a:pPr>
            <a:r>
              <a:rPr lang="en-US" sz="2600" spc="-5" dirty="0">
                <a:latin typeface="Ubuntu" panose="020B0604020202020204" pitchFamily="34" charset="0"/>
                <a:cs typeface="Ubuntu" panose="020B0604020202020204" pitchFamily="34" charset="0"/>
              </a:rPr>
              <a:t>P</a:t>
            </a:r>
            <a:r>
              <a:rPr lang="en-US" sz="2600" dirty="0">
                <a:latin typeface="Ubuntu" panose="020B0604020202020204" pitchFamily="34" charset="0"/>
                <a:cs typeface="Ubuntu" panose="020B0604020202020204" pitchFamily="34" charset="0"/>
              </a:rPr>
              <a:t>ayload	is	</a:t>
            </a:r>
            <a:r>
              <a:rPr lang="en-US" sz="2600" dirty="0">
                <a:solidFill>
                  <a:srgbClr val="00B0F0"/>
                </a:solidFill>
                <a:latin typeface="Ubuntu" panose="020B0604020202020204" pitchFamily="34" charset="0"/>
                <a:cs typeface="Ubuntu" panose="020B0604020202020204" pitchFamily="34" charset="0"/>
              </a:rPr>
              <a:t>un</a:t>
            </a:r>
            <a:r>
              <a:rPr lang="en-US" sz="2600" spc="5" dirty="0">
                <a:solidFill>
                  <a:srgbClr val="00B0F0"/>
                </a:solidFill>
                <a:latin typeface="Ubuntu" panose="020B0604020202020204" pitchFamily="34" charset="0"/>
                <a:cs typeface="Ubuntu" panose="020B0604020202020204" pitchFamily="34" charset="0"/>
              </a:rPr>
              <a:t>i</a:t>
            </a:r>
            <a:r>
              <a:rPr lang="en-US" sz="2600" dirty="0">
                <a:solidFill>
                  <a:srgbClr val="00B0F0"/>
                </a:solidFill>
                <a:latin typeface="Ubuntu" panose="020B0604020202020204" pitchFamily="34" charset="0"/>
                <a:cs typeface="Ubuntu" panose="020B0604020202020204" pitchFamily="34" charset="0"/>
              </a:rPr>
              <a:t>que	</a:t>
            </a:r>
            <a:r>
              <a:rPr lang="en-US" sz="2600" spc="-5" dirty="0">
                <a:solidFill>
                  <a:srgbClr val="00B0F0"/>
                </a:solidFill>
                <a:latin typeface="Ubuntu" panose="020B0604020202020204" pitchFamily="34" charset="0"/>
                <a:cs typeface="Ubuntu" panose="020B0604020202020204" pitchFamily="34" charset="0"/>
              </a:rPr>
              <a:t>t</a:t>
            </a:r>
            <a:r>
              <a:rPr lang="en-US" sz="2600" dirty="0">
                <a:solidFill>
                  <a:srgbClr val="00B0F0"/>
                </a:solidFill>
                <a:latin typeface="Ubuntu" panose="020B0604020202020204" pitchFamily="34" charset="0"/>
                <a:cs typeface="Ubuntu" panose="020B0604020202020204" pitchFamily="34" charset="0"/>
              </a:rPr>
              <a:t>o	each	sa</a:t>
            </a:r>
            <a:r>
              <a:rPr lang="en-US" sz="2600" spc="-5" dirty="0">
                <a:solidFill>
                  <a:srgbClr val="00B0F0"/>
                </a:solidFill>
                <a:latin typeface="Ubuntu" panose="020B0604020202020204" pitchFamily="34" charset="0"/>
                <a:cs typeface="Ubuntu" panose="020B0604020202020204" pitchFamily="34" charset="0"/>
              </a:rPr>
              <a:t>t</a:t>
            </a:r>
            <a:r>
              <a:rPr lang="en-US" sz="2600" dirty="0">
                <a:solidFill>
                  <a:srgbClr val="00B0F0"/>
                </a:solidFill>
                <a:latin typeface="Ubuntu" panose="020B0604020202020204" pitchFamily="34" charset="0"/>
                <a:cs typeface="Ubuntu" panose="020B0604020202020204" pitchFamily="34" charset="0"/>
              </a:rPr>
              <a:t>elli</a:t>
            </a:r>
            <a:r>
              <a:rPr lang="en-US" sz="2600" spc="-5" dirty="0">
                <a:solidFill>
                  <a:srgbClr val="00B0F0"/>
                </a:solidFill>
                <a:latin typeface="Ubuntu" panose="020B0604020202020204" pitchFamily="34" charset="0"/>
                <a:cs typeface="Ubuntu" panose="020B0604020202020204" pitchFamily="34" charset="0"/>
              </a:rPr>
              <a:t>t</a:t>
            </a:r>
            <a:r>
              <a:rPr lang="en-US" sz="2600" dirty="0">
                <a:solidFill>
                  <a:srgbClr val="00B0F0"/>
                </a:solidFill>
                <a:latin typeface="Ubuntu" panose="020B0604020202020204" pitchFamily="34" charset="0"/>
                <a:cs typeface="Ubuntu" panose="020B0604020202020204" pitchFamily="34" charset="0"/>
              </a:rPr>
              <a:t>e	mission	</a:t>
            </a:r>
            <a:r>
              <a:rPr lang="en-US" sz="2600" dirty="0">
                <a:latin typeface="Ubuntu" panose="020B0604020202020204" pitchFamily="34" charset="0"/>
                <a:cs typeface="Ubuntu" panose="020B0604020202020204" pitchFamily="34" charset="0"/>
              </a:rPr>
              <a:t>and	</a:t>
            </a:r>
            <a:r>
              <a:rPr lang="en-US" sz="2600" spc="-5" dirty="0">
                <a:latin typeface="Ubuntu" panose="020B0604020202020204" pitchFamily="34" charset="0"/>
                <a:cs typeface="Ubuntu" panose="020B0604020202020204" pitchFamily="34" charset="0"/>
              </a:rPr>
              <a:t>t</a:t>
            </a:r>
            <a:r>
              <a:rPr lang="en-US" sz="2600" dirty="0">
                <a:latin typeface="Ubuntu" panose="020B0604020202020204" pitchFamily="34" charset="0"/>
                <a:cs typeface="Ubuntu" panose="020B0604020202020204" pitchFamily="34" charset="0"/>
              </a:rPr>
              <a:t>he	ma</a:t>
            </a:r>
            <a:r>
              <a:rPr lang="en-US" sz="2600" spc="5" dirty="0">
                <a:latin typeface="Ubuntu" panose="020B0604020202020204" pitchFamily="34" charset="0"/>
                <a:cs typeface="Ubuntu" panose="020B0604020202020204" pitchFamily="34" charset="0"/>
              </a:rPr>
              <a:t>i</a:t>
            </a:r>
            <a:r>
              <a:rPr lang="en-US" sz="2600" dirty="0">
                <a:latin typeface="Ubuntu" panose="020B0604020202020204" pitchFamily="34" charset="0"/>
                <a:cs typeface="Ubuntu" panose="020B0604020202020204" pitchFamily="34" charset="0"/>
              </a:rPr>
              <a:t>n	reason	</a:t>
            </a:r>
            <a:r>
              <a:rPr lang="en-US" sz="2600" spc="-5" dirty="0">
                <a:latin typeface="Ubuntu" panose="020B0604020202020204" pitchFamily="34" charset="0"/>
                <a:cs typeface="Ubuntu" panose="020B0604020202020204" pitchFamily="34" charset="0"/>
              </a:rPr>
              <a:t>t</a:t>
            </a:r>
            <a:r>
              <a:rPr lang="en-US" sz="2600" dirty="0">
                <a:latin typeface="Ubuntu" panose="020B0604020202020204" pitchFamily="34" charset="0"/>
                <a:cs typeface="Ubuntu" panose="020B0604020202020204" pitchFamily="34" charset="0"/>
              </a:rPr>
              <a:t>hat </a:t>
            </a:r>
            <a:r>
              <a:rPr lang="en-US" sz="2600" spc="-5" dirty="0">
                <a:latin typeface="Ubuntu" panose="020B0604020202020204" pitchFamily="34" charset="0"/>
                <a:cs typeface="Ubuntu" panose="020B0604020202020204" pitchFamily="34" charset="0"/>
              </a:rPr>
              <a:t>t</a:t>
            </a:r>
            <a:r>
              <a:rPr lang="en-US" sz="2600" dirty="0">
                <a:latin typeface="Ubuntu" panose="020B0604020202020204" pitchFamily="34" charset="0"/>
                <a:cs typeface="Ubuntu" panose="020B0604020202020204" pitchFamily="34" charset="0"/>
              </a:rPr>
              <a:t>he </a:t>
            </a:r>
            <a:r>
              <a:rPr lang="en-US" sz="2600" spc="-5" dirty="0">
                <a:latin typeface="Ubuntu" panose="020B0604020202020204" pitchFamily="34" charset="0"/>
                <a:cs typeface="Ubuntu" panose="020B0604020202020204" pitchFamily="34" charset="0"/>
              </a:rPr>
              <a:t>spacecraft</a:t>
            </a:r>
            <a:r>
              <a:rPr lang="en-US" sz="2600" spc="-15" dirty="0">
                <a:latin typeface="Ubuntu" panose="020B0604020202020204" pitchFamily="34" charset="0"/>
                <a:cs typeface="Ubuntu" panose="020B0604020202020204" pitchFamily="34" charset="0"/>
              </a:rPr>
              <a:t> </a:t>
            </a:r>
            <a:r>
              <a:rPr lang="en-US" sz="2600" dirty="0">
                <a:latin typeface="Ubuntu" panose="020B0604020202020204" pitchFamily="34" charset="0"/>
                <a:cs typeface="Ubuntu" panose="020B0604020202020204" pitchFamily="34" charset="0"/>
              </a:rPr>
              <a:t>is</a:t>
            </a:r>
            <a:r>
              <a:rPr lang="en-US" sz="2600" spc="-5" dirty="0">
                <a:latin typeface="Ubuntu" panose="020B0604020202020204" pitchFamily="34" charset="0"/>
                <a:cs typeface="Ubuntu" panose="020B0604020202020204" pitchFamily="34" charset="0"/>
              </a:rPr>
              <a:t> </a:t>
            </a:r>
            <a:r>
              <a:rPr lang="en-US" sz="2600" dirty="0">
                <a:latin typeface="Ubuntu" panose="020B0604020202020204" pitchFamily="34" charset="0"/>
                <a:cs typeface="Ubuntu" panose="020B0604020202020204" pitchFamily="34" charset="0"/>
              </a:rPr>
              <a:t>developed.</a:t>
            </a:r>
          </a:p>
          <a:p>
            <a:pPr marL="355600" marR="5715" indent="-342900">
              <a:lnSpc>
                <a:spcPct val="152500"/>
              </a:lnSpc>
              <a:spcBef>
                <a:spcPts val="1105"/>
              </a:spcBef>
              <a:buFont typeface="Wingdings" panose="05000000000000000000" pitchFamily="2" charset="2"/>
              <a:buChar char="q"/>
              <a:tabLst>
                <a:tab pos="354965" algn="l"/>
                <a:tab pos="355600" algn="l"/>
                <a:tab pos="1602740" algn="l"/>
                <a:tab pos="1967864" algn="l"/>
                <a:tab pos="2535555" algn="l"/>
                <a:tab pos="3342004" algn="l"/>
                <a:tab pos="4249420" algn="l"/>
                <a:tab pos="4749800" algn="l"/>
                <a:tab pos="5928995" algn="l"/>
                <a:tab pos="7176134" algn="l"/>
                <a:tab pos="7830184" algn="l"/>
                <a:tab pos="8958580" algn="l"/>
                <a:tab pos="9255125" algn="l"/>
                <a:tab pos="9620250" algn="l"/>
                <a:tab pos="10680700" algn="l"/>
                <a:tab pos="11062970" algn="l"/>
              </a:tabLst>
              <a:defRPr>
                <a:latin typeface="Ubuntu"/>
                <a:ea typeface="Ubuntu"/>
                <a:cs typeface="Ubuntu"/>
              </a:defRPr>
            </a:pPr>
            <a:r>
              <a:rPr lang="en-US" sz="2600" spc="-5" dirty="0">
                <a:latin typeface="Ubuntu" panose="020B0604020202020204" pitchFamily="34" charset="0"/>
                <a:cs typeface="Ubuntu" panose="020B0604020202020204" pitchFamily="34" charset="0"/>
              </a:rPr>
              <a:t>P</a:t>
            </a:r>
            <a:r>
              <a:rPr lang="en-US" sz="2600" dirty="0">
                <a:latin typeface="Ubuntu" panose="020B0604020202020204" pitchFamily="34" charset="0"/>
                <a:cs typeface="Ubuntu" panose="020B0604020202020204" pitchFamily="34" charset="0"/>
              </a:rPr>
              <a:t>ayload	is	</a:t>
            </a:r>
            <a:r>
              <a:rPr lang="en-US" sz="2600" spc="-5" dirty="0">
                <a:latin typeface="Ubuntu" panose="020B0604020202020204" pitchFamily="34" charset="0"/>
                <a:cs typeface="Ubuntu" panose="020B0604020202020204" pitchFamily="34" charset="0"/>
              </a:rPr>
              <a:t>t</a:t>
            </a:r>
            <a:r>
              <a:rPr lang="en-US" sz="2600" dirty="0">
                <a:latin typeface="Ubuntu" panose="020B0604020202020204" pitchFamily="34" charset="0"/>
                <a:cs typeface="Ubuntu" panose="020B0604020202020204" pitchFamily="34" charset="0"/>
              </a:rPr>
              <a:t>he	</a:t>
            </a:r>
            <a:r>
              <a:rPr lang="en-US" sz="2600" dirty="0">
                <a:solidFill>
                  <a:srgbClr val="984807"/>
                </a:solidFill>
                <a:latin typeface="Ubuntu" panose="020B0604020202020204" pitchFamily="34" charset="0"/>
                <a:cs typeface="Ubuntu" panose="020B0604020202020204" pitchFamily="34" charset="0"/>
              </a:rPr>
              <a:t>ma</a:t>
            </a:r>
            <a:r>
              <a:rPr lang="en-US" sz="2600" spc="5" dirty="0">
                <a:solidFill>
                  <a:srgbClr val="984807"/>
                </a:solidFill>
                <a:latin typeface="Ubuntu" panose="020B0604020202020204" pitchFamily="34" charset="0"/>
                <a:cs typeface="Ubuntu" panose="020B0604020202020204" pitchFamily="34" charset="0"/>
              </a:rPr>
              <a:t>i</a:t>
            </a:r>
            <a:r>
              <a:rPr lang="en-US" sz="2600" dirty="0">
                <a:solidFill>
                  <a:srgbClr val="984807"/>
                </a:solidFill>
                <a:latin typeface="Ubuntu" panose="020B0604020202020204" pitchFamily="34" charset="0"/>
                <a:cs typeface="Ubuntu" panose="020B0604020202020204" pitchFamily="34" charset="0"/>
              </a:rPr>
              <a:t>n	driver	</a:t>
            </a:r>
            <a:r>
              <a:rPr lang="en-US" sz="2600" spc="-5" dirty="0">
                <a:solidFill>
                  <a:srgbClr val="984807"/>
                </a:solidFill>
                <a:latin typeface="Ubuntu" panose="020B0604020202020204" pitchFamily="34" charset="0"/>
                <a:cs typeface="Ubuntu" panose="020B0604020202020204" pitchFamily="34" charset="0"/>
              </a:rPr>
              <a:t>f</a:t>
            </a:r>
            <a:r>
              <a:rPr lang="en-US" sz="2600" dirty="0">
                <a:solidFill>
                  <a:srgbClr val="984807"/>
                </a:solidFill>
                <a:latin typeface="Ubuntu" panose="020B0604020202020204" pitchFamily="34" charset="0"/>
                <a:cs typeface="Ubuntu" panose="020B0604020202020204" pitchFamily="34" charset="0"/>
              </a:rPr>
              <a:t>or	mission	analysis	and	design</a:t>
            </a:r>
            <a:r>
              <a:rPr lang="en-US" sz="2600" dirty="0">
                <a:latin typeface="Ubuntu" panose="020B0604020202020204" pitchFamily="34" charset="0"/>
                <a:cs typeface="Ubuntu" panose="020B0604020202020204" pitchFamily="34" charset="0"/>
              </a:rPr>
              <a:t>:	it	is	cen</a:t>
            </a:r>
            <a:r>
              <a:rPr lang="en-US" sz="2600" spc="-5" dirty="0">
                <a:latin typeface="Ubuntu" panose="020B0604020202020204" pitchFamily="34" charset="0"/>
                <a:cs typeface="Ubuntu" panose="020B0604020202020204" pitchFamily="34" charset="0"/>
              </a:rPr>
              <a:t>t</a:t>
            </a:r>
            <a:r>
              <a:rPr lang="en-US" sz="2600" dirty="0">
                <a:latin typeface="Ubuntu" panose="020B0604020202020204" pitchFamily="34" charset="0"/>
                <a:cs typeface="Ubuntu" panose="020B0604020202020204" pitchFamily="34" charset="0"/>
              </a:rPr>
              <a:t>ral	in </a:t>
            </a:r>
            <a:r>
              <a:rPr lang="en-US" sz="2600" spc="-5" dirty="0">
                <a:latin typeface="Ubuntu" panose="020B0604020202020204" pitchFamily="34" charset="0"/>
                <a:cs typeface="Ubuntu" panose="020B0604020202020204" pitchFamily="34" charset="0"/>
              </a:rPr>
              <a:t>t</a:t>
            </a:r>
            <a:r>
              <a:rPr lang="en-US" sz="2600" dirty="0">
                <a:latin typeface="Ubuntu" panose="020B0604020202020204" pitchFamily="34" charset="0"/>
                <a:cs typeface="Ubuntu" panose="020B0604020202020204" pitchFamily="34" charset="0"/>
              </a:rPr>
              <a:t>he design</a:t>
            </a:r>
            <a:r>
              <a:rPr lang="en-US" sz="2600" spc="-10" dirty="0">
                <a:latin typeface="Ubuntu" panose="020B0604020202020204" pitchFamily="34" charset="0"/>
                <a:cs typeface="Ubuntu" panose="020B0604020202020204" pitchFamily="34" charset="0"/>
              </a:rPr>
              <a:t> </a:t>
            </a:r>
            <a:r>
              <a:rPr lang="en-US" sz="2600" dirty="0">
                <a:latin typeface="Ubuntu" panose="020B0604020202020204" pitchFamily="34" charset="0"/>
                <a:cs typeface="Ubuntu" panose="020B0604020202020204" pitchFamily="34" charset="0"/>
              </a:rPr>
              <a:t>of</a:t>
            </a:r>
            <a:r>
              <a:rPr lang="en-US" sz="2600" spc="-10" dirty="0">
                <a:latin typeface="Ubuntu" panose="020B0604020202020204" pitchFamily="34" charset="0"/>
                <a:cs typeface="Ubuntu" panose="020B0604020202020204" pitchFamily="34" charset="0"/>
              </a:rPr>
              <a:t> the </a:t>
            </a:r>
            <a:r>
              <a:rPr lang="en-US" sz="2600" spc="-5" dirty="0">
                <a:latin typeface="Ubuntu" panose="020B0604020202020204" pitchFamily="34" charset="0"/>
                <a:cs typeface="Ubuntu" panose="020B0604020202020204" pitchFamily="34" charset="0"/>
              </a:rPr>
              <a:t>satellite </a:t>
            </a:r>
            <a:r>
              <a:rPr lang="en-US" sz="2600" dirty="0">
                <a:latin typeface="Ubuntu" panose="020B0604020202020204" pitchFamily="34" charset="0"/>
                <a:cs typeface="Ubuntu" panose="020B0604020202020204" pitchFamily="34" charset="0"/>
              </a:rPr>
              <a:t>bus</a:t>
            </a:r>
            <a:r>
              <a:rPr lang="en-US" sz="2600" spc="-5" dirty="0">
                <a:latin typeface="Ubuntu" panose="020B0604020202020204" pitchFamily="34" charset="0"/>
                <a:cs typeface="Ubuntu" panose="020B0604020202020204" pitchFamily="34" charset="0"/>
              </a:rPr>
              <a:t> system.</a:t>
            </a:r>
          </a:p>
          <a:p>
            <a:pPr marL="355600" marR="5715" indent="-342900">
              <a:lnSpc>
                <a:spcPct val="152500"/>
              </a:lnSpc>
              <a:spcBef>
                <a:spcPts val="1105"/>
              </a:spcBef>
              <a:buFont typeface="Wingdings" panose="05000000000000000000" pitchFamily="2" charset="2"/>
              <a:buChar char="q"/>
              <a:tabLst>
                <a:tab pos="354965" algn="l"/>
                <a:tab pos="355600" algn="l"/>
                <a:tab pos="1602740" algn="l"/>
                <a:tab pos="1967864" algn="l"/>
                <a:tab pos="2535555" algn="l"/>
                <a:tab pos="3342004" algn="l"/>
                <a:tab pos="4249420" algn="l"/>
                <a:tab pos="4749800" algn="l"/>
                <a:tab pos="5928995" algn="l"/>
                <a:tab pos="7176134" algn="l"/>
                <a:tab pos="7830184" algn="l"/>
                <a:tab pos="8958580" algn="l"/>
                <a:tab pos="9255125" algn="l"/>
                <a:tab pos="9620250" algn="l"/>
                <a:tab pos="10680700" algn="l"/>
                <a:tab pos="11062970" algn="l"/>
              </a:tabLst>
              <a:defRPr>
                <a:latin typeface="Ubuntu"/>
                <a:ea typeface="Ubuntu"/>
                <a:cs typeface="Ubuntu"/>
              </a:defRPr>
            </a:pPr>
            <a:endParaRPr sz="2600" dirty="0">
              <a:latin typeface="Arial" panose="020B0604020202020204" pitchFamily="34" charset="0"/>
              <a:cs typeface="Arial" panose="020B0604020202020204" pitchFamily="34" charset="0"/>
            </a:endParaRPr>
          </a:p>
        </p:txBody>
      </p:sp>
      <p:sp>
        <p:nvSpPr>
          <p:cNvPr id="6" name="Slide Number Placeholder 7">
            <a:extLst>
              <a:ext uri="{FF2B5EF4-FFF2-40B4-BE49-F238E27FC236}">
                <a16:creationId xmlns:a16="http://schemas.microsoft.com/office/drawing/2014/main" id="{CF301B0E-A432-FB16-9D11-ACBCE7BDFA2E}"/>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a:t>
            </a:fld>
            <a:endParaRPr lang="en-US" sz="4800" b="1" dirty="0">
              <a:solidFill>
                <a:srgbClr val="FF0000"/>
              </a:solidFill>
            </a:endParaRPr>
          </a:p>
        </p:txBody>
      </p:sp>
      <p:pic>
        <p:nvPicPr>
          <p:cNvPr id="7" name="Space Faculty logo" descr="sf_logo.png"/>
          <p:cNvPicPr>
            <a:picLocks noChangeAspect="1"/>
          </p:cNvPicPr>
          <p:nvPr/>
        </p:nvPicPr>
        <p:blipFill>
          <a:blip r:embed="rId2"/>
          <a:stretch>
            <a:fillRect/>
          </a:stretch>
        </p:blipFill>
        <p:spPr>
          <a:xfrm>
            <a:off x="10605296" y="54863"/>
            <a:ext cx="1473927" cy="4188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651185" y="115981"/>
            <a:ext cx="6624895" cy="751488"/>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800" b="1" spc="-5" dirty="0">
                <a:latin typeface="House Movements Runway"/>
                <a:ea typeface="House Movements Runway"/>
                <a:cs typeface="House Movements Runway"/>
              </a:rPr>
              <a:t>Spacecraft</a:t>
            </a:r>
            <a:r>
              <a:rPr sz="4800" b="1" spc="-55" dirty="0">
                <a:latin typeface="House Movements Runway"/>
                <a:ea typeface="House Movements Runway"/>
                <a:cs typeface="House Movements Runway"/>
              </a:rPr>
              <a:t> </a:t>
            </a:r>
            <a:r>
              <a:rPr sz="4800" b="1" dirty="0">
                <a:latin typeface="House Movements Runway"/>
                <a:ea typeface="House Movements Runway"/>
                <a:cs typeface="House Movements Runway"/>
              </a:rPr>
              <a:t>Configuration</a:t>
            </a:r>
          </a:p>
        </p:txBody>
      </p:sp>
      <p:sp>
        <p:nvSpPr>
          <p:cNvPr id="6" name="object 6"/>
          <p:cNvSpPr txBox="1"/>
          <p:nvPr/>
        </p:nvSpPr>
        <p:spPr>
          <a:xfrm>
            <a:off x="418048" y="1176020"/>
            <a:ext cx="5535930" cy="1851661"/>
          </a:xfrm>
          <a:prstGeom prst="rect">
            <a:avLst/>
          </a:prstGeom>
        </p:spPr>
        <p:txBody>
          <a:bodyPr vert="horz" wrap="square" lIns="0" tIns="9525" rIns="0" bIns="0" rtlCol="0">
            <a:spAutoFit/>
          </a:bodyPr>
          <a:lstStyle/>
          <a:p>
            <a:pPr marL="355600" marR="5080" indent="-342900">
              <a:lnSpc>
                <a:spcPct val="100800"/>
              </a:lnSpc>
              <a:spcBef>
                <a:spcPts val="75"/>
              </a:spcBef>
              <a:buFont typeface="Wingdings" panose="05000000000000000000" pitchFamily="2" charset="2"/>
              <a:buChar char="q"/>
              <a:defRPr>
                <a:latin typeface="Ubuntu"/>
                <a:ea typeface="Ubuntu"/>
                <a:cs typeface="Ubuntu"/>
              </a:defRPr>
            </a:pPr>
            <a:r>
              <a:rPr lang="en-US" sz="2400" spc="-5" dirty="0">
                <a:latin typeface="Ubuntu"/>
                <a:cs typeface="Ubuntu"/>
              </a:rPr>
              <a:t>Spacecraft configuration </a:t>
            </a:r>
            <a:r>
              <a:rPr lang="en-US" sz="2400" dirty="0">
                <a:latin typeface="Ubuntu"/>
                <a:cs typeface="Ubuntu"/>
              </a:rPr>
              <a:t>is an </a:t>
            </a:r>
            <a:r>
              <a:rPr lang="en-US" sz="2400" dirty="0">
                <a:solidFill>
                  <a:srgbClr val="953735"/>
                </a:solidFill>
                <a:latin typeface="Ubuntu"/>
                <a:cs typeface="Ubuntu"/>
              </a:rPr>
              <a:t>overall </a:t>
            </a:r>
            <a:r>
              <a:rPr lang="en-US" sz="2400" spc="5" dirty="0">
                <a:solidFill>
                  <a:srgbClr val="953735"/>
                </a:solidFill>
                <a:latin typeface="Ubuntu"/>
                <a:cs typeface="Ubuntu"/>
              </a:rPr>
              <a:t> </a:t>
            </a:r>
            <a:r>
              <a:rPr lang="en-US" sz="2400" dirty="0">
                <a:solidFill>
                  <a:srgbClr val="953735"/>
                </a:solidFill>
                <a:latin typeface="Ubuntu"/>
                <a:cs typeface="Ubuntu"/>
              </a:rPr>
              <a:t>arrangement</a:t>
            </a:r>
            <a:r>
              <a:rPr lang="en-US" sz="2400" spc="-25" dirty="0">
                <a:solidFill>
                  <a:srgbClr val="953735"/>
                </a:solidFill>
                <a:latin typeface="Ubuntu"/>
                <a:cs typeface="Ubuntu"/>
              </a:rPr>
              <a:t> </a:t>
            </a:r>
            <a:r>
              <a:rPr lang="en-US" sz="2400" dirty="0">
                <a:solidFill>
                  <a:srgbClr val="953735"/>
                </a:solidFill>
                <a:latin typeface="Ubuntu"/>
                <a:cs typeface="Ubuntu"/>
              </a:rPr>
              <a:t>of</a:t>
            </a:r>
            <a:r>
              <a:rPr lang="en-US" sz="2400" spc="-25" dirty="0">
                <a:solidFill>
                  <a:srgbClr val="953735"/>
                </a:solidFill>
                <a:latin typeface="Ubuntu"/>
                <a:cs typeface="Ubuntu"/>
              </a:rPr>
              <a:t> </a:t>
            </a:r>
            <a:r>
              <a:rPr lang="en-US" sz="2400" dirty="0">
                <a:solidFill>
                  <a:srgbClr val="953735"/>
                </a:solidFill>
                <a:latin typeface="Ubuntu"/>
                <a:cs typeface="Ubuntu"/>
              </a:rPr>
              <a:t>payload</a:t>
            </a:r>
            <a:r>
              <a:rPr lang="en-US" sz="2400" spc="-15" dirty="0">
                <a:solidFill>
                  <a:srgbClr val="953735"/>
                </a:solidFill>
                <a:latin typeface="Ubuntu"/>
                <a:cs typeface="Ubuntu"/>
              </a:rPr>
              <a:t> </a:t>
            </a:r>
            <a:r>
              <a:rPr lang="en-US" sz="2400" dirty="0">
                <a:solidFill>
                  <a:srgbClr val="953735"/>
                </a:solidFill>
                <a:latin typeface="Ubuntu"/>
                <a:cs typeface="Ubuntu"/>
              </a:rPr>
              <a:t>and</a:t>
            </a:r>
            <a:r>
              <a:rPr lang="en-US" sz="2400" spc="-20" dirty="0">
                <a:solidFill>
                  <a:srgbClr val="953735"/>
                </a:solidFill>
                <a:latin typeface="Ubuntu"/>
                <a:cs typeface="Ubuntu"/>
              </a:rPr>
              <a:t> </a:t>
            </a:r>
            <a:r>
              <a:rPr lang="en-US" sz="2400" spc="-5" dirty="0">
                <a:solidFill>
                  <a:srgbClr val="953735"/>
                </a:solidFill>
                <a:latin typeface="Ubuntu"/>
                <a:cs typeface="Ubuntu"/>
              </a:rPr>
              <a:t>subsystems </a:t>
            </a:r>
            <a:r>
              <a:rPr lang="en-US" sz="2400" spc="-655" dirty="0">
                <a:solidFill>
                  <a:srgbClr val="953735"/>
                </a:solidFill>
                <a:latin typeface="Ubuntu"/>
                <a:cs typeface="Ubuntu"/>
              </a:rPr>
              <a:t> </a:t>
            </a:r>
            <a:r>
              <a:rPr lang="en-US" sz="2400" dirty="0">
                <a:solidFill>
                  <a:srgbClr val="953735"/>
                </a:solidFill>
                <a:latin typeface="Ubuntu"/>
                <a:cs typeface="Ubuntu"/>
              </a:rPr>
              <a:t>inside </a:t>
            </a:r>
            <a:r>
              <a:rPr lang="en-US" sz="2400" spc="-5" dirty="0">
                <a:solidFill>
                  <a:srgbClr val="953735"/>
                </a:solidFill>
                <a:latin typeface="Ubuntu"/>
                <a:cs typeface="Ubuntu"/>
              </a:rPr>
              <a:t>the spacecraft </a:t>
            </a:r>
            <a:r>
              <a:rPr lang="en-US" sz="2400" dirty="0">
                <a:solidFill>
                  <a:srgbClr val="953735"/>
                </a:solidFill>
                <a:latin typeface="Ubuntu"/>
                <a:cs typeface="Ubuntu"/>
              </a:rPr>
              <a:t>body </a:t>
            </a:r>
            <a:r>
              <a:rPr lang="en-US" sz="2400" dirty="0">
                <a:solidFill>
                  <a:srgbClr val="0070C0"/>
                </a:solidFill>
                <a:latin typeface="Ubuntu"/>
                <a:cs typeface="Ubuntu"/>
              </a:rPr>
              <a:t>as well as an </a:t>
            </a:r>
            <a:r>
              <a:rPr lang="en-US" sz="2400" spc="5" dirty="0">
                <a:solidFill>
                  <a:srgbClr val="0070C0"/>
                </a:solidFill>
                <a:latin typeface="Ubuntu"/>
                <a:cs typeface="Ubuntu"/>
              </a:rPr>
              <a:t> </a:t>
            </a:r>
            <a:r>
              <a:rPr lang="en-US" sz="2400" spc="-5" dirty="0">
                <a:solidFill>
                  <a:srgbClr val="0070C0"/>
                </a:solidFill>
                <a:latin typeface="Ubuntu"/>
                <a:cs typeface="Ubuntu"/>
              </a:rPr>
              <a:t>external</a:t>
            </a:r>
            <a:r>
              <a:rPr lang="en-US" sz="2400" dirty="0">
                <a:solidFill>
                  <a:srgbClr val="0070C0"/>
                </a:solidFill>
                <a:latin typeface="Ubuntu"/>
                <a:cs typeface="Ubuntu"/>
              </a:rPr>
              <a:t> </a:t>
            </a:r>
            <a:r>
              <a:rPr lang="en-US" sz="2400" spc="-5" dirty="0">
                <a:solidFill>
                  <a:srgbClr val="0070C0"/>
                </a:solidFill>
                <a:latin typeface="Ubuntu"/>
                <a:cs typeface="Ubuntu"/>
              </a:rPr>
              <a:t>architecture</a:t>
            </a:r>
            <a:r>
              <a:rPr lang="en-US" sz="2400" dirty="0">
                <a:solidFill>
                  <a:srgbClr val="0070C0"/>
                </a:solidFill>
                <a:latin typeface="Ubuntu"/>
                <a:cs typeface="Ubuntu"/>
              </a:rPr>
              <a:t> of</a:t>
            </a:r>
            <a:r>
              <a:rPr lang="en-US" sz="2400" spc="-5" dirty="0">
                <a:solidFill>
                  <a:srgbClr val="0070C0"/>
                </a:solidFill>
                <a:latin typeface="Ubuntu"/>
                <a:cs typeface="Ubuntu"/>
              </a:rPr>
              <a:t> the</a:t>
            </a:r>
            <a:r>
              <a:rPr lang="en-US" sz="2400" dirty="0">
                <a:solidFill>
                  <a:srgbClr val="0070C0"/>
                </a:solidFill>
                <a:latin typeface="Ubuntu"/>
                <a:cs typeface="Ubuntu"/>
              </a:rPr>
              <a:t> </a:t>
            </a:r>
            <a:r>
              <a:rPr lang="en-US" sz="2400" spc="-5" dirty="0">
                <a:solidFill>
                  <a:srgbClr val="0070C0"/>
                </a:solidFill>
                <a:latin typeface="Ubuntu"/>
                <a:cs typeface="Ubuntu"/>
              </a:rPr>
              <a:t>spacecraft</a:t>
            </a:r>
            <a:endParaRPr lang="en-US" sz="2400" dirty="0">
              <a:solidFill>
                <a:srgbClr val="0070C0"/>
              </a:solidFill>
              <a:latin typeface="Arial MT"/>
              <a:cs typeface="Arial MT"/>
            </a:endParaRPr>
          </a:p>
        </p:txBody>
      </p:sp>
      <p:pic>
        <p:nvPicPr>
          <p:cNvPr id="10" name="object 10"/>
          <p:cNvPicPr/>
          <p:nvPr/>
        </p:nvPicPr>
        <p:blipFill>
          <a:blip r:embed="rId2" cstate="print"/>
          <a:stretch>
            <a:fillRect/>
          </a:stretch>
        </p:blipFill>
        <p:spPr>
          <a:xfrm>
            <a:off x="6952410" y="998019"/>
            <a:ext cx="3167128" cy="2177158"/>
          </a:xfrm>
          <a:prstGeom prst="rect">
            <a:avLst/>
          </a:prstGeom>
        </p:spPr>
      </p:pic>
      <p:sp>
        <p:nvSpPr>
          <p:cNvPr id="11" name="object 11"/>
          <p:cNvSpPr txBox="1"/>
          <p:nvPr/>
        </p:nvSpPr>
        <p:spPr>
          <a:xfrm>
            <a:off x="6163527" y="6474459"/>
            <a:ext cx="4081779" cy="269240"/>
          </a:xfrm>
          <a:prstGeom prst="rect">
            <a:avLst/>
          </a:prstGeom>
        </p:spPr>
        <p:txBody>
          <a:bodyPr vert="horz" wrap="square" lIns="0" tIns="12700" rIns="0" bIns="0" rtlCol="0">
            <a:spAutoFit/>
          </a:bodyPr>
          <a:lstStyle/>
          <a:p>
            <a:pPr marL="12700">
              <a:lnSpc>
                <a:spcPct val="100000"/>
              </a:lnSpc>
              <a:spcBef>
                <a:spcPts val="100"/>
              </a:spcBef>
              <a:defRPr>
                <a:latin typeface="Ubuntu"/>
                <a:ea typeface="Ubuntu"/>
                <a:cs typeface="Ubuntu"/>
              </a:defRPr>
            </a:pPr>
            <a:r>
              <a:rPr sz="1600" b="1" spc="-5" dirty="0">
                <a:latin typeface="Ubuntu"/>
                <a:cs typeface="Ubuntu"/>
              </a:rPr>
              <a:t>Mars</a:t>
            </a:r>
            <a:r>
              <a:rPr sz="1600" b="1" spc="-10" dirty="0">
                <a:latin typeface="Ubuntu"/>
                <a:cs typeface="Ubuntu"/>
              </a:rPr>
              <a:t> </a:t>
            </a:r>
            <a:r>
              <a:rPr sz="1600" b="1" spc="-5" dirty="0">
                <a:latin typeface="Ubuntu"/>
                <a:cs typeface="Ubuntu"/>
              </a:rPr>
              <a:t>Global</a:t>
            </a:r>
            <a:r>
              <a:rPr sz="1600" b="1" spc="-10" dirty="0">
                <a:latin typeface="Ubuntu"/>
                <a:cs typeface="Ubuntu"/>
              </a:rPr>
              <a:t> </a:t>
            </a:r>
            <a:r>
              <a:rPr sz="1600" b="1" spc="-5" dirty="0">
                <a:latin typeface="Ubuntu"/>
                <a:cs typeface="Ubuntu"/>
              </a:rPr>
              <a:t>Surveyor</a:t>
            </a:r>
            <a:r>
              <a:rPr sz="1600" b="1" dirty="0">
                <a:latin typeface="Ubuntu"/>
                <a:cs typeface="Ubuntu"/>
              </a:rPr>
              <a:t> (1996</a:t>
            </a:r>
            <a:r>
              <a:rPr sz="1600" b="1" spc="-5" dirty="0">
                <a:latin typeface="Ubuntu"/>
                <a:cs typeface="Ubuntu"/>
              </a:rPr>
              <a:t> </a:t>
            </a:r>
            <a:r>
              <a:rPr sz="1600" b="1" dirty="0">
                <a:latin typeface="Ubuntu"/>
                <a:cs typeface="Ubuntu"/>
              </a:rPr>
              <a:t>–</a:t>
            </a:r>
            <a:r>
              <a:rPr sz="1600" b="1" spc="-5" dirty="0">
                <a:latin typeface="Ubuntu"/>
                <a:cs typeface="Ubuntu"/>
              </a:rPr>
              <a:t> </a:t>
            </a:r>
            <a:r>
              <a:rPr sz="1600" b="1" dirty="0">
                <a:latin typeface="Ubuntu"/>
                <a:cs typeface="Ubuntu"/>
              </a:rPr>
              <a:t>06),</a:t>
            </a:r>
            <a:r>
              <a:rPr sz="1600" b="1" spc="-5" dirty="0">
                <a:latin typeface="Ubuntu"/>
                <a:cs typeface="Ubuntu"/>
              </a:rPr>
              <a:t> Source:</a:t>
            </a:r>
            <a:r>
              <a:rPr sz="1600" b="1" spc="-10" dirty="0">
                <a:latin typeface="Ubuntu"/>
                <a:cs typeface="Ubuntu"/>
              </a:rPr>
              <a:t> </a:t>
            </a:r>
            <a:r>
              <a:rPr sz="1600" b="1" spc="-5" dirty="0">
                <a:latin typeface="Ubuntu"/>
                <a:cs typeface="Ubuntu"/>
              </a:rPr>
              <a:t>NASA</a:t>
            </a:r>
            <a:endParaRPr sz="1600" dirty="0">
              <a:latin typeface="Calibri"/>
              <a:cs typeface="Calibri"/>
            </a:endParaRPr>
          </a:p>
        </p:txBody>
      </p:sp>
      <p:sp>
        <p:nvSpPr>
          <p:cNvPr id="12" name="Slide Number Placeholder 7">
            <a:extLst>
              <a:ext uri="{FF2B5EF4-FFF2-40B4-BE49-F238E27FC236}">
                <a16:creationId xmlns:a16="http://schemas.microsoft.com/office/drawing/2014/main" id="{F59547AE-5354-E57C-9D5F-5CB000EBFA5A}"/>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5</a:t>
            </a:fld>
            <a:endParaRPr lang="en-US" sz="4800" b="1" dirty="0">
              <a:solidFill>
                <a:srgbClr val="FF0000"/>
              </a:solidFill>
            </a:endParaRPr>
          </a:p>
        </p:txBody>
      </p:sp>
      <p:pic>
        <p:nvPicPr>
          <p:cNvPr id="15" name="Picture 14">
            <a:extLst>
              <a:ext uri="{FF2B5EF4-FFF2-40B4-BE49-F238E27FC236}">
                <a16:creationId xmlns:a16="http://schemas.microsoft.com/office/drawing/2014/main" id="{5A0D062D-A699-3A6B-CE90-BFD8212AF719}"/>
              </a:ext>
            </a:extLst>
          </p:cNvPr>
          <p:cNvPicPr>
            <a:picLocks noChangeAspect="1"/>
          </p:cNvPicPr>
          <p:nvPr/>
        </p:nvPicPr>
        <p:blipFill>
          <a:blip r:embed="rId3"/>
          <a:stretch>
            <a:fillRect/>
          </a:stretch>
        </p:blipFill>
        <p:spPr>
          <a:xfrm>
            <a:off x="6400803" y="3363971"/>
            <a:ext cx="4825039" cy="3006160"/>
          </a:xfrm>
          <a:prstGeom prst="rect">
            <a:avLst/>
          </a:prstGeom>
        </p:spPr>
      </p:pic>
      <p:pic>
        <p:nvPicPr>
          <p:cNvPr id="17" name="Picture 16">
            <a:extLst>
              <a:ext uri="{FF2B5EF4-FFF2-40B4-BE49-F238E27FC236}">
                <a16:creationId xmlns:a16="http://schemas.microsoft.com/office/drawing/2014/main" id="{EE5494F0-75A8-F3F1-60DE-0F48D0BDA1D7}"/>
              </a:ext>
            </a:extLst>
          </p:cNvPr>
          <p:cNvPicPr>
            <a:picLocks noChangeAspect="1"/>
          </p:cNvPicPr>
          <p:nvPr/>
        </p:nvPicPr>
        <p:blipFill>
          <a:blip r:embed="rId4"/>
          <a:stretch>
            <a:fillRect/>
          </a:stretch>
        </p:blipFill>
        <p:spPr>
          <a:xfrm>
            <a:off x="339948" y="3175177"/>
            <a:ext cx="5330482" cy="3567564"/>
          </a:xfrm>
          <a:prstGeom prst="rect">
            <a:avLst/>
          </a:prstGeom>
        </p:spPr>
      </p:pic>
      <p:pic>
        <p:nvPicPr>
          <p:cNvPr id="18" name="Space Faculty logo" descr="sf_logo.png"/>
          <p:cNvPicPr>
            <a:picLocks noChangeAspect="1"/>
          </p:cNvPicPr>
          <p:nvPr/>
        </p:nvPicPr>
        <p:blipFill>
          <a:blip r:embed="rId5"/>
          <a:stretch>
            <a:fillRect/>
          </a:stretch>
        </p:blipFill>
        <p:spPr>
          <a:xfrm>
            <a:off x="10555526" y="54863"/>
            <a:ext cx="1523698" cy="4330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23615" y="292741"/>
            <a:ext cx="8944769"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spc="-5" dirty="0">
                <a:latin typeface="House Movements Runway" panose="020B0604020202020204" pitchFamily="34" charset="0"/>
                <a:cs typeface="House Movements Runway" panose="020B0604020202020204" pitchFamily="34" charset="0"/>
              </a:rPr>
              <a:t>Payload</a:t>
            </a:r>
            <a:r>
              <a:rPr sz="4000" b="1" spc="-15"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Design</a:t>
            </a:r>
            <a:r>
              <a:rPr sz="4000" b="1" spc="-20" dirty="0">
                <a:latin typeface="House Movements Runway" panose="020B0604020202020204" pitchFamily="34" charset="0"/>
                <a:cs typeface="House Movements Runway" panose="020B0604020202020204" pitchFamily="34" charset="0"/>
              </a:rPr>
              <a:t> </a:t>
            </a:r>
            <a:r>
              <a:rPr sz="4000" b="1" dirty="0">
                <a:latin typeface="House Movements Runway" panose="020B0604020202020204" pitchFamily="34" charset="0"/>
                <a:cs typeface="House Movements Runway" panose="020B0604020202020204" pitchFamily="34" charset="0"/>
              </a:rPr>
              <a:t>and</a:t>
            </a:r>
            <a:r>
              <a:rPr sz="4000" b="1" spc="-15" dirty="0">
                <a:latin typeface="House Movements Runway" panose="020B0604020202020204" pitchFamily="34" charset="0"/>
                <a:cs typeface="House Movements Runway" panose="020B0604020202020204" pitchFamily="34" charset="0"/>
              </a:rPr>
              <a:t> </a:t>
            </a:r>
            <a:r>
              <a:rPr sz="4000" b="1" dirty="0">
                <a:latin typeface="House Movements Runway" panose="020B0604020202020204" pitchFamily="34" charset="0"/>
                <a:cs typeface="House Movements Runway" panose="020B0604020202020204" pitchFamily="34" charset="0"/>
              </a:rPr>
              <a:t>Configuration</a:t>
            </a:r>
          </a:p>
        </p:txBody>
      </p:sp>
      <p:sp>
        <p:nvSpPr>
          <p:cNvPr id="3" name="object 3"/>
          <p:cNvSpPr txBox="1"/>
          <p:nvPr/>
        </p:nvSpPr>
        <p:spPr>
          <a:xfrm>
            <a:off x="0" y="1181725"/>
            <a:ext cx="10736453" cy="5252720"/>
          </a:xfrm>
          <a:prstGeom prst="rect">
            <a:avLst/>
          </a:prstGeom>
        </p:spPr>
        <p:txBody>
          <a:bodyPr vert="horz" wrap="square" lIns="0" tIns="76200" rIns="0" bIns="0" rtlCol="0">
            <a:spAutoFit/>
          </a:bodyPr>
          <a:lstStyle/>
          <a:p>
            <a:pPr marL="12700">
              <a:lnSpc>
                <a:spcPct val="100000"/>
              </a:lnSpc>
              <a:spcBef>
                <a:spcPts val="600"/>
              </a:spcBef>
              <a:defRPr>
                <a:latin typeface="Ubuntu"/>
                <a:ea typeface="Ubuntu"/>
                <a:cs typeface="Ubuntu"/>
              </a:defRPr>
            </a:pPr>
            <a:r>
              <a:rPr sz="2400" spc="-5" dirty="0">
                <a:latin typeface="Ubuntu"/>
                <a:cs typeface="Ubuntu"/>
              </a:rPr>
              <a:t>The</a:t>
            </a:r>
            <a:r>
              <a:rPr sz="2400" spc="-10" dirty="0">
                <a:latin typeface="Ubuntu"/>
                <a:cs typeface="Ubuntu"/>
              </a:rPr>
              <a:t> </a:t>
            </a:r>
            <a:r>
              <a:rPr sz="2400" spc="-5" dirty="0">
                <a:latin typeface="Ubuntu"/>
                <a:cs typeface="Ubuntu"/>
              </a:rPr>
              <a:t>following</a:t>
            </a:r>
            <a:r>
              <a:rPr sz="2400" spc="-10" dirty="0">
                <a:latin typeface="Ubuntu"/>
                <a:cs typeface="Ubuntu"/>
              </a:rPr>
              <a:t> </a:t>
            </a:r>
            <a:r>
              <a:rPr sz="2400" dirty="0">
                <a:latin typeface="Ubuntu"/>
                <a:cs typeface="Ubuntu"/>
              </a:rPr>
              <a:t>are</a:t>
            </a:r>
            <a:r>
              <a:rPr sz="2400" spc="-10" dirty="0">
                <a:latin typeface="Ubuntu"/>
                <a:cs typeface="Ubuntu"/>
              </a:rPr>
              <a:t> </a:t>
            </a:r>
            <a:r>
              <a:rPr sz="2400" spc="-5" dirty="0">
                <a:latin typeface="Ubuntu"/>
                <a:cs typeface="Ubuntu"/>
              </a:rPr>
              <a:t>the</a:t>
            </a:r>
            <a:r>
              <a:rPr sz="2400" spc="-10" dirty="0">
                <a:latin typeface="Ubuntu"/>
                <a:cs typeface="Ubuntu"/>
              </a:rPr>
              <a:t> </a:t>
            </a:r>
            <a:r>
              <a:rPr sz="2400" dirty="0">
                <a:latin typeface="Ubuntu"/>
                <a:cs typeface="Ubuntu"/>
              </a:rPr>
              <a:t>major</a:t>
            </a:r>
            <a:r>
              <a:rPr sz="2400" spc="-10" dirty="0">
                <a:latin typeface="Ubuntu"/>
                <a:cs typeface="Ubuntu"/>
              </a:rPr>
              <a:t> </a:t>
            </a:r>
            <a:r>
              <a:rPr sz="2400" dirty="0">
                <a:latin typeface="Ubuntu"/>
                <a:cs typeface="Ubuntu"/>
              </a:rPr>
              <a:t>payload</a:t>
            </a:r>
            <a:r>
              <a:rPr sz="2400" spc="-10" dirty="0">
                <a:latin typeface="Ubuntu"/>
                <a:cs typeface="Ubuntu"/>
              </a:rPr>
              <a:t> </a:t>
            </a:r>
            <a:r>
              <a:rPr sz="2400" dirty="0">
                <a:latin typeface="Ubuntu"/>
                <a:cs typeface="Ubuntu"/>
              </a:rPr>
              <a:t>design</a:t>
            </a:r>
            <a:r>
              <a:rPr sz="2400" spc="-10" dirty="0">
                <a:latin typeface="Ubuntu"/>
                <a:cs typeface="Ubuntu"/>
              </a:rPr>
              <a:t> </a:t>
            </a:r>
            <a:r>
              <a:rPr sz="2400" dirty="0">
                <a:latin typeface="Ubuntu"/>
                <a:cs typeface="Ubuntu"/>
              </a:rPr>
              <a:t>drivers:</a:t>
            </a:r>
          </a:p>
          <a:p>
            <a:pPr marL="355600" indent="-342900">
              <a:lnSpc>
                <a:spcPct val="100000"/>
              </a:lnSpc>
              <a:spcBef>
                <a:spcPts val="505"/>
              </a:spcBef>
              <a:buFont typeface="Wingdings" panose="05000000000000000000" pitchFamily="2" charset="2"/>
              <a:buChar char="q"/>
              <a:tabLst>
                <a:tab pos="354965" algn="l"/>
                <a:tab pos="355600" algn="l"/>
              </a:tabLst>
              <a:defRPr>
                <a:latin typeface="Ubuntu"/>
                <a:ea typeface="Ubuntu"/>
                <a:cs typeface="Ubuntu"/>
              </a:defRPr>
            </a:pPr>
            <a:r>
              <a:rPr sz="2400" spc="-5" dirty="0">
                <a:latin typeface="Ubuntu"/>
                <a:cs typeface="Ubuntu"/>
              </a:rPr>
              <a:t>The</a:t>
            </a:r>
            <a:r>
              <a:rPr sz="2400" spc="-10" dirty="0">
                <a:latin typeface="Ubuntu"/>
                <a:cs typeface="Ubuntu"/>
              </a:rPr>
              <a:t> </a:t>
            </a:r>
            <a:r>
              <a:rPr sz="2400" dirty="0">
                <a:latin typeface="Ubuntu"/>
                <a:cs typeface="Ubuntu"/>
              </a:rPr>
              <a:t>payload</a:t>
            </a:r>
            <a:r>
              <a:rPr sz="2400" spc="-5" dirty="0">
                <a:latin typeface="Ubuntu"/>
                <a:cs typeface="Ubuntu"/>
              </a:rPr>
              <a:t> constitutes </a:t>
            </a:r>
            <a:r>
              <a:rPr sz="2400" dirty="0">
                <a:latin typeface="Ubuntu"/>
                <a:cs typeface="Ubuntu"/>
              </a:rPr>
              <a:t>a</a:t>
            </a:r>
            <a:r>
              <a:rPr sz="2400" spc="-5" dirty="0">
                <a:latin typeface="Ubuntu"/>
                <a:cs typeface="Ubuntu"/>
              </a:rPr>
              <a:t> fundamental</a:t>
            </a:r>
            <a:r>
              <a:rPr sz="2400" dirty="0">
                <a:latin typeface="Ubuntu"/>
                <a:cs typeface="Ubuntu"/>
              </a:rPr>
              <a:t> design</a:t>
            </a:r>
            <a:r>
              <a:rPr sz="2400" spc="-5" dirty="0">
                <a:latin typeface="Ubuntu"/>
                <a:cs typeface="Ubuntu"/>
              </a:rPr>
              <a:t> </a:t>
            </a:r>
            <a:r>
              <a:rPr sz="2400" dirty="0">
                <a:latin typeface="Ubuntu"/>
                <a:cs typeface="Ubuntu"/>
              </a:rPr>
              <a:t>driver:</a:t>
            </a:r>
          </a:p>
          <a:p>
            <a:pPr marL="822960" lvl="1" indent="-342900">
              <a:lnSpc>
                <a:spcPct val="100000"/>
              </a:lnSpc>
              <a:spcBef>
                <a:spcPts val="530"/>
              </a:spcBef>
              <a:buFont typeface="Wingdings" panose="05000000000000000000" pitchFamily="2" charset="2"/>
              <a:buChar char="Ø"/>
              <a:tabLst>
                <a:tab pos="734695" algn="l"/>
              </a:tabLst>
              <a:defRPr>
                <a:latin typeface="Ubuntu"/>
                <a:ea typeface="Ubuntu"/>
                <a:cs typeface="Ubuntu"/>
              </a:defRPr>
            </a:pPr>
            <a:r>
              <a:rPr sz="2400" dirty="0">
                <a:latin typeface="Ubuntu"/>
                <a:cs typeface="Ubuntu"/>
              </a:rPr>
              <a:t>Number</a:t>
            </a:r>
            <a:r>
              <a:rPr sz="2400" spc="-10" dirty="0">
                <a:latin typeface="Ubuntu"/>
                <a:cs typeface="Ubuntu"/>
              </a:rPr>
              <a:t> </a:t>
            </a:r>
            <a:r>
              <a:rPr sz="2400" dirty="0">
                <a:latin typeface="Ubuntu"/>
                <a:cs typeface="Ubuntu"/>
              </a:rPr>
              <a:t>of</a:t>
            </a:r>
            <a:r>
              <a:rPr sz="2400" spc="-15" dirty="0">
                <a:latin typeface="Ubuntu"/>
                <a:cs typeface="Ubuntu"/>
              </a:rPr>
              <a:t> </a:t>
            </a:r>
            <a:r>
              <a:rPr sz="2400" spc="-5" dirty="0">
                <a:latin typeface="Ubuntu"/>
                <a:cs typeface="Ubuntu"/>
              </a:rPr>
              <a:t>instruments/equipment</a:t>
            </a:r>
            <a:endParaRPr sz="2400" dirty="0">
              <a:latin typeface="Arial MT"/>
              <a:cs typeface="Arial MT"/>
            </a:endParaRPr>
          </a:p>
          <a:p>
            <a:pPr marL="822326" lvl="1" indent="-342900">
              <a:lnSpc>
                <a:spcPct val="100000"/>
              </a:lnSpc>
              <a:spcBef>
                <a:spcPts val="525"/>
              </a:spcBef>
              <a:buFont typeface="Wingdings" panose="05000000000000000000" pitchFamily="2" charset="2"/>
              <a:buChar char="Ø"/>
              <a:tabLst>
                <a:tab pos="729615" algn="l"/>
              </a:tabLst>
              <a:defRPr>
                <a:latin typeface="Ubuntu"/>
                <a:ea typeface="Ubuntu"/>
                <a:cs typeface="Ubuntu"/>
              </a:defRPr>
            </a:pPr>
            <a:r>
              <a:rPr sz="2400" spc="-5" dirty="0">
                <a:latin typeface="Ubuntu"/>
                <a:cs typeface="Ubuntu"/>
              </a:rPr>
              <a:t>Their </a:t>
            </a:r>
            <a:r>
              <a:rPr sz="2400" dirty="0">
                <a:latin typeface="Ubuntu"/>
                <a:cs typeface="Ubuntu"/>
              </a:rPr>
              <a:t>mass,</a:t>
            </a:r>
            <a:r>
              <a:rPr sz="2400" spc="-10" dirty="0">
                <a:latin typeface="Ubuntu"/>
                <a:cs typeface="Ubuntu"/>
              </a:rPr>
              <a:t> </a:t>
            </a:r>
            <a:r>
              <a:rPr sz="2400" dirty="0">
                <a:latin typeface="Ubuntu"/>
                <a:cs typeface="Ubuntu"/>
              </a:rPr>
              <a:t>size,</a:t>
            </a:r>
            <a:r>
              <a:rPr sz="2400" spc="-5" dirty="0">
                <a:latin typeface="Ubuntu"/>
                <a:cs typeface="Ubuntu"/>
              </a:rPr>
              <a:t> </a:t>
            </a:r>
            <a:r>
              <a:rPr sz="2400" spc="-25" dirty="0">
                <a:latin typeface="Ubuntu"/>
                <a:cs typeface="Ubuntu"/>
              </a:rPr>
              <a:t>power,</a:t>
            </a:r>
            <a:r>
              <a:rPr sz="2400" spc="-10" dirty="0">
                <a:latin typeface="Ubuntu"/>
                <a:cs typeface="Ubuntu"/>
              </a:rPr>
              <a:t> </a:t>
            </a:r>
            <a:r>
              <a:rPr sz="2400" spc="-5" dirty="0">
                <a:latin typeface="Ubuntu"/>
                <a:cs typeface="Ubuntu"/>
              </a:rPr>
              <a:t>field</a:t>
            </a:r>
            <a:r>
              <a:rPr sz="2400" dirty="0">
                <a:latin typeface="Ubuntu"/>
                <a:cs typeface="Ubuntu"/>
              </a:rPr>
              <a:t> of</a:t>
            </a:r>
            <a:r>
              <a:rPr sz="2400" spc="-10" dirty="0">
                <a:latin typeface="Ubuntu"/>
                <a:cs typeface="Ubuntu"/>
              </a:rPr>
              <a:t> </a:t>
            </a:r>
            <a:r>
              <a:rPr sz="2400" spc="-30" dirty="0">
                <a:latin typeface="Ubuntu"/>
                <a:cs typeface="Ubuntu"/>
              </a:rPr>
              <a:t>view,</a:t>
            </a:r>
            <a:r>
              <a:rPr sz="2400" spc="-5" dirty="0">
                <a:latin typeface="Ubuntu"/>
                <a:cs typeface="Ubuntu"/>
              </a:rPr>
              <a:t> data rate, etc.</a:t>
            </a:r>
            <a:endParaRPr sz="2400" dirty="0">
              <a:latin typeface="Arial MT"/>
              <a:cs typeface="Arial MT"/>
            </a:endParaRPr>
          </a:p>
          <a:p>
            <a:pPr marL="355600" indent="-342900">
              <a:lnSpc>
                <a:spcPct val="100000"/>
              </a:lnSpc>
              <a:spcBef>
                <a:spcPts val="1010"/>
              </a:spcBef>
              <a:buFont typeface="Wingdings" panose="05000000000000000000" pitchFamily="2" charset="2"/>
              <a:buChar char="q"/>
              <a:tabLst>
                <a:tab pos="354965" algn="l"/>
                <a:tab pos="355600" algn="l"/>
              </a:tabLst>
              <a:defRPr>
                <a:latin typeface="Ubuntu"/>
                <a:ea typeface="Ubuntu"/>
                <a:cs typeface="Ubuntu"/>
              </a:defRPr>
            </a:pPr>
            <a:r>
              <a:rPr sz="2400" spc="-5" dirty="0">
                <a:latin typeface="Ubuntu"/>
                <a:cs typeface="Ubuntu"/>
              </a:rPr>
              <a:t>The</a:t>
            </a:r>
            <a:r>
              <a:rPr sz="2400" spc="-10" dirty="0">
                <a:latin typeface="Ubuntu"/>
                <a:cs typeface="Ubuntu"/>
              </a:rPr>
              <a:t> </a:t>
            </a:r>
            <a:r>
              <a:rPr sz="2400" dirty="0">
                <a:latin typeface="Ubuntu"/>
                <a:cs typeface="Ubuntu"/>
              </a:rPr>
              <a:t>payload</a:t>
            </a:r>
            <a:r>
              <a:rPr sz="2400" spc="-5" dirty="0">
                <a:latin typeface="Ubuntu"/>
                <a:cs typeface="Ubuntu"/>
              </a:rPr>
              <a:t> </a:t>
            </a:r>
            <a:r>
              <a:rPr sz="2400" dirty="0">
                <a:latin typeface="Ubuntu"/>
                <a:cs typeface="Ubuntu"/>
              </a:rPr>
              <a:t>orbit</a:t>
            </a:r>
            <a:r>
              <a:rPr sz="2400" spc="-10" dirty="0">
                <a:latin typeface="Ubuntu"/>
                <a:cs typeface="Ubuntu"/>
              </a:rPr>
              <a:t> </a:t>
            </a:r>
            <a:r>
              <a:rPr sz="2400" dirty="0">
                <a:latin typeface="Ubuntu"/>
                <a:cs typeface="Ubuntu"/>
              </a:rPr>
              <a:t>needs:</a:t>
            </a:r>
          </a:p>
          <a:p>
            <a:pPr marL="822960" lvl="1" indent="-342900">
              <a:lnSpc>
                <a:spcPct val="100000"/>
              </a:lnSpc>
              <a:spcBef>
                <a:spcPts val="430"/>
              </a:spcBef>
              <a:buFont typeface="Wingdings" panose="05000000000000000000" pitchFamily="2" charset="2"/>
              <a:buChar char="Ø"/>
              <a:tabLst>
                <a:tab pos="734695" algn="l"/>
              </a:tabLst>
              <a:defRPr>
                <a:latin typeface="Ubuntu"/>
                <a:ea typeface="Ubuntu"/>
                <a:cs typeface="Ubuntu"/>
              </a:defRPr>
            </a:pPr>
            <a:r>
              <a:rPr sz="2400" spc="-5" dirty="0">
                <a:latin typeface="Ubuntu"/>
                <a:cs typeface="Ubuntu"/>
              </a:rPr>
              <a:t>Where to operate? (LEO,</a:t>
            </a:r>
            <a:r>
              <a:rPr sz="2400" spc="-10" dirty="0">
                <a:latin typeface="Ubuntu"/>
                <a:cs typeface="Ubuntu"/>
              </a:rPr>
              <a:t> </a:t>
            </a:r>
            <a:r>
              <a:rPr sz="2400" spc="-5" dirty="0">
                <a:latin typeface="Ubuntu"/>
                <a:cs typeface="Ubuntu"/>
              </a:rPr>
              <a:t>GEO,</a:t>
            </a:r>
            <a:r>
              <a:rPr sz="2400" spc="-10" dirty="0">
                <a:latin typeface="Ubuntu"/>
                <a:cs typeface="Ubuntu"/>
              </a:rPr>
              <a:t> </a:t>
            </a:r>
            <a:r>
              <a:rPr sz="2400" spc="-5" dirty="0">
                <a:latin typeface="Ubuntu"/>
                <a:cs typeface="Ubuntu"/>
              </a:rPr>
              <a:t>HEO,</a:t>
            </a:r>
            <a:r>
              <a:rPr sz="2400" spc="-10" dirty="0">
                <a:latin typeface="Ubuntu"/>
                <a:cs typeface="Ubuntu"/>
              </a:rPr>
              <a:t> </a:t>
            </a:r>
            <a:r>
              <a:rPr sz="2400" spc="-5" dirty="0">
                <a:latin typeface="Ubuntu"/>
                <a:cs typeface="Ubuntu"/>
              </a:rPr>
              <a:t>etc)</a:t>
            </a:r>
            <a:endParaRPr sz="2400" dirty="0">
              <a:latin typeface="Arial MT"/>
              <a:cs typeface="Arial MT"/>
            </a:endParaRPr>
          </a:p>
          <a:p>
            <a:pPr marL="822960" lvl="1" indent="-342900">
              <a:lnSpc>
                <a:spcPct val="100000"/>
              </a:lnSpc>
              <a:spcBef>
                <a:spcPts val="505"/>
              </a:spcBef>
              <a:buFont typeface="Wingdings" panose="05000000000000000000" pitchFamily="2" charset="2"/>
              <a:buChar char="Ø"/>
              <a:tabLst>
                <a:tab pos="734695" algn="l"/>
              </a:tabLst>
              <a:defRPr>
                <a:latin typeface="Ubuntu"/>
                <a:ea typeface="Ubuntu"/>
                <a:cs typeface="Ubuntu"/>
              </a:defRPr>
            </a:pPr>
            <a:r>
              <a:rPr sz="2400" dirty="0">
                <a:latin typeface="Ubuntu"/>
                <a:cs typeface="Ubuntu"/>
              </a:rPr>
              <a:t>How</a:t>
            </a:r>
            <a:r>
              <a:rPr sz="2400" spc="-10" dirty="0">
                <a:latin typeface="Ubuntu"/>
                <a:cs typeface="Ubuntu"/>
              </a:rPr>
              <a:t> </a:t>
            </a:r>
            <a:r>
              <a:rPr sz="2400" spc="-5" dirty="0">
                <a:latin typeface="Ubuntu"/>
                <a:cs typeface="Ubuntu"/>
              </a:rPr>
              <a:t>to</a:t>
            </a:r>
            <a:r>
              <a:rPr sz="2400" spc="-10" dirty="0">
                <a:latin typeface="Ubuntu"/>
                <a:cs typeface="Ubuntu"/>
              </a:rPr>
              <a:t> </a:t>
            </a:r>
            <a:r>
              <a:rPr sz="2400" dirty="0">
                <a:latin typeface="Ubuntu"/>
                <a:cs typeface="Ubuntu"/>
              </a:rPr>
              <a:t>get</a:t>
            </a:r>
            <a:r>
              <a:rPr sz="2400" spc="-15" dirty="0">
                <a:latin typeface="Ubuntu"/>
                <a:cs typeface="Ubuntu"/>
              </a:rPr>
              <a:t> </a:t>
            </a:r>
            <a:r>
              <a:rPr sz="2400" spc="-5" dirty="0">
                <a:latin typeface="Ubuntu"/>
                <a:cs typeface="Ubuntu"/>
              </a:rPr>
              <a:t>there</a:t>
            </a:r>
            <a:r>
              <a:rPr sz="2400" spc="-10" dirty="0">
                <a:latin typeface="Ubuntu"/>
                <a:cs typeface="Ubuntu"/>
              </a:rPr>
              <a:t> </a:t>
            </a:r>
            <a:r>
              <a:rPr sz="2400" dirty="0">
                <a:latin typeface="Ubuntu"/>
                <a:cs typeface="Ubuntu"/>
              </a:rPr>
              <a:t>and</a:t>
            </a:r>
            <a:r>
              <a:rPr sz="2400" spc="-10" dirty="0">
                <a:latin typeface="Ubuntu"/>
                <a:cs typeface="Ubuntu"/>
              </a:rPr>
              <a:t> </a:t>
            </a:r>
            <a:r>
              <a:rPr sz="2400" dirty="0">
                <a:latin typeface="Ubuntu"/>
                <a:cs typeface="Ubuntu"/>
              </a:rPr>
              <a:t>remain</a:t>
            </a:r>
            <a:r>
              <a:rPr sz="2400" spc="-10" dirty="0">
                <a:latin typeface="Ubuntu"/>
                <a:cs typeface="Ubuntu"/>
              </a:rPr>
              <a:t> </a:t>
            </a:r>
            <a:r>
              <a:rPr sz="2400" dirty="0">
                <a:latin typeface="Ubuntu"/>
                <a:cs typeface="Ubuntu"/>
              </a:rPr>
              <a:t>in</a:t>
            </a:r>
            <a:r>
              <a:rPr sz="2400" spc="-10" dirty="0">
                <a:latin typeface="Ubuntu"/>
                <a:cs typeface="Ubuntu"/>
              </a:rPr>
              <a:t> </a:t>
            </a:r>
            <a:r>
              <a:rPr sz="2400" dirty="0">
                <a:latin typeface="Ubuntu"/>
                <a:cs typeface="Ubuntu"/>
              </a:rPr>
              <a:t>desired</a:t>
            </a:r>
            <a:r>
              <a:rPr sz="2400" spc="-10" dirty="0">
                <a:latin typeface="Ubuntu"/>
                <a:cs typeface="Ubuntu"/>
              </a:rPr>
              <a:t> </a:t>
            </a:r>
            <a:r>
              <a:rPr sz="2400" spc="-5" dirty="0">
                <a:latin typeface="Ubuntu"/>
                <a:cs typeface="Ubuntu"/>
              </a:rPr>
              <a:t>orbit?</a:t>
            </a:r>
            <a:endParaRPr sz="2400" dirty="0">
              <a:latin typeface="Arial MT"/>
              <a:cs typeface="Arial MT"/>
            </a:endParaRPr>
          </a:p>
          <a:p>
            <a:pPr marL="822960" lvl="1" indent="-342900">
              <a:lnSpc>
                <a:spcPct val="100000"/>
              </a:lnSpc>
              <a:spcBef>
                <a:spcPts val="530"/>
              </a:spcBef>
              <a:buFont typeface="Wingdings" panose="05000000000000000000" pitchFamily="2" charset="2"/>
              <a:buChar char="Ø"/>
              <a:tabLst>
                <a:tab pos="734695" algn="l"/>
              </a:tabLst>
              <a:defRPr>
                <a:latin typeface="Ubuntu"/>
                <a:ea typeface="Ubuntu"/>
                <a:cs typeface="Ubuntu"/>
              </a:defRPr>
            </a:pPr>
            <a:r>
              <a:rPr sz="2400" spc="-5" dirty="0">
                <a:latin typeface="Ubuntu"/>
                <a:cs typeface="Ubuntu"/>
              </a:rPr>
              <a:t>Where</a:t>
            </a:r>
            <a:r>
              <a:rPr sz="2400" spc="-10" dirty="0">
                <a:latin typeface="Ubuntu"/>
                <a:cs typeface="Ubuntu"/>
              </a:rPr>
              <a:t> </a:t>
            </a:r>
            <a:r>
              <a:rPr sz="2400" dirty="0">
                <a:latin typeface="Ubuntu"/>
                <a:cs typeface="Ubuntu"/>
              </a:rPr>
              <a:t>and</a:t>
            </a:r>
            <a:r>
              <a:rPr sz="2400" spc="-5" dirty="0">
                <a:latin typeface="Ubuntu"/>
                <a:cs typeface="Ubuntu"/>
              </a:rPr>
              <a:t> </a:t>
            </a:r>
            <a:r>
              <a:rPr sz="2400" dirty="0">
                <a:latin typeface="Ubuntu"/>
                <a:cs typeface="Ubuntu"/>
              </a:rPr>
              <a:t>how </a:t>
            </a:r>
            <a:r>
              <a:rPr sz="2400" spc="-5" dirty="0">
                <a:latin typeface="Ubuntu"/>
                <a:cs typeface="Ubuntu"/>
              </a:rPr>
              <a:t>accurately to point?</a:t>
            </a:r>
            <a:endParaRPr sz="2400" dirty="0">
              <a:latin typeface="Arial MT"/>
              <a:cs typeface="Arial MT"/>
            </a:endParaRPr>
          </a:p>
          <a:p>
            <a:pPr marL="355600" marR="5080" indent="-342900">
              <a:lnSpc>
                <a:spcPct val="100000"/>
              </a:lnSpc>
              <a:spcBef>
                <a:spcPts val="1030"/>
              </a:spcBef>
              <a:buFont typeface="Wingdings" panose="05000000000000000000" pitchFamily="2" charset="2"/>
              <a:buChar char="q"/>
              <a:tabLst>
                <a:tab pos="354965" algn="l"/>
                <a:tab pos="355600" algn="l"/>
              </a:tabLst>
              <a:defRPr>
                <a:latin typeface="Ubuntu"/>
                <a:ea typeface="Ubuntu"/>
                <a:cs typeface="Ubuntu"/>
              </a:defRPr>
            </a:pPr>
            <a:r>
              <a:rPr sz="2400" spc="-5" dirty="0">
                <a:latin typeface="Ubuntu"/>
                <a:cs typeface="Ubuntu"/>
              </a:rPr>
              <a:t>The </a:t>
            </a:r>
            <a:r>
              <a:rPr sz="2400" dirty="0">
                <a:latin typeface="Ubuntu"/>
                <a:cs typeface="Ubuntu"/>
              </a:rPr>
              <a:t>rest of </a:t>
            </a:r>
            <a:r>
              <a:rPr sz="2400" spc="-5" dirty="0">
                <a:latin typeface="Ubuntu"/>
                <a:cs typeface="Ubuntu"/>
              </a:rPr>
              <a:t>the spacecraft </a:t>
            </a:r>
            <a:r>
              <a:rPr sz="2400" dirty="0">
                <a:latin typeface="Ubuntu"/>
                <a:cs typeface="Ubuntu"/>
              </a:rPr>
              <a:t>is really </a:t>
            </a:r>
            <a:r>
              <a:rPr sz="2400" spc="-5" dirty="0">
                <a:latin typeface="Ubuntu"/>
                <a:cs typeface="Ubuntu"/>
              </a:rPr>
              <a:t>there </a:t>
            </a:r>
            <a:r>
              <a:rPr sz="2400" dirty="0">
                <a:latin typeface="Ubuntu"/>
                <a:cs typeface="Ubuntu"/>
              </a:rPr>
              <a:t>just </a:t>
            </a:r>
            <a:r>
              <a:rPr sz="2400" spc="-5" dirty="0">
                <a:latin typeface="Ubuntu"/>
                <a:cs typeface="Ubuntu"/>
              </a:rPr>
              <a:t>to satisfy the </a:t>
            </a:r>
            <a:r>
              <a:rPr sz="2400" dirty="0">
                <a:latin typeface="Ubuntu"/>
                <a:cs typeface="Ubuntu"/>
              </a:rPr>
              <a:t>payload and mission </a:t>
            </a:r>
            <a:r>
              <a:rPr sz="2400" spc="-655" dirty="0">
                <a:latin typeface="Ubuntu"/>
                <a:cs typeface="Ubuntu"/>
              </a:rPr>
              <a:t> </a:t>
            </a:r>
            <a:r>
              <a:rPr sz="2400" spc="-5" dirty="0">
                <a:latin typeface="Ubuntu"/>
                <a:cs typeface="Ubuntu"/>
              </a:rPr>
              <a:t>objectives</a:t>
            </a:r>
            <a:r>
              <a:rPr sz="2400" spc="-10" dirty="0">
                <a:latin typeface="Ubuntu"/>
                <a:cs typeface="Ubuntu"/>
              </a:rPr>
              <a:t> </a:t>
            </a:r>
            <a:r>
              <a:rPr sz="2400" dirty="0">
                <a:latin typeface="Ubuntu"/>
                <a:cs typeface="Ubuntu"/>
              </a:rPr>
              <a:t>in</a:t>
            </a:r>
            <a:r>
              <a:rPr sz="2400" spc="-5" dirty="0">
                <a:latin typeface="Ubuntu"/>
                <a:cs typeface="Ubuntu"/>
              </a:rPr>
              <a:t> terms of:</a:t>
            </a:r>
            <a:endParaRPr sz="2400" dirty="0">
              <a:latin typeface="Arial MT"/>
              <a:cs typeface="Arial MT"/>
            </a:endParaRPr>
          </a:p>
          <a:p>
            <a:pPr marL="822960" lvl="1" indent="-342900">
              <a:lnSpc>
                <a:spcPct val="100000"/>
              </a:lnSpc>
              <a:spcBef>
                <a:spcPts val="434"/>
              </a:spcBef>
              <a:buFont typeface="Wingdings" panose="05000000000000000000" pitchFamily="2" charset="2"/>
              <a:buChar char="Ø"/>
              <a:tabLst>
                <a:tab pos="734695" algn="l"/>
              </a:tabLst>
              <a:defRPr>
                <a:latin typeface="Ubuntu"/>
                <a:ea typeface="Ubuntu"/>
                <a:cs typeface="Ubuntu"/>
              </a:defRPr>
            </a:pPr>
            <a:r>
              <a:rPr sz="2400" dirty="0">
                <a:latin typeface="Ubuntu"/>
                <a:cs typeface="Ubuntu"/>
              </a:rPr>
              <a:t>Mechanical</a:t>
            </a:r>
            <a:r>
              <a:rPr sz="2400" spc="-50" dirty="0">
                <a:latin typeface="Ubuntu"/>
                <a:cs typeface="Ubuntu"/>
              </a:rPr>
              <a:t> </a:t>
            </a:r>
            <a:r>
              <a:rPr sz="2400" dirty="0">
                <a:latin typeface="Ubuntu"/>
                <a:cs typeface="Ubuntu"/>
              </a:rPr>
              <a:t>support</a:t>
            </a:r>
          </a:p>
          <a:p>
            <a:pPr marL="822326" lvl="1" indent="-342900">
              <a:lnSpc>
                <a:spcPct val="100000"/>
              </a:lnSpc>
              <a:spcBef>
                <a:spcPts val="525"/>
              </a:spcBef>
              <a:buFont typeface="Wingdings" panose="05000000000000000000" pitchFamily="2" charset="2"/>
              <a:buChar char="Ø"/>
              <a:tabLst>
                <a:tab pos="729615" algn="l"/>
              </a:tabLst>
              <a:defRPr>
                <a:latin typeface="Ubuntu"/>
                <a:ea typeface="Ubuntu"/>
                <a:cs typeface="Ubuntu"/>
              </a:defRPr>
            </a:pPr>
            <a:r>
              <a:rPr sz="2400" spc="-5" dirty="0">
                <a:latin typeface="Ubuntu"/>
                <a:cs typeface="Ubuntu"/>
              </a:rPr>
              <a:t>Thermal control,</a:t>
            </a:r>
            <a:r>
              <a:rPr sz="2400" spc="-15" dirty="0">
                <a:latin typeface="Ubuntu"/>
                <a:cs typeface="Ubuntu"/>
              </a:rPr>
              <a:t> </a:t>
            </a:r>
            <a:r>
              <a:rPr sz="2400" spc="-5" dirty="0" err="1">
                <a:latin typeface="Ubuntu"/>
                <a:cs typeface="Ubuntu"/>
              </a:rPr>
              <a:t>et</a:t>
            </a:r>
            <a:r>
              <a:rPr lang="en-US" sz="2400" spc="-5" dirty="0" err="1">
                <a:latin typeface="Ubuntu"/>
                <a:cs typeface="Ubuntu"/>
              </a:rPr>
              <a:t>c</a:t>
            </a:r>
            <a:endParaRPr lang="en-US" sz="2400" spc="-5" dirty="0">
              <a:latin typeface="Arial MT"/>
              <a:cs typeface="Arial MT"/>
            </a:endParaRPr>
          </a:p>
        </p:txBody>
      </p:sp>
      <p:sp>
        <p:nvSpPr>
          <p:cNvPr id="6" name="Slide Number Placeholder 7">
            <a:extLst>
              <a:ext uri="{FF2B5EF4-FFF2-40B4-BE49-F238E27FC236}">
                <a16:creationId xmlns:a16="http://schemas.microsoft.com/office/drawing/2014/main" id="{F03D40FF-EE3A-2DC8-765B-77E1AEB0FC2F}"/>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6</a:t>
            </a:fld>
            <a:endParaRPr lang="en-US" sz="4800" b="1" dirty="0">
              <a:solidFill>
                <a:srgbClr val="FF0000"/>
              </a:solidFill>
            </a:endParaRPr>
          </a:p>
        </p:txBody>
      </p:sp>
      <p:pic>
        <p:nvPicPr>
          <p:cNvPr id="7" name="Space Faculty logo" descr="sf_logo.png"/>
          <p:cNvPicPr>
            <a:picLocks noChangeAspect="1"/>
          </p:cNvPicPr>
          <p:nvPr/>
        </p:nvPicPr>
        <p:blipFill>
          <a:blip r:embed="rId2"/>
          <a:stretch>
            <a:fillRect/>
          </a:stretch>
        </p:blipFill>
        <p:spPr>
          <a:xfrm>
            <a:off x="10450226" y="54863"/>
            <a:ext cx="1628997" cy="4629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0" y="1381664"/>
            <a:ext cx="11492554" cy="3962400"/>
          </a:xfrm>
          <a:prstGeom prst="rect">
            <a:avLst/>
          </a:prstGeom>
        </p:spPr>
      </p:pic>
      <p:sp>
        <p:nvSpPr>
          <p:cNvPr id="3" name="object 3"/>
          <p:cNvSpPr txBox="1"/>
          <p:nvPr/>
        </p:nvSpPr>
        <p:spPr>
          <a:xfrm>
            <a:off x="444811" y="2029459"/>
            <a:ext cx="1393190" cy="565150"/>
          </a:xfrm>
          <a:prstGeom prst="rect">
            <a:avLst/>
          </a:prstGeom>
        </p:spPr>
        <p:txBody>
          <a:bodyPr vert="horz" wrap="square" lIns="0" tIns="28575" rIns="0" bIns="0" rtlCol="0">
            <a:spAutoFit/>
          </a:bodyPr>
          <a:lstStyle/>
          <a:p>
            <a:pPr marL="151130" marR="5080" indent="-139065">
              <a:lnSpc>
                <a:spcPts val="2090"/>
              </a:lnSpc>
              <a:spcBef>
                <a:spcPts val="225"/>
              </a:spcBef>
              <a:defRPr>
                <a:latin typeface="Ubuntu"/>
                <a:ea typeface="Ubuntu"/>
                <a:cs typeface="Ubuntu"/>
              </a:defRPr>
            </a:pPr>
            <a:r>
              <a:rPr sz="1800" b="1" spc="-5" dirty="0">
                <a:latin typeface="Ubuntu"/>
                <a:cs typeface="Ubuntu"/>
              </a:rPr>
              <a:t>Derived from </a:t>
            </a:r>
            <a:r>
              <a:rPr sz="1800" b="1" spc="-465" dirty="0">
                <a:latin typeface="Ubuntu"/>
                <a:cs typeface="Ubuntu"/>
              </a:rPr>
              <a:t> </a:t>
            </a:r>
            <a:r>
              <a:rPr sz="1800" b="1" spc="-5" dirty="0">
                <a:latin typeface="Ubuntu"/>
                <a:cs typeface="Ubuntu"/>
              </a:rPr>
              <a:t>User</a:t>
            </a:r>
            <a:r>
              <a:rPr sz="1800" b="1" spc="-30" dirty="0">
                <a:latin typeface="Ubuntu"/>
                <a:cs typeface="Ubuntu"/>
              </a:rPr>
              <a:t> </a:t>
            </a:r>
            <a:r>
              <a:rPr sz="1800" b="1" spc="-5" dirty="0">
                <a:latin typeface="Ubuntu"/>
                <a:cs typeface="Ubuntu"/>
              </a:rPr>
              <a:t>Need</a:t>
            </a:r>
            <a:endParaRPr sz="1800" b="1" dirty="0">
              <a:latin typeface="Microsoft Sans Serif"/>
              <a:cs typeface="Microsoft Sans Serif"/>
            </a:endParaRPr>
          </a:p>
        </p:txBody>
      </p:sp>
      <p:sp>
        <p:nvSpPr>
          <p:cNvPr id="4" name="object 4"/>
          <p:cNvSpPr txBox="1"/>
          <p:nvPr/>
        </p:nvSpPr>
        <p:spPr>
          <a:xfrm>
            <a:off x="4106618" y="311403"/>
            <a:ext cx="5570781"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spc="-5" dirty="0">
                <a:latin typeface="House Movements Runway" panose="020B0604020202020204" pitchFamily="34" charset="0"/>
                <a:cs typeface="House Movements Runway" panose="020B0604020202020204" pitchFamily="34" charset="0"/>
              </a:rPr>
              <a:t>Payload</a:t>
            </a:r>
            <a:r>
              <a:rPr sz="4000" b="1" spc="-25"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Design</a:t>
            </a:r>
            <a:r>
              <a:rPr sz="4000" b="1" spc="-25"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Flow</a:t>
            </a:r>
            <a:endParaRPr sz="4000" b="1" dirty="0">
              <a:latin typeface="Arial" panose="020B0604020202020204" pitchFamily="34" charset="0"/>
              <a:cs typeface="Arial" panose="020B0604020202020204" pitchFamily="34" charset="0"/>
            </a:endParaRPr>
          </a:p>
        </p:txBody>
      </p:sp>
      <p:sp>
        <p:nvSpPr>
          <p:cNvPr id="7" name="Slide Number Placeholder 7">
            <a:extLst>
              <a:ext uri="{FF2B5EF4-FFF2-40B4-BE49-F238E27FC236}">
                <a16:creationId xmlns:a16="http://schemas.microsoft.com/office/drawing/2014/main" id="{471B69DD-C63B-5A25-670C-097CE853AFD3}"/>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7</a:t>
            </a:fld>
            <a:endParaRPr lang="en-US" sz="4800" b="1" dirty="0">
              <a:solidFill>
                <a:srgbClr val="FF0000"/>
              </a:solidFill>
            </a:endParaRPr>
          </a:p>
        </p:txBody>
      </p:sp>
      <p:pic>
        <p:nvPicPr>
          <p:cNvPr id="8" name="Space Faculty logo" descr="sf_logo.png"/>
          <p:cNvPicPr>
            <a:picLocks noChangeAspect="1"/>
          </p:cNvPicPr>
          <p:nvPr/>
        </p:nvPicPr>
        <p:blipFill>
          <a:blip r:embed="rId4"/>
          <a:stretch>
            <a:fillRect/>
          </a:stretch>
        </p:blipFill>
        <p:spPr>
          <a:xfrm>
            <a:off x="10295160" y="54864"/>
            <a:ext cx="1784064" cy="5069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2832225" y="390604"/>
            <a:ext cx="6005009" cy="566928"/>
          </a:xfrm>
          <a:prstGeom prst="rect">
            <a:avLst/>
          </a:prstGeom>
          <a:noFill/>
          <a:ln/>
        </p:spPr>
        <p:txBody>
          <a:bodyPr wrap="square" lIns="0" tIns="0" rIns="0" bIns="0" rtlCol="0" anchor="ctr"/>
          <a:lstStyle/>
          <a:p>
            <a:pPr marL="0" indent="0">
              <a:buNone/>
              <a:defRPr>
                <a:latin typeface="House Movements Runway"/>
                <a:ea typeface="House Movements Runway"/>
                <a:cs typeface="House Movements Runway"/>
              </a:defRPr>
            </a:pPr>
            <a:r>
              <a:rPr lang="en-US" sz="4800" b="1" dirty="0">
                <a:solidFill>
                  <a:srgbClr val="1E2761"/>
                </a:solidFill>
                <a:latin typeface="House Movements Runway" pitchFamily="34" charset="0"/>
                <a:ea typeface="House Movements Runway" pitchFamily="34" charset="-122"/>
                <a:cs typeface="House Movements Runway" pitchFamily="34" charset="-120"/>
              </a:rPr>
              <a:t>Classifying Payloads</a:t>
            </a:r>
            <a:endParaRPr lang="en-US" sz="48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dirty="0">
                <a:solidFill>
                  <a:srgbClr val="5F6B8C"/>
                </a:solidFill>
                <a:latin typeface="Ubuntu" pitchFamily="34" charset="0"/>
                <a:ea typeface="Ubuntu" pitchFamily="34" charset="-122"/>
                <a:cs typeface="Ubuntu" pitchFamily="34" charset="-120"/>
              </a:rPr>
              <a:t>Payloads are described in two different ways: by what the instrument is, and by what the mission uses it for. The two overlap.</a:t>
            </a:r>
            <a:endParaRPr lang="en-US" dirty="0"/>
          </a:p>
        </p:txBody>
      </p:sp>
      <p:sp>
        <p:nvSpPr>
          <p:cNvPr id="6" name="Text 4"/>
          <p:cNvSpPr txBox="1"/>
          <p:nvPr/>
        </p:nvSpPr>
        <p:spPr>
          <a:xfrm>
            <a:off x="658368" y="1828800"/>
            <a:ext cx="5303520" cy="237744"/>
          </a:xfrm>
          <a:prstGeom prst="rect">
            <a:avLst/>
          </a:prstGeom>
          <a:noFill/>
          <a:ln/>
        </p:spPr>
        <p:txBody>
          <a:bodyPr wrap="square" lIns="0" tIns="0" rIns="0" bIns="0" rtlCol="0" anchor="ctr"/>
          <a:lstStyle/>
          <a:p>
            <a:pPr marL="0" indent="0">
              <a:buNone/>
              <a:defRPr>
                <a:latin typeface="Ubuntu"/>
                <a:ea typeface="Ubuntu"/>
                <a:cs typeface="Ubuntu"/>
              </a:defRPr>
            </a:pPr>
            <a:r>
              <a:rPr lang="en-US" sz="1000" b="1" kern="0" spc="130" dirty="0">
                <a:solidFill>
                  <a:srgbClr val="D85A30"/>
                </a:solidFill>
                <a:latin typeface="Ubuntu" pitchFamily="34" charset="0"/>
                <a:ea typeface="Ubuntu" pitchFamily="34" charset="-122"/>
                <a:cs typeface="Ubuntu" pitchFamily="34" charset="-120"/>
              </a:rPr>
              <a:t>BY INSTRUMENT</a:t>
            </a:r>
            <a:endParaRPr lang="en-US" sz="1000" dirty="0"/>
          </a:p>
        </p:txBody>
      </p:sp>
      <p:sp>
        <p:nvSpPr>
          <p:cNvPr id="7" name="Text 5"/>
          <p:cNvSpPr txBox="1"/>
          <p:nvPr/>
        </p:nvSpPr>
        <p:spPr>
          <a:xfrm>
            <a:off x="658368" y="2084832"/>
            <a:ext cx="5303520" cy="310896"/>
          </a:xfrm>
          <a:prstGeom prst="rect">
            <a:avLst/>
          </a:prstGeom>
          <a:noFill/>
          <a:ln/>
        </p:spPr>
        <p:txBody>
          <a:bodyPr wrap="square" lIns="0" tIns="0" rIns="0" bIns="0" rtlCol="0" anchor="ctr"/>
          <a:lstStyle/>
          <a:p>
            <a:pPr marL="0" indent="0">
              <a:buNone/>
              <a:defRPr>
                <a:latin typeface="Ubuntu"/>
                <a:ea typeface="Ubuntu"/>
                <a:cs typeface="Ubuntu"/>
              </a:defRPr>
            </a:pPr>
            <a:r>
              <a:rPr lang="en-US" sz="1700" b="1" dirty="0">
                <a:solidFill>
                  <a:srgbClr val="1E2761"/>
                </a:solidFill>
                <a:latin typeface="Ubuntu" pitchFamily="34" charset="0"/>
                <a:ea typeface="Ubuntu" pitchFamily="34" charset="-122"/>
                <a:cs typeface="Ubuntu" pitchFamily="34" charset="-120"/>
              </a:rPr>
              <a:t>What the hardware is</a:t>
            </a:r>
            <a:endParaRPr lang="en-US" sz="1700" dirty="0"/>
          </a:p>
        </p:txBody>
      </p:sp>
      <p:sp>
        <p:nvSpPr>
          <p:cNvPr id="8" name="Shape 6"/>
          <p:cNvSpPr/>
          <p:nvPr/>
        </p:nvSpPr>
        <p:spPr>
          <a:xfrm>
            <a:off x="658368" y="2487168"/>
            <a:ext cx="5303520" cy="548640"/>
          </a:xfrm>
          <a:prstGeom prst="roundRect">
            <a:avLst>
              <a:gd name="adj" fmla="val 8333"/>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9" name="Shape 7"/>
          <p:cNvSpPr/>
          <p:nvPr/>
        </p:nvSpPr>
        <p:spPr>
          <a:xfrm>
            <a:off x="658368" y="2487168"/>
            <a:ext cx="50292" cy="54864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0" name="Text 8"/>
          <p:cNvSpPr txBox="1"/>
          <p:nvPr/>
        </p:nvSpPr>
        <p:spPr>
          <a:xfrm>
            <a:off x="914400" y="2523744"/>
            <a:ext cx="484632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Imaging</a:t>
            </a:r>
            <a:endParaRPr lang="en-US" sz="1250" dirty="0"/>
          </a:p>
        </p:txBody>
      </p:sp>
      <p:sp>
        <p:nvSpPr>
          <p:cNvPr id="11" name="Text 9"/>
          <p:cNvSpPr txBox="1"/>
          <p:nvPr/>
        </p:nvSpPr>
        <p:spPr>
          <a:xfrm>
            <a:off x="914400" y="2761488"/>
            <a:ext cx="4828032"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3C4657"/>
                </a:solidFill>
                <a:latin typeface="Ubuntu" pitchFamily="34" charset="0"/>
                <a:ea typeface="Ubuntu" pitchFamily="34" charset="-122"/>
                <a:cs typeface="Ubuntu" pitchFamily="34" charset="-120"/>
              </a:rPr>
              <a:t>Visible, multispectral and hyperspectral cameras</a:t>
            </a:r>
            <a:endParaRPr lang="en-US" sz="1050" dirty="0"/>
          </a:p>
        </p:txBody>
      </p:sp>
      <p:sp>
        <p:nvSpPr>
          <p:cNvPr id="12" name="Shape 10"/>
          <p:cNvSpPr/>
          <p:nvPr/>
        </p:nvSpPr>
        <p:spPr>
          <a:xfrm>
            <a:off x="658368" y="3108960"/>
            <a:ext cx="5303520" cy="548640"/>
          </a:xfrm>
          <a:prstGeom prst="roundRect">
            <a:avLst>
              <a:gd name="adj" fmla="val 8333"/>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13" name="Shape 11"/>
          <p:cNvSpPr/>
          <p:nvPr/>
        </p:nvSpPr>
        <p:spPr>
          <a:xfrm>
            <a:off x="658368" y="3108960"/>
            <a:ext cx="50292" cy="54864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4" name="Text 12"/>
          <p:cNvSpPr txBox="1"/>
          <p:nvPr/>
        </p:nvSpPr>
        <p:spPr>
          <a:xfrm>
            <a:off x="914400" y="3145536"/>
            <a:ext cx="484632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Radio</a:t>
            </a:r>
            <a:endParaRPr lang="en-US" sz="1250" dirty="0"/>
          </a:p>
        </p:txBody>
      </p:sp>
      <p:sp>
        <p:nvSpPr>
          <p:cNvPr id="15" name="Text 13"/>
          <p:cNvSpPr txBox="1"/>
          <p:nvPr/>
        </p:nvSpPr>
        <p:spPr>
          <a:xfrm>
            <a:off x="914400" y="3383280"/>
            <a:ext cx="4828032"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3C4657"/>
                </a:solidFill>
                <a:latin typeface="Ubuntu" pitchFamily="34" charset="0"/>
                <a:ea typeface="Ubuntu" pitchFamily="34" charset="-122"/>
                <a:cs typeface="Ubuntu" pitchFamily="34" charset="-120"/>
              </a:rPr>
              <a:t>Transceivers, transponders, software-defined radios</a:t>
            </a:r>
            <a:endParaRPr lang="en-US" sz="1050" dirty="0"/>
          </a:p>
        </p:txBody>
      </p:sp>
      <p:sp>
        <p:nvSpPr>
          <p:cNvPr id="16" name="Shape 14"/>
          <p:cNvSpPr/>
          <p:nvPr/>
        </p:nvSpPr>
        <p:spPr>
          <a:xfrm>
            <a:off x="658368" y="3730752"/>
            <a:ext cx="5303520" cy="548640"/>
          </a:xfrm>
          <a:prstGeom prst="roundRect">
            <a:avLst>
              <a:gd name="adj" fmla="val 8333"/>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7" name="Shape 15"/>
          <p:cNvSpPr/>
          <p:nvPr/>
        </p:nvSpPr>
        <p:spPr>
          <a:xfrm>
            <a:off x="658368" y="3730752"/>
            <a:ext cx="50292" cy="54864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8" name="Text 16"/>
          <p:cNvSpPr txBox="1"/>
          <p:nvPr/>
        </p:nvSpPr>
        <p:spPr>
          <a:xfrm>
            <a:off x="914400" y="3767328"/>
            <a:ext cx="484632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Field and particle sensors</a:t>
            </a:r>
            <a:endParaRPr lang="en-US" sz="1250" dirty="0"/>
          </a:p>
        </p:txBody>
      </p:sp>
      <p:sp>
        <p:nvSpPr>
          <p:cNvPr id="19" name="Text 17"/>
          <p:cNvSpPr txBox="1"/>
          <p:nvPr/>
        </p:nvSpPr>
        <p:spPr>
          <a:xfrm>
            <a:off x="914400" y="4005072"/>
            <a:ext cx="4828032"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3C4657"/>
                </a:solidFill>
                <a:latin typeface="Ubuntu" pitchFamily="34" charset="0"/>
                <a:ea typeface="Ubuntu" pitchFamily="34" charset="-122"/>
                <a:cs typeface="Ubuntu" pitchFamily="34" charset="-120"/>
              </a:rPr>
              <a:t>Magnetometers, Langmuir probes, radiation detectors</a:t>
            </a:r>
            <a:endParaRPr lang="en-US" sz="1050" dirty="0"/>
          </a:p>
        </p:txBody>
      </p:sp>
      <p:sp>
        <p:nvSpPr>
          <p:cNvPr id="20" name="Shape 18"/>
          <p:cNvSpPr/>
          <p:nvPr/>
        </p:nvSpPr>
        <p:spPr>
          <a:xfrm>
            <a:off x="658368" y="4352544"/>
            <a:ext cx="5303520" cy="548640"/>
          </a:xfrm>
          <a:prstGeom prst="roundRect">
            <a:avLst>
              <a:gd name="adj" fmla="val 8333"/>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21" name="Shape 19"/>
          <p:cNvSpPr/>
          <p:nvPr/>
        </p:nvSpPr>
        <p:spPr>
          <a:xfrm>
            <a:off x="658368" y="4352544"/>
            <a:ext cx="50292" cy="54864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22" name="Text 20"/>
          <p:cNvSpPr txBox="1"/>
          <p:nvPr/>
        </p:nvSpPr>
        <p:spPr>
          <a:xfrm>
            <a:off x="914400" y="4389120"/>
            <a:ext cx="484632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Spectrometers</a:t>
            </a:r>
            <a:endParaRPr lang="en-US" sz="1250" dirty="0"/>
          </a:p>
        </p:txBody>
      </p:sp>
      <p:sp>
        <p:nvSpPr>
          <p:cNvPr id="23" name="Text 21"/>
          <p:cNvSpPr txBox="1"/>
          <p:nvPr/>
        </p:nvSpPr>
        <p:spPr>
          <a:xfrm>
            <a:off x="914400" y="4626864"/>
            <a:ext cx="4828032"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3C4657"/>
                </a:solidFill>
                <a:latin typeface="Ubuntu" pitchFamily="34" charset="0"/>
                <a:ea typeface="Ubuntu" pitchFamily="34" charset="-122"/>
                <a:cs typeface="Ubuntu" pitchFamily="34" charset="-120"/>
              </a:rPr>
              <a:t>Analysing the spectrum of emitted or reflected light</a:t>
            </a:r>
            <a:endParaRPr lang="en-US" sz="1050" dirty="0"/>
          </a:p>
        </p:txBody>
      </p:sp>
      <p:sp>
        <p:nvSpPr>
          <p:cNvPr id="24" name="Shape 22"/>
          <p:cNvSpPr/>
          <p:nvPr/>
        </p:nvSpPr>
        <p:spPr>
          <a:xfrm>
            <a:off x="658368" y="4974336"/>
            <a:ext cx="5303520" cy="548640"/>
          </a:xfrm>
          <a:prstGeom prst="roundRect">
            <a:avLst>
              <a:gd name="adj" fmla="val 8333"/>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25" name="Shape 23"/>
          <p:cNvSpPr/>
          <p:nvPr/>
        </p:nvSpPr>
        <p:spPr>
          <a:xfrm>
            <a:off x="658368" y="4974336"/>
            <a:ext cx="50292" cy="54864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26" name="Text 24"/>
          <p:cNvSpPr txBox="1"/>
          <p:nvPr/>
        </p:nvSpPr>
        <p:spPr>
          <a:xfrm>
            <a:off x="914400" y="5010912"/>
            <a:ext cx="484632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Experiment modules</a:t>
            </a:r>
            <a:endParaRPr lang="en-US" sz="1250" dirty="0"/>
          </a:p>
        </p:txBody>
      </p:sp>
      <p:sp>
        <p:nvSpPr>
          <p:cNvPr id="27" name="Text 25"/>
          <p:cNvSpPr txBox="1"/>
          <p:nvPr/>
        </p:nvSpPr>
        <p:spPr>
          <a:xfrm>
            <a:off x="914400" y="5248656"/>
            <a:ext cx="4828032"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3C4657"/>
                </a:solidFill>
                <a:latin typeface="Ubuntu" pitchFamily="34" charset="0"/>
                <a:ea typeface="Ubuntu" pitchFamily="34" charset="-122"/>
                <a:cs typeface="Ubuntu" pitchFamily="34" charset="-120"/>
              </a:rPr>
              <a:t>Biology, materials and other hardware under test</a:t>
            </a:r>
            <a:endParaRPr lang="en-US" sz="1050" dirty="0"/>
          </a:p>
        </p:txBody>
      </p:sp>
      <p:sp>
        <p:nvSpPr>
          <p:cNvPr id="28" name="Text 26"/>
          <p:cNvSpPr txBox="1"/>
          <p:nvPr/>
        </p:nvSpPr>
        <p:spPr>
          <a:xfrm>
            <a:off x="6236208" y="1828800"/>
            <a:ext cx="5303520" cy="237744"/>
          </a:xfrm>
          <a:prstGeom prst="rect">
            <a:avLst/>
          </a:prstGeom>
          <a:noFill/>
          <a:ln/>
        </p:spPr>
        <p:txBody>
          <a:bodyPr wrap="square" lIns="0" tIns="0" rIns="0" bIns="0" rtlCol="0" anchor="ctr"/>
          <a:lstStyle/>
          <a:p>
            <a:pPr marL="0" indent="0">
              <a:buNone/>
              <a:defRPr>
                <a:latin typeface="Ubuntu"/>
                <a:ea typeface="Ubuntu"/>
                <a:cs typeface="Ubuntu"/>
              </a:defRPr>
            </a:pPr>
            <a:r>
              <a:rPr lang="en-US" sz="1000" b="1" kern="0" spc="130" dirty="0">
                <a:solidFill>
                  <a:srgbClr val="5F6B8C"/>
                </a:solidFill>
                <a:latin typeface="Ubuntu" pitchFamily="34" charset="0"/>
                <a:ea typeface="Ubuntu" pitchFamily="34" charset="-122"/>
                <a:cs typeface="Ubuntu" pitchFamily="34" charset="-120"/>
              </a:rPr>
              <a:t>BY PURPOSE</a:t>
            </a:r>
            <a:endParaRPr lang="en-US" sz="1000" dirty="0"/>
          </a:p>
        </p:txBody>
      </p:sp>
      <p:sp>
        <p:nvSpPr>
          <p:cNvPr id="29" name="Text 27"/>
          <p:cNvSpPr txBox="1"/>
          <p:nvPr/>
        </p:nvSpPr>
        <p:spPr>
          <a:xfrm>
            <a:off x="6236208" y="2084832"/>
            <a:ext cx="5303520" cy="310896"/>
          </a:xfrm>
          <a:prstGeom prst="rect">
            <a:avLst/>
          </a:prstGeom>
          <a:noFill/>
          <a:ln/>
        </p:spPr>
        <p:txBody>
          <a:bodyPr wrap="square" lIns="0" tIns="0" rIns="0" bIns="0" rtlCol="0" anchor="ctr"/>
          <a:lstStyle/>
          <a:p>
            <a:pPr marL="0" indent="0">
              <a:buNone/>
              <a:defRPr>
                <a:latin typeface="Ubuntu"/>
                <a:ea typeface="Ubuntu"/>
                <a:cs typeface="Ubuntu"/>
              </a:defRPr>
            </a:pPr>
            <a:r>
              <a:rPr lang="en-US" sz="1700" b="1" dirty="0">
                <a:solidFill>
                  <a:srgbClr val="1E2761"/>
                </a:solidFill>
                <a:latin typeface="Ubuntu" pitchFamily="34" charset="0"/>
                <a:ea typeface="Ubuntu" pitchFamily="34" charset="-122"/>
                <a:cs typeface="Ubuntu" pitchFamily="34" charset="-120"/>
              </a:rPr>
              <a:t>What the mission uses it for</a:t>
            </a:r>
            <a:endParaRPr lang="en-US" sz="1700" dirty="0"/>
          </a:p>
        </p:txBody>
      </p:sp>
      <p:sp>
        <p:nvSpPr>
          <p:cNvPr id="30" name="Shape 28"/>
          <p:cNvSpPr/>
          <p:nvPr/>
        </p:nvSpPr>
        <p:spPr>
          <a:xfrm>
            <a:off x="6236208" y="2487168"/>
            <a:ext cx="5303520" cy="548640"/>
          </a:xfrm>
          <a:prstGeom prst="roundRect">
            <a:avLst>
              <a:gd name="adj" fmla="val 8333"/>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31" name="Shape 29"/>
          <p:cNvSpPr/>
          <p:nvPr/>
        </p:nvSpPr>
        <p:spPr>
          <a:xfrm>
            <a:off x="6236208" y="2487168"/>
            <a:ext cx="50292" cy="54864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2" name="Text 30"/>
          <p:cNvSpPr txBox="1"/>
          <p:nvPr/>
        </p:nvSpPr>
        <p:spPr>
          <a:xfrm>
            <a:off x="6492240" y="2523744"/>
            <a:ext cx="484632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Earth observation</a:t>
            </a:r>
            <a:endParaRPr lang="en-US" sz="1250" dirty="0"/>
          </a:p>
        </p:txBody>
      </p:sp>
      <p:sp>
        <p:nvSpPr>
          <p:cNvPr id="33" name="Text 31"/>
          <p:cNvSpPr txBox="1"/>
          <p:nvPr/>
        </p:nvSpPr>
        <p:spPr>
          <a:xfrm>
            <a:off x="6492240" y="2761488"/>
            <a:ext cx="4828032"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3C4657"/>
                </a:solidFill>
                <a:latin typeface="Ubuntu" pitchFamily="34" charset="0"/>
                <a:ea typeface="Ubuntu" pitchFamily="34" charset="-122"/>
                <a:cs typeface="Ubuntu" pitchFamily="34" charset="-120"/>
              </a:rPr>
              <a:t>Imaging land, ocean, atmosphere and infrastructure</a:t>
            </a:r>
            <a:endParaRPr lang="en-US" sz="1050" dirty="0"/>
          </a:p>
        </p:txBody>
      </p:sp>
      <p:sp>
        <p:nvSpPr>
          <p:cNvPr id="34" name="Shape 32"/>
          <p:cNvSpPr/>
          <p:nvPr/>
        </p:nvSpPr>
        <p:spPr>
          <a:xfrm>
            <a:off x="6236208" y="3108960"/>
            <a:ext cx="5303520" cy="548640"/>
          </a:xfrm>
          <a:prstGeom prst="roundRect">
            <a:avLst>
              <a:gd name="adj" fmla="val 8333"/>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35" name="Shape 33"/>
          <p:cNvSpPr/>
          <p:nvPr/>
        </p:nvSpPr>
        <p:spPr>
          <a:xfrm>
            <a:off x="6236208" y="3108960"/>
            <a:ext cx="50292" cy="54864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6" name="Text 34"/>
          <p:cNvSpPr txBox="1"/>
          <p:nvPr/>
        </p:nvSpPr>
        <p:spPr>
          <a:xfrm>
            <a:off x="6492240" y="3145536"/>
            <a:ext cx="484632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Science</a:t>
            </a:r>
            <a:endParaRPr lang="en-US" sz="1250" dirty="0"/>
          </a:p>
        </p:txBody>
      </p:sp>
      <p:sp>
        <p:nvSpPr>
          <p:cNvPr id="37" name="Text 35"/>
          <p:cNvSpPr txBox="1"/>
          <p:nvPr/>
        </p:nvSpPr>
        <p:spPr>
          <a:xfrm>
            <a:off x="6492240" y="3383280"/>
            <a:ext cx="4828032"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3C4657"/>
                </a:solidFill>
                <a:latin typeface="Ubuntu" pitchFamily="34" charset="0"/>
                <a:ea typeface="Ubuntu" pitchFamily="34" charset="-122"/>
                <a:cs typeface="Ubuntu" pitchFamily="34" charset="-120"/>
              </a:rPr>
              <a:t>Collecting data against a research question</a:t>
            </a:r>
            <a:endParaRPr lang="en-US" sz="1050" dirty="0"/>
          </a:p>
        </p:txBody>
      </p:sp>
      <p:sp>
        <p:nvSpPr>
          <p:cNvPr id="38" name="Shape 36"/>
          <p:cNvSpPr/>
          <p:nvPr/>
        </p:nvSpPr>
        <p:spPr>
          <a:xfrm>
            <a:off x="6236208" y="3730752"/>
            <a:ext cx="5303520" cy="548640"/>
          </a:xfrm>
          <a:prstGeom prst="roundRect">
            <a:avLst>
              <a:gd name="adj" fmla="val 8333"/>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39" name="Shape 37"/>
          <p:cNvSpPr/>
          <p:nvPr/>
        </p:nvSpPr>
        <p:spPr>
          <a:xfrm>
            <a:off x="6236208" y="3730752"/>
            <a:ext cx="50292" cy="54864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40" name="Text 38"/>
          <p:cNvSpPr txBox="1"/>
          <p:nvPr/>
        </p:nvSpPr>
        <p:spPr>
          <a:xfrm>
            <a:off x="6492240" y="3767328"/>
            <a:ext cx="484632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Communication</a:t>
            </a:r>
            <a:endParaRPr lang="en-US" sz="1250" dirty="0"/>
          </a:p>
        </p:txBody>
      </p:sp>
      <p:sp>
        <p:nvSpPr>
          <p:cNvPr id="41" name="Text 39"/>
          <p:cNvSpPr txBox="1"/>
          <p:nvPr/>
        </p:nvSpPr>
        <p:spPr>
          <a:xfrm>
            <a:off x="6492240" y="4005072"/>
            <a:ext cx="4828032"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3C4657"/>
                </a:solidFill>
                <a:latin typeface="Ubuntu" pitchFamily="34" charset="0"/>
                <a:ea typeface="Ubuntu" pitchFamily="34" charset="-122"/>
                <a:cs typeface="Ubuntu" pitchFamily="34" charset="-120"/>
              </a:rPr>
              <a:t>Carrying a link for users on the ground or in orbit</a:t>
            </a:r>
            <a:endParaRPr lang="en-US" sz="1050" dirty="0"/>
          </a:p>
        </p:txBody>
      </p:sp>
      <p:sp>
        <p:nvSpPr>
          <p:cNvPr id="42" name="Shape 40"/>
          <p:cNvSpPr/>
          <p:nvPr/>
        </p:nvSpPr>
        <p:spPr>
          <a:xfrm>
            <a:off x="6236208" y="4352544"/>
            <a:ext cx="5303520" cy="548640"/>
          </a:xfrm>
          <a:prstGeom prst="roundRect">
            <a:avLst>
              <a:gd name="adj" fmla="val 8333"/>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43" name="Shape 41"/>
          <p:cNvSpPr/>
          <p:nvPr/>
        </p:nvSpPr>
        <p:spPr>
          <a:xfrm>
            <a:off x="6236208" y="4352544"/>
            <a:ext cx="50292" cy="54864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44" name="Text 42"/>
          <p:cNvSpPr txBox="1"/>
          <p:nvPr/>
        </p:nvSpPr>
        <p:spPr>
          <a:xfrm>
            <a:off x="6492240" y="4389120"/>
            <a:ext cx="484632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Navigation</a:t>
            </a:r>
            <a:endParaRPr lang="en-US" sz="1250" dirty="0"/>
          </a:p>
        </p:txBody>
      </p:sp>
      <p:sp>
        <p:nvSpPr>
          <p:cNvPr id="45" name="Text 43"/>
          <p:cNvSpPr txBox="1"/>
          <p:nvPr/>
        </p:nvSpPr>
        <p:spPr>
          <a:xfrm>
            <a:off x="6492240" y="4626864"/>
            <a:ext cx="4828032"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3C4657"/>
                </a:solidFill>
                <a:latin typeface="Ubuntu" pitchFamily="34" charset="0"/>
                <a:ea typeface="Ubuntu" pitchFamily="34" charset="-122"/>
                <a:cs typeface="Ubuntu" pitchFamily="34" charset="-120"/>
              </a:rPr>
              <a:t>Position, timing and navigation experiments</a:t>
            </a:r>
            <a:endParaRPr lang="en-US" sz="1050" dirty="0"/>
          </a:p>
        </p:txBody>
      </p:sp>
      <p:sp>
        <p:nvSpPr>
          <p:cNvPr id="46" name="Shape 44"/>
          <p:cNvSpPr/>
          <p:nvPr/>
        </p:nvSpPr>
        <p:spPr>
          <a:xfrm>
            <a:off x="6236208" y="4974336"/>
            <a:ext cx="5303520" cy="548640"/>
          </a:xfrm>
          <a:prstGeom prst="roundRect">
            <a:avLst>
              <a:gd name="adj" fmla="val 8333"/>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47" name="Shape 45"/>
          <p:cNvSpPr/>
          <p:nvPr/>
        </p:nvSpPr>
        <p:spPr>
          <a:xfrm>
            <a:off x="6236208" y="4974336"/>
            <a:ext cx="50292" cy="54864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48" name="Text 46"/>
          <p:cNvSpPr txBox="1"/>
          <p:nvPr/>
        </p:nvSpPr>
        <p:spPr>
          <a:xfrm>
            <a:off x="6492240" y="5010912"/>
            <a:ext cx="484632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Technology demonstration</a:t>
            </a:r>
            <a:endParaRPr lang="en-US" sz="1250" dirty="0"/>
          </a:p>
        </p:txBody>
      </p:sp>
      <p:sp>
        <p:nvSpPr>
          <p:cNvPr id="49" name="Text 47"/>
          <p:cNvSpPr txBox="1"/>
          <p:nvPr/>
        </p:nvSpPr>
        <p:spPr>
          <a:xfrm>
            <a:off x="6492240" y="5248656"/>
            <a:ext cx="4828032"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3C4657"/>
                </a:solidFill>
                <a:latin typeface="Ubuntu" pitchFamily="34" charset="0"/>
                <a:ea typeface="Ubuntu" pitchFamily="34" charset="-122"/>
                <a:cs typeface="Ubuntu" pitchFamily="34" charset="-120"/>
              </a:rPr>
              <a:t>Proving a component or technique in orbit</a:t>
            </a:r>
            <a:endParaRPr lang="en-US" sz="1050" dirty="0"/>
          </a:p>
        </p:txBody>
      </p:sp>
      <p:sp>
        <p:nvSpPr>
          <p:cNvPr id="50" name="Shape 48"/>
          <p:cNvSpPr/>
          <p:nvPr/>
        </p:nvSpPr>
        <p:spPr>
          <a:xfrm>
            <a:off x="487375" y="5987192"/>
            <a:ext cx="10881360" cy="731520"/>
          </a:xfrm>
          <a:prstGeom prst="roundRect">
            <a:avLst>
              <a:gd name="adj" fmla="val 6250"/>
            </a:avLst>
          </a:prstGeom>
          <a:solidFill>
            <a:srgbClr val="FBEDE7"/>
          </a:solidFill>
          <a:ln w="12700">
            <a:solidFill>
              <a:srgbClr val="FBEDE7"/>
            </a:solidFill>
            <a:prstDash val="solid"/>
          </a:ln>
        </p:spPr>
        <p:txBody>
          <a:bodyPr/>
          <a:lstStyle/>
          <a:p>
            <a:pPr>
              <a:defRPr>
                <a:latin typeface="Ubuntu"/>
                <a:ea typeface="Ubuntu"/>
                <a:cs typeface="Ubuntu"/>
              </a:defRPr>
            </a:pPr>
            <a:endParaRPr lang="en-US"/>
          </a:p>
        </p:txBody>
      </p:sp>
      <p:sp>
        <p:nvSpPr>
          <p:cNvPr id="51" name="Shape 49"/>
          <p:cNvSpPr/>
          <p:nvPr/>
        </p:nvSpPr>
        <p:spPr>
          <a:xfrm>
            <a:off x="658368" y="5632704"/>
            <a:ext cx="1088136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2" name="Text 50"/>
          <p:cNvSpPr txBox="1"/>
          <p:nvPr/>
        </p:nvSpPr>
        <p:spPr>
          <a:xfrm>
            <a:off x="914400" y="6044285"/>
            <a:ext cx="10241280" cy="603504"/>
          </a:xfrm>
          <a:prstGeom prst="rect">
            <a:avLst/>
          </a:prstGeom>
          <a:noFill/>
          <a:ln/>
        </p:spPr>
        <p:txBody>
          <a:bodyPr wrap="square" lIns="0" tIns="0" rIns="0" bIns="0" rtlCol="0" anchor="ctr"/>
          <a:lstStyle/>
          <a:p>
            <a:pPr marL="0" indent="0">
              <a:lnSpc>
                <a:spcPct val="115000"/>
              </a:lnSpc>
              <a:buNone/>
              <a:defRPr>
                <a:latin typeface="Ubuntu"/>
                <a:ea typeface="Ubuntu"/>
                <a:cs typeface="Ubuntu"/>
              </a:defRPr>
            </a:pPr>
            <a:r>
              <a:rPr lang="en-US" sz="1250" dirty="0">
                <a:solidFill>
                  <a:srgbClr val="1E2761"/>
                </a:solidFill>
                <a:latin typeface="Ubuntu" pitchFamily="34" charset="0"/>
                <a:ea typeface="Ubuntu" pitchFamily="34" charset="-122"/>
                <a:cs typeface="Ubuntu" pitchFamily="34" charset="-120"/>
              </a:rPr>
              <a:t>The same instrument can be a different payload on a different mission. A camera is an Earth observation payload on one satellite and a scientific instrument on another. A magnetometer is the science payload on one and an attitude sensor on most other CubeSats.</a:t>
            </a:r>
            <a:endParaRPr lang="en-US" sz="1250" dirty="0"/>
          </a:p>
        </p:txBody>
      </p:sp>
      <p:sp>
        <p:nvSpPr>
          <p:cNvPr id="56" name="Slide Number Placeholder 7">
            <a:extLst>
              <a:ext uri="{FF2B5EF4-FFF2-40B4-BE49-F238E27FC236}">
                <a16:creationId xmlns:a16="http://schemas.microsoft.com/office/drawing/2014/main" id="{7E4DD546-3E36-458C-493E-A839D34A14F9}"/>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8</a:t>
            </a:fld>
            <a:endParaRPr lang="en-US" sz="4800" b="1" dirty="0">
              <a:solidFill>
                <a:srgbClr val="FF0000"/>
              </a:solidFill>
            </a:endParaRPr>
          </a:p>
        </p:txBody>
      </p:sp>
      <p:pic>
        <p:nvPicPr>
          <p:cNvPr id="57" name="Space Faculty logo" descr="sf_logo.png"/>
          <p:cNvPicPr>
            <a:picLocks noChangeAspect="1"/>
          </p:cNvPicPr>
          <p:nvPr/>
        </p:nvPicPr>
        <p:blipFill>
          <a:blip r:embed="rId3"/>
          <a:stretch>
            <a:fillRect/>
          </a:stretch>
        </p:blipFill>
        <p:spPr>
          <a:xfrm>
            <a:off x="10325590" y="54864"/>
            <a:ext cx="1753633" cy="4983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666878" y="137160"/>
            <a:ext cx="10984687" cy="566928"/>
          </a:xfrm>
          <a:prstGeom prst="rect">
            <a:avLst/>
          </a:prstGeom>
          <a:noFill/>
          <a:ln/>
        </p:spPr>
        <p:txBody>
          <a:bodyPr wrap="square" lIns="0" tIns="0" rIns="0" bIns="0" rtlCol="0" anchor="ctr"/>
          <a:lstStyle/>
          <a:p>
            <a:pPr marL="0" indent="0" algn="ctr">
              <a:buNone/>
              <a:defRPr>
                <a:latin typeface="House Movements Runway"/>
                <a:ea typeface="House Movements Runway"/>
                <a:cs typeface="House Movements Runway"/>
              </a:defRPr>
            </a:pPr>
            <a:r>
              <a:rPr lang="en-US" sz="4800" b="1" dirty="0">
                <a:solidFill>
                  <a:srgbClr val="1E2761"/>
                </a:solidFill>
                <a:latin typeface="House Movements Runway" pitchFamily="34" charset="0"/>
                <a:ea typeface="House Movements Runway" pitchFamily="34" charset="-122"/>
                <a:cs typeface="House Movements Runway" pitchFamily="34" charset="-120"/>
              </a:rPr>
              <a:t>Selecting a Payload</a:t>
            </a:r>
            <a:endParaRPr lang="en-US" sz="48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sz="2000" dirty="0">
                <a:solidFill>
                  <a:srgbClr val="5F6B8C"/>
                </a:solidFill>
                <a:latin typeface="Ubuntu" pitchFamily="34" charset="0"/>
                <a:ea typeface="Ubuntu" pitchFamily="34" charset="-122"/>
                <a:cs typeface="Ubuntu" pitchFamily="34" charset="-120"/>
              </a:rPr>
              <a:t>Five questions decide which instrument a mission can carry, and every one of them reaches back into the platform.</a:t>
            </a:r>
            <a:endParaRPr lang="en-US" sz="2000" dirty="0"/>
          </a:p>
        </p:txBody>
      </p:sp>
      <p:sp>
        <p:nvSpPr>
          <p:cNvPr id="6" name="Shape 4"/>
          <p:cNvSpPr/>
          <p:nvPr/>
        </p:nvSpPr>
        <p:spPr>
          <a:xfrm>
            <a:off x="658368" y="1828800"/>
            <a:ext cx="10881360" cy="731520"/>
          </a:xfrm>
          <a:prstGeom prst="roundRect">
            <a:avLst>
              <a:gd name="adj" fmla="val 6250"/>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7" name="Shape 5"/>
          <p:cNvSpPr/>
          <p:nvPr/>
        </p:nvSpPr>
        <p:spPr>
          <a:xfrm>
            <a:off x="914400" y="2002536"/>
            <a:ext cx="384048" cy="384048"/>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8" name="Text 6"/>
          <p:cNvSpPr txBox="1"/>
          <p:nvPr/>
        </p:nvSpPr>
        <p:spPr>
          <a:xfrm>
            <a:off x="914400" y="2002536"/>
            <a:ext cx="384048" cy="384048"/>
          </a:xfrm>
          <a:prstGeom prst="rect">
            <a:avLst/>
          </a:prstGeom>
          <a:noFill/>
          <a:ln/>
        </p:spPr>
        <p:txBody>
          <a:bodyPr wrap="square" lIns="0" tIns="0" rIns="0" bIns="0" rtlCol="0" anchor="ctr"/>
          <a:lstStyle/>
          <a:p>
            <a:pPr marL="0" indent="0" algn="ctr">
              <a:buNone/>
              <a:defRPr>
                <a:latin typeface="Ubuntu"/>
                <a:ea typeface="Ubuntu"/>
                <a:cs typeface="Ubuntu"/>
              </a:defRPr>
            </a:pPr>
            <a:r>
              <a:rPr lang="en-US" sz="1200" b="1" dirty="0">
                <a:solidFill>
                  <a:srgbClr val="FFFFFF"/>
                </a:solidFill>
                <a:latin typeface="Ubuntu" pitchFamily="34" charset="0"/>
                <a:ea typeface="Ubuntu" pitchFamily="34" charset="-122"/>
                <a:cs typeface="Ubuntu" pitchFamily="34" charset="-120"/>
              </a:rPr>
              <a:t>1</a:t>
            </a:r>
            <a:endParaRPr lang="en-US" sz="1200" dirty="0"/>
          </a:p>
        </p:txBody>
      </p:sp>
      <p:sp>
        <p:nvSpPr>
          <p:cNvPr id="9" name="Text 7"/>
          <p:cNvSpPr txBox="1"/>
          <p:nvPr/>
        </p:nvSpPr>
        <p:spPr>
          <a:xfrm>
            <a:off x="1444752" y="1828800"/>
            <a:ext cx="2569176" cy="731520"/>
          </a:xfrm>
          <a:prstGeom prst="rect">
            <a:avLst/>
          </a:prstGeom>
          <a:noFill/>
          <a:ln/>
        </p:spPr>
        <p:txBody>
          <a:bodyPr wrap="square" lIns="0" tIns="0" rIns="0" bIns="0" rtlCol="0" anchor="ctr"/>
          <a:lstStyle/>
          <a:p>
            <a:pPr marL="0" indent="0">
              <a:buNone/>
              <a:defRPr>
                <a:latin typeface="Ubuntu"/>
                <a:ea typeface="Ubuntu"/>
                <a:cs typeface="Ubuntu"/>
              </a:defRPr>
            </a:pPr>
            <a:r>
              <a:rPr lang="en-US" sz="1550" b="1" dirty="0">
                <a:solidFill>
                  <a:srgbClr val="1E2761"/>
                </a:solidFill>
                <a:latin typeface="Ubuntu" pitchFamily="34" charset="0"/>
                <a:ea typeface="Ubuntu" pitchFamily="34" charset="-122"/>
                <a:cs typeface="Ubuntu" pitchFamily="34" charset="-120"/>
              </a:rPr>
              <a:t>What has to be observed or </a:t>
            </a:r>
          </a:p>
          <a:p>
            <a:pPr marL="0" indent="0">
              <a:buNone/>
              <a:defRPr>
                <a:latin typeface="Ubuntu"/>
                <a:ea typeface="Ubuntu"/>
                <a:cs typeface="Ubuntu"/>
              </a:defRPr>
            </a:pPr>
            <a:r>
              <a:rPr lang="en-US" sz="1550" b="1" dirty="0">
                <a:solidFill>
                  <a:srgbClr val="1E2761"/>
                </a:solidFill>
                <a:latin typeface="Ubuntu" pitchFamily="34" charset="0"/>
                <a:ea typeface="Ubuntu" pitchFamily="34" charset="-122"/>
                <a:cs typeface="Ubuntu" pitchFamily="34" charset="-120"/>
              </a:rPr>
              <a:t>delivered</a:t>
            </a:r>
            <a:endParaRPr lang="en-US" sz="1550" dirty="0"/>
          </a:p>
        </p:txBody>
      </p:sp>
      <p:sp>
        <p:nvSpPr>
          <p:cNvPr id="10" name="Text 8"/>
          <p:cNvSpPr txBox="1"/>
          <p:nvPr/>
        </p:nvSpPr>
        <p:spPr>
          <a:xfrm>
            <a:off x="4525992" y="1828800"/>
            <a:ext cx="6556536" cy="731520"/>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600" dirty="0">
                <a:solidFill>
                  <a:srgbClr val="3C4657"/>
                </a:solidFill>
                <a:latin typeface="Ubuntu" pitchFamily="34" charset="0"/>
                <a:ea typeface="Ubuntu" pitchFamily="34" charset="-122"/>
                <a:cs typeface="Ubuntu" pitchFamily="34" charset="-120"/>
              </a:rPr>
              <a:t>The mission objective, expressed as something measurable. Everything below follows from it (land surface, fire, smoke, vegetation, oceans, clouds, magnetic fields, weather systems)</a:t>
            </a:r>
            <a:endParaRPr lang="en-US" sz="1600" dirty="0"/>
          </a:p>
        </p:txBody>
      </p:sp>
      <p:sp>
        <p:nvSpPr>
          <p:cNvPr id="11" name="Shape 9"/>
          <p:cNvSpPr/>
          <p:nvPr/>
        </p:nvSpPr>
        <p:spPr>
          <a:xfrm>
            <a:off x="658368" y="2651760"/>
            <a:ext cx="10881360" cy="731520"/>
          </a:xfrm>
          <a:prstGeom prst="roundRect">
            <a:avLst>
              <a:gd name="adj" fmla="val 6250"/>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12" name="Shape 10"/>
          <p:cNvSpPr/>
          <p:nvPr/>
        </p:nvSpPr>
        <p:spPr>
          <a:xfrm>
            <a:off x="914400" y="2825496"/>
            <a:ext cx="384048" cy="384048"/>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13" name="Text 11"/>
          <p:cNvSpPr txBox="1"/>
          <p:nvPr/>
        </p:nvSpPr>
        <p:spPr>
          <a:xfrm>
            <a:off x="914400" y="2825496"/>
            <a:ext cx="384048" cy="384048"/>
          </a:xfrm>
          <a:prstGeom prst="rect">
            <a:avLst/>
          </a:prstGeom>
          <a:noFill/>
          <a:ln/>
        </p:spPr>
        <p:txBody>
          <a:bodyPr wrap="square" lIns="0" tIns="0" rIns="0" bIns="0" rtlCol="0" anchor="ctr"/>
          <a:lstStyle/>
          <a:p>
            <a:pPr marL="0" indent="0" algn="ctr">
              <a:buNone/>
              <a:defRPr>
                <a:latin typeface="Ubuntu"/>
                <a:ea typeface="Ubuntu"/>
                <a:cs typeface="Ubuntu"/>
              </a:defRPr>
            </a:pPr>
            <a:r>
              <a:rPr lang="en-US" sz="1200" b="1" dirty="0">
                <a:solidFill>
                  <a:srgbClr val="FFFFFF"/>
                </a:solidFill>
                <a:latin typeface="Ubuntu" pitchFamily="34" charset="0"/>
                <a:ea typeface="Ubuntu" pitchFamily="34" charset="-122"/>
                <a:cs typeface="Ubuntu" pitchFamily="34" charset="-120"/>
              </a:rPr>
              <a:t>2</a:t>
            </a:r>
            <a:endParaRPr lang="en-US" sz="1200" dirty="0"/>
          </a:p>
        </p:txBody>
      </p:sp>
      <p:sp>
        <p:nvSpPr>
          <p:cNvPr id="14" name="Text 12"/>
          <p:cNvSpPr txBox="1"/>
          <p:nvPr/>
        </p:nvSpPr>
        <p:spPr>
          <a:xfrm>
            <a:off x="1444752" y="2651760"/>
            <a:ext cx="393192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1550" b="1" dirty="0">
                <a:solidFill>
                  <a:srgbClr val="1E2761"/>
                </a:solidFill>
                <a:latin typeface="Ubuntu" pitchFamily="34" charset="0"/>
                <a:ea typeface="Ubuntu" pitchFamily="34" charset="-122"/>
                <a:cs typeface="Ubuntu" pitchFamily="34" charset="-120"/>
              </a:rPr>
              <a:t>How often, and from where</a:t>
            </a:r>
            <a:endParaRPr lang="en-US" sz="1550" dirty="0"/>
          </a:p>
        </p:txBody>
      </p:sp>
      <p:sp>
        <p:nvSpPr>
          <p:cNvPr id="15" name="Text 13"/>
          <p:cNvSpPr txBox="1"/>
          <p:nvPr/>
        </p:nvSpPr>
        <p:spPr>
          <a:xfrm>
            <a:off x="4525992" y="2651760"/>
            <a:ext cx="6556536" cy="731520"/>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600" dirty="0">
                <a:solidFill>
                  <a:srgbClr val="3C4657"/>
                </a:solidFill>
                <a:latin typeface="Ubuntu" pitchFamily="34" charset="0"/>
                <a:ea typeface="Ubuntu" pitchFamily="34" charset="-122"/>
                <a:cs typeface="Ubuntu" pitchFamily="34" charset="-120"/>
              </a:rPr>
              <a:t>Revisit rate and orbit. These decide the orbit, and the orbit decides the illumination, the eclipse and the pass duration.</a:t>
            </a:r>
            <a:endParaRPr lang="en-US" sz="1600" dirty="0"/>
          </a:p>
        </p:txBody>
      </p:sp>
      <p:sp>
        <p:nvSpPr>
          <p:cNvPr id="16" name="Shape 14"/>
          <p:cNvSpPr/>
          <p:nvPr/>
        </p:nvSpPr>
        <p:spPr>
          <a:xfrm>
            <a:off x="658368" y="3474720"/>
            <a:ext cx="10881360" cy="731520"/>
          </a:xfrm>
          <a:prstGeom prst="roundRect">
            <a:avLst>
              <a:gd name="adj" fmla="val 6250"/>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7" name="Shape 15"/>
          <p:cNvSpPr/>
          <p:nvPr/>
        </p:nvSpPr>
        <p:spPr>
          <a:xfrm>
            <a:off x="914400" y="3648456"/>
            <a:ext cx="384048" cy="384048"/>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18" name="Text 16"/>
          <p:cNvSpPr txBox="1"/>
          <p:nvPr/>
        </p:nvSpPr>
        <p:spPr>
          <a:xfrm>
            <a:off x="914400" y="3648456"/>
            <a:ext cx="384048" cy="384048"/>
          </a:xfrm>
          <a:prstGeom prst="rect">
            <a:avLst/>
          </a:prstGeom>
          <a:noFill/>
          <a:ln/>
        </p:spPr>
        <p:txBody>
          <a:bodyPr wrap="square" lIns="0" tIns="0" rIns="0" bIns="0" rtlCol="0" anchor="ctr"/>
          <a:lstStyle/>
          <a:p>
            <a:pPr marL="0" indent="0" algn="ctr">
              <a:buNone/>
              <a:defRPr>
                <a:latin typeface="Ubuntu"/>
                <a:ea typeface="Ubuntu"/>
                <a:cs typeface="Ubuntu"/>
              </a:defRPr>
            </a:pPr>
            <a:r>
              <a:rPr lang="en-US" sz="1200" b="1" dirty="0">
                <a:solidFill>
                  <a:srgbClr val="FFFFFF"/>
                </a:solidFill>
                <a:latin typeface="Ubuntu" pitchFamily="34" charset="0"/>
                <a:ea typeface="Ubuntu" pitchFamily="34" charset="-122"/>
                <a:cs typeface="Ubuntu" pitchFamily="34" charset="-120"/>
              </a:rPr>
              <a:t>3</a:t>
            </a:r>
            <a:endParaRPr lang="en-US" sz="1200" dirty="0"/>
          </a:p>
        </p:txBody>
      </p:sp>
      <p:sp>
        <p:nvSpPr>
          <p:cNvPr id="19" name="Text 17"/>
          <p:cNvSpPr txBox="1"/>
          <p:nvPr/>
        </p:nvSpPr>
        <p:spPr>
          <a:xfrm>
            <a:off x="1444752" y="3474720"/>
            <a:ext cx="2799444" cy="731520"/>
          </a:xfrm>
          <a:prstGeom prst="rect">
            <a:avLst/>
          </a:prstGeom>
          <a:noFill/>
          <a:ln/>
        </p:spPr>
        <p:txBody>
          <a:bodyPr wrap="square" lIns="0" tIns="0" rIns="0" bIns="0" rtlCol="0" anchor="ctr"/>
          <a:lstStyle/>
          <a:p>
            <a:pPr marL="0" indent="0">
              <a:buNone/>
              <a:defRPr>
                <a:latin typeface="Ubuntu"/>
                <a:ea typeface="Ubuntu"/>
                <a:cs typeface="Ubuntu"/>
              </a:defRPr>
            </a:pPr>
            <a:r>
              <a:rPr lang="en-US" sz="1550" b="1" dirty="0">
                <a:solidFill>
                  <a:srgbClr val="1E2761"/>
                </a:solidFill>
                <a:latin typeface="Ubuntu" pitchFamily="34" charset="0"/>
                <a:ea typeface="Ubuntu" pitchFamily="34" charset="-122"/>
                <a:cs typeface="Ubuntu" pitchFamily="34" charset="-120"/>
              </a:rPr>
              <a:t>What the instrument demands</a:t>
            </a:r>
            <a:endParaRPr lang="en-US" sz="1550" dirty="0"/>
          </a:p>
        </p:txBody>
      </p:sp>
      <p:sp>
        <p:nvSpPr>
          <p:cNvPr id="20" name="Text 18"/>
          <p:cNvSpPr txBox="1"/>
          <p:nvPr/>
        </p:nvSpPr>
        <p:spPr>
          <a:xfrm>
            <a:off x="4525992" y="3474720"/>
            <a:ext cx="6556536" cy="731520"/>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600" dirty="0">
                <a:solidFill>
                  <a:srgbClr val="3C4657"/>
                </a:solidFill>
                <a:latin typeface="Ubuntu" pitchFamily="34" charset="0"/>
                <a:ea typeface="Ubuntu" pitchFamily="34" charset="-122"/>
                <a:cs typeface="Ubuntu" pitchFamily="34" charset="-120"/>
              </a:rPr>
              <a:t>Pointing stability, aperture, power draw and operating temperature range.</a:t>
            </a:r>
            <a:endParaRPr lang="en-US" sz="1600" dirty="0"/>
          </a:p>
        </p:txBody>
      </p:sp>
      <p:sp>
        <p:nvSpPr>
          <p:cNvPr id="21" name="Shape 19"/>
          <p:cNvSpPr/>
          <p:nvPr/>
        </p:nvSpPr>
        <p:spPr>
          <a:xfrm>
            <a:off x="658368" y="4297680"/>
            <a:ext cx="10881360" cy="731520"/>
          </a:xfrm>
          <a:prstGeom prst="roundRect">
            <a:avLst>
              <a:gd name="adj" fmla="val 6250"/>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22" name="Shape 20"/>
          <p:cNvSpPr/>
          <p:nvPr/>
        </p:nvSpPr>
        <p:spPr>
          <a:xfrm>
            <a:off x="914400" y="4471416"/>
            <a:ext cx="384048" cy="384048"/>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23" name="Text 21"/>
          <p:cNvSpPr txBox="1"/>
          <p:nvPr/>
        </p:nvSpPr>
        <p:spPr>
          <a:xfrm>
            <a:off x="914400" y="4471416"/>
            <a:ext cx="384048" cy="384048"/>
          </a:xfrm>
          <a:prstGeom prst="rect">
            <a:avLst/>
          </a:prstGeom>
          <a:noFill/>
          <a:ln/>
        </p:spPr>
        <p:txBody>
          <a:bodyPr wrap="square" lIns="0" tIns="0" rIns="0" bIns="0" rtlCol="0" anchor="ctr"/>
          <a:lstStyle/>
          <a:p>
            <a:pPr marL="0" indent="0" algn="ctr">
              <a:buNone/>
              <a:defRPr>
                <a:latin typeface="Ubuntu"/>
                <a:ea typeface="Ubuntu"/>
                <a:cs typeface="Ubuntu"/>
              </a:defRPr>
            </a:pPr>
            <a:r>
              <a:rPr lang="en-US" sz="1200" b="1" dirty="0">
                <a:solidFill>
                  <a:srgbClr val="FFFFFF"/>
                </a:solidFill>
                <a:latin typeface="Ubuntu" pitchFamily="34" charset="0"/>
                <a:ea typeface="Ubuntu" pitchFamily="34" charset="-122"/>
                <a:cs typeface="Ubuntu" pitchFamily="34" charset="-120"/>
              </a:rPr>
              <a:t>4</a:t>
            </a:r>
            <a:endParaRPr lang="en-US" sz="1200" dirty="0"/>
          </a:p>
        </p:txBody>
      </p:sp>
      <p:sp>
        <p:nvSpPr>
          <p:cNvPr id="24" name="Text 22"/>
          <p:cNvSpPr txBox="1"/>
          <p:nvPr/>
        </p:nvSpPr>
        <p:spPr>
          <a:xfrm>
            <a:off x="1444752" y="4297680"/>
            <a:ext cx="2569176" cy="731520"/>
          </a:xfrm>
          <a:prstGeom prst="rect">
            <a:avLst/>
          </a:prstGeom>
          <a:noFill/>
          <a:ln/>
        </p:spPr>
        <p:txBody>
          <a:bodyPr wrap="square" lIns="0" tIns="0" rIns="0" bIns="0" rtlCol="0" anchor="ctr"/>
          <a:lstStyle/>
          <a:p>
            <a:pPr marL="0" indent="0">
              <a:buNone/>
              <a:defRPr>
                <a:latin typeface="Ubuntu"/>
                <a:ea typeface="Ubuntu"/>
                <a:cs typeface="Ubuntu"/>
              </a:defRPr>
            </a:pPr>
            <a:r>
              <a:rPr lang="en-US" sz="1550" b="1" dirty="0">
                <a:solidFill>
                  <a:srgbClr val="1E2761"/>
                </a:solidFill>
                <a:latin typeface="Ubuntu" pitchFamily="34" charset="0"/>
                <a:ea typeface="Ubuntu" pitchFamily="34" charset="-122"/>
                <a:cs typeface="Ubuntu" pitchFamily="34" charset="-120"/>
              </a:rPr>
              <a:t>How much data it produces</a:t>
            </a:r>
            <a:endParaRPr lang="en-US" sz="1550" dirty="0"/>
          </a:p>
        </p:txBody>
      </p:sp>
      <p:sp>
        <p:nvSpPr>
          <p:cNvPr id="25" name="Text 23"/>
          <p:cNvSpPr txBox="1"/>
          <p:nvPr/>
        </p:nvSpPr>
        <p:spPr>
          <a:xfrm>
            <a:off x="4393721" y="4297680"/>
            <a:ext cx="7139911" cy="731520"/>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600" dirty="0">
                <a:solidFill>
                  <a:srgbClr val="3C4657"/>
                </a:solidFill>
                <a:latin typeface="Ubuntu" pitchFamily="34" charset="0"/>
                <a:ea typeface="Ubuntu" pitchFamily="34" charset="-122"/>
                <a:cs typeface="Ubuntu" pitchFamily="34" charset="-120"/>
              </a:rPr>
              <a:t>Data volume per observation, against the downlink rate and the time a ground station is in view.</a:t>
            </a:r>
            <a:endParaRPr lang="en-US" sz="1600" dirty="0"/>
          </a:p>
        </p:txBody>
      </p:sp>
      <p:sp>
        <p:nvSpPr>
          <p:cNvPr id="26" name="Shape 24"/>
          <p:cNvSpPr/>
          <p:nvPr/>
        </p:nvSpPr>
        <p:spPr>
          <a:xfrm>
            <a:off x="658368" y="5120640"/>
            <a:ext cx="10881360" cy="731520"/>
          </a:xfrm>
          <a:prstGeom prst="roundRect">
            <a:avLst>
              <a:gd name="adj" fmla="val 6250"/>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27" name="Shape 25"/>
          <p:cNvSpPr/>
          <p:nvPr/>
        </p:nvSpPr>
        <p:spPr>
          <a:xfrm>
            <a:off x="914400" y="5294376"/>
            <a:ext cx="384048" cy="384048"/>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28" name="Text 26"/>
          <p:cNvSpPr txBox="1"/>
          <p:nvPr/>
        </p:nvSpPr>
        <p:spPr>
          <a:xfrm>
            <a:off x="914400" y="5294376"/>
            <a:ext cx="384048" cy="384048"/>
          </a:xfrm>
          <a:prstGeom prst="rect">
            <a:avLst/>
          </a:prstGeom>
          <a:noFill/>
          <a:ln/>
        </p:spPr>
        <p:txBody>
          <a:bodyPr wrap="square" lIns="0" tIns="0" rIns="0" bIns="0" rtlCol="0" anchor="ctr"/>
          <a:lstStyle/>
          <a:p>
            <a:pPr marL="0" indent="0" algn="ctr">
              <a:buNone/>
              <a:defRPr>
                <a:latin typeface="Ubuntu"/>
                <a:ea typeface="Ubuntu"/>
                <a:cs typeface="Ubuntu"/>
              </a:defRPr>
            </a:pPr>
            <a:r>
              <a:rPr lang="en-US" sz="1200" b="1" dirty="0">
                <a:solidFill>
                  <a:srgbClr val="FFFFFF"/>
                </a:solidFill>
                <a:latin typeface="Ubuntu" pitchFamily="34" charset="0"/>
                <a:ea typeface="Ubuntu" pitchFamily="34" charset="-122"/>
                <a:cs typeface="Ubuntu" pitchFamily="34" charset="-120"/>
              </a:rPr>
              <a:t>5</a:t>
            </a:r>
            <a:endParaRPr lang="en-US" sz="1200" dirty="0"/>
          </a:p>
        </p:txBody>
      </p:sp>
      <p:sp>
        <p:nvSpPr>
          <p:cNvPr id="29" name="Text 27"/>
          <p:cNvSpPr txBox="1"/>
          <p:nvPr/>
        </p:nvSpPr>
        <p:spPr>
          <a:xfrm>
            <a:off x="1444752" y="5120640"/>
            <a:ext cx="2799444" cy="731520"/>
          </a:xfrm>
          <a:prstGeom prst="rect">
            <a:avLst/>
          </a:prstGeom>
          <a:noFill/>
          <a:ln/>
        </p:spPr>
        <p:txBody>
          <a:bodyPr wrap="square" lIns="0" tIns="0" rIns="0" bIns="0" rtlCol="0" anchor="ctr"/>
          <a:lstStyle/>
          <a:p>
            <a:pPr marL="0" indent="0">
              <a:buNone/>
              <a:defRPr>
                <a:latin typeface="Ubuntu"/>
                <a:ea typeface="Ubuntu"/>
                <a:cs typeface="Ubuntu"/>
              </a:defRPr>
            </a:pPr>
            <a:r>
              <a:rPr lang="en-US" sz="1550" b="1" dirty="0">
                <a:solidFill>
                  <a:srgbClr val="1E2761"/>
                </a:solidFill>
                <a:latin typeface="Ubuntu" pitchFamily="34" charset="0"/>
                <a:ea typeface="Ubuntu" pitchFamily="34" charset="-122"/>
                <a:cs typeface="Ubuntu" pitchFamily="34" charset="-120"/>
              </a:rPr>
              <a:t>Where the processing happens</a:t>
            </a:r>
            <a:endParaRPr lang="en-US" sz="1550" dirty="0"/>
          </a:p>
        </p:txBody>
      </p:sp>
      <p:sp>
        <p:nvSpPr>
          <p:cNvPr id="30" name="Text 28"/>
          <p:cNvSpPr txBox="1"/>
          <p:nvPr/>
        </p:nvSpPr>
        <p:spPr>
          <a:xfrm>
            <a:off x="4525992" y="5120640"/>
            <a:ext cx="6556536" cy="731520"/>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600" dirty="0">
                <a:solidFill>
                  <a:srgbClr val="3C4657"/>
                </a:solidFill>
                <a:latin typeface="Ubuntu" pitchFamily="34" charset="0"/>
                <a:ea typeface="Ubuntu" pitchFamily="34" charset="-122"/>
                <a:cs typeface="Ubuntu" pitchFamily="34" charset="-120"/>
              </a:rPr>
              <a:t>On board, if the data is small and can be defined before launch. On the ground, if the raw observation must be preserved.</a:t>
            </a:r>
            <a:endParaRPr lang="en-US" sz="1600" dirty="0"/>
          </a:p>
        </p:txBody>
      </p:sp>
      <p:sp>
        <p:nvSpPr>
          <p:cNvPr id="31" name="Text 29"/>
          <p:cNvSpPr txBox="1"/>
          <p:nvPr/>
        </p:nvSpPr>
        <p:spPr>
          <a:xfrm>
            <a:off x="658368" y="6035040"/>
            <a:ext cx="10881360" cy="310896"/>
          </a:xfrm>
          <a:prstGeom prst="rect">
            <a:avLst/>
          </a:prstGeom>
          <a:noFill/>
          <a:ln/>
        </p:spPr>
        <p:txBody>
          <a:bodyPr wrap="square" lIns="0" tIns="0" rIns="0" bIns="0" rtlCol="0" anchor="ctr"/>
          <a:lstStyle/>
          <a:p>
            <a:pPr marL="0" indent="0">
              <a:buNone/>
              <a:defRPr>
                <a:latin typeface="Ubuntu"/>
                <a:ea typeface="Ubuntu"/>
                <a:cs typeface="Ubuntu"/>
              </a:defRPr>
            </a:pPr>
            <a:r>
              <a:rPr lang="en-US" sz="1500" b="1" dirty="0">
                <a:solidFill>
                  <a:srgbClr val="D85A30"/>
                </a:solidFill>
                <a:latin typeface="Ubuntu" pitchFamily="34" charset="0"/>
                <a:ea typeface="Ubuntu" pitchFamily="34" charset="-122"/>
                <a:cs typeface="Ubuntu" pitchFamily="34" charset="-120"/>
              </a:rPr>
              <a:t>A payload is selected against what the platform, the orbit and the link can support.</a:t>
            </a:r>
            <a:endParaRPr lang="en-US" sz="1500" dirty="0"/>
          </a:p>
        </p:txBody>
      </p:sp>
      <p:sp>
        <p:nvSpPr>
          <p:cNvPr id="32" name="Text 30"/>
          <p:cNvSpPr txBox="1"/>
          <p:nvPr/>
        </p:nvSpPr>
        <p:spPr>
          <a:xfrm>
            <a:off x="658368" y="6382512"/>
            <a:ext cx="73152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950" dirty="0">
                <a:solidFill>
                  <a:srgbClr val="A6B0C4"/>
                </a:solidFill>
                <a:latin typeface="Ubuntu" pitchFamily="34" charset="0"/>
                <a:ea typeface="Ubuntu" pitchFamily="34" charset="-122"/>
                <a:cs typeface="Ubuntu" pitchFamily="34" charset="-120"/>
              </a:rPr>
              <a:t>Payload Systems</a:t>
            </a:r>
            <a:endParaRPr lang="en-US" sz="950" dirty="0"/>
          </a:p>
        </p:txBody>
      </p:sp>
      <p:sp>
        <p:nvSpPr>
          <p:cNvPr id="35" name="Slide Number Placeholder 7">
            <a:extLst>
              <a:ext uri="{FF2B5EF4-FFF2-40B4-BE49-F238E27FC236}">
                <a16:creationId xmlns:a16="http://schemas.microsoft.com/office/drawing/2014/main" id="{2AB7D574-CCE9-B5CF-6026-0E042F929025}"/>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9</a:t>
            </a:fld>
            <a:endParaRPr lang="en-US" sz="4800" b="1" dirty="0">
              <a:solidFill>
                <a:srgbClr val="FF0000"/>
              </a:solidFill>
            </a:endParaRPr>
          </a:p>
        </p:txBody>
      </p:sp>
      <p:pic>
        <p:nvPicPr>
          <p:cNvPr id="36" name="Space Faculty logo" descr="sf_logo.png"/>
          <p:cNvPicPr>
            <a:picLocks noChangeAspect="1"/>
          </p:cNvPicPr>
          <p:nvPr/>
        </p:nvPicPr>
        <p:blipFill>
          <a:blip r:embed="rId3"/>
          <a:stretch>
            <a:fillRect/>
          </a:stretch>
        </p:blipFill>
        <p:spPr>
          <a:xfrm>
            <a:off x="10470386" y="54864"/>
            <a:ext cx="1608838" cy="457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39057" y="152400"/>
            <a:ext cx="6434870"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spc="-5" dirty="0">
                <a:latin typeface="House Movements Runway" panose="020B0604020202020204" pitchFamily="34" charset="0"/>
                <a:cs typeface="House Movements Runway" panose="020B0604020202020204" pitchFamily="34" charset="0"/>
              </a:rPr>
              <a:t>Payload</a:t>
            </a:r>
            <a:r>
              <a:rPr sz="4000" b="1" spc="-30" dirty="0">
                <a:latin typeface="House Movements Runway" panose="020B0604020202020204" pitchFamily="34" charset="0"/>
                <a:cs typeface="House Movements Runway" panose="020B0604020202020204" pitchFamily="34" charset="0"/>
              </a:rPr>
              <a:t> </a:t>
            </a:r>
            <a:r>
              <a:rPr sz="4000" b="1" dirty="0">
                <a:latin typeface="House Movements Runway" panose="020B0604020202020204" pitchFamily="34" charset="0"/>
                <a:cs typeface="House Movements Runway" panose="020B0604020202020204" pitchFamily="34" charset="0"/>
              </a:rPr>
              <a:t>Drivers</a:t>
            </a:r>
          </a:p>
        </p:txBody>
      </p:sp>
      <p:graphicFrame>
        <p:nvGraphicFramePr>
          <p:cNvPr id="3" name="object 3"/>
          <p:cNvGraphicFramePr>
            <a:graphicFrameLocks noGrp="1"/>
          </p:cNvGraphicFramePr>
          <p:nvPr/>
        </p:nvGraphicFramePr>
        <p:xfrm>
          <a:off x="73384" y="1143000"/>
          <a:ext cx="11966216" cy="5105400"/>
        </p:xfrm>
        <a:graphic>
          <a:graphicData uri="http://schemas.openxmlformats.org/drawingml/2006/table">
            <a:tbl>
              <a:tblPr firstRow="1" bandRow="1">
                <a:tableStyleId>{5940675A-B579-460E-94D1-54222C63F5DA}</a:tableStyleId>
              </a:tblPr>
              <a:tblGrid>
                <a:gridCol w="3812816">
                  <a:extLst>
                    <a:ext uri="{9D8B030D-6E8A-4147-A177-3AD203B41FA5}">
                      <a16:colId xmlns:a16="http://schemas.microsoft.com/office/drawing/2014/main" val="20000"/>
                    </a:ext>
                  </a:extLst>
                </a:gridCol>
                <a:gridCol w="8153400">
                  <a:extLst>
                    <a:ext uri="{9D8B030D-6E8A-4147-A177-3AD203B41FA5}">
                      <a16:colId xmlns:a16="http://schemas.microsoft.com/office/drawing/2014/main" val="20001"/>
                    </a:ext>
                  </a:extLst>
                </a:gridCol>
              </a:tblGrid>
              <a:tr h="554935">
                <a:tc>
                  <a:txBody>
                    <a:bodyPr/>
                    <a:lstStyle/>
                    <a:p>
                      <a:pPr marL="91440">
                        <a:lnSpc>
                          <a:spcPct val="100000"/>
                        </a:lnSpc>
                        <a:spcBef>
                          <a:spcPts val="284"/>
                        </a:spcBef>
                        <a:defRPr>
                          <a:latin typeface="Ubuntu"/>
                          <a:ea typeface="Ubuntu"/>
                          <a:cs typeface="Ubuntu"/>
                        </a:defRPr>
                      </a:pPr>
                      <a:r>
                        <a:rPr sz="2350" b="1" spc="70" dirty="0">
                          <a:latin typeface="Ubuntu" panose="020B0604020202020204" pitchFamily="34" charset="0"/>
                          <a:cs typeface="Ubuntu" panose="020B0604020202020204" pitchFamily="34" charset="0"/>
                        </a:rPr>
                        <a:t>Instrument</a:t>
                      </a:r>
                      <a:r>
                        <a:rPr sz="2350" b="1" spc="-15" dirty="0">
                          <a:latin typeface="Ubuntu" panose="020B0604020202020204" pitchFamily="34" charset="0"/>
                          <a:cs typeface="Ubuntu" panose="020B0604020202020204" pitchFamily="34" charset="0"/>
                        </a:rPr>
                        <a:t> </a:t>
                      </a:r>
                      <a:r>
                        <a:rPr sz="2350" b="1" spc="60" dirty="0">
                          <a:latin typeface="Ubuntu" panose="020B0604020202020204" pitchFamily="34" charset="0"/>
                          <a:cs typeface="Ubuntu" panose="020B0604020202020204" pitchFamily="34" charset="0"/>
                        </a:rPr>
                        <a:t>Type</a:t>
                      </a:r>
                      <a:endParaRPr sz="2350" b="1">
                        <a:latin typeface="Arial" panose="020B0604020202020204" pitchFamily="34" charset="0"/>
                        <a:cs typeface="Arial" panose="020B0604020202020204" pitchFamily="34" charset="0"/>
                      </a:endParaRPr>
                    </a:p>
                  </a:txBody>
                  <a:tcPr marL="0" marR="0" marT="36194" marB="0"/>
                </a:tc>
                <a:tc>
                  <a:txBody>
                    <a:bodyPr/>
                    <a:lstStyle/>
                    <a:p>
                      <a:pPr marL="91440">
                        <a:lnSpc>
                          <a:spcPct val="100000"/>
                        </a:lnSpc>
                        <a:spcBef>
                          <a:spcPts val="284"/>
                        </a:spcBef>
                        <a:defRPr>
                          <a:latin typeface="Ubuntu"/>
                          <a:ea typeface="Ubuntu"/>
                          <a:cs typeface="Ubuntu"/>
                        </a:defRPr>
                      </a:pPr>
                      <a:r>
                        <a:rPr sz="2350" b="1" spc="75" dirty="0">
                          <a:latin typeface="Ubuntu" panose="020B0604020202020204" pitchFamily="34" charset="0"/>
                          <a:cs typeface="Ubuntu" panose="020B0604020202020204" pitchFamily="34" charset="0"/>
                        </a:rPr>
                        <a:t>Main</a:t>
                      </a:r>
                      <a:r>
                        <a:rPr sz="2350" b="1" dirty="0">
                          <a:latin typeface="Ubuntu" panose="020B0604020202020204" pitchFamily="34" charset="0"/>
                          <a:cs typeface="Ubuntu" panose="020B0604020202020204" pitchFamily="34" charset="0"/>
                        </a:rPr>
                        <a:t> </a:t>
                      </a:r>
                      <a:r>
                        <a:rPr sz="2350" b="1" spc="70" dirty="0">
                          <a:latin typeface="Ubuntu" panose="020B0604020202020204" pitchFamily="34" charset="0"/>
                          <a:cs typeface="Ubuntu" panose="020B0604020202020204" pitchFamily="34" charset="0"/>
                        </a:rPr>
                        <a:t>Drivers</a:t>
                      </a:r>
                      <a:r>
                        <a:rPr sz="2350" b="1" spc="5" dirty="0">
                          <a:latin typeface="Ubuntu" panose="020B0604020202020204" pitchFamily="34" charset="0"/>
                          <a:cs typeface="Ubuntu" panose="020B0604020202020204" pitchFamily="34" charset="0"/>
                        </a:rPr>
                        <a:t> </a:t>
                      </a:r>
                      <a:r>
                        <a:rPr sz="2350" b="1" spc="75" dirty="0">
                          <a:latin typeface="Ubuntu" panose="020B0604020202020204" pitchFamily="34" charset="0"/>
                          <a:cs typeface="Ubuntu" panose="020B0604020202020204" pitchFamily="34" charset="0"/>
                        </a:rPr>
                        <a:t>on</a:t>
                      </a:r>
                      <a:r>
                        <a:rPr sz="2350" b="1" dirty="0">
                          <a:latin typeface="Ubuntu" panose="020B0604020202020204" pitchFamily="34" charset="0"/>
                          <a:cs typeface="Ubuntu" panose="020B0604020202020204" pitchFamily="34" charset="0"/>
                        </a:rPr>
                        <a:t> </a:t>
                      </a:r>
                      <a:r>
                        <a:rPr sz="2350" b="1" spc="70" dirty="0">
                          <a:latin typeface="Ubuntu" panose="020B0604020202020204" pitchFamily="34" charset="0"/>
                          <a:cs typeface="Ubuntu" panose="020B0604020202020204" pitchFamily="34" charset="0"/>
                        </a:rPr>
                        <a:t>Spacecraft</a:t>
                      </a:r>
                      <a:r>
                        <a:rPr sz="2350" b="1" spc="5" dirty="0">
                          <a:latin typeface="Ubuntu" panose="020B0604020202020204" pitchFamily="34" charset="0"/>
                          <a:cs typeface="Ubuntu" panose="020B0604020202020204" pitchFamily="34" charset="0"/>
                        </a:rPr>
                        <a:t> </a:t>
                      </a:r>
                      <a:r>
                        <a:rPr lang="en-US" sz="2350" b="1" spc="65" dirty="0">
                          <a:latin typeface="Ubuntu" panose="020B0604020202020204" pitchFamily="34" charset="0"/>
                          <a:cs typeface="Ubuntu" panose="020B0604020202020204" pitchFamily="34" charset="0"/>
                        </a:rPr>
                        <a:t>D</a:t>
                      </a:r>
                      <a:r>
                        <a:rPr sz="2350" b="1" spc="65" dirty="0">
                          <a:latin typeface="Ubuntu" panose="020B0604020202020204" pitchFamily="34" charset="0"/>
                          <a:cs typeface="Ubuntu" panose="020B0604020202020204" pitchFamily="34" charset="0"/>
                        </a:rPr>
                        <a:t>esign</a:t>
                      </a:r>
                      <a:endParaRPr sz="2350" b="1" dirty="0">
                        <a:latin typeface="Arial" panose="020B0604020202020204" pitchFamily="34" charset="0"/>
                        <a:cs typeface="Arial" panose="020B0604020202020204" pitchFamily="34" charset="0"/>
                      </a:endParaRPr>
                    </a:p>
                  </a:txBody>
                  <a:tcPr marL="0" marR="0" marT="36194" marB="0"/>
                </a:tc>
                <a:extLst>
                  <a:ext uri="{0D108BD9-81ED-4DB2-BD59-A6C34878D82A}">
                    <a16:rowId xmlns:a16="http://schemas.microsoft.com/office/drawing/2014/main" val="10000"/>
                  </a:ext>
                </a:extLst>
              </a:tr>
              <a:tr h="909036">
                <a:tc>
                  <a:txBody>
                    <a:bodyPr/>
                    <a:lstStyle/>
                    <a:p>
                      <a:pPr marL="433705" indent="-342900">
                        <a:lnSpc>
                          <a:spcPct val="100000"/>
                        </a:lnSpc>
                        <a:spcBef>
                          <a:spcPts val="265"/>
                        </a:spcBef>
                        <a:buFont typeface="Wingdings" panose="05000000000000000000" pitchFamily="2" charset="2"/>
                        <a:buChar char="q"/>
                        <a:tabLst>
                          <a:tab pos="280035" algn="l"/>
                        </a:tabLst>
                        <a:defRPr>
                          <a:latin typeface="Ubuntu"/>
                          <a:ea typeface="Ubuntu"/>
                          <a:cs typeface="Ubuntu"/>
                        </a:defRPr>
                      </a:pPr>
                      <a:r>
                        <a:rPr sz="2400" dirty="0">
                          <a:latin typeface="Ubuntu"/>
                          <a:ea typeface="Ubuntu"/>
                          <a:cs typeface="Ubuntu"/>
                        </a:rPr>
                        <a:t>Hi-Res</a:t>
                      </a:r>
                      <a:r>
                        <a:rPr sz="2400" spc="-25" dirty="0">
                          <a:latin typeface="Ubuntu"/>
                          <a:ea typeface="Ubuntu"/>
                          <a:cs typeface="Ubuntu"/>
                        </a:rPr>
                        <a:t> </a:t>
                      </a:r>
                      <a:r>
                        <a:rPr sz="2400" spc="-5" dirty="0">
                          <a:latin typeface="Ubuntu"/>
                          <a:ea typeface="Ubuntu"/>
                          <a:cs typeface="Ubuntu"/>
                        </a:rPr>
                        <a:t>Visible/IR</a:t>
                      </a:r>
                      <a:r>
                        <a:rPr sz="2400" spc="-25" dirty="0">
                          <a:latin typeface="Ubuntu"/>
                          <a:ea typeface="Ubuntu"/>
                          <a:cs typeface="Ubuntu"/>
                        </a:rPr>
                        <a:t> </a:t>
                      </a:r>
                      <a:r>
                        <a:rPr sz="2400" dirty="0">
                          <a:latin typeface="Ubuntu"/>
                          <a:ea typeface="Ubuntu"/>
                          <a:cs typeface="Ubuntu"/>
                        </a:rPr>
                        <a:t>imager</a:t>
                      </a:r>
                      <a:endParaRPr sz="2400" dirty="0">
                        <a:latin typeface="Microsoft Sans Serif"/>
                        <a:cs typeface="Microsoft Sans Serif"/>
                      </a:endParaRPr>
                    </a:p>
                  </a:txBody>
                  <a:tcPr marL="0" marR="0" marT="33655" marB="0"/>
                </a:tc>
                <a:tc>
                  <a:txBody>
                    <a:bodyPr/>
                    <a:lstStyle/>
                    <a:p>
                      <a:pPr marL="433705" indent="-342900">
                        <a:lnSpc>
                          <a:spcPct val="100000"/>
                        </a:lnSpc>
                        <a:spcBef>
                          <a:spcPts val="265"/>
                        </a:spcBef>
                        <a:buSzPct val="95833"/>
                        <a:buFont typeface="Wingdings" panose="05000000000000000000" pitchFamily="2" charset="2"/>
                        <a:buChar char="q"/>
                        <a:tabLst>
                          <a:tab pos="199390" algn="l"/>
                        </a:tabLst>
                        <a:defRPr>
                          <a:latin typeface="Ubuntu"/>
                          <a:ea typeface="Ubuntu"/>
                          <a:cs typeface="Ubuntu"/>
                        </a:defRPr>
                      </a:pPr>
                      <a:r>
                        <a:rPr sz="2400" spc="-5" dirty="0">
                          <a:latin typeface="Ubuntu"/>
                          <a:ea typeface="Ubuntu"/>
                          <a:cs typeface="Ubuntu"/>
                        </a:rPr>
                        <a:t>Data</a:t>
                      </a:r>
                      <a:r>
                        <a:rPr sz="2400" dirty="0">
                          <a:latin typeface="Ubuntu"/>
                          <a:ea typeface="Ubuntu"/>
                          <a:cs typeface="Ubuntu"/>
                        </a:rPr>
                        <a:t> </a:t>
                      </a:r>
                      <a:r>
                        <a:rPr sz="2400" spc="-5" dirty="0">
                          <a:latin typeface="Ubuntu"/>
                          <a:ea typeface="Ubuntu"/>
                          <a:cs typeface="Ubuntu"/>
                        </a:rPr>
                        <a:t>rate</a:t>
                      </a:r>
                      <a:r>
                        <a:rPr sz="2400" dirty="0">
                          <a:latin typeface="Ubuntu"/>
                          <a:ea typeface="Ubuntu"/>
                          <a:cs typeface="Ubuntu"/>
                        </a:rPr>
                        <a:t> </a:t>
                      </a:r>
                      <a:r>
                        <a:rPr sz="2400" spc="-5" dirty="0">
                          <a:latin typeface="Ubuntu"/>
                          <a:ea typeface="Ubuntu"/>
                          <a:cs typeface="Ubuntu"/>
                        </a:rPr>
                        <a:t>(storage,</a:t>
                      </a:r>
                      <a:r>
                        <a:rPr sz="2400" spc="5" dirty="0">
                          <a:latin typeface="Ubuntu"/>
                          <a:ea typeface="Ubuntu"/>
                          <a:cs typeface="Ubuntu"/>
                        </a:rPr>
                        <a:t> </a:t>
                      </a:r>
                      <a:r>
                        <a:rPr sz="2400" spc="-5" dirty="0">
                          <a:latin typeface="Ubuntu"/>
                          <a:ea typeface="Ubuntu"/>
                          <a:cs typeface="Ubuntu"/>
                        </a:rPr>
                        <a:t>transmission).</a:t>
                      </a:r>
                      <a:endParaRPr sz="2400"/>
                    </a:p>
                    <a:p>
                      <a:pPr marL="433705" indent="-342900">
                        <a:lnSpc>
                          <a:spcPct val="100000"/>
                        </a:lnSpc>
                        <a:spcBef>
                          <a:spcPts val="405"/>
                        </a:spcBef>
                        <a:buSzPct val="95833"/>
                        <a:buFont typeface="Wingdings" panose="05000000000000000000" pitchFamily="2" charset="2"/>
                        <a:buChar char="q"/>
                        <a:tabLst>
                          <a:tab pos="199390" algn="l"/>
                        </a:tabLst>
                        <a:defRPr>
                          <a:latin typeface="Ubuntu"/>
                          <a:ea typeface="Ubuntu"/>
                          <a:cs typeface="Ubuntu"/>
                        </a:defRPr>
                      </a:pPr>
                      <a:r>
                        <a:rPr sz="2400" spc="-5" dirty="0">
                          <a:latin typeface="Ubuntu"/>
                          <a:ea typeface="Ubuntu"/>
                          <a:cs typeface="Ubuntu"/>
                        </a:rPr>
                        <a:t>Pointing</a:t>
                      </a:r>
                      <a:r>
                        <a:rPr sz="2400" spc="-10" dirty="0">
                          <a:latin typeface="Ubuntu"/>
                          <a:ea typeface="Ubuntu"/>
                          <a:cs typeface="Ubuntu"/>
                        </a:rPr>
                        <a:t> </a:t>
                      </a:r>
                      <a:r>
                        <a:rPr sz="2400" dirty="0">
                          <a:latin typeface="Ubuntu"/>
                          <a:ea typeface="Ubuntu"/>
                          <a:cs typeface="Ubuntu"/>
                        </a:rPr>
                        <a:t>and</a:t>
                      </a:r>
                      <a:r>
                        <a:rPr sz="2400" spc="-10" dirty="0">
                          <a:latin typeface="Ubuntu"/>
                          <a:ea typeface="Ubuntu"/>
                          <a:cs typeface="Ubuntu"/>
                        </a:rPr>
                        <a:t> </a:t>
                      </a:r>
                      <a:r>
                        <a:rPr sz="2400" spc="-5" dirty="0">
                          <a:latin typeface="Ubuntu"/>
                          <a:ea typeface="Ubuntu"/>
                          <a:cs typeface="Ubuntu"/>
                        </a:rPr>
                        <a:t>stabilization.</a:t>
                      </a:r>
                      <a:endParaRPr sz="2400">
                        <a:latin typeface="Microsoft Sans Serif"/>
                        <a:cs typeface="Microsoft Sans Serif"/>
                      </a:endParaRPr>
                    </a:p>
                  </a:txBody>
                  <a:tcPr marL="0" marR="0" marT="33655" marB="0"/>
                </a:tc>
                <a:extLst>
                  <a:ext uri="{0D108BD9-81ED-4DB2-BD59-A6C34878D82A}">
                    <a16:rowId xmlns:a16="http://schemas.microsoft.com/office/drawing/2014/main" val="10001"/>
                  </a:ext>
                </a:extLst>
              </a:tr>
              <a:tr h="856185">
                <a:tc>
                  <a:txBody>
                    <a:bodyPr/>
                    <a:lstStyle/>
                    <a:p>
                      <a:pPr marL="434340" indent="-342900">
                        <a:lnSpc>
                          <a:spcPct val="100000"/>
                        </a:lnSpc>
                        <a:spcBef>
                          <a:spcPts val="24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Thermal</a:t>
                      </a:r>
                      <a:r>
                        <a:rPr sz="2400" spc="-40" dirty="0">
                          <a:latin typeface="Ubuntu"/>
                          <a:ea typeface="Ubuntu"/>
                          <a:cs typeface="Ubuntu"/>
                        </a:rPr>
                        <a:t> </a:t>
                      </a:r>
                      <a:r>
                        <a:rPr sz="2400" spc="-5" dirty="0">
                          <a:latin typeface="Ubuntu"/>
                          <a:ea typeface="Ubuntu"/>
                          <a:cs typeface="Ubuntu"/>
                        </a:rPr>
                        <a:t>IR</a:t>
                      </a:r>
                      <a:endParaRPr sz="2400" dirty="0">
                        <a:latin typeface="Microsoft Sans Serif"/>
                        <a:cs typeface="Microsoft Sans Serif"/>
                      </a:endParaRPr>
                    </a:p>
                  </a:txBody>
                  <a:tcPr marL="0" marR="0" marT="31115" marB="0"/>
                </a:tc>
                <a:tc>
                  <a:txBody>
                    <a:bodyPr/>
                    <a:lstStyle/>
                    <a:p>
                      <a:pPr marL="434340" indent="-342900">
                        <a:lnSpc>
                          <a:spcPct val="100000"/>
                        </a:lnSpc>
                        <a:spcBef>
                          <a:spcPts val="24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Detector</a:t>
                      </a:r>
                      <a:r>
                        <a:rPr sz="2400" spc="-40" dirty="0">
                          <a:latin typeface="Ubuntu"/>
                          <a:ea typeface="Ubuntu"/>
                          <a:cs typeface="Ubuntu"/>
                        </a:rPr>
                        <a:t> </a:t>
                      </a:r>
                      <a:r>
                        <a:rPr sz="2400" dirty="0">
                          <a:latin typeface="Ubuntu"/>
                          <a:ea typeface="Ubuntu"/>
                          <a:cs typeface="Ubuntu"/>
                        </a:rPr>
                        <a:t>cooling.</a:t>
                      </a:r>
                      <a:endParaRPr sz="2400"/>
                    </a:p>
                    <a:p>
                      <a:pPr marL="434340" indent="-342900">
                        <a:lnSpc>
                          <a:spcPct val="100000"/>
                        </a:lnSpc>
                        <a:spcBef>
                          <a:spcPts val="2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Calibration.</a:t>
                      </a:r>
                      <a:endParaRPr sz="2400">
                        <a:latin typeface="Microsoft Sans Serif"/>
                        <a:cs typeface="Microsoft Sans Serif"/>
                      </a:endParaRPr>
                    </a:p>
                  </a:txBody>
                  <a:tcPr marL="0" marR="0" marT="31115" marB="0"/>
                </a:tc>
                <a:extLst>
                  <a:ext uri="{0D108BD9-81ED-4DB2-BD59-A6C34878D82A}">
                    <a16:rowId xmlns:a16="http://schemas.microsoft.com/office/drawing/2014/main" val="10002"/>
                  </a:ext>
                </a:extLst>
              </a:tr>
              <a:tr h="1617239">
                <a:tc>
                  <a:txBody>
                    <a:bodyPr/>
                    <a:lstStyle/>
                    <a:p>
                      <a:pPr marL="434340" indent="-342900">
                        <a:lnSpc>
                          <a:spcPct val="100000"/>
                        </a:lnSpc>
                        <a:spcBef>
                          <a:spcPts val="24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SAR</a:t>
                      </a:r>
                      <a:endParaRPr sz="2400">
                        <a:latin typeface="Microsoft Sans Serif"/>
                        <a:cs typeface="Microsoft Sans Serif"/>
                      </a:endParaRPr>
                    </a:p>
                  </a:txBody>
                  <a:tcPr marL="0" marR="0" marT="31115" marB="0"/>
                </a:tc>
                <a:tc>
                  <a:txBody>
                    <a:bodyPr/>
                    <a:lstStyle/>
                    <a:p>
                      <a:pPr marL="434340" indent="-342900">
                        <a:lnSpc>
                          <a:spcPct val="100000"/>
                        </a:lnSpc>
                        <a:spcBef>
                          <a:spcPts val="24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Data</a:t>
                      </a:r>
                      <a:r>
                        <a:rPr sz="2400" dirty="0">
                          <a:latin typeface="Ubuntu"/>
                          <a:ea typeface="Ubuntu"/>
                          <a:cs typeface="Ubuntu"/>
                        </a:rPr>
                        <a:t> </a:t>
                      </a:r>
                      <a:r>
                        <a:rPr sz="2400" spc="-5" dirty="0">
                          <a:latin typeface="Ubuntu"/>
                          <a:ea typeface="Ubuntu"/>
                          <a:cs typeface="Ubuntu"/>
                        </a:rPr>
                        <a:t>rate</a:t>
                      </a:r>
                      <a:r>
                        <a:rPr sz="2400" dirty="0">
                          <a:latin typeface="Ubuntu"/>
                          <a:ea typeface="Ubuntu"/>
                          <a:cs typeface="Ubuntu"/>
                        </a:rPr>
                        <a:t> </a:t>
                      </a:r>
                      <a:r>
                        <a:rPr sz="2400" spc="-5" dirty="0">
                          <a:latin typeface="Ubuntu"/>
                          <a:ea typeface="Ubuntu"/>
                          <a:cs typeface="Ubuntu"/>
                        </a:rPr>
                        <a:t>(storage,</a:t>
                      </a:r>
                      <a:r>
                        <a:rPr sz="2400" dirty="0">
                          <a:latin typeface="Ubuntu"/>
                          <a:ea typeface="Ubuntu"/>
                          <a:cs typeface="Ubuntu"/>
                        </a:rPr>
                        <a:t> </a:t>
                      </a:r>
                      <a:r>
                        <a:rPr sz="2400" spc="-5" dirty="0">
                          <a:latin typeface="Ubuntu"/>
                          <a:ea typeface="Ubuntu"/>
                          <a:cs typeface="Ubuntu"/>
                        </a:rPr>
                        <a:t>transmission)</a:t>
                      </a:r>
                      <a:endParaRPr sz="2400" dirty="0"/>
                    </a:p>
                    <a:p>
                      <a:pPr marL="434340" indent="-342900">
                        <a:lnSpc>
                          <a:spcPct val="100000"/>
                        </a:lnSpc>
                        <a:spcBef>
                          <a:spcPts val="2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Antenna storage </a:t>
                      </a:r>
                      <a:r>
                        <a:rPr sz="2400" dirty="0">
                          <a:latin typeface="Ubuntu"/>
                          <a:ea typeface="Ubuntu"/>
                          <a:cs typeface="Ubuntu"/>
                        </a:rPr>
                        <a:t>and</a:t>
                      </a:r>
                      <a:r>
                        <a:rPr sz="2400" spc="-5" dirty="0">
                          <a:latin typeface="Ubuntu"/>
                          <a:ea typeface="Ubuntu"/>
                          <a:cs typeface="Ubuntu"/>
                        </a:rPr>
                        <a:t> deployment.</a:t>
                      </a:r>
                      <a:endParaRPr sz="2400" dirty="0"/>
                    </a:p>
                    <a:p>
                      <a:pPr marL="434340" indent="-342900">
                        <a:lnSpc>
                          <a:spcPct val="100000"/>
                        </a:lnSpc>
                        <a:spcBef>
                          <a:spcPts val="2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Power</a:t>
                      </a:r>
                      <a:r>
                        <a:rPr sz="2400" dirty="0">
                          <a:latin typeface="Ubuntu"/>
                          <a:ea typeface="Ubuntu"/>
                          <a:cs typeface="Ubuntu"/>
                        </a:rPr>
                        <a:t> </a:t>
                      </a:r>
                      <a:r>
                        <a:rPr sz="2400" spc="-5" dirty="0">
                          <a:latin typeface="Ubuntu"/>
                          <a:ea typeface="Ubuntu"/>
                          <a:cs typeface="Ubuntu"/>
                        </a:rPr>
                        <a:t>demand,</a:t>
                      </a:r>
                      <a:r>
                        <a:rPr sz="2400" spc="5" dirty="0">
                          <a:latin typeface="Ubuntu"/>
                          <a:ea typeface="Ubuntu"/>
                          <a:cs typeface="Ubuntu"/>
                        </a:rPr>
                        <a:t> </a:t>
                      </a:r>
                      <a:r>
                        <a:rPr sz="2400" spc="-5" dirty="0">
                          <a:latin typeface="Ubuntu"/>
                          <a:ea typeface="Ubuntu"/>
                          <a:cs typeface="Ubuntu"/>
                        </a:rPr>
                        <a:t>thermal</a:t>
                      </a:r>
                      <a:r>
                        <a:rPr sz="2400" dirty="0">
                          <a:latin typeface="Ubuntu"/>
                          <a:ea typeface="Ubuntu"/>
                          <a:cs typeface="Ubuntu"/>
                        </a:rPr>
                        <a:t> </a:t>
                      </a:r>
                      <a:r>
                        <a:rPr sz="2400" spc="-5" dirty="0">
                          <a:latin typeface="Ubuntu"/>
                          <a:ea typeface="Ubuntu"/>
                          <a:cs typeface="Ubuntu"/>
                        </a:rPr>
                        <a:t>dissipation.</a:t>
                      </a:r>
                      <a:endParaRPr sz="2400" dirty="0"/>
                    </a:p>
                    <a:p>
                      <a:pPr marL="434340" indent="-342900">
                        <a:lnSpc>
                          <a:spcPct val="100000"/>
                        </a:lnSpc>
                        <a:spcBef>
                          <a:spcPts val="2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Electromagnetic</a:t>
                      </a:r>
                      <a:r>
                        <a:rPr sz="2400" spc="5" dirty="0">
                          <a:latin typeface="Ubuntu"/>
                          <a:ea typeface="Ubuntu"/>
                          <a:cs typeface="Ubuntu"/>
                        </a:rPr>
                        <a:t> </a:t>
                      </a:r>
                      <a:r>
                        <a:rPr sz="2400" spc="-5" dirty="0">
                          <a:latin typeface="Ubuntu"/>
                          <a:ea typeface="Ubuntu"/>
                          <a:cs typeface="Ubuntu"/>
                        </a:rPr>
                        <a:t>compatibility</a:t>
                      </a:r>
                      <a:r>
                        <a:rPr sz="2400" spc="5" dirty="0">
                          <a:latin typeface="Ubuntu"/>
                          <a:ea typeface="Ubuntu"/>
                          <a:cs typeface="Ubuntu"/>
                        </a:rPr>
                        <a:t> </a:t>
                      </a:r>
                      <a:r>
                        <a:rPr sz="2400" spc="-5" dirty="0">
                          <a:latin typeface="Ubuntu"/>
                          <a:ea typeface="Ubuntu"/>
                          <a:cs typeface="Ubuntu"/>
                        </a:rPr>
                        <a:t>(EMC).</a:t>
                      </a:r>
                      <a:endParaRPr sz="2400" dirty="0">
                        <a:latin typeface="Microsoft Sans Serif"/>
                        <a:cs typeface="Microsoft Sans Serif"/>
                      </a:endParaRPr>
                    </a:p>
                  </a:txBody>
                  <a:tcPr marL="0" marR="0" marT="31115" marB="0"/>
                </a:tc>
                <a:extLst>
                  <a:ext uri="{0D108BD9-81ED-4DB2-BD59-A6C34878D82A}">
                    <a16:rowId xmlns:a16="http://schemas.microsoft.com/office/drawing/2014/main" val="10003"/>
                  </a:ext>
                </a:extLst>
              </a:tr>
              <a:tr h="475658">
                <a:tc>
                  <a:txBody>
                    <a:bodyPr/>
                    <a:lstStyle/>
                    <a:p>
                      <a:pPr marL="434340" indent="-342900">
                        <a:lnSpc>
                          <a:spcPct val="100000"/>
                        </a:lnSpc>
                        <a:spcBef>
                          <a:spcPts val="24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Passive</a:t>
                      </a:r>
                      <a:r>
                        <a:rPr sz="2400" spc="-40" dirty="0">
                          <a:latin typeface="Ubuntu"/>
                          <a:ea typeface="Ubuntu"/>
                          <a:cs typeface="Ubuntu"/>
                        </a:rPr>
                        <a:t> </a:t>
                      </a:r>
                      <a:r>
                        <a:rPr sz="2400" dirty="0">
                          <a:latin typeface="Ubuntu"/>
                          <a:ea typeface="Ubuntu"/>
                          <a:cs typeface="Ubuntu"/>
                        </a:rPr>
                        <a:t>microwave</a:t>
                      </a:r>
                      <a:endParaRPr sz="2400">
                        <a:latin typeface="Microsoft Sans Serif"/>
                        <a:cs typeface="Microsoft Sans Serif"/>
                      </a:endParaRPr>
                    </a:p>
                  </a:txBody>
                  <a:tcPr marL="0" marR="0" marT="31115" marB="0"/>
                </a:tc>
                <a:tc>
                  <a:txBody>
                    <a:bodyPr/>
                    <a:lstStyle/>
                    <a:p>
                      <a:pPr marL="434340" indent="-342900">
                        <a:lnSpc>
                          <a:spcPct val="100000"/>
                        </a:lnSpc>
                        <a:spcBef>
                          <a:spcPts val="24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Antenna</a:t>
                      </a:r>
                      <a:r>
                        <a:rPr sz="2400" spc="-40" dirty="0">
                          <a:latin typeface="Ubuntu"/>
                          <a:ea typeface="Ubuntu"/>
                          <a:cs typeface="Ubuntu"/>
                        </a:rPr>
                        <a:t> </a:t>
                      </a:r>
                      <a:r>
                        <a:rPr sz="2400" dirty="0">
                          <a:latin typeface="Ubuntu"/>
                          <a:ea typeface="Ubuntu"/>
                          <a:cs typeface="Ubuntu"/>
                        </a:rPr>
                        <a:t>size.</a:t>
                      </a:r>
                      <a:endParaRPr sz="2400" dirty="0">
                        <a:latin typeface="Microsoft Sans Serif"/>
                        <a:cs typeface="Microsoft Sans Serif"/>
                      </a:endParaRPr>
                    </a:p>
                  </a:txBody>
                  <a:tcPr marL="0" marR="0" marT="31115" marB="0"/>
                </a:tc>
                <a:extLst>
                  <a:ext uri="{0D108BD9-81ED-4DB2-BD59-A6C34878D82A}">
                    <a16:rowId xmlns:a16="http://schemas.microsoft.com/office/drawing/2014/main" val="10004"/>
                  </a:ext>
                </a:extLst>
              </a:tr>
              <a:tr h="692347">
                <a:tc>
                  <a:txBody>
                    <a:bodyPr/>
                    <a:lstStyle/>
                    <a:p>
                      <a:pPr marL="434340" indent="-342900">
                        <a:lnSpc>
                          <a:spcPct val="100000"/>
                        </a:lnSpc>
                        <a:spcBef>
                          <a:spcPts val="24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Altimetry</a:t>
                      </a:r>
                      <a:endParaRPr sz="2400">
                        <a:latin typeface="Microsoft Sans Serif"/>
                        <a:cs typeface="Microsoft Sans Serif"/>
                      </a:endParaRPr>
                    </a:p>
                  </a:txBody>
                  <a:tcPr marL="0" marR="0" marT="31115" marB="0"/>
                </a:tc>
                <a:tc>
                  <a:txBody>
                    <a:bodyPr/>
                    <a:lstStyle/>
                    <a:p>
                      <a:pPr marL="434340" indent="-342900">
                        <a:lnSpc>
                          <a:spcPct val="100000"/>
                        </a:lnSpc>
                        <a:spcBef>
                          <a:spcPts val="245"/>
                        </a:spcBef>
                        <a:buFont typeface="Wingdings" panose="05000000000000000000" pitchFamily="2" charset="2"/>
                        <a:buChar char="q"/>
                        <a:tabLst>
                          <a:tab pos="344805" algn="l"/>
                          <a:tab pos="345440" algn="l"/>
                        </a:tabLst>
                        <a:defRPr>
                          <a:latin typeface="Ubuntu"/>
                          <a:ea typeface="Ubuntu"/>
                          <a:cs typeface="Ubuntu"/>
                        </a:defRPr>
                      </a:pPr>
                      <a:r>
                        <a:rPr sz="2400" spc="-5" dirty="0">
                          <a:latin typeface="Ubuntu"/>
                          <a:ea typeface="Ubuntu"/>
                          <a:cs typeface="Ubuntu"/>
                        </a:rPr>
                        <a:t>Precise</a:t>
                      </a:r>
                      <a:r>
                        <a:rPr sz="2400" dirty="0">
                          <a:latin typeface="Ubuntu"/>
                          <a:ea typeface="Ubuntu"/>
                          <a:cs typeface="Ubuntu"/>
                        </a:rPr>
                        <a:t> </a:t>
                      </a:r>
                      <a:r>
                        <a:rPr sz="2400" spc="-5" dirty="0">
                          <a:latin typeface="Ubuntu"/>
                          <a:ea typeface="Ubuntu"/>
                          <a:cs typeface="Ubuntu"/>
                        </a:rPr>
                        <a:t>in-orbit</a:t>
                      </a:r>
                      <a:r>
                        <a:rPr sz="2400" spc="5" dirty="0">
                          <a:latin typeface="Ubuntu"/>
                          <a:ea typeface="Ubuntu"/>
                          <a:cs typeface="Ubuntu"/>
                        </a:rPr>
                        <a:t> </a:t>
                      </a:r>
                      <a:r>
                        <a:rPr sz="2400" spc="-5" dirty="0">
                          <a:latin typeface="Ubuntu"/>
                          <a:ea typeface="Ubuntu"/>
                          <a:cs typeface="Ubuntu"/>
                        </a:rPr>
                        <a:t>determination.</a:t>
                      </a:r>
                      <a:endParaRPr sz="2400" dirty="0">
                        <a:latin typeface="Microsoft Sans Serif"/>
                        <a:cs typeface="Microsoft Sans Serif"/>
                      </a:endParaRPr>
                    </a:p>
                  </a:txBody>
                  <a:tcPr marL="0" marR="0" marT="31115" marB="0"/>
                </a:tc>
                <a:extLst>
                  <a:ext uri="{0D108BD9-81ED-4DB2-BD59-A6C34878D82A}">
                    <a16:rowId xmlns:a16="http://schemas.microsoft.com/office/drawing/2014/main" val="10005"/>
                  </a:ext>
                </a:extLst>
              </a:tr>
            </a:tbl>
          </a:graphicData>
        </a:graphic>
      </p:graphicFrame>
      <p:sp>
        <p:nvSpPr>
          <p:cNvPr id="6" name="Slide Number Placeholder 7">
            <a:extLst>
              <a:ext uri="{FF2B5EF4-FFF2-40B4-BE49-F238E27FC236}">
                <a16:creationId xmlns:a16="http://schemas.microsoft.com/office/drawing/2014/main" id="{A8F187DF-47ED-AE4C-61F5-42B807C24716}"/>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10</a:t>
            </a:fld>
            <a:endParaRPr lang="en-US" sz="4800" b="1" dirty="0">
              <a:solidFill>
                <a:srgbClr val="FF0000"/>
              </a:solidFill>
            </a:endParaRPr>
          </a:p>
        </p:txBody>
      </p:sp>
      <p:pic>
        <p:nvPicPr>
          <p:cNvPr id="7" name="Space Faculty logo" descr="sf_logo.png"/>
          <p:cNvPicPr>
            <a:picLocks noChangeAspect="1"/>
          </p:cNvPicPr>
          <p:nvPr/>
        </p:nvPicPr>
        <p:blipFill>
          <a:blip r:embed="rId2"/>
          <a:stretch>
            <a:fillRect/>
          </a:stretch>
        </p:blipFill>
        <p:spPr>
          <a:xfrm>
            <a:off x="10450226" y="54863"/>
            <a:ext cx="1628997" cy="4629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897531" y="263418"/>
            <a:ext cx="8138292"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spc="-5" dirty="0">
                <a:latin typeface="House Movements Runway" panose="020B0604020202020204" pitchFamily="34" charset="0"/>
                <a:cs typeface="House Movements Runway" panose="020B0604020202020204" pitchFamily="34" charset="0"/>
              </a:rPr>
              <a:t>Payload</a:t>
            </a:r>
            <a:r>
              <a:rPr sz="4000" b="1" spc="-30"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Design</a:t>
            </a:r>
            <a:r>
              <a:rPr sz="4000" b="1" spc="-25" dirty="0">
                <a:latin typeface="House Movements Runway" panose="020B0604020202020204" pitchFamily="34" charset="0"/>
                <a:cs typeface="House Movements Runway" panose="020B0604020202020204" pitchFamily="34" charset="0"/>
              </a:rPr>
              <a:t> </a:t>
            </a:r>
            <a:r>
              <a:rPr sz="4000" b="1" dirty="0">
                <a:latin typeface="House Movements Runway" panose="020B0604020202020204" pitchFamily="34" charset="0"/>
                <a:cs typeface="House Movements Runway" panose="020B0604020202020204" pitchFamily="34" charset="0"/>
              </a:rPr>
              <a:t>Characteristics</a:t>
            </a:r>
          </a:p>
        </p:txBody>
      </p:sp>
      <p:pic>
        <p:nvPicPr>
          <p:cNvPr id="5" name="object 5"/>
          <p:cNvPicPr/>
          <p:nvPr/>
        </p:nvPicPr>
        <p:blipFill>
          <a:blip r:embed="rId2" cstate="print">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6197833" y="1150888"/>
            <a:ext cx="5994167" cy="4665361"/>
          </a:xfrm>
          <a:prstGeom prst="rect">
            <a:avLst/>
          </a:prstGeom>
        </p:spPr>
      </p:pic>
      <p:sp>
        <p:nvSpPr>
          <p:cNvPr id="11" name="Slide Number Placeholder 7">
            <a:extLst>
              <a:ext uri="{FF2B5EF4-FFF2-40B4-BE49-F238E27FC236}">
                <a16:creationId xmlns:a16="http://schemas.microsoft.com/office/drawing/2014/main" id="{44EE791F-3885-5E0A-0813-24A9969BF452}"/>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11</a:t>
            </a:fld>
            <a:endParaRPr lang="en-US" sz="4800" b="1" dirty="0">
              <a:solidFill>
                <a:srgbClr val="FF0000"/>
              </a:solidFill>
            </a:endParaRPr>
          </a:p>
        </p:txBody>
      </p:sp>
      <p:sp>
        <p:nvSpPr>
          <p:cNvPr id="9" name="object 6">
            <a:extLst>
              <a:ext uri="{FF2B5EF4-FFF2-40B4-BE49-F238E27FC236}">
                <a16:creationId xmlns:a16="http://schemas.microsoft.com/office/drawing/2014/main" id="{920CAC32-E88F-C12A-2AE6-BAA5D7F9862D}"/>
              </a:ext>
            </a:extLst>
          </p:cNvPr>
          <p:cNvSpPr txBox="1"/>
          <p:nvPr/>
        </p:nvSpPr>
        <p:spPr>
          <a:xfrm>
            <a:off x="69011" y="997602"/>
            <a:ext cx="5624423" cy="6392134"/>
          </a:xfrm>
          <a:prstGeom prst="rect">
            <a:avLst/>
          </a:prstGeom>
        </p:spPr>
        <p:txBody>
          <a:bodyPr vert="horz" wrap="square" lIns="0" tIns="10795" rIns="0" bIns="0" rtlCol="0">
            <a:spAutoFit/>
          </a:bodyPr>
          <a:lstStyle/>
          <a:p>
            <a:pPr marL="355600" marR="116205" indent="-342900" algn="just">
              <a:lnSpc>
                <a:spcPct val="100400"/>
              </a:lnSpc>
              <a:spcBef>
                <a:spcPts val="85"/>
              </a:spcBef>
              <a:buFont typeface="Wingdings" panose="05000000000000000000" pitchFamily="2" charset="2"/>
              <a:buChar char="q"/>
              <a:tabLst>
                <a:tab pos="355600" algn="l"/>
              </a:tabLst>
              <a:defRPr>
                <a:latin typeface="Ubuntu"/>
                <a:ea typeface="Ubuntu"/>
                <a:cs typeface="Ubuntu"/>
              </a:defRPr>
            </a:pPr>
            <a:r>
              <a:rPr sz="2400" spc="-5" dirty="0">
                <a:latin typeface="Ubuntu" panose="020B0604020202020204" pitchFamily="34" charset="0"/>
                <a:cs typeface="Ubuntu" panose="020B0604020202020204" pitchFamily="34" charset="0"/>
              </a:rPr>
              <a:t>Sensor </a:t>
            </a:r>
            <a:r>
              <a:rPr sz="2400" dirty="0">
                <a:latin typeface="Ubuntu" panose="020B0604020202020204" pitchFamily="34" charset="0"/>
                <a:cs typeface="Ubuntu" panose="020B0604020202020204" pitchFamily="34" charset="0"/>
              </a:rPr>
              <a:t>design and sizing are </a:t>
            </a:r>
            <a:r>
              <a:rPr sz="2400" spc="-5" dirty="0">
                <a:latin typeface="Ubuntu" panose="020B0604020202020204" pitchFamily="34" charset="0"/>
                <a:cs typeface="Ubuntu" panose="020B0604020202020204" pitchFamily="34" charset="0"/>
              </a:rPr>
              <a:t>determined </a:t>
            </a:r>
            <a:r>
              <a:rPr sz="2400" dirty="0">
                <a:latin typeface="Ubuntu" panose="020B0604020202020204" pitchFamily="34" charset="0"/>
                <a:cs typeface="Ubuntu" panose="020B0604020202020204" pitchFamily="34" charset="0"/>
              </a:rPr>
              <a:t>by a </a:t>
            </a:r>
            <a:r>
              <a:rPr sz="2400" spc="-655" dirty="0">
                <a:latin typeface="Ubuntu" panose="020B0604020202020204" pitchFamily="34" charset="0"/>
                <a:cs typeface="Ubuntu" panose="020B0604020202020204" pitchFamily="34" charset="0"/>
              </a:rPr>
              <a:t> </a:t>
            </a:r>
            <a:r>
              <a:rPr sz="2400" dirty="0">
                <a:latin typeface="Ubuntu" panose="020B0604020202020204" pitchFamily="34" charset="0"/>
                <a:cs typeface="Ubuntu" panose="020B0604020202020204" pitchFamily="34" charset="0"/>
              </a:rPr>
              <a:t>complex </a:t>
            </a:r>
            <a:r>
              <a:rPr sz="2400" spc="-10" dirty="0">
                <a:latin typeface="Ubuntu" panose="020B0604020202020204" pitchFamily="34" charset="0"/>
                <a:cs typeface="Ubuntu" panose="020B0604020202020204" pitchFamily="34" charset="0"/>
              </a:rPr>
              <a:t>trade-off </a:t>
            </a:r>
            <a:r>
              <a:rPr sz="2400" dirty="0">
                <a:latin typeface="Ubuntu" panose="020B0604020202020204" pitchFamily="34" charset="0"/>
                <a:cs typeface="Ubuntu" panose="020B0604020202020204" pitchFamily="34" charset="0"/>
              </a:rPr>
              <a:t>among </a:t>
            </a:r>
            <a:endParaRPr lang="en-US" sz="2400" dirty="0">
              <a:latin typeface="Arial" panose="020B0604020202020204" pitchFamily="34" charset="0"/>
              <a:cs typeface="Arial" panose="020B0604020202020204" pitchFamily="34" charset="0"/>
            </a:endParaRPr>
          </a:p>
          <a:p>
            <a:pPr marL="812800" marR="116205" lvl="1" indent="-342900" algn="just">
              <a:lnSpc>
                <a:spcPct val="100400"/>
              </a:lnSpc>
              <a:spcBef>
                <a:spcPts val="85"/>
              </a:spcBef>
              <a:buFont typeface="Wingdings" panose="05000000000000000000" pitchFamily="2" charset="2"/>
              <a:buChar char="Ø"/>
              <a:tabLst>
                <a:tab pos="355600" algn="l"/>
              </a:tabLst>
              <a:defRPr>
                <a:latin typeface="Ubuntu"/>
                <a:ea typeface="Ubuntu"/>
                <a:cs typeface="Ubuntu"/>
              </a:defRPr>
            </a:pPr>
            <a:r>
              <a:rPr sz="2400" spc="-5" dirty="0">
                <a:solidFill>
                  <a:srgbClr val="7030A0"/>
                </a:solidFill>
                <a:latin typeface="Ubuntu" panose="020B0604020202020204" pitchFamily="34" charset="0"/>
                <a:cs typeface="Ubuntu" panose="020B0604020202020204" pitchFamily="34" charset="0"/>
              </a:rPr>
              <a:t>spatial</a:t>
            </a:r>
            <a:r>
              <a:rPr sz="2400" spc="-5" dirty="0">
                <a:latin typeface="Ubuntu" panose="020B0604020202020204" pitchFamily="34" charset="0"/>
                <a:cs typeface="Ubuntu" panose="020B0604020202020204" pitchFamily="34" charset="0"/>
              </a:rPr>
              <a:t>, </a:t>
            </a:r>
            <a:endParaRPr lang="en-US" sz="2400" spc="-5" dirty="0">
              <a:latin typeface="Arial" panose="020B0604020202020204" pitchFamily="34" charset="0"/>
              <a:cs typeface="Arial" panose="020B0604020202020204" pitchFamily="34" charset="0"/>
            </a:endParaRPr>
          </a:p>
          <a:p>
            <a:pPr marL="812800" marR="116205" lvl="1" indent="-342900" algn="just">
              <a:lnSpc>
                <a:spcPct val="100400"/>
              </a:lnSpc>
              <a:spcBef>
                <a:spcPts val="85"/>
              </a:spcBef>
              <a:buFont typeface="Wingdings" panose="05000000000000000000" pitchFamily="2" charset="2"/>
              <a:buChar char="Ø"/>
              <a:tabLst>
                <a:tab pos="355600" algn="l"/>
              </a:tabLst>
              <a:defRPr>
                <a:latin typeface="Ubuntu"/>
                <a:ea typeface="Ubuntu"/>
                <a:cs typeface="Ubuntu"/>
              </a:defRPr>
            </a:pPr>
            <a:r>
              <a:rPr sz="2400" spc="-5" dirty="0">
                <a:solidFill>
                  <a:srgbClr val="00B050"/>
                </a:solidFill>
                <a:latin typeface="Ubuntu" panose="020B0604020202020204" pitchFamily="34" charset="0"/>
                <a:cs typeface="Ubuntu" panose="020B0604020202020204" pitchFamily="34" charset="0"/>
              </a:rPr>
              <a:t>spectral</a:t>
            </a:r>
            <a:r>
              <a:rPr sz="2400" spc="-5" dirty="0">
                <a:latin typeface="Ubuntu" panose="020B0604020202020204" pitchFamily="34" charset="0"/>
                <a:cs typeface="Ubuntu" panose="020B0604020202020204" pitchFamily="34" charset="0"/>
              </a:rPr>
              <a:t>, </a:t>
            </a:r>
            <a:r>
              <a:rPr sz="2400" dirty="0">
                <a:latin typeface="Ubuntu" panose="020B0604020202020204" pitchFamily="34" charset="0"/>
                <a:cs typeface="Ubuntu" panose="020B0604020202020204" pitchFamily="34" charset="0"/>
              </a:rPr>
              <a:t>and </a:t>
            </a:r>
            <a:endParaRPr lang="en-US" sz="2400" dirty="0">
              <a:latin typeface="Arial" panose="020B0604020202020204" pitchFamily="34" charset="0"/>
              <a:cs typeface="Arial" panose="020B0604020202020204" pitchFamily="34" charset="0"/>
            </a:endParaRPr>
          </a:p>
          <a:p>
            <a:pPr marL="812800" marR="116205" lvl="1" indent="-342900" algn="just">
              <a:lnSpc>
                <a:spcPct val="100400"/>
              </a:lnSpc>
              <a:spcBef>
                <a:spcPts val="85"/>
              </a:spcBef>
              <a:buFont typeface="Wingdings" panose="05000000000000000000" pitchFamily="2" charset="2"/>
              <a:buChar char="Ø"/>
              <a:tabLst>
                <a:tab pos="355600" algn="l"/>
              </a:tabLst>
              <a:defRPr>
                <a:latin typeface="Ubuntu"/>
                <a:ea typeface="Ubuntu"/>
                <a:cs typeface="Ubuntu"/>
              </a:defRPr>
            </a:pPr>
            <a:r>
              <a:rPr lang="en-US" sz="2400" spc="-5" dirty="0">
                <a:latin typeface="Ubuntu" panose="020B0604020202020204" pitchFamily="34" charset="0"/>
                <a:cs typeface="Ubuntu" panose="020B0604020202020204" pitchFamily="34" charset="0"/>
              </a:rPr>
              <a:t>Temporal</a:t>
            </a:r>
          </a:p>
          <a:p>
            <a:pPr marL="812800" marR="116205" lvl="1" indent="-342900" algn="just">
              <a:lnSpc>
                <a:spcPct val="100400"/>
              </a:lnSpc>
              <a:spcBef>
                <a:spcPts val="85"/>
              </a:spcBef>
              <a:buFont typeface="Wingdings" panose="05000000000000000000" pitchFamily="2" charset="2"/>
              <a:buChar char="Ø"/>
              <a:tabLst>
                <a:tab pos="355600" algn="l"/>
              </a:tabLst>
              <a:defRPr>
                <a:latin typeface="Ubuntu"/>
                <a:ea typeface="Ubuntu"/>
                <a:cs typeface="Ubuntu"/>
              </a:defRPr>
            </a:pPr>
            <a:endParaRPr lang="en-US" sz="2400" spc="-5" dirty="0">
              <a:latin typeface="Arial" panose="020B0604020202020204" pitchFamily="34" charset="0"/>
              <a:cs typeface="Arial" panose="020B0604020202020204" pitchFamily="34" charset="0"/>
            </a:endParaRPr>
          </a:p>
          <a:p>
            <a:pPr marL="355600" marR="116205" indent="-342900" algn="just">
              <a:lnSpc>
                <a:spcPct val="100400"/>
              </a:lnSpc>
              <a:spcBef>
                <a:spcPts val="85"/>
              </a:spcBef>
              <a:buFont typeface="Wingdings" panose="05000000000000000000" pitchFamily="2" charset="2"/>
              <a:buChar char="Ø"/>
              <a:tabLst>
                <a:tab pos="355600" algn="l"/>
              </a:tabLst>
              <a:defRPr>
                <a:latin typeface="Ubuntu"/>
                <a:ea typeface="Ubuntu"/>
                <a:cs typeface="Ubuntu"/>
              </a:defRPr>
            </a:pPr>
            <a:r>
              <a:rPr lang="en-US" sz="2400" spc="-5" dirty="0">
                <a:latin typeface="Ubuntu" panose="020B0604020202020204" pitchFamily="34" charset="0"/>
                <a:cs typeface="Ubuntu" panose="020B0604020202020204" pitchFamily="34" charset="0"/>
              </a:rPr>
              <a:t>Each performance </a:t>
            </a:r>
            <a:r>
              <a:rPr lang="en-US" sz="2400" dirty="0">
                <a:latin typeface="Ubuntu" panose="020B0604020202020204" pitchFamily="34" charset="0"/>
                <a:cs typeface="Ubuntu" panose="020B0604020202020204" pitchFamily="34" charset="0"/>
              </a:rPr>
              <a:t>measure is improved at </a:t>
            </a:r>
            <a:r>
              <a:rPr lang="en-US" sz="2400" spc="-5" dirty="0">
                <a:latin typeface="Ubuntu" panose="020B0604020202020204" pitchFamily="34" charset="0"/>
                <a:cs typeface="Ubuntu" panose="020B0604020202020204" pitchFamily="34" charset="0"/>
              </a:rPr>
              <a:t>the </a:t>
            </a:r>
            <a:r>
              <a:rPr lang="en-US" sz="2400" spc="-655" dirty="0">
                <a:latin typeface="Ubuntu" panose="020B0604020202020204" pitchFamily="34" charset="0"/>
                <a:cs typeface="Ubuntu" panose="020B0604020202020204" pitchFamily="34" charset="0"/>
              </a:rPr>
              <a:t> </a:t>
            </a:r>
            <a:r>
              <a:rPr lang="en-US" sz="2400" dirty="0">
                <a:latin typeface="Ubuntu" panose="020B0604020202020204" pitchFamily="34" charset="0"/>
                <a:cs typeface="Ubuntu" panose="020B0604020202020204" pitchFamily="34" charset="0"/>
              </a:rPr>
              <a:t>expense</a:t>
            </a:r>
            <a:r>
              <a:rPr lang="en-US" sz="2400" spc="-10" dirty="0">
                <a:latin typeface="Ubuntu" panose="020B0604020202020204" pitchFamily="34" charset="0"/>
                <a:cs typeface="Ubuntu" panose="020B0604020202020204" pitchFamily="34" charset="0"/>
              </a:rPr>
              <a:t> </a:t>
            </a:r>
            <a:r>
              <a:rPr lang="en-US" sz="2400" dirty="0">
                <a:latin typeface="Ubuntu" panose="020B0604020202020204" pitchFamily="34" charset="0"/>
                <a:cs typeface="Ubuntu" panose="020B0604020202020204" pitchFamily="34" charset="0"/>
              </a:rPr>
              <a:t>of</a:t>
            </a:r>
            <a:r>
              <a:rPr lang="en-US" sz="2400" spc="-10" dirty="0">
                <a:latin typeface="Ubuntu" panose="020B0604020202020204" pitchFamily="34" charset="0"/>
                <a:cs typeface="Ubuntu" panose="020B0604020202020204" pitchFamily="34" charset="0"/>
              </a:rPr>
              <a:t> </a:t>
            </a:r>
            <a:r>
              <a:rPr lang="en-US" sz="2400" spc="-5" dirty="0">
                <a:latin typeface="Ubuntu" panose="020B0604020202020204" pitchFamily="34" charset="0"/>
                <a:cs typeface="Ubuntu" panose="020B0604020202020204" pitchFamily="34" charset="0"/>
              </a:rPr>
              <a:t>the others.</a:t>
            </a:r>
          </a:p>
          <a:p>
            <a:pPr marL="355600" marR="116205" indent="-342900" algn="just">
              <a:lnSpc>
                <a:spcPct val="100400"/>
              </a:lnSpc>
              <a:spcBef>
                <a:spcPts val="85"/>
              </a:spcBef>
              <a:buFont typeface="Wingdings" panose="05000000000000000000" pitchFamily="2" charset="2"/>
              <a:buChar char="Ø"/>
              <a:tabLst>
                <a:tab pos="355600" algn="l"/>
              </a:tabLst>
              <a:defRPr>
                <a:latin typeface="Ubuntu"/>
                <a:ea typeface="Ubuntu"/>
                <a:cs typeface="Ubuntu"/>
              </a:defRPr>
            </a:pPr>
            <a:r>
              <a:rPr lang="en-US" sz="2400" dirty="0">
                <a:latin typeface="Ubuntu" panose="020B0604020202020204" pitchFamily="34" charset="0"/>
                <a:cs typeface="Ubuntu" panose="020B0604020202020204" pitchFamily="34" charset="0"/>
              </a:rPr>
              <a:t>Developing a design </a:t>
            </a:r>
            <a:r>
              <a:rPr lang="en-US" sz="2400" spc="-5" dirty="0">
                <a:latin typeface="Ubuntu" panose="020B0604020202020204" pitchFamily="34" charset="0"/>
                <a:cs typeface="Ubuntu" panose="020B0604020202020204" pitchFamily="34" charset="0"/>
              </a:rPr>
              <a:t>that </a:t>
            </a:r>
            <a:r>
              <a:rPr lang="en-US" sz="2400" dirty="0">
                <a:latin typeface="Ubuntu" panose="020B0604020202020204" pitchFamily="34" charset="0"/>
                <a:cs typeface="Ubuntu" panose="020B0604020202020204" pitchFamily="34" charset="0"/>
              </a:rPr>
              <a:t>balances all of </a:t>
            </a:r>
            <a:r>
              <a:rPr lang="en-US" sz="2400" spc="-5" dirty="0">
                <a:latin typeface="Ubuntu" panose="020B0604020202020204" pitchFamily="34" charset="0"/>
                <a:cs typeface="Ubuntu" panose="020B0604020202020204" pitchFamily="34" charset="0"/>
              </a:rPr>
              <a:t>these </a:t>
            </a:r>
            <a:r>
              <a:rPr lang="en-US" sz="2400" dirty="0">
                <a:latin typeface="Ubuntu" panose="020B0604020202020204" pitchFamily="34" charset="0"/>
                <a:cs typeface="Ubuntu" panose="020B0604020202020204" pitchFamily="34" charset="0"/>
              </a:rPr>
              <a:t> </a:t>
            </a:r>
            <a:r>
              <a:rPr lang="en-US" sz="2400" spc="-5" dirty="0">
                <a:latin typeface="Ubuntu" panose="020B0604020202020204" pitchFamily="34" charset="0"/>
                <a:cs typeface="Ubuntu" panose="020B0604020202020204" pitchFamily="34" charset="0"/>
              </a:rPr>
              <a:t>performance parameters </a:t>
            </a:r>
            <a:r>
              <a:rPr lang="en-US" sz="2400" dirty="0">
                <a:latin typeface="Ubuntu" panose="020B0604020202020204" pitchFamily="34" charset="0"/>
                <a:cs typeface="Ubuntu" panose="020B0604020202020204" pitchFamily="34" charset="0"/>
              </a:rPr>
              <a:t>while minimizing size, </a:t>
            </a:r>
            <a:r>
              <a:rPr lang="en-US" sz="2400" spc="-655" dirty="0">
                <a:latin typeface="Ubuntu" panose="020B0604020202020204" pitchFamily="34" charset="0"/>
                <a:cs typeface="Ubuntu" panose="020B0604020202020204" pitchFamily="34" charset="0"/>
              </a:rPr>
              <a:t> </a:t>
            </a:r>
            <a:r>
              <a:rPr lang="en-US" sz="2400" spc="-5" dirty="0">
                <a:latin typeface="Ubuntu" panose="020B0604020202020204" pitchFamily="34" charset="0"/>
                <a:cs typeface="Ubuntu" panose="020B0604020202020204" pitchFamily="34" charset="0"/>
              </a:rPr>
              <a:t>cost, </a:t>
            </a:r>
            <a:r>
              <a:rPr lang="en-US" sz="2400" dirty="0">
                <a:latin typeface="Ubuntu" panose="020B0604020202020204" pitchFamily="34" charset="0"/>
                <a:cs typeface="Ubuntu" panose="020B0604020202020204" pitchFamily="34" charset="0"/>
              </a:rPr>
              <a:t>and</a:t>
            </a:r>
            <a:r>
              <a:rPr lang="en-US" sz="2400" spc="5" dirty="0">
                <a:latin typeface="Ubuntu" panose="020B0604020202020204" pitchFamily="34" charset="0"/>
                <a:cs typeface="Ubuntu" panose="020B0604020202020204" pitchFamily="34" charset="0"/>
              </a:rPr>
              <a:t> </a:t>
            </a:r>
            <a:r>
              <a:rPr lang="en-US" sz="2400" spc="-5" dirty="0">
                <a:latin typeface="Ubuntu" panose="020B0604020202020204" pitchFamily="34" charset="0"/>
                <a:cs typeface="Ubuntu" panose="020B0604020202020204" pitchFamily="34" charset="0"/>
              </a:rPr>
              <a:t>technical</a:t>
            </a:r>
            <a:r>
              <a:rPr lang="en-US" sz="2400" spc="5" dirty="0">
                <a:latin typeface="Ubuntu" panose="020B0604020202020204" pitchFamily="34" charset="0"/>
                <a:cs typeface="Ubuntu" panose="020B0604020202020204" pitchFamily="34" charset="0"/>
              </a:rPr>
              <a:t> </a:t>
            </a:r>
            <a:r>
              <a:rPr lang="en-US" sz="2400" dirty="0">
                <a:latin typeface="Ubuntu" panose="020B0604020202020204" pitchFamily="34" charset="0"/>
                <a:cs typeface="Ubuntu" panose="020B0604020202020204" pitchFamily="34" charset="0"/>
              </a:rPr>
              <a:t>risk</a:t>
            </a:r>
            <a:r>
              <a:rPr lang="en-US" sz="2400" spc="5" dirty="0">
                <a:latin typeface="Ubuntu" panose="020B0604020202020204" pitchFamily="34" charset="0"/>
                <a:cs typeface="Ubuntu" panose="020B0604020202020204" pitchFamily="34" charset="0"/>
              </a:rPr>
              <a:t> </a:t>
            </a:r>
            <a:r>
              <a:rPr lang="en-US" sz="2400" dirty="0">
                <a:latin typeface="Ubuntu" panose="020B0604020202020204" pitchFamily="34" charset="0"/>
                <a:cs typeface="Ubuntu" panose="020B0604020202020204" pitchFamily="34" charset="0"/>
              </a:rPr>
              <a:t>is</a:t>
            </a:r>
            <a:r>
              <a:rPr lang="en-US" sz="2400" spc="5" dirty="0">
                <a:latin typeface="Ubuntu" panose="020B0604020202020204" pitchFamily="34" charset="0"/>
                <a:cs typeface="Ubuntu" panose="020B0604020202020204" pitchFamily="34" charset="0"/>
              </a:rPr>
              <a:t> </a:t>
            </a:r>
            <a:r>
              <a:rPr lang="en-US" sz="2400" spc="-5" dirty="0">
                <a:latin typeface="Ubuntu" panose="020B0604020202020204" pitchFamily="34" charset="0"/>
                <a:cs typeface="Ubuntu" panose="020B0604020202020204" pitchFamily="34" charset="0"/>
              </a:rPr>
              <a:t>the</a:t>
            </a:r>
            <a:r>
              <a:rPr lang="en-US" sz="2400" dirty="0">
                <a:latin typeface="Ubuntu" panose="020B0604020202020204" pitchFamily="34" charset="0"/>
                <a:cs typeface="Ubuntu" panose="020B0604020202020204" pitchFamily="34" charset="0"/>
              </a:rPr>
              <a:t> essence</a:t>
            </a:r>
            <a:r>
              <a:rPr lang="en-US" sz="2400" spc="5" dirty="0">
                <a:latin typeface="Ubuntu" panose="020B0604020202020204" pitchFamily="34" charset="0"/>
                <a:cs typeface="Ubuntu" panose="020B0604020202020204" pitchFamily="34" charset="0"/>
              </a:rPr>
              <a:t> </a:t>
            </a:r>
            <a:r>
              <a:rPr lang="en-US" sz="2400" dirty="0">
                <a:latin typeface="Ubuntu" panose="020B0604020202020204" pitchFamily="34" charset="0"/>
                <a:cs typeface="Ubuntu" panose="020B0604020202020204" pitchFamily="34" charset="0"/>
              </a:rPr>
              <a:t>of </a:t>
            </a:r>
            <a:r>
              <a:rPr lang="en-US" sz="2400" spc="5" dirty="0">
                <a:latin typeface="Ubuntu" panose="020B0604020202020204" pitchFamily="34" charset="0"/>
                <a:cs typeface="Ubuntu" panose="020B0604020202020204" pitchFamily="34" charset="0"/>
              </a:rPr>
              <a:t> </a:t>
            </a:r>
            <a:r>
              <a:rPr lang="en-US" sz="2400" dirty="0">
                <a:latin typeface="Ubuntu" panose="020B0604020202020204" pitchFamily="34" charset="0"/>
                <a:cs typeface="Ubuntu" panose="020B0604020202020204" pitchFamily="34" charset="0"/>
              </a:rPr>
              <a:t>sensor</a:t>
            </a:r>
            <a:r>
              <a:rPr lang="en-US" sz="2400" spc="-10" dirty="0">
                <a:latin typeface="Ubuntu" panose="020B0604020202020204" pitchFamily="34" charset="0"/>
                <a:cs typeface="Ubuntu" panose="020B0604020202020204" pitchFamily="34" charset="0"/>
              </a:rPr>
              <a:t> </a:t>
            </a:r>
            <a:r>
              <a:rPr lang="en-US" sz="2400" spc="-5" dirty="0">
                <a:latin typeface="Ubuntu" panose="020B0604020202020204" pitchFamily="34" charset="0"/>
                <a:cs typeface="Ubuntu" panose="020B0604020202020204" pitchFamily="34" charset="0"/>
              </a:rPr>
              <a:t>system </a:t>
            </a:r>
            <a:r>
              <a:rPr lang="en-US" sz="2400" dirty="0">
                <a:latin typeface="Ubuntu" panose="020B0604020202020204" pitchFamily="34" charset="0"/>
                <a:cs typeface="Ubuntu" panose="020B0604020202020204" pitchFamily="34" charset="0"/>
              </a:rPr>
              <a:t>engineering.</a:t>
            </a:r>
          </a:p>
          <a:p>
            <a:pPr marL="355600" marR="116205" indent="-342900" algn="just">
              <a:lnSpc>
                <a:spcPct val="100400"/>
              </a:lnSpc>
              <a:spcBef>
                <a:spcPts val="85"/>
              </a:spcBef>
              <a:buFont typeface="Wingdings" panose="05000000000000000000" pitchFamily="2" charset="2"/>
              <a:buChar char="Ø"/>
              <a:tabLst>
                <a:tab pos="355600" algn="l"/>
              </a:tabLst>
              <a:defRPr>
                <a:latin typeface="Ubuntu"/>
                <a:ea typeface="Ubuntu"/>
                <a:cs typeface="Ubuntu"/>
              </a:defRPr>
            </a:pPr>
            <a:endParaRPr lang="en-US" sz="2400" dirty="0">
              <a:latin typeface="Arial" panose="020B0604020202020204" pitchFamily="34" charset="0"/>
              <a:cs typeface="Arial" panose="020B0604020202020204" pitchFamily="34" charset="0"/>
            </a:endParaRPr>
          </a:p>
          <a:p>
            <a:pPr marL="355600" marR="116205" indent="-342900" algn="just">
              <a:lnSpc>
                <a:spcPct val="100400"/>
              </a:lnSpc>
              <a:spcBef>
                <a:spcPts val="85"/>
              </a:spcBef>
              <a:buFont typeface="Wingdings" panose="05000000000000000000" pitchFamily="2" charset="2"/>
              <a:buChar char="Ø"/>
              <a:tabLst>
                <a:tab pos="355600" algn="l"/>
              </a:tabLst>
              <a:defRPr>
                <a:latin typeface="Ubuntu"/>
                <a:ea typeface="Ubuntu"/>
                <a:cs typeface="Ubuntu"/>
              </a:defRPr>
            </a:pPr>
            <a:endParaRPr sz="2400" dirty="0">
              <a:latin typeface="Arial" panose="020B0604020202020204" pitchFamily="34" charset="0"/>
              <a:cs typeface="Arial" panose="020B0604020202020204" pitchFamily="34" charset="0"/>
            </a:endParaRPr>
          </a:p>
        </p:txBody>
      </p:sp>
      <p:pic>
        <p:nvPicPr>
          <p:cNvPr id="12" name="Space Faculty logo" descr="sf_logo.png"/>
          <p:cNvPicPr>
            <a:picLocks noChangeAspect="1"/>
          </p:cNvPicPr>
          <p:nvPr/>
        </p:nvPicPr>
        <p:blipFill>
          <a:blip r:embed="rId4"/>
          <a:stretch>
            <a:fillRect/>
          </a:stretch>
        </p:blipFill>
        <p:spPr>
          <a:xfrm>
            <a:off x="10295160" y="54864"/>
            <a:ext cx="1784064" cy="506996"/>
          </a:xfrm>
          <a:prstGeom prst="rect">
            <a:avLst/>
          </a:prstGeom>
        </p:spPr>
      </p:pic>
    </p:spTree>
    <p:extLst>
      <p:ext uri="{BB962C8B-B14F-4D97-AF65-F5344CB8AC3E}">
        <p14:creationId xmlns:p14="http://schemas.microsoft.com/office/powerpoint/2010/main" val="4240500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3400" y="0"/>
            <a:ext cx="4999498"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spc="-5" dirty="0">
                <a:latin typeface="House Movements Runway" panose="020B0604020202020204" pitchFamily="34" charset="0"/>
                <a:cs typeface="House Movements Runway" panose="020B0604020202020204" pitchFamily="34" charset="0"/>
              </a:rPr>
              <a:t>Sentinel</a:t>
            </a:r>
            <a:r>
              <a:rPr sz="4000" b="1" spc="-35"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Satellites</a:t>
            </a:r>
            <a:endParaRPr sz="4000" b="1" dirty="0">
              <a:latin typeface="Arial" panose="020B0604020202020204" pitchFamily="34" charset="0"/>
              <a:cs typeface="Arial" panose="020B0604020202020204" pitchFamily="34" charset="0"/>
            </a:endParaRPr>
          </a:p>
        </p:txBody>
      </p:sp>
      <p:pic>
        <p:nvPicPr>
          <p:cNvPr id="3" name="object 3"/>
          <p:cNvPicPr/>
          <p:nvPr/>
        </p:nvPicPr>
        <p:blipFill>
          <a:blip r:embed="rId2" cstate="print">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723057" y="673207"/>
            <a:ext cx="9944943" cy="6150634"/>
          </a:xfrm>
          <a:prstGeom prst="rect">
            <a:avLst/>
          </a:prstGeom>
        </p:spPr>
      </p:pic>
      <p:sp>
        <p:nvSpPr>
          <p:cNvPr id="6" name="Slide Number Placeholder 7">
            <a:extLst>
              <a:ext uri="{FF2B5EF4-FFF2-40B4-BE49-F238E27FC236}">
                <a16:creationId xmlns:a16="http://schemas.microsoft.com/office/drawing/2014/main" id="{36D03B36-3CC8-5A7B-BCAE-E89CFB04348A}"/>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12</a:t>
            </a:fld>
            <a:endParaRPr lang="en-US" sz="4800" b="1" dirty="0">
              <a:solidFill>
                <a:srgbClr val="FF0000"/>
              </a:solidFill>
            </a:endParaRPr>
          </a:p>
        </p:txBody>
      </p:sp>
      <p:pic>
        <p:nvPicPr>
          <p:cNvPr id="7" name="Space Faculty logo" descr="sf_logo.png"/>
          <p:cNvPicPr>
            <a:picLocks noChangeAspect="1"/>
          </p:cNvPicPr>
          <p:nvPr/>
        </p:nvPicPr>
        <p:blipFill>
          <a:blip r:embed="rId4"/>
          <a:stretch>
            <a:fillRect/>
          </a:stretch>
        </p:blipFill>
        <p:spPr>
          <a:xfrm>
            <a:off x="10527762" y="54863"/>
            <a:ext cx="1551462" cy="440895"/>
          </a:xfrm>
          <a:prstGeom prst="rect">
            <a:avLst/>
          </a:prstGeom>
        </p:spPr>
      </p:pic>
    </p:spTree>
    <p:extLst>
      <p:ext uri="{BB962C8B-B14F-4D97-AF65-F5344CB8AC3E}">
        <p14:creationId xmlns:p14="http://schemas.microsoft.com/office/powerpoint/2010/main" val="3696174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5927" y="310896"/>
            <a:ext cx="10135394"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spc="-5" dirty="0">
                <a:latin typeface="House Movements Runway" panose="020B0604020202020204" pitchFamily="34" charset="0"/>
                <a:cs typeface="House Movements Runway" panose="020B0604020202020204" pitchFamily="34" charset="0"/>
              </a:rPr>
              <a:t>Key Points</a:t>
            </a:r>
            <a:r>
              <a:rPr sz="4000" b="1" dirty="0">
                <a:latin typeface="House Movements Runway" panose="020B0604020202020204" pitchFamily="34" charset="0"/>
                <a:cs typeface="House Movements Runway" panose="020B0604020202020204" pitchFamily="34" charset="0"/>
              </a:rPr>
              <a:t> in</a:t>
            </a:r>
            <a:r>
              <a:rPr sz="4000" b="1" spc="-5" dirty="0">
                <a:latin typeface="House Movements Runway" panose="020B0604020202020204" pitchFamily="34" charset="0"/>
                <a:cs typeface="House Movements Runway" panose="020B0604020202020204" pitchFamily="34" charset="0"/>
              </a:rPr>
              <a:t> Spacecraft</a:t>
            </a:r>
            <a:r>
              <a:rPr sz="4000" b="1"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Design</a:t>
            </a:r>
            <a:r>
              <a:rPr sz="4000" b="1" spc="5"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Review</a:t>
            </a:r>
            <a:endParaRPr sz="4000" b="1" dirty="0">
              <a:latin typeface="Arial" panose="020B0604020202020204" pitchFamily="34" charset="0"/>
              <a:cs typeface="Arial" panose="020B0604020202020204" pitchFamily="34" charset="0"/>
            </a:endParaRPr>
          </a:p>
        </p:txBody>
      </p:sp>
      <p:sp>
        <p:nvSpPr>
          <p:cNvPr id="3" name="object 3"/>
          <p:cNvSpPr txBox="1"/>
          <p:nvPr/>
        </p:nvSpPr>
        <p:spPr>
          <a:xfrm>
            <a:off x="228600" y="1161508"/>
            <a:ext cx="11370310" cy="5434180"/>
          </a:xfrm>
          <a:prstGeom prst="rect">
            <a:avLst/>
          </a:prstGeom>
        </p:spPr>
        <p:txBody>
          <a:bodyPr vert="horz" wrap="square" lIns="0" tIns="143510" rIns="0" bIns="0" rtlCol="0">
            <a:spAutoFit/>
          </a:bodyPr>
          <a:lstStyle/>
          <a:p>
            <a:pPr marL="355600" indent="-342900">
              <a:lnSpc>
                <a:spcPct val="100000"/>
              </a:lnSpc>
              <a:spcBef>
                <a:spcPts val="1130"/>
              </a:spcBef>
              <a:buFont typeface="Wingdings" panose="05000000000000000000" pitchFamily="2" charset="2"/>
              <a:buChar char="q"/>
              <a:tabLst>
                <a:tab pos="354965" algn="l"/>
                <a:tab pos="355600" algn="l"/>
              </a:tabLst>
              <a:defRPr>
                <a:latin typeface="Ubuntu"/>
                <a:ea typeface="Ubuntu"/>
                <a:cs typeface="Ubuntu"/>
              </a:defRPr>
            </a:pPr>
            <a:r>
              <a:rPr sz="2700" spc="-5" dirty="0">
                <a:latin typeface="Ubuntu" panose="020B0604020202020204" pitchFamily="34" charset="0"/>
                <a:cs typeface="Ubuntu" panose="020B0604020202020204" pitchFamily="34" charset="0"/>
              </a:rPr>
              <a:t>What</a:t>
            </a:r>
            <a:r>
              <a:rPr sz="2700" spc="-15"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are</a:t>
            </a:r>
            <a:r>
              <a:rPr sz="2700" spc="-5"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payload</a:t>
            </a:r>
            <a:r>
              <a:rPr sz="2700" spc="-5" dirty="0">
                <a:latin typeface="Ubuntu" panose="020B0604020202020204" pitchFamily="34" charset="0"/>
                <a:cs typeface="Ubuntu" panose="020B0604020202020204" pitchFamily="34" charset="0"/>
              </a:rPr>
              <a:t> characteristics </a:t>
            </a:r>
            <a:r>
              <a:rPr sz="2700" dirty="0">
                <a:latin typeface="Ubuntu" panose="020B0604020202020204" pitchFamily="34" charset="0"/>
                <a:cs typeface="Ubuntu" panose="020B0604020202020204" pitchFamily="34" charset="0"/>
              </a:rPr>
              <a:t>-</a:t>
            </a:r>
            <a:r>
              <a:rPr sz="2700" spc="-5"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size,</a:t>
            </a:r>
            <a:r>
              <a:rPr sz="2700" spc="-10"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shape,</a:t>
            </a:r>
            <a:r>
              <a:rPr sz="2700" spc="-10"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etc?</a:t>
            </a:r>
            <a:endParaRPr sz="2700" dirty="0">
              <a:latin typeface="Arial" panose="020B0604020202020204" pitchFamily="34" charset="0"/>
              <a:cs typeface="Arial" panose="020B0604020202020204" pitchFamily="34" charset="0"/>
            </a:endParaRPr>
          </a:p>
          <a:p>
            <a:pPr marL="355600" indent="-342900">
              <a:lnSpc>
                <a:spcPct val="100000"/>
              </a:lnSpc>
              <a:spcBef>
                <a:spcPts val="1035"/>
              </a:spcBef>
              <a:buFont typeface="Wingdings" panose="05000000000000000000" pitchFamily="2" charset="2"/>
              <a:buChar char="q"/>
              <a:tabLst>
                <a:tab pos="354965" algn="l"/>
                <a:tab pos="355600" algn="l"/>
              </a:tabLst>
              <a:defRPr>
                <a:latin typeface="Ubuntu"/>
                <a:ea typeface="Ubuntu"/>
                <a:cs typeface="Ubuntu"/>
              </a:defRPr>
            </a:pPr>
            <a:r>
              <a:rPr sz="2700" dirty="0">
                <a:latin typeface="Ubuntu" panose="020B0604020202020204" pitchFamily="34" charset="0"/>
                <a:cs typeface="Ubuntu" panose="020B0604020202020204" pitchFamily="34" charset="0"/>
              </a:rPr>
              <a:t>How</a:t>
            </a:r>
            <a:r>
              <a:rPr sz="2700" spc="-15"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to</a:t>
            </a:r>
            <a:r>
              <a:rPr sz="2700" spc="-15"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support</a:t>
            </a:r>
            <a:r>
              <a:rPr sz="2700" spc="-25"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the</a:t>
            </a:r>
            <a:r>
              <a:rPr sz="2700" spc="-15"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payload</a:t>
            </a:r>
            <a:r>
              <a:rPr sz="2700" spc="-15"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most</a:t>
            </a:r>
            <a:r>
              <a:rPr sz="2700" spc="-25"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efficiently?</a:t>
            </a:r>
            <a:endParaRPr sz="2700" dirty="0">
              <a:latin typeface="Arial" panose="020B0604020202020204" pitchFamily="34" charset="0"/>
              <a:cs typeface="Arial" panose="020B0604020202020204" pitchFamily="34" charset="0"/>
            </a:endParaRPr>
          </a:p>
          <a:p>
            <a:pPr marL="355600" indent="-342900">
              <a:lnSpc>
                <a:spcPct val="100000"/>
              </a:lnSpc>
              <a:spcBef>
                <a:spcPts val="1005"/>
              </a:spcBef>
              <a:buFont typeface="Wingdings" panose="05000000000000000000" pitchFamily="2" charset="2"/>
              <a:buChar char="q"/>
              <a:tabLst>
                <a:tab pos="354965" algn="l"/>
                <a:tab pos="355600" algn="l"/>
              </a:tabLst>
              <a:defRPr>
                <a:latin typeface="Ubuntu"/>
                <a:ea typeface="Ubuntu"/>
                <a:cs typeface="Ubuntu"/>
              </a:defRPr>
            </a:pPr>
            <a:r>
              <a:rPr sz="2700" spc="-5" dirty="0">
                <a:latin typeface="Ubuntu" panose="020B0604020202020204" pitchFamily="34" charset="0"/>
                <a:cs typeface="Ubuntu" panose="020B0604020202020204" pitchFamily="34" charset="0"/>
              </a:rPr>
              <a:t>What</a:t>
            </a:r>
            <a:r>
              <a:rPr sz="2700" spc="-10"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about</a:t>
            </a:r>
            <a:r>
              <a:rPr sz="2700" spc="-10"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payload </a:t>
            </a:r>
            <a:r>
              <a:rPr sz="2700" spc="-5" dirty="0">
                <a:latin typeface="Ubuntu" panose="020B0604020202020204" pitchFamily="34" charset="0"/>
                <a:cs typeface="Ubuntu" panose="020B0604020202020204" pitchFamily="34" charset="0"/>
              </a:rPr>
              <a:t>operations </a:t>
            </a:r>
            <a:r>
              <a:rPr sz="2700"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continuous </a:t>
            </a:r>
            <a:r>
              <a:rPr sz="2700" dirty="0">
                <a:latin typeface="Ubuntu" panose="020B0604020202020204" pitchFamily="34" charset="0"/>
                <a:cs typeface="Ubuntu" panose="020B0604020202020204" pitchFamily="34" charset="0"/>
              </a:rPr>
              <a:t>or </a:t>
            </a:r>
            <a:r>
              <a:rPr sz="2700" spc="-5" dirty="0">
                <a:latin typeface="Ubuntu" panose="020B0604020202020204" pitchFamily="34" charset="0"/>
                <a:cs typeface="Ubuntu" panose="020B0604020202020204" pitchFamily="34" charset="0"/>
              </a:rPr>
              <a:t>not?</a:t>
            </a:r>
            <a:endParaRPr sz="2700" dirty="0">
              <a:latin typeface="Arial" panose="020B0604020202020204" pitchFamily="34" charset="0"/>
              <a:cs typeface="Arial" panose="020B0604020202020204" pitchFamily="34" charset="0"/>
            </a:endParaRPr>
          </a:p>
          <a:p>
            <a:pPr marL="355600" indent="-342900">
              <a:lnSpc>
                <a:spcPct val="100000"/>
              </a:lnSpc>
              <a:spcBef>
                <a:spcPts val="1035"/>
              </a:spcBef>
              <a:buFont typeface="Wingdings" panose="05000000000000000000" pitchFamily="2" charset="2"/>
              <a:buChar char="q"/>
              <a:tabLst>
                <a:tab pos="354965" algn="l"/>
                <a:tab pos="355600" algn="l"/>
              </a:tabLst>
              <a:defRPr>
                <a:latin typeface="Ubuntu"/>
                <a:ea typeface="Ubuntu"/>
                <a:cs typeface="Ubuntu"/>
              </a:defRPr>
            </a:pPr>
            <a:r>
              <a:rPr sz="2700" dirty="0">
                <a:latin typeface="Ubuntu" panose="020B0604020202020204" pitchFamily="34" charset="0"/>
                <a:cs typeface="Ubuntu" panose="020B0604020202020204" pitchFamily="34" charset="0"/>
              </a:rPr>
              <a:t>How</a:t>
            </a:r>
            <a:r>
              <a:rPr sz="2700" spc="-10"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is</a:t>
            </a:r>
            <a:r>
              <a:rPr sz="2700" spc="-10"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data</a:t>
            </a:r>
            <a:r>
              <a:rPr sz="2700" spc="-10"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to</a:t>
            </a:r>
            <a:r>
              <a:rPr sz="2700" spc="-10"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be</a:t>
            </a:r>
            <a:r>
              <a:rPr sz="2700" spc="-10"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retrieved?</a:t>
            </a:r>
            <a:endParaRPr sz="2700" dirty="0">
              <a:latin typeface="Arial" panose="020B0604020202020204" pitchFamily="34" charset="0"/>
              <a:cs typeface="Arial" panose="020B0604020202020204" pitchFamily="34" charset="0"/>
            </a:endParaRPr>
          </a:p>
          <a:p>
            <a:pPr marL="355600" marR="540385" indent="-342900">
              <a:lnSpc>
                <a:spcPts val="2810"/>
              </a:lnSpc>
              <a:spcBef>
                <a:spcPts val="1160"/>
              </a:spcBef>
              <a:buFont typeface="Wingdings" panose="05000000000000000000" pitchFamily="2" charset="2"/>
              <a:buChar char="q"/>
              <a:tabLst>
                <a:tab pos="354965" algn="l"/>
                <a:tab pos="355600" algn="l"/>
              </a:tabLst>
              <a:defRPr>
                <a:latin typeface="Ubuntu"/>
                <a:ea typeface="Ubuntu"/>
                <a:cs typeface="Ubuntu"/>
              </a:defRPr>
            </a:pPr>
            <a:r>
              <a:rPr sz="2700" dirty="0">
                <a:latin typeface="Ubuntu" panose="020B0604020202020204" pitchFamily="34" charset="0"/>
                <a:cs typeface="Ubuntu" panose="020B0604020202020204" pitchFamily="34" charset="0"/>
              </a:rPr>
              <a:t>How</a:t>
            </a:r>
            <a:r>
              <a:rPr sz="2700" spc="5"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should we achieve and </a:t>
            </a:r>
            <a:r>
              <a:rPr sz="2700" spc="-5" dirty="0">
                <a:latin typeface="Ubuntu" panose="020B0604020202020204" pitchFamily="34" charset="0"/>
                <a:cs typeface="Ubuntu" panose="020B0604020202020204" pitchFamily="34" charset="0"/>
              </a:rPr>
              <a:t>maintain</a:t>
            </a:r>
            <a:r>
              <a:rPr sz="2700"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the</a:t>
            </a:r>
            <a:r>
              <a:rPr sz="2700" dirty="0">
                <a:latin typeface="Ubuntu" panose="020B0604020202020204" pitchFamily="34" charset="0"/>
                <a:cs typeface="Ubuntu" panose="020B0604020202020204" pitchFamily="34" charset="0"/>
              </a:rPr>
              <a:t> desired </a:t>
            </a:r>
            <a:r>
              <a:rPr sz="2700" spc="-5" dirty="0">
                <a:latin typeface="Ubuntu" panose="020B0604020202020204" pitchFamily="34" charset="0"/>
                <a:cs typeface="Ubuntu" panose="020B0604020202020204" pitchFamily="34" charset="0"/>
              </a:rPr>
              <a:t>operating</a:t>
            </a:r>
            <a:r>
              <a:rPr sz="2700"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orbit?</a:t>
            </a:r>
            <a:r>
              <a:rPr sz="2700" dirty="0">
                <a:latin typeface="Ubuntu" panose="020B0604020202020204" pitchFamily="34" charset="0"/>
                <a:cs typeface="Ubuntu" panose="020B0604020202020204" pitchFamily="34" charset="0"/>
              </a:rPr>
              <a:t> - </a:t>
            </a:r>
            <a:r>
              <a:rPr sz="2700" spc="-5" dirty="0">
                <a:latin typeface="Ubuntu" panose="020B0604020202020204" pitchFamily="34" charset="0"/>
                <a:cs typeface="Ubuntu" panose="020B0604020202020204" pitchFamily="34" charset="0"/>
              </a:rPr>
              <a:t>significant </a:t>
            </a:r>
            <a:r>
              <a:rPr sz="2700" spc="-650"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propulsion</a:t>
            </a:r>
            <a:r>
              <a:rPr sz="2700" spc="-10"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implications.</a:t>
            </a:r>
            <a:endParaRPr sz="2700" dirty="0">
              <a:latin typeface="Arial" panose="020B0604020202020204" pitchFamily="34" charset="0"/>
              <a:cs typeface="Arial" panose="020B0604020202020204" pitchFamily="34" charset="0"/>
            </a:endParaRPr>
          </a:p>
          <a:p>
            <a:pPr marL="355600" indent="-342900">
              <a:lnSpc>
                <a:spcPct val="100000"/>
              </a:lnSpc>
              <a:spcBef>
                <a:spcPts val="944"/>
              </a:spcBef>
              <a:buFont typeface="Wingdings" panose="05000000000000000000" pitchFamily="2" charset="2"/>
              <a:buChar char="q"/>
              <a:tabLst>
                <a:tab pos="354965" algn="l"/>
                <a:tab pos="355600" algn="l"/>
              </a:tabLst>
              <a:defRPr>
                <a:latin typeface="Ubuntu"/>
                <a:ea typeface="Ubuntu"/>
                <a:cs typeface="Ubuntu"/>
              </a:defRPr>
            </a:pPr>
            <a:r>
              <a:rPr sz="2700" spc="-5" dirty="0">
                <a:latin typeface="Ubuntu" panose="020B0604020202020204" pitchFamily="34" charset="0"/>
                <a:cs typeface="Ubuntu" panose="020B0604020202020204" pitchFamily="34" charset="0"/>
              </a:rPr>
              <a:t>Which</a:t>
            </a:r>
            <a:r>
              <a:rPr sz="2700" spc="-135"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AOCS </a:t>
            </a:r>
            <a:r>
              <a:rPr sz="2700" dirty="0">
                <a:latin typeface="Ubuntu" panose="020B0604020202020204" pitchFamily="34" charset="0"/>
                <a:cs typeface="Ubuntu" panose="020B0604020202020204" pitchFamily="34" charset="0"/>
              </a:rPr>
              <a:t>concept</a:t>
            </a:r>
            <a:r>
              <a:rPr sz="2700" spc="-5" dirty="0">
                <a:latin typeface="Ubuntu" panose="020B0604020202020204" pitchFamily="34" charset="0"/>
                <a:cs typeface="Ubuntu" panose="020B0604020202020204" pitchFamily="34" charset="0"/>
              </a:rPr>
              <a:t> </a:t>
            </a:r>
            <a:r>
              <a:rPr sz="2700" dirty="0">
                <a:latin typeface="Ubuntu" panose="020B0604020202020204" pitchFamily="34" charset="0"/>
                <a:cs typeface="Ubuntu" panose="020B0604020202020204" pitchFamily="34" charset="0"/>
              </a:rPr>
              <a:t>is </a:t>
            </a:r>
            <a:r>
              <a:rPr sz="2700" spc="-5" dirty="0">
                <a:latin typeface="Ubuntu" panose="020B0604020202020204" pitchFamily="34" charset="0"/>
                <a:cs typeface="Ubuntu" panose="020B0604020202020204" pitchFamily="34" charset="0"/>
              </a:rPr>
              <a:t>necessary/preferred?</a:t>
            </a:r>
            <a:endParaRPr sz="2700" dirty="0">
              <a:latin typeface="Arial" panose="020B0604020202020204" pitchFamily="34" charset="0"/>
              <a:cs typeface="Arial" panose="020B0604020202020204" pitchFamily="34" charset="0"/>
            </a:endParaRPr>
          </a:p>
          <a:p>
            <a:pPr marL="355600" marR="5080" indent="-342900">
              <a:lnSpc>
                <a:spcPct val="100800"/>
              </a:lnSpc>
              <a:spcBef>
                <a:spcPts val="985"/>
              </a:spcBef>
              <a:buFont typeface="Wingdings" panose="05000000000000000000" pitchFamily="2" charset="2"/>
              <a:buChar char="q"/>
              <a:tabLst>
                <a:tab pos="354965" algn="l"/>
                <a:tab pos="355600" algn="l"/>
              </a:tabLst>
              <a:defRPr>
                <a:latin typeface="Ubuntu"/>
                <a:ea typeface="Ubuntu"/>
                <a:cs typeface="Ubuntu"/>
              </a:defRPr>
            </a:pPr>
            <a:r>
              <a:rPr sz="2700" spc="-5" dirty="0">
                <a:latin typeface="Ubuntu" panose="020B0604020202020204" pitchFamily="34" charset="0"/>
                <a:cs typeface="Ubuntu" panose="020B0604020202020204" pitchFamily="34" charset="0"/>
              </a:rPr>
              <a:t>What </a:t>
            </a:r>
            <a:r>
              <a:rPr sz="2700" dirty="0">
                <a:latin typeface="Ubuntu" panose="020B0604020202020204" pitchFamily="34" charset="0"/>
                <a:cs typeface="Ubuntu" panose="020B0604020202020204" pitchFamily="34" charset="0"/>
              </a:rPr>
              <a:t>is </a:t>
            </a:r>
            <a:r>
              <a:rPr sz="2700" spc="-5" dirty="0">
                <a:latin typeface="Ubuntu" panose="020B0604020202020204" pitchFamily="34" charset="0"/>
                <a:cs typeface="Ubuntu" panose="020B0604020202020204" pitchFamily="34" charset="0"/>
              </a:rPr>
              <a:t>the total </a:t>
            </a:r>
            <a:r>
              <a:rPr sz="2700" dirty="0">
                <a:latin typeface="Ubuntu" panose="020B0604020202020204" pitchFamily="34" charset="0"/>
                <a:cs typeface="Ubuntu" panose="020B0604020202020204" pitchFamily="34" charset="0"/>
              </a:rPr>
              <a:t>power and energy demand? - hence solar array area and </a:t>
            </a:r>
            <a:r>
              <a:rPr sz="2700" spc="-5" dirty="0">
                <a:latin typeface="Ubuntu" panose="020B0604020202020204" pitchFamily="34" charset="0"/>
                <a:cs typeface="Ubuntu" panose="020B0604020202020204" pitchFamily="34" charset="0"/>
              </a:rPr>
              <a:t>battery </a:t>
            </a:r>
            <a:r>
              <a:rPr sz="2700" spc="-655" dirty="0">
                <a:latin typeface="Ubuntu" panose="020B0604020202020204" pitchFamily="34" charset="0"/>
                <a:cs typeface="Ubuntu" panose="020B0604020202020204" pitchFamily="34" charset="0"/>
              </a:rPr>
              <a:t> </a:t>
            </a:r>
            <a:r>
              <a:rPr sz="2700" spc="-25" dirty="0">
                <a:latin typeface="Ubuntu" panose="020B0604020202020204" pitchFamily="34" charset="0"/>
                <a:cs typeface="Ubuntu" panose="020B0604020202020204" pitchFamily="34" charset="0"/>
              </a:rPr>
              <a:t>capacity,</a:t>
            </a:r>
            <a:r>
              <a:rPr sz="2700" spc="-15" dirty="0">
                <a:latin typeface="Ubuntu" panose="020B0604020202020204" pitchFamily="34" charset="0"/>
                <a:cs typeface="Ubuntu" panose="020B0604020202020204" pitchFamily="34" charset="0"/>
              </a:rPr>
              <a:t> </a:t>
            </a:r>
            <a:r>
              <a:rPr sz="2700" spc="-5" dirty="0">
                <a:latin typeface="Ubuntu" panose="020B0604020202020204" pitchFamily="34" charset="0"/>
                <a:cs typeface="Ubuntu" panose="020B0604020202020204" pitchFamily="34" charset="0"/>
              </a:rPr>
              <a:t>etc……</a:t>
            </a:r>
            <a:endParaRPr sz="2700" dirty="0">
              <a:latin typeface="Arial" panose="020B0604020202020204" pitchFamily="34" charset="0"/>
              <a:cs typeface="Arial" panose="020B0604020202020204" pitchFamily="34" charset="0"/>
            </a:endParaRPr>
          </a:p>
          <a:p>
            <a:pPr marL="355600" marR="1017905" indent="-342900">
              <a:lnSpc>
                <a:spcPts val="2810"/>
              </a:lnSpc>
              <a:spcBef>
                <a:spcPts val="1160"/>
              </a:spcBef>
              <a:buFont typeface="Wingdings" panose="05000000000000000000" pitchFamily="2" charset="2"/>
              <a:buChar char="q"/>
              <a:tabLst>
                <a:tab pos="354965" algn="l"/>
                <a:tab pos="355600" algn="l"/>
              </a:tabLst>
              <a:defRPr>
                <a:latin typeface="Ubuntu"/>
                <a:ea typeface="Ubuntu"/>
                <a:cs typeface="Ubuntu"/>
              </a:defRPr>
            </a:pPr>
            <a:r>
              <a:rPr sz="2700" i="1" spc="-5" dirty="0">
                <a:latin typeface="Ubuntu" panose="020B0604020202020204" pitchFamily="34" charset="0"/>
                <a:cs typeface="Ubuntu" panose="020B0604020202020204" pitchFamily="34" charset="0"/>
              </a:rPr>
              <a:t>Propulsion, AOCS </a:t>
            </a:r>
            <a:r>
              <a:rPr sz="2700" i="1" dirty="0">
                <a:latin typeface="Ubuntu" panose="020B0604020202020204" pitchFamily="34" charset="0"/>
                <a:cs typeface="Ubuntu" panose="020B0604020202020204" pitchFamily="34" charset="0"/>
              </a:rPr>
              <a:t>and solar array are </a:t>
            </a:r>
            <a:r>
              <a:rPr sz="2700" i="1" spc="-5" dirty="0">
                <a:latin typeface="Ubuntu" panose="020B0604020202020204" pitchFamily="34" charset="0"/>
                <a:cs typeface="Ubuntu" panose="020B0604020202020204" pitchFamily="34" charset="0"/>
              </a:rPr>
              <a:t>often the </a:t>
            </a:r>
            <a:r>
              <a:rPr sz="2700" i="1" dirty="0">
                <a:latin typeface="Ubuntu" panose="020B0604020202020204" pitchFamily="34" charset="0"/>
                <a:cs typeface="Ubuntu" panose="020B0604020202020204" pitchFamily="34" charset="0"/>
              </a:rPr>
              <a:t>most </a:t>
            </a:r>
            <a:r>
              <a:rPr sz="2700" i="1" spc="-5" dirty="0">
                <a:latin typeface="Ubuntu" panose="020B0604020202020204" pitchFamily="34" charset="0"/>
                <a:cs typeface="Ubuntu" panose="020B0604020202020204" pitchFamily="34" charset="0"/>
              </a:rPr>
              <a:t>significant </a:t>
            </a:r>
            <a:r>
              <a:rPr sz="2700" i="1" dirty="0">
                <a:latin typeface="Ubuntu" panose="020B0604020202020204" pitchFamily="34" charset="0"/>
                <a:cs typeface="Ubuntu" panose="020B0604020202020204" pitchFamily="34" charset="0"/>
              </a:rPr>
              <a:t>drivers on </a:t>
            </a:r>
            <a:r>
              <a:rPr sz="2700" i="1" spc="-655" dirty="0">
                <a:latin typeface="Ubuntu" panose="020B0604020202020204" pitchFamily="34" charset="0"/>
                <a:cs typeface="Ubuntu" panose="020B0604020202020204" pitchFamily="34" charset="0"/>
              </a:rPr>
              <a:t> </a:t>
            </a:r>
            <a:r>
              <a:rPr sz="2700" i="1" dirty="0">
                <a:latin typeface="Ubuntu" panose="020B0604020202020204" pitchFamily="34" charset="0"/>
                <a:cs typeface="Ubuntu" panose="020B0604020202020204" pitchFamily="34" charset="0"/>
              </a:rPr>
              <a:t>(mechanical)</a:t>
            </a:r>
            <a:r>
              <a:rPr sz="2700" i="1" spc="-5" dirty="0">
                <a:latin typeface="Ubuntu" panose="020B0604020202020204" pitchFamily="34" charset="0"/>
                <a:cs typeface="Ubuntu" panose="020B0604020202020204" pitchFamily="34" charset="0"/>
              </a:rPr>
              <a:t> configuration</a:t>
            </a:r>
            <a:endParaRPr sz="2700" dirty="0">
              <a:latin typeface="Arial" panose="020B0604020202020204" pitchFamily="34" charset="0"/>
              <a:cs typeface="Arial" panose="020B0604020202020204" pitchFamily="34" charset="0"/>
            </a:endParaRPr>
          </a:p>
        </p:txBody>
      </p:sp>
      <p:sp>
        <p:nvSpPr>
          <p:cNvPr id="6" name="Slide Number Placeholder 7">
            <a:extLst>
              <a:ext uri="{FF2B5EF4-FFF2-40B4-BE49-F238E27FC236}">
                <a16:creationId xmlns:a16="http://schemas.microsoft.com/office/drawing/2014/main" id="{BAEFAD8F-5CCC-3ED5-864D-57CD490F742D}"/>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13</a:t>
            </a:fld>
            <a:endParaRPr lang="en-US" sz="4800" b="1" dirty="0">
              <a:solidFill>
                <a:srgbClr val="FF0000"/>
              </a:solidFill>
            </a:endParaRPr>
          </a:p>
        </p:txBody>
      </p:sp>
      <p:pic>
        <p:nvPicPr>
          <p:cNvPr id="7" name="Space Faculty logo" descr="sf_logo.png"/>
          <p:cNvPicPr>
            <a:picLocks noChangeAspect="1"/>
          </p:cNvPicPr>
          <p:nvPr/>
        </p:nvPicPr>
        <p:blipFill>
          <a:blip r:embed="rId2"/>
          <a:stretch>
            <a:fillRect/>
          </a:stretch>
        </p:blipFill>
        <p:spPr>
          <a:xfrm>
            <a:off x="10488994" y="54864"/>
            <a:ext cx="1590230" cy="4519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1184" y="119174"/>
            <a:ext cx="7912025"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lang="en-US" sz="4000" b="1" dirty="0">
                <a:latin typeface="House Movements Runway" panose="020B0604020202020204" pitchFamily="34" charset="0"/>
                <a:cs typeface="House Movements Runway" panose="020B0604020202020204" pitchFamily="34" charset="0"/>
              </a:rPr>
              <a:t>EO &amp; </a:t>
            </a:r>
            <a:r>
              <a:rPr sz="4000" b="1" dirty="0">
                <a:latin typeface="House Movements Runway" panose="020B0604020202020204" pitchFamily="34" charset="0"/>
                <a:cs typeface="House Movements Runway" panose="020B0604020202020204" pitchFamily="34" charset="0"/>
              </a:rPr>
              <a:t>Remote</a:t>
            </a:r>
            <a:r>
              <a:rPr sz="4000" b="1" spc="-30"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Sensing</a:t>
            </a:r>
            <a:r>
              <a:rPr sz="4000" b="1" spc="-25"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Sensors</a:t>
            </a:r>
            <a:endParaRPr sz="4000" b="1" dirty="0">
              <a:latin typeface="Arial" panose="020B0604020202020204" pitchFamily="34" charset="0"/>
              <a:cs typeface="Arial" panose="020B0604020202020204" pitchFamily="34" charset="0"/>
            </a:endParaRPr>
          </a:p>
        </p:txBody>
      </p:sp>
      <p:sp>
        <p:nvSpPr>
          <p:cNvPr id="3" name="object 3"/>
          <p:cNvSpPr txBox="1"/>
          <p:nvPr/>
        </p:nvSpPr>
        <p:spPr>
          <a:xfrm>
            <a:off x="76201" y="1286959"/>
            <a:ext cx="6324600" cy="5326458"/>
          </a:xfrm>
          <a:prstGeom prst="rect">
            <a:avLst/>
          </a:prstGeom>
        </p:spPr>
        <p:txBody>
          <a:bodyPr vert="horz" wrap="square" lIns="0" tIns="92075" rIns="0" bIns="0" rtlCol="0">
            <a:spAutoFit/>
          </a:bodyPr>
          <a:lstStyle/>
          <a:p>
            <a:pPr marL="354965" indent="-342900">
              <a:lnSpc>
                <a:spcPct val="100000"/>
              </a:lnSpc>
              <a:spcBef>
                <a:spcPts val="1415"/>
              </a:spcBef>
              <a:buFont typeface="Wingdings" panose="05000000000000000000" pitchFamily="2" charset="2"/>
              <a:buChar char="q"/>
              <a:tabLst>
                <a:tab pos="354965" algn="l"/>
                <a:tab pos="355600" algn="l"/>
              </a:tabLst>
              <a:defRPr>
                <a:latin typeface="Ubuntu"/>
                <a:ea typeface="Ubuntu"/>
                <a:cs typeface="Ubuntu"/>
              </a:defRPr>
            </a:pPr>
            <a:r>
              <a:rPr lang="en-US" sz="2400" spc="-5" dirty="0">
                <a:latin typeface="Ubuntu" panose="020B0604020202020204" pitchFamily="34" charset="0"/>
                <a:cs typeface="Ubuntu" panose="020B0604020202020204" pitchFamily="34" charset="0"/>
              </a:rPr>
              <a:t>Sensors </a:t>
            </a:r>
            <a:r>
              <a:rPr lang="en-US" sz="2400" dirty="0">
                <a:latin typeface="Ubuntu" panose="020B0604020202020204" pitchFamily="34" charset="0"/>
                <a:cs typeface="Ubuntu" panose="020B0604020202020204" pitchFamily="34" charset="0"/>
              </a:rPr>
              <a:t>are </a:t>
            </a:r>
            <a:r>
              <a:rPr lang="en-US" sz="2400" spc="-5" dirty="0">
                <a:latin typeface="Ubuntu" panose="020B0604020202020204" pitchFamily="34" charset="0"/>
                <a:cs typeface="Ubuntu" panose="020B0604020202020204" pitchFamily="34" charset="0"/>
              </a:rPr>
              <a:t>sensitive</a:t>
            </a:r>
            <a:r>
              <a:rPr lang="en-US" sz="2400" dirty="0">
                <a:latin typeface="Ubuntu" panose="020B0604020202020204" pitchFamily="34" charset="0"/>
                <a:cs typeface="Ubuntu" panose="020B0604020202020204" pitchFamily="34" charset="0"/>
              </a:rPr>
              <a:t> </a:t>
            </a:r>
            <a:r>
              <a:rPr lang="en-US" sz="2400" spc="-5" dirty="0">
                <a:latin typeface="Ubuntu" panose="020B0604020202020204" pitchFamily="34" charset="0"/>
                <a:cs typeface="Ubuntu" panose="020B0604020202020204" pitchFamily="34" charset="0"/>
              </a:rPr>
              <a:t>to</a:t>
            </a:r>
            <a:r>
              <a:rPr lang="en-US" sz="2400" dirty="0">
                <a:latin typeface="Ubuntu" panose="020B0604020202020204" pitchFamily="34" charset="0"/>
                <a:cs typeface="Ubuntu" panose="020B0604020202020204" pitchFamily="34" charset="0"/>
              </a:rPr>
              <a:t> </a:t>
            </a:r>
            <a:r>
              <a:rPr lang="en-US" sz="2400" spc="-5" dirty="0">
                <a:latin typeface="Ubuntu" panose="020B0604020202020204" pitchFamily="34" charset="0"/>
                <a:cs typeface="Ubuntu" panose="020B0604020202020204" pitchFamily="34" charset="0"/>
              </a:rPr>
              <a:t>electromagnetic</a:t>
            </a:r>
            <a:r>
              <a:rPr lang="en-US" sz="2400" dirty="0">
                <a:latin typeface="Ubuntu" panose="020B0604020202020204" pitchFamily="34" charset="0"/>
                <a:cs typeface="Ubuntu" panose="020B0604020202020204" pitchFamily="34" charset="0"/>
              </a:rPr>
              <a:t> energy such as:</a:t>
            </a:r>
          </a:p>
          <a:p>
            <a:pPr marL="758825" lvl="1" indent="-342900">
              <a:lnSpc>
                <a:spcPct val="100000"/>
              </a:lnSpc>
              <a:spcBef>
                <a:spcPts val="1415"/>
              </a:spcBef>
              <a:buClr>
                <a:srgbClr val="00B050"/>
              </a:buClr>
              <a:buFont typeface="Wingdings" panose="05000000000000000000" pitchFamily="2" charset="2"/>
              <a:buChar char="Ø"/>
              <a:tabLst>
                <a:tab pos="747395" algn="l"/>
                <a:tab pos="748030" algn="l"/>
              </a:tabLst>
              <a:defRPr>
                <a:latin typeface="Ubuntu"/>
                <a:ea typeface="Ubuntu"/>
                <a:cs typeface="Ubuntu"/>
              </a:defRPr>
            </a:pPr>
            <a:r>
              <a:rPr lang="en-US" sz="2400" dirty="0">
                <a:latin typeface="Ubuntu" panose="020B0604020202020204" pitchFamily="34" charset="0"/>
                <a:cs typeface="Ubuntu" panose="020B0604020202020204" pitchFamily="34" charset="0"/>
              </a:rPr>
              <a:t>Light</a:t>
            </a:r>
            <a:r>
              <a:rPr lang="en-US" sz="2400" spc="-35" dirty="0">
                <a:latin typeface="Ubuntu" panose="020B0604020202020204" pitchFamily="34" charset="0"/>
                <a:cs typeface="Ubuntu" panose="020B0604020202020204" pitchFamily="34" charset="0"/>
              </a:rPr>
              <a:t>, </a:t>
            </a:r>
            <a:r>
              <a:rPr lang="en-US" sz="2400" dirty="0">
                <a:latin typeface="Ubuntu" panose="020B0604020202020204" pitchFamily="34" charset="0"/>
                <a:cs typeface="Ubuntu" panose="020B0604020202020204" pitchFamily="34" charset="0"/>
              </a:rPr>
              <a:t>heat, radio</a:t>
            </a:r>
            <a:r>
              <a:rPr lang="en-US" sz="2400" spc="-40" dirty="0">
                <a:latin typeface="Ubuntu" panose="020B0604020202020204" pitchFamily="34" charset="0"/>
                <a:cs typeface="Ubuntu" panose="020B0604020202020204" pitchFamily="34" charset="0"/>
              </a:rPr>
              <a:t> </a:t>
            </a:r>
            <a:r>
              <a:rPr lang="en-US" sz="2400" dirty="0">
                <a:latin typeface="Ubuntu" panose="020B0604020202020204" pitchFamily="34" charset="0"/>
                <a:cs typeface="Ubuntu" panose="020B0604020202020204" pitchFamily="34" charset="0"/>
              </a:rPr>
              <a:t>waves</a:t>
            </a:r>
          </a:p>
          <a:p>
            <a:pPr marL="415925" lvl="1">
              <a:lnSpc>
                <a:spcPct val="100000"/>
              </a:lnSpc>
              <a:spcBef>
                <a:spcPts val="1415"/>
              </a:spcBef>
              <a:buClr>
                <a:srgbClr val="00B050"/>
              </a:buClr>
              <a:tabLst>
                <a:tab pos="747395" algn="l"/>
                <a:tab pos="748030" algn="l"/>
              </a:tabLst>
              <a:defRPr>
                <a:latin typeface="Ubuntu"/>
                <a:ea typeface="Ubuntu"/>
                <a:cs typeface="Ubuntu"/>
              </a:defRPr>
            </a:pPr>
            <a:endParaRPr lang="en-US" sz="2400" b="1" spc="-5" dirty="0">
              <a:latin typeface="Arial" panose="020B0604020202020204" pitchFamily="34" charset="0"/>
              <a:cs typeface="Arial" panose="020B0604020202020204" pitchFamily="34" charset="0"/>
            </a:endParaRPr>
          </a:p>
          <a:p>
            <a:pPr marL="354965" indent="-342900">
              <a:lnSpc>
                <a:spcPct val="100000"/>
              </a:lnSpc>
              <a:spcBef>
                <a:spcPts val="725"/>
              </a:spcBef>
              <a:buFont typeface="Wingdings" panose="05000000000000000000" pitchFamily="2" charset="2"/>
              <a:buChar char="q"/>
              <a:tabLst>
                <a:tab pos="192405" algn="l"/>
              </a:tabLst>
              <a:defRPr>
                <a:latin typeface="Ubuntu"/>
                <a:ea typeface="Ubuntu"/>
                <a:cs typeface="Ubuntu"/>
              </a:defRPr>
            </a:pPr>
            <a:r>
              <a:rPr sz="2400" b="1" spc="-5" dirty="0">
                <a:latin typeface="Ubuntu" panose="020B0604020202020204" pitchFamily="34" charset="0"/>
                <a:cs typeface="Ubuntu" panose="020B0604020202020204" pitchFamily="34" charset="0"/>
              </a:rPr>
              <a:t>Active</a:t>
            </a:r>
            <a:r>
              <a:rPr sz="2400" b="1" spc="-30" dirty="0">
                <a:latin typeface="Ubuntu" panose="020B0604020202020204" pitchFamily="34" charset="0"/>
                <a:cs typeface="Ubuntu" panose="020B0604020202020204" pitchFamily="34" charset="0"/>
              </a:rPr>
              <a:t> </a:t>
            </a:r>
            <a:r>
              <a:rPr sz="2400" b="1" spc="-5" dirty="0">
                <a:latin typeface="Ubuntu" panose="020B0604020202020204" pitchFamily="34" charset="0"/>
                <a:cs typeface="Ubuntu" panose="020B0604020202020204" pitchFamily="34" charset="0"/>
              </a:rPr>
              <a:t>Sensors</a:t>
            </a:r>
            <a:endParaRPr sz="2400" dirty="0">
              <a:latin typeface="Arial" panose="020B0604020202020204" pitchFamily="34" charset="0"/>
              <a:cs typeface="Arial" panose="020B0604020202020204" pitchFamily="34" charset="0"/>
            </a:endParaRPr>
          </a:p>
          <a:p>
            <a:pPr marL="607696" marR="151765" lvl="1" indent="-342900">
              <a:lnSpc>
                <a:spcPct val="121400"/>
              </a:lnSpc>
              <a:spcBef>
                <a:spcPts val="5"/>
              </a:spcBef>
              <a:buFont typeface="Wingdings" panose="05000000000000000000" pitchFamily="2" charset="2"/>
              <a:buChar char="q"/>
              <a:tabLst>
                <a:tab pos="519430" algn="l"/>
              </a:tabLst>
              <a:defRPr>
                <a:latin typeface="Ubuntu"/>
                <a:ea typeface="Ubuntu"/>
                <a:cs typeface="Ubuntu"/>
              </a:defRPr>
            </a:pPr>
            <a:r>
              <a:rPr sz="2400" spc="-5" dirty="0">
                <a:latin typeface="Ubuntu" panose="020B0604020202020204" pitchFamily="34" charset="0"/>
                <a:cs typeface="Ubuntu" panose="020B0604020202020204" pitchFamily="34" charset="0"/>
              </a:rPr>
              <a:t>Emit their </a:t>
            </a:r>
            <a:r>
              <a:rPr sz="2400" dirty="0">
                <a:latin typeface="Ubuntu" panose="020B0604020202020204" pitchFamily="34" charset="0"/>
                <a:cs typeface="Ubuntu" panose="020B0604020202020204" pitchFamily="34" charset="0"/>
              </a:rPr>
              <a:t>own source of </a:t>
            </a:r>
            <a:r>
              <a:rPr sz="2400" spc="5" dirty="0">
                <a:latin typeface="Ubuntu" panose="020B0604020202020204" pitchFamily="34" charset="0"/>
                <a:cs typeface="Ubuntu" panose="020B0604020202020204" pitchFamily="34" charset="0"/>
              </a:rPr>
              <a:t> </a:t>
            </a:r>
            <a:r>
              <a:rPr sz="2400" dirty="0">
                <a:latin typeface="Ubuntu" panose="020B0604020202020204" pitchFamily="34" charset="0"/>
                <a:cs typeface="Ubuntu" panose="020B0604020202020204" pitchFamily="34" charset="0"/>
              </a:rPr>
              <a:t>energy and record </a:t>
            </a:r>
            <a:r>
              <a:rPr sz="2400" spc="-5" dirty="0">
                <a:latin typeface="Ubuntu" panose="020B0604020202020204" pitchFamily="34" charset="0"/>
                <a:cs typeface="Ubuntu" panose="020B0604020202020204" pitchFamily="34" charset="0"/>
              </a:rPr>
              <a:t>the </a:t>
            </a:r>
            <a:r>
              <a:rPr sz="2400" dirty="0">
                <a:latin typeface="Ubuntu" panose="020B0604020202020204" pitchFamily="34" charset="0"/>
                <a:cs typeface="Ubuntu" panose="020B0604020202020204" pitchFamily="34" charset="0"/>
              </a:rPr>
              <a:t> </a:t>
            </a:r>
            <a:r>
              <a:rPr sz="2400" spc="-5" dirty="0">
                <a:latin typeface="Ubuntu" panose="020B0604020202020204" pitchFamily="34" charset="0"/>
                <a:cs typeface="Ubuntu" panose="020B0604020202020204" pitchFamily="34" charset="0"/>
              </a:rPr>
              <a:t>radiation that </a:t>
            </a:r>
            <a:r>
              <a:rPr sz="2400" dirty="0">
                <a:latin typeface="Ubuntu" panose="020B0604020202020204" pitchFamily="34" charset="0"/>
                <a:cs typeface="Ubuntu" panose="020B0604020202020204" pitchFamily="34" charset="0"/>
              </a:rPr>
              <a:t>is </a:t>
            </a:r>
            <a:r>
              <a:rPr sz="2400" spc="-5" dirty="0">
                <a:latin typeface="Ubuntu" panose="020B0604020202020204" pitchFamily="34" charset="0"/>
                <a:cs typeface="Ubuntu" panose="020B0604020202020204" pitchFamily="34" charset="0"/>
              </a:rPr>
              <a:t>reflected </a:t>
            </a:r>
            <a:r>
              <a:rPr sz="2400" dirty="0">
                <a:latin typeface="Ubuntu" panose="020B0604020202020204" pitchFamily="34" charset="0"/>
                <a:cs typeface="Ubuntu" panose="020B0604020202020204" pitchFamily="34" charset="0"/>
              </a:rPr>
              <a:t>or </a:t>
            </a:r>
            <a:r>
              <a:rPr sz="2400" spc="5" dirty="0">
                <a:latin typeface="Ubuntu" panose="020B0604020202020204" pitchFamily="34" charset="0"/>
                <a:cs typeface="Ubuntu" panose="020B0604020202020204" pitchFamily="34" charset="0"/>
              </a:rPr>
              <a:t> </a:t>
            </a:r>
            <a:r>
              <a:rPr sz="2400" spc="-5" dirty="0">
                <a:latin typeface="Ubuntu" panose="020B0604020202020204" pitchFamily="34" charset="0"/>
                <a:cs typeface="Ubuntu" panose="020B0604020202020204" pitchFamily="34" charset="0"/>
              </a:rPr>
              <a:t>backscattered from the target</a:t>
            </a:r>
            <a:endParaRPr lang="en-US" sz="2400" dirty="0">
              <a:latin typeface="Arial" panose="020B0604020202020204" pitchFamily="34" charset="0"/>
              <a:cs typeface="Arial" panose="020B0604020202020204" pitchFamily="34" charset="0"/>
            </a:endParaRPr>
          </a:p>
          <a:p>
            <a:pPr marL="1028700" lvl="1" indent="-571500">
              <a:lnSpc>
                <a:spcPct val="100000"/>
              </a:lnSpc>
              <a:spcBef>
                <a:spcPts val="20"/>
              </a:spcBef>
              <a:buFont typeface="Wingdings" panose="05000000000000000000" pitchFamily="2" charset="2"/>
              <a:buChar char="q"/>
              <a:defRPr>
                <a:latin typeface="Ubuntu"/>
                <a:ea typeface="Ubuntu"/>
                <a:cs typeface="Ubuntu"/>
              </a:defRPr>
            </a:pPr>
            <a:endParaRPr sz="2400" dirty="0">
              <a:latin typeface="Arial" panose="020B0604020202020204" pitchFamily="34" charset="0"/>
              <a:cs typeface="Arial" panose="020B0604020202020204" pitchFamily="34" charset="0"/>
            </a:endParaRPr>
          </a:p>
          <a:p>
            <a:pPr marL="354965" indent="-342900">
              <a:lnSpc>
                <a:spcPct val="100000"/>
              </a:lnSpc>
              <a:buFont typeface="Wingdings" panose="05000000000000000000" pitchFamily="2" charset="2"/>
              <a:buChar char="q"/>
              <a:tabLst>
                <a:tab pos="203200" algn="l"/>
              </a:tabLst>
              <a:defRPr>
                <a:latin typeface="Ubuntu"/>
                <a:ea typeface="Ubuntu"/>
                <a:cs typeface="Ubuntu"/>
              </a:defRPr>
            </a:pPr>
            <a:r>
              <a:rPr sz="2400" b="1" spc="-5" dirty="0">
                <a:latin typeface="Ubuntu" panose="020B0604020202020204" pitchFamily="34" charset="0"/>
                <a:cs typeface="Ubuntu" panose="020B0604020202020204" pitchFamily="34" charset="0"/>
              </a:rPr>
              <a:t>Passive</a:t>
            </a:r>
            <a:r>
              <a:rPr sz="2400" b="1" spc="-30" dirty="0">
                <a:latin typeface="Ubuntu" panose="020B0604020202020204" pitchFamily="34" charset="0"/>
                <a:cs typeface="Ubuntu" panose="020B0604020202020204" pitchFamily="34" charset="0"/>
              </a:rPr>
              <a:t> </a:t>
            </a:r>
            <a:r>
              <a:rPr sz="2400" b="1" spc="-5" dirty="0">
                <a:latin typeface="Ubuntu" panose="020B0604020202020204" pitchFamily="34" charset="0"/>
                <a:cs typeface="Ubuntu" panose="020B0604020202020204" pitchFamily="34" charset="0"/>
              </a:rPr>
              <a:t>Sensors</a:t>
            </a:r>
            <a:endParaRPr sz="2400" dirty="0">
              <a:latin typeface="Arial" panose="020B0604020202020204" pitchFamily="34" charset="0"/>
              <a:cs typeface="Arial" panose="020B0604020202020204" pitchFamily="34" charset="0"/>
            </a:endParaRPr>
          </a:p>
          <a:p>
            <a:pPr marL="607695" marR="168275" lvl="1" indent="-342900">
              <a:lnSpc>
                <a:spcPct val="121700"/>
              </a:lnSpc>
              <a:buFont typeface="Wingdings" panose="05000000000000000000" pitchFamily="2" charset="2"/>
              <a:buChar char="q"/>
              <a:tabLst>
                <a:tab pos="519430" algn="l"/>
              </a:tabLst>
              <a:defRPr>
                <a:latin typeface="Ubuntu"/>
                <a:ea typeface="Ubuntu"/>
                <a:cs typeface="Ubuntu"/>
              </a:defRPr>
            </a:pPr>
            <a:r>
              <a:rPr sz="2400" spc="-5" dirty="0">
                <a:latin typeface="Ubuntu" panose="020B0604020202020204" pitchFamily="34" charset="0"/>
                <a:cs typeface="Ubuntu" panose="020B0604020202020204" pitchFamily="34" charset="0"/>
              </a:rPr>
              <a:t>Detect natural radiation </a:t>
            </a:r>
            <a:r>
              <a:rPr sz="2400" dirty="0">
                <a:latin typeface="Ubuntu" panose="020B0604020202020204" pitchFamily="34" charset="0"/>
                <a:cs typeface="Ubuntu" panose="020B0604020202020204" pitchFamily="34" charset="0"/>
              </a:rPr>
              <a:t> </a:t>
            </a:r>
            <a:r>
              <a:rPr sz="2400" spc="-5" dirty="0">
                <a:latin typeface="Ubuntu" panose="020B0604020202020204" pitchFamily="34" charset="0"/>
                <a:cs typeface="Ubuntu" panose="020B0604020202020204" pitchFamily="34" charset="0"/>
              </a:rPr>
              <a:t>emitted</a:t>
            </a:r>
            <a:r>
              <a:rPr sz="2400" spc="-10" dirty="0">
                <a:latin typeface="Ubuntu" panose="020B0604020202020204" pitchFamily="34" charset="0"/>
                <a:cs typeface="Ubuntu" panose="020B0604020202020204" pitchFamily="34" charset="0"/>
              </a:rPr>
              <a:t> </a:t>
            </a:r>
            <a:r>
              <a:rPr sz="2400" dirty="0">
                <a:latin typeface="Ubuntu" panose="020B0604020202020204" pitchFamily="34" charset="0"/>
                <a:cs typeface="Ubuntu" panose="020B0604020202020204" pitchFamily="34" charset="0"/>
              </a:rPr>
              <a:t>or</a:t>
            </a:r>
            <a:r>
              <a:rPr sz="2400" spc="-10" dirty="0">
                <a:latin typeface="Ubuntu" panose="020B0604020202020204" pitchFamily="34" charset="0"/>
                <a:cs typeface="Ubuntu" panose="020B0604020202020204" pitchFamily="34" charset="0"/>
              </a:rPr>
              <a:t> </a:t>
            </a:r>
            <a:r>
              <a:rPr sz="2400" spc="-5" dirty="0">
                <a:latin typeface="Ubuntu" panose="020B0604020202020204" pitchFamily="34" charset="0"/>
                <a:cs typeface="Ubuntu" panose="020B0604020202020204" pitchFamily="34" charset="0"/>
              </a:rPr>
              <a:t>reflected</a:t>
            </a:r>
            <a:r>
              <a:rPr sz="2400" spc="-10" dirty="0">
                <a:latin typeface="Ubuntu" panose="020B0604020202020204" pitchFamily="34" charset="0"/>
                <a:cs typeface="Ubuntu" panose="020B0604020202020204" pitchFamily="34" charset="0"/>
              </a:rPr>
              <a:t> </a:t>
            </a:r>
            <a:r>
              <a:rPr sz="2400" dirty="0">
                <a:latin typeface="Ubuntu" panose="020B0604020202020204" pitchFamily="34" charset="0"/>
                <a:cs typeface="Ubuntu" panose="020B0604020202020204" pitchFamily="34" charset="0"/>
              </a:rPr>
              <a:t>by</a:t>
            </a:r>
            <a:r>
              <a:rPr sz="2400" spc="-5" dirty="0">
                <a:latin typeface="Ubuntu" panose="020B0604020202020204" pitchFamily="34" charset="0"/>
                <a:cs typeface="Ubuntu" panose="020B0604020202020204" pitchFamily="34" charset="0"/>
              </a:rPr>
              <a:t> targets</a:t>
            </a:r>
            <a:endParaRPr sz="2400" dirty="0">
              <a:latin typeface="Arial" panose="020B0604020202020204" pitchFamily="34" charset="0"/>
              <a:cs typeface="Arial" panose="020B0604020202020204" pitchFamily="34" charset="0"/>
            </a:endParaRPr>
          </a:p>
        </p:txBody>
      </p:sp>
      <p:pic>
        <p:nvPicPr>
          <p:cNvPr id="4" name="Picture 3" descr="REMOTE SENSING — NASA Acres">
            <a:extLst>
              <a:ext uri="{FF2B5EF4-FFF2-40B4-BE49-F238E27FC236}">
                <a16:creationId xmlns:a16="http://schemas.microsoft.com/office/drawing/2014/main" id="{40F61729-7450-62CC-082B-D3B97A9CFF54}"/>
              </a:ext>
            </a:extLst>
          </p:cNvPr>
          <p:cNvPicPr>
            <a:picLocks noChangeAspect="1"/>
          </p:cNvPicPr>
          <p:nvPr/>
        </p:nvPicPr>
        <p:blipFill>
          <a:blip r:embed="rId2"/>
          <a:stretch>
            <a:fillRect/>
          </a:stretch>
        </p:blipFill>
        <p:spPr>
          <a:xfrm>
            <a:off x="6096000" y="818157"/>
            <a:ext cx="5843680" cy="2368717"/>
          </a:xfrm>
          <a:prstGeom prst="rect">
            <a:avLst/>
          </a:prstGeom>
        </p:spPr>
      </p:pic>
      <p:pic>
        <p:nvPicPr>
          <p:cNvPr id="9" name="Picture 8">
            <a:extLst>
              <a:ext uri="{FF2B5EF4-FFF2-40B4-BE49-F238E27FC236}">
                <a16:creationId xmlns:a16="http://schemas.microsoft.com/office/drawing/2014/main" id="{837D1223-4FF3-E83B-AE41-8EAA1B125130}"/>
              </a:ext>
            </a:extLst>
          </p:cNvPr>
          <p:cNvPicPr>
            <a:picLocks noChangeAspect="1"/>
          </p:cNvPicPr>
          <p:nvPr/>
        </p:nvPicPr>
        <p:blipFill>
          <a:blip r:embed="rId3"/>
          <a:stretch>
            <a:fillRect/>
          </a:stretch>
        </p:blipFill>
        <p:spPr>
          <a:xfrm>
            <a:off x="5987725" y="3421365"/>
            <a:ext cx="3341743" cy="3341743"/>
          </a:xfrm>
          <a:prstGeom prst="rect">
            <a:avLst/>
          </a:prstGeom>
        </p:spPr>
      </p:pic>
      <p:pic>
        <p:nvPicPr>
          <p:cNvPr id="11" name="Picture 10" descr="The image is a detailed map showing a river's path cut through a grid of agricultural fields.&#10;&#10;AI-generated content may be incorrect.">
            <a:extLst>
              <a:ext uri="{FF2B5EF4-FFF2-40B4-BE49-F238E27FC236}">
                <a16:creationId xmlns:a16="http://schemas.microsoft.com/office/drawing/2014/main" id="{FABA7E8C-F37B-64D4-39A7-1C86F10E19A3}"/>
              </a:ext>
            </a:extLst>
          </p:cNvPr>
          <p:cNvPicPr>
            <a:picLocks noChangeAspect="1"/>
          </p:cNvPicPr>
          <p:nvPr/>
        </p:nvPicPr>
        <p:blipFill>
          <a:blip r:embed="rId4"/>
          <a:stretch>
            <a:fillRect/>
          </a:stretch>
        </p:blipFill>
        <p:spPr>
          <a:xfrm>
            <a:off x="9381307" y="3419479"/>
            <a:ext cx="2734492" cy="1350839"/>
          </a:xfrm>
          <a:prstGeom prst="rect">
            <a:avLst/>
          </a:prstGeom>
        </p:spPr>
      </p:pic>
      <p:pic>
        <p:nvPicPr>
          <p:cNvPr id="13" name="Picture 12" descr="The image is a detailed satellite photograph showcasing a densely populated urban area with a clear outline of a river flowing through it.&#10;&#10;AI-generated content may be incorrect.">
            <a:extLst>
              <a:ext uri="{FF2B5EF4-FFF2-40B4-BE49-F238E27FC236}">
                <a16:creationId xmlns:a16="http://schemas.microsoft.com/office/drawing/2014/main" id="{EB546F97-8B5C-6326-51A4-EA026B8C0FCE}"/>
              </a:ext>
            </a:extLst>
          </p:cNvPr>
          <p:cNvPicPr>
            <a:picLocks noChangeAspect="1"/>
          </p:cNvPicPr>
          <p:nvPr/>
        </p:nvPicPr>
        <p:blipFill>
          <a:blip r:embed="rId5"/>
          <a:stretch>
            <a:fillRect/>
          </a:stretch>
        </p:blipFill>
        <p:spPr>
          <a:xfrm>
            <a:off x="9329467" y="4809448"/>
            <a:ext cx="2786331" cy="1953660"/>
          </a:xfrm>
          <a:prstGeom prst="rect">
            <a:avLst/>
          </a:prstGeom>
        </p:spPr>
      </p:pic>
      <p:sp>
        <p:nvSpPr>
          <p:cNvPr id="15" name="Slide Number Placeholder 7">
            <a:extLst>
              <a:ext uri="{FF2B5EF4-FFF2-40B4-BE49-F238E27FC236}">
                <a16:creationId xmlns:a16="http://schemas.microsoft.com/office/drawing/2014/main" id="{1E04EC2F-05CE-89B4-9FF3-5335A0CB7611}"/>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14</a:t>
            </a:fld>
            <a:endParaRPr lang="en-US" sz="4800" b="1" dirty="0">
              <a:solidFill>
                <a:srgbClr val="FF0000"/>
              </a:solidFill>
            </a:endParaRPr>
          </a:p>
        </p:txBody>
      </p:sp>
      <p:pic>
        <p:nvPicPr>
          <p:cNvPr id="16" name="Space Faculty logo" descr="sf_logo.png"/>
          <p:cNvPicPr>
            <a:picLocks noChangeAspect="1"/>
          </p:cNvPicPr>
          <p:nvPr/>
        </p:nvPicPr>
        <p:blipFill>
          <a:blip r:embed="rId6"/>
          <a:stretch>
            <a:fillRect/>
          </a:stretch>
        </p:blipFill>
        <p:spPr>
          <a:xfrm>
            <a:off x="10527762" y="54863"/>
            <a:ext cx="1551462" cy="440895"/>
          </a:xfrm>
          <a:prstGeom prst="rect">
            <a:avLst/>
          </a:prstGeom>
        </p:spPr>
      </p:pic>
    </p:spTree>
    <p:extLst>
      <p:ext uri="{BB962C8B-B14F-4D97-AF65-F5344CB8AC3E}">
        <p14:creationId xmlns:p14="http://schemas.microsoft.com/office/powerpoint/2010/main" val="3473612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92632" y="310896"/>
            <a:ext cx="7910474"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dirty="0">
                <a:latin typeface="House Movements Runway" panose="020B0604020202020204" pitchFamily="34" charset="0"/>
                <a:cs typeface="House Movements Runway" panose="020B0604020202020204" pitchFamily="34" charset="0"/>
              </a:rPr>
              <a:t>Remote</a:t>
            </a:r>
            <a:r>
              <a:rPr sz="4000" b="1" spc="-20"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Sensing</a:t>
            </a:r>
            <a:r>
              <a:rPr sz="4000" b="1" spc="-15"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Sensor</a:t>
            </a:r>
            <a:r>
              <a:rPr sz="4000" b="1" spc="-15"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Types</a:t>
            </a:r>
            <a:endParaRPr sz="4000"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55304E6-27E8-BCA5-3DAE-02A1D121E48B}"/>
              </a:ext>
            </a:extLst>
          </p:cNvPr>
          <p:cNvPicPr>
            <a:picLocks noChangeAspect="1"/>
          </p:cNvPicPr>
          <p:nvPr/>
        </p:nvPicPr>
        <p:blipFill>
          <a:blip r:embed="rId2">
            <a:duotone>
              <a:prstClr val="black"/>
              <a:srgbClr val="D9C3A5">
                <a:tint val="50000"/>
                <a:satMod val="180000"/>
              </a:srgbClr>
            </a:duotone>
          </a:blip>
          <a:stretch>
            <a:fillRect/>
          </a:stretch>
        </p:blipFill>
        <p:spPr>
          <a:xfrm>
            <a:off x="0" y="1713781"/>
            <a:ext cx="5600129" cy="3991155"/>
          </a:xfrm>
          <a:prstGeom prst="rect">
            <a:avLst/>
          </a:prstGeom>
        </p:spPr>
      </p:pic>
      <p:sp>
        <p:nvSpPr>
          <p:cNvPr id="8" name="Slide Number Placeholder 7">
            <a:extLst>
              <a:ext uri="{FF2B5EF4-FFF2-40B4-BE49-F238E27FC236}">
                <a16:creationId xmlns:a16="http://schemas.microsoft.com/office/drawing/2014/main" id="{3E7CE308-115F-425E-E133-84C67C574FC8}"/>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15</a:t>
            </a:fld>
            <a:endParaRPr lang="en-US" sz="4800" b="1" dirty="0">
              <a:solidFill>
                <a:srgbClr val="FF0000"/>
              </a:solidFill>
            </a:endParaRPr>
          </a:p>
        </p:txBody>
      </p:sp>
      <p:pic>
        <p:nvPicPr>
          <p:cNvPr id="7" name="object 4">
            <a:extLst>
              <a:ext uri="{FF2B5EF4-FFF2-40B4-BE49-F238E27FC236}">
                <a16:creationId xmlns:a16="http://schemas.microsoft.com/office/drawing/2014/main" id="{B3AE53AF-2DD0-4258-DB1D-826B8637FA0E}"/>
              </a:ext>
            </a:extLst>
          </p:cNvPr>
          <p:cNvPicPr/>
          <p:nvPr/>
        </p:nvPicPr>
        <p:blipFill>
          <a:blip r:embed="rId3" cstate="print"/>
          <a:stretch>
            <a:fillRect/>
          </a:stretch>
        </p:blipFill>
        <p:spPr>
          <a:xfrm>
            <a:off x="5736026" y="1905001"/>
            <a:ext cx="6404216" cy="2833776"/>
          </a:xfrm>
          <a:prstGeom prst="rect">
            <a:avLst/>
          </a:prstGeom>
        </p:spPr>
      </p:pic>
      <p:pic>
        <p:nvPicPr>
          <p:cNvPr id="9" name="Space Faculty logo" descr="sf_logo.png"/>
          <p:cNvPicPr>
            <a:picLocks noChangeAspect="1"/>
          </p:cNvPicPr>
          <p:nvPr/>
        </p:nvPicPr>
        <p:blipFill>
          <a:blip r:embed="rId4"/>
          <a:stretch>
            <a:fillRect/>
          </a:stretch>
        </p:blipFill>
        <p:spPr>
          <a:xfrm>
            <a:off x="10411458" y="54864"/>
            <a:ext cx="1667765" cy="473946"/>
          </a:xfrm>
          <a:prstGeom prst="rect">
            <a:avLst/>
          </a:prstGeom>
        </p:spPr>
      </p:pic>
    </p:spTree>
    <p:extLst>
      <p:ext uri="{BB962C8B-B14F-4D97-AF65-F5344CB8AC3E}">
        <p14:creationId xmlns:p14="http://schemas.microsoft.com/office/powerpoint/2010/main" val="1273996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8597" y="238553"/>
            <a:ext cx="6669405"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spc="-5" dirty="0">
                <a:latin typeface="House Movements Runway" panose="020B0604020202020204" pitchFamily="34" charset="0"/>
                <a:cs typeface="House Movements Runway" panose="020B0604020202020204" pitchFamily="34" charset="0"/>
              </a:rPr>
              <a:t>Remote Sensing Platforms</a:t>
            </a:r>
            <a:endParaRPr sz="4000" b="1" dirty="0">
              <a:latin typeface="Arial" panose="020B0604020202020204" pitchFamily="34" charset="0"/>
              <a:cs typeface="Arial" panose="020B0604020202020204" pitchFamily="34" charset="0"/>
            </a:endParaRPr>
          </a:p>
        </p:txBody>
      </p:sp>
      <p:pic>
        <p:nvPicPr>
          <p:cNvPr id="4" name="object 4"/>
          <p:cNvPicPr/>
          <p:nvPr/>
        </p:nvPicPr>
        <p:blipFill>
          <a:blip r:embed="rId2" cstate="print"/>
          <a:stretch>
            <a:fillRect/>
          </a:stretch>
        </p:blipFill>
        <p:spPr>
          <a:xfrm>
            <a:off x="304800" y="1472559"/>
            <a:ext cx="4800600" cy="3099442"/>
          </a:xfrm>
          <a:prstGeom prst="rect">
            <a:avLst/>
          </a:prstGeom>
        </p:spPr>
      </p:pic>
      <p:pic>
        <p:nvPicPr>
          <p:cNvPr id="5" name="object 5"/>
          <p:cNvPicPr/>
          <p:nvPr/>
        </p:nvPicPr>
        <p:blipFill>
          <a:blip r:embed="rId3" cstate="print"/>
          <a:stretch>
            <a:fillRect/>
          </a:stretch>
        </p:blipFill>
        <p:spPr>
          <a:xfrm>
            <a:off x="7239000" y="1295400"/>
            <a:ext cx="2570337" cy="3369119"/>
          </a:xfrm>
          <a:prstGeom prst="rect">
            <a:avLst/>
          </a:prstGeom>
        </p:spPr>
      </p:pic>
      <p:graphicFrame>
        <p:nvGraphicFramePr>
          <p:cNvPr id="6" name="object 6"/>
          <p:cNvGraphicFramePr>
            <a:graphicFrameLocks noGrp="1"/>
          </p:cNvGraphicFramePr>
          <p:nvPr/>
        </p:nvGraphicFramePr>
        <p:xfrm>
          <a:off x="533400" y="4664519"/>
          <a:ext cx="10287000" cy="2096511"/>
        </p:xfrm>
        <a:graphic>
          <a:graphicData uri="http://schemas.openxmlformats.org/drawingml/2006/table">
            <a:tbl>
              <a:tblPr firstRow="1" bandRow="1">
                <a:tableStyleId>{EB344D84-9AFB-497E-A393-DC336BA19D2E}</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09456">
                <a:tc>
                  <a:txBody>
                    <a:bodyPr/>
                    <a:lstStyle/>
                    <a:p>
                      <a:pPr marL="90805">
                        <a:lnSpc>
                          <a:spcPct val="100000"/>
                        </a:lnSpc>
                        <a:spcBef>
                          <a:spcPts val="385"/>
                        </a:spcBef>
                        <a:defRPr>
                          <a:latin typeface="Ubuntu"/>
                          <a:ea typeface="Ubuntu"/>
                          <a:cs typeface="Ubuntu"/>
                        </a:defRPr>
                      </a:pPr>
                      <a:r>
                        <a:rPr sz="2000" spc="60" dirty="0">
                          <a:solidFill>
                            <a:srgbClr val="FFFFFF"/>
                          </a:solidFill>
                          <a:latin typeface="Ubuntu" panose="020B0604020202020204" pitchFamily="34" charset="0"/>
                          <a:cs typeface="Ubuntu" panose="020B0604020202020204" pitchFamily="34" charset="0"/>
                        </a:rPr>
                        <a:t>Remote</a:t>
                      </a:r>
                      <a:r>
                        <a:rPr sz="2000" spc="-10" dirty="0">
                          <a:solidFill>
                            <a:srgbClr val="FFFFFF"/>
                          </a:solidFill>
                          <a:latin typeface="Ubuntu" panose="020B0604020202020204" pitchFamily="34" charset="0"/>
                          <a:cs typeface="Ubuntu" panose="020B0604020202020204" pitchFamily="34" charset="0"/>
                        </a:rPr>
                        <a:t> </a:t>
                      </a:r>
                      <a:r>
                        <a:rPr sz="2000" spc="55" dirty="0">
                          <a:solidFill>
                            <a:srgbClr val="FFFFFF"/>
                          </a:solidFill>
                          <a:latin typeface="Ubuntu" panose="020B0604020202020204" pitchFamily="34" charset="0"/>
                          <a:cs typeface="Ubuntu" panose="020B0604020202020204" pitchFamily="34" charset="0"/>
                        </a:rPr>
                        <a:t>sensing</a:t>
                      </a:r>
                      <a:r>
                        <a:rPr sz="2000" spc="-10" dirty="0">
                          <a:solidFill>
                            <a:srgbClr val="FFFFFF"/>
                          </a:solidFill>
                          <a:latin typeface="Ubuntu" panose="020B0604020202020204" pitchFamily="34" charset="0"/>
                          <a:cs typeface="Ubuntu" panose="020B0604020202020204" pitchFamily="34" charset="0"/>
                        </a:rPr>
                        <a:t> </a:t>
                      </a:r>
                      <a:r>
                        <a:rPr sz="2000" spc="50" dirty="0">
                          <a:solidFill>
                            <a:srgbClr val="FFFFFF"/>
                          </a:solidFill>
                          <a:latin typeface="Ubuntu" panose="020B0604020202020204" pitchFamily="34" charset="0"/>
                          <a:cs typeface="Ubuntu" panose="020B0604020202020204" pitchFamily="34" charset="0"/>
                        </a:rPr>
                        <a:t>Platform</a:t>
                      </a:r>
                      <a:endParaRPr sz="2000">
                        <a:latin typeface="Arial" panose="020B0604020202020204" pitchFamily="34" charset="0"/>
                        <a:cs typeface="Arial" panose="020B0604020202020204" pitchFamily="34" charset="0"/>
                      </a:endParaRPr>
                    </a:p>
                  </a:txBody>
                  <a:tcPr marL="0" marR="0" marT="48895" marB="0"/>
                </a:tc>
                <a:tc>
                  <a:txBody>
                    <a:bodyPr/>
                    <a:lstStyle/>
                    <a:p>
                      <a:pPr marL="90805">
                        <a:lnSpc>
                          <a:spcPct val="100000"/>
                        </a:lnSpc>
                        <a:spcBef>
                          <a:spcPts val="385"/>
                        </a:spcBef>
                        <a:defRPr>
                          <a:latin typeface="Ubuntu"/>
                          <a:ea typeface="Ubuntu"/>
                          <a:cs typeface="Ubuntu"/>
                        </a:defRPr>
                      </a:pPr>
                      <a:r>
                        <a:rPr sz="2000" spc="50" dirty="0">
                          <a:solidFill>
                            <a:srgbClr val="FFFFFF"/>
                          </a:solidFill>
                          <a:latin typeface="Ubuntu" panose="020B0604020202020204" pitchFamily="34" charset="0"/>
                          <a:cs typeface="Ubuntu" panose="020B0604020202020204" pitchFamily="34" charset="0"/>
                        </a:rPr>
                        <a:t>Typical</a:t>
                      </a:r>
                      <a:r>
                        <a:rPr sz="2000" dirty="0">
                          <a:solidFill>
                            <a:srgbClr val="FFFFFF"/>
                          </a:solidFill>
                          <a:latin typeface="Ubuntu" panose="020B0604020202020204" pitchFamily="34" charset="0"/>
                          <a:cs typeface="Ubuntu" panose="020B0604020202020204" pitchFamily="34" charset="0"/>
                        </a:rPr>
                        <a:t> </a:t>
                      </a:r>
                      <a:r>
                        <a:rPr sz="2000" spc="50" dirty="0">
                          <a:solidFill>
                            <a:srgbClr val="FFFFFF"/>
                          </a:solidFill>
                          <a:latin typeface="Ubuntu" panose="020B0604020202020204" pitchFamily="34" charset="0"/>
                          <a:cs typeface="Ubuntu" panose="020B0604020202020204" pitchFamily="34" charset="0"/>
                        </a:rPr>
                        <a:t>Spatial</a:t>
                      </a:r>
                      <a:r>
                        <a:rPr sz="2000" dirty="0">
                          <a:solidFill>
                            <a:srgbClr val="FFFFFF"/>
                          </a:solidFill>
                          <a:latin typeface="Ubuntu" panose="020B0604020202020204" pitchFamily="34" charset="0"/>
                          <a:cs typeface="Ubuntu" panose="020B0604020202020204" pitchFamily="34" charset="0"/>
                        </a:rPr>
                        <a:t> </a:t>
                      </a:r>
                      <a:r>
                        <a:rPr sz="2000" spc="50" dirty="0">
                          <a:solidFill>
                            <a:srgbClr val="FFFFFF"/>
                          </a:solidFill>
                          <a:latin typeface="Ubuntu" panose="020B0604020202020204" pitchFamily="34" charset="0"/>
                          <a:cs typeface="Ubuntu" panose="020B0604020202020204" pitchFamily="34" charset="0"/>
                        </a:rPr>
                        <a:t>Resolution</a:t>
                      </a:r>
                      <a:endParaRPr sz="2000" dirty="0">
                        <a:latin typeface="Arial" panose="020B0604020202020204" pitchFamily="34" charset="0"/>
                        <a:cs typeface="Arial" panose="020B0604020202020204" pitchFamily="34" charset="0"/>
                      </a:endParaRPr>
                    </a:p>
                  </a:txBody>
                  <a:tcPr marL="0" marR="0" marT="48895" marB="0"/>
                </a:tc>
                <a:tc>
                  <a:txBody>
                    <a:bodyPr/>
                    <a:lstStyle/>
                    <a:p>
                      <a:pPr marL="90805" marR="615315">
                        <a:lnSpc>
                          <a:spcPct val="101899"/>
                        </a:lnSpc>
                        <a:spcBef>
                          <a:spcPts val="350"/>
                        </a:spcBef>
                        <a:defRPr>
                          <a:latin typeface="Ubuntu"/>
                          <a:ea typeface="Ubuntu"/>
                          <a:cs typeface="Ubuntu"/>
                        </a:defRPr>
                      </a:pPr>
                      <a:r>
                        <a:rPr sz="2000" spc="50" dirty="0">
                          <a:solidFill>
                            <a:srgbClr val="FFFFFF"/>
                          </a:solidFill>
                          <a:latin typeface="Ubuntu" panose="020B0604020202020204" pitchFamily="34" charset="0"/>
                          <a:cs typeface="Ubuntu" panose="020B0604020202020204" pitchFamily="34" charset="0"/>
                        </a:rPr>
                        <a:t>Typical </a:t>
                      </a:r>
                      <a:r>
                        <a:rPr sz="2000" spc="55" dirty="0">
                          <a:solidFill>
                            <a:srgbClr val="FFFFFF"/>
                          </a:solidFill>
                          <a:latin typeface="Ubuntu" panose="020B0604020202020204" pitchFamily="34" charset="0"/>
                          <a:cs typeface="Ubuntu" panose="020B0604020202020204" pitchFamily="34" charset="0"/>
                        </a:rPr>
                        <a:t>Field-Of-View </a:t>
                      </a:r>
                      <a:r>
                        <a:rPr sz="2000" spc="-400" dirty="0">
                          <a:solidFill>
                            <a:srgbClr val="FFFFFF"/>
                          </a:solidFill>
                          <a:latin typeface="Ubuntu" panose="020B0604020202020204" pitchFamily="34" charset="0"/>
                          <a:cs typeface="Ubuntu" panose="020B0604020202020204" pitchFamily="34" charset="0"/>
                        </a:rPr>
                        <a:t> </a:t>
                      </a:r>
                      <a:r>
                        <a:rPr sz="2000" spc="50" dirty="0">
                          <a:solidFill>
                            <a:srgbClr val="FFFFFF"/>
                          </a:solidFill>
                          <a:latin typeface="Ubuntu" panose="020B0604020202020204" pitchFamily="34" charset="0"/>
                          <a:cs typeface="Ubuntu" panose="020B0604020202020204" pitchFamily="34" charset="0"/>
                        </a:rPr>
                        <a:t>(FOV)</a:t>
                      </a:r>
                      <a:endParaRPr sz="2000">
                        <a:latin typeface="Arial" panose="020B0604020202020204" pitchFamily="34" charset="0"/>
                        <a:cs typeface="Arial" panose="020B0604020202020204" pitchFamily="34" charset="0"/>
                      </a:endParaRPr>
                    </a:p>
                  </a:txBody>
                  <a:tcPr marL="0" marR="0" marT="44450" marB="0"/>
                </a:tc>
                <a:extLst>
                  <a:ext uri="{0D108BD9-81ED-4DB2-BD59-A6C34878D82A}">
                    <a16:rowId xmlns:a16="http://schemas.microsoft.com/office/drawing/2014/main" val="10000"/>
                  </a:ext>
                </a:extLst>
              </a:tr>
              <a:tr h="352843">
                <a:tc>
                  <a:txBody>
                    <a:bodyPr/>
                    <a:lstStyle/>
                    <a:p>
                      <a:pPr algn="ctr">
                        <a:lnSpc>
                          <a:spcPct val="100000"/>
                        </a:lnSpc>
                        <a:spcBef>
                          <a:spcPts val="385"/>
                        </a:spcBef>
                        <a:defRPr>
                          <a:latin typeface="Ubuntu"/>
                          <a:ea typeface="Ubuntu"/>
                          <a:cs typeface="Ubuntu"/>
                        </a:defRPr>
                      </a:pPr>
                      <a:r>
                        <a:rPr sz="2000" spc="45" dirty="0">
                          <a:latin typeface="Ubuntu" panose="020B0604020202020204" pitchFamily="34" charset="0"/>
                          <a:cs typeface="Ubuntu" panose="020B0604020202020204" pitchFamily="34" charset="0"/>
                        </a:rPr>
                        <a:t>Satellites</a:t>
                      </a:r>
                      <a:endParaRPr sz="2000" dirty="0">
                        <a:latin typeface="Arial" panose="020B0604020202020204" pitchFamily="34" charset="0"/>
                        <a:cs typeface="Arial" panose="020B0604020202020204" pitchFamily="34" charset="0"/>
                      </a:endParaRPr>
                    </a:p>
                  </a:txBody>
                  <a:tcPr marL="0" marR="0" marT="48895" marB="0"/>
                </a:tc>
                <a:tc>
                  <a:txBody>
                    <a:bodyPr/>
                    <a:lstStyle/>
                    <a:p>
                      <a:pPr algn="ctr">
                        <a:lnSpc>
                          <a:spcPct val="100000"/>
                        </a:lnSpc>
                        <a:spcBef>
                          <a:spcPts val="359"/>
                        </a:spcBef>
                        <a:defRPr>
                          <a:latin typeface="Ubuntu"/>
                          <a:ea typeface="Ubuntu"/>
                          <a:cs typeface="Ubuntu"/>
                        </a:defRPr>
                      </a:pPr>
                      <a:r>
                        <a:rPr sz="2000" spc="-5" dirty="0">
                          <a:latin typeface="Ubuntu" panose="020B0604020202020204" pitchFamily="34" charset="0"/>
                          <a:cs typeface="Ubuntu" panose="020B0604020202020204" pitchFamily="34" charset="0"/>
                        </a:rPr>
                        <a:t>2</a:t>
                      </a:r>
                      <a:r>
                        <a:rPr sz="2000" spc="-25" dirty="0">
                          <a:latin typeface="Ubuntu" panose="020B0604020202020204" pitchFamily="34" charset="0"/>
                          <a:cs typeface="Ubuntu" panose="020B0604020202020204" pitchFamily="34" charset="0"/>
                        </a:rPr>
                        <a:t> </a:t>
                      </a:r>
                      <a:r>
                        <a:rPr sz="2000" dirty="0">
                          <a:latin typeface="Ubuntu" panose="020B0604020202020204" pitchFamily="34" charset="0"/>
                          <a:cs typeface="Ubuntu" panose="020B0604020202020204" pitchFamily="34" charset="0"/>
                        </a:rPr>
                        <a:t>-</a:t>
                      </a:r>
                      <a:r>
                        <a:rPr sz="2000" spc="-25" dirty="0">
                          <a:latin typeface="Ubuntu" panose="020B0604020202020204" pitchFamily="34" charset="0"/>
                          <a:cs typeface="Ubuntu" panose="020B0604020202020204" pitchFamily="34" charset="0"/>
                        </a:rPr>
                        <a:t> </a:t>
                      </a:r>
                      <a:r>
                        <a:rPr sz="2000" spc="-5" dirty="0">
                          <a:latin typeface="Ubuntu" panose="020B0604020202020204" pitchFamily="34" charset="0"/>
                          <a:cs typeface="Ubuntu" panose="020B0604020202020204" pitchFamily="34" charset="0"/>
                        </a:rPr>
                        <a:t>15</a:t>
                      </a:r>
                      <a:r>
                        <a:rPr sz="2000" spc="-30" dirty="0">
                          <a:latin typeface="Ubuntu" panose="020B0604020202020204" pitchFamily="34" charset="0"/>
                          <a:cs typeface="Ubuntu" panose="020B0604020202020204" pitchFamily="34" charset="0"/>
                        </a:rPr>
                        <a:t> </a:t>
                      </a:r>
                      <a:r>
                        <a:rPr sz="2000" dirty="0">
                          <a:latin typeface="Ubuntu" panose="020B0604020202020204" pitchFamily="34" charset="0"/>
                          <a:cs typeface="Ubuntu" panose="020B0604020202020204" pitchFamily="34" charset="0"/>
                        </a:rPr>
                        <a:t>m</a:t>
                      </a:r>
                      <a:endParaRPr sz="2000">
                        <a:latin typeface="Arial" panose="020B0604020202020204" pitchFamily="34" charset="0"/>
                        <a:cs typeface="Arial" panose="020B0604020202020204" pitchFamily="34" charset="0"/>
                      </a:endParaRPr>
                    </a:p>
                  </a:txBody>
                  <a:tcPr marL="0" marR="0" marT="45719" marB="0"/>
                </a:tc>
                <a:tc>
                  <a:txBody>
                    <a:bodyPr/>
                    <a:lstStyle/>
                    <a:p>
                      <a:pPr algn="ctr">
                        <a:lnSpc>
                          <a:spcPct val="100000"/>
                        </a:lnSpc>
                        <a:spcBef>
                          <a:spcPts val="359"/>
                        </a:spcBef>
                        <a:defRPr>
                          <a:latin typeface="Ubuntu"/>
                          <a:ea typeface="Ubuntu"/>
                          <a:cs typeface="Ubuntu"/>
                        </a:defRPr>
                      </a:pPr>
                      <a:r>
                        <a:rPr sz="2000" spc="-5" dirty="0">
                          <a:latin typeface="Ubuntu" panose="020B0604020202020204" pitchFamily="34" charset="0"/>
                          <a:cs typeface="Ubuntu" panose="020B0604020202020204" pitchFamily="34" charset="0"/>
                        </a:rPr>
                        <a:t>10</a:t>
                      </a:r>
                      <a:r>
                        <a:rPr sz="2000" spc="-25" dirty="0">
                          <a:latin typeface="Ubuntu" panose="020B0604020202020204" pitchFamily="34" charset="0"/>
                          <a:cs typeface="Ubuntu" panose="020B0604020202020204" pitchFamily="34" charset="0"/>
                        </a:rPr>
                        <a:t> </a:t>
                      </a:r>
                      <a:r>
                        <a:rPr sz="2000" dirty="0">
                          <a:latin typeface="Ubuntu" panose="020B0604020202020204" pitchFamily="34" charset="0"/>
                          <a:cs typeface="Ubuntu" panose="020B0604020202020204" pitchFamily="34" charset="0"/>
                        </a:rPr>
                        <a:t>–</a:t>
                      </a:r>
                      <a:r>
                        <a:rPr sz="2000" spc="-20" dirty="0">
                          <a:latin typeface="Ubuntu" panose="020B0604020202020204" pitchFamily="34" charset="0"/>
                          <a:cs typeface="Ubuntu" panose="020B0604020202020204" pitchFamily="34" charset="0"/>
                        </a:rPr>
                        <a:t> </a:t>
                      </a:r>
                      <a:r>
                        <a:rPr sz="2000" spc="-5" dirty="0">
                          <a:latin typeface="Ubuntu" panose="020B0604020202020204" pitchFamily="34" charset="0"/>
                          <a:cs typeface="Ubuntu" panose="020B0604020202020204" pitchFamily="34" charset="0"/>
                        </a:rPr>
                        <a:t>50</a:t>
                      </a:r>
                      <a:r>
                        <a:rPr sz="2000" spc="-25" dirty="0">
                          <a:latin typeface="Ubuntu" panose="020B0604020202020204" pitchFamily="34" charset="0"/>
                          <a:cs typeface="Ubuntu" panose="020B0604020202020204" pitchFamily="34" charset="0"/>
                        </a:rPr>
                        <a:t> </a:t>
                      </a:r>
                      <a:r>
                        <a:rPr sz="2000" dirty="0">
                          <a:latin typeface="Ubuntu" panose="020B0604020202020204" pitchFamily="34" charset="0"/>
                          <a:cs typeface="Ubuntu" panose="020B0604020202020204" pitchFamily="34" charset="0"/>
                        </a:rPr>
                        <a:t>km</a:t>
                      </a:r>
                      <a:endParaRPr sz="2000">
                        <a:latin typeface="Arial" panose="020B0604020202020204" pitchFamily="34" charset="0"/>
                        <a:cs typeface="Arial" panose="020B0604020202020204" pitchFamily="34" charset="0"/>
                      </a:endParaRPr>
                    </a:p>
                  </a:txBody>
                  <a:tcPr marL="0" marR="0" marT="45719" marB="0"/>
                </a:tc>
                <a:extLst>
                  <a:ext uri="{0D108BD9-81ED-4DB2-BD59-A6C34878D82A}">
                    <a16:rowId xmlns:a16="http://schemas.microsoft.com/office/drawing/2014/main" val="10001"/>
                  </a:ext>
                </a:extLst>
              </a:tr>
              <a:tr h="352843">
                <a:tc>
                  <a:txBody>
                    <a:bodyPr/>
                    <a:lstStyle/>
                    <a:p>
                      <a:pPr marL="643255">
                        <a:lnSpc>
                          <a:spcPct val="100000"/>
                        </a:lnSpc>
                        <a:spcBef>
                          <a:spcPts val="385"/>
                        </a:spcBef>
                        <a:defRPr>
                          <a:latin typeface="Ubuntu"/>
                          <a:ea typeface="Ubuntu"/>
                          <a:cs typeface="Ubuntu"/>
                        </a:defRPr>
                      </a:pPr>
                      <a:r>
                        <a:rPr sz="2000" spc="45" dirty="0">
                          <a:solidFill>
                            <a:schemeClr val="tx1"/>
                          </a:solidFill>
                          <a:latin typeface="Ubuntu" panose="020B0604020202020204" pitchFamily="34" charset="0"/>
                          <a:cs typeface="Ubuntu" panose="020B0604020202020204" pitchFamily="34" charset="0"/>
                        </a:rPr>
                        <a:t>Aircraft</a:t>
                      </a:r>
                      <a:r>
                        <a:rPr sz="2000" spc="-10" dirty="0">
                          <a:solidFill>
                            <a:schemeClr val="tx1"/>
                          </a:solidFill>
                          <a:latin typeface="Ubuntu" panose="020B0604020202020204" pitchFamily="34" charset="0"/>
                          <a:cs typeface="Ubuntu" panose="020B0604020202020204" pitchFamily="34" charset="0"/>
                        </a:rPr>
                        <a:t> </a:t>
                      </a:r>
                      <a:r>
                        <a:rPr sz="2000" spc="45" dirty="0">
                          <a:solidFill>
                            <a:schemeClr val="tx1"/>
                          </a:solidFill>
                          <a:latin typeface="Ubuntu" panose="020B0604020202020204" pitchFamily="34" charset="0"/>
                          <a:cs typeface="Ubuntu" panose="020B0604020202020204" pitchFamily="34" charset="0"/>
                        </a:rPr>
                        <a:t>(piloted)</a:t>
                      </a:r>
                      <a:endParaRPr sz="2000" dirty="0">
                        <a:solidFill>
                          <a:schemeClr val="tx1"/>
                        </a:solidFill>
                        <a:latin typeface="Arial" panose="020B0604020202020204" pitchFamily="34" charset="0"/>
                        <a:cs typeface="Arial" panose="020B0604020202020204" pitchFamily="34" charset="0"/>
                      </a:endParaRPr>
                    </a:p>
                  </a:txBody>
                  <a:tcPr marL="0" marR="0" marT="48895" marB="0"/>
                </a:tc>
                <a:tc>
                  <a:txBody>
                    <a:bodyPr/>
                    <a:lstStyle/>
                    <a:p>
                      <a:pPr algn="ctr">
                        <a:lnSpc>
                          <a:spcPct val="100000"/>
                        </a:lnSpc>
                        <a:spcBef>
                          <a:spcPts val="359"/>
                        </a:spcBef>
                        <a:defRPr>
                          <a:latin typeface="Ubuntu"/>
                          <a:ea typeface="Ubuntu"/>
                          <a:cs typeface="Ubuntu"/>
                        </a:defRPr>
                      </a:pPr>
                      <a:r>
                        <a:rPr sz="2000" spc="-5" dirty="0">
                          <a:solidFill>
                            <a:schemeClr val="tx1"/>
                          </a:solidFill>
                          <a:latin typeface="Ubuntu" panose="020B0604020202020204" pitchFamily="34" charset="0"/>
                          <a:cs typeface="Ubuntu" panose="020B0604020202020204" pitchFamily="34" charset="0"/>
                        </a:rPr>
                        <a:t>0.2</a:t>
                      </a:r>
                      <a:r>
                        <a:rPr sz="2000" spc="-30" dirty="0">
                          <a:solidFill>
                            <a:schemeClr val="tx1"/>
                          </a:solidFill>
                          <a:latin typeface="Ubuntu" panose="020B0604020202020204" pitchFamily="34" charset="0"/>
                          <a:cs typeface="Ubuntu" panose="020B0604020202020204" pitchFamily="34" charset="0"/>
                        </a:rPr>
                        <a:t> </a:t>
                      </a:r>
                      <a:r>
                        <a:rPr sz="2000" dirty="0">
                          <a:solidFill>
                            <a:schemeClr val="tx1"/>
                          </a:solidFill>
                          <a:latin typeface="Ubuntu" panose="020B0604020202020204" pitchFamily="34" charset="0"/>
                          <a:cs typeface="Ubuntu" panose="020B0604020202020204" pitchFamily="34" charset="0"/>
                        </a:rPr>
                        <a:t>–</a:t>
                      </a:r>
                      <a:r>
                        <a:rPr sz="2000" spc="-15" dirty="0">
                          <a:solidFill>
                            <a:schemeClr val="tx1"/>
                          </a:solidFill>
                          <a:latin typeface="Ubuntu" panose="020B0604020202020204" pitchFamily="34" charset="0"/>
                          <a:cs typeface="Ubuntu" panose="020B0604020202020204" pitchFamily="34" charset="0"/>
                        </a:rPr>
                        <a:t> </a:t>
                      </a:r>
                      <a:r>
                        <a:rPr sz="2000" spc="-5" dirty="0">
                          <a:solidFill>
                            <a:schemeClr val="tx1"/>
                          </a:solidFill>
                          <a:latin typeface="Ubuntu" panose="020B0604020202020204" pitchFamily="34" charset="0"/>
                          <a:cs typeface="Ubuntu" panose="020B0604020202020204" pitchFamily="34" charset="0"/>
                        </a:rPr>
                        <a:t>2</a:t>
                      </a:r>
                      <a:r>
                        <a:rPr sz="2000" spc="-25" dirty="0">
                          <a:solidFill>
                            <a:schemeClr val="tx1"/>
                          </a:solidFill>
                          <a:latin typeface="Ubuntu" panose="020B0604020202020204" pitchFamily="34" charset="0"/>
                          <a:cs typeface="Ubuntu" panose="020B0604020202020204" pitchFamily="34" charset="0"/>
                        </a:rPr>
                        <a:t> </a:t>
                      </a:r>
                      <a:r>
                        <a:rPr sz="2000" dirty="0">
                          <a:solidFill>
                            <a:schemeClr val="tx1"/>
                          </a:solidFill>
                          <a:latin typeface="Ubuntu" panose="020B0604020202020204" pitchFamily="34" charset="0"/>
                          <a:cs typeface="Ubuntu" panose="020B0604020202020204" pitchFamily="34" charset="0"/>
                        </a:rPr>
                        <a:t>m</a:t>
                      </a:r>
                    </a:p>
                  </a:txBody>
                  <a:tcPr marL="0" marR="0" marT="45719" marB="0"/>
                </a:tc>
                <a:tc>
                  <a:txBody>
                    <a:bodyPr/>
                    <a:lstStyle/>
                    <a:p>
                      <a:pPr algn="ctr">
                        <a:lnSpc>
                          <a:spcPct val="100000"/>
                        </a:lnSpc>
                        <a:spcBef>
                          <a:spcPts val="359"/>
                        </a:spcBef>
                        <a:defRPr>
                          <a:latin typeface="Ubuntu"/>
                          <a:ea typeface="Ubuntu"/>
                          <a:cs typeface="Ubuntu"/>
                        </a:defRPr>
                      </a:pPr>
                      <a:r>
                        <a:rPr sz="2000" spc="-5" dirty="0">
                          <a:solidFill>
                            <a:schemeClr val="tx1"/>
                          </a:solidFill>
                          <a:latin typeface="Ubuntu" panose="020B0604020202020204" pitchFamily="34" charset="0"/>
                          <a:cs typeface="Ubuntu" panose="020B0604020202020204" pitchFamily="34" charset="0"/>
                        </a:rPr>
                        <a:t>2</a:t>
                      </a:r>
                      <a:r>
                        <a:rPr sz="2000" spc="-25" dirty="0">
                          <a:solidFill>
                            <a:schemeClr val="tx1"/>
                          </a:solidFill>
                          <a:latin typeface="Ubuntu" panose="020B0604020202020204" pitchFamily="34" charset="0"/>
                          <a:cs typeface="Ubuntu" panose="020B0604020202020204" pitchFamily="34" charset="0"/>
                        </a:rPr>
                        <a:t> </a:t>
                      </a:r>
                      <a:r>
                        <a:rPr sz="2000" dirty="0">
                          <a:solidFill>
                            <a:schemeClr val="tx1"/>
                          </a:solidFill>
                          <a:latin typeface="Ubuntu" panose="020B0604020202020204" pitchFamily="34" charset="0"/>
                          <a:cs typeface="Ubuntu" panose="020B0604020202020204" pitchFamily="34" charset="0"/>
                        </a:rPr>
                        <a:t>–</a:t>
                      </a:r>
                      <a:r>
                        <a:rPr sz="2000" spc="-20" dirty="0">
                          <a:solidFill>
                            <a:schemeClr val="tx1"/>
                          </a:solidFill>
                          <a:latin typeface="Ubuntu" panose="020B0604020202020204" pitchFamily="34" charset="0"/>
                          <a:cs typeface="Ubuntu" panose="020B0604020202020204" pitchFamily="34" charset="0"/>
                        </a:rPr>
                        <a:t> </a:t>
                      </a:r>
                      <a:r>
                        <a:rPr sz="2000" spc="-5" dirty="0">
                          <a:solidFill>
                            <a:schemeClr val="tx1"/>
                          </a:solidFill>
                          <a:latin typeface="Ubuntu" panose="020B0604020202020204" pitchFamily="34" charset="0"/>
                          <a:cs typeface="Ubuntu" panose="020B0604020202020204" pitchFamily="34" charset="0"/>
                        </a:rPr>
                        <a:t>5</a:t>
                      </a:r>
                      <a:r>
                        <a:rPr sz="2000" spc="-25" dirty="0">
                          <a:solidFill>
                            <a:schemeClr val="tx1"/>
                          </a:solidFill>
                          <a:latin typeface="Ubuntu" panose="020B0604020202020204" pitchFamily="34" charset="0"/>
                          <a:cs typeface="Ubuntu" panose="020B0604020202020204" pitchFamily="34" charset="0"/>
                        </a:rPr>
                        <a:t> </a:t>
                      </a:r>
                      <a:r>
                        <a:rPr sz="2000" dirty="0">
                          <a:solidFill>
                            <a:schemeClr val="tx1"/>
                          </a:solidFill>
                          <a:latin typeface="Ubuntu" panose="020B0604020202020204" pitchFamily="34" charset="0"/>
                          <a:cs typeface="Ubuntu" panose="020B0604020202020204" pitchFamily="34" charset="0"/>
                        </a:rPr>
                        <a:t>km</a:t>
                      </a:r>
                    </a:p>
                  </a:txBody>
                  <a:tcPr marL="0" marR="0" marT="45719" marB="0"/>
                </a:tc>
                <a:extLst>
                  <a:ext uri="{0D108BD9-81ED-4DB2-BD59-A6C34878D82A}">
                    <a16:rowId xmlns:a16="http://schemas.microsoft.com/office/drawing/2014/main" val="10002"/>
                  </a:ext>
                </a:extLst>
              </a:tr>
              <a:tr h="352843">
                <a:tc>
                  <a:txBody>
                    <a:bodyPr/>
                    <a:lstStyle/>
                    <a:p>
                      <a:pPr marL="716280">
                        <a:lnSpc>
                          <a:spcPct val="100000"/>
                        </a:lnSpc>
                        <a:spcBef>
                          <a:spcPts val="385"/>
                        </a:spcBef>
                        <a:defRPr>
                          <a:latin typeface="Ubuntu"/>
                          <a:ea typeface="Ubuntu"/>
                          <a:cs typeface="Ubuntu"/>
                        </a:defRPr>
                      </a:pPr>
                      <a:r>
                        <a:rPr sz="2000" spc="50" dirty="0">
                          <a:latin typeface="Ubuntu" panose="020B0604020202020204" pitchFamily="34" charset="0"/>
                          <a:cs typeface="Ubuntu" panose="020B0604020202020204" pitchFamily="34" charset="0"/>
                        </a:rPr>
                        <a:t>Miniature</a:t>
                      </a:r>
                      <a:r>
                        <a:rPr sz="2000" spc="-10" dirty="0">
                          <a:latin typeface="Ubuntu" panose="020B0604020202020204" pitchFamily="34" charset="0"/>
                          <a:cs typeface="Ubuntu" panose="020B0604020202020204" pitchFamily="34" charset="0"/>
                        </a:rPr>
                        <a:t> </a:t>
                      </a:r>
                      <a:r>
                        <a:rPr sz="2000" spc="50" dirty="0">
                          <a:latin typeface="Ubuntu" panose="020B0604020202020204" pitchFamily="34" charset="0"/>
                          <a:cs typeface="Ubuntu" panose="020B0604020202020204" pitchFamily="34" charset="0"/>
                        </a:rPr>
                        <a:t>UAV</a:t>
                      </a:r>
                      <a:endParaRPr sz="2000">
                        <a:latin typeface="Arial" panose="020B0604020202020204" pitchFamily="34" charset="0"/>
                        <a:cs typeface="Arial" panose="020B0604020202020204" pitchFamily="34" charset="0"/>
                      </a:endParaRPr>
                    </a:p>
                  </a:txBody>
                  <a:tcPr marL="0" marR="0" marT="48895" marB="0"/>
                </a:tc>
                <a:tc>
                  <a:txBody>
                    <a:bodyPr/>
                    <a:lstStyle/>
                    <a:p>
                      <a:pPr algn="ctr">
                        <a:lnSpc>
                          <a:spcPct val="100000"/>
                        </a:lnSpc>
                        <a:spcBef>
                          <a:spcPts val="359"/>
                        </a:spcBef>
                        <a:defRPr>
                          <a:latin typeface="Ubuntu"/>
                          <a:ea typeface="Ubuntu"/>
                          <a:cs typeface="Ubuntu"/>
                        </a:defRPr>
                      </a:pPr>
                      <a:r>
                        <a:rPr sz="2000" spc="-5" dirty="0">
                          <a:latin typeface="Ubuntu" panose="020B0604020202020204" pitchFamily="34" charset="0"/>
                          <a:cs typeface="Ubuntu" panose="020B0604020202020204" pitchFamily="34" charset="0"/>
                        </a:rPr>
                        <a:t>1</a:t>
                      </a:r>
                      <a:r>
                        <a:rPr sz="2000" spc="-25" dirty="0">
                          <a:latin typeface="Ubuntu" panose="020B0604020202020204" pitchFamily="34" charset="0"/>
                          <a:cs typeface="Ubuntu" panose="020B0604020202020204" pitchFamily="34" charset="0"/>
                        </a:rPr>
                        <a:t> </a:t>
                      </a:r>
                      <a:r>
                        <a:rPr sz="2000" dirty="0">
                          <a:latin typeface="Ubuntu" panose="020B0604020202020204" pitchFamily="34" charset="0"/>
                          <a:cs typeface="Ubuntu" panose="020B0604020202020204" pitchFamily="34" charset="0"/>
                        </a:rPr>
                        <a:t>–</a:t>
                      </a:r>
                      <a:r>
                        <a:rPr sz="2000" spc="-20" dirty="0">
                          <a:latin typeface="Ubuntu" panose="020B0604020202020204" pitchFamily="34" charset="0"/>
                          <a:cs typeface="Ubuntu" panose="020B0604020202020204" pitchFamily="34" charset="0"/>
                        </a:rPr>
                        <a:t> </a:t>
                      </a:r>
                      <a:r>
                        <a:rPr sz="2000" spc="-5" dirty="0">
                          <a:latin typeface="Ubuntu" panose="020B0604020202020204" pitchFamily="34" charset="0"/>
                          <a:cs typeface="Ubuntu" panose="020B0604020202020204" pitchFamily="34" charset="0"/>
                        </a:rPr>
                        <a:t>20</a:t>
                      </a:r>
                      <a:r>
                        <a:rPr sz="2000" spc="-25" dirty="0">
                          <a:latin typeface="Ubuntu" panose="020B0604020202020204" pitchFamily="34" charset="0"/>
                          <a:cs typeface="Ubuntu" panose="020B0604020202020204" pitchFamily="34" charset="0"/>
                        </a:rPr>
                        <a:t> </a:t>
                      </a:r>
                      <a:r>
                        <a:rPr sz="2000" dirty="0">
                          <a:latin typeface="Ubuntu" panose="020B0604020202020204" pitchFamily="34" charset="0"/>
                          <a:cs typeface="Ubuntu" panose="020B0604020202020204" pitchFamily="34" charset="0"/>
                        </a:rPr>
                        <a:t>cm</a:t>
                      </a:r>
                      <a:endParaRPr sz="2000">
                        <a:latin typeface="Arial" panose="020B0604020202020204" pitchFamily="34" charset="0"/>
                        <a:cs typeface="Arial" panose="020B0604020202020204" pitchFamily="34" charset="0"/>
                      </a:endParaRPr>
                    </a:p>
                  </a:txBody>
                  <a:tcPr marL="0" marR="0" marT="45719" marB="0"/>
                </a:tc>
                <a:tc>
                  <a:txBody>
                    <a:bodyPr/>
                    <a:lstStyle/>
                    <a:p>
                      <a:pPr algn="ctr">
                        <a:lnSpc>
                          <a:spcPct val="100000"/>
                        </a:lnSpc>
                        <a:spcBef>
                          <a:spcPts val="359"/>
                        </a:spcBef>
                        <a:defRPr>
                          <a:latin typeface="Ubuntu"/>
                          <a:ea typeface="Ubuntu"/>
                          <a:cs typeface="Ubuntu"/>
                        </a:defRPr>
                      </a:pPr>
                      <a:r>
                        <a:rPr sz="2000" spc="-5" dirty="0">
                          <a:latin typeface="Ubuntu" panose="020B0604020202020204" pitchFamily="34" charset="0"/>
                          <a:cs typeface="Ubuntu" panose="020B0604020202020204" pitchFamily="34" charset="0"/>
                        </a:rPr>
                        <a:t>50</a:t>
                      </a:r>
                      <a:r>
                        <a:rPr sz="2000" spc="-25" dirty="0">
                          <a:latin typeface="Ubuntu" panose="020B0604020202020204" pitchFamily="34" charset="0"/>
                          <a:cs typeface="Ubuntu" panose="020B0604020202020204" pitchFamily="34" charset="0"/>
                        </a:rPr>
                        <a:t> </a:t>
                      </a:r>
                      <a:r>
                        <a:rPr sz="2000" dirty="0">
                          <a:latin typeface="Ubuntu" panose="020B0604020202020204" pitchFamily="34" charset="0"/>
                          <a:cs typeface="Ubuntu" panose="020B0604020202020204" pitchFamily="34" charset="0"/>
                        </a:rPr>
                        <a:t>–</a:t>
                      </a:r>
                      <a:r>
                        <a:rPr sz="2000" spc="-20" dirty="0">
                          <a:latin typeface="Ubuntu" panose="020B0604020202020204" pitchFamily="34" charset="0"/>
                          <a:cs typeface="Ubuntu" panose="020B0604020202020204" pitchFamily="34" charset="0"/>
                        </a:rPr>
                        <a:t> </a:t>
                      </a:r>
                      <a:r>
                        <a:rPr sz="2000" spc="-5" dirty="0">
                          <a:latin typeface="Ubuntu" panose="020B0604020202020204" pitchFamily="34" charset="0"/>
                          <a:cs typeface="Ubuntu" panose="020B0604020202020204" pitchFamily="34" charset="0"/>
                        </a:rPr>
                        <a:t>500</a:t>
                      </a:r>
                      <a:r>
                        <a:rPr sz="2000" spc="-30" dirty="0">
                          <a:latin typeface="Ubuntu" panose="020B0604020202020204" pitchFamily="34" charset="0"/>
                          <a:cs typeface="Ubuntu" panose="020B0604020202020204" pitchFamily="34" charset="0"/>
                        </a:rPr>
                        <a:t> </a:t>
                      </a:r>
                      <a:r>
                        <a:rPr sz="2000" dirty="0">
                          <a:latin typeface="Ubuntu" panose="020B0604020202020204" pitchFamily="34" charset="0"/>
                          <a:cs typeface="Ubuntu" panose="020B0604020202020204" pitchFamily="34" charset="0"/>
                        </a:rPr>
                        <a:t>m</a:t>
                      </a:r>
                      <a:endParaRPr sz="2000">
                        <a:latin typeface="Arial" panose="020B0604020202020204" pitchFamily="34" charset="0"/>
                        <a:cs typeface="Arial" panose="020B0604020202020204" pitchFamily="34" charset="0"/>
                      </a:endParaRPr>
                    </a:p>
                  </a:txBody>
                  <a:tcPr marL="0" marR="0" marT="45719" marB="0"/>
                </a:tc>
                <a:extLst>
                  <a:ext uri="{0D108BD9-81ED-4DB2-BD59-A6C34878D82A}">
                    <a16:rowId xmlns:a16="http://schemas.microsoft.com/office/drawing/2014/main" val="10003"/>
                  </a:ext>
                </a:extLst>
              </a:tr>
              <a:tr h="390266">
                <a:tc>
                  <a:txBody>
                    <a:bodyPr/>
                    <a:lstStyle/>
                    <a:p>
                      <a:pPr marL="721360">
                        <a:lnSpc>
                          <a:spcPct val="100000"/>
                        </a:lnSpc>
                        <a:spcBef>
                          <a:spcPts val="385"/>
                        </a:spcBef>
                        <a:defRPr>
                          <a:latin typeface="Ubuntu"/>
                          <a:ea typeface="Ubuntu"/>
                          <a:cs typeface="Ubuntu"/>
                        </a:defRPr>
                      </a:pPr>
                      <a:r>
                        <a:rPr sz="2000" spc="55" dirty="0">
                          <a:solidFill>
                            <a:srgbClr val="254061"/>
                          </a:solidFill>
                          <a:latin typeface="Ubuntu" panose="020B0604020202020204" pitchFamily="34" charset="0"/>
                          <a:cs typeface="Ubuntu" panose="020B0604020202020204" pitchFamily="34" charset="0"/>
                        </a:rPr>
                        <a:t>Ground-based</a:t>
                      </a:r>
                      <a:endParaRPr sz="2000">
                        <a:latin typeface="Arial" panose="020B0604020202020204" pitchFamily="34" charset="0"/>
                        <a:cs typeface="Arial" panose="020B0604020202020204" pitchFamily="34" charset="0"/>
                      </a:endParaRPr>
                    </a:p>
                  </a:txBody>
                  <a:tcPr marL="0" marR="0" marT="48895" marB="0"/>
                </a:tc>
                <a:tc>
                  <a:txBody>
                    <a:bodyPr/>
                    <a:lstStyle/>
                    <a:p>
                      <a:pPr algn="ctr">
                        <a:lnSpc>
                          <a:spcPct val="100000"/>
                        </a:lnSpc>
                        <a:spcBef>
                          <a:spcPts val="359"/>
                        </a:spcBef>
                        <a:defRPr>
                          <a:latin typeface="Ubuntu"/>
                          <a:ea typeface="Ubuntu"/>
                          <a:cs typeface="Ubuntu"/>
                        </a:defRPr>
                      </a:pPr>
                      <a:r>
                        <a:rPr sz="2000" dirty="0">
                          <a:solidFill>
                            <a:srgbClr val="254061"/>
                          </a:solidFill>
                          <a:latin typeface="Ubuntu" panose="020B0604020202020204" pitchFamily="34" charset="0"/>
                          <a:cs typeface="Ubuntu" panose="020B0604020202020204" pitchFamily="34" charset="0"/>
                        </a:rPr>
                        <a:t>&lt;</a:t>
                      </a:r>
                      <a:r>
                        <a:rPr sz="2000" spc="-35" dirty="0">
                          <a:solidFill>
                            <a:srgbClr val="254061"/>
                          </a:solidFill>
                          <a:latin typeface="Ubuntu" panose="020B0604020202020204" pitchFamily="34" charset="0"/>
                          <a:cs typeface="Ubuntu" panose="020B0604020202020204" pitchFamily="34" charset="0"/>
                        </a:rPr>
                        <a:t> </a:t>
                      </a:r>
                      <a:r>
                        <a:rPr sz="2000" spc="-5" dirty="0">
                          <a:solidFill>
                            <a:srgbClr val="254061"/>
                          </a:solidFill>
                          <a:latin typeface="Ubuntu" panose="020B0604020202020204" pitchFamily="34" charset="0"/>
                          <a:cs typeface="Ubuntu" panose="020B0604020202020204" pitchFamily="34" charset="0"/>
                        </a:rPr>
                        <a:t>1</a:t>
                      </a:r>
                      <a:r>
                        <a:rPr sz="2000" spc="-30" dirty="0">
                          <a:solidFill>
                            <a:srgbClr val="254061"/>
                          </a:solidFill>
                          <a:latin typeface="Ubuntu" panose="020B0604020202020204" pitchFamily="34" charset="0"/>
                          <a:cs typeface="Ubuntu" panose="020B0604020202020204" pitchFamily="34" charset="0"/>
                        </a:rPr>
                        <a:t> </a:t>
                      </a:r>
                      <a:r>
                        <a:rPr sz="2000" dirty="0">
                          <a:solidFill>
                            <a:srgbClr val="254061"/>
                          </a:solidFill>
                          <a:latin typeface="Ubuntu" panose="020B0604020202020204" pitchFamily="34" charset="0"/>
                          <a:cs typeface="Ubuntu" panose="020B0604020202020204" pitchFamily="34" charset="0"/>
                        </a:rPr>
                        <a:t>cm</a:t>
                      </a:r>
                      <a:endParaRPr sz="2000">
                        <a:latin typeface="Arial" panose="020B0604020202020204" pitchFamily="34" charset="0"/>
                        <a:cs typeface="Arial" panose="020B0604020202020204" pitchFamily="34" charset="0"/>
                      </a:endParaRPr>
                    </a:p>
                  </a:txBody>
                  <a:tcPr marL="0" marR="0" marT="45719" marB="0"/>
                </a:tc>
                <a:tc>
                  <a:txBody>
                    <a:bodyPr/>
                    <a:lstStyle/>
                    <a:p>
                      <a:pPr algn="ctr">
                        <a:lnSpc>
                          <a:spcPct val="100000"/>
                        </a:lnSpc>
                        <a:spcBef>
                          <a:spcPts val="359"/>
                        </a:spcBef>
                        <a:defRPr>
                          <a:latin typeface="Ubuntu"/>
                          <a:ea typeface="Ubuntu"/>
                          <a:cs typeface="Ubuntu"/>
                        </a:defRPr>
                      </a:pPr>
                      <a:r>
                        <a:rPr sz="2000" dirty="0">
                          <a:solidFill>
                            <a:srgbClr val="254061"/>
                          </a:solidFill>
                          <a:latin typeface="Ubuntu" panose="020B0604020202020204" pitchFamily="34" charset="0"/>
                          <a:cs typeface="Ubuntu" panose="020B0604020202020204" pitchFamily="34" charset="0"/>
                        </a:rPr>
                        <a:t>&lt;</a:t>
                      </a:r>
                      <a:r>
                        <a:rPr sz="2000" spc="-40" dirty="0">
                          <a:solidFill>
                            <a:srgbClr val="254061"/>
                          </a:solidFill>
                          <a:latin typeface="Ubuntu" panose="020B0604020202020204" pitchFamily="34" charset="0"/>
                          <a:cs typeface="Ubuntu" panose="020B0604020202020204" pitchFamily="34" charset="0"/>
                        </a:rPr>
                        <a:t> </a:t>
                      </a:r>
                      <a:r>
                        <a:rPr sz="2000" spc="-5" dirty="0">
                          <a:solidFill>
                            <a:srgbClr val="254061"/>
                          </a:solidFill>
                          <a:latin typeface="Ubuntu" panose="020B0604020202020204" pitchFamily="34" charset="0"/>
                          <a:cs typeface="Ubuntu" panose="020B0604020202020204" pitchFamily="34" charset="0"/>
                        </a:rPr>
                        <a:t>2</a:t>
                      </a:r>
                      <a:r>
                        <a:rPr sz="2000" spc="-30" dirty="0">
                          <a:solidFill>
                            <a:srgbClr val="254061"/>
                          </a:solidFill>
                          <a:latin typeface="Ubuntu" panose="020B0604020202020204" pitchFamily="34" charset="0"/>
                          <a:cs typeface="Ubuntu" panose="020B0604020202020204" pitchFamily="34" charset="0"/>
                        </a:rPr>
                        <a:t> </a:t>
                      </a:r>
                      <a:r>
                        <a:rPr sz="2000" dirty="0">
                          <a:solidFill>
                            <a:srgbClr val="254061"/>
                          </a:solidFill>
                          <a:latin typeface="Ubuntu" panose="020B0604020202020204" pitchFamily="34" charset="0"/>
                          <a:cs typeface="Ubuntu" panose="020B0604020202020204" pitchFamily="34" charset="0"/>
                        </a:rPr>
                        <a:t>m</a:t>
                      </a:r>
                      <a:endParaRPr sz="2000" dirty="0">
                        <a:latin typeface="Arial" panose="020B0604020202020204" pitchFamily="34" charset="0"/>
                        <a:cs typeface="Arial" panose="020B0604020202020204" pitchFamily="34" charset="0"/>
                      </a:endParaRPr>
                    </a:p>
                  </a:txBody>
                  <a:tcPr marL="0" marR="0" marT="45719" marB="0"/>
                </a:tc>
                <a:extLst>
                  <a:ext uri="{0D108BD9-81ED-4DB2-BD59-A6C34878D82A}">
                    <a16:rowId xmlns:a16="http://schemas.microsoft.com/office/drawing/2014/main" val="10004"/>
                  </a:ext>
                </a:extLst>
              </a:tr>
            </a:tbl>
          </a:graphicData>
        </a:graphic>
      </p:graphicFrame>
      <p:sp>
        <p:nvSpPr>
          <p:cNvPr id="9" name="TextBox 8">
            <a:extLst>
              <a:ext uri="{FF2B5EF4-FFF2-40B4-BE49-F238E27FC236}">
                <a16:creationId xmlns:a16="http://schemas.microsoft.com/office/drawing/2014/main" id="{17EF21B7-B4A8-D620-AE92-E637C0AA92EE}"/>
              </a:ext>
            </a:extLst>
          </p:cNvPr>
          <p:cNvSpPr txBox="1"/>
          <p:nvPr/>
        </p:nvSpPr>
        <p:spPr>
          <a:xfrm>
            <a:off x="432128" y="913189"/>
            <a:ext cx="10007271" cy="586186"/>
          </a:xfrm>
          <a:prstGeom prst="rect">
            <a:avLst/>
          </a:prstGeom>
          <a:noFill/>
        </p:spPr>
        <p:txBody>
          <a:bodyPr wrap="square">
            <a:spAutoFit/>
          </a:bodyPr>
          <a:lstStyle/>
          <a:p>
            <a:pPr marL="355600" marR="5715" indent="-342900">
              <a:lnSpc>
                <a:spcPct val="152500"/>
              </a:lnSpc>
              <a:spcBef>
                <a:spcPts val="1105"/>
              </a:spcBef>
              <a:buFont typeface="Wingdings" panose="05000000000000000000" pitchFamily="2" charset="2"/>
              <a:buChar char="q"/>
              <a:tabLst>
                <a:tab pos="354965" algn="l"/>
                <a:tab pos="355600" algn="l"/>
                <a:tab pos="1602740" algn="l"/>
                <a:tab pos="1967864" algn="l"/>
                <a:tab pos="2535555" algn="l"/>
                <a:tab pos="3342004" algn="l"/>
                <a:tab pos="4249420" algn="l"/>
                <a:tab pos="4749800" algn="l"/>
                <a:tab pos="5928995" algn="l"/>
                <a:tab pos="7176134" algn="l"/>
                <a:tab pos="7830184" algn="l"/>
                <a:tab pos="8958580" algn="l"/>
                <a:tab pos="9255125" algn="l"/>
                <a:tab pos="9620250" algn="l"/>
                <a:tab pos="10680700" algn="l"/>
                <a:tab pos="11062970" algn="l"/>
              </a:tabLst>
              <a:defRPr>
                <a:latin typeface="Space Mono"/>
                <a:ea typeface="Space Mono"/>
                <a:cs typeface="Space Mono"/>
              </a:defRPr>
            </a:pPr>
            <a:r>
              <a:rPr lang="en-US" sz="2400" spc="-5" dirty="0">
                <a:latin typeface="Space Mono" panose="020B0604020202020204" pitchFamily="34" charset="0"/>
                <a:cs typeface="Space Mono" panose="020B0604020202020204" pitchFamily="34" charset="0"/>
              </a:rPr>
              <a:t>Platform</a:t>
            </a:r>
            <a:r>
              <a:rPr lang="en-US" sz="2400" spc="-10" dirty="0">
                <a:latin typeface="Space Mono" panose="020B0604020202020204" pitchFamily="34" charset="0"/>
                <a:cs typeface="Space Mono" panose="020B0604020202020204" pitchFamily="34" charset="0"/>
              </a:rPr>
              <a:t> </a:t>
            </a:r>
            <a:r>
              <a:rPr lang="en-US" sz="2400" dirty="0">
                <a:latin typeface="Space Mono" panose="020B0604020202020204" pitchFamily="34" charset="0"/>
                <a:cs typeface="Space Mono" panose="020B0604020202020204" pitchFamily="34" charset="0"/>
              </a:rPr>
              <a:t>is</a:t>
            </a:r>
            <a:r>
              <a:rPr lang="en-US" sz="2400" spc="-10" dirty="0">
                <a:latin typeface="Space Mono" panose="020B0604020202020204" pitchFamily="34" charset="0"/>
                <a:cs typeface="Space Mono" panose="020B0604020202020204" pitchFamily="34" charset="0"/>
              </a:rPr>
              <a:t> </a:t>
            </a:r>
            <a:r>
              <a:rPr lang="en-US" sz="2400" spc="-5" dirty="0">
                <a:latin typeface="Space Mono" panose="020B0604020202020204" pitchFamily="34" charset="0"/>
                <a:cs typeface="Space Mono" panose="020B0604020202020204" pitchFamily="34" charset="0"/>
              </a:rPr>
              <a:t>the</a:t>
            </a:r>
            <a:r>
              <a:rPr lang="en-US" sz="2400" spc="-10" dirty="0">
                <a:latin typeface="Space Mono" panose="020B0604020202020204" pitchFamily="34" charset="0"/>
                <a:cs typeface="Space Mono" panose="020B0604020202020204" pitchFamily="34" charset="0"/>
              </a:rPr>
              <a:t> </a:t>
            </a:r>
            <a:r>
              <a:rPr lang="en-US" sz="2400" dirty="0">
                <a:latin typeface="Space Mono" panose="020B0604020202020204" pitchFamily="34" charset="0"/>
                <a:cs typeface="Space Mono" panose="020B0604020202020204" pitchFamily="34" charset="0"/>
              </a:rPr>
              <a:t>vehicle</a:t>
            </a:r>
            <a:r>
              <a:rPr lang="en-US" sz="2400" spc="-10" dirty="0">
                <a:latin typeface="Space Mono" panose="020B0604020202020204" pitchFamily="34" charset="0"/>
                <a:cs typeface="Space Mono" panose="020B0604020202020204" pitchFamily="34" charset="0"/>
              </a:rPr>
              <a:t> </a:t>
            </a:r>
            <a:r>
              <a:rPr lang="en-US" sz="2400" dirty="0">
                <a:latin typeface="Space Mono" panose="020B0604020202020204" pitchFamily="34" charset="0"/>
                <a:cs typeface="Space Mono" panose="020B0604020202020204" pitchFamily="34" charset="0"/>
              </a:rPr>
              <a:t>carrying</a:t>
            </a:r>
            <a:r>
              <a:rPr lang="en-US" sz="2400" spc="-10" dirty="0">
                <a:latin typeface="Space Mono" panose="020B0604020202020204" pitchFamily="34" charset="0"/>
                <a:cs typeface="Space Mono" panose="020B0604020202020204" pitchFamily="34" charset="0"/>
              </a:rPr>
              <a:t> </a:t>
            </a:r>
            <a:r>
              <a:rPr lang="en-US" sz="2400" spc="-5" dirty="0">
                <a:latin typeface="Space Mono" panose="020B0604020202020204" pitchFamily="34" charset="0"/>
                <a:cs typeface="Space Mono" panose="020B0604020202020204" pitchFamily="34" charset="0"/>
              </a:rPr>
              <a:t>the</a:t>
            </a:r>
            <a:r>
              <a:rPr lang="en-US" sz="2400" spc="-10" dirty="0">
                <a:latin typeface="Space Mono" panose="020B0604020202020204" pitchFamily="34" charset="0"/>
                <a:cs typeface="Space Mono" panose="020B0604020202020204" pitchFamily="34" charset="0"/>
              </a:rPr>
              <a:t> </a:t>
            </a:r>
            <a:r>
              <a:rPr lang="en-US" sz="2400" spc="-5" dirty="0">
                <a:latin typeface="Space Mono" panose="020B0604020202020204" pitchFamily="34" charset="0"/>
                <a:cs typeface="Space Mono" panose="020B0604020202020204" pitchFamily="34" charset="0"/>
              </a:rPr>
              <a:t>remote</a:t>
            </a:r>
            <a:r>
              <a:rPr lang="en-US" sz="2400" spc="-10" dirty="0">
                <a:latin typeface="Space Mono" panose="020B0604020202020204" pitchFamily="34" charset="0"/>
                <a:cs typeface="Space Mono" panose="020B0604020202020204" pitchFamily="34" charset="0"/>
              </a:rPr>
              <a:t> </a:t>
            </a:r>
            <a:r>
              <a:rPr lang="en-US" sz="2400" dirty="0">
                <a:latin typeface="Space Mono" panose="020B0604020202020204" pitchFamily="34" charset="0"/>
                <a:cs typeface="Space Mono" panose="020B0604020202020204" pitchFamily="34" charset="0"/>
              </a:rPr>
              <a:t>sensing</a:t>
            </a:r>
            <a:r>
              <a:rPr lang="en-US" sz="2400" spc="-5" dirty="0">
                <a:latin typeface="Space Mono" panose="020B0604020202020204" pitchFamily="34" charset="0"/>
                <a:cs typeface="Space Mono" panose="020B0604020202020204" pitchFamily="34" charset="0"/>
              </a:rPr>
              <a:t> </a:t>
            </a:r>
            <a:r>
              <a:rPr lang="en-US" sz="2400" dirty="0">
                <a:latin typeface="Space Mono" panose="020B0604020202020204" pitchFamily="34" charset="0"/>
                <a:cs typeface="Space Mono" panose="020B0604020202020204" pitchFamily="34" charset="0"/>
              </a:rPr>
              <a:t>device.</a:t>
            </a:r>
            <a:endParaRPr lang="en-US" sz="2400" spc="-5" dirty="0">
              <a:latin typeface="Arial" panose="020B0604020202020204" pitchFamily="34" charset="0"/>
              <a:cs typeface="Arial" panose="020B0604020202020204" pitchFamily="34" charset="0"/>
            </a:endParaRPr>
          </a:p>
        </p:txBody>
      </p:sp>
      <p:sp>
        <p:nvSpPr>
          <p:cNvPr id="8" name="Slide Number Placeholder 7">
            <a:extLst>
              <a:ext uri="{FF2B5EF4-FFF2-40B4-BE49-F238E27FC236}">
                <a16:creationId xmlns:a16="http://schemas.microsoft.com/office/drawing/2014/main" id="{F2803E6D-2537-9022-72F5-C1649242BD83}"/>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16</a:t>
            </a:fld>
            <a:endParaRPr lang="en-US" sz="4800" b="1" dirty="0">
              <a:solidFill>
                <a:srgbClr val="FF0000"/>
              </a:solidFill>
            </a:endParaRPr>
          </a:p>
        </p:txBody>
      </p:sp>
      <p:pic>
        <p:nvPicPr>
          <p:cNvPr id="10" name="Space Faculty logo" descr="sf_logo.png"/>
          <p:cNvPicPr>
            <a:picLocks noChangeAspect="1"/>
          </p:cNvPicPr>
          <p:nvPr/>
        </p:nvPicPr>
        <p:blipFill>
          <a:blip r:embed="rId4"/>
          <a:stretch>
            <a:fillRect/>
          </a:stretch>
        </p:blipFill>
        <p:spPr>
          <a:xfrm>
            <a:off x="10333926" y="54863"/>
            <a:ext cx="1745297" cy="495979"/>
          </a:xfrm>
          <a:prstGeom prst="rect">
            <a:avLst/>
          </a:prstGeom>
        </p:spPr>
      </p:pic>
    </p:spTree>
    <p:extLst>
      <p:ext uri="{BB962C8B-B14F-4D97-AF65-F5344CB8AC3E}">
        <p14:creationId xmlns:p14="http://schemas.microsoft.com/office/powerpoint/2010/main" val="789475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CFA5BC-8727-49F2-ED3E-91BBE696A45B}"/>
              </a:ext>
            </a:extLst>
          </p:cNvPr>
          <p:cNvSpPr>
            <a:spLocks noGrp="1"/>
          </p:cNvSpPr>
          <p:nvPr>
            <p:ph type="ctrTitle"/>
          </p:nvPr>
        </p:nvSpPr>
        <p:spPr>
          <a:xfrm>
            <a:off x="2020019" y="2343210"/>
            <a:ext cx="7772400" cy="1470025"/>
          </a:xfrm>
        </p:spPr>
        <p:txBody>
          <a:bodyPr>
            <a:noAutofit/>
          </a:bodyPr>
          <a:lstStyle/>
          <a:p>
            <a:pPr>
              <a:defRPr>
                <a:latin typeface="House Movements Runway"/>
                <a:ea typeface="House Movements Runway"/>
                <a:cs typeface="House Movements Runway"/>
              </a:defRPr>
            </a:pPr>
            <a:r>
              <a:rPr lang="en-US" sz="4800" b="1" dirty="0">
                <a:latin typeface="House Movements Runway"/>
                <a:ea typeface="House Movements Runway"/>
                <a:cs typeface="House Movements Runway"/>
              </a:rPr>
              <a:t>Earth Observation &amp; Remote Sensing Payloads</a:t>
            </a:r>
          </a:p>
        </p:txBody>
      </p:sp>
      <p:sp>
        <p:nvSpPr>
          <p:cNvPr id="3" name="Slide Number Placeholder 7">
            <a:extLst>
              <a:ext uri="{FF2B5EF4-FFF2-40B4-BE49-F238E27FC236}">
                <a16:creationId xmlns:a16="http://schemas.microsoft.com/office/drawing/2014/main" id="{08ED5F61-CAD7-7E95-2088-F955B32227D6}"/>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17</a:t>
            </a:fld>
            <a:endParaRPr lang="en-US" sz="4800" b="1" dirty="0">
              <a:solidFill>
                <a:srgbClr val="FF0000"/>
              </a:solidFill>
            </a:endParaRPr>
          </a:p>
        </p:txBody>
      </p:sp>
      <p:pic>
        <p:nvPicPr>
          <p:cNvPr id="5" name="Space Faculty logo" descr="sf_logo.png"/>
          <p:cNvPicPr>
            <a:picLocks noChangeAspect="1"/>
          </p:cNvPicPr>
          <p:nvPr/>
        </p:nvPicPr>
        <p:blipFill>
          <a:blip r:embed="rId2"/>
          <a:stretch>
            <a:fillRect/>
          </a:stretch>
        </p:blipFill>
        <p:spPr>
          <a:xfrm>
            <a:off x="10372690" y="54863"/>
            <a:ext cx="1706533" cy="484963"/>
          </a:xfrm>
          <a:prstGeom prst="rect">
            <a:avLst/>
          </a:prstGeom>
        </p:spPr>
      </p:pic>
    </p:spTree>
    <p:extLst>
      <p:ext uri="{BB962C8B-B14F-4D97-AF65-F5344CB8AC3E}">
        <p14:creationId xmlns:p14="http://schemas.microsoft.com/office/powerpoint/2010/main" val="1950701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76499" y="68061"/>
            <a:ext cx="7239000"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dirty="0">
                <a:latin typeface="House Movements Runway" panose="020B0604020202020204" pitchFamily="34" charset="0"/>
                <a:cs typeface="House Movements Runway" panose="020B0604020202020204" pitchFamily="34" charset="0"/>
              </a:rPr>
              <a:t>Optical</a:t>
            </a:r>
            <a:r>
              <a:rPr sz="4000" b="1" spc="-40" dirty="0">
                <a:latin typeface="House Movements Runway" panose="020B0604020202020204" pitchFamily="34" charset="0"/>
                <a:cs typeface="House Movements Runway" panose="020B0604020202020204" pitchFamily="34" charset="0"/>
              </a:rPr>
              <a:t> </a:t>
            </a:r>
            <a:r>
              <a:rPr sz="4000" b="1" dirty="0">
                <a:latin typeface="House Movements Runway" panose="020B0604020202020204" pitchFamily="34" charset="0"/>
                <a:cs typeface="House Movements Runway" panose="020B0604020202020204" pitchFamily="34" charset="0"/>
              </a:rPr>
              <a:t>Imaging</a:t>
            </a:r>
            <a:r>
              <a:rPr sz="4000" b="1" spc="-35"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Sensors</a:t>
            </a:r>
            <a:endParaRPr sz="4000" b="1" dirty="0">
              <a:latin typeface="Arial" panose="020B0604020202020204" pitchFamily="34" charset="0"/>
              <a:cs typeface="Arial" panose="020B0604020202020204" pitchFamily="34"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772849641"/>
              </p:ext>
            </p:extLst>
          </p:nvPr>
        </p:nvGraphicFramePr>
        <p:xfrm>
          <a:off x="-57509" y="1793430"/>
          <a:ext cx="12115800" cy="5063363"/>
        </p:xfrm>
        <a:graphic>
          <a:graphicData uri="http://schemas.openxmlformats.org/drawingml/2006/table">
            <a:tbl>
              <a:tblPr firstRow="1" bandRow="1">
                <a:tableStyleId>{5DA37D80-6434-44D0-A028-1B22A696006F}</a:tableStyleId>
              </a:tblPr>
              <a:tblGrid>
                <a:gridCol w="1696528">
                  <a:extLst>
                    <a:ext uri="{9D8B030D-6E8A-4147-A177-3AD203B41FA5}">
                      <a16:colId xmlns:a16="http://schemas.microsoft.com/office/drawing/2014/main" val="20000"/>
                    </a:ext>
                  </a:extLst>
                </a:gridCol>
                <a:gridCol w="2766204">
                  <a:extLst>
                    <a:ext uri="{9D8B030D-6E8A-4147-A177-3AD203B41FA5}">
                      <a16:colId xmlns:a16="http://schemas.microsoft.com/office/drawing/2014/main" val="20001"/>
                    </a:ext>
                  </a:extLst>
                </a:gridCol>
                <a:gridCol w="4479985">
                  <a:extLst>
                    <a:ext uri="{9D8B030D-6E8A-4147-A177-3AD203B41FA5}">
                      <a16:colId xmlns:a16="http://schemas.microsoft.com/office/drawing/2014/main" val="20002"/>
                    </a:ext>
                  </a:extLst>
                </a:gridCol>
                <a:gridCol w="3173083">
                  <a:extLst>
                    <a:ext uri="{9D8B030D-6E8A-4147-A177-3AD203B41FA5}">
                      <a16:colId xmlns:a16="http://schemas.microsoft.com/office/drawing/2014/main" val="20003"/>
                    </a:ext>
                  </a:extLst>
                </a:gridCol>
              </a:tblGrid>
              <a:tr h="266327">
                <a:tc>
                  <a:txBody>
                    <a:bodyPr/>
                    <a:lstStyle/>
                    <a:p>
                      <a:pPr>
                        <a:lnSpc>
                          <a:spcPct val="100000"/>
                        </a:lnSpc>
                        <a:defRPr>
                          <a:latin typeface="Ubuntu"/>
                          <a:ea typeface="Ubuntu"/>
                          <a:cs typeface="Ubuntu"/>
                        </a:defRPr>
                      </a:pPr>
                      <a:endParaRPr sz="2000" b="1" dirty="0">
                        <a:solidFill>
                          <a:schemeClr val="tx1"/>
                        </a:solidFill>
                        <a:latin typeface="Arial" panose="020B0604020202020204" pitchFamily="34" charset="0"/>
                        <a:cs typeface="Arial" panose="020B0604020202020204" pitchFamily="34" charset="0"/>
                      </a:endParaRPr>
                    </a:p>
                  </a:txBody>
                  <a:tcPr marL="0" marR="0" marT="0" marB="0"/>
                </a:tc>
                <a:tc>
                  <a:txBody>
                    <a:bodyPr/>
                    <a:lstStyle/>
                    <a:p>
                      <a:pPr marL="90805">
                        <a:lnSpc>
                          <a:spcPct val="100000"/>
                        </a:lnSpc>
                        <a:spcBef>
                          <a:spcPts val="265"/>
                        </a:spcBef>
                        <a:defRPr>
                          <a:latin typeface="Ubuntu"/>
                          <a:ea typeface="Ubuntu"/>
                          <a:cs typeface="Ubuntu"/>
                        </a:defRPr>
                      </a:pPr>
                      <a:r>
                        <a:rPr sz="2000" b="1" spc="-10" dirty="0">
                          <a:solidFill>
                            <a:schemeClr val="tx1"/>
                          </a:solidFill>
                          <a:latin typeface="Ubuntu" panose="020B0604020202020204" pitchFamily="34" charset="0"/>
                          <a:cs typeface="Ubuntu" panose="020B0604020202020204" pitchFamily="34" charset="0"/>
                        </a:rPr>
                        <a:t>Panchromatic</a:t>
                      </a:r>
                      <a:endParaRPr sz="2000" b="1" dirty="0">
                        <a:solidFill>
                          <a:schemeClr val="tx1"/>
                        </a:solidFill>
                        <a:latin typeface="Arial" panose="020B0604020202020204" pitchFamily="34" charset="0"/>
                        <a:cs typeface="Arial" panose="020B0604020202020204" pitchFamily="34" charset="0"/>
                      </a:endParaRPr>
                    </a:p>
                  </a:txBody>
                  <a:tcPr marL="0" marR="0" marT="33655" marB="0"/>
                </a:tc>
                <a:tc>
                  <a:txBody>
                    <a:bodyPr/>
                    <a:lstStyle/>
                    <a:p>
                      <a:pPr marL="90805">
                        <a:lnSpc>
                          <a:spcPct val="100000"/>
                        </a:lnSpc>
                        <a:spcBef>
                          <a:spcPts val="265"/>
                        </a:spcBef>
                        <a:defRPr>
                          <a:latin typeface="Ubuntu"/>
                          <a:ea typeface="Ubuntu"/>
                          <a:cs typeface="Ubuntu"/>
                        </a:defRPr>
                      </a:pPr>
                      <a:r>
                        <a:rPr sz="2000" b="1" spc="-10" dirty="0">
                          <a:solidFill>
                            <a:schemeClr val="tx1"/>
                          </a:solidFill>
                          <a:latin typeface="Ubuntu" panose="020B0604020202020204" pitchFamily="34" charset="0"/>
                          <a:cs typeface="Ubuntu" panose="020B0604020202020204" pitchFamily="34" charset="0"/>
                        </a:rPr>
                        <a:t>Multispectral</a:t>
                      </a:r>
                      <a:endParaRPr sz="2000" b="1" dirty="0">
                        <a:solidFill>
                          <a:schemeClr val="tx1"/>
                        </a:solidFill>
                        <a:latin typeface="Arial" panose="020B0604020202020204" pitchFamily="34" charset="0"/>
                        <a:cs typeface="Arial" panose="020B0604020202020204" pitchFamily="34" charset="0"/>
                      </a:endParaRPr>
                    </a:p>
                  </a:txBody>
                  <a:tcPr marL="0" marR="0" marT="33655" marB="0"/>
                </a:tc>
                <a:tc>
                  <a:txBody>
                    <a:bodyPr/>
                    <a:lstStyle/>
                    <a:p>
                      <a:pPr marL="90805">
                        <a:lnSpc>
                          <a:spcPct val="100000"/>
                        </a:lnSpc>
                        <a:spcBef>
                          <a:spcPts val="265"/>
                        </a:spcBef>
                        <a:defRPr>
                          <a:latin typeface="Ubuntu"/>
                          <a:ea typeface="Ubuntu"/>
                          <a:cs typeface="Ubuntu"/>
                        </a:defRPr>
                      </a:pPr>
                      <a:r>
                        <a:rPr sz="2000" b="1" spc="-10" dirty="0">
                          <a:solidFill>
                            <a:schemeClr val="tx1"/>
                          </a:solidFill>
                          <a:latin typeface="Ubuntu" panose="020B0604020202020204" pitchFamily="34" charset="0"/>
                          <a:cs typeface="Ubuntu" panose="020B0604020202020204" pitchFamily="34" charset="0"/>
                        </a:rPr>
                        <a:t>Hyperspectral</a:t>
                      </a:r>
                      <a:endParaRPr sz="2000" b="1" dirty="0">
                        <a:solidFill>
                          <a:schemeClr val="tx1"/>
                        </a:solidFill>
                        <a:latin typeface="Arial" panose="020B0604020202020204" pitchFamily="34" charset="0"/>
                        <a:cs typeface="Arial" panose="020B0604020202020204" pitchFamily="34" charset="0"/>
                      </a:endParaRPr>
                    </a:p>
                  </a:txBody>
                  <a:tcPr marL="0" marR="0" marT="33655" marB="0"/>
                </a:tc>
                <a:extLst>
                  <a:ext uri="{0D108BD9-81ED-4DB2-BD59-A6C34878D82A}">
                    <a16:rowId xmlns:a16="http://schemas.microsoft.com/office/drawing/2014/main" val="10000"/>
                  </a:ext>
                </a:extLst>
              </a:tr>
              <a:tr h="504673">
                <a:tc>
                  <a:txBody>
                    <a:bodyPr/>
                    <a:lstStyle/>
                    <a:p>
                      <a:pPr marL="90805" algn="ctr">
                        <a:lnSpc>
                          <a:spcPct val="100000"/>
                        </a:lnSpc>
                        <a:spcBef>
                          <a:spcPts val="250"/>
                        </a:spcBef>
                        <a:defRPr>
                          <a:latin typeface="Ubuntu"/>
                          <a:ea typeface="Ubuntu"/>
                          <a:cs typeface="Ubuntu"/>
                        </a:defRPr>
                      </a:pPr>
                      <a:r>
                        <a:rPr sz="2000" b="0" spc="-10" dirty="0">
                          <a:latin typeface="Ubuntu" panose="020B0604020202020204" pitchFamily="34" charset="0"/>
                          <a:cs typeface="Ubuntu" panose="020B0604020202020204" pitchFamily="34" charset="0"/>
                        </a:rPr>
                        <a:t>Spectral</a:t>
                      </a:r>
                      <a:r>
                        <a:rPr sz="2000" b="0" spc="-20" dirty="0">
                          <a:latin typeface="Ubuntu" panose="020B0604020202020204" pitchFamily="34" charset="0"/>
                          <a:cs typeface="Ubuntu" panose="020B0604020202020204" pitchFamily="34" charset="0"/>
                        </a:rPr>
                        <a:t> range</a:t>
                      </a:r>
                      <a:r>
                        <a:rPr sz="2000" b="0" spc="-10" dirty="0">
                          <a:latin typeface="Ubuntu" panose="020B0604020202020204" pitchFamily="34" charset="0"/>
                          <a:cs typeface="Ubuntu" panose="020B0604020202020204" pitchFamily="34" charset="0"/>
                        </a:rPr>
                        <a:t> </a:t>
                      </a:r>
                      <a:r>
                        <a:rPr sz="2000" b="0" spc="-5" dirty="0">
                          <a:latin typeface="Ubuntu" panose="020B0604020202020204" pitchFamily="34" charset="0"/>
                          <a:cs typeface="Ubuntu" panose="020B0604020202020204" pitchFamily="34" charset="0"/>
                        </a:rPr>
                        <a:t>(nm)</a:t>
                      </a:r>
                      <a:endParaRPr sz="2000" b="0" dirty="0">
                        <a:latin typeface="Arial" panose="020B0604020202020204" pitchFamily="34" charset="0"/>
                        <a:cs typeface="Arial" panose="020B0604020202020204" pitchFamily="34" charset="0"/>
                      </a:endParaRPr>
                    </a:p>
                  </a:txBody>
                  <a:tcPr marL="0" marR="0" marT="31750" marB="0"/>
                </a:tc>
                <a:tc>
                  <a:txBody>
                    <a:bodyPr/>
                    <a:lstStyle/>
                    <a:p>
                      <a:pPr marL="90805" algn="ctr">
                        <a:lnSpc>
                          <a:spcPct val="100000"/>
                        </a:lnSpc>
                        <a:spcBef>
                          <a:spcPts val="250"/>
                        </a:spcBef>
                        <a:defRPr>
                          <a:latin typeface="Ubuntu"/>
                          <a:ea typeface="Ubuntu"/>
                          <a:cs typeface="Ubuntu"/>
                        </a:defRPr>
                      </a:pPr>
                      <a:r>
                        <a:rPr sz="2000" b="0" dirty="0">
                          <a:latin typeface="Ubuntu" panose="020B0604020202020204" pitchFamily="34" charset="0"/>
                          <a:cs typeface="Ubuntu" panose="020B0604020202020204" pitchFamily="34" charset="0"/>
                        </a:rPr>
                        <a:t>~</a:t>
                      </a:r>
                      <a:r>
                        <a:rPr sz="2000" b="0" spc="-20"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430</a:t>
                      </a:r>
                      <a:r>
                        <a:rPr sz="2000" b="0" spc="-15"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a:t>
                      </a:r>
                      <a:r>
                        <a:rPr sz="2000" b="0" spc="-20"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720</a:t>
                      </a:r>
                    </a:p>
                  </a:txBody>
                  <a:tcPr marL="0" marR="0" marT="31750" marB="0"/>
                </a:tc>
                <a:tc>
                  <a:txBody>
                    <a:bodyPr/>
                    <a:lstStyle/>
                    <a:p>
                      <a:pPr marL="90805" algn="ctr">
                        <a:lnSpc>
                          <a:spcPts val="2030"/>
                        </a:lnSpc>
                        <a:spcBef>
                          <a:spcPts val="250"/>
                        </a:spcBef>
                        <a:defRPr>
                          <a:latin typeface="Ubuntu"/>
                          <a:ea typeface="Ubuntu"/>
                          <a:cs typeface="Ubuntu"/>
                        </a:defRPr>
                      </a:pPr>
                      <a:r>
                        <a:rPr sz="2000" b="0" dirty="0">
                          <a:latin typeface="Ubuntu" panose="020B0604020202020204" pitchFamily="34" charset="0"/>
                          <a:cs typeface="Ubuntu" panose="020B0604020202020204" pitchFamily="34" charset="0"/>
                        </a:rPr>
                        <a:t>~</a:t>
                      </a:r>
                      <a:r>
                        <a:rPr sz="2000" b="0" spc="-30"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430</a:t>
                      </a:r>
                      <a:r>
                        <a:rPr sz="2000" b="0" spc="-30"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a:t>
                      </a:r>
                      <a:r>
                        <a:rPr sz="2000" b="0" spc="-25"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720</a:t>
                      </a:r>
                    </a:p>
                    <a:p>
                      <a:pPr marL="90805" algn="ctr">
                        <a:lnSpc>
                          <a:spcPts val="2030"/>
                        </a:lnSpc>
                        <a:defRPr>
                          <a:latin typeface="Ubuntu"/>
                          <a:ea typeface="Ubuntu"/>
                          <a:cs typeface="Ubuntu"/>
                        </a:defRPr>
                      </a:pPr>
                      <a:r>
                        <a:rPr sz="2000" b="0" dirty="0">
                          <a:latin typeface="Ubuntu" panose="020B0604020202020204" pitchFamily="34" charset="0"/>
                          <a:cs typeface="Ubuntu" panose="020B0604020202020204" pitchFamily="34" charset="0"/>
                        </a:rPr>
                        <a:t>~</a:t>
                      </a:r>
                      <a:r>
                        <a:rPr sz="2000" b="0" spc="-30"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750</a:t>
                      </a:r>
                      <a:r>
                        <a:rPr sz="2000" b="0" spc="-30"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a:t>
                      </a:r>
                      <a:r>
                        <a:rPr sz="2000" b="0" spc="-25"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950</a:t>
                      </a:r>
                    </a:p>
                  </a:txBody>
                  <a:tcPr marL="0" marR="0" marT="31750" marB="0"/>
                </a:tc>
                <a:tc>
                  <a:txBody>
                    <a:bodyPr/>
                    <a:lstStyle/>
                    <a:p>
                      <a:pPr marL="90805" algn="ctr">
                        <a:lnSpc>
                          <a:spcPct val="100000"/>
                        </a:lnSpc>
                        <a:spcBef>
                          <a:spcPts val="250"/>
                        </a:spcBef>
                        <a:defRPr>
                          <a:latin typeface="Ubuntu"/>
                          <a:ea typeface="Ubuntu"/>
                          <a:cs typeface="Ubuntu"/>
                        </a:defRPr>
                      </a:pPr>
                      <a:r>
                        <a:rPr sz="2000" b="0" dirty="0">
                          <a:latin typeface="Ubuntu" panose="020B0604020202020204" pitchFamily="34" charset="0"/>
                          <a:cs typeface="Ubuntu" panose="020B0604020202020204" pitchFamily="34" charset="0"/>
                        </a:rPr>
                        <a:t>~</a:t>
                      </a:r>
                      <a:r>
                        <a:rPr sz="2000" b="0" spc="-20"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470</a:t>
                      </a:r>
                      <a:r>
                        <a:rPr sz="2000" b="0" spc="-15"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a:t>
                      </a:r>
                      <a:r>
                        <a:rPr sz="2000" b="0" spc="-20"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2000</a:t>
                      </a:r>
                    </a:p>
                  </a:txBody>
                  <a:tcPr marL="0" marR="0" marT="31750" marB="0"/>
                </a:tc>
                <a:extLst>
                  <a:ext uri="{0D108BD9-81ED-4DB2-BD59-A6C34878D82A}">
                    <a16:rowId xmlns:a16="http://schemas.microsoft.com/office/drawing/2014/main" val="10001"/>
                  </a:ext>
                </a:extLst>
              </a:tr>
              <a:tr h="433219">
                <a:tc>
                  <a:txBody>
                    <a:bodyPr/>
                    <a:lstStyle/>
                    <a:p>
                      <a:pPr marL="90805" algn="ctr">
                        <a:lnSpc>
                          <a:spcPct val="100000"/>
                        </a:lnSpc>
                        <a:spcBef>
                          <a:spcPts val="250"/>
                        </a:spcBef>
                        <a:defRPr>
                          <a:latin typeface="Ubuntu"/>
                          <a:ea typeface="Ubuntu"/>
                          <a:cs typeface="Ubuntu"/>
                        </a:defRPr>
                      </a:pPr>
                      <a:r>
                        <a:rPr sz="2000" b="0" spc="-10" dirty="0">
                          <a:latin typeface="Ubuntu" panose="020B0604020202020204" pitchFamily="34" charset="0"/>
                          <a:cs typeface="Ubuntu" panose="020B0604020202020204" pitchFamily="34" charset="0"/>
                        </a:rPr>
                        <a:t>Satellites</a:t>
                      </a:r>
                      <a:endParaRPr sz="2000" b="0">
                        <a:latin typeface="Arial" panose="020B0604020202020204" pitchFamily="34" charset="0"/>
                        <a:cs typeface="Arial" panose="020B0604020202020204" pitchFamily="34" charset="0"/>
                      </a:endParaRPr>
                    </a:p>
                  </a:txBody>
                  <a:tcPr marL="0" marR="0" marT="31750" marB="0"/>
                </a:tc>
                <a:tc>
                  <a:txBody>
                    <a:bodyPr/>
                    <a:lstStyle/>
                    <a:p>
                      <a:pPr marL="90805" marR="712470" algn="ctr">
                        <a:lnSpc>
                          <a:spcPts val="2020"/>
                        </a:lnSpc>
                        <a:spcBef>
                          <a:spcPts val="335"/>
                        </a:spcBef>
                        <a:defRPr>
                          <a:latin typeface="Ubuntu"/>
                          <a:ea typeface="Ubuntu"/>
                          <a:cs typeface="Ubuntu"/>
                        </a:defRPr>
                      </a:pPr>
                      <a:r>
                        <a:rPr sz="2000" b="0" spc="-5" dirty="0">
                          <a:latin typeface="Ubuntu" panose="020B0604020202020204" pitchFamily="34" charset="0"/>
                          <a:cs typeface="Ubuntu" panose="020B0604020202020204" pitchFamily="34" charset="0"/>
                        </a:rPr>
                        <a:t>QuickBird,</a:t>
                      </a:r>
                      <a:r>
                        <a:rPr sz="2000" b="0" spc="-85" dirty="0">
                          <a:latin typeface="Ubuntu" panose="020B0604020202020204" pitchFamily="34" charset="0"/>
                          <a:cs typeface="Ubuntu" panose="020B0604020202020204" pitchFamily="34" charset="0"/>
                        </a:rPr>
                        <a:t> </a:t>
                      </a:r>
                      <a:r>
                        <a:rPr sz="2000" b="0" spc="-50" dirty="0">
                          <a:latin typeface="Ubuntu" panose="020B0604020202020204" pitchFamily="34" charset="0"/>
                          <a:cs typeface="Ubuntu" panose="020B0604020202020204" pitchFamily="34" charset="0"/>
                        </a:rPr>
                        <a:t>SPOT, </a:t>
                      </a:r>
                      <a:r>
                        <a:rPr sz="2000" b="0" spc="-370" dirty="0">
                          <a:latin typeface="Ubuntu" panose="020B0604020202020204" pitchFamily="34" charset="0"/>
                          <a:cs typeface="Ubuntu" panose="020B0604020202020204" pitchFamily="34" charset="0"/>
                        </a:rPr>
                        <a:t> </a:t>
                      </a:r>
                      <a:r>
                        <a:rPr sz="2000" b="0" spc="-20" dirty="0">
                          <a:latin typeface="Ubuntu" panose="020B0604020202020204" pitchFamily="34" charset="0"/>
                          <a:cs typeface="Ubuntu" panose="020B0604020202020204" pitchFamily="34" charset="0"/>
                        </a:rPr>
                        <a:t>IKONOS</a:t>
                      </a:r>
                      <a:endParaRPr sz="2000" b="0" dirty="0">
                        <a:latin typeface="Arial" panose="020B0604020202020204" pitchFamily="34" charset="0"/>
                        <a:cs typeface="Arial" panose="020B0604020202020204" pitchFamily="34" charset="0"/>
                      </a:endParaRPr>
                    </a:p>
                  </a:txBody>
                  <a:tcPr marL="0" marR="0" marT="42545" marB="0"/>
                </a:tc>
                <a:tc>
                  <a:txBody>
                    <a:bodyPr/>
                    <a:lstStyle/>
                    <a:p>
                      <a:pPr marL="90805" marR="712470" algn="ctr">
                        <a:lnSpc>
                          <a:spcPts val="2020"/>
                        </a:lnSpc>
                        <a:spcBef>
                          <a:spcPts val="335"/>
                        </a:spcBef>
                        <a:defRPr>
                          <a:latin typeface="Ubuntu"/>
                          <a:ea typeface="Ubuntu"/>
                          <a:cs typeface="Ubuntu"/>
                        </a:defRPr>
                      </a:pPr>
                      <a:r>
                        <a:rPr sz="2000" b="0" spc="-5" dirty="0">
                          <a:latin typeface="Ubuntu" panose="020B0604020202020204" pitchFamily="34" charset="0"/>
                          <a:cs typeface="Ubuntu" panose="020B0604020202020204" pitchFamily="34" charset="0"/>
                        </a:rPr>
                        <a:t>QuickBird,</a:t>
                      </a:r>
                      <a:r>
                        <a:rPr sz="2000" b="0" spc="-85" dirty="0">
                          <a:latin typeface="Ubuntu" panose="020B0604020202020204" pitchFamily="34" charset="0"/>
                          <a:cs typeface="Ubuntu" panose="020B0604020202020204" pitchFamily="34" charset="0"/>
                        </a:rPr>
                        <a:t> </a:t>
                      </a:r>
                      <a:r>
                        <a:rPr sz="2000" b="0" spc="-50" dirty="0">
                          <a:latin typeface="Ubuntu" panose="020B0604020202020204" pitchFamily="34" charset="0"/>
                          <a:cs typeface="Ubuntu" panose="020B0604020202020204" pitchFamily="34" charset="0"/>
                        </a:rPr>
                        <a:t>SPOT, </a:t>
                      </a:r>
                      <a:r>
                        <a:rPr sz="2000" b="0" spc="-370" dirty="0">
                          <a:latin typeface="Ubuntu" panose="020B0604020202020204" pitchFamily="34" charset="0"/>
                          <a:cs typeface="Ubuntu" panose="020B0604020202020204" pitchFamily="34" charset="0"/>
                        </a:rPr>
                        <a:t> </a:t>
                      </a:r>
                      <a:r>
                        <a:rPr sz="2000" b="0" spc="-20" dirty="0">
                          <a:latin typeface="Ubuntu" panose="020B0604020202020204" pitchFamily="34" charset="0"/>
                          <a:cs typeface="Ubuntu" panose="020B0604020202020204" pitchFamily="34" charset="0"/>
                        </a:rPr>
                        <a:t>IKONOS</a:t>
                      </a:r>
                      <a:endParaRPr sz="2000" b="0" dirty="0">
                        <a:latin typeface="Arial" panose="020B0604020202020204" pitchFamily="34" charset="0"/>
                        <a:cs typeface="Arial" panose="020B0604020202020204" pitchFamily="34" charset="0"/>
                      </a:endParaRPr>
                    </a:p>
                  </a:txBody>
                  <a:tcPr marL="0" marR="0" marT="42545" marB="0"/>
                </a:tc>
                <a:tc>
                  <a:txBody>
                    <a:bodyPr/>
                    <a:lstStyle/>
                    <a:p>
                      <a:pPr marL="90805" algn="ctr">
                        <a:lnSpc>
                          <a:spcPct val="100000"/>
                        </a:lnSpc>
                        <a:spcBef>
                          <a:spcPts val="250"/>
                        </a:spcBef>
                        <a:defRPr>
                          <a:latin typeface="Ubuntu"/>
                          <a:ea typeface="Ubuntu"/>
                          <a:cs typeface="Ubuntu"/>
                        </a:defRPr>
                      </a:pPr>
                      <a:r>
                        <a:rPr sz="2000" b="0" spc="-10" dirty="0">
                          <a:latin typeface="Ubuntu" panose="020B0604020202020204" pitchFamily="34" charset="0"/>
                          <a:cs typeface="Ubuntu" panose="020B0604020202020204" pitchFamily="34" charset="0"/>
                        </a:rPr>
                        <a:t>TRW</a:t>
                      </a:r>
                      <a:r>
                        <a:rPr sz="2000" b="0" spc="-20" dirty="0">
                          <a:latin typeface="Ubuntu" panose="020B0604020202020204" pitchFamily="34" charset="0"/>
                          <a:cs typeface="Ubuntu" panose="020B0604020202020204" pitchFamily="34" charset="0"/>
                        </a:rPr>
                        <a:t> </a:t>
                      </a:r>
                      <a:r>
                        <a:rPr sz="2000" b="0" spc="-5" dirty="0">
                          <a:latin typeface="Ubuntu" panose="020B0604020202020204" pitchFamily="34" charset="0"/>
                          <a:cs typeface="Ubuntu" panose="020B0604020202020204" pitchFamily="34" charset="0"/>
                        </a:rPr>
                        <a:t>Lewis,</a:t>
                      </a:r>
                      <a:r>
                        <a:rPr sz="2000" b="0" spc="-20" dirty="0">
                          <a:latin typeface="Ubuntu" panose="020B0604020202020204" pitchFamily="34" charset="0"/>
                          <a:cs typeface="Ubuntu" panose="020B0604020202020204" pitchFamily="34" charset="0"/>
                        </a:rPr>
                        <a:t> </a:t>
                      </a:r>
                      <a:r>
                        <a:rPr sz="2000" b="0" spc="-15" dirty="0">
                          <a:latin typeface="Ubuntu" panose="020B0604020202020204" pitchFamily="34" charset="0"/>
                          <a:cs typeface="Ubuntu" panose="020B0604020202020204" pitchFamily="34" charset="0"/>
                        </a:rPr>
                        <a:t>EO-</a:t>
                      </a:r>
                      <a:r>
                        <a:rPr sz="2000" b="0" spc="-10"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1</a:t>
                      </a:r>
                    </a:p>
                  </a:txBody>
                  <a:tcPr marL="0" marR="0" marT="31750" marB="0"/>
                </a:tc>
                <a:extLst>
                  <a:ext uri="{0D108BD9-81ED-4DB2-BD59-A6C34878D82A}">
                    <a16:rowId xmlns:a16="http://schemas.microsoft.com/office/drawing/2014/main" val="10002"/>
                  </a:ext>
                </a:extLst>
              </a:tr>
              <a:tr h="735673">
                <a:tc>
                  <a:txBody>
                    <a:bodyPr/>
                    <a:lstStyle/>
                    <a:p>
                      <a:pPr marL="90805" algn="ctr">
                        <a:lnSpc>
                          <a:spcPct val="100000"/>
                        </a:lnSpc>
                        <a:spcBef>
                          <a:spcPts val="250"/>
                        </a:spcBef>
                        <a:defRPr>
                          <a:latin typeface="Ubuntu"/>
                          <a:ea typeface="Ubuntu"/>
                          <a:cs typeface="Ubuntu"/>
                        </a:defRPr>
                      </a:pPr>
                      <a:r>
                        <a:rPr sz="2000" b="0" spc="-10" dirty="0">
                          <a:latin typeface="Ubuntu" panose="020B0604020202020204" pitchFamily="34" charset="0"/>
                          <a:cs typeface="Ubuntu" panose="020B0604020202020204" pitchFamily="34" charset="0"/>
                        </a:rPr>
                        <a:t>Spectral</a:t>
                      </a:r>
                      <a:r>
                        <a:rPr sz="2000" b="0" spc="-35" dirty="0">
                          <a:latin typeface="Ubuntu" panose="020B0604020202020204" pitchFamily="34" charset="0"/>
                          <a:cs typeface="Ubuntu" panose="020B0604020202020204" pitchFamily="34" charset="0"/>
                        </a:rPr>
                        <a:t> </a:t>
                      </a:r>
                      <a:r>
                        <a:rPr sz="2000" b="0" spc="-10" dirty="0">
                          <a:latin typeface="Ubuntu" panose="020B0604020202020204" pitchFamily="34" charset="0"/>
                          <a:cs typeface="Ubuntu" panose="020B0604020202020204" pitchFamily="34" charset="0"/>
                        </a:rPr>
                        <a:t>band</a:t>
                      </a:r>
                      <a:endParaRPr sz="2000" b="0" dirty="0">
                        <a:latin typeface="Arial" panose="020B0604020202020204" pitchFamily="34" charset="0"/>
                        <a:cs typeface="Arial" panose="020B0604020202020204" pitchFamily="34" charset="0"/>
                      </a:endParaRPr>
                    </a:p>
                  </a:txBody>
                  <a:tcPr marL="0" marR="0" marT="31750" marB="0"/>
                </a:tc>
                <a:tc>
                  <a:txBody>
                    <a:bodyPr/>
                    <a:lstStyle/>
                    <a:p>
                      <a:pPr marL="90805" marR="299085" algn="ctr">
                        <a:lnSpc>
                          <a:spcPct val="100600"/>
                        </a:lnSpc>
                        <a:spcBef>
                          <a:spcPts val="240"/>
                        </a:spcBef>
                        <a:defRPr>
                          <a:latin typeface="Ubuntu"/>
                          <a:ea typeface="Ubuntu"/>
                          <a:cs typeface="Ubuntu"/>
                        </a:defRPr>
                      </a:pPr>
                      <a:r>
                        <a:rPr sz="2000" b="0" spc="-10" dirty="0">
                          <a:latin typeface="Ubuntu" panose="020B0604020202020204" pitchFamily="34" charset="0"/>
                          <a:cs typeface="Ubuntu" panose="020B0604020202020204" pitchFamily="34" charset="0"/>
                        </a:rPr>
                        <a:t>Monospectral, </a:t>
                      </a:r>
                      <a:r>
                        <a:rPr sz="2000" b="0" spc="-5" dirty="0">
                          <a:latin typeface="Ubuntu" panose="020B0604020202020204" pitchFamily="34" charset="0"/>
                          <a:cs typeface="Ubuntu" panose="020B0604020202020204" pitchFamily="34" charset="0"/>
                        </a:rPr>
                        <a:t>black </a:t>
                      </a:r>
                      <a:r>
                        <a:rPr sz="2000" b="0" dirty="0">
                          <a:latin typeface="Ubuntu" panose="020B0604020202020204" pitchFamily="34" charset="0"/>
                          <a:cs typeface="Ubuntu" panose="020B0604020202020204" pitchFamily="34" charset="0"/>
                        </a:rPr>
                        <a:t> </a:t>
                      </a:r>
                      <a:r>
                        <a:rPr sz="2000" b="0" spc="-5" dirty="0">
                          <a:latin typeface="Ubuntu" panose="020B0604020202020204" pitchFamily="34" charset="0"/>
                          <a:cs typeface="Ubuntu" panose="020B0604020202020204" pitchFamily="34" charset="0"/>
                        </a:rPr>
                        <a:t>and </a:t>
                      </a:r>
                      <a:r>
                        <a:rPr sz="2000" b="0" spc="-10" dirty="0">
                          <a:latin typeface="Ubuntu" panose="020B0604020202020204" pitchFamily="34" charset="0"/>
                          <a:cs typeface="Ubuntu" panose="020B0604020202020204" pitchFamily="34" charset="0"/>
                        </a:rPr>
                        <a:t>white, </a:t>
                      </a:r>
                      <a:r>
                        <a:rPr sz="2000" b="0" spc="-15" dirty="0">
                          <a:latin typeface="Ubuntu" panose="020B0604020202020204" pitchFamily="34" charset="0"/>
                          <a:cs typeface="Ubuntu" panose="020B0604020202020204" pitchFamily="34" charset="0"/>
                        </a:rPr>
                        <a:t>grey-scale </a:t>
                      </a:r>
                      <a:r>
                        <a:rPr sz="2000" b="0" spc="-370" dirty="0">
                          <a:latin typeface="Ubuntu" panose="020B0604020202020204" pitchFamily="34" charset="0"/>
                          <a:cs typeface="Ubuntu" panose="020B0604020202020204" pitchFamily="34" charset="0"/>
                        </a:rPr>
                        <a:t> </a:t>
                      </a:r>
                      <a:r>
                        <a:rPr sz="2000" b="0" spc="-10" dirty="0">
                          <a:latin typeface="Ubuntu" panose="020B0604020202020204" pitchFamily="34" charset="0"/>
                          <a:cs typeface="Ubuntu" panose="020B0604020202020204" pitchFamily="34" charset="0"/>
                        </a:rPr>
                        <a:t>image</a:t>
                      </a:r>
                      <a:r>
                        <a:rPr sz="2000" b="0" dirty="0">
                          <a:latin typeface="Ubuntu" panose="020B0604020202020204" pitchFamily="34" charset="0"/>
                          <a:cs typeface="Ubuntu" panose="020B0604020202020204" pitchFamily="34" charset="0"/>
                        </a:rPr>
                        <a:t> </a:t>
                      </a:r>
                      <a:r>
                        <a:rPr sz="2000" b="0" spc="-5" dirty="0">
                          <a:latin typeface="Ubuntu" panose="020B0604020202020204" pitchFamily="34" charset="0"/>
                          <a:cs typeface="Ubuntu" panose="020B0604020202020204" pitchFamily="34" charset="0"/>
                        </a:rPr>
                        <a:t>(1 </a:t>
                      </a:r>
                      <a:r>
                        <a:rPr sz="2000" b="0" spc="-10" dirty="0">
                          <a:latin typeface="Ubuntu" panose="020B0604020202020204" pitchFamily="34" charset="0"/>
                          <a:cs typeface="Ubuntu" panose="020B0604020202020204" pitchFamily="34" charset="0"/>
                        </a:rPr>
                        <a:t>band)</a:t>
                      </a:r>
                      <a:endParaRPr sz="2000" b="0" dirty="0">
                        <a:latin typeface="Arial" panose="020B0604020202020204" pitchFamily="34" charset="0"/>
                        <a:cs typeface="Arial" panose="020B0604020202020204" pitchFamily="34" charset="0"/>
                      </a:endParaRPr>
                    </a:p>
                  </a:txBody>
                  <a:tcPr marL="0" marR="0" marT="30480" marB="0"/>
                </a:tc>
                <a:tc>
                  <a:txBody>
                    <a:bodyPr/>
                    <a:lstStyle/>
                    <a:p>
                      <a:pPr marL="90805" marR="203200" algn="ctr">
                        <a:lnSpc>
                          <a:spcPts val="2020"/>
                        </a:lnSpc>
                        <a:spcBef>
                          <a:spcPts val="335"/>
                        </a:spcBef>
                        <a:defRPr>
                          <a:latin typeface="Ubuntu"/>
                          <a:ea typeface="Ubuntu"/>
                          <a:cs typeface="Ubuntu"/>
                        </a:defRPr>
                      </a:pPr>
                      <a:r>
                        <a:rPr sz="2000" b="0" spc="-15" dirty="0">
                          <a:latin typeface="Ubuntu" panose="020B0604020202020204" pitchFamily="34" charset="0"/>
                          <a:cs typeface="Ubuntu" panose="020B0604020202020204" pitchFamily="34" charset="0"/>
                        </a:rPr>
                        <a:t>Several </a:t>
                      </a:r>
                      <a:r>
                        <a:rPr sz="2000" b="0" spc="-10" dirty="0">
                          <a:latin typeface="Ubuntu" panose="020B0604020202020204" pitchFamily="34" charset="0"/>
                          <a:cs typeface="Ubuntu" panose="020B0604020202020204" pitchFamily="34" charset="0"/>
                        </a:rPr>
                        <a:t>spectral bands </a:t>
                      </a:r>
                      <a:r>
                        <a:rPr sz="2000" b="0" spc="-370" dirty="0">
                          <a:latin typeface="Ubuntu" panose="020B0604020202020204" pitchFamily="34" charset="0"/>
                          <a:cs typeface="Ubuntu" panose="020B0604020202020204" pitchFamily="34" charset="0"/>
                        </a:rPr>
                        <a:t> </a:t>
                      </a:r>
                      <a:r>
                        <a:rPr sz="2000" b="0" spc="-5" dirty="0">
                          <a:latin typeface="Ubuntu" panose="020B0604020202020204" pitchFamily="34" charset="0"/>
                          <a:cs typeface="Ubuntu" panose="020B0604020202020204" pitchFamily="34" charset="0"/>
                        </a:rPr>
                        <a:t>(3 </a:t>
                      </a:r>
                      <a:r>
                        <a:rPr sz="2000" b="0" dirty="0">
                          <a:latin typeface="Ubuntu" panose="020B0604020202020204" pitchFamily="34" charset="0"/>
                          <a:cs typeface="Ubuntu" panose="020B0604020202020204" pitchFamily="34" charset="0"/>
                        </a:rPr>
                        <a:t>– 10 </a:t>
                      </a:r>
                      <a:r>
                        <a:rPr sz="2000" b="0" spc="-10" dirty="0">
                          <a:latin typeface="Ubuntu" panose="020B0604020202020204" pitchFamily="34" charset="0"/>
                          <a:cs typeface="Ubuntu" panose="020B0604020202020204" pitchFamily="34" charset="0"/>
                        </a:rPr>
                        <a:t>bands)</a:t>
                      </a:r>
                      <a:endParaRPr sz="2000" b="0" dirty="0">
                        <a:latin typeface="Arial" panose="020B0604020202020204" pitchFamily="34" charset="0"/>
                        <a:cs typeface="Arial" panose="020B0604020202020204" pitchFamily="34" charset="0"/>
                      </a:endParaRPr>
                    </a:p>
                  </a:txBody>
                  <a:tcPr marL="0" marR="0" marT="42545" marB="0"/>
                </a:tc>
                <a:tc>
                  <a:txBody>
                    <a:bodyPr/>
                    <a:lstStyle/>
                    <a:p>
                      <a:pPr marL="90805" marR="574675" algn="ctr">
                        <a:lnSpc>
                          <a:spcPts val="2020"/>
                        </a:lnSpc>
                        <a:spcBef>
                          <a:spcPts val="335"/>
                        </a:spcBef>
                        <a:defRPr>
                          <a:latin typeface="Ubuntu"/>
                          <a:ea typeface="Ubuntu"/>
                          <a:cs typeface="Ubuntu"/>
                        </a:defRPr>
                      </a:pPr>
                      <a:r>
                        <a:rPr sz="2000" b="0" dirty="0">
                          <a:latin typeface="Ubuntu" panose="020B0604020202020204" pitchFamily="34" charset="0"/>
                          <a:cs typeface="Ubuntu" panose="020B0604020202020204" pitchFamily="34" charset="0"/>
                        </a:rPr>
                        <a:t>10</a:t>
                      </a:r>
                      <a:r>
                        <a:rPr sz="2000" b="0" spc="-20" dirty="0">
                          <a:latin typeface="Ubuntu" panose="020B0604020202020204" pitchFamily="34" charset="0"/>
                          <a:cs typeface="Ubuntu" panose="020B0604020202020204" pitchFamily="34" charset="0"/>
                        </a:rPr>
                        <a:t> </a:t>
                      </a:r>
                      <a:r>
                        <a:rPr sz="2000" b="0" spc="-10" dirty="0">
                          <a:latin typeface="Ubuntu" panose="020B0604020202020204" pitchFamily="34" charset="0"/>
                          <a:cs typeface="Ubuntu" panose="020B0604020202020204" pitchFamily="34" charset="0"/>
                        </a:rPr>
                        <a:t>to</a:t>
                      </a:r>
                      <a:r>
                        <a:rPr sz="2000" b="0" spc="-15"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100</a:t>
                      </a:r>
                      <a:r>
                        <a:rPr sz="2000" b="0" spc="-15" dirty="0">
                          <a:latin typeface="Ubuntu" panose="020B0604020202020204" pitchFamily="34" charset="0"/>
                          <a:cs typeface="Ubuntu" panose="020B0604020202020204" pitchFamily="34" charset="0"/>
                        </a:rPr>
                        <a:t> </a:t>
                      </a:r>
                      <a:r>
                        <a:rPr sz="2000" b="0" spc="-10" dirty="0">
                          <a:latin typeface="Ubuntu" panose="020B0604020202020204" pitchFamily="34" charset="0"/>
                          <a:cs typeface="Ubuntu" panose="020B0604020202020204" pitchFamily="34" charset="0"/>
                        </a:rPr>
                        <a:t>spectral </a:t>
                      </a:r>
                      <a:r>
                        <a:rPr sz="2000" b="0" spc="-370" dirty="0">
                          <a:latin typeface="Ubuntu" panose="020B0604020202020204" pitchFamily="34" charset="0"/>
                          <a:cs typeface="Ubuntu" panose="020B0604020202020204" pitchFamily="34" charset="0"/>
                        </a:rPr>
                        <a:t> </a:t>
                      </a:r>
                      <a:r>
                        <a:rPr sz="2000" b="0" spc="-10" dirty="0">
                          <a:latin typeface="Ubuntu" panose="020B0604020202020204" pitchFamily="34" charset="0"/>
                          <a:cs typeface="Ubuntu" panose="020B0604020202020204" pitchFamily="34" charset="0"/>
                        </a:rPr>
                        <a:t>bands</a:t>
                      </a:r>
                      <a:endParaRPr sz="2000" b="0" dirty="0">
                        <a:latin typeface="Arial" panose="020B0604020202020204" pitchFamily="34" charset="0"/>
                        <a:cs typeface="Arial" panose="020B0604020202020204" pitchFamily="34" charset="0"/>
                      </a:endParaRPr>
                    </a:p>
                  </a:txBody>
                  <a:tcPr marL="0" marR="0" marT="42545" marB="0"/>
                </a:tc>
                <a:extLst>
                  <a:ext uri="{0D108BD9-81ED-4DB2-BD59-A6C34878D82A}">
                    <a16:rowId xmlns:a16="http://schemas.microsoft.com/office/drawing/2014/main" val="10003"/>
                  </a:ext>
                </a:extLst>
              </a:tr>
              <a:tr h="504673">
                <a:tc>
                  <a:txBody>
                    <a:bodyPr/>
                    <a:lstStyle/>
                    <a:p>
                      <a:pPr marL="90805" algn="ctr">
                        <a:lnSpc>
                          <a:spcPct val="100000"/>
                        </a:lnSpc>
                        <a:spcBef>
                          <a:spcPts val="250"/>
                        </a:spcBef>
                        <a:defRPr>
                          <a:latin typeface="Ubuntu"/>
                          <a:ea typeface="Ubuntu"/>
                          <a:cs typeface="Ubuntu"/>
                        </a:defRPr>
                      </a:pPr>
                      <a:r>
                        <a:rPr sz="2000" b="0" spc="-10" dirty="0">
                          <a:latin typeface="Ubuntu" panose="020B0604020202020204" pitchFamily="34" charset="0"/>
                          <a:cs typeface="Ubuntu" panose="020B0604020202020204" pitchFamily="34" charset="0"/>
                        </a:rPr>
                        <a:t>Spatial</a:t>
                      </a:r>
                      <a:r>
                        <a:rPr sz="2000" b="0" spc="-15" dirty="0">
                          <a:latin typeface="Ubuntu" panose="020B0604020202020204" pitchFamily="34" charset="0"/>
                          <a:cs typeface="Ubuntu" panose="020B0604020202020204" pitchFamily="34" charset="0"/>
                        </a:rPr>
                        <a:t> </a:t>
                      </a:r>
                      <a:r>
                        <a:rPr sz="2000" b="0" spc="-10" dirty="0">
                          <a:latin typeface="Ubuntu" panose="020B0604020202020204" pitchFamily="34" charset="0"/>
                          <a:cs typeface="Ubuntu" panose="020B0604020202020204" pitchFamily="34" charset="0"/>
                        </a:rPr>
                        <a:t>resolution</a:t>
                      </a:r>
                      <a:endParaRPr sz="2000" b="0">
                        <a:latin typeface="Arial" panose="020B0604020202020204" pitchFamily="34" charset="0"/>
                        <a:cs typeface="Arial" panose="020B0604020202020204" pitchFamily="34" charset="0"/>
                      </a:endParaRPr>
                    </a:p>
                  </a:txBody>
                  <a:tcPr marL="0" marR="0" marT="31750" marB="0"/>
                </a:tc>
                <a:tc>
                  <a:txBody>
                    <a:bodyPr/>
                    <a:lstStyle/>
                    <a:p>
                      <a:pPr marL="90805" algn="ctr">
                        <a:lnSpc>
                          <a:spcPct val="100000"/>
                        </a:lnSpc>
                        <a:spcBef>
                          <a:spcPts val="250"/>
                        </a:spcBef>
                        <a:defRPr>
                          <a:latin typeface="Ubuntu"/>
                          <a:ea typeface="Ubuntu"/>
                          <a:cs typeface="Ubuntu"/>
                        </a:defRPr>
                      </a:pPr>
                      <a:r>
                        <a:rPr sz="2000" b="0" spc="-10" dirty="0">
                          <a:latin typeface="Ubuntu" panose="020B0604020202020204" pitchFamily="34" charset="0"/>
                          <a:cs typeface="Ubuntu" panose="020B0604020202020204" pitchFamily="34" charset="0"/>
                        </a:rPr>
                        <a:t>Submeter</a:t>
                      </a:r>
                      <a:endParaRPr sz="2000" b="0" dirty="0">
                        <a:latin typeface="Arial" panose="020B0604020202020204" pitchFamily="34" charset="0"/>
                        <a:cs typeface="Arial" panose="020B0604020202020204" pitchFamily="34" charset="0"/>
                      </a:endParaRPr>
                    </a:p>
                  </a:txBody>
                  <a:tcPr marL="0" marR="0" marT="31750" marB="0"/>
                </a:tc>
                <a:tc>
                  <a:txBody>
                    <a:bodyPr/>
                    <a:lstStyle/>
                    <a:p>
                      <a:pPr marL="90805" algn="ctr">
                        <a:lnSpc>
                          <a:spcPct val="100000"/>
                        </a:lnSpc>
                        <a:spcBef>
                          <a:spcPts val="250"/>
                        </a:spcBef>
                        <a:defRPr>
                          <a:latin typeface="Ubuntu"/>
                          <a:ea typeface="Ubuntu"/>
                          <a:cs typeface="Ubuntu"/>
                        </a:defRPr>
                      </a:pPr>
                      <a:r>
                        <a:rPr sz="2000" b="0" spc="-5" dirty="0">
                          <a:latin typeface="Ubuntu" panose="020B0604020202020204" pitchFamily="34" charset="0"/>
                          <a:cs typeface="Ubuntu" panose="020B0604020202020204" pitchFamily="34" charset="0"/>
                        </a:rPr>
                        <a:t>Up</a:t>
                      </a:r>
                      <a:r>
                        <a:rPr sz="2000" b="0" spc="-25" dirty="0">
                          <a:latin typeface="Ubuntu" panose="020B0604020202020204" pitchFamily="34" charset="0"/>
                          <a:cs typeface="Ubuntu" panose="020B0604020202020204" pitchFamily="34" charset="0"/>
                        </a:rPr>
                        <a:t> </a:t>
                      </a:r>
                      <a:r>
                        <a:rPr sz="2000" b="0" spc="-10" dirty="0">
                          <a:latin typeface="Ubuntu" panose="020B0604020202020204" pitchFamily="34" charset="0"/>
                          <a:cs typeface="Ubuntu" panose="020B0604020202020204" pitchFamily="34" charset="0"/>
                        </a:rPr>
                        <a:t>to </a:t>
                      </a:r>
                      <a:r>
                        <a:rPr sz="2000" b="0" dirty="0">
                          <a:latin typeface="Ubuntu" panose="020B0604020202020204" pitchFamily="34" charset="0"/>
                          <a:cs typeface="Ubuntu" panose="020B0604020202020204" pitchFamily="34" charset="0"/>
                        </a:rPr>
                        <a:t>1-</a:t>
                      </a:r>
                      <a:r>
                        <a:rPr sz="2000" b="0" spc="-10"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2</a:t>
                      </a:r>
                      <a:r>
                        <a:rPr sz="2000" b="0" spc="-15"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m</a:t>
                      </a:r>
                    </a:p>
                  </a:txBody>
                  <a:tcPr marL="0" marR="0" marT="31750" marB="0"/>
                </a:tc>
                <a:tc>
                  <a:txBody>
                    <a:bodyPr/>
                    <a:lstStyle/>
                    <a:p>
                      <a:pPr marL="90805" algn="ctr">
                        <a:lnSpc>
                          <a:spcPct val="100000"/>
                        </a:lnSpc>
                        <a:spcBef>
                          <a:spcPts val="250"/>
                        </a:spcBef>
                        <a:defRPr>
                          <a:latin typeface="Ubuntu"/>
                          <a:ea typeface="Ubuntu"/>
                          <a:cs typeface="Ubuntu"/>
                        </a:defRPr>
                      </a:pPr>
                      <a:r>
                        <a:rPr sz="2000" b="0" spc="-5" dirty="0">
                          <a:latin typeface="Ubuntu" panose="020B0604020202020204" pitchFamily="34" charset="0"/>
                          <a:cs typeface="Ubuntu" panose="020B0604020202020204" pitchFamily="34" charset="0"/>
                        </a:rPr>
                        <a:t>Up</a:t>
                      </a:r>
                      <a:r>
                        <a:rPr sz="2000" b="0" spc="-35" dirty="0">
                          <a:latin typeface="Ubuntu" panose="020B0604020202020204" pitchFamily="34" charset="0"/>
                          <a:cs typeface="Ubuntu" panose="020B0604020202020204" pitchFamily="34" charset="0"/>
                        </a:rPr>
                        <a:t> </a:t>
                      </a:r>
                      <a:r>
                        <a:rPr sz="2000" b="0" spc="-10" dirty="0">
                          <a:latin typeface="Ubuntu" panose="020B0604020202020204" pitchFamily="34" charset="0"/>
                          <a:cs typeface="Ubuntu" panose="020B0604020202020204" pitchFamily="34" charset="0"/>
                        </a:rPr>
                        <a:t>to</a:t>
                      </a:r>
                      <a:r>
                        <a:rPr sz="2000" b="0" spc="-20"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2m</a:t>
                      </a:r>
                      <a:endParaRPr sz="2000" b="0">
                        <a:latin typeface="Arial" panose="020B0604020202020204" pitchFamily="34" charset="0"/>
                        <a:cs typeface="Arial" panose="020B0604020202020204" pitchFamily="34" charset="0"/>
                      </a:endParaRPr>
                    </a:p>
                  </a:txBody>
                  <a:tcPr marL="0" marR="0" marT="31750" marB="0"/>
                </a:tc>
                <a:extLst>
                  <a:ext uri="{0D108BD9-81ED-4DB2-BD59-A6C34878D82A}">
                    <a16:rowId xmlns:a16="http://schemas.microsoft.com/office/drawing/2014/main" val="10004"/>
                  </a:ext>
                </a:extLst>
              </a:tr>
              <a:tr h="1540700">
                <a:tc>
                  <a:txBody>
                    <a:bodyPr/>
                    <a:lstStyle/>
                    <a:p>
                      <a:pPr marL="90805" algn="ctr">
                        <a:lnSpc>
                          <a:spcPct val="100000"/>
                        </a:lnSpc>
                        <a:spcBef>
                          <a:spcPts val="259"/>
                        </a:spcBef>
                        <a:defRPr>
                          <a:latin typeface="Ubuntu"/>
                          <a:ea typeface="Ubuntu"/>
                          <a:cs typeface="Ubuntu"/>
                        </a:defRPr>
                      </a:pPr>
                      <a:r>
                        <a:rPr sz="2000" b="0" spc="-10" dirty="0">
                          <a:latin typeface="Ubuntu" panose="020B0604020202020204" pitchFamily="34" charset="0"/>
                          <a:cs typeface="Ubuntu" panose="020B0604020202020204" pitchFamily="34" charset="0"/>
                        </a:rPr>
                        <a:t>Applications</a:t>
                      </a:r>
                      <a:endParaRPr sz="2000" b="0">
                        <a:latin typeface="Arial" panose="020B0604020202020204" pitchFamily="34" charset="0"/>
                        <a:cs typeface="Arial" panose="020B0604020202020204" pitchFamily="34" charset="0"/>
                      </a:endParaRPr>
                    </a:p>
                  </a:txBody>
                  <a:tcPr marL="0" marR="0" marT="33019" marB="0"/>
                </a:tc>
                <a:tc>
                  <a:txBody>
                    <a:bodyPr/>
                    <a:lstStyle/>
                    <a:p>
                      <a:pPr marL="90805" marR="217804" algn="ctr">
                        <a:lnSpc>
                          <a:spcPct val="100600"/>
                        </a:lnSpc>
                        <a:spcBef>
                          <a:spcPts val="245"/>
                        </a:spcBef>
                        <a:defRPr>
                          <a:latin typeface="Ubuntu"/>
                          <a:ea typeface="Ubuntu"/>
                          <a:cs typeface="Ubuntu"/>
                        </a:defRPr>
                      </a:pPr>
                      <a:r>
                        <a:rPr sz="2000" b="0" spc="-10" dirty="0">
                          <a:latin typeface="Ubuntu" panose="020B0604020202020204" pitchFamily="34" charset="0"/>
                          <a:cs typeface="Ubuntu" panose="020B0604020202020204" pitchFamily="34" charset="0"/>
                        </a:rPr>
                        <a:t>Earth observation </a:t>
                      </a:r>
                      <a:r>
                        <a:rPr sz="2000" b="0" spc="-5" dirty="0">
                          <a:latin typeface="Ubuntu" panose="020B0604020202020204" pitchFamily="34" charset="0"/>
                          <a:cs typeface="Ubuntu" panose="020B0604020202020204" pitchFamily="34" charset="0"/>
                        </a:rPr>
                        <a:t>and </a:t>
                      </a:r>
                      <a:r>
                        <a:rPr sz="2000" b="0" spc="-370" dirty="0">
                          <a:latin typeface="Ubuntu" panose="020B0604020202020204" pitchFamily="34" charset="0"/>
                          <a:cs typeface="Ubuntu" panose="020B0604020202020204" pitchFamily="34" charset="0"/>
                        </a:rPr>
                        <a:t> </a:t>
                      </a:r>
                      <a:r>
                        <a:rPr sz="2000" b="0" spc="-10" dirty="0">
                          <a:latin typeface="Ubuntu" panose="020B0604020202020204" pitchFamily="34" charset="0"/>
                          <a:cs typeface="Ubuntu" panose="020B0604020202020204" pitchFamily="34" charset="0"/>
                        </a:rPr>
                        <a:t>reconnaissance </a:t>
                      </a:r>
                      <a:r>
                        <a:rPr sz="2000" b="0" spc="-5" dirty="0">
                          <a:latin typeface="Ubuntu" panose="020B0604020202020204" pitchFamily="34" charset="0"/>
                          <a:cs typeface="Ubuntu" panose="020B0604020202020204" pitchFamily="34" charset="0"/>
                        </a:rPr>
                        <a:t> </a:t>
                      </a:r>
                      <a:r>
                        <a:rPr sz="2000" b="0" spc="-10" dirty="0">
                          <a:latin typeface="Ubuntu" panose="020B0604020202020204" pitchFamily="34" charset="0"/>
                          <a:cs typeface="Ubuntu" panose="020B0604020202020204" pitchFamily="34" charset="0"/>
                        </a:rPr>
                        <a:t>applications</a:t>
                      </a:r>
                      <a:endParaRPr sz="2000" b="0">
                        <a:latin typeface="Arial" panose="020B0604020202020204" pitchFamily="34" charset="0"/>
                        <a:cs typeface="Arial" panose="020B0604020202020204" pitchFamily="34" charset="0"/>
                      </a:endParaRPr>
                    </a:p>
                  </a:txBody>
                  <a:tcPr marL="0" marR="0" marT="31115" marB="0"/>
                </a:tc>
                <a:tc>
                  <a:txBody>
                    <a:bodyPr/>
                    <a:lstStyle/>
                    <a:p>
                      <a:pPr marL="90805" marR="422275" algn="ctr">
                        <a:lnSpc>
                          <a:spcPct val="100600"/>
                        </a:lnSpc>
                        <a:spcBef>
                          <a:spcPts val="245"/>
                        </a:spcBef>
                        <a:defRPr>
                          <a:latin typeface="Ubuntu"/>
                          <a:ea typeface="Ubuntu"/>
                          <a:cs typeface="Ubuntu"/>
                        </a:defRPr>
                      </a:pPr>
                      <a:r>
                        <a:rPr sz="2000" b="0" u="sng" spc="-5" dirty="0">
                          <a:uFill>
                            <a:solidFill>
                              <a:srgbClr val="000000"/>
                            </a:solidFill>
                          </a:uFill>
                          <a:latin typeface="Ubuntu" panose="020B0604020202020204" pitchFamily="34" charset="0"/>
                          <a:cs typeface="Ubuntu" panose="020B0604020202020204" pitchFamily="34" charset="0"/>
                        </a:rPr>
                        <a:t>RGB</a:t>
                      </a:r>
                      <a:r>
                        <a:rPr sz="2000" b="0" u="sng" spc="-20" dirty="0">
                          <a:uFill>
                            <a:solidFill>
                              <a:srgbClr val="000000"/>
                            </a:solidFill>
                          </a:uFill>
                          <a:latin typeface="Ubuntu" panose="020B0604020202020204" pitchFamily="34" charset="0"/>
                          <a:cs typeface="Ubuntu" panose="020B0604020202020204" pitchFamily="34" charset="0"/>
                        </a:rPr>
                        <a:t> </a:t>
                      </a:r>
                      <a:r>
                        <a:rPr sz="2000" b="0" u="sng" spc="-30" dirty="0">
                          <a:uFill>
                            <a:solidFill>
                              <a:srgbClr val="000000"/>
                            </a:solidFill>
                          </a:uFill>
                          <a:latin typeface="Ubuntu" panose="020B0604020202020204" pitchFamily="34" charset="0"/>
                          <a:cs typeface="Ubuntu" panose="020B0604020202020204" pitchFamily="34" charset="0"/>
                        </a:rPr>
                        <a:t>(True</a:t>
                      </a:r>
                      <a:r>
                        <a:rPr sz="2000" b="0" u="sng" spc="-10" dirty="0">
                          <a:uFill>
                            <a:solidFill>
                              <a:srgbClr val="000000"/>
                            </a:solidFill>
                          </a:uFill>
                          <a:latin typeface="Ubuntu" panose="020B0604020202020204" pitchFamily="34" charset="0"/>
                          <a:cs typeface="Ubuntu" panose="020B0604020202020204" pitchFamily="34" charset="0"/>
                        </a:rPr>
                        <a:t> </a:t>
                      </a:r>
                      <a:r>
                        <a:rPr sz="2000" b="0" u="sng" spc="-5" dirty="0">
                          <a:uFill>
                            <a:solidFill>
                              <a:srgbClr val="000000"/>
                            </a:solidFill>
                          </a:uFill>
                          <a:latin typeface="Ubuntu" panose="020B0604020202020204" pitchFamily="34" charset="0"/>
                          <a:cs typeface="Ubuntu" panose="020B0604020202020204" pitchFamily="34" charset="0"/>
                        </a:rPr>
                        <a:t>colour): </a:t>
                      </a:r>
                      <a:r>
                        <a:rPr sz="2000" b="0" dirty="0">
                          <a:latin typeface="Ubuntu" panose="020B0604020202020204" pitchFamily="34" charset="0"/>
                          <a:cs typeface="Ubuntu" panose="020B0604020202020204" pitchFamily="34" charset="0"/>
                        </a:rPr>
                        <a:t> </a:t>
                      </a:r>
                      <a:r>
                        <a:rPr sz="2000" b="0" spc="-5" dirty="0">
                          <a:latin typeface="Ubuntu" panose="020B0604020202020204" pitchFamily="34" charset="0"/>
                          <a:cs typeface="Ubuntu" panose="020B0604020202020204" pitchFamily="34" charset="0"/>
                        </a:rPr>
                        <a:t>Visual </a:t>
                      </a:r>
                      <a:r>
                        <a:rPr sz="2000" b="0" spc="-10" dirty="0">
                          <a:latin typeface="Ubuntu" panose="020B0604020202020204" pitchFamily="34" charset="0"/>
                          <a:cs typeface="Ubuntu" panose="020B0604020202020204" pitchFamily="34" charset="0"/>
                        </a:rPr>
                        <a:t>analysis </a:t>
                      </a:r>
                      <a:r>
                        <a:rPr sz="2000" b="0" spc="-5" dirty="0">
                          <a:latin typeface="Ubuntu" panose="020B0604020202020204" pitchFamily="34" charset="0"/>
                          <a:cs typeface="Ubuntu" panose="020B0604020202020204" pitchFamily="34" charset="0"/>
                        </a:rPr>
                        <a:t> </a:t>
                      </a:r>
                      <a:r>
                        <a:rPr sz="2000" b="0" u="sng" spc="-10" dirty="0">
                          <a:uFill>
                            <a:solidFill>
                              <a:srgbClr val="000000"/>
                            </a:solidFill>
                          </a:uFill>
                          <a:latin typeface="Ubuntu" panose="020B0604020202020204" pitchFamily="34" charset="0"/>
                          <a:cs typeface="Ubuntu" panose="020B0604020202020204" pitchFamily="34" charset="0"/>
                        </a:rPr>
                        <a:t>Green</a:t>
                      </a:r>
                      <a:r>
                        <a:rPr sz="2000" b="0" u="sng" spc="-30" dirty="0">
                          <a:uFill>
                            <a:solidFill>
                              <a:srgbClr val="000000"/>
                            </a:solidFill>
                          </a:uFill>
                          <a:latin typeface="Ubuntu" panose="020B0604020202020204" pitchFamily="34" charset="0"/>
                          <a:cs typeface="Ubuntu" panose="020B0604020202020204" pitchFamily="34" charset="0"/>
                        </a:rPr>
                        <a:t> </a:t>
                      </a:r>
                      <a:r>
                        <a:rPr sz="2000" b="0" u="sng" spc="-10" dirty="0">
                          <a:uFill>
                            <a:solidFill>
                              <a:srgbClr val="000000"/>
                            </a:solidFill>
                          </a:uFill>
                          <a:latin typeface="Ubuntu" panose="020B0604020202020204" pitchFamily="34" charset="0"/>
                          <a:cs typeface="Ubuntu" panose="020B0604020202020204" pitchFamily="34" charset="0"/>
                        </a:rPr>
                        <a:t>Red</a:t>
                      </a:r>
                      <a:r>
                        <a:rPr sz="2000" b="0" u="sng" spc="-30" dirty="0">
                          <a:uFill>
                            <a:solidFill>
                              <a:srgbClr val="000000"/>
                            </a:solidFill>
                          </a:uFill>
                          <a:latin typeface="Ubuntu" panose="020B0604020202020204" pitchFamily="34" charset="0"/>
                          <a:cs typeface="Ubuntu" panose="020B0604020202020204" pitchFamily="34" charset="0"/>
                        </a:rPr>
                        <a:t> </a:t>
                      </a:r>
                      <a:r>
                        <a:rPr sz="2000" b="0" u="sng" spc="-15" dirty="0">
                          <a:uFill>
                            <a:solidFill>
                              <a:srgbClr val="000000"/>
                            </a:solidFill>
                          </a:uFill>
                          <a:latin typeface="Ubuntu" panose="020B0604020202020204" pitchFamily="34" charset="0"/>
                          <a:cs typeface="Ubuntu" panose="020B0604020202020204" pitchFamily="34" charset="0"/>
                        </a:rPr>
                        <a:t>Infrared:</a:t>
                      </a:r>
                      <a:r>
                        <a:rPr lang="en-US" sz="2000" b="0" u="sng" spc="0" dirty="0">
                          <a:uFill>
                            <a:solidFill>
                              <a:srgbClr val="000000"/>
                            </a:solidFill>
                          </a:uFill>
                          <a:latin typeface="Ubuntu" panose="020B0604020202020204" pitchFamily="34" charset="0"/>
                          <a:cs typeface="Ubuntu" panose="020B0604020202020204" pitchFamily="34" charset="0"/>
                        </a:rPr>
                        <a:t> </a:t>
                      </a:r>
                      <a:r>
                        <a:rPr sz="2000" b="0" spc="-20" dirty="0">
                          <a:latin typeface="Ubuntu" panose="020B0604020202020204" pitchFamily="34" charset="0"/>
                          <a:cs typeface="Ubuntu" panose="020B0604020202020204" pitchFamily="34" charset="0"/>
                        </a:rPr>
                        <a:t>Vegetation</a:t>
                      </a:r>
                      <a:r>
                        <a:rPr sz="2000" b="0" spc="-25" dirty="0">
                          <a:latin typeface="Ubuntu" panose="020B0604020202020204" pitchFamily="34" charset="0"/>
                          <a:cs typeface="Ubuntu" panose="020B0604020202020204" pitchFamily="34" charset="0"/>
                        </a:rPr>
                        <a:t> </a:t>
                      </a:r>
                      <a:r>
                        <a:rPr sz="2000" b="0" spc="-5" dirty="0">
                          <a:latin typeface="Ubuntu" panose="020B0604020202020204" pitchFamily="34" charset="0"/>
                          <a:cs typeface="Ubuntu" panose="020B0604020202020204" pitchFamily="34" charset="0"/>
                        </a:rPr>
                        <a:t>and</a:t>
                      </a:r>
                      <a:r>
                        <a:rPr lang="en-US" sz="2000" b="0" spc="0" dirty="0">
                          <a:latin typeface="Ubuntu" panose="020B0604020202020204" pitchFamily="34" charset="0"/>
                          <a:cs typeface="Ubuntu" panose="020B0604020202020204" pitchFamily="34" charset="0"/>
                        </a:rPr>
                        <a:t> </a:t>
                      </a:r>
                      <a:r>
                        <a:rPr sz="2000" b="0" spc="-5" dirty="0">
                          <a:latin typeface="Ubuntu" panose="020B0604020202020204" pitchFamily="34" charset="0"/>
                          <a:cs typeface="Ubuntu" panose="020B0604020202020204" pitchFamily="34" charset="0"/>
                        </a:rPr>
                        <a:t>camouflage</a:t>
                      </a:r>
                      <a:r>
                        <a:rPr sz="2000" b="0" spc="-65" dirty="0">
                          <a:latin typeface="Ubuntu" panose="020B0604020202020204" pitchFamily="34" charset="0"/>
                          <a:cs typeface="Ubuntu" panose="020B0604020202020204" pitchFamily="34" charset="0"/>
                        </a:rPr>
                        <a:t> </a:t>
                      </a:r>
                      <a:r>
                        <a:rPr sz="2000" b="0" spc="-5" dirty="0">
                          <a:latin typeface="Ubuntu" panose="020B0604020202020204" pitchFamily="34" charset="0"/>
                          <a:cs typeface="Ubuntu" panose="020B0604020202020204" pitchFamily="34" charset="0"/>
                        </a:rPr>
                        <a:t>detection; </a:t>
                      </a:r>
                      <a:r>
                        <a:rPr sz="2000" b="0" spc="-370" dirty="0">
                          <a:latin typeface="Ubuntu" panose="020B0604020202020204" pitchFamily="34" charset="0"/>
                          <a:cs typeface="Ubuntu" panose="020B0604020202020204" pitchFamily="34" charset="0"/>
                        </a:rPr>
                        <a:t> </a:t>
                      </a:r>
                      <a:endParaRPr lang="en-US" sz="2000" b="0" spc="-370" dirty="0">
                        <a:latin typeface="Arial" panose="020B0604020202020204" pitchFamily="34" charset="0"/>
                        <a:cs typeface="Arial" panose="020B0604020202020204" pitchFamily="34" charset="0"/>
                      </a:endParaRPr>
                    </a:p>
                    <a:p>
                      <a:pPr marL="90805" marR="181610" algn="ctr">
                        <a:lnSpc>
                          <a:spcPts val="1989"/>
                        </a:lnSpc>
                        <a:spcBef>
                          <a:spcPts val="180"/>
                        </a:spcBef>
                        <a:defRPr>
                          <a:latin typeface="Ubuntu"/>
                          <a:ea typeface="Ubuntu"/>
                          <a:cs typeface="Ubuntu"/>
                        </a:defRPr>
                      </a:pPr>
                      <a:r>
                        <a:rPr sz="2000" b="0" u="sng" spc="-5" dirty="0">
                          <a:uFill>
                            <a:solidFill>
                              <a:srgbClr val="000000"/>
                            </a:solidFill>
                          </a:uFill>
                          <a:latin typeface="Ubuntu" panose="020B0604020202020204" pitchFamily="34" charset="0"/>
                          <a:cs typeface="Ubuntu" panose="020B0604020202020204" pitchFamily="34" charset="0"/>
                        </a:rPr>
                        <a:t>Blue-NIR-MIR:</a:t>
                      </a:r>
                      <a:endParaRPr sz="2000" b="0" dirty="0">
                        <a:latin typeface="Arial" panose="020B0604020202020204" pitchFamily="34" charset="0"/>
                        <a:cs typeface="Arial" panose="020B0604020202020204" pitchFamily="34" charset="0"/>
                      </a:endParaRPr>
                    </a:p>
                    <a:p>
                      <a:pPr marL="90805" algn="ctr">
                        <a:lnSpc>
                          <a:spcPts val="1935"/>
                        </a:lnSpc>
                        <a:defRPr>
                          <a:latin typeface="Ubuntu"/>
                          <a:ea typeface="Ubuntu"/>
                          <a:cs typeface="Ubuntu"/>
                        </a:defRPr>
                      </a:pPr>
                      <a:r>
                        <a:rPr sz="2000" b="0" spc="-5" dirty="0">
                          <a:latin typeface="Ubuntu" panose="020B0604020202020204" pitchFamily="34" charset="0"/>
                          <a:cs typeface="Ubuntu" panose="020B0604020202020204" pitchFamily="34" charset="0"/>
                        </a:rPr>
                        <a:t>Visualizing</a:t>
                      </a:r>
                      <a:r>
                        <a:rPr sz="2000" b="0" spc="-35" dirty="0">
                          <a:latin typeface="Ubuntu" panose="020B0604020202020204" pitchFamily="34" charset="0"/>
                          <a:cs typeface="Ubuntu" panose="020B0604020202020204" pitchFamily="34" charset="0"/>
                        </a:rPr>
                        <a:t> </a:t>
                      </a:r>
                      <a:r>
                        <a:rPr sz="2000" b="0" spc="-15" dirty="0">
                          <a:latin typeface="Ubuntu" panose="020B0604020202020204" pitchFamily="34" charset="0"/>
                          <a:cs typeface="Ubuntu" panose="020B0604020202020204" pitchFamily="34" charset="0"/>
                        </a:rPr>
                        <a:t>water</a:t>
                      </a:r>
                      <a:r>
                        <a:rPr lang="en-US" sz="2000" b="0" spc="0" dirty="0">
                          <a:latin typeface="Ubuntu" panose="020B0604020202020204" pitchFamily="34" charset="0"/>
                          <a:cs typeface="Ubuntu" panose="020B0604020202020204" pitchFamily="34" charset="0"/>
                        </a:rPr>
                        <a:t> </a:t>
                      </a:r>
                      <a:r>
                        <a:rPr sz="2000" b="0" spc="-5" dirty="0">
                          <a:latin typeface="Ubuntu" panose="020B0604020202020204" pitchFamily="34" charset="0"/>
                          <a:cs typeface="Ubuntu" panose="020B0604020202020204" pitchFamily="34" charset="0"/>
                        </a:rPr>
                        <a:t>depth, </a:t>
                      </a:r>
                      <a:r>
                        <a:rPr sz="2000" b="0" spc="-10" dirty="0">
                          <a:latin typeface="Ubuntu" panose="020B0604020202020204" pitchFamily="34" charset="0"/>
                          <a:cs typeface="Ubuntu" panose="020B0604020202020204" pitchFamily="34" charset="0"/>
                        </a:rPr>
                        <a:t>vegetation </a:t>
                      </a:r>
                      <a:r>
                        <a:rPr sz="2000" b="0" spc="-5" dirty="0">
                          <a:latin typeface="Ubuntu" panose="020B0604020202020204" pitchFamily="34" charset="0"/>
                          <a:cs typeface="Ubuntu" panose="020B0604020202020204" pitchFamily="34" charset="0"/>
                        </a:rPr>
                        <a:t> </a:t>
                      </a:r>
                      <a:r>
                        <a:rPr sz="2000" b="0" spc="-15" dirty="0">
                          <a:latin typeface="Ubuntu" panose="020B0604020202020204" pitchFamily="34" charset="0"/>
                          <a:cs typeface="Ubuntu" panose="020B0604020202020204" pitchFamily="34" charset="0"/>
                        </a:rPr>
                        <a:t>coverage, </a:t>
                      </a:r>
                      <a:r>
                        <a:rPr sz="2000" b="0" spc="-5" dirty="0">
                          <a:latin typeface="Ubuntu" panose="020B0604020202020204" pitchFamily="34" charset="0"/>
                          <a:cs typeface="Ubuntu" panose="020B0604020202020204" pitchFamily="34" charset="0"/>
                        </a:rPr>
                        <a:t>soil </a:t>
                      </a:r>
                      <a:r>
                        <a:rPr sz="2000" b="0" spc="-10" dirty="0">
                          <a:latin typeface="Ubuntu" panose="020B0604020202020204" pitchFamily="34" charset="0"/>
                          <a:cs typeface="Ubuntu" panose="020B0604020202020204" pitchFamily="34" charset="0"/>
                        </a:rPr>
                        <a:t>moisture </a:t>
                      </a:r>
                      <a:r>
                        <a:rPr sz="2000" b="0" spc="-370" dirty="0">
                          <a:latin typeface="Ubuntu" panose="020B0604020202020204" pitchFamily="34" charset="0"/>
                          <a:cs typeface="Ubuntu" panose="020B0604020202020204" pitchFamily="34" charset="0"/>
                        </a:rPr>
                        <a:t> </a:t>
                      </a:r>
                      <a:r>
                        <a:rPr sz="2000" b="0" spc="-15" dirty="0">
                          <a:latin typeface="Ubuntu" panose="020B0604020202020204" pitchFamily="34" charset="0"/>
                          <a:cs typeface="Ubuntu" panose="020B0604020202020204" pitchFamily="34" charset="0"/>
                        </a:rPr>
                        <a:t>content</a:t>
                      </a:r>
                      <a:r>
                        <a:rPr sz="2000" b="0" spc="-5" dirty="0">
                          <a:latin typeface="Ubuntu" panose="020B0604020202020204" pitchFamily="34" charset="0"/>
                          <a:cs typeface="Ubuntu" panose="020B0604020202020204" pitchFamily="34" charset="0"/>
                        </a:rPr>
                        <a:t> and</a:t>
                      </a:r>
                      <a:r>
                        <a:rPr sz="2000" b="0" spc="-15" dirty="0">
                          <a:latin typeface="Ubuntu" panose="020B0604020202020204" pitchFamily="34" charset="0"/>
                          <a:cs typeface="Ubuntu" panose="020B0604020202020204" pitchFamily="34" charset="0"/>
                        </a:rPr>
                        <a:t> </a:t>
                      </a:r>
                      <a:r>
                        <a:rPr sz="2000" b="0" spc="-10" dirty="0">
                          <a:latin typeface="Ubuntu" panose="020B0604020202020204" pitchFamily="34" charset="0"/>
                          <a:cs typeface="Ubuntu" panose="020B0604020202020204" pitchFamily="34" charset="0"/>
                        </a:rPr>
                        <a:t>presence </a:t>
                      </a:r>
                      <a:r>
                        <a:rPr sz="2000" b="0" spc="-5" dirty="0">
                          <a:latin typeface="Ubuntu" panose="020B0604020202020204" pitchFamily="34" charset="0"/>
                          <a:cs typeface="Ubuntu" panose="020B0604020202020204" pitchFamily="34" charset="0"/>
                        </a:rPr>
                        <a:t> </a:t>
                      </a:r>
                      <a:r>
                        <a:rPr sz="2000" b="0" dirty="0">
                          <a:latin typeface="Ubuntu" panose="020B0604020202020204" pitchFamily="34" charset="0"/>
                          <a:cs typeface="Ubuntu" panose="020B0604020202020204" pitchFamily="34" charset="0"/>
                        </a:rPr>
                        <a:t>of </a:t>
                      </a:r>
                      <a:r>
                        <a:rPr sz="2000" b="0" spc="-10" dirty="0">
                          <a:latin typeface="Ubuntu" panose="020B0604020202020204" pitchFamily="34" charset="0"/>
                          <a:cs typeface="Ubuntu" panose="020B0604020202020204" pitchFamily="34" charset="0"/>
                        </a:rPr>
                        <a:t>fire.</a:t>
                      </a:r>
                      <a:endParaRPr sz="2000" b="0" dirty="0">
                        <a:latin typeface="Arial" panose="020B0604020202020204" pitchFamily="34" charset="0"/>
                        <a:cs typeface="Arial" panose="020B0604020202020204" pitchFamily="34" charset="0"/>
                      </a:endParaRPr>
                    </a:p>
                  </a:txBody>
                  <a:tcPr marL="0" marR="0" marT="31115" marB="0"/>
                </a:tc>
                <a:tc>
                  <a:txBody>
                    <a:bodyPr/>
                    <a:lstStyle/>
                    <a:p>
                      <a:pPr marL="90805" marR="288290" algn="ctr">
                        <a:lnSpc>
                          <a:spcPct val="100000"/>
                        </a:lnSpc>
                        <a:spcBef>
                          <a:spcPts val="259"/>
                        </a:spcBef>
                        <a:defRPr>
                          <a:latin typeface="Ubuntu"/>
                          <a:ea typeface="Ubuntu"/>
                          <a:cs typeface="Ubuntu"/>
                        </a:defRPr>
                      </a:pPr>
                      <a:r>
                        <a:rPr sz="2000" b="0" spc="-10" dirty="0" err="1">
                          <a:latin typeface="Ubuntu" panose="020B0604020202020204" pitchFamily="34" charset="0"/>
                          <a:cs typeface="Ubuntu" panose="020B0604020202020204" pitchFamily="34" charset="0"/>
                        </a:rPr>
                        <a:t>Agriculture,</a:t>
                      </a:r>
                      <a:r>
                        <a:rPr sz="2000" b="0" spc="-20" dirty="0" err="1">
                          <a:latin typeface="Ubuntu" panose="020B0604020202020204" pitchFamily="34" charset="0"/>
                          <a:cs typeface="Ubuntu" panose="020B0604020202020204" pitchFamily="34" charset="0"/>
                        </a:rPr>
                        <a:t>mineralogy</a:t>
                      </a:r>
                      <a:r>
                        <a:rPr sz="2000" b="0" spc="-20" dirty="0">
                          <a:latin typeface="Ubuntu" panose="020B0604020202020204" pitchFamily="34" charset="0"/>
                          <a:cs typeface="Ubuntu" panose="020B0604020202020204" pitchFamily="34" charset="0"/>
                        </a:rPr>
                        <a:t>, </a:t>
                      </a:r>
                      <a:r>
                        <a:rPr sz="2000" b="0" spc="-15" dirty="0">
                          <a:latin typeface="Ubuntu" panose="020B0604020202020204" pitchFamily="34" charset="0"/>
                          <a:cs typeface="Ubuntu" panose="020B0604020202020204" pitchFamily="34" charset="0"/>
                        </a:rPr>
                        <a:t> </a:t>
                      </a:r>
                      <a:r>
                        <a:rPr sz="2000" b="0" spc="-5" dirty="0">
                          <a:latin typeface="Ubuntu" panose="020B0604020202020204" pitchFamily="34" charset="0"/>
                          <a:cs typeface="Ubuntu" panose="020B0604020202020204" pitchFamily="34" charset="0"/>
                        </a:rPr>
                        <a:t>surveillance, </a:t>
                      </a:r>
                      <a:r>
                        <a:rPr sz="2000" b="0" spc="-10" dirty="0">
                          <a:latin typeface="Ubuntu" panose="020B0604020202020204" pitchFamily="34" charset="0"/>
                          <a:cs typeface="Ubuntu" panose="020B0604020202020204" pitchFamily="34" charset="0"/>
                        </a:rPr>
                        <a:t>physics, </a:t>
                      </a:r>
                      <a:r>
                        <a:rPr sz="2000" b="0" spc="-370" dirty="0">
                          <a:latin typeface="Ubuntu" panose="020B0604020202020204" pitchFamily="34" charset="0"/>
                          <a:cs typeface="Ubuntu" panose="020B0604020202020204" pitchFamily="34" charset="0"/>
                        </a:rPr>
                        <a:t> </a:t>
                      </a:r>
                      <a:r>
                        <a:rPr sz="2000" b="0" spc="-25" dirty="0">
                          <a:latin typeface="Ubuntu" panose="020B0604020202020204" pitchFamily="34" charset="0"/>
                          <a:cs typeface="Ubuntu" panose="020B0604020202020204" pitchFamily="34" charset="0"/>
                        </a:rPr>
                        <a:t>astronomy</a:t>
                      </a:r>
                      <a:r>
                        <a:rPr lang="en-US" sz="2000" b="0" spc="-25" dirty="0">
                          <a:latin typeface="Ubuntu" panose="020B0604020202020204" pitchFamily="34" charset="0"/>
                          <a:cs typeface="Ubuntu" panose="020B0604020202020204" pitchFamily="34" charset="0"/>
                        </a:rPr>
                        <a:t>.</a:t>
                      </a:r>
                      <a:endParaRPr sz="2000" b="0" dirty="0">
                        <a:latin typeface="Arial" panose="020B0604020202020204" pitchFamily="34" charset="0"/>
                        <a:cs typeface="Arial" panose="020B0604020202020204" pitchFamily="34" charset="0"/>
                      </a:endParaRPr>
                    </a:p>
                  </a:txBody>
                  <a:tcPr marL="0" marR="0" marT="33019" marB="0"/>
                </a:tc>
                <a:extLst>
                  <a:ext uri="{0D108BD9-81ED-4DB2-BD59-A6C34878D82A}">
                    <a16:rowId xmlns:a16="http://schemas.microsoft.com/office/drawing/2014/main" val="10005"/>
                  </a:ext>
                </a:extLst>
              </a:tr>
            </a:tbl>
          </a:graphicData>
        </a:graphic>
      </p:graphicFrame>
      <p:sp>
        <p:nvSpPr>
          <p:cNvPr id="5" name="Slide Number Placeholder 7">
            <a:extLst>
              <a:ext uri="{FF2B5EF4-FFF2-40B4-BE49-F238E27FC236}">
                <a16:creationId xmlns:a16="http://schemas.microsoft.com/office/drawing/2014/main" id="{38AC8BE2-C0F6-775E-2920-83A02AAEE5AB}"/>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18</a:t>
            </a:fld>
            <a:endParaRPr lang="en-US" sz="4800" b="1" dirty="0">
              <a:solidFill>
                <a:srgbClr val="FF0000"/>
              </a:solidFill>
            </a:endParaRPr>
          </a:p>
        </p:txBody>
      </p:sp>
      <p:pic>
        <p:nvPicPr>
          <p:cNvPr id="9" name="Image 0" descr="/home/claude/pay/p18-005.jpg">
            <a:extLst>
              <a:ext uri="{FF2B5EF4-FFF2-40B4-BE49-F238E27FC236}">
                <a16:creationId xmlns:a16="http://schemas.microsoft.com/office/drawing/2014/main" id="{3EF71260-0E20-03EA-4E58-0BBF48583C38}"/>
              </a:ext>
            </a:extLst>
          </p:cNvPr>
          <p:cNvPicPr>
            <a:picLocks noChangeAspect="1"/>
          </p:cNvPicPr>
          <p:nvPr/>
        </p:nvPicPr>
        <p:blipFill>
          <a:blip r:embed="rId2"/>
          <a:stretch>
            <a:fillRect/>
          </a:stretch>
        </p:blipFill>
        <p:spPr>
          <a:xfrm>
            <a:off x="87259" y="596085"/>
            <a:ext cx="1718537" cy="1136098"/>
          </a:xfrm>
          <a:prstGeom prst="rect">
            <a:avLst/>
          </a:prstGeom>
        </p:spPr>
      </p:pic>
      <p:pic>
        <p:nvPicPr>
          <p:cNvPr id="11" name="Image 1" descr="/home/claude/pay/p18-003.jpg">
            <a:extLst>
              <a:ext uri="{FF2B5EF4-FFF2-40B4-BE49-F238E27FC236}">
                <a16:creationId xmlns:a16="http://schemas.microsoft.com/office/drawing/2014/main" id="{8826E621-788B-EAE7-C0CD-26412598382D}"/>
              </a:ext>
            </a:extLst>
          </p:cNvPr>
          <p:cNvPicPr>
            <a:picLocks noChangeAspect="1"/>
          </p:cNvPicPr>
          <p:nvPr/>
        </p:nvPicPr>
        <p:blipFill>
          <a:blip r:embed="rId3"/>
          <a:stretch>
            <a:fillRect/>
          </a:stretch>
        </p:blipFill>
        <p:spPr>
          <a:xfrm>
            <a:off x="5653038" y="965474"/>
            <a:ext cx="885923" cy="766709"/>
          </a:xfrm>
          <a:prstGeom prst="rect">
            <a:avLst/>
          </a:prstGeom>
        </p:spPr>
      </p:pic>
      <p:pic>
        <p:nvPicPr>
          <p:cNvPr id="13" name="Image 2" descr="/home/claude/pay/p18-007b.jpg">
            <a:extLst>
              <a:ext uri="{FF2B5EF4-FFF2-40B4-BE49-F238E27FC236}">
                <a16:creationId xmlns:a16="http://schemas.microsoft.com/office/drawing/2014/main" id="{E4F88F46-2655-6C36-B19D-56394E84E64D}"/>
              </a:ext>
            </a:extLst>
          </p:cNvPr>
          <p:cNvPicPr>
            <a:picLocks noChangeAspect="1"/>
          </p:cNvPicPr>
          <p:nvPr/>
        </p:nvPicPr>
        <p:blipFill>
          <a:blip r:embed="rId4"/>
          <a:stretch>
            <a:fillRect/>
          </a:stretch>
        </p:blipFill>
        <p:spPr>
          <a:xfrm>
            <a:off x="7542449" y="896082"/>
            <a:ext cx="1544414" cy="905492"/>
          </a:xfrm>
          <a:prstGeom prst="rect">
            <a:avLst/>
          </a:prstGeom>
        </p:spPr>
      </p:pic>
      <p:pic>
        <p:nvPicPr>
          <p:cNvPr id="14" name="Space Faculty logo" descr="sf_logo.png"/>
          <p:cNvPicPr>
            <a:picLocks noChangeAspect="1"/>
          </p:cNvPicPr>
          <p:nvPr/>
        </p:nvPicPr>
        <p:blipFill>
          <a:blip r:embed="rId5"/>
          <a:stretch>
            <a:fillRect/>
          </a:stretch>
        </p:blipFill>
        <p:spPr>
          <a:xfrm>
            <a:off x="10174726" y="54863"/>
            <a:ext cx="1904498" cy="541221"/>
          </a:xfrm>
          <a:prstGeom prst="rect">
            <a:avLst/>
          </a:prstGeom>
        </p:spPr>
      </p:pic>
    </p:spTree>
    <p:extLst>
      <p:ext uri="{BB962C8B-B14F-4D97-AF65-F5344CB8AC3E}">
        <p14:creationId xmlns:p14="http://schemas.microsoft.com/office/powerpoint/2010/main" val="1193681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1004" y="35272"/>
            <a:ext cx="5932401" cy="689932"/>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b="1" spc="-5" dirty="0">
                <a:latin typeface="House Movements Runway" panose="020B0604020202020204" pitchFamily="34" charset="0"/>
                <a:cs typeface="House Movements Runway" panose="020B0604020202020204" pitchFamily="34" charset="0"/>
              </a:rPr>
              <a:t>Reflectance</a:t>
            </a:r>
            <a:r>
              <a:rPr b="1" spc="-20" dirty="0">
                <a:latin typeface="House Movements Runway" panose="020B0604020202020204" pitchFamily="34" charset="0"/>
                <a:cs typeface="House Movements Runway" panose="020B0604020202020204" pitchFamily="34" charset="0"/>
              </a:rPr>
              <a:t> </a:t>
            </a:r>
            <a:r>
              <a:rPr b="1" spc="-5" dirty="0">
                <a:latin typeface="House Movements Runway" panose="020B0604020202020204" pitchFamily="34" charset="0"/>
                <a:cs typeface="House Movements Runway" panose="020B0604020202020204" pitchFamily="34" charset="0"/>
              </a:rPr>
              <a:t>Spectra</a:t>
            </a:r>
            <a:endParaRPr b="1" dirty="0">
              <a:latin typeface="Arial" panose="020B0604020202020204" pitchFamily="34" charset="0"/>
              <a:cs typeface="Arial" panose="020B0604020202020204" pitchFamily="34" charset="0"/>
            </a:endParaRPr>
          </a:p>
        </p:txBody>
      </p:sp>
      <p:sp>
        <p:nvSpPr>
          <p:cNvPr id="6" name="Slide Number Placeholder 7">
            <a:extLst>
              <a:ext uri="{FF2B5EF4-FFF2-40B4-BE49-F238E27FC236}">
                <a16:creationId xmlns:a16="http://schemas.microsoft.com/office/drawing/2014/main" id="{A22B880B-84F5-D78F-AE95-B1BACDC64854}"/>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19</a:t>
            </a:fld>
            <a:endParaRPr lang="en-US" sz="4800" b="1" dirty="0">
              <a:solidFill>
                <a:srgbClr val="FF0000"/>
              </a:solidFill>
            </a:endParaRPr>
          </a:p>
        </p:txBody>
      </p:sp>
      <p:pic>
        <p:nvPicPr>
          <p:cNvPr id="7" name="Picture 6" descr="The image displays a graph comparing the reflectance percentages of various earth surface materials across different wavelengths, from 0.4 to 2.4 micrometers, including soil, altered rocks, clear water, and water with phytoplankton, highlighting distinct spectral signatures for each.&#10;&#10;AI-generated content may be incorrect.">
            <a:extLst>
              <a:ext uri="{FF2B5EF4-FFF2-40B4-BE49-F238E27FC236}">
                <a16:creationId xmlns:a16="http://schemas.microsoft.com/office/drawing/2014/main" id="{666295B1-7675-6100-C51B-4A3C042ABACE}"/>
              </a:ext>
            </a:extLst>
          </p:cNvPr>
          <p:cNvPicPr>
            <a:picLocks noChangeAspect="1"/>
          </p:cNvPicPr>
          <p:nvPr/>
        </p:nvPicPr>
        <p:blipFill>
          <a:blip r:embed="rId2"/>
          <a:stretch>
            <a:fillRect/>
          </a:stretch>
        </p:blipFill>
        <p:spPr>
          <a:xfrm>
            <a:off x="477327" y="941999"/>
            <a:ext cx="10150415" cy="5826522"/>
          </a:xfrm>
          <a:prstGeom prst="rect">
            <a:avLst/>
          </a:prstGeom>
        </p:spPr>
      </p:pic>
      <p:pic>
        <p:nvPicPr>
          <p:cNvPr id="8" name="Space Faculty logo" descr="sf_logo.png"/>
          <p:cNvPicPr>
            <a:picLocks noChangeAspect="1"/>
          </p:cNvPicPr>
          <p:nvPr/>
        </p:nvPicPr>
        <p:blipFill>
          <a:blip r:embed="rId3"/>
          <a:stretch>
            <a:fillRect/>
          </a:stretch>
        </p:blipFill>
        <p:spPr>
          <a:xfrm>
            <a:off x="10566530" y="54864"/>
            <a:ext cx="1512694" cy="429878"/>
          </a:xfrm>
          <a:prstGeom prst="rect">
            <a:avLst/>
          </a:prstGeom>
        </p:spPr>
      </p:pic>
    </p:spTree>
    <p:extLst>
      <p:ext uri="{BB962C8B-B14F-4D97-AF65-F5344CB8AC3E}">
        <p14:creationId xmlns:p14="http://schemas.microsoft.com/office/powerpoint/2010/main" val="2160542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E8631-417C-73C1-C9F6-D3B318D2BC5E}"/>
              </a:ext>
            </a:extLst>
          </p:cNvPr>
          <p:cNvSpPr>
            <a:spLocks noGrp="1"/>
          </p:cNvSpPr>
          <p:nvPr>
            <p:ph type="title"/>
          </p:nvPr>
        </p:nvSpPr>
        <p:spPr/>
        <p:txBody>
          <a:bodyPr/>
          <a:lstStyle/>
          <a:p>
            <a:pPr>
              <a:defRPr>
                <a:latin typeface="House Movements Runway"/>
                <a:ea typeface="House Movements Runway"/>
                <a:cs typeface="House Movements Runway"/>
              </a:defRPr>
            </a:pPr>
            <a:endParaRPr lang="en-US"/>
          </a:p>
        </p:txBody>
      </p:sp>
      <p:sp>
        <p:nvSpPr>
          <p:cNvPr id="3" name="Content Placeholder 2">
            <a:extLst>
              <a:ext uri="{FF2B5EF4-FFF2-40B4-BE49-F238E27FC236}">
                <a16:creationId xmlns:a16="http://schemas.microsoft.com/office/drawing/2014/main" id="{87A88ED2-A24F-EE07-FEB9-FFADB0BDDD1D}"/>
              </a:ext>
            </a:extLst>
          </p:cNvPr>
          <p:cNvSpPr>
            <a:spLocks noGrp="1"/>
          </p:cNvSpPr>
          <p:nvPr>
            <p:ph idx="1"/>
          </p:nvPr>
        </p:nvSpPr>
        <p:spPr/>
        <p:txBody>
          <a:bodyPr/>
          <a:lstStyle/>
          <a:p>
            <a:pPr>
              <a:defRPr>
                <a:latin typeface="Ubuntu"/>
                <a:ea typeface="Ubuntu"/>
                <a:cs typeface="Ubuntu"/>
              </a:defRPr>
            </a:pPr>
            <a:endParaRPr lang="en-US"/>
          </a:p>
        </p:txBody>
      </p:sp>
      <p:pic>
        <p:nvPicPr>
          <p:cNvPr id="5" name="Picture 4" descr="The image shows a series of aerial photographs depicting a mountainous landscape with a thermal lake, captured in monochrome, multispectral, and hyperspectral imaging modes.&#10;&#10;AI-generated content may be incorrect.">
            <a:extLst>
              <a:ext uri="{FF2B5EF4-FFF2-40B4-BE49-F238E27FC236}">
                <a16:creationId xmlns:a16="http://schemas.microsoft.com/office/drawing/2014/main" id="{8E93536C-A06C-2CBD-707F-A8543E8C4278}"/>
              </a:ext>
            </a:extLst>
          </p:cNvPr>
          <p:cNvPicPr>
            <a:picLocks noChangeAspect="1"/>
          </p:cNvPicPr>
          <p:nvPr/>
        </p:nvPicPr>
        <p:blipFill>
          <a:blip r:embed="rId2"/>
          <a:stretch>
            <a:fillRect/>
          </a:stretch>
        </p:blipFill>
        <p:spPr>
          <a:xfrm>
            <a:off x="0" y="0"/>
            <a:ext cx="12248866" cy="6858000"/>
          </a:xfrm>
          <a:prstGeom prst="rect">
            <a:avLst/>
          </a:prstGeom>
        </p:spPr>
      </p:pic>
      <p:pic>
        <p:nvPicPr>
          <p:cNvPr id="6" name="Space Faculty logo" descr="sf_logo.png"/>
          <p:cNvPicPr>
            <a:picLocks noChangeAspect="1"/>
          </p:cNvPicPr>
          <p:nvPr/>
        </p:nvPicPr>
        <p:blipFill>
          <a:blip r:embed="rId3"/>
          <a:stretch>
            <a:fillRect/>
          </a:stretch>
        </p:blipFill>
        <p:spPr>
          <a:xfrm>
            <a:off x="11178274" y="54864"/>
            <a:ext cx="900949" cy="256032"/>
          </a:xfrm>
          <a:prstGeom prst="rect">
            <a:avLst/>
          </a:prstGeom>
        </p:spPr>
      </p:pic>
    </p:spTree>
    <p:extLst>
      <p:ext uri="{BB962C8B-B14F-4D97-AF65-F5344CB8AC3E}">
        <p14:creationId xmlns:p14="http://schemas.microsoft.com/office/powerpoint/2010/main" val="3441993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C28CC5FE-F812-44CD-9FFF-69391F0F3BB6}"/>
              </a:ext>
            </a:extLst>
          </p:cNvPr>
          <p:cNvSpPr>
            <a:spLocks noGrp="1"/>
          </p:cNvSpPr>
          <p:nvPr>
            <p:ph type="title"/>
          </p:nvPr>
        </p:nvSpPr>
        <p:spPr>
          <a:xfrm>
            <a:off x="3421027" y="117193"/>
            <a:ext cx="5349947" cy="635563"/>
          </a:xfrm>
        </p:spPr>
        <p:txBody>
          <a:bodyPr>
            <a:noAutofit/>
          </a:bodyPr>
          <a:lstStyle/>
          <a:p>
            <a:pPr>
              <a:defRPr>
                <a:latin typeface="House Movements Runway"/>
                <a:ea typeface="House Movements Runway"/>
                <a:cs typeface="House Movements Runway"/>
              </a:defRPr>
            </a:pPr>
            <a:r>
              <a:rPr lang="en-US" sz="4400" b="1" dirty="0">
                <a:latin typeface="House Movements Runway" panose="02020603050405020304" pitchFamily="18" charset="0"/>
                <a:cs typeface="House Movements Runway" panose="02020603050405020304" pitchFamily="18" charset="0"/>
              </a:rPr>
              <a:t>Camera Specification</a:t>
            </a:r>
          </a:p>
        </p:txBody>
      </p:sp>
      <p:sp>
        <p:nvSpPr>
          <p:cNvPr id="14" name="TextBox 13">
            <a:extLst>
              <a:ext uri="{FF2B5EF4-FFF2-40B4-BE49-F238E27FC236}">
                <a16:creationId xmlns:a16="http://schemas.microsoft.com/office/drawing/2014/main" id="{5B018C87-A6EA-4D67-9704-D7A093E43B58}"/>
              </a:ext>
            </a:extLst>
          </p:cNvPr>
          <p:cNvSpPr txBox="1"/>
          <p:nvPr/>
        </p:nvSpPr>
        <p:spPr>
          <a:xfrm>
            <a:off x="2133600" y="6494586"/>
            <a:ext cx="8342722" cy="246221"/>
          </a:xfrm>
          <a:prstGeom prst="rect">
            <a:avLst/>
          </a:prstGeom>
          <a:noFill/>
        </p:spPr>
        <p:txBody>
          <a:bodyPr wrap="square">
            <a:spAutoFit/>
          </a:bodyPr>
          <a:lstStyle/>
          <a:p>
            <a:pPr>
              <a:defRPr>
                <a:latin typeface="Ubuntu"/>
                <a:ea typeface="Ubuntu"/>
                <a:cs typeface="Ubuntu"/>
              </a:defRPr>
            </a:pPr>
            <a:r>
              <a:rPr lang="en-US" sz="1000" dirty="0">
                <a:latin typeface="Ubuntu"/>
                <a:ea typeface="Ubuntu"/>
                <a:cs typeface="Ubuntu"/>
              </a:rPr>
              <a:t>https://www.uctronics.com/https-www-uctronics-com-index-php-arducam-ov2311-mipi-2mp-global-shutter-mono-camera-module-html-2268.html</a:t>
            </a:r>
          </a:p>
        </p:txBody>
      </p:sp>
      <p:graphicFrame>
        <p:nvGraphicFramePr>
          <p:cNvPr id="10" name="Table 12">
            <a:extLst>
              <a:ext uri="{FF2B5EF4-FFF2-40B4-BE49-F238E27FC236}">
                <a16:creationId xmlns:a16="http://schemas.microsoft.com/office/drawing/2014/main" id="{CE84099F-023F-4026-B073-CA52CB0611F7}"/>
              </a:ext>
            </a:extLst>
          </p:cNvPr>
          <p:cNvGraphicFramePr>
            <a:graphicFrameLocks noGrp="1"/>
          </p:cNvGraphicFramePr>
          <p:nvPr/>
        </p:nvGraphicFramePr>
        <p:xfrm>
          <a:off x="152400" y="1219200"/>
          <a:ext cx="8534400" cy="4158813"/>
        </p:xfrm>
        <a:graphic>
          <a:graphicData uri="http://schemas.openxmlformats.org/drawingml/2006/table">
            <a:tbl>
              <a:tblPr firstRow="1" bandRow="1">
                <a:tableStyleId>{5C22544A-7EE6-4342-B048-85BDC9FD1C3A}</a:tableStyleId>
              </a:tblPr>
              <a:tblGrid>
                <a:gridCol w="3216626">
                  <a:extLst>
                    <a:ext uri="{9D8B030D-6E8A-4147-A177-3AD203B41FA5}">
                      <a16:colId xmlns:a16="http://schemas.microsoft.com/office/drawing/2014/main" val="2236169737"/>
                    </a:ext>
                  </a:extLst>
                </a:gridCol>
                <a:gridCol w="5317774">
                  <a:extLst>
                    <a:ext uri="{9D8B030D-6E8A-4147-A177-3AD203B41FA5}">
                      <a16:colId xmlns:a16="http://schemas.microsoft.com/office/drawing/2014/main" val="2550537687"/>
                    </a:ext>
                  </a:extLst>
                </a:gridCol>
              </a:tblGrid>
              <a:tr h="725871">
                <a:tc>
                  <a:txBody>
                    <a:bodyPr/>
                    <a:lstStyle/>
                    <a:p>
                      <a:pPr>
                        <a:defRPr>
                          <a:latin typeface="Ubuntu"/>
                          <a:ea typeface="Ubuntu"/>
                          <a:cs typeface="Ubuntu"/>
                        </a:defRPr>
                      </a:pPr>
                      <a:r>
                        <a:rPr lang="en-US" sz="2800" dirty="0">
                          <a:latin typeface="Ubuntu" panose="02020603050405020304" pitchFamily="18" charset="0"/>
                          <a:cs typeface="Ubuntu" panose="02020603050405020304" pitchFamily="18" charset="0"/>
                        </a:rPr>
                        <a:t>Specification</a:t>
                      </a:r>
                    </a:p>
                  </a:txBody>
                  <a:tcPr/>
                </a:tc>
                <a:tc>
                  <a:txBody>
                    <a:bodyPr/>
                    <a:lstStyle/>
                    <a:p>
                      <a:pPr>
                        <a:defRPr>
                          <a:latin typeface="Ubuntu"/>
                          <a:ea typeface="Ubuntu"/>
                          <a:cs typeface="Ubuntu"/>
                        </a:defRPr>
                      </a:pPr>
                      <a:r>
                        <a:rPr lang="en-US" sz="2800" dirty="0">
                          <a:latin typeface="Ubuntu" panose="02020603050405020304" pitchFamily="18" charset="0"/>
                          <a:cs typeface="Ubuntu" panose="02020603050405020304" pitchFamily="18" charset="0"/>
                        </a:rPr>
                        <a:t>Value</a:t>
                      </a:r>
                    </a:p>
                  </a:txBody>
                  <a:tcPr/>
                </a:tc>
                <a:extLst>
                  <a:ext uri="{0D108BD9-81ED-4DB2-BD59-A6C34878D82A}">
                    <a16:rowId xmlns:a16="http://schemas.microsoft.com/office/drawing/2014/main" val="855841440"/>
                  </a:ext>
                </a:extLst>
              </a:tr>
              <a:tr h="725871">
                <a:tc>
                  <a:txBody>
                    <a:bodyPr/>
                    <a:lstStyle/>
                    <a:p>
                      <a:pPr>
                        <a:defRPr>
                          <a:latin typeface="Ubuntu"/>
                          <a:ea typeface="Ubuntu"/>
                          <a:cs typeface="Ubuntu"/>
                        </a:defRPr>
                      </a:pPr>
                      <a:r>
                        <a:rPr lang="en-US" sz="2800" dirty="0">
                          <a:latin typeface="Ubuntu" panose="02020603050405020304" pitchFamily="18" charset="0"/>
                          <a:cs typeface="Ubuntu" panose="02020603050405020304" pitchFamily="18" charset="0"/>
                        </a:rPr>
                        <a:t>Sensor</a:t>
                      </a:r>
                    </a:p>
                  </a:txBody>
                  <a:tcPr/>
                </a:tc>
                <a:tc>
                  <a:txBody>
                    <a:bodyPr/>
                    <a:lstStyle/>
                    <a:p>
                      <a:pPr>
                        <a:defRPr>
                          <a:latin typeface="Ubuntu"/>
                          <a:ea typeface="Ubuntu"/>
                          <a:cs typeface="Ubuntu"/>
                        </a:defRPr>
                      </a:pPr>
                      <a:r>
                        <a:rPr lang="en-US" sz="2800" dirty="0">
                          <a:latin typeface="Ubuntu" panose="02020603050405020304" pitchFamily="18" charset="0"/>
                          <a:cs typeface="Ubuntu" panose="02020603050405020304" pitchFamily="18" charset="0"/>
                        </a:rPr>
                        <a:t>OV2311 Monochromatic</a:t>
                      </a:r>
                    </a:p>
                  </a:txBody>
                  <a:tcPr/>
                </a:tc>
                <a:extLst>
                  <a:ext uri="{0D108BD9-81ED-4DB2-BD59-A6C34878D82A}">
                    <a16:rowId xmlns:a16="http://schemas.microsoft.com/office/drawing/2014/main" val="582559573"/>
                  </a:ext>
                </a:extLst>
              </a:tr>
              <a:tr h="8342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Ubuntu"/>
                          <a:ea typeface="Ubuntu"/>
                          <a:cs typeface="Ubuntu"/>
                        </a:defRPr>
                      </a:pPr>
                      <a:r>
                        <a:rPr lang="en-US" sz="2800" dirty="0">
                          <a:latin typeface="Ubuntu" panose="02020603050405020304" pitchFamily="18" charset="0"/>
                          <a:cs typeface="Ubuntu" panose="02020603050405020304" pitchFamily="18" charset="0"/>
                        </a:rPr>
                        <a:t>Camera Resolution</a:t>
                      </a:r>
                    </a:p>
                  </a:txBody>
                  <a:tcPr/>
                </a:tc>
                <a:tc>
                  <a:txBody>
                    <a:bodyPr/>
                    <a:lstStyle/>
                    <a:p>
                      <a:pPr>
                        <a:defRPr>
                          <a:latin typeface="Ubuntu"/>
                          <a:ea typeface="Ubuntu"/>
                          <a:cs typeface="Ubuntu"/>
                        </a:defRPr>
                      </a:pPr>
                      <a:r>
                        <a:rPr lang="en-US" sz="2800" dirty="0">
                          <a:latin typeface="Ubuntu" panose="02020603050405020304" pitchFamily="18" charset="0"/>
                          <a:cs typeface="Ubuntu" panose="02020603050405020304" pitchFamily="18" charset="0"/>
                        </a:rPr>
                        <a:t>2MP</a:t>
                      </a:r>
                    </a:p>
                  </a:txBody>
                  <a:tcPr/>
                </a:tc>
                <a:extLst>
                  <a:ext uri="{0D108BD9-81ED-4DB2-BD59-A6C34878D82A}">
                    <a16:rowId xmlns:a16="http://schemas.microsoft.com/office/drawing/2014/main" val="3945148256"/>
                  </a:ext>
                </a:extLst>
              </a:tr>
              <a:tr h="304800">
                <a:tc>
                  <a:txBody>
                    <a:bodyPr/>
                    <a:lstStyle/>
                    <a:p>
                      <a:pPr>
                        <a:defRPr>
                          <a:latin typeface="Ubuntu"/>
                          <a:ea typeface="Ubuntu"/>
                          <a:cs typeface="Ubuntu"/>
                        </a:defRPr>
                      </a:pPr>
                      <a:r>
                        <a:rPr lang="en-US" sz="2800" dirty="0">
                          <a:latin typeface="Ubuntu" panose="02020603050405020304" pitchFamily="18" charset="0"/>
                          <a:cs typeface="Ubuntu" panose="02020603050405020304" pitchFamily="18" charset="0"/>
                        </a:rPr>
                        <a:t>FOV</a:t>
                      </a:r>
                    </a:p>
                  </a:txBody>
                  <a:tcPr/>
                </a:tc>
                <a:tc>
                  <a:txBody>
                    <a:bodyPr/>
                    <a:lstStyle/>
                    <a:p>
                      <a:pPr>
                        <a:defRPr>
                          <a:latin typeface="Ubuntu"/>
                          <a:ea typeface="Ubuntu"/>
                          <a:cs typeface="Ubuntu"/>
                        </a:defRPr>
                      </a:pPr>
                      <a:r>
                        <a:rPr lang="en-US" sz="2800" dirty="0">
                          <a:latin typeface="Ubuntu" panose="02020603050405020304" pitchFamily="18" charset="0"/>
                          <a:cs typeface="Ubuntu" panose="02020603050405020304" pitchFamily="18" charset="0"/>
                        </a:rPr>
                        <a:t>83º (H)</a:t>
                      </a:r>
                    </a:p>
                  </a:txBody>
                  <a:tcPr/>
                </a:tc>
                <a:extLst>
                  <a:ext uri="{0D108BD9-81ED-4DB2-BD59-A6C34878D82A}">
                    <a16:rowId xmlns:a16="http://schemas.microsoft.com/office/drawing/2014/main" val="86573035"/>
                  </a:ext>
                </a:extLst>
              </a:tr>
              <a:tr h="320040">
                <a:tc>
                  <a:txBody>
                    <a:bodyPr/>
                    <a:lstStyle/>
                    <a:p>
                      <a:pPr>
                        <a:defRPr>
                          <a:latin typeface="Ubuntu"/>
                          <a:ea typeface="Ubuntu"/>
                          <a:cs typeface="Ubuntu"/>
                        </a:defRPr>
                      </a:pPr>
                      <a:r>
                        <a:rPr lang="en-US" sz="2800" dirty="0">
                          <a:latin typeface="Ubuntu" panose="02020603050405020304" pitchFamily="18" charset="0"/>
                          <a:cs typeface="Ubuntu" panose="02020603050405020304" pitchFamily="18" charset="0"/>
                        </a:rPr>
                        <a:t>Ground Swath</a:t>
                      </a:r>
                    </a:p>
                  </a:txBody>
                  <a:tcPr/>
                </a:tc>
                <a:tc>
                  <a:txBody>
                    <a:bodyPr/>
                    <a:lstStyle/>
                    <a:p>
                      <a:pPr>
                        <a:defRPr>
                          <a:latin typeface="Ubuntu"/>
                          <a:ea typeface="Ubuntu"/>
                          <a:cs typeface="Ubuntu"/>
                        </a:defRPr>
                      </a:pPr>
                      <a:r>
                        <a:rPr lang="en-US" sz="2800" dirty="0">
                          <a:latin typeface="Ubuntu" panose="02020603050405020304" pitchFamily="18" charset="0"/>
                          <a:cs typeface="Ubuntu" panose="02020603050405020304" pitchFamily="18" charset="0"/>
                        </a:rPr>
                        <a:t>255x203km @ 400km attitude</a:t>
                      </a:r>
                    </a:p>
                  </a:txBody>
                  <a:tcPr/>
                </a:tc>
                <a:extLst>
                  <a:ext uri="{0D108BD9-81ED-4DB2-BD59-A6C34878D82A}">
                    <a16:rowId xmlns:a16="http://schemas.microsoft.com/office/drawing/2014/main" val="3245093097"/>
                  </a:ext>
                </a:extLst>
              </a:tr>
              <a:tr h="725871">
                <a:tc>
                  <a:txBody>
                    <a:bodyPr/>
                    <a:lstStyle/>
                    <a:p>
                      <a:pPr>
                        <a:defRPr>
                          <a:latin typeface="Ubuntu"/>
                          <a:ea typeface="Ubuntu"/>
                          <a:cs typeface="Ubuntu"/>
                        </a:defRPr>
                      </a:pPr>
                      <a:r>
                        <a:rPr lang="en-US" sz="2800" dirty="0">
                          <a:latin typeface="Ubuntu" panose="02020603050405020304" pitchFamily="18" charset="0"/>
                          <a:cs typeface="Ubuntu" panose="02020603050405020304" pitchFamily="18" charset="0"/>
                        </a:rPr>
                        <a:t>Ground Resolution </a:t>
                      </a:r>
                    </a:p>
                  </a:txBody>
                  <a:tcPr/>
                </a:tc>
                <a:tc>
                  <a:txBody>
                    <a:bodyPr/>
                    <a:lstStyle/>
                    <a:p>
                      <a:pPr>
                        <a:defRPr>
                          <a:latin typeface="Ubuntu"/>
                          <a:ea typeface="Ubuntu"/>
                          <a:cs typeface="Ubuntu"/>
                        </a:defRPr>
                      </a:pPr>
                      <a:r>
                        <a:rPr lang="en-US" sz="2800" dirty="0">
                          <a:latin typeface="Ubuntu" panose="02020603050405020304" pitchFamily="18" charset="0"/>
                          <a:cs typeface="Ubuntu" panose="02020603050405020304" pitchFamily="18" charset="0"/>
                        </a:rPr>
                        <a:t>100m @ 400km attitude</a:t>
                      </a:r>
                    </a:p>
                  </a:txBody>
                  <a:tcPr/>
                </a:tc>
                <a:extLst>
                  <a:ext uri="{0D108BD9-81ED-4DB2-BD59-A6C34878D82A}">
                    <a16:rowId xmlns:a16="http://schemas.microsoft.com/office/drawing/2014/main" val="1052759972"/>
                  </a:ext>
                </a:extLst>
              </a:tr>
            </a:tbl>
          </a:graphicData>
        </a:graphic>
      </p:graphicFrame>
      <p:pic>
        <p:nvPicPr>
          <p:cNvPr id="17" name="Picture 16">
            <a:extLst>
              <a:ext uri="{FF2B5EF4-FFF2-40B4-BE49-F238E27FC236}">
                <a16:creationId xmlns:a16="http://schemas.microsoft.com/office/drawing/2014/main" id="{CF3BFC93-9568-4D0A-922B-441AED17E09C}"/>
              </a:ext>
            </a:extLst>
          </p:cNvPr>
          <p:cNvPicPr>
            <a:picLocks noChangeAspect="1"/>
          </p:cNvPicPr>
          <p:nvPr/>
        </p:nvPicPr>
        <p:blipFill rotWithShape="1">
          <a:blip r:embed="rId2"/>
          <a:srcRect l="13334" t="29316" r="8749" b="20000"/>
          <a:stretch/>
        </p:blipFill>
        <p:spPr>
          <a:xfrm>
            <a:off x="8732397" y="1371600"/>
            <a:ext cx="3438582" cy="2982310"/>
          </a:xfrm>
          <a:prstGeom prst="rect">
            <a:avLst/>
          </a:prstGeom>
        </p:spPr>
      </p:pic>
      <p:sp>
        <p:nvSpPr>
          <p:cNvPr id="3" name="Slide Number Placeholder 7">
            <a:extLst>
              <a:ext uri="{FF2B5EF4-FFF2-40B4-BE49-F238E27FC236}">
                <a16:creationId xmlns:a16="http://schemas.microsoft.com/office/drawing/2014/main" id="{85A21D8B-E340-7093-EB5B-41E4F4C2B38F}"/>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21</a:t>
            </a:fld>
            <a:endParaRPr lang="en-US" sz="4800" b="1" dirty="0">
              <a:solidFill>
                <a:srgbClr val="FF0000"/>
              </a:solidFill>
            </a:endParaRPr>
          </a:p>
        </p:txBody>
      </p:sp>
      <p:pic>
        <p:nvPicPr>
          <p:cNvPr id="18" name="Space Faculty logo" descr="sf_logo.png"/>
          <p:cNvPicPr>
            <a:picLocks noChangeAspect="1"/>
          </p:cNvPicPr>
          <p:nvPr/>
        </p:nvPicPr>
        <p:blipFill>
          <a:blip r:embed="rId3"/>
          <a:stretch>
            <a:fillRect/>
          </a:stretch>
        </p:blipFill>
        <p:spPr>
          <a:xfrm>
            <a:off x="10411458" y="54864"/>
            <a:ext cx="1667765" cy="473946"/>
          </a:xfrm>
          <a:prstGeom prst="rect">
            <a:avLst/>
          </a:prstGeom>
        </p:spPr>
      </p:pic>
    </p:spTree>
    <p:extLst>
      <p:ext uri="{BB962C8B-B14F-4D97-AF65-F5344CB8AC3E}">
        <p14:creationId xmlns:p14="http://schemas.microsoft.com/office/powerpoint/2010/main" val="789370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p:cNvSpPr/>
          <p:nvPr/>
        </p:nvSpPr>
        <p:spPr>
          <a:xfrm>
            <a:off x="974795" y="964205"/>
            <a:ext cx="11206695" cy="92523"/>
          </a:xfrm>
          <a:prstGeom prst="rect">
            <a:avLst/>
          </a:prstGeom>
          <a:gradFill flip="none" rotWithShape="1">
            <a:gsLst>
              <a:gs pos="0">
                <a:schemeClr val="accent5">
                  <a:lumMod val="75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kumimoji="1" lang="ja-JP" altLang="en-US"/>
          </a:p>
        </p:txBody>
      </p:sp>
      <p:sp>
        <p:nvSpPr>
          <p:cNvPr id="11" name="Title 2">
            <a:extLst>
              <a:ext uri="{FF2B5EF4-FFF2-40B4-BE49-F238E27FC236}">
                <a16:creationId xmlns:a16="http://schemas.microsoft.com/office/drawing/2014/main" id="{C28CC5FE-F812-44CD-9FFF-69391F0F3BB6}"/>
              </a:ext>
            </a:extLst>
          </p:cNvPr>
          <p:cNvSpPr>
            <a:spLocks noGrp="1"/>
          </p:cNvSpPr>
          <p:nvPr>
            <p:ph type="title"/>
          </p:nvPr>
        </p:nvSpPr>
        <p:spPr>
          <a:xfrm>
            <a:off x="4167176" y="186412"/>
            <a:ext cx="5943834" cy="635563"/>
          </a:xfrm>
        </p:spPr>
        <p:txBody>
          <a:bodyPr>
            <a:noAutofit/>
          </a:bodyPr>
          <a:lstStyle/>
          <a:p>
            <a:pPr>
              <a:defRPr>
                <a:latin typeface="House Movements Runway"/>
                <a:ea typeface="House Movements Runway"/>
                <a:cs typeface="House Movements Runway"/>
              </a:defRPr>
            </a:pPr>
            <a:r>
              <a:rPr lang="en-US" sz="4400" b="1" dirty="0">
                <a:latin typeface="House Movements Runway" panose="02020603050405020304" pitchFamily="18" charset="0"/>
                <a:cs typeface="House Movements Runway" panose="02020603050405020304" pitchFamily="18" charset="0"/>
              </a:rPr>
              <a:t>Camera Block Diagram</a:t>
            </a:r>
          </a:p>
        </p:txBody>
      </p:sp>
      <p:pic>
        <p:nvPicPr>
          <p:cNvPr id="3" name="Picture 2" descr="Diagram, schematic&#10;&#10;Description automatically generated">
            <a:extLst>
              <a:ext uri="{FF2B5EF4-FFF2-40B4-BE49-F238E27FC236}">
                <a16:creationId xmlns:a16="http://schemas.microsoft.com/office/drawing/2014/main" id="{A2E3BA35-4A82-49BC-952F-03A4F3A1DB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3446" y="1207092"/>
            <a:ext cx="9753600" cy="5482889"/>
          </a:xfrm>
          <a:prstGeom prst="rect">
            <a:avLst/>
          </a:prstGeom>
        </p:spPr>
      </p:pic>
      <p:sp>
        <p:nvSpPr>
          <p:cNvPr id="4" name="Slide Number Placeholder 7">
            <a:extLst>
              <a:ext uri="{FF2B5EF4-FFF2-40B4-BE49-F238E27FC236}">
                <a16:creationId xmlns:a16="http://schemas.microsoft.com/office/drawing/2014/main" id="{1BF8FB50-2481-7283-D96C-43363ADDDD77}"/>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22</a:t>
            </a:fld>
            <a:endParaRPr lang="en-US" sz="4800" b="1" dirty="0">
              <a:solidFill>
                <a:srgbClr val="FF0000"/>
              </a:solidFill>
            </a:endParaRPr>
          </a:p>
        </p:txBody>
      </p:sp>
      <p:pic>
        <p:nvPicPr>
          <p:cNvPr id="12" name="Space Faculty logo" descr="sf_logo.png"/>
          <p:cNvPicPr>
            <a:picLocks noChangeAspect="1"/>
          </p:cNvPicPr>
          <p:nvPr/>
        </p:nvPicPr>
        <p:blipFill>
          <a:blip r:embed="rId3"/>
          <a:stretch>
            <a:fillRect/>
          </a:stretch>
        </p:blipFill>
        <p:spPr>
          <a:xfrm>
            <a:off x="10644064" y="54864"/>
            <a:ext cx="1435159" cy="407844"/>
          </a:xfrm>
          <a:prstGeom prst="rect">
            <a:avLst/>
          </a:prstGeom>
        </p:spPr>
      </p:pic>
    </p:spTree>
    <p:extLst>
      <p:ext uri="{BB962C8B-B14F-4D97-AF65-F5344CB8AC3E}">
        <p14:creationId xmlns:p14="http://schemas.microsoft.com/office/powerpoint/2010/main" val="3855265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p:cNvSpPr/>
          <p:nvPr/>
        </p:nvSpPr>
        <p:spPr>
          <a:xfrm>
            <a:off x="1524000" y="908720"/>
            <a:ext cx="9144000" cy="108000"/>
          </a:xfrm>
          <a:prstGeom prst="rect">
            <a:avLst/>
          </a:prstGeom>
          <a:gradFill flip="none" rotWithShape="1">
            <a:gsLst>
              <a:gs pos="0">
                <a:schemeClr val="accent5">
                  <a:lumMod val="75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kumimoji="1" lang="ja-JP" altLang="en-US"/>
          </a:p>
        </p:txBody>
      </p:sp>
      <p:sp>
        <p:nvSpPr>
          <p:cNvPr id="11" name="Title 2">
            <a:extLst>
              <a:ext uri="{FF2B5EF4-FFF2-40B4-BE49-F238E27FC236}">
                <a16:creationId xmlns:a16="http://schemas.microsoft.com/office/drawing/2014/main" id="{C28CC5FE-F812-44CD-9FFF-69391F0F3BB6}"/>
              </a:ext>
            </a:extLst>
          </p:cNvPr>
          <p:cNvSpPr>
            <a:spLocks noGrp="1"/>
          </p:cNvSpPr>
          <p:nvPr>
            <p:ph type="title"/>
          </p:nvPr>
        </p:nvSpPr>
        <p:spPr>
          <a:xfrm>
            <a:off x="3954554" y="117346"/>
            <a:ext cx="5345467" cy="635563"/>
          </a:xfrm>
        </p:spPr>
        <p:txBody>
          <a:bodyPr>
            <a:noAutofit/>
          </a:bodyPr>
          <a:lstStyle/>
          <a:p>
            <a:pPr>
              <a:defRPr>
                <a:latin typeface="House Movements Runway"/>
                <a:ea typeface="House Movements Runway"/>
                <a:cs typeface="House Movements Runway"/>
              </a:defRPr>
            </a:pPr>
            <a:r>
              <a:rPr lang="en-US" sz="4400" b="1" dirty="0">
                <a:latin typeface="House Movements Runway" panose="02020603050405020304" pitchFamily="18" charset="0"/>
                <a:cs typeface="House Movements Runway" panose="02020603050405020304" pitchFamily="18" charset="0"/>
              </a:rPr>
              <a:t>Camera Hardware</a:t>
            </a:r>
          </a:p>
        </p:txBody>
      </p:sp>
      <p:grpSp>
        <p:nvGrpSpPr>
          <p:cNvPr id="2" name="Group 1">
            <a:extLst>
              <a:ext uri="{FF2B5EF4-FFF2-40B4-BE49-F238E27FC236}">
                <a16:creationId xmlns:a16="http://schemas.microsoft.com/office/drawing/2014/main" id="{75154F62-CC47-7237-8966-B01FAB1A787B}"/>
              </a:ext>
            </a:extLst>
          </p:cNvPr>
          <p:cNvGrpSpPr/>
          <p:nvPr/>
        </p:nvGrpSpPr>
        <p:grpSpPr>
          <a:xfrm>
            <a:off x="251851" y="693295"/>
            <a:ext cx="11787748" cy="6138316"/>
            <a:chOff x="251851" y="706554"/>
            <a:chExt cx="8630230" cy="5815603"/>
          </a:xfrm>
        </p:grpSpPr>
        <p:grpSp>
          <p:nvGrpSpPr>
            <p:cNvPr id="24" name="Group 23">
              <a:extLst>
                <a:ext uri="{FF2B5EF4-FFF2-40B4-BE49-F238E27FC236}">
                  <a16:creationId xmlns:a16="http://schemas.microsoft.com/office/drawing/2014/main" id="{E6A3DD45-0C3D-4581-9ED0-4BFE41A78CC9}"/>
                </a:ext>
              </a:extLst>
            </p:cNvPr>
            <p:cNvGrpSpPr/>
            <p:nvPr/>
          </p:nvGrpSpPr>
          <p:grpSpPr>
            <a:xfrm>
              <a:off x="560400" y="1845914"/>
              <a:ext cx="7388648" cy="3955453"/>
              <a:chOff x="763571" y="1458505"/>
              <a:chExt cx="7388648" cy="3955453"/>
            </a:xfrm>
          </p:grpSpPr>
          <p:pic>
            <p:nvPicPr>
              <p:cNvPr id="4" name="Picture 3" descr="A picture containing electronics, circuit&#10;&#10;Description automatically generated">
                <a:extLst>
                  <a:ext uri="{FF2B5EF4-FFF2-40B4-BE49-F238E27FC236}">
                    <a16:creationId xmlns:a16="http://schemas.microsoft.com/office/drawing/2014/main" id="{B07858FD-757C-4CC8-BB7F-BFD91C07D320}"/>
                  </a:ext>
                </a:extLst>
              </p:cNvPr>
              <p:cNvPicPr>
                <a:picLocks noChangeAspect="1"/>
              </p:cNvPicPr>
              <p:nvPr/>
            </p:nvPicPr>
            <p:blipFill rotWithShape="1">
              <a:blip r:embed="rId2">
                <a:extLst>
                  <a:ext uri="{28A0092B-C50C-407E-A947-70E740481C1C}">
                    <a14:useLocalDpi xmlns:a14="http://schemas.microsoft.com/office/drawing/2010/main" val="0"/>
                  </a:ext>
                </a:extLst>
              </a:blip>
              <a:srcRect l="7413" t="12838" r="11766" b="29485"/>
              <a:stretch/>
            </p:blipFill>
            <p:spPr>
              <a:xfrm>
                <a:off x="763571" y="1458505"/>
                <a:ext cx="7388648" cy="3955453"/>
              </a:xfrm>
              <a:prstGeom prst="rect">
                <a:avLst/>
              </a:prstGeom>
            </p:spPr>
          </p:pic>
          <p:sp>
            <p:nvSpPr>
              <p:cNvPr id="7" name="Rectangle 6">
                <a:extLst>
                  <a:ext uri="{FF2B5EF4-FFF2-40B4-BE49-F238E27FC236}">
                    <a16:creationId xmlns:a16="http://schemas.microsoft.com/office/drawing/2014/main" id="{4420B2C1-5B44-4354-A828-4DDD3C4E43C2}"/>
                  </a:ext>
                </a:extLst>
              </p:cNvPr>
              <p:cNvSpPr/>
              <p:nvPr/>
            </p:nvSpPr>
            <p:spPr>
              <a:xfrm rot="21389338">
                <a:off x="1616451" y="3779717"/>
                <a:ext cx="2479741" cy="1009531"/>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sz="2400">
                  <a:solidFill>
                    <a:srgbClr val="FFFF00"/>
                  </a:solidFill>
                  <a:latin typeface="Times New Roman" panose="02020603050405020304" pitchFamily="18" charset="0"/>
                  <a:cs typeface="Times New Roman" panose="02020603050405020304" pitchFamily="18" charset="0"/>
                </a:endParaRPr>
              </a:p>
            </p:txBody>
          </p:sp>
        </p:grpSp>
        <p:cxnSp>
          <p:nvCxnSpPr>
            <p:cNvPr id="30" name="Straight Arrow Connector 29">
              <a:extLst>
                <a:ext uri="{FF2B5EF4-FFF2-40B4-BE49-F238E27FC236}">
                  <a16:creationId xmlns:a16="http://schemas.microsoft.com/office/drawing/2014/main" id="{E5F00ED9-D092-4477-B65C-BD0D3F6ADB33}"/>
                </a:ext>
              </a:extLst>
            </p:cNvPr>
            <p:cNvCxnSpPr>
              <a:cxnSpLocks/>
            </p:cNvCxnSpPr>
            <p:nvPr/>
          </p:nvCxnSpPr>
          <p:spPr>
            <a:xfrm flipH="1" flipV="1">
              <a:off x="6762608" y="3306822"/>
              <a:ext cx="361608" cy="2550605"/>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E771FE6-9C94-4713-9319-BA747730962A}"/>
                </a:ext>
              </a:extLst>
            </p:cNvPr>
            <p:cNvCxnSpPr>
              <a:cxnSpLocks/>
            </p:cNvCxnSpPr>
            <p:nvPr/>
          </p:nvCxnSpPr>
          <p:spPr>
            <a:xfrm flipH="1" flipV="1">
              <a:off x="5601771" y="3414822"/>
              <a:ext cx="513597" cy="2442605"/>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E9D2319-78FF-491B-A7EE-09A1A838A724}"/>
                </a:ext>
              </a:extLst>
            </p:cNvPr>
            <p:cNvSpPr txBox="1"/>
            <p:nvPr/>
          </p:nvSpPr>
          <p:spPr>
            <a:xfrm>
              <a:off x="5705906" y="5803504"/>
              <a:ext cx="1008669" cy="437394"/>
            </a:xfrm>
            <a:prstGeom prst="rect">
              <a:avLst/>
            </a:prstGeom>
            <a:noFill/>
          </p:spPr>
          <p:txBody>
            <a:bodyPr wrap="square">
              <a:spAutoFit/>
            </a:bodyPr>
            <a:lstStyle/>
            <a:p>
              <a:pPr>
                <a:defRPr>
                  <a:latin typeface="Ubuntu"/>
                  <a:ea typeface="Ubuntu"/>
                  <a:cs typeface="Ubuntu"/>
                </a:defRPr>
              </a:pPr>
              <a:r>
                <a:rPr lang="en-US" sz="2400" dirty="0">
                  <a:latin typeface="Ubuntu" panose="02020603050405020304" pitchFamily="18" charset="0"/>
                  <a:cs typeface="Ubuntu" panose="02020603050405020304" pitchFamily="18" charset="0"/>
                </a:rPr>
                <a:t>CAM1</a:t>
              </a:r>
            </a:p>
          </p:txBody>
        </p:sp>
        <p:sp>
          <p:nvSpPr>
            <p:cNvPr id="43" name="TextBox 42">
              <a:extLst>
                <a:ext uri="{FF2B5EF4-FFF2-40B4-BE49-F238E27FC236}">
                  <a16:creationId xmlns:a16="http://schemas.microsoft.com/office/drawing/2014/main" id="{07C981DC-DA57-43DE-BDEF-D3E3422E9786}"/>
                </a:ext>
              </a:extLst>
            </p:cNvPr>
            <p:cNvSpPr txBox="1"/>
            <p:nvPr/>
          </p:nvSpPr>
          <p:spPr>
            <a:xfrm>
              <a:off x="6791853" y="5857427"/>
              <a:ext cx="1008669" cy="437394"/>
            </a:xfrm>
            <a:prstGeom prst="rect">
              <a:avLst/>
            </a:prstGeom>
            <a:noFill/>
          </p:spPr>
          <p:txBody>
            <a:bodyPr wrap="square">
              <a:spAutoFit/>
            </a:bodyPr>
            <a:lstStyle/>
            <a:p>
              <a:pPr>
                <a:defRPr>
                  <a:latin typeface="Ubuntu"/>
                  <a:ea typeface="Ubuntu"/>
                  <a:cs typeface="Ubuntu"/>
                </a:defRPr>
              </a:pPr>
              <a:r>
                <a:rPr lang="en-US" sz="2400" dirty="0">
                  <a:latin typeface="Ubuntu" panose="02020603050405020304" pitchFamily="18" charset="0"/>
                  <a:cs typeface="Ubuntu" panose="02020603050405020304" pitchFamily="18" charset="0"/>
                </a:rPr>
                <a:t>CAM2</a:t>
              </a:r>
            </a:p>
          </p:txBody>
        </p:sp>
        <p:cxnSp>
          <p:nvCxnSpPr>
            <p:cNvPr id="44" name="Straight Arrow Connector 43">
              <a:extLst>
                <a:ext uri="{FF2B5EF4-FFF2-40B4-BE49-F238E27FC236}">
                  <a16:creationId xmlns:a16="http://schemas.microsoft.com/office/drawing/2014/main" id="{294FFCFA-DBC7-4B35-BBEC-22981CE253A4}"/>
                </a:ext>
              </a:extLst>
            </p:cNvPr>
            <p:cNvCxnSpPr>
              <a:cxnSpLocks/>
            </p:cNvCxnSpPr>
            <p:nvPr/>
          </p:nvCxnSpPr>
          <p:spPr>
            <a:xfrm>
              <a:off x="1778749" y="1807360"/>
              <a:ext cx="754266" cy="2852892"/>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5D7DAACB-7FB9-4DC1-9FCA-320BA6FF58CE}"/>
                </a:ext>
              </a:extLst>
            </p:cNvPr>
            <p:cNvCxnSpPr>
              <a:cxnSpLocks/>
            </p:cNvCxnSpPr>
            <p:nvPr/>
          </p:nvCxnSpPr>
          <p:spPr>
            <a:xfrm flipV="1">
              <a:off x="690921" y="4715193"/>
              <a:ext cx="627730" cy="1366845"/>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EDAF04A3-40AE-4A9A-9C8E-708537A364E2}"/>
                </a:ext>
              </a:extLst>
            </p:cNvPr>
            <p:cNvSpPr txBox="1"/>
            <p:nvPr/>
          </p:nvSpPr>
          <p:spPr>
            <a:xfrm>
              <a:off x="560400" y="1042849"/>
              <a:ext cx="3380699" cy="787308"/>
            </a:xfrm>
            <a:prstGeom prst="rect">
              <a:avLst/>
            </a:prstGeom>
            <a:noFill/>
          </p:spPr>
          <p:txBody>
            <a:bodyPr wrap="square">
              <a:spAutoFit/>
            </a:bodyPr>
            <a:lstStyle/>
            <a:p>
              <a:pPr algn="l">
                <a:defRPr>
                  <a:latin typeface="Space Mono"/>
                  <a:ea typeface="Space Mono"/>
                  <a:cs typeface="Space Mono"/>
                </a:defRPr>
              </a:pPr>
              <a:r>
                <a:rPr lang="en-US" sz="2400" dirty="0" err="1">
                  <a:solidFill>
                    <a:srgbClr val="333333"/>
                  </a:solidFill>
                  <a:latin typeface="Space Mono" panose="02020603050405020304" pitchFamily="18" charset="0"/>
                  <a:cs typeface="Space Mono" panose="02020603050405020304" pitchFamily="18" charset="0"/>
                </a:rPr>
                <a:t>RasPI</a:t>
              </a:r>
              <a:r>
                <a:rPr lang="en-US" sz="2400" dirty="0">
                  <a:solidFill>
                    <a:srgbClr val="333333"/>
                  </a:solidFill>
                  <a:latin typeface="Space Mono" panose="02020603050405020304" pitchFamily="18" charset="0"/>
                  <a:cs typeface="Space Mono" panose="02020603050405020304" pitchFamily="18" charset="0"/>
                </a:rPr>
                <a:t> zero W</a:t>
              </a:r>
            </a:p>
            <a:p>
              <a:pPr algn="l">
                <a:defRPr>
                  <a:latin typeface="Space Mono"/>
                  <a:ea typeface="Space Mono"/>
                  <a:cs typeface="Space Mono"/>
                </a:defRPr>
              </a:pPr>
              <a:r>
                <a:rPr lang="en-US" sz="2400" dirty="0">
                  <a:solidFill>
                    <a:srgbClr val="333333"/>
                  </a:solidFill>
                  <a:latin typeface="Space Mono" panose="02020603050405020304" pitchFamily="18" charset="0"/>
                  <a:cs typeface="Space Mono" panose="02020603050405020304" pitchFamily="18" charset="0"/>
                </a:rPr>
                <a:t>Memory: 512MB RAM</a:t>
              </a:r>
            </a:p>
          </p:txBody>
        </p:sp>
        <p:sp>
          <p:nvSpPr>
            <p:cNvPr id="56" name="TextBox 55">
              <a:extLst>
                <a:ext uri="{FF2B5EF4-FFF2-40B4-BE49-F238E27FC236}">
                  <a16:creationId xmlns:a16="http://schemas.microsoft.com/office/drawing/2014/main" id="{21D54955-678F-4728-8A2A-508143C80E43}"/>
                </a:ext>
              </a:extLst>
            </p:cNvPr>
            <p:cNvSpPr txBox="1"/>
            <p:nvPr/>
          </p:nvSpPr>
          <p:spPr>
            <a:xfrm>
              <a:off x="5710512" y="6082038"/>
              <a:ext cx="2563651" cy="437394"/>
            </a:xfrm>
            <a:prstGeom prst="rect">
              <a:avLst/>
            </a:prstGeom>
            <a:noFill/>
          </p:spPr>
          <p:txBody>
            <a:bodyPr wrap="square">
              <a:spAutoFit/>
            </a:bodyPr>
            <a:lstStyle/>
            <a:p>
              <a:pPr>
                <a:defRPr>
                  <a:latin typeface="Ubuntu"/>
                  <a:ea typeface="Ubuntu"/>
                  <a:cs typeface="Ubuntu"/>
                </a:defRPr>
              </a:pPr>
              <a:r>
                <a:rPr lang="en-US" sz="2400" dirty="0">
                  <a:latin typeface="Ubuntu" panose="02020603050405020304" pitchFamily="18" charset="0"/>
                  <a:cs typeface="Ubuntu" panose="02020603050405020304" pitchFamily="18" charset="0"/>
                </a:rPr>
                <a:t>OV2311 Monochromatic</a:t>
              </a:r>
            </a:p>
          </p:txBody>
        </p:sp>
        <p:sp>
          <p:nvSpPr>
            <p:cNvPr id="58" name="TextBox 57">
              <a:extLst>
                <a:ext uri="{FF2B5EF4-FFF2-40B4-BE49-F238E27FC236}">
                  <a16:creationId xmlns:a16="http://schemas.microsoft.com/office/drawing/2014/main" id="{754BD8AF-BA3D-4A66-98EA-C487FBC42AF8}"/>
                </a:ext>
              </a:extLst>
            </p:cNvPr>
            <p:cNvSpPr txBox="1"/>
            <p:nvPr/>
          </p:nvSpPr>
          <p:spPr>
            <a:xfrm>
              <a:off x="4701624" y="706554"/>
              <a:ext cx="4180457" cy="1137223"/>
            </a:xfrm>
            <a:prstGeom prst="rect">
              <a:avLst/>
            </a:prstGeom>
            <a:noFill/>
          </p:spPr>
          <p:txBody>
            <a:bodyPr wrap="square">
              <a:spAutoFit/>
            </a:bodyPr>
            <a:lstStyle/>
            <a:p>
              <a:pPr>
                <a:defRPr>
                  <a:latin typeface="Ubuntu"/>
                  <a:ea typeface="Ubuntu"/>
                  <a:cs typeface="Ubuntu"/>
                </a:defRPr>
              </a:pPr>
              <a:r>
                <a:rPr lang="en-US" sz="2400" dirty="0">
                  <a:latin typeface="Ubuntu" panose="02020603050405020304" pitchFamily="18" charset="0"/>
                  <a:cs typeface="Ubuntu" panose="02020603050405020304" pitchFamily="18" charset="0"/>
                </a:rPr>
                <a:t>Lens Focal Length = 8mm </a:t>
              </a:r>
              <a:endParaRPr lang="en-US" sz="2400" dirty="0">
                <a:highlight>
                  <a:srgbClr val="FFFF00"/>
                </a:highlight>
                <a:latin typeface="Times New Roman" panose="02020603050405020304" pitchFamily="18" charset="0"/>
                <a:cs typeface="Times New Roman" panose="02020603050405020304" pitchFamily="18" charset="0"/>
              </a:endParaRPr>
            </a:p>
            <a:p>
              <a:pPr>
                <a:buClr>
                  <a:srgbClr val="00B050"/>
                </a:buClr>
                <a:buFont typeface="Wingdings" panose="05000000000000000000" pitchFamily="2" charset="2"/>
                <a:buChar char="ü"/>
                <a:defRPr>
                  <a:latin typeface="Ubuntu"/>
                  <a:ea typeface="Ubuntu"/>
                  <a:cs typeface="Ubuntu"/>
                </a:defRPr>
              </a:pPr>
              <a:r>
                <a:rPr lang="en-US" sz="2400" dirty="0">
                  <a:latin typeface="Ubuntu" panose="02020603050405020304" pitchFamily="18" charset="0"/>
                  <a:cs typeface="Ubuntu" panose="02020603050405020304" pitchFamily="18" charset="0"/>
                </a:rPr>
                <a:t>Ground Resolution of less than </a:t>
              </a:r>
              <a:r>
                <a:rPr lang="en-US" sz="2400" dirty="0">
                  <a:solidFill>
                    <a:srgbClr val="FF0000"/>
                  </a:solidFill>
                  <a:latin typeface="Ubuntu" panose="02020603050405020304" pitchFamily="18" charset="0"/>
                  <a:cs typeface="Ubuntu" panose="02020603050405020304" pitchFamily="18" charset="0"/>
                </a:rPr>
                <a:t>100m</a:t>
              </a:r>
              <a:r>
                <a:rPr lang="en-US" sz="2400" dirty="0">
                  <a:latin typeface="Ubuntu" panose="02020603050405020304" pitchFamily="18" charset="0"/>
                  <a:cs typeface="Ubuntu" panose="02020603050405020304" pitchFamily="18" charset="0"/>
                </a:rPr>
                <a:t> </a:t>
              </a:r>
              <a:endParaRPr lang="en-US" sz="2400" dirty="0">
                <a:highlight>
                  <a:srgbClr val="FFFF00"/>
                </a:highlight>
                <a:latin typeface="Times New Roman" panose="02020603050405020304" pitchFamily="18" charset="0"/>
                <a:cs typeface="Times New Roman" panose="02020603050405020304" pitchFamily="18" charset="0"/>
              </a:endParaRPr>
            </a:p>
            <a:p>
              <a:pPr>
                <a:buClr>
                  <a:srgbClr val="00B050"/>
                </a:buClr>
                <a:buFont typeface="Wingdings" panose="05000000000000000000" pitchFamily="2" charset="2"/>
                <a:buChar char="ü"/>
                <a:defRPr>
                  <a:latin typeface="Ubuntu"/>
                  <a:ea typeface="Ubuntu"/>
                  <a:cs typeface="Ubuntu"/>
                </a:defRPr>
              </a:pPr>
              <a:r>
                <a:rPr lang="en-US" sz="2400" dirty="0">
                  <a:latin typeface="Ubuntu" panose="02020603050405020304" pitchFamily="18" charset="0"/>
                  <a:cs typeface="Ubuntu" panose="02020603050405020304" pitchFamily="18" charset="0"/>
                </a:rPr>
                <a:t>Ground Swath </a:t>
              </a:r>
              <a:r>
                <a:rPr lang="en-PH" sz="2400" dirty="0">
                  <a:solidFill>
                    <a:srgbClr val="FF0000"/>
                  </a:solidFill>
                  <a:latin typeface="Ubuntu" panose="02020603050405020304" pitchFamily="18" charset="0"/>
                  <a:cs typeface="Ubuntu" panose="02020603050405020304" pitchFamily="18" charset="0"/>
                </a:rPr>
                <a:t>255kmx203km @ 400km.</a:t>
              </a:r>
              <a:r>
                <a:rPr lang="en-PH" sz="2400" baseline="30000" dirty="0">
                  <a:solidFill>
                    <a:srgbClr val="FF0000"/>
                  </a:solidFill>
                  <a:latin typeface="Ubuntu" panose="02020603050405020304" pitchFamily="18" charset="0"/>
                  <a:cs typeface="Ubuntu" panose="02020603050405020304" pitchFamily="18" charset="0"/>
                </a:rPr>
                <a:t> </a:t>
              </a:r>
              <a:endParaRPr lang="en-PH" sz="2400" dirty="0">
                <a:solidFill>
                  <a:srgbClr val="FF0000"/>
                </a:solidFill>
                <a:latin typeface="Times New Roman" panose="02020603050405020304" pitchFamily="18" charset="0"/>
                <a:cs typeface="Times New Roman" panose="02020603050405020304" pitchFamily="18" charset="0"/>
              </a:endParaRPr>
            </a:p>
          </p:txBody>
        </p:sp>
        <p:cxnSp>
          <p:nvCxnSpPr>
            <p:cNvPr id="59" name="Straight Arrow Connector 58">
              <a:extLst>
                <a:ext uri="{FF2B5EF4-FFF2-40B4-BE49-F238E27FC236}">
                  <a16:creationId xmlns:a16="http://schemas.microsoft.com/office/drawing/2014/main" id="{D71330C1-1B4C-43DA-AB8D-0E1D0DDBFF95}"/>
                </a:ext>
              </a:extLst>
            </p:cNvPr>
            <p:cNvCxnSpPr>
              <a:cxnSpLocks/>
            </p:cNvCxnSpPr>
            <p:nvPr/>
          </p:nvCxnSpPr>
          <p:spPr>
            <a:xfrm>
              <a:off x="6478352" y="1741134"/>
              <a:ext cx="568512" cy="862568"/>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FF939DF-48B7-4AD7-9660-DE4BD9889014}"/>
                </a:ext>
              </a:extLst>
            </p:cNvPr>
            <p:cNvCxnSpPr>
              <a:cxnSpLocks/>
            </p:cNvCxnSpPr>
            <p:nvPr/>
          </p:nvCxnSpPr>
          <p:spPr>
            <a:xfrm flipH="1">
              <a:off x="5752383" y="1741135"/>
              <a:ext cx="725971" cy="856037"/>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16EB6B1E-4DFA-480B-86C4-CC80DA8F9AEA}"/>
                </a:ext>
              </a:extLst>
            </p:cNvPr>
            <p:cNvSpPr txBox="1"/>
            <p:nvPr/>
          </p:nvSpPr>
          <p:spPr>
            <a:xfrm>
              <a:off x="251851" y="5734849"/>
              <a:ext cx="2133600" cy="787308"/>
            </a:xfrm>
            <a:prstGeom prst="rect">
              <a:avLst/>
            </a:prstGeom>
            <a:noFill/>
          </p:spPr>
          <p:txBody>
            <a:bodyPr wrap="square">
              <a:spAutoFit/>
            </a:bodyPr>
            <a:lstStyle/>
            <a:p>
              <a:pPr algn="ctr">
                <a:buClr>
                  <a:srgbClr val="000000"/>
                </a:buClr>
                <a:buSzPts val="2000"/>
                <a:defRPr>
                  <a:latin typeface="Ubuntu"/>
                  <a:ea typeface="Ubuntu"/>
                  <a:cs typeface="Ubuntu"/>
                </a:defRPr>
              </a:pPr>
              <a:r>
                <a:rPr lang="en-US" sz="2400" dirty="0">
                  <a:solidFill>
                    <a:srgbClr val="000000"/>
                  </a:solidFill>
                  <a:latin typeface="Ubuntu" panose="02020603050405020304" pitchFamily="18" charset="0"/>
                  <a:ea typeface="Ubuntu"/>
                  <a:cs typeface="Ubuntu" panose="02020603050405020304" pitchFamily="18" charset="0"/>
                  <a:sym typeface="Times New Roman"/>
                </a:rPr>
                <a:t>µSD Card</a:t>
              </a:r>
              <a:endParaRPr lang="en-US" sz="2400" dirty="0">
                <a:solidFill>
                  <a:srgbClr val="000000"/>
                </a:solidFill>
                <a:latin typeface="Times New Roman" panose="02020603050405020304" pitchFamily="18" charset="0"/>
                <a:ea typeface="Arial"/>
                <a:cs typeface="Times New Roman" panose="02020603050405020304" pitchFamily="18" charset="0"/>
                <a:sym typeface="Arial"/>
              </a:endParaRPr>
            </a:p>
            <a:p>
              <a:pPr algn="ctr">
                <a:buClr>
                  <a:srgbClr val="000000"/>
                </a:buClr>
                <a:buSzPts val="2000"/>
                <a:defRPr>
                  <a:latin typeface="Ubuntu"/>
                  <a:ea typeface="Ubuntu"/>
                  <a:cs typeface="Ubuntu"/>
                </a:defRPr>
              </a:pPr>
              <a:r>
                <a:rPr lang="en-US" sz="2400" dirty="0">
                  <a:solidFill>
                    <a:srgbClr val="000000"/>
                  </a:solidFill>
                  <a:latin typeface="Ubuntu" panose="02020603050405020304" pitchFamily="18" charset="0"/>
                  <a:ea typeface="Ubuntu"/>
                  <a:cs typeface="Ubuntu" panose="02020603050405020304" pitchFamily="18" charset="0"/>
                  <a:sym typeface="Times New Roman"/>
                </a:rPr>
                <a:t>Kingston 64Gb</a:t>
              </a:r>
              <a:endParaRPr lang="en-US" sz="2400" dirty="0">
                <a:solidFill>
                  <a:srgbClr val="000000"/>
                </a:solidFill>
                <a:latin typeface="Times New Roman" panose="02020603050405020304" pitchFamily="18" charset="0"/>
                <a:ea typeface="Arial"/>
                <a:cs typeface="Times New Roman" panose="02020603050405020304" pitchFamily="18" charset="0"/>
                <a:sym typeface="Arial"/>
              </a:endParaRPr>
            </a:p>
          </p:txBody>
        </p:sp>
      </p:grpSp>
      <p:sp>
        <p:nvSpPr>
          <p:cNvPr id="5" name="Slide Number Placeholder 7">
            <a:extLst>
              <a:ext uri="{FF2B5EF4-FFF2-40B4-BE49-F238E27FC236}">
                <a16:creationId xmlns:a16="http://schemas.microsoft.com/office/drawing/2014/main" id="{C05309C3-A969-D3D9-2D84-1A7AC1519C8F}"/>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23</a:t>
            </a:fld>
            <a:endParaRPr lang="en-US" sz="4800" b="1" dirty="0">
              <a:solidFill>
                <a:srgbClr val="FF0000"/>
              </a:solidFill>
            </a:endParaRPr>
          </a:p>
        </p:txBody>
      </p:sp>
      <p:pic>
        <p:nvPicPr>
          <p:cNvPr id="71" name="Space Faculty logo" descr="sf_logo.png"/>
          <p:cNvPicPr>
            <a:picLocks noChangeAspect="1"/>
          </p:cNvPicPr>
          <p:nvPr/>
        </p:nvPicPr>
        <p:blipFill>
          <a:blip r:embed="rId3"/>
          <a:stretch>
            <a:fillRect/>
          </a:stretch>
        </p:blipFill>
        <p:spPr>
          <a:xfrm>
            <a:off x="10666892" y="54863"/>
            <a:ext cx="1412332" cy="401357"/>
          </a:xfrm>
          <a:prstGeom prst="rect">
            <a:avLst/>
          </a:prstGeom>
        </p:spPr>
      </p:pic>
    </p:spTree>
    <p:extLst>
      <p:ext uri="{BB962C8B-B14F-4D97-AF65-F5344CB8AC3E}">
        <p14:creationId xmlns:p14="http://schemas.microsoft.com/office/powerpoint/2010/main" val="4048633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16"/>
          <p:cNvSpPr txBox="1">
            <a:spLocks noGrp="1"/>
          </p:cNvSpPr>
          <p:nvPr>
            <p:ph type="title"/>
          </p:nvPr>
        </p:nvSpPr>
        <p:spPr>
          <a:xfrm>
            <a:off x="2152650" y="163959"/>
            <a:ext cx="7886700" cy="869314"/>
          </a:xfrm>
          <a:prstGeom prst="rect">
            <a:avLst/>
          </a:prstGeom>
          <a:noFill/>
          <a:ln>
            <a:noFill/>
          </a:ln>
        </p:spPr>
        <p:txBody>
          <a:bodyPr spcFirstLastPara="1" wrap="square" lIns="91425" tIns="45700" rIns="91425" bIns="45700" anchor="ctr" anchorCtr="0">
            <a:normAutofit/>
          </a:bodyPr>
          <a:lstStyle/>
          <a:p>
            <a:pPr rtl="0">
              <a:defRPr>
                <a:latin typeface="House Movements Runway"/>
                <a:ea typeface="House Movements Runway"/>
                <a:cs typeface="House Movements Runway"/>
              </a:defRPr>
            </a:pPr>
            <a:r>
              <a:rPr lang="en-US" sz="4000" b="1" dirty="0">
                <a:latin typeface="House Movements Runway" panose="020B0604020202020204" pitchFamily="34" charset="0"/>
                <a:cs typeface="House Movements Runway" panose="020B0604020202020204" pitchFamily="34" charset="0"/>
              </a:rPr>
              <a:t>Mission Modes - CAM</a:t>
            </a:r>
            <a:endParaRPr sz="4000" b="1" dirty="0">
              <a:latin typeface="Arial" panose="020B0604020202020204" pitchFamily="34" charset="0"/>
              <a:cs typeface="Arial" panose="020B0604020202020204" pitchFamily="34" charset="0"/>
            </a:endParaRPr>
          </a:p>
        </p:txBody>
      </p:sp>
      <p:graphicFrame>
        <p:nvGraphicFramePr>
          <p:cNvPr id="1135" name="Google Shape;1135;p16"/>
          <p:cNvGraphicFramePr/>
          <p:nvPr/>
        </p:nvGraphicFramePr>
        <p:xfrm>
          <a:off x="76200" y="1120135"/>
          <a:ext cx="11963399" cy="5573903"/>
        </p:xfrm>
        <a:graphic>
          <a:graphicData uri="http://schemas.openxmlformats.org/drawingml/2006/table">
            <a:tbl>
              <a:tblPr>
                <a:noFill/>
              </a:tblPr>
              <a:tblGrid>
                <a:gridCol w="1570575">
                  <a:extLst>
                    <a:ext uri="{9D8B030D-6E8A-4147-A177-3AD203B41FA5}">
                      <a16:colId xmlns:a16="http://schemas.microsoft.com/office/drawing/2014/main" val="20000"/>
                    </a:ext>
                  </a:extLst>
                </a:gridCol>
                <a:gridCol w="1785880">
                  <a:extLst>
                    <a:ext uri="{9D8B030D-6E8A-4147-A177-3AD203B41FA5}">
                      <a16:colId xmlns:a16="http://schemas.microsoft.com/office/drawing/2014/main" val="20001"/>
                    </a:ext>
                  </a:extLst>
                </a:gridCol>
                <a:gridCol w="1465672">
                  <a:extLst>
                    <a:ext uri="{9D8B030D-6E8A-4147-A177-3AD203B41FA5}">
                      <a16:colId xmlns:a16="http://schemas.microsoft.com/office/drawing/2014/main" val="20002"/>
                    </a:ext>
                  </a:extLst>
                </a:gridCol>
                <a:gridCol w="1465672">
                  <a:extLst>
                    <a:ext uri="{9D8B030D-6E8A-4147-A177-3AD203B41FA5}">
                      <a16:colId xmlns:a16="http://schemas.microsoft.com/office/drawing/2014/main" val="20003"/>
                    </a:ext>
                  </a:extLst>
                </a:gridCol>
                <a:gridCol w="1851531">
                  <a:extLst>
                    <a:ext uri="{9D8B030D-6E8A-4147-A177-3AD203B41FA5}">
                      <a16:colId xmlns:a16="http://schemas.microsoft.com/office/drawing/2014/main" val="20004"/>
                    </a:ext>
                  </a:extLst>
                </a:gridCol>
                <a:gridCol w="2266846">
                  <a:extLst>
                    <a:ext uri="{9D8B030D-6E8A-4147-A177-3AD203B41FA5}">
                      <a16:colId xmlns:a16="http://schemas.microsoft.com/office/drawing/2014/main" val="20005"/>
                    </a:ext>
                  </a:extLst>
                </a:gridCol>
                <a:gridCol w="1557223">
                  <a:extLst>
                    <a:ext uri="{9D8B030D-6E8A-4147-A177-3AD203B41FA5}">
                      <a16:colId xmlns:a16="http://schemas.microsoft.com/office/drawing/2014/main" val="20006"/>
                    </a:ext>
                  </a:extLst>
                </a:gridCol>
              </a:tblGrid>
              <a:tr h="538201">
                <a:tc rowSpan="2">
                  <a:txBody>
                    <a:bodyPr/>
                    <a:lstStyle/>
                    <a:p>
                      <a:pPr marL="0" marR="0" lvl="0" indent="0" algn="ctr" rtl="0">
                        <a:spcBef>
                          <a:spcPts val="0"/>
                        </a:spcBef>
                        <a:spcAft>
                          <a:spcPts val="0"/>
                        </a:spcAft>
                        <a:buNone/>
                        <a:defRPr>
                          <a:latin typeface="Ubuntu"/>
                          <a:ea typeface="Ubuntu"/>
                          <a:cs typeface="Ubuntu"/>
                        </a:defRPr>
                      </a:pPr>
                      <a:r>
                        <a:rPr lang="en-US" sz="2400" b="1" u="none" strike="noStrike" dirty="0">
                          <a:latin typeface="Ubuntu" panose="020B0604020202020204" pitchFamily="34" charset="0"/>
                          <a:cs typeface="Ubuntu" panose="020B0604020202020204" pitchFamily="34" charset="0"/>
                        </a:rPr>
                        <a:t>Camera </a:t>
                      </a:r>
                      <a:br>
                        <a:rPr lang="en-US" sz="2400" b="1" u="none" strike="noStrike" dirty="0">
                          <a:latin typeface="Arial" panose="020B0604020202020204" pitchFamily="34" charset="0"/>
                          <a:cs typeface="Arial" panose="020B0604020202020204" pitchFamily="34" charset="0"/>
                        </a:rPr>
                      </a:br>
                      <a:r>
                        <a:rPr lang="en-US" sz="2400" b="1" u="none" strike="noStrike" dirty="0">
                          <a:latin typeface="Ubuntu" panose="020B0604020202020204" pitchFamily="34" charset="0"/>
                          <a:cs typeface="Ubuntu" panose="020B0604020202020204" pitchFamily="34" charset="0"/>
                        </a:rPr>
                        <a:t>Mode</a:t>
                      </a:r>
                      <a:endParaRPr sz="2400" b="1" i="0" u="none" strike="noStrike" dirty="0">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gridSpan="3">
                  <a:txBody>
                    <a:bodyPr/>
                    <a:lstStyle/>
                    <a:p>
                      <a:pPr marL="0" marR="0" lvl="0" indent="0" algn="ctr" rtl="0">
                        <a:spcBef>
                          <a:spcPts val="0"/>
                        </a:spcBef>
                        <a:spcAft>
                          <a:spcPts val="0"/>
                        </a:spcAft>
                        <a:buNone/>
                        <a:defRPr>
                          <a:latin typeface="Ubuntu"/>
                          <a:ea typeface="Ubuntu"/>
                          <a:cs typeface="Ubuntu"/>
                        </a:defRPr>
                      </a:pPr>
                      <a:r>
                        <a:rPr lang="en-US" sz="2400" b="1" u="none" strike="noStrike">
                          <a:latin typeface="Ubuntu" panose="020B0604020202020204" pitchFamily="34" charset="0"/>
                          <a:cs typeface="Ubuntu" panose="020B0604020202020204" pitchFamily="34" charset="0"/>
                        </a:rPr>
                        <a:t>Required Inputs</a:t>
                      </a:r>
                      <a:endParaRPr sz="2400" b="1"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hMerge="1">
                  <a:txBody>
                    <a:bodyPr/>
                    <a:lstStyle/>
                    <a:p>
                      <a:pPr>
                        <a:defRPr>
                          <a:latin typeface="Ubuntu"/>
                          <a:ea typeface="Ubuntu"/>
                          <a:cs typeface="Ubuntu"/>
                        </a:defRPr>
                      </a:pPr>
                      <a:endParaRPr lang="en-US"/>
                    </a:p>
                  </a:txBody>
                  <a:tcPr/>
                </a:tc>
                <a:tc hMerge="1">
                  <a:txBody>
                    <a:bodyPr/>
                    <a:lstStyle/>
                    <a:p>
                      <a:pPr>
                        <a:defRPr>
                          <a:latin typeface="Ubuntu"/>
                          <a:ea typeface="Ubuntu"/>
                          <a:cs typeface="Ubuntu"/>
                        </a:defRPr>
                      </a:pPr>
                      <a:endParaRPr lang="en-US"/>
                    </a:p>
                  </a:txBody>
                  <a:tcPr/>
                </a:tc>
                <a:tc rowSpan="2">
                  <a:txBody>
                    <a:bodyPr/>
                    <a:lstStyle/>
                    <a:p>
                      <a:pPr marL="0" marR="0" lvl="0" indent="0" algn="ctr" rtl="0">
                        <a:spcBef>
                          <a:spcPts val="0"/>
                        </a:spcBef>
                        <a:spcAft>
                          <a:spcPts val="0"/>
                        </a:spcAft>
                        <a:buNone/>
                        <a:defRPr>
                          <a:latin typeface="Ubuntu"/>
                          <a:ea typeface="Ubuntu"/>
                          <a:cs typeface="Ubuntu"/>
                        </a:defRPr>
                      </a:pPr>
                      <a:r>
                        <a:rPr lang="en-US" sz="2400" b="1" u="none" strike="noStrike">
                          <a:latin typeface="Ubuntu" panose="020B0604020202020204" pitchFamily="34" charset="0"/>
                          <a:cs typeface="Ubuntu" panose="020B0604020202020204" pitchFamily="34" charset="0"/>
                        </a:rPr>
                        <a:t>Image Capture</a:t>
                      </a:r>
                      <a:endParaRPr sz="2400" b="1"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rowSpan="2">
                  <a:txBody>
                    <a:bodyPr/>
                    <a:lstStyle/>
                    <a:p>
                      <a:pPr marL="0" marR="0" lvl="0" indent="0" algn="ctr" rtl="0">
                        <a:spcBef>
                          <a:spcPts val="0"/>
                        </a:spcBef>
                        <a:spcAft>
                          <a:spcPts val="0"/>
                        </a:spcAft>
                        <a:buNone/>
                        <a:defRPr>
                          <a:latin typeface="Ubuntu"/>
                          <a:ea typeface="Ubuntu"/>
                          <a:cs typeface="Ubuntu"/>
                        </a:defRPr>
                      </a:pPr>
                      <a:r>
                        <a:rPr lang="en-US" sz="2400" b="1" u="none" strike="noStrike">
                          <a:latin typeface="Ubuntu" panose="020B0604020202020204" pitchFamily="34" charset="0"/>
                          <a:cs typeface="Ubuntu" panose="020B0604020202020204" pitchFamily="34" charset="0"/>
                        </a:rPr>
                        <a:t>Image </a:t>
                      </a:r>
                      <a:br>
                        <a:rPr lang="en-US" sz="2400" b="1" u="none" strike="noStrike">
                          <a:latin typeface="Arial" panose="020B0604020202020204" pitchFamily="34" charset="0"/>
                          <a:cs typeface="Arial" panose="020B0604020202020204" pitchFamily="34" charset="0"/>
                        </a:rPr>
                      </a:br>
                      <a:r>
                        <a:rPr lang="en-US" sz="2400" b="1" u="none" strike="noStrike">
                          <a:latin typeface="Ubuntu" panose="020B0604020202020204" pitchFamily="34" charset="0"/>
                          <a:cs typeface="Ubuntu" panose="020B0604020202020204" pitchFamily="34" charset="0"/>
                        </a:rPr>
                        <a:t>Compression?</a:t>
                      </a:r>
                      <a:endParaRPr sz="2400" b="1"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rowSpan="2">
                  <a:txBody>
                    <a:bodyPr/>
                    <a:lstStyle/>
                    <a:p>
                      <a:pPr marL="0" marR="0" lvl="0" indent="0" algn="ctr" rtl="0">
                        <a:spcBef>
                          <a:spcPts val="0"/>
                        </a:spcBef>
                        <a:spcAft>
                          <a:spcPts val="0"/>
                        </a:spcAft>
                        <a:buNone/>
                        <a:defRPr>
                          <a:latin typeface="Ubuntu"/>
                          <a:ea typeface="Ubuntu"/>
                          <a:cs typeface="Ubuntu"/>
                        </a:defRPr>
                      </a:pPr>
                      <a:r>
                        <a:rPr lang="en-US" sz="2400" b="1" u="none" strike="noStrike">
                          <a:latin typeface="Ubuntu" panose="020B0604020202020204" pitchFamily="34" charset="0"/>
                          <a:cs typeface="Ubuntu" panose="020B0604020202020204" pitchFamily="34" charset="0"/>
                        </a:rPr>
                        <a:t>Store Data to Camera Memory?</a:t>
                      </a:r>
                      <a:endParaRPr sz="2400" b="1"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extLst>
                  <a:ext uri="{0D108BD9-81ED-4DB2-BD59-A6C34878D82A}">
                    <a16:rowId xmlns:a16="http://schemas.microsoft.com/office/drawing/2014/main" val="10000"/>
                  </a:ext>
                </a:extLst>
              </a:tr>
              <a:tr h="1908886">
                <a:tc vMerge="1">
                  <a:txBody>
                    <a:bodyPr/>
                    <a:lstStyle/>
                    <a:p>
                      <a:pPr>
                        <a:defRPr>
                          <a:latin typeface="Ubuntu"/>
                          <a:ea typeface="Ubuntu"/>
                          <a:cs typeface="Ubuntu"/>
                        </a:defRPr>
                      </a:pPr>
                      <a:endParaRPr lang="en-US"/>
                    </a:p>
                  </a:txBody>
                  <a:tcPr/>
                </a:tc>
                <a:tc>
                  <a:txBody>
                    <a:bodyPr/>
                    <a:lstStyle/>
                    <a:p>
                      <a:pPr marL="0" marR="0" lvl="0" indent="0" algn="ctr" rtl="0">
                        <a:spcBef>
                          <a:spcPts val="0"/>
                        </a:spcBef>
                        <a:spcAft>
                          <a:spcPts val="0"/>
                        </a:spcAft>
                        <a:buNone/>
                        <a:defRPr>
                          <a:latin typeface="Ubuntu"/>
                          <a:ea typeface="Ubuntu"/>
                          <a:cs typeface="Ubuntu"/>
                        </a:defRPr>
                      </a:pPr>
                      <a:r>
                        <a:rPr lang="en-US" sz="2400" b="1" u="none" strike="noStrike" dirty="0">
                          <a:latin typeface="Ubuntu" panose="020B0604020202020204" pitchFamily="34" charset="0"/>
                          <a:cs typeface="Ubuntu" panose="020B0604020202020204" pitchFamily="34" charset="0"/>
                        </a:rPr>
                        <a:t>Camera Pointing to Earth?</a:t>
                      </a:r>
                      <a:endParaRPr sz="2400" b="1" i="0" u="none" strike="noStrike" dirty="0">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b="1" u="none" strike="noStrike" dirty="0">
                          <a:latin typeface="Ubuntu" panose="020B0604020202020204" pitchFamily="34" charset="0"/>
                          <a:cs typeface="Ubuntu" panose="020B0604020202020204" pitchFamily="34" charset="0"/>
                        </a:rPr>
                        <a:t>Satellite Location needed?</a:t>
                      </a:r>
                      <a:endParaRPr sz="2400" b="1" i="0" u="none" strike="noStrike" dirty="0">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b="1" u="none" strike="noStrike" dirty="0">
                          <a:latin typeface="Ubuntu" panose="020B0604020202020204" pitchFamily="34" charset="0"/>
                          <a:cs typeface="Ubuntu" panose="020B0604020202020204" pitchFamily="34" charset="0"/>
                        </a:rPr>
                        <a:t>Time</a:t>
                      </a:r>
                      <a:endParaRPr sz="2400" b="1" dirty="0">
                        <a:latin typeface="Arial" panose="020B0604020202020204" pitchFamily="34" charset="0"/>
                        <a:cs typeface="Arial" panose="020B0604020202020204" pitchFamily="34" charset="0"/>
                      </a:endParaRPr>
                    </a:p>
                    <a:p>
                      <a:pPr marL="0" marR="0" lvl="0" indent="0" algn="ctr" rtl="0">
                        <a:spcBef>
                          <a:spcPts val="0"/>
                        </a:spcBef>
                        <a:spcAft>
                          <a:spcPts val="0"/>
                        </a:spcAft>
                        <a:buNone/>
                        <a:defRPr>
                          <a:latin typeface="Ubuntu"/>
                          <a:ea typeface="Ubuntu"/>
                          <a:cs typeface="Ubuntu"/>
                        </a:defRPr>
                      </a:pPr>
                      <a:r>
                        <a:rPr lang="en-US" sz="2400" b="1" u="none" strike="noStrike" dirty="0">
                          <a:latin typeface="Ubuntu" panose="020B0604020202020204" pitchFamily="34" charset="0"/>
                          <a:cs typeface="Ubuntu" panose="020B0604020202020204" pitchFamily="34" charset="0"/>
                        </a:rPr>
                        <a:t>required?</a:t>
                      </a:r>
                      <a:endParaRPr sz="2400" b="1" i="0" u="none" strike="noStrike" dirty="0">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vMerge="1">
                  <a:txBody>
                    <a:bodyPr/>
                    <a:lstStyle/>
                    <a:p>
                      <a:pPr>
                        <a:defRPr>
                          <a:latin typeface="Ubuntu"/>
                          <a:ea typeface="Ubuntu"/>
                          <a:cs typeface="Ubuntu"/>
                        </a:defRPr>
                      </a:pPr>
                      <a:endParaRPr lang="en-US"/>
                    </a:p>
                  </a:txBody>
                  <a:tcPr/>
                </a:tc>
                <a:tc vMerge="1">
                  <a:txBody>
                    <a:bodyPr/>
                    <a:lstStyle/>
                    <a:p>
                      <a:pPr>
                        <a:defRPr>
                          <a:latin typeface="Ubuntu"/>
                          <a:ea typeface="Ubuntu"/>
                          <a:cs typeface="Ubuntu"/>
                        </a:defRPr>
                      </a:pPr>
                      <a:endParaRPr lang="en-US"/>
                    </a:p>
                  </a:txBody>
                  <a:tcPr/>
                </a:tc>
                <a:tc vMerge="1">
                  <a:txBody>
                    <a:bodyPr/>
                    <a:lstStyle/>
                    <a:p>
                      <a:pPr>
                        <a:defRPr>
                          <a:latin typeface="Ubuntu"/>
                          <a:ea typeface="Ubuntu"/>
                          <a:cs typeface="Ubuntu"/>
                        </a:defRPr>
                      </a:pPr>
                      <a:endParaRPr lang="en-US"/>
                    </a:p>
                  </a:txBody>
                  <a:tcPr/>
                </a:tc>
                <a:extLst>
                  <a:ext uri="{0D108BD9-81ED-4DB2-BD59-A6C34878D82A}">
                    <a16:rowId xmlns:a16="http://schemas.microsoft.com/office/drawing/2014/main" val="10001"/>
                  </a:ext>
                </a:extLst>
              </a:tr>
              <a:tr h="1042272">
                <a:tc>
                  <a:txBody>
                    <a:bodyPr/>
                    <a:lstStyle/>
                    <a:p>
                      <a:pPr marL="0" marR="0" lvl="0" indent="0" algn="ctr" rtl="0">
                        <a:spcBef>
                          <a:spcPts val="0"/>
                        </a:spcBef>
                        <a:spcAft>
                          <a:spcPts val="0"/>
                        </a:spcAft>
                        <a:buNone/>
                        <a:defRPr>
                          <a:latin typeface="Ubuntu"/>
                          <a:ea typeface="Ubuntu"/>
                          <a:cs typeface="Ubuntu"/>
                        </a:defRPr>
                      </a:pPr>
                      <a:r>
                        <a:rPr lang="en-US" sz="2400" u="none" strike="noStrike" dirty="0">
                          <a:latin typeface="Ubuntu" panose="020B0604020202020204" pitchFamily="34" charset="0"/>
                          <a:cs typeface="Ubuntu" panose="020B0604020202020204" pitchFamily="34" charset="0"/>
                        </a:rPr>
                        <a:t>Normal</a:t>
                      </a:r>
                      <a:endParaRPr sz="2400" b="1" i="0" u="none" strike="noStrike" dirty="0">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No</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No</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No</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Single Shot</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Yes</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Yes</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extLst>
                  <a:ext uri="{0D108BD9-81ED-4DB2-BD59-A6C34878D82A}">
                    <a16:rowId xmlns:a16="http://schemas.microsoft.com/office/drawing/2014/main" val="10002"/>
                  </a:ext>
                </a:extLst>
              </a:tr>
              <a:tr h="1042272">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Continuous</a:t>
                      </a:r>
                      <a:endParaRPr sz="2400" b="1"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Yes</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No</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No</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Burst </a:t>
                      </a:r>
                      <a:endParaRPr sz="2400" u="none" strike="noStrike">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Yes</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Yes</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extLst>
                  <a:ext uri="{0D108BD9-81ED-4DB2-BD59-A6C34878D82A}">
                    <a16:rowId xmlns:a16="http://schemas.microsoft.com/office/drawing/2014/main" val="10003"/>
                  </a:ext>
                </a:extLst>
              </a:tr>
              <a:tr h="1042272">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Timed</a:t>
                      </a:r>
                      <a:endParaRPr sz="2400" b="1"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Yes</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dirty="0">
                          <a:latin typeface="Ubuntu" panose="020B0604020202020204" pitchFamily="34" charset="0"/>
                          <a:cs typeface="Ubuntu" panose="020B0604020202020204" pitchFamily="34" charset="0"/>
                        </a:rPr>
                        <a:t>No</a:t>
                      </a:r>
                      <a:endParaRPr sz="2400" b="0" i="0" u="none" strike="noStrike" dirty="0">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Yes</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b="0" i="0" u="none" strike="noStrike">
                          <a:solidFill>
                            <a:schemeClr val="dk1"/>
                          </a:solidFill>
                          <a:latin typeface="Ubuntu" panose="020B0604020202020204" pitchFamily="34" charset="0"/>
                          <a:ea typeface="Ubuntu"/>
                          <a:cs typeface="Ubuntu" panose="020B0604020202020204" pitchFamily="34" charset="0"/>
                          <a:sym typeface="Times New Roman"/>
                        </a:rPr>
                        <a:t>Burst</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a:latin typeface="Ubuntu" panose="020B0604020202020204" pitchFamily="34" charset="0"/>
                          <a:cs typeface="Ubuntu" panose="020B0604020202020204" pitchFamily="34" charset="0"/>
                        </a:rPr>
                        <a:t>Yes</a:t>
                      </a:r>
                      <a:endParaRPr sz="2400" b="0" i="0" u="none" strike="noStrike">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tc>
                  <a:txBody>
                    <a:bodyPr/>
                    <a:lstStyle/>
                    <a:p>
                      <a:pPr marL="0" marR="0" lvl="0" indent="0" algn="ctr" rtl="0">
                        <a:spcBef>
                          <a:spcPts val="0"/>
                        </a:spcBef>
                        <a:spcAft>
                          <a:spcPts val="0"/>
                        </a:spcAft>
                        <a:buNone/>
                        <a:defRPr>
                          <a:latin typeface="Ubuntu"/>
                          <a:ea typeface="Ubuntu"/>
                          <a:cs typeface="Ubuntu"/>
                        </a:defRPr>
                      </a:pPr>
                      <a:r>
                        <a:rPr lang="en-US" sz="2400" u="none" strike="noStrike" dirty="0">
                          <a:latin typeface="Ubuntu" panose="020B0604020202020204" pitchFamily="34" charset="0"/>
                          <a:cs typeface="Ubuntu" panose="020B0604020202020204" pitchFamily="34" charset="0"/>
                        </a:rPr>
                        <a:t>Yes</a:t>
                      </a:r>
                      <a:endParaRPr sz="2400" b="0" i="0" u="none" strike="noStrike" dirty="0">
                        <a:solidFill>
                          <a:srgbClr val="000000"/>
                        </a:solidFill>
                        <a:latin typeface="Arial" panose="020B0604020202020204" pitchFamily="34" charset="0"/>
                        <a:ea typeface="Book Antiqua"/>
                        <a:cs typeface="Arial" panose="020B0604020202020204" pitchFamily="34" charset="0"/>
                        <a:sym typeface="Book Antiqua"/>
                      </a:endParaRPr>
                    </a:p>
                  </a:txBody>
                  <a:tcPr marL="17250" marR="17250" marT="17250" marB="0" anchor="ctr"/>
                </a:tc>
                <a:extLst>
                  <a:ext uri="{0D108BD9-81ED-4DB2-BD59-A6C34878D82A}">
                    <a16:rowId xmlns:a16="http://schemas.microsoft.com/office/drawing/2014/main" val="10004"/>
                  </a:ext>
                </a:extLst>
              </a:tr>
            </a:tbl>
          </a:graphicData>
        </a:graphic>
      </p:graphicFrame>
      <p:sp>
        <p:nvSpPr>
          <p:cNvPr id="3" name="Slide Number Placeholder 7">
            <a:extLst>
              <a:ext uri="{FF2B5EF4-FFF2-40B4-BE49-F238E27FC236}">
                <a16:creationId xmlns:a16="http://schemas.microsoft.com/office/drawing/2014/main" id="{3636B102-4D5E-9917-7DC1-CC40D9EDB039}"/>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24</a:t>
            </a:fld>
            <a:endParaRPr lang="en-US" sz="4800" b="1" dirty="0">
              <a:solidFill>
                <a:srgbClr val="FF0000"/>
              </a:solidFill>
            </a:endParaRPr>
          </a:p>
        </p:txBody>
      </p:sp>
      <p:pic>
        <p:nvPicPr>
          <p:cNvPr id="1136" name="Space Faculty logo" descr="sf_logo.png"/>
          <p:cNvPicPr>
            <a:picLocks noChangeAspect="1"/>
          </p:cNvPicPr>
          <p:nvPr/>
        </p:nvPicPr>
        <p:blipFill>
          <a:blip r:embed="rId3"/>
          <a:stretch>
            <a:fillRect/>
          </a:stretch>
        </p:blipFill>
        <p:spPr>
          <a:xfrm>
            <a:off x="10566530" y="54864"/>
            <a:ext cx="1512694" cy="42987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14"/>
          <p:cNvSpPr txBox="1"/>
          <p:nvPr/>
        </p:nvSpPr>
        <p:spPr>
          <a:xfrm>
            <a:off x="3200400" y="2286000"/>
            <a:ext cx="5414682" cy="766200"/>
          </a:xfrm>
          <a:prstGeom prst="rect">
            <a:avLst/>
          </a:prstGeom>
          <a:noFill/>
          <a:ln>
            <a:noFill/>
          </a:ln>
        </p:spPr>
        <p:txBody>
          <a:bodyPr spcFirstLastPara="1" wrap="square" lIns="91425" tIns="45700" rIns="91425" bIns="45700" anchor="t" anchorCtr="0">
            <a:noAutofit/>
          </a:bodyPr>
          <a:lstStyle/>
          <a:p>
            <a:pPr>
              <a:defRPr>
                <a:latin typeface="Ubuntu"/>
                <a:ea typeface="Ubuntu"/>
                <a:cs typeface="Ubuntu"/>
              </a:defRPr>
            </a:pPr>
            <a:r>
              <a:rPr lang="en-US" sz="1400">
                <a:solidFill>
                  <a:schemeClr val="lt1"/>
                </a:solidFill>
                <a:latin typeface="Ubuntu"/>
                <a:ea typeface="Ubuntu"/>
                <a:cs typeface="Ubuntu"/>
                <a:sym typeface="Arial"/>
              </a:rPr>
              <a:t>FLOWCHART</a:t>
            </a:r>
            <a:endParaRPr/>
          </a:p>
        </p:txBody>
      </p:sp>
      <p:sp>
        <p:nvSpPr>
          <p:cNvPr id="1113" name="Google Shape;1113;p14"/>
          <p:cNvSpPr txBox="1"/>
          <p:nvPr/>
        </p:nvSpPr>
        <p:spPr>
          <a:xfrm>
            <a:off x="216067" y="1158348"/>
            <a:ext cx="2615866" cy="428320"/>
          </a:xfrm>
          <a:prstGeom prst="rect">
            <a:avLst/>
          </a:prstGeom>
          <a:noFill/>
          <a:ln>
            <a:noFill/>
          </a:ln>
        </p:spPr>
        <p:txBody>
          <a:bodyPr spcFirstLastPara="1" wrap="square" lIns="91425" tIns="45700" rIns="91425" bIns="45700" anchor="t" anchorCtr="0">
            <a:noAutofit/>
          </a:bodyPr>
          <a:lstStyle/>
          <a:p>
            <a:pPr algn="ctr">
              <a:defRPr>
                <a:latin typeface="Space Mono"/>
                <a:ea typeface="Space Mono"/>
                <a:cs typeface="Space Mono"/>
              </a:defRPr>
            </a:pPr>
            <a:r>
              <a:rPr lang="en-US" sz="2400" b="1" dirty="0">
                <a:solidFill>
                  <a:srgbClr val="2F5496"/>
                </a:solidFill>
                <a:latin typeface="Space Mono"/>
                <a:ea typeface="Space Mono"/>
                <a:cs typeface="Space Mono"/>
                <a:sym typeface="Arial"/>
              </a:rPr>
              <a:t>Normal Mode</a:t>
            </a:r>
            <a:endParaRPr sz="2400" b="1" dirty="0">
              <a:solidFill>
                <a:srgbClr val="2F5496"/>
              </a:solidFill>
              <a:latin typeface="Arial"/>
              <a:ea typeface="Arial"/>
              <a:cs typeface="Arial"/>
              <a:sym typeface="Arial"/>
            </a:endParaRPr>
          </a:p>
        </p:txBody>
      </p:sp>
      <p:sp>
        <p:nvSpPr>
          <p:cNvPr id="1114" name="Google Shape;1114;p14"/>
          <p:cNvSpPr txBox="1"/>
          <p:nvPr/>
        </p:nvSpPr>
        <p:spPr>
          <a:xfrm>
            <a:off x="6747864" y="976732"/>
            <a:ext cx="3734435" cy="428320"/>
          </a:xfrm>
          <a:prstGeom prst="rect">
            <a:avLst/>
          </a:prstGeom>
          <a:noFill/>
          <a:ln>
            <a:noFill/>
          </a:ln>
        </p:spPr>
        <p:txBody>
          <a:bodyPr spcFirstLastPara="1" wrap="square" lIns="91425" tIns="45700" rIns="91425" bIns="45700" anchor="ctr" anchorCtr="0">
            <a:noAutofit/>
          </a:bodyPr>
          <a:lstStyle/>
          <a:p>
            <a:pPr algn="ctr">
              <a:lnSpc>
                <a:spcPct val="90000"/>
              </a:lnSpc>
              <a:buClr>
                <a:srgbClr val="2F5496"/>
              </a:buClr>
              <a:buSzPts val="2400"/>
              <a:defRPr>
                <a:latin typeface="Space Mono"/>
                <a:ea typeface="Space Mono"/>
                <a:cs typeface="Space Mono"/>
              </a:defRPr>
            </a:pPr>
            <a:r>
              <a:rPr lang="en-US" sz="2400" b="1" dirty="0">
                <a:solidFill>
                  <a:srgbClr val="2F5496"/>
                </a:solidFill>
                <a:latin typeface="Space Mono"/>
                <a:ea typeface="Space Mono"/>
                <a:cs typeface="Space Mono"/>
                <a:sym typeface="Times New Roman"/>
              </a:rPr>
              <a:t>Continuous Mode</a:t>
            </a:r>
            <a:endParaRPr sz="2400" b="1" dirty="0">
              <a:solidFill>
                <a:srgbClr val="2F5496"/>
              </a:solidFill>
              <a:latin typeface="Times New Roman"/>
              <a:ea typeface="Times New Roman"/>
              <a:cs typeface="Times New Roman"/>
              <a:sym typeface="Times New Roman"/>
            </a:endParaRPr>
          </a:p>
        </p:txBody>
      </p:sp>
      <p:pic>
        <p:nvPicPr>
          <p:cNvPr id="1115" name="Google Shape;1115;p14" descr="A close up of a sign&#10;&#10;Description automatically generated"/>
          <p:cNvPicPr preferRelativeResize="0"/>
          <p:nvPr/>
        </p:nvPicPr>
        <p:blipFill rotWithShape="1">
          <a:blip r:embed="rId3">
            <a:alphaModFix/>
          </a:blip>
          <a:srcRect/>
          <a:stretch/>
        </p:blipFill>
        <p:spPr>
          <a:xfrm>
            <a:off x="2667000" y="1380044"/>
            <a:ext cx="1782101" cy="4327959"/>
          </a:xfrm>
          <a:prstGeom prst="rect">
            <a:avLst/>
          </a:prstGeom>
          <a:noFill/>
          <a:ln>
            <a:noFill/>
          </a:ln>
        </p:spPr>
      </p:pic>
      <p:pic>
        <p:nvPicPr>
          <p:cNvPr id="1116" name="Google Shape;1116;p14" descr="A close up of text on a black background&#10;&#10;Description automatically generated"/>
          <p:cNvPicPr preferRelativeResize="0"/>
          <p:nvPr/>
        </p:nvPicPr>
        <p:blipFill rotWithShape="1">
          <a:blip r:embed="rId4">
            <a:alphaModFix/>
          </a:blip>
          <a:srcRect/>
          <a:stretch/>
        </p:blipFill>
        <p:spPr>
          <a:xfrm>
            <a:off x="5791200" y="1370720"/>
            <a:ext cx="5253834" cy="4655870"/>
          </a:xfrm>
          <a:prstGeom prst="rect">
            <a:avLst/>
          </a:prstGeom>
          <a:noFill/>
          <a:ln>
            <a:noFill/>
          </a:ln>
        </p:spPr>
      </p:pic>
      <p:sp>
        <p:nvSpPr>
          <p:cNvPr id="1117" name="Google Shape;1117;p14"/>
          <p:cNvSpPr txBox="1">
            <a:spLocks noGrp="1"/>
          </p:cNvSpPr>
          <p:nvPr>
            <p:ph type="title"/>
          </p:nvPr>
        </p:nvSpPr>
        <p:spPr>
          <a:xfrm>
            <a:off x="2096403" y="121372"/>
            <a:ext cx="7886700" cy="831052"/>
          </a:xfrm>
          <a:prstGeom prst="rect">
            <a:avLst/>
          </a:prstGeom>
          <a:noFill/>
          <a:ln>
            <a:noFill/>
          </a:ln>
        </p:spPr>
        <p:txBody>
          <a:bodyPr spcFirstLastPara="1" wrap="square" lIns="91425" tIns="45700" rIns="91425" bIns="45700" anchor="ctr" anchorCtr="0">
            <a:normAutofit/>
          </a:bodyPr>
          <a:lstStyle/>
          <a:p>
            <a:pPr rtl="0">
              <a:defRPr>
                <a:latin typeface="House Movements Runway"/>
                <a:ea typeface="House Movements Runway"/>
                <a:cs typeface="House Movements Runway"/>
              </a:defRPr>
            </a:pPr>
            <a:r>
              <a:rPr lang="en-US" sz="4000" b="1" dirty="0">
                <a:latin typeface="House Movements Runway" panose="020B0604020202020204" pitchFamily="34" charset="0"/>
                <a:cs typeface="House Movements Runway" panose="020B0604020202020204" pitchFamily="34" charset="0"/>
              </a:rPr>
              <a:t>Mission Modes - CAM</a:t>
            </a:r>
            <a:endParaRPr sz="4000" b="1" dirty="0">
              <a:latin typeface="Arial" panose="020B0604020202020204" pitchFamily="34" charset="0"/>
              <a:cs typeface="Arial" panose="020B0604020202020204" pitchFamily="34" charset="0"/>
            </a:endParaRPr>
          </a:p>
        </p:txBody>
      </p:sp>
      <p:sp>
        <p:nvSpPr>
          <p:cNvPr id="3" name="Slide Number Placeholder 7">
            <a:extLst>
              <a:ext uri="{FF2B5EF4-FFF2-40B4-BE49-F238E27FC236}">
                <a16:creationId xmlns:a16="http://schemas.microsoft.com/office/drawing/2014/main" id="{68D5B200-A520-568C-A065-7EFB6DBE71B4}"/>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25</a:t>
            </a:fld>
            <a:endParaRPr lang="en-US" sz="4800" b="1" dirty="0">
              <a:solidFill>
                <a:srgbClr val="FF0000"/>
              </a:solidFill>
            </a:endParaRPr>
          </a:p>
        </p:txBody>
      </p:sp>
      <p:pic>
        <p:nvPicPr>
          <p:cNvPr id="1118" name="Space Faculty logo" descr="sf_logo.png"/>
          <p:cNvPicPr>
            <a:picLocks noChangeAspect="1"/>
          </p:cNvPicPr>
          <p:nvPr/>
        </p:nvPicPr>
        <p:blipFill>
          <a:blip r:embed="rId5"/>
          <a:stretch>
            <a:fillRect/>
          </a:stretch>
        </p:blipFill>
        <p:spPr>
          <a:xfrm>
            <a:off x="10605296" y="54863"/>
            <a:ext cx="1473927" cy="41886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C28CC5FE-F812-44CD-9FFF-69391F0F3BB6}"/>
              </a:ext>
            </a:extLst>
          </p:cNvPr>
          <p:cNvSpPr>
            <a:spLocks noGrp="1"/>
          </p:cNvSpPr>
          <p:nvPr>
            <p:ph type="title"/>
          </p:nvPr>
        </p:nvSpPr>
        <p:spPr>
          <a:xfrm>
            <a:off x="1495245" y="-124392"/>
            <a:ext cx="9162897" cy="635563"/>
          </a:xfrm>
        </p:spPr>
        <p:txBody>
          <a:bodyPr>
            <a:noAutofit/>
          </a:bodyPr>
          <a:lstStyle/>
          <a:p>
            <a:pPr>
              <a:defRPr>
                <a:latin typeface="House Movements Runway"/>
                <a:ea typeface="House Movements Runway"/>
                <a:cs typeface="House Movements Runway"/>
              </a:defRPr>
            </a:pPr>
            <a:r>
              <a:rPr lang="en-US" sz="4800" b="1" dirty="0">
                <a:latin typeface="House Movements Runway" panose="02020603050405020304" pitchFamily="18" charset="0"/>
                <a:cs typeface="House Movements Runway" panose="02020603050405020304" pitchFamily="18" charset="0"/>
              </a:rPr>
              <a:t>Concept of Operation(</a:t>
            </a:r>
            <a:r>
              <a:rPr lang="en-US" sz="4800" b="1" dirty="0">
                <a:solidFill>
                  <a:srgbClr val="00B0F0"/>
                </a:solidFill>
                <a:latin typeface="House Movements Runway" panose="02020603050405020304" pitchFamily="18" charset="0"/>
                <a:cs typeface="House Movements Runway" panose="02020603050405020304" pitchFamily="18" charset="0"/>
              </a:rPr>
              <a:t>Execution</a:t>
            </a:r>
            <a:r>
              <a:rPr lang="en-US" sz="4800" b="1" dirty="0">
                <a:latin typeface="House Movements Runway" panose="02020603050405020304" pitchFamily="18" charset="0"/>
                <a:cs typeface="House Movements Runway" panose="02020603050405020304" pitchFamily="18" charset="0"/>
              </a:rPr>
              <a:t>)</a:t>
            </a:r>
          </a:p>
        </p:txBody>
      </p:sp>
      <p:sp>
        <p:nvSpPr>
          <p:cNvPr id="12" name="TextBox 11">
            <a:extLst>
              <a:ext uri="{FF2B5EF4-FFF2-40B4-BE49-F238E27FC236}">
                <a16:creationId xmlns:a16="http://schemas.microsoft.com/office/drawing/2014/main" id="{50D3CBE2-8E52-47B3-BABC-5BA683CDE179}"/>
              </a:ext>
            </a:extLst>
          </p:cNvPr>
          <p:cNvSpPr txBox="1"/>
          <p:nvPr/>
        </p:nvSpPr>
        <p:spPr>
          <a:xfrm>
            <a:off x="6064469" y="4380356"/>
            <a:ext cx="6503793" cy="2308324"/>
          </a:xfrm>
          <a:prstGeom prst="rect">
            <a:avLst/>
          </a:prstGeom>
          <a:noFill/>
        </p:spPr>
        <p:txBody>
          <a:bodyPr wrap="square">
            <a:spAutoFit/>
          </a:bodyPr>
          <a:lstStyle/>
          <a:p>
            <a:pPr marL="285750" indent="-285750">
              <a:buFont typeface="Wingdings" panose="05000000000000000000" pitchFamily="2" charset="2"/>
              <a:buChar char="§"/>
              <a:defRPr>
                <a:latin typeface="Ubuntu"/>
                <a:ea typeface="Ubuntu"/>
                <a:cs typeface="Ubuntu"/>
              </a:defRPr>
            </a:pPr>
            <a:r>
              <a:rPr lang="en-PH" sz="2400" dirty="0">
                <a:latin typeface="Ubuntu" panose="02020603050405020304" pitchFamily="18" charset="0"/>
                <a:cs typeface="Ubuntu" panose="02020603050405020304" pitchFamily="18" charset="0"/>
              </a:rPr>
              <a:t>CAM MCU executes the command received</a:t>
            </a:r>
          </a:p>
          <a:p>
            <a:pPr marL="285750" indent="-285750">
              <a:buFont typeface="Wingdings" panose="05000000000000000000" pitchFamily="2" charset="2"/>
              <a:buChar char="§"/>
              <a:defRPr>
                <a:latin typeface="Ubuntu"/>
                <a:ea typeface="Ubuntu"/>
                <a:cs typeface="Ubuntu"/>
              </a:defRPr>
            </a:pPr>
            <a:r>
              <a:rPr lang="en-PH" sz="2400" dirty="0">
                <a:latin typeface="Ubuntu" panose="02020603050405020304" pitchFamily="18" charset="0"/>
                <a:cs typeface="Ubuntu" panose="02020603050405020304" pitchFamily="18" charset="0"/>
              </a:rPr>
              <a:t>Take photos – saves images in SD Flash memory.</a:t>
            </a:r>
          </a:p>
          <a:p>
            <a:pPr marL="285750" indent="-285750">
              <a:buFont typeface="Wingdings" panose="05000000000000000000" pitchFamily="2" charset="2"/>
              <a:buChar char="§"/>
              <a:defRPr>
                <a:latin typeface="Ubuntu"/>
                <a:ea typeface="Ubuntu"/>
                <a:cs typeface="Ubuntu"/>
              </a:defRPr>
            </a:pPr>
            <a:r>
              <a:rPr lang="en-PH" sz="2400" dirty="0">
                <a:latin typeface="Ubuntu" panose="02020603050405020304" pitchFamily="18" charset="0"/>
                <a:cs typeface="Ubuntu" panose="02020603050405020304" pitchFamily="18" charset="0"/>
              </a:rPr>
              <a:t>Image transfer – copies photos to shared FM2.</a:t>
            </a:r>
          </a:p>
          <a:p>
            <a:pPr marL="285750" indent="-285750">
              <a:buFont typeface="Wingdings" panose="05000000000000000000" pitchFamily="2" charset="2"/>
              <a:buChar char="§"/>
              <a:defRPr>
                <a:latin typeface="Ubuntu"/>
                <a:ea typeface="Ubuntu"/>
                <a:cs typeface="Ubuntu"/>
              </a:defRPr>
            </a:pPr>
            <a:r>
              <a:rPr lang="en-PH" sz="2400" dirty="0">
                <a:latin typeface="Ubuntu" panose="02020603050405020304" pitchFamily="18" charset="0"/>
                <a:cs typeface="Ubuntu" panose="02020603050405020304" pitchFamily="18" charset="0"/>
              </a:rPr>
              <a:t>Main PIC copies data from Shared FM2 to Shared FM1.</a:t>
            </a:r>
          </a:p>
        </p:txBody>
      </p:sp>
      <p:grpSp>
        <p:nvGrpSpPr>
          <p:cNvPr id="2" name="Group 1">
            <a:extLst>
              <a:ext uri="{FF2B5EF4-FFF2-40B4-BE49-F238E27FC236}">
                <a16:creationId xmlns:a16="http://schemas.microsoft.com/office/drawing/2014/main" id="{E08B7DAB-22FE-4DC3-D86E-24A7A41C7E7F}"/>
              </a:ext>
            </a:extLst>
          </p:cNvPr>
          <p:cNvGrpSpPr/>
          <p:nvPr/>
        </p:nvGrpSpPr>
        <p:grpSpPr>
          <a:xfrm>
            <a:off x="1749998" y="659148"/>
            <a:ext cx="8993205" cy="3607911"/>
            <a:chOff x="2185911" y="955994"/>
            <a:chExt cx="7820178" cy="3418305"/>
          </a:xfrm>
        </p:grpSpPr>
        <p:pic>
          <p:nvPicPr>
            <p:cNvPr id="13" name="Picture 12" descr="Diagram, schematic&#10;&#10;Description automatically generated">
              <a:extLst>
                <a:ext uri="{FF2B5EF4-FFF2-40B4-BE49-F238E27FC236}">
                  <a16:creationId xmlns:a16="http://schemas.microsoft.com/office/drawing/2014/main" id="{4F0F89E8-487E-4942-BED3-3821C176B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5911" y="955994"/>
              <a:ext cx="7820178" cy="3418305"/>
            </a:xfrm>
            <a:prstGeom prst="rect">
              <a:avLst/>
            </a:prstGeom>
          </p:spPr>
        </p:pic>
        <p:grpSp>
          <p:nvGrpSpPr>
            <p:cNvPr id="14" name="Group 13">
              <a:extLst>
                <a:ext uri="{FF2B5EF4-FFF2-40B4-BE49-F238E27FC236}">
                  <a16:creationId xmlns:a16="http://schemas.microsoft.com/office/drawing/2014/main" id="{3E086E6E-E2BC-4E9A-B3EF-3ADA0290445A}"/>
                </a:ext>
              </a:extLst>
            </p:cNvPr>
            <p:cNvGrpSpPr/>
            <p:nvPr/>
          </p:nvGrpSpPr>
          <p:grpSpPr>
            <a:xfrm rot="1208094" flipH="1">
              <a:off x="2457908" y="2417971"/>
              <a:ext cx="402291" cy="1238867"/>
              <a:chOff x="8510601" y="1719665"/>
              <a:chExt cx="394526" cy="2335836"/>
            </a:xfrm>
          </p:grpSpPr>
          <p:pic>
            <p:nvPicPr>
              <p:cNvPr id="15" name="Picture 14">
                <a:extLst>
                  <a:ext uri="{FF2B5EF4-FFF2-40B4-BE49-F238E27FC236}">
                    <a16:creationId xmlns:a16="http://schemas.microsoft.com/office/drawing/2014/main" id="{2260029E-680E-4F52-9F3A-F73C14F64675}"/>
                  </a:ext>
                </a:extLst>
              </p:cNvPr>
              <p:cNvPicPr>
                <a:picLocks noChangeAspect="1"/>
              </p:cNvPicPr>
              <p:nvPr/>
            </p:nvPicPr>
            <p:blipFill>
              <a:blip r:embed="rId3"/>
              <a:stretch>
                <a:fillRect/>
              </a:stretch>
            </p:blipFill>
            <p:spPr>
              <a:xfrm rot="11403280">
                <a:off x="8510601" y="3316868"/>
                <a:ext cx="285872" cy="738633"/>
              </a:xfrm>
              <a:prstGeom prst="rect">
                <a:avLst/>
              </a:prstGeom>
            </p:spPr>
          </p:pic>
          <p:pic>
            <p:nvPicPr>
              <p:cNvPr id="16" name="Picture 15">
                <a:extLst>
                  <a:ext uri="{FF2B5EF4-FFF2-40B4-BE49-F238E27FC236}">
                    <a16:creationId xmlns:a16="http://schemas.microsoft.com/office/drawing/2014/main" id="{708448E6-53DD-4628-8A1B-ED585CB7575B}"/>
                  </a:ext>
                </a:extLst>
              </p:cNvPr>
              <p:cNvPicPr>
                <a:picLocks noChangeAspect="1"/>
              </p:cNvPicPr>
              <p:nvPr/>
            </p:nvPicPr>
            <p:blipFill>
              <a:blip r:embed="rId3"/>
              <a:stretch>
                <a:fillRect/>
              </a:stretch>
            </p:blipFill>
            <p:spPr>
              <a:xfrm rot="11236464">
                <a:off x="8573642" y="2533713"/>
                <a:ext cx="285872" cy="738633"/>
              </a:xfrm>
              <a:prstGeom prst="rect">
                <a:avLst/>
              </a:prstGeom>
            </p:spPr>
          </p:pic>
          <p:pic>
            <p:nvPicPr>
              <p:cNvPr id="17" name="Picture 16">
                <a:extLst>
                  <a:ext uri="{FF2B5EF4-FFF2-40B4-BE49-F238E27FC236}">
                    <a16:creationId xmlns:a16="http://schemas.microsoft.com/office/drawing/2014/main" id="{44D98EDA-2974-48EE-8C58-6640D04EF8EA}"/>
                  </a:ext>
                </a:extLst>
              </p:cNvPr>
              <p:cNvPicPr>
                <a:picLocks noChangeAspect="1"/>
              </p:cNvPicPr>
              <p:nvPr/>
            </p:nvPicPr>
            <p:blipFill>
              <a:blip r:embed="rId3"/>
              <a:stretch>
                <a:fillRect/>
              </a:stretch>
            </p:blipFill>
            <p:spPr>
              <a:xfrm rot="10800000">
                <a:off x="8619255" y="1719665"/>
                <a:ext cx="285872" cy="738633"/>
              </a:xfrm>
              <a:prstGeom prst="rect">
                <a:avLst/>
              </a:prstGeom>
            </p:spPr>
          </p:pic>
        </p:grpSp>
        <p:grpSp>
          <p:nvGrpSpPr>
            <p:cNvPr id="18" name="Group 17">
              <a:extLst>
                <a:ext uri="{FF2B5EF4-FFF2-40B4-BE49-F238E27FC236}">
                  <a16:creationId xmlns:a16="http://schemas.microsoft.com/office/drawing/2014/main" id="{B83CA879-AF8F-4AF0-867C-9839FB01EA25}"/>
                </a:ext>
              </a:extLst>
            </p:cNvPr>
            <p:cNvGrpSpPr/>
            <p:nvPr/>
          </p:nvGrpSpPr>
          <p:grpSpPr>
            <a:xfrm rot="6747034">
              <a:off x="4400875" y="1302268"/>
              <a:ext cx="304153" cy="841301"/>
              <a:chOff x="8472328" y="2533713"/>
              <a:chExt cx="387186" cy="1576300"/>
            </a:xfrm>
          </p:grpSpPr>
          <p:pic>
            <p:nvPicPr>
              <p:cNvPr id="19" name="Picture 18">
                <a:extLst>
                  <a:ext uri="{FF2B5EF4-FFF2-40B4-BE49-F238E27FC236}">
                    <a16:creationId xmlns:a16="http://schemas.microsoft.com/office/drawing/2014/main" id="{9E3DFC31-B616-4C67-BD13-36A1697EC8A9}"/>
                  </a:ext>
                </a:extLst>
              </p:cNvPr>
              <p:cNvPicPr>
                <a:picLocks noChangeAspect="1"/>
              </p:cNvPicPr>
              <p:nvPr/>
            </p:nvPicPr>
            <p:blipFill>
              <a:blip r:embed="rId3"/>
              <a:stretch>
                <a:fillRect/>
              </a:stretch>
            </p:blipFill>
            <p:spPr>
              <a:xfrm rot="12319960">
                <a:off x="8472328" y="3371380"/>
                <a:ext cx="285872" cy="738633"/>
              </a:xfrm>
              <a:prstGeom prst="rect">
                <a:avLst/>
              </a:prstGeom>
            </p:spPr>
          </p:pic>
          <p:pic>
            <p:nvPicPr>
              <p:cNvPr id="20" name="Picture 19">
                <a:extLst>
                  <a:ext uri="{FF2B5EF4-FFF2-40B4-BE49-F238E27FC236}">
                    <a16:creationId xmlns:a16="http://schemas.microsoft.com/office/drawing/2014/main" id="{416B9313-57BB-4B66-B6C8-4968E6F3071D}"/>
                  </a:ext>
                </a:extLst>
              </p:cNvPr>
              <p:cNvPicPr>
                <a:picLocks noChangeAspect="1"/>
              </p:cNvPicPr>
              <p:nvPr/>
            </p:nvPicPr>
            <p:blipFill>
              <a:blip r:embed="rId3"/>
              <a:stretch>
                <a:fillRect/>
              </a:stretch>
            </p:blipFill>
            <p:spPr>
              <a:xfrm rot="11236464">
                <a:off x="8573642" y="2533713"/>
                <a:ext cx="285872" cy="738633"/>
              </a:xfrm>
              <a:prstGeom prst="rect">
                <a:avLst/>
              </a:prstGeom>
            </p:spPr>
          </p:pic>
        </p:grpSp>
        <p:grpSp>
          <p:nvGrpSpPr>
            <p:cNvPr id="22" name="Group 21">
              <a:extLst>
                <a:ext uri="{FF2B5EF4-FFF2-40B4-BE49-F238E27FC236}">
                  <a16:creationId xmlns:a16="http://schemas.microsoft.com/office/drawing/2014/main" id="{7E7DB9FC-CD26-4399-BF6E-64ABD880869F}"/>
                </a:ext>
              </a:extLst>
            </p:cNvPr>
            <p:cNvGrpSpPr/>
            <p:nvPr/>
          </p:nvGrpSpPr>
          <p:grpSpPr>
            <a:xfrm rot="7814760">
              <a:off x="5643038" y="1892102"/>
              <a:ext cx="291238" cy="1330684"/>
              <a:chOff x="8462590" y="2533919"/>
              <a:chExt cx="326086" cy="1561602"/>
            </a:xfrm>
          </p:grpSpPr>
          <p:pic>
            <p:nvPicPr>
              <p:cNvPr id="23" name="Picture 22">
                <a:extLst>
                  <a:ext uri="{FF2B5EF4-FFF2-40B4-BE49-F238E27FC236}">
                    <a16:creationId xmlns:a16="http://schemas.microsoft.com/office/drawing/2014/main" id="{0BF52539-0F5A-436D-8FE7-608433DEEB71}"/>
                  </a:ext>
                </a:extLst>
              </p:cNvPr>
              <p:cNvPicPr>
                <a:picLocks noChangeAspect="1"/>
              </p:cNvPicPr>
              <p:nvPr/>
            </p:nvPicPr>
            <p:blipFill>
              <a:blip r:embed="rId3"/>
              <a:stretch>
                <a:fillRect/>
              </a:stretch>
            </p:blipFill>
            <p:spPr>
              <a:xfrm rot="11887329">
                <a:off x="8462590" y="3295852"/>
                <a:ext cx="213497" cy="799669"/>
              </a:xfrm>
              <a:prstGeom prst="rect">
                <a:avLst/>
              </a:prstGeom>
            </p:spPr>
          </p:pic>
          <p:pic>
            <p:nvPicPr>
              <p:cNvPr id="24" name="Picture 23">
                <a:extLst>
                  <a:ext uri="{FF2B5EF4-FFF2-40B4-BE49-F238E27FC236}">
                    <a16:creationId xmlns:a16="http://schemas.microsoft.com/office/drawing/2014/main" id="{9E2157DC-A48F-4B1F-988D-9BC679A94C71}"/>
                  </a:ext>
                </a:extLst>
              </p:cNvPr>
              <p:cNvPicPr>
                <a:picLocks noChangeAspect="1"/>
              </p:cNvPicPr>
              <p:nvPr/>
            </p:nvPicPr>
            <p:blipFill>
              <a:blip r:embed="rId3"/>
              <a:stretch>
                <a:fillRect/>
              </a:stretch>
            </p:blipFill>
            <p:spPr>
              <a:xfrm rot="10775552">
                <a:off x="8573643" y="2533919"/>
                <a:ext cx="215033" cy="738633"/>
              </a:xfrm>
              <a:prstGeom prst="rect">
                <a:avLst/>
              </a:prstGeom>
            </p:spPr>
          </p:pic>
        </p:grpSp>
        <p:grpSp>
          <p:nvGrpSpPr>
            <p:cNvPr id="25" name="Group 24">
              <a:extLst>
                <a:ext uri="{FF2B5EF4-FFF2-40B4-BE49-F238E27FC236}">
                  <a16:creationId xmlns:a16="http://schemas.microsoft.com/office/drawing/2014/main" id="{B082C178-B927-470A-9ECF-3AF3A519E376}"/>
                </a:ext>
              </a:extLst>
            </p:cNvPr>
            <p:cNvGrpSpPr/>
            <p:nvPr/>
          </p:nvGrpSpPr>
          <p:grpSpPr>
            <a:xfrm>
              <a:off x="6925110" y="3578530"/>
              <a:ext cx="878200" cy="202212"/>
              <a:chOff x="5263049" y="2705625"/>
              <a:chExt cx="1299046" cy="179867"/>
            </a:xfrm>
          </p:grpSpPr>
          <p:pic>
            <p:nvPicPr>
              <p:cNvPr id="26" name="Picture 25">
                <a:extLst>
                  <a:ext uri="{FF2B5EF4-FFF2-40B4-BE49-F238E27FC236}">
                    <a16:creationId xmlns:a16="http://schemas.microsoft.com/office/drawing/2014/main" id="{1AFCF411-F234-422E-8C7C-9FDBF51734D7}"/>
                  </a:ext>
                </a:extLst>
              </p:cNvPr>
              <p:cNvPicPr>
                <a:picLocks noChangeAspect="1"/>
              </p:cNvPicPr>
              <p:nvPr/>
            </p:nvPicPr>
            <p:blipFill>
              <a:blip r:embed="rId3"/>
              <a:stretch>
                <a:fillRect/>
              </a:stretch>
            </p:blipFill>
            <p:spPr>
              <a:xfrm rot="16200000">
                <a:off x="5386643" y="2589518"/>
                <a:ext cx="172380" cy="419567"/>
              </a:xfrm>
              <a:prstGeom prst="rect">
                <a:avLst/>
              </a:prstGeom>
            </p:spPr>
          </p:pic>
          <p:pic>
            <p:nvPicPr>
              <p:cNvPr id="27" name="Picture 26">
                <a:extLst>
                  <a:ext uri="{FF2B5EF4-FFF2-40B4-BE49-F238E27FC236}">
                    <a16:creationId xmlns:a16="http://schemas.microsoft.com/office/drawing/2014/main" id="{2E3E00AE-99AF-4C9D-B30F-9D9E42D7BB9B}"/>
                  </a:ext>
                </a:extLst>
              </p:cNvPr>
              <p:cNvPicPr>
                <a:picLocks noChangeAspect="1"/>
              </p:cNvPicPr>
              <p:nvPr/>
            </p:nvPicPr>
            <p:blipFill>
              <a:blip r:embed="rId3"/>
              <a:stretch>
                <a:fillRect/>
              </a:stretch>
            </p:blipFill>
            <p:spPr>
              <a:xfrm rot="16200000">
                <a:off x="5825526" y="2582031"/>
                <a:ext cx="172380" cy="419567"/>
              </a:xfrm>
              <a:prstGeom prst="rect">
                <a:avLst/>
              </a:prstGeom>
            </p:spPr>
          </p:pic>
          <p:pic>
            <p:nvPicPr>
              <p:cNvPr id="28" name="Picture 27">
                <a:extLst>
                  <a:ext uri="{FF2B5EF4-FFF2-40B4-BE49-F238E27FC236}">
                    <a16:creationId xmlns:a16="http://schemas.microsoft.com/office/drawing/2014/main" id="{287361AC-EE7D-4006-A640-4B94E6D811B8}"/>
                  </a:ext>
                </a:extLst>
              </p:cNvPr>
              <p:cNvPicPr>
                <a:picLocks noChangeAspect="1"/>
              </p:cNvPicPr>
              <p:nvPr/>
            </p:nvPicPr>
            <p:blipFill>
              <a:blip r:embed="rId3"/>
              <a:stretch>
                <a:fillRect/>
              </a:stretch>
            </p:blipFill>
            <p:spPr>
              <a:xfrm rot="16200000">
                <a:off x="6266122" y="2589517"/>
                <a:ext cx="172380" cy="419567"/>
              </a:xfrm>
              <a:prstGeom prst="rect">
                <a:avLst/>
              </a:prstGeom>
            </p:spPr>
          </p:pic>
        </p:grpSp>
        <p:grpSp>
          <p:nvGrpSpPr>
            <p:cNvPr id="36" name="Group 35">
              <a:extLst>
                <a:ext uri="{FF2B5EF4-FFF2-40B4-BE49-F238E27FC236}">
                  <a16:creationId xmlns:a16="http://schemas.microsoft.com/office/drawing/2014/main" id="{4A3BB565-751D-4470-A9FD-D858EFB7DFC7}"/>
                </a:ext>
              </a:extLst>
            </p:cNvPr>
            <p:cNvGrpSpPr/>
            <p:nvPr/>
          </p:nvGrpSpPr>
          <p:grpSpPr>
            <a:xfrm rot="1998134" flipH="1">
              <a:off x="7090194" y="1492306"/>
              <a:ext cx="948315" cy="1736386"/>
              <a:chOff x="7685980" y="2187034"/>
              <a:chExt cx="1256029" cy="1837093"/>
            </a:xfrm>
          </p:grpSpPr>
          <p:pic>
            <p:nvPicPr>
              <p:cNvPr id="37" name="Picture 36">
                <a:extLst>
                  <a:ext uri="{FF2B5EF4-FFF2-40B4-BE49-F238E27FC236}">
                    <a16:creationId xmlns:a16="http://schemas.microsoft.com/office/drawing/2014/main" id="{E9E7B817-BAC1-4E4E-A554-7C5AAD402510}"/>
                  </a:ext>
                </a:extLst>
              </p:cNvPr>
              <p:cNvPicPr>
                <a:picLocks noChangeAspect="1"/>
              </p:cNvPicPr>
              <p:nvPr/>
            </p:nvPicPr>
            <p:blipFill>
              <a:blip r:embed="rId3"/>
              <a:stretch>
                <a:fillRect/>
              </a:stretch>
            </p:blipFill>
            <p:spPr>
              <a:xfrm rot="11280096">
                <a:off x="8674563" y="3285494"/>
                <a:ext cx="267446" cy="738633"/>
              </a:xfrm>
              <a:prstGeom prst="rect">
                <a:avLst/>
              </a:prstGeom>
            </p:spPr>
          </p:pic>
          <p:pic>
            <p:nvPicPr>
              <p:cNvPr id="38" name="Picture 37">
                <a:extLst>
                  <a:ext uri="{FF2B5EF4-FFF2-40B4-BE49-F238E27FC236}">
                    <a16:creationId xmlns:a16="http://schemas.microsoft.com/office/drawing/2014/main" id="{B2289C8E-829F-4F40-977B-0AF1FAAC35CF}"/>
                  </a:ext>
                </a:extLst>
              </p:cNvPr>
              <p:cNvPicPr>
                <a:picLocks noChangeAspect="1"/>
              </p:cNvPicPr>
              <p:nvPr/>
            </p:nvPicPr>
            <p:blipFill>
              <a:blip r:embed="rId3"/>
              <a:stretch>
                <a:fillRect/>
              </a:stretch>
            </p:blipFill>
            <p:spPr>
              <a:xfrm rot="9369702">
                <a:off x="8642063" y="2488142"/>
                <a:ext cx="212956" cy="738633"/>
              </a:xfrm>
              <a:prstGeom prst="rect">
                <a:avLst/>
              </a:prstGeom>
            </p:spPr>
          </p:pic>
          <p:pic>
            <p:nvPicPr>
              <p:cNvPr id="39" name="Picture 38">
                <a:extLst>
                  <a:ext uri="{FF2B5EF4-FFF2-40B4-BE49-F238E27FC236}">
                    <a16:creationId xmlns:a16="http://schemas.microsoft.com/office/drawing/2014/main" id="{3DEDAA8F-4C9A-4AC9-82EB-2F47E2CB6755}"/>
                  </a:ext>
                </a:extLst>
              </p:cNvPr>
              <p:cNvPicPr>
                <a:picLocks noChangeAspect="1"/>
              </p:cNvPicPr>
              <p:nvPr/>
            </p:nvPicPr>
            <p:blipFill>
              <a:blip r:embed="rId3"/>
              <a:stretch>
                <a:fillRect/>
              </a:stretch>
            </p:blipFill>
            <p:spPr>
              <a:xfrm rot="7636654">
                <a:off x="8005054" y="1867960"/>
                <a:ext cx="248225" cy="886373"/>
              </a:xfrm>
              <a:prstGeom prst="rect">
                <a:avLst/>
              </a:prstGeom>
            </p:spPr>
          </p:pic>
        </p:grpSp>
        <p:grpSp>
          <p:nvGrpSpPr>
            <p:cNvPr id="40" name="Group 39">
              <a:extLst>
                <a:ext uri="{FF2B5EF4-FFF2-40B4-BE49-F238E27FC236}">
                  <a16:creationId xmlns:a16="http://schemas.microsoft.com/office/drawing/2014/main" id="{B2AE3130-EE37-4451-A531-EDA6B0D1DDE2}"/>
                </a:ext>
              </a:extLst>
            </p:cNvPr>
            <p:cNvGrpSpPr/>
            <p:nvPr/>
          </p:nvGrpSpPr>
          <p:grpSpPr>
            <a:xfrm rot="5400000">
              <a:off x="4703931" y="2290734"/>
              <a:ext cx="878200" cy="202212"/>
              <a:chOff x="5263049" y="2705625"/>
              <a:chExt cx="1299046" cy="179867"/>
            </a:xfrm>
          </p:grpSpPr>
          <p:pic>
            <p:nvPicPr>
              <p:cNvPr id="41" name="Picture 40">
                <a:extLst>
                  <a:ext uri="{FF2B5EF4-FFF2-40B4-BE49-F238E27FC236}">
                    <a16:creationId xmlns:a16="http://schemas.microsoft.com/office/drawing/2014/main" id="{83C10EB7-2B99-468D-819C-987F5C504D8C}"/>
                  </a:ext>
                </a:extLst>
              </p:cNvPr>
              <p:cNvPicPr>
                <a:picLocks noChangeAspect="1"/>
              </p:cNvPicPr>
              <p:nvPr/>
            </p:nvPicPr>
            <p:blipFill>
              <a:blip r:embed="rId3"/>
              <a:stretch>
                <a:fillRect/>
              </a:stretch>
            </p:blipFill>
            <p:spPr>
              <a:xfrm rot="16200000">
                <a:off x="5386643" y="2589518"/>
                <a:ext cx="172380" cy="419567"/>
              </a:xfrm>
              <a:prstGeom prst="rect">
                <a:avLst/>
              </a:prstGeom>
            </p:spPr>
          </p:pic>
          <p:pic>
            <p:nvPicPr>
              <p:cNvPr id="42" name="Picture 41">
                <a:extLst>
                  <a:ext uri="{FF2B5EF4-FFF2-40B4-BE49-F238E27FC236}">
                    <a16:creationId xmlns:a16="http://schemas.microsoft.com/office/drawing/2014/main" id="{EC9848D9-6C92-49E3-AAED-971D04B578EB}"/>
                  </a:ext>
                </a:extLst>
              </p:cNvPr>
              <p:cNvPicPr>
                <a:picLocks noChangeAspect="1"/>
              </p:cNvPicPr>
              <p:nvPr/>
            </p:nvPicPr>
            <p:blipFill>
              <a:blip r:embed="rId3"/>
              <a:stretch>
                <a:fillRect/>
              </a:stretch>
            </p:blipFill>
            <p:spPr>
              <a:xfrm rot="16200000">
                <a:off x="5825526" y="2582031"/>
                <a:ext cx="172380" cy="419567"/>
              </a:xfrm>
              <a:prstGeom prst="rect">
                <a:avLst/>
              </a:prstGeom>
            </p:spPr>
          </p:pic>
          <p:pic>
            <p:nvPicPr>
              <p:cNvPr id="43" name="Picture 42">
                <a:extLst>
                  <a:ext uri="{FF2B5EF4-FFF2-40B4-BE49-F238E27FC236}">
                    <a16:creationId xmlns:a16="http://schemas.microsoft.com/office/drawing/2014/main" id="{5831AB5C-E8AB-4477-8053-4443B1CBD840}"/>
                  </a:ext>
                </a:extLst>
              </p:cNvPr>
              <p:cNvPicPr>
                <a:picLocks noChangeAspect="1"/>
              </p:cNvPicPr>
              <p:nvPr/>
            </p:nvPicPr>
            <p:blipFill>
              <a:blip r:embed="rId3"/>
              <a:stretch>
                <a:fillRect/>
              </a:stretch>
            </p:blipFill>
            <p:spPr>
              <a:xfrm rot="16200000">
                <a:off x="6266122" y="2589517"/>
                <a:ext cx="172380" cy="419567"/>
              </a:xfrm>
              <a:prstGeom prst="rect">
                <a:avLst/>
              </a:prstGeom>
            </p:spPr>
          </p:pic>
        </p:grpSp>
        <p:grpSp>
          <p:nvGrpSpPr>
            <p:cNvPr id="44" name="Group 43">
              <a:extLst>
                <a:ext uri="{FF2B5EF4-FFF2-40B4-BE49-F238E27FC236}">
                  <a16:creationId xmlns:a16="http://schemas.microsoft.com/office/drawing/2014/main" id="{45DCB847-20C4-47F3-B25B-06C278DFC12B}"/>
                </a:ext>
              </a:extLst>
            </p:cNvPr>
            <p:cNvGrpSpPr/>
            <p:nvPr/>
          </p:nvGrpSpPr>
          <p:grpSpPr>
            <a:xfrm rot="6857826">
              <a:off x="5699104" y="3017943"/>
              <a:ext cx="273992" cy="821684"/>
              <a:chOff x="8460833" y="2533713"/>
              <a:chExt cx="398681" cy="1573232"/>
            </a:xfrm>
          </p:grpSpPr>
          <p:pic>
            <p:nvPicPr>
              <p:cNvPr id="45" name="Picture 44">
                <a:extLst>
                  <a:ext uri="{FF2B5EF4-FFF2-40B4-BE49-F238E27FC236}">
                    <a16:creationId xmlns:a16="http://schemas.microsoft.com/office/drawing/2014/main" id="{7A0F325C-ABCF-43F6-B21E-9F021928C93B}"/>
                  </a:ext>
                </a:extLst>
              </p:cNvPr>
              <p:cNvPicPr>
                <a:picLocks noChangeAspect="1"/>
              </p:cNvPicPr>
              <p:nvPr/>
            </p:nvPicPr>
            <p:blipFill>
              <a:blip r:embed="rId3"/>
              <a:stretch>
                <a:fillRect/>
              </a:stretch>
            </p:blipFill>
            <p:spPr>
              <a:xfrm rot="11732747">
                <a:off x="8460833" y="3307276"/>
                <a:ext cx="309495" cy="799669"/>
              </a:xfrm>
              <a:prstGeom prst="rect">
                <a:avLst/>
              </a:prstGeom>
            </p:spPr>
          </p:pic>
          <p:pic>
            <p:nvPicPr>
              <p:cNvPr id="46" name="Picture 45">
                <a:extLst>
                  <a:ext uri="{FF2B5EF4-FFF2-40B4-BE49-F238E27FC236}">
                    <a16:creationId xmlns:a16="http://schemas.microsoft.com/office/drawing/2014/main" id="{B7418A58-EA31-4966-BF96-AC144AC4C31C}"/>
                  </a:ext>
                </a:extLst>
              </p:cNvPr>
              <p:cNvPicPr>
                <a:picLocks noChangeAspect="1"/>
              </p:cNvPicPr>
              <p:nvPr/>
            </p:nvPicPr>
            <p:blipFill>
              <a:blip r:embed="rId3"/>
              <a:stretch>
                <a:fillRect/>
              </a:stretch>
            </p:blipFill>
            <p:spPr>
              <a:xfrm rot="10775552">
                <a:off x="8573642" y="2533713"/>
                <a:ext cx="285872" cy="738633"/>
              </a:xfrm>
              <a:prstGeom prst="rect">
                <a:avLst/>
              </a:prstGeom>
            </p:spPr>
          </p:pic>
        </p:grpSp>
        <p:grpSp>
          <p:nvGrpSpPr>
            <p:cNvPr id="54" name="Group 53">
              <a:extLst>
                <a:ext uri="{FF2B5EF4-FFF2-40B4-BE49-F238E27FC236}">
                  <a16:creationId xmlns:a16="http://schemas.microsoft.com/office/drawing/2014/main" id="{C1CF9A42-2995-479C-AE83-8054830B8E2B}"/>
                </a:ext>
              </a:extLst>
            </p:cNvPr>
            <p:cNvGrpSpPr/>
            <p:nvPr/>
          </p:nvGrpSpPr>
          <p:grpSpPr>
            <a:xfrm rot="20493391">
              <a:off x="6329539" y="2009988"/>
              <a:ext cx="406221" cy="804869"/>
              <a:chOff x="-1085937" y="2022552"/>
              <a:chExt cx="614188" cy="722706"/>
            </a:xfrm>
          </p:grpSpPr>
          <p:pic>
            <p:nvPicPr>
              <p:cNvPr id="51" name="Picture 50">
                <a:extLst>
                  <a:ext uri="{FF2B5EF4-FFF2-40B4-BE49-F238E27FC236}">
                    <a16:creationId xmlns:a16="http://schemas.microsoft.com/office/drawing/2014/main" id="{AEC29CDD-DD41-4AE8-A8D9-7C3ACB867867}"/>
                  </a:ext>
                </a:extLst>
              </p:cNvPr>
              <p:cNvPicPr>
                <a:picLocks noChangeAspect="1"/>
              </p:cNvPicPr>
              <p:nvPr/>
            </p:nvPicPr>
            <p:blipFill>
              <a:blip r:embed="rId3">
                <a:duotone>
                  <a:prstClr val="black"/>
                  <a:schemeClr val="accent5">
                    <a:tint val="45000"/>
                    <a:satMod val="400000"/>
                  </a:schemeClr>
                </a:duotone>
              </a:blip>
              <a:stretch>
                <a:fillRect/>
              </a:stretch>
            </p:blipFill>
            <p:spPr>
              <a:xfrm rot="12008094" flipH="1">
                <a:off x="-763248" y="2022552"/>
                <a:ext cx="291499" cy="391752"/>
              </a:xfrm>
              <a:prstGeom prst="rect">
                <a:avLst/>
              </a:prstGeom>
            </p:spPr>
          </p:pic>
          <p:pic>
            <p:nvPicPr>
              <p:cNvPr id="52" name="Picture 51">
                <a:extLst>
                  <a:ext uri="{FF2B5EF4-FFF2-40B4-BE49-F238E27FC236}">
                    <a16:creationId xmlns:a16="http://schemas.microsoft.com/office/drawing/2014/main" id="{0B8248A8-BEAA-4526-9106-FA340FDB75F4}"/>
                  </a:ext>
                </a:extLst>
              </p:cNvPr>
              <p:cNvPicPr>
                <a:picLocks noChangeAspect="1"/>
              </p:cNvPicPr>
              <p:nvPr/>
            </p:nvPicPr>
            <p:blipFill>
              <a:blip r:embed="rId3">
                <a:duotone>
                  <a:prstClr val="black"/>
                  <a:schemeClr val="accent5">
                    <a:tint val="45000"/>
                    <a:satMod val="400000"/>
                  </a:schemeClr>
                </a:duotone>
              </a:blip>
              <a:stretch>
                <a:fillRect/>
              </a:stretch>
            </p:blipFill>
            <p:spPr>
              <a:xfrm rot="12008094" flipH="1">
                <a:off x="-1085937" y="2353506"/>
                <a:ext cx="291499" cy="391752"/>
              </a:xfrm>
              <a:prstGeom prst="rect">
                <a:avLst/>
              </a:prstGeom>
            </p:spPr>
          </p:pic>
        </p:grpSp>
        <p:grpSp>
          <p:nvGrpSpPr>
            <p:cNvPr id="55" name="Group 54">
              <a:extLst>
                <a:ext uri="{FF2B5EF4-FFF2-40B4-BE49-F238E27FC236}">
                  <a16:creationId xmlns:a16="http://schemas.microsoft.com/office/drawing/2014/main" id="{25D55D6B-82DD-47AE-9DD5-B67FF8561235}"/>
                </a:ext>
              </a:extLst>
            </p:cNvPr>
            <p:cNvGrpSpPr/>
            <p:nvPr/>
          </p:nvGrpSpPr>
          <p:grpSpPr>
            <a:xfrm rot="15115728">
              <a:off x="7163910" y="3061354"/>
              <a:ext cx="336112" cy="830035"/>
              <a:chOff x="-979936" y="2022552"/>
              <a:chExt cx="508187" cy="745303"/>
            </a:xfrm>
          </p:grpSpPr>
          <p:pic>
            <p:nvPicPr>
              <p:cNvPr id="56" name="Picture 55">
                <a:extLst>
                  <a:ext uri="{FF2B5EF4-FFF2-40B4-BE49-F238E27FC236}">
                    <a16:creationId xmlns:a16="http://schemas.microsoft.com/office/drawing/2014/main" id="{AF5FCBA9-95AF-4D1D-9C17-CF87513CCF18}"/>
                  </a:ext>
                </a:extLst>
              </p:cNvPr>
              <p:cNvPicPr>
                <a:picLocks noChangeAspect="1"/>
              </p:cNvPicPr>
              <p:nvPr/>
            </p:nvPicPr>
            <p:blipFill>
              <a:blip r:embed="rId3">
                <a:duotone>
                  <a:prstClr val="black"/>
                  <a:schemeClr val="accent5">
                    <a:tint val="45000"/>
                    <a:satMod val="400000"/>
                  </a:schemeClr>
                </a:duotone>
              </a:blip>
              <a:stretch>
                <a:fillRect/>
              </a:stretch>
            </p:blipFill>
            <p:spPr>
              <a:xfrm rot="12008094" flipH="1">
                <a:off x="-763248" y="2022552"/>
                <a:ext cx="291499" cy="391752"/>
              </a:xfrm>
              <a:prstGeom prst="rect">
                <a:avLst/>
              </a:prstGeom>
            </p:spPr>
          </p:pic>
          <p:pic>
            <p:nvPicPr>
              <p:cNvPr id="57" name="Picture 56">
                <a:extLst>
                  <a:ext uri="{FF2B5EF4-FFF2-40B4-BE49-F238E27FC236}">
                    <a16:creationId xmlns:a16="http://schemas.microsoft.com/office/drawing/2014/main" id="{C9D9BD83-185C-480F-AEFF-5C96F90AE19C}"/>
                  </a:ext>
                </a:extLst>
              </p:cNvPr>
              <p:cNvPicPr>
                <a:picLocks noChangeAspect="1"/>
              </p:cNvPicPr>
              <p:nvPr/>
            </p:nvPicPr>
            <p:blipFill>
              <a:blip r:embed="rId3">
                <a:duotone>
                  <a:prstClr val="black"/>
                  <a:schemeClr val="accent5">
                    <a:tint val="45000"/>
                    <a:satMod val="400000"/>
                  </a:schemeClr>
                </a:duotone>
              </a:blip>
              <a:stretch>
                <a:fillRect/>
              </a:stretch>
            </p:blipFill>
            <p:spPr>
              <a:xfrm rot="12008094" flipH="1">
                <a:off x="-979936" y="2376103"/>
                <a:ext cx="291499" cy="391752"/>
              </a:xfrm>
              <a:prstGeom prst="rect">
                <a:avLst/>
              </a:prstGeom>
            </p:spPr>
          </p:pic>
        </p:grpSp>
        <p:grpSp>
          <p:nvGrpSpPr>
            <p:cNvPr id="64" name="Group 63">
              <a:extLst>
                <a:ext uri="{FF2B5EF4-FFF2-40B4-BE49-F238E27FC236}">
                  <a16:creationId xmlns:a16="http://schemas.microsoft.com/office/drawing/2014/main" id="{CD3441FD-85B1-406E-9AFC-6CC55599D464}"/>
                </a:ext>
              </a:extLst>
            </p:cNvPr>
            <p:cNvGrpSpPr/>
            <p:nvPr/>
          </p:nvGrpSpPr>
          <p:grpSpPr>
            <a:xfrm>
              <a:off x="6881120" y="1897676"/>
              <a:ext cx="1705020" cy="1338105"/>
              <a:chOff x="-1317050" y="1721064"/>
              <a:chExt cx="1206747" cy="1328021"/>
            </a:xfrm>
          </p:grpSpPr>
          <p:pic>
            <p:nvPicPr>
              <p:cNvPr id="59" name="Picture 58">
                <a:extLst>
                  <a:ext uri="{FF2B5EF4-FFF2-40B4-BE49-F238E27FC236}">
                    <a16:creationId xmlns:a16="http://schemas.microsoft.com/office/drawing/2014/main" id="{2B4597B0-069E-4626-9E7B-FFC7580C40C4}"/>
                  </a:ext>
                </a:extLst>
              </p:cNvPr>
              <p:cNvPicPr>
                <a:picLocks noChangeAspect="1"/>
              </p:cNvPicPr>
              <p:nvPr/>
            </p:nvPicPr>
            <p:blipFill>
              <a:blip r:embed="rId3">
                <a:duotone>
                  <a:prstClr val="black"/>
                  <a:schemeClr val="accent5">
                    <a:tint val="45000"/>
                    <a:satMod val="400000"/>
                  </a:schemeClr>
                </a:duotone>
              </a:blip>
              <a:stretch>
                <a:fillRect/>
              </a:stretch>
            </p:blipFill>
            <p:spPr>
              <a:xfrm rot="1417141" flipH="1">
                <a:off x="-1317050" y="2612795"/>
                <a:ext cx="153320" cy="436290"/>
              </a:xfrm>
              <a:prstGeom prst="rect">
                <a:avLst/>
              </a:prstGeom>
            </p:spPr>
          </p:pic>
          <p:pic>
            <p:nvPicPr>
              <p:cNvPr id="61" name="Picture 60">
                <a:extLst>
                  <a:ext uri="{FF2B5EF4-FFF2-40B4-BE49-F238E27FC236}">
                    <a16:creationId xmlns:a16="http://schemas.microsoft.com/office/drawing/2014/main" id="{D157B364-4658-49FC-9448-3F1605F6FD75}"/>
                  </a:ext>
                </a:extLst>
              </p:cNvPr>
              <p:cNvPicPr>
                <a:picLocks noChangeAspect="1"/>
              </p:cNvPicPr>
              <p:nvPr/>
            </p:nvPicPr>
            <p:blipFill>
              <a:blip r:embed="rId3">
                <a:duotone>
                  <a:prstClr val="black"/>
                  <a:schemeClr val="accent5">
                    <a:tint val="45000"/>
                    <a:satMod val="400000"/>
                  </a:schemeClr>
                </a:duotone>
              </a:blip>
              <a:stretch>
                <a:fillRect/>
              </a:stretch>
            </p:blipFill>
            <p:spPr>
              <a:xfrm rot="1724950" flipH="1">
                <a:off x="-1123060" y="2193661"/>
                <a:ext cx="192796" cy="436290"/>
              </a:xfrm>
              <a:prstGeom prst="rect">
                <a:avLst/>
              </a:prstGeom>
            </p:spPr>
          </p:pic>
          <p:pic>
            <p:nvPicPr>
              <p:cNvPr id="62" name="Picture 61">
                <a:extLst>
                  <a:ext uri="{FF2B5EF4-FFF2-40B4-BE49-F238E27FC236}">
                    <a16:creationId xmlns:a16="http://schemas.microsoft.com/office/drawing/2014/main" id="{A73E211D-D90D-4F49-AB96-E8ED253641FF}"/>
                  </a:ext>
                </a:extLst>
              </p:cNvPr>
              <p:cNvPicPr>
                <a:picLocks noChangeAspect="1"/>
              </p:cNvPicPr>
              <p:nvPr/>
            </p:nvPicPr>
            <p:blipFill>
              <a:blip r:embed="rId3">
                <a:duotone>
                  <a:prstClr val="black"/>
                  <a:schemeClr val="accent5">
                    <a:tint val="45000"/>
                    <a:satMod val="400000"/>
                  </a:schemeClr>
                </a:duotone>
              </a:blip>
              <a:stretch>
                <a:fillRect/>
              </a:stretch>
            </p:blipFill>
            <p:spPr>
              <a:xfrm rot="2871598" flipH="1">
                <a:off x="-850029" y="1836796"/>
                <a:ext cx="192796" cy="436290"/>
              </a:xfrm>
              <a:prstGeom prst="rect">
                <a:avLst/>
              </a:prstGeom>
            </p:spPr>
          </p:pic>
          <p:pic>
            <p:nvPicPr>
              <p:cNvPr id="63" name="Picture 62">
                <a:extLst>
                  <a:ext uri="{FF2B5EF4-FFF2-40B4-BE49-F238E27FC236}">
                    <a16:creationId xmlns:a16="http://schemas.microsoft.com/office/drawing/2014/main" id="{4B2993CB-3608-4714-877C-4049503CEC54}"/>
                  </a:ext>
                </a:extLst>
              </p:cNvPr>
              <p:cNvPicPr>
                <a:picLocks noChangeAspect="1"/>
              </p:cNvPicPr>
              <p:nvPr/>
            </p:nvPicPr>
            <p:blipFill>
              <a:blip r:embed="rId3">
                <a:duotone>
                  <a:prstClr val="black"/>
                  <a:schemeClr val="accent5">
                    <a:tint val="45000"/>
                    <a:satMod val="400000"/>
                  </a:schemeClr>
                </a:duotone>
              </a:blip>
              <a:stretch>
                <a:fillRect/>
              </a:stretch>
            </p:blipFill>
            <p:spPr>
              <a:xfrm rot="4437372" flipH="1">
                <a:off x="-436030" y="1594989"/>
                <a:ext cx="199651" cy="451802"/>
              </a:xfrm>
              <a:prstGeom prst="rect">
                <a:avLst/>
              </a:prstGeom>
            </p:spPr>
          </p:pic>
        </p:grpSp>
      </p:grpSp>
      <p:sp>
        <p:nvSpPr>
          <p:cNvPr id="66" name="TextBox 65">
            <a:extLst>
              <a:ext uri="{FF2B5EF4-FFF2-40B4-BE49-F238E27FC236}">
                <a16:creationId xmlns:a16="http://schemas.microsoft.com/office/drawing/2014/main" id="{7F381218-8162-44E4-93F2-5303B2491152}"/>
              </a:ext>
            </a:extLst>
          </p:cNvPr>
          <p:cNvSpPr txBox="1"/>
          <p:nvPr/>
        </p:nvSpPr>
        <p:spPr>
          <a:xfrm>
            <a:off x="-61084" y="4232379"/>
            <a:ext cx="6157084" cy="2677656"/>
          </a:xfrm>
          <a:prstGeom prst="rect">
            <a:avLst/>
          </a:prstGeom>
          <a:noFill/>
        </p:spPr>
        <p:txBody>
          <a:bodyPr wrap="square">
            <a:spAutoFit/>
          </a:bodyPr>
          <a:lstStyle/>
          <a:p>
            <a:pPr marL="285750" indent="-285750">
              <a:buFont typeface="Wingdings" panose="05000000000000000000" pitchFamily="2" charset="2"/>
              <a:buChar char="§"/>
              <a:defRPr>
                <a:latin typeface="Ubuntu"/>
                <a:ea typeface="Ubuntu"/>
                <a:cs typeface="Ubuntu"/>
              </a:defRPr>
            </a:pPr>
            <a:r>
              <a:rPr lang="en-PH" sz="2400" dirty="0">
                <a:latin typeface="Ubuntu" panose="02020603050405020304" pitchFamily="18" charset="0"/>
                <a:cs typeface="Ubuntu" panose="02020603050405020304" pitchFamily="18" charset="0"/>
              </a:rPr>
              <a:t>Send command from GS.</a:t>
            </a:r>
          </a:p>
          <a:p>
            <a:pPr marL="285750" indent="-285750">
              <a:buFont typeface="Wingdings" panose="05000000000000000000" pitchFamily="2" charset="2"/>
              <a:buChar char="§"/>
              <a:defRPr>
                <a:latin typeface="Ubuntu"/>
                <a:ea typeface="Ubuntu"/>
                <a:cs typeface="Ubuntu"/>
              </a:defRPr>
            </a:pPr>
            <a:r>
              <a:rPr lang="en-PH" sz="2400" dirty="0">
                <a:latin typeface="Ubuntu" panose="02020603050405020304" pitchFamily="18" charset="0"/>
                <a:cs typeface="Ubuntu" panose="02020603050405020304" pitchFamily="18" charset="0"/>
              </a:rPr>
              <a:t>Antenna receives command.</a:t>
            </a:r>
          </a:p>
          <a:p>
            <a:pPr marL="285750" indent="-285750">
              <a:buFont typeface="Wingdings" panose="05000000000000000000" pitchFamily="2" charset="2"/>
              <a:buChar char="§"/>
              <a:defRPr>
                <a:latin typeface="Ubuntu"/>
                <a:ea typeface="Ubuntu"/>
                <a:cs typeface="Ubuntu"/>
              </a:defRPr>
            </a:pPr>
            <a:r>
              <a:rPr lang="en-PH" sz="2400" dirty="0">
                <a:latin typeface="Ubuntu" panose="02020603050405020304" pitchFamily="18" charset="0"/>
                <a:cs typeface="Ubuntu" panose="02020603050405020304" pitchFamily="18" charset="0"/>
              </a:rPr>
              <a:t>COMM PIC relays command to Main PIC.</a:t>
            </a:r>
          </a:p>
          <a:p>
            <a:pPr marL="285750" indent="-285750">
              <a:buFont typeface="Wingdings" panose="05000000000000000000" pitchFamily="2" charset="2"/>
              <a:buChar char="§"/>
              <a:defRPr>
                <a:latin typeface="Ubuntu"/>
                <a:ea typeface="Ubuntu"/>
                <a:cs typeface="Ubuntu"/>
              </a:defRPr>
            </a:pPr>
            <a:r>
              <a:rPr lang="en-PH" sz="2400" dirty="0">
                <a:latin typeface="Ubuntu" panose="02020603050405020304" pitchFamily="18" charset="0"/>
                <a:cs typeface="Ubuntu" panose="02020603050405020304" pitchFamily="18" charset="0"/>
              </a:rPr>
              <a:t>All DIO communications (turn on and off, and trigger) are routed through CPLD.</a:t>
            </a:r>
          </a:p>
          <a:p>
            <a:pPr marL="285750" indent="-285750">
              <a:buFont typeface="Wingdings" panose="05000000000000000000" pitchFamily="2" charset="2"/>
              <a:buChar char="§"/>
              <a:defRPr>
                <a:latin typeface="Ubuntu"/>
                <a:ea typeface="Ubuntu"/>
                <a:cs typeface="Ubuntu"/>
              </a:defRPr>
            </a:pPr>
            <a:r>
              <a:rPr lang="en-PH" sz="2400" dirty="0">
                <a:latin typeface="Ubuntu" panose="02020603050405020304" pitchFamily="18" charset="0"/>
                <a:cs typeface="Ubuntu" panose="02020603050405020304" pitchFamily="18" charset="0"/>
              </a:rPr>
              <a:t>UART communications (capture, copy and erase) are routed through MB-CPL.</a:t>
            </a:r>
          </a:p>
        </p:txBody>
      </p:sp>
      <p:sp>
        <p:nvSpPr>
          <p:cNvPr id="4" name="Slide Number Placeholder 7">
            <a:extLst>
              <a:ext uri="{FF2B5EF4-FFF2-40B4-BE49-F238E27FC236}">
                <a16:creationId xmlns:a16="http://schemas.microsoft.com/office/drawing/2014/main" id="{A361F8D9-A5D6-F453-83D2-B910D0C9FF89}"/>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26</a:t>
            </a:fld>
            <a:endParaRPr lang="en-US" sz="4800" b="1" dirty="0">
              <a:solidFill>
                <a:srgbClr val="FF0000"/>
              </a:solidFill>
            </a:endParaRPr>
          </a:p>
        </p:txBody>
      </p:sp>
      <p:pic>
        <p:nvPicPr>
          <p:cNvPr id="67" name="Space Faculty logo" descr="sf_logo.png"/>
          <p:cNvPicPr>
            <a:picLocks noChangeAspect="1"/>
          </p:cNvPicPr>
          <p:nvPr/>
        </p:nvPicPr>
        <p:blipFill>
          <a:blip r:embed="rId4"/>
          <a:stretch>
            <a:fillRect/>
          </a:stretch>
        </p:blipFill>
        <p:spPr>
          <a:xfrm>
            <a:off x="10473528" y="54863"/>
            <a:ext cx="1605695" cy="456307"/>
          </a:xfrm>
          <a:prstGeom prst="rect">
            <a:avLst/>
          </a:prstGeom>
        </p:spPr>
      </p:pic>
    </p:spTree>
    <p:extLst>
      <p:ext uri="{BB962C8B-B14F-4D97-AF65-F5344CB8AC3E}">
        <p14:creationId xmlns:p14="http://schemas.microsoft.com/office/powerpoint/2010/main" val="2683503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p:cNvSpPr/>
          <p:nvPr/>
        </p:nvSpPr>
        <p:spPr>
          <a:xfrm>
            <a:off x="1524000" y="791109"/>
            <a:ext cx="9144000" cy="108000"/>
          </a:xfrm>
          <a:prstGeom prst="rect">
            <a:avLst/>
          </a:prstGeom>
          <a:gradFill flip="none" rotWithShape="1">
            <a:gsLst>
              <a:gs pos="0">
                <a:schemeClr val="accent5">
                  <a:lumMod val="75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kumimoji="1" lang="ja-JP" altLang="en-US"/>
          </a:p>
        </p:txBody>
      </p:sp>
      <p:sp>
        <p:nvSpPr>
          <p:cNvPr id="11" name="Title 2">
            <a:extLst>
              <a:ext uri="{FF2B5EF4-FFF2-40B4-BE49-F238E27FC236}">
                <a16:creationId xmlns:a16="http://schemas.microsoft.com/office/drawing/2014/main" id="{C28CC5FE-F812-44CD-9FFF-69391F0F3BB6}"/>
              </a:ext>
            </a:extLst>
          </p:cNvPr>
          <p:cNvSpPr>
            <a:spLocks noGrp="1"/>
          </p:cNvSpPr>
          <p:nvPr>
            <p:ph type="title"/>
          </p:nvPr>
        </p:nvSpPr>
        <p:spPr>
          <a:xfrm>
            <a:off x="1961072" y="38757"/>
            <a:ext cx="8840127" cy="635563"/>
          </a:xfrm>
        </p:spPr>
        <p:txBody>
          <a:bodyPr>
            <a:noAutofit/>
          </a:bodyPr>
          <a:lstStyle/>
          <a:p>
            <a:pPr>
              <a:defRPr>
                <a:latin typeface="House Movements Runway"/>
                <a:ea typeface="House Movements Runway"/>
                <a:cs typeface="House Movements Runway"/>
              </a:defRPr>
            </a:pPr>
            <a:r>
              <a:rPr lang="en-US" b="1" dirty="0">
                <a:latin typeface="House Movements Runway" panose="02020603050405020304" pitchFamily="18" charset="0"/>
                <a:cs typeface="House Movements Runway" panose="02020603050405020304" pitchFamily="18" charset="0"/>
              </a:rPr>
              <a:t>Concept of Operation (</a:t>
            </a:r>
            <a:r>
              <a:rPr lang="en-US" b="1" dirty="0">
                <a:solidFill>
                  <a:srgbClr val="00B0F0"/>
                </a:solidFill>
                <a:latin typeface="House Movements Runway" panose="02020603050405020304" pitchFamily="18" charset="0"/>
                <a:cs typeface="House Movements Runway" panose="02020603050405020304" pitchFamily="18" charset="0"/>
              </a:rPr>
              <a:t>Downlink</a:t>
            </a:r>
            <a:r>
              <a:rPr lang="en-US" b="1" dirty="0">
                <a:latin typeface="House Movements Runway" panose="02020603050405020304" pitchFamily="18" charset="0"/>
                <a:cs typeface="House Movements Runway" panose="02020603050405020304" pitchFamily="18" charset="0"/>
              </a:rPr>
              <a:t>)</a:t>
            </a:r>
          </a:p>
        </p:txBody>
      </p:sp>
      <p:sp>
        <p:nvSpPr>
          <p:cNvPr id="35" name="TextBox 34">
            <a:extLst>
              <a:ext uri="{FF2B5EF4-FFF2-40B4-BE49-F238E27FC236}">
                <a16:creationId xmlns:a16="http://schemas.microsoft.com/office/drawing/2014/main" id="{FBF82EA5-FD39-4E54-ABB4-5055F72B8478}"/>
              </a:ext>
            </a:extLst>
          </p:cNvPr>
          <p:cNvSpPr txBox="1"/>
          <p:nvPr/>
        </p:nvSpPr>
        <p:spPr>
          <a:xfrm>
            <a:off x="5638800" y="4866562"/>
            <a:ext cx="6096000" cy="2092881"/>
          </a:xfrm>
          <a:prstGeom prst="rect">
            <a:avLst/>
          </a:prstGeom>
          <a:noFill/>
        </p:spPr>
        <p:txBody>
          <a:bodyPr wrap="square">
            <a:spAutoFit/>
          </a:bodyPr>
          <a:lstStyle/>
          <a:p>
            <a:pPr marL="285750" indent="-285750">
              <a:buFont typeface="Wingdings" panose="05000000000000000000" pitchFamily="2" charset="2"/>
              <a:buChar char="§"/>
              <a:defRPr>
                <a:latin typeface="Ubuntu"/>
                <a:ea typeface="Ubuntu"/>
                <a:cs typeface="Ubuntu"/>
              </a:defRPr>
            </a:pPr>
            <a:r>
              <a:rPr lang="en-PH" sz="2600" dirty="0">
                <a:latin typeface="Ubuntu" panose="02020603050405020304" pitchFamily="18" charset="0"/>
                <a:cs typeface="Ubuntu" panose="02020603050405020304" pitchFamily="18" charset="0"/>
              </a:rPr>
              <a:t>Data from Shared FM1 is sent to the ground station.</a:t>
            </a:r>
          </a:p>
          <a:p>
            <a:pPr marL="285750" indent="-285750">
              <a:buFont typeface="Wingdings" panose="05000000000000000000" pitchFamily="2" charset="2"/>
              <a:buChar char="§"/>
              <a:defRPr>
                <a:latin typeface="Ubuntu"/>
                <a:ea typeface="Ubuntu"/>
                <a:cs typeface="Ubuntu"/>
              </a:defRPr>
            </a:pPr>
            <a:r>
              <a:rPr lang="en-PH" sz="2600" dirty="0">
                <a:latin typeface="Ubuntu" panose="02020603050405020304" pitchFamily="18" charset="0"/>
                <a:cs typeface="Ubuntu" panose="02020603050405020304" pitchFamily="18" charset="0"/>
              </a:rPr>
              <a:t>Data is received by the ground station.</a:t>
            </a:r>
          </a:p>
          <a:p>
            <a:pPr marL="285750" indent="-285750">
              <a:buFont typeface="Wingdings" panose="05000000000000000000" pitchFamily="2" charset="2"/>
              <a:buChar char="§"/>
              <a:defRPr>
                <a:latin typeface="Ubuntu"/>
                <a:ea typeface="Ubuntu"/>
                <a:cs typeface="Ubuntu"/>
              </a:defRPr>
            </a:pPr>
            <a:r>
              <a:rPr lang="en-PH" sz="2600" dirty="0">
                <a:latin typeface="Ubuntu" panose="02020603050405020304" pitchFamily="18" charset="0"/>
                <a:cs typeface="Ubuntu" panose="02020603050405020304" pitchFamily="18" charset="0"/>
              </a:rPr>
              <a:t>Hex Data is converted to JPEG using </a:t>
            </a:r>
            <a:r>
              <a:rPr lang="en-PH" sz="2600" dirty="0" err="1">
                <a:latin typeface="Ubuntu" panose="02020603050405020304" pitchFamily="18" charset="0"/>
                <a:cs typeface="Ubuntu" panose="02020603050405020304" pitchFamily="18" charset="0"/>
              </a:rPr>
              <a:t>FavBinEdit</a:t>
            </a:r>
            <a:r>
              <a:rPr lang="en-PH" sz="2600" dirty="0">
                <a:latin typeface="Ubuntu" panose="02020603050405020304" pitchFamily="18" charset="0"/>
                <a:cs typeface="Ubuntu" panose="02020603050405020304" pitchFamily="18" charset="0"/>
              </a:rPr>
              <a:t>.</a:t>
            </a:r>
          </a:p>
        </p:txBody>
      </p:sp>
      <p:sp>
        <p:nvSpPr>
          <p:cNvPr id="36" name="TextBox 35">
            <a:extLst>
              <a:ext uri="{FF2B5EF4-FFF2-40B4-BE49-F238E27FC236}">
                <a16:creationId xmlns:a16="http://schemas.microsoft.com/office/drawing/2014/main" id="{B5AA543F-B73A-4CDF-941F-C4B2209C283D}"/>
              </a:ext>
            </a:extLst>
          </p:cNvPr>
          <p:cNvSpPr txBox="1"/>
          <p:nvPr/>
        </p:nvSpPr>
        <p:spPr>
          <a:xfrm>
            <a:off x="50457" y="4866562"/>
            <a:ext cx="5211496" cy="1692771"/>
          </a:xfrm>
          <a:prstGeom prst="rect">
            <a:avLst/>
          </a:prstGeom>
          <a:noFill/>
        </p:spPr>
        <p:txBody>
          <a:bodyPr wrap="square">
            <a:spAutoFit/>
          </a:bodyPr>
          <a:lstStyle/>
          <a:p>
            <a:pPr marL="285750" indent="-285750">
              <a:buFont typeface="Wingdings" panose="05000000000000000000" pitchFamily="2" charset="2"/>
              <a:buChar char="§"/>
              <a:defRPr>
                <a:latin typeface="Ubuntu"/>
                <a:ea typeface="Ubuntu"/>
                <a:cs typeface="Ubuntu"/>
              </a:defRPr>
            </a:pPr>
            <a:r>
              <a:rPr lang="en-PH" sz="2600" dirty="0">
                <a:latin typeface="Ubuntu" panose="02020603050405020304" pitchFamily="18" charset="0"/>
                <a:cs typeface="Ubuntu" panose="02020603050405020304" pitchFamily="18" charset="0"/>
              </a:rPr>
              <a:t>Send command from GS.</a:t>
            </a:r>
          </a:p>
          <a:p>
            <a:pPr marL="285750" indent="-285750">
              <a:buFont typeface="Wingdings" panose="05000000000000000000" pitchFamily="2" charset="2"/>
              <a:buChar char="§"/>
              <a:defRPr>
                <a:latin typeface="Ubuntu"/>
                <a:ea typeface="Ubuntu"/>
                <a:cs typeface="Ubuntu"/>
              </a:defRPr>
            </a:pPr>
            <a:r>
              <a:rPr lang="en-PH" sz="2600" dirty="0">
                <a:latin typeface="Ubuntu" panose="02020603050405020304" pitchFamily="18" charset="0"/>
                <a:cs typeface="Ubuntu" panose="02020603050405020304" pitchFamily="18" charset="0"/>
              </a:rPr>
              <a:t>Antenna receives command.</a:t>
            </a:r>
          </a:p>
          <a:p>
            <a:pPr marL="285750" indent="-285750">
              <a:buFont typeface="Wingdings" panose="05000000000000000000" pitchFamily="2" charset="2"/>
              <a:buChar char="§"/>
              <a:defRPr>
                <a:latin typeface="Ubuntu"/>
                <a:ea typeface="Ubuntu"/>
                <a:cs typeface="Ubuntu"/>
              </a:defRPr>
            </a:pPr>
            <a:r>
              <a:rPr lang="en-PH" sz="2600" dirty="0">
                <a:latin typeface="Ubuntu" panose="02020603050405020304" pitchFamily="18" charset="0"/>
                <a:cs typeface="Ubuntu" panose="02020603050405020304" pitchFamily="18" charset="0"/>
              </a:rPr>
              <a:t>COM PIC relays command to OBC (Main PIC).</a:t>
            </a:r>
          </a:p>
        </p:txBody>
      </p:sp>
      <p:grpSp>
        <p:nvGrpSpPr>
          <p:cNvPr id="2" name="Group 1">
            <a:extLst>
              <a:ext uri="{FF2B5EF4-FFF2-40B4-BE49-F238E27FC236}">
                <a16:creationId xmlns:a16="http://schemas.microsoft.com/office/drawing/2014/main" id="{292ABBA3-A5B4-F38D-686C-302AFAAAFEDE}"/>
              </a:ext>
            </a:extLst>
          </p:cNvPr>
          <p:cNvGrpSpPr/>
          <p:nvPr/>
        </p:nvGrpSpPr>
        <p:grpSpPr>
          <a:xfrm>
            <a:off x="1111370" y="756950"/>
            <a:ext cx="10237076" cy="3850664"/>
            <a:chOff x="2185911" y="955994"/>
            <a:chExt cx="7820178" cy="3418305"/>
          </a:xfrm>
        </p:grpSpPr>
        <p:pic>
          <p:nvPicPr>
            <p:cNvPr id="16" name="Picture 15" descr="Diagram, schematic&#10;&#10;Description automatically generated">
              <a:extLst>
                <a:ext uri="{FF2B5EF4-FFF2-40B4-BE49-F238E27FC236}">
                  <a16:creationId xmlns:a16="http://schemas.microsoft.com/office/drawing/2014/main" id="{3E086987-399E-4446-9534-C51AEB0B7F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5911" y="955994"/>
              <a:ext cx="7820178" cy="3418305"/>
            </a:xfrm>
            <a:prstGeom prst="rect">
              <a:avLst/>
            </a:prstGeom>
          </p:spPr>
        </p:pic>
        <p:grpSp>
          <p:nvGrpSpPr>
            <p:cNvPr id="17" name="Group 16">
              <a:extLst>
                <a:ext uri="{FF2B5EF4-FFF2-40B4-BE49-F238E27FC236}">
                  <a16:creationId xmlns:a16="http://schemas.microsoft.com/office/drawing/2014/main" id="{469C7CFC-AE37-49F9-82E4-848628D06E43}"/>
                </a:ext>
              </a:extLst>
            </p:cNvPr>
            <p:cNvGrpSpPr/>
            <p:nvPr/>
          </p:nvGrpSpPr>
          <p:grpSpPr>
            <a:xfrm rot="1208094" flipH="1">
              <a:off x="2377030" y="2339915"/>
              <a:ext cx="296859" cy="1267896"/>
              <a:chOff x="8510601" y="1719665"/>
              <a:chExt cx="394526" cy="2335836"/>
            </a:xfrm>
          </p:grpSpPr>
          <p:pic>
            <p:nvPicPr>
              <p:cNvPr id="18" name="Picture 17">
                <a:extLst>
                  <a:ext uri="{FF2B5EF4-FFF2-40B4-BE49-F238E27FC236}">
                    <a16:creationId xmlns:a16="http://schemas.microsoft.com/office/drawing/2014/main" id="{CB6BC5FA-A552-433D-9E74-ECA2106538A4}"/>
                  </a:ext>
                </a:extLst>
              </p:cNvPr>
              <p:cNvPicPr>
                <a:picLocks noChangeAspect="1"/>
              </p:cNvPicPr>
              <p:nvPr/>
            </p:nvPicPr>
            <p:blipFill>
              <a:blip r:embed="rId3"/>
              <a:stretch>
                <a:fillRect/>
              </a:stretch>
            </p:blipFill>
            <p:spPr>
              <a:xfrm rot="11403280">
                <a:off x="8510601" y="3316868"/>
                <a:ext cx="285872" cy="738633"/>
              </a:xfrm>
              <a:prstGeom prst="rect">
                <a:avLst/>
              </a:prstGeom>
            </p:spPr>
          </p:pic>
          <p:pic>
            <p:nvPicPr>
              <p:cNvPr id="19" name="Picture 18">
                <a:extLst>
                  <a:ext uri="{FF2B5EF4-FFF2-40B4-BE49-F238E27FC236}">
                    <a16:creationId xmlns:a16="http://schemas.microsoft.com/office/drawing/2014/main" id="{406B6EE8-5DF0-4F5A-AD7B-82479E6146E2}"/>
                  </a:ext>
                </a:extLst>
              </p:cNvPr>
              <p:cNvPicPr>
                <a:picLocks noChangeAspect="1"/>
              </p:cNvPicPr>
              <p:nvPr/>
            </p:nvPicPr>
            <p:blipFill>
              <a:blip r:embed="rId3"/>
              <a:stretch>
                <a:fillRect/>
              </a:stretch>
            </p:blipFill>
            <p:spPr>
              <a:xfrm rot="11236464">
                <a:off x="8573642" y="2533713"/>
                <a:ext cx="285872" cy="738633"/>
              </a:xfrm>
              <a:prstGeom prst="rect">
                <a:avLst/>
              </a:prstGeom>
            </p:spPr>
          </p:pic>
          <p:pic>
            <p:nvPicPr>
              <p:cNvPr id="20" name="Picture 19">
                <a:extLst>
                  <a:ext uri="{FF2B5EF4-FFF2-40B4-BE49-F238E27FC236}">
                    <a16:creationId xmlns:a16="http://schemas.microsoft.com/office/drawing/2014/main" id="{15EFA34B-38C5-4AFA-B408-3381C7E6BAB6}"/>
                  </a:ext>
                </a:extLst>
              </p:cNvPr>
              <p:cNvPicPr>
                <a:picLocks noChangeAspect="1"/>
              </p:cNvPicPr>
              <p:nvPr/>
            </p:nvPicPr>
            <p:blipFill>
              <a:blip r:embed="rId3"/>
              <a:stretch>
                <a:fillRect/>
              </a:stretch>
            </p:blipFill>
            <p:spPr>
              <a:xfrm rot="10800000">
                <a:off x="8619255" y="1719665"/>
                <a:ext cx="285872" cy="738633"/>
              </a:xfrm>
              <a:prstGeom prst="rect">
                <a:avLst/>
              </a:prstGeom>
            </p:spPr>
          </p:pic>
        </p:grpSp>
        <p:grpSp>
          <p:nvGrpSpPr>
            <p:cNvPr id="25" name="Group 24">
              <a:extLst>
                <a:ext uri="{FF2B5EF4-FFF2-40B4-BE49-F238E27FC236}">
                  <a16:creationId xmlns:a16="http://schemas.microsoft.com/office/drawing/2014/main" id="{AFAE5D44-EF8E-4094-9F33-A488D1B2729E}"/>
                </a:ext>
              </a:extLst>
            </p:cNvPr>
            <p:cNvGrpSpPr/>
            <p:nvPr/>
          </p:nvGrpSpPr>
          <p:grpSpPr>
            <a:xfrm rot="11829545" flipH="1">
              <a:off x="2719086" y="2423154"/>
              <a:ext cx="260259" cy="891419"/>
              <a:chOff x="8510601" y="1719665"/>
              <a:chExt cx="394526" cy="2335836"/>
            </a:xfrm>
          </p:grpSpPr>
          <p:pic>
            <p:nvPicPr>
              <p:cNvPr id="26" name="Picture 25">
                <a:extLst>
                  <a:ext uri="{FF2B5EF4-FFF2-40B4-BE49-F238E27FC236}">
                    <a16:creationId xmlns:a16="http://schemas.microsoft.com/office/drawing/2014/main" id="{D6BC283C-C65D-4C34-9006-9DD8B07EA04B}"/>
                  </a:ext>
                </a:extLst>
              </p:cNvPr>
              <p:cNvPicPr>
                <a:picLocks noChangeAspect="1"/>
              </p:cNvPicPr>
              <p:nvPr/>
            </p:nvPicPr>
            <p:blipFill>
              <a:blip r:embed="rId3">
                <a:duotone>
                  <a:prstClr val="black"/>
                  <a:schemeClr val="accent1">
                    <a:tint val="45000"/>
                    <a:satMod val="400000"/>
                  </a:schemeClr>
                </a:duotone>
              </a:blip>
              <a:stretch>
                <a:fillRect/>
              </a:stretch>
            </p:blipFill>
            <p:spPr>
              <a:xfrm rot="11403280">
                <a:off x="8510601" y="3316868"/>
                <a:ext cx="285872" cy="738633"/>
              </a:xfrm>
              <a:prstGeom prst="rect">
                <a:avLst/>
              </a:prstGeom>
            </p:spPr>
          </p:pic>
          <p:pic>
            <p:nvPicPr>
              <p:cNvPr id="27" name="Picture 26">
                <a:extLst>
                  <a:ext uri="{FF2B5EF4-FFF2-40B4-BE49-F238E27FC236}">
                    <a16:creationId xmlns:a16="http://schemas.microsoft.com/office/drawing/2014/main" id="{68A4053B-D9E4-4B18-A899-18C4AC0A85A8}"/>
                  </a:ext>
                </a:extLst>
              </p:cNvPr>
              <p:cNvPicPr>
                <a:picLocks noChangeAspect="1"/>
              </p:cNvPicPr>
              <p:nvPr/>
            </p:nvPicPr>
            <p:blipFill>
              <a:blip r:embed="rId3">
                <a:duotone>
                  <a:prstClr val="black"/>
                  <a:schemeClr val="accent1">
                    <a:tint val="45000"/>
                    <a:satMod val="400000"/>
                  </a:schemeClr>
                </a:duotone>
              </a:blip>
              <a:stretch>
                <a:fillRect/>
              </a:stretch>
            </p:blipFill>
            <p:spPr>
              <a:xfrm rot="11236464">
                <a:off x="8573642" y="2533713"/>
                <a:ext cx="285872" cy="738633"/>
              </a:xfrm>
              <a:prstGeom prst="rect">
                <a:avLst/>
              </a:prstGeom>
            </p:spPr>
          </p:pic>
          <p:pic>
            <p:nvPicPr>
              <p:cNvPr id="28" name="Picture 27">
                <a:extLst>
                  <a:ext uri="{FF2B5EF4-FFF2-40B4-BE49-F238E27FC236}">
                    <a16:creationId xmlns:a16="http://schemas.microsoft.com/office/drawing/2014/main" id="{CCD36A39-A094-4C13-9445-541D9A9945F8}"/>
                  </a:ext>
                </a:extLst>
              </p:cNvPr>
              <p:cNvPicPr>
                <a:picLocks noChangeAspect="1"/>
              </p:cNvPicPr>
              <p:nvPr/>
            </p:nvPicPr>
            <p:blipFill>
              <a:blip r:embed="rId3">
                <a:duotone>
                  <a:prstClr val="black"/>
                  <a:schemeClr val="accent1">
                    <a:tint val="45000"/>
                    <a:satMod val="400000"/>
                  </a:schemeClr>
                </a:duotone>
              </a:blip>
              <a:stretch>
                <a:fillRect/>
              </a:stretch>
            </p:blipFill>
            <p:spPr>
              <a:xfrm rot="10800000">
                <a:off x="8619255" y="1719665"/>
                <a:ext cx="285872" cy="738633"/>
              </a:xfrm>
              <a:prstGeom prst="rect">
                <a:avLst/>
              </a:prstGeom>
            </p:spPr>
          </p:pic>
        </p:grpSp>
        <p:grpSp>
          <p:nvGrpSpPr>
            <p:cNvPr id="32" name="Group 31">
              <a:extLst>
                <a:ext uri="{FF2B5EF4-FFF2-40B4-BE49-F238E27FC236}">
                  <a16:creationId xmlns:a16="http://schemas.microsoft.com/office/drawing/2014/main" id="{EB2E3C6F-4135-4657-8C6C-B72EBED2E64F}"/>
                </a:ext>
              </a:extLst>
            </p:cNvPr>
            <p:cNvGrpSpPr/>
            <p:nvPr/>
          </p:nvGrpSpPr>
          <p:grpSpPr>
            <a:xfrm rot="15076484">
              <a:off x="4636711" y="727455"/>
              <a:ext cx="296605" cy="797662"/>
              <a:chOff x="-968684" y="2022552"/>
              <a:chExt cx="496935" cy="757581"/>
            </a:xfrm>
          </p:grpSpPr>
          <p:pic>
            <p:nvPicPr>
              <p:cNvPr id="33" name="Picture 32">
                <a:extLst>
                  <a:ext uri="{FF2B5EF4-FFF2-40B4-BE49-F238E27FC236}">
                    <a16:creationId xmlns:a16="http://schemas.microsoft.com/office/drawing/2014/main" id="{BFF6B7ED-E14A-4381-BAFA-B1F258E99A66}"/>
                  </a:ext>
                </a:extLst>
              </p:cNvPr>
              <p:cNvPicPr>
                <a:picLocks noChangeAspect="1"/>
              </p:cNvPicPr>
              <p:nvPr/>
            </p:nvPicPr>
            <p:blipFill>
              <a:blip r:embed="rId3">
                <a:duotone>
                  <a:prstClr val="black"/>
                  <a:schemeClr val="accent5">
                    <a:tint val="45000"/>
                    <a:satMod val="400000"/>
                  </a:schemeClr>
                </a:duotone>
              </a:blip>
              <a:stretch>
                <a:fillRect/>
              </a:stretch>
            </p:blipFill>
            <p:spPr>
              <a:xfrm rot="12008094" flipH="1">
                <a:off x="-763248" y="2022552"/>
                <a:ext cx="291499" cy="391752"/>
              </a:xfrm>
              <a:prstGeom prst="rect">
                <a:avLst/>
              </a:prstGeom>
            </p:spPr>
          </p:pic>
          <p:pic>
            <p:nvPicPr>
              <p:cNvPr id="34" name="Picture 33">
                <a:extLst>
                  <a:ext uri="{FF2B5EF4-FFF2-40B4-BE49-F238E27FC236}">
                    <a16:creationId xmlns:a16="http://schemas.microsoft.com/office/drawing/2014/main" id="{454476E8-A805-4AD7-A2FF-EE9119A31929}"/>
                  </a:ext>
                </a:extLst>
              </p:cNvPr>
              <p:cNvPicPr>
                <a:picLocks noChangeAspect="1"/>
              </p:cNvPicPr>
              <p:nvPr/>
            </p:nvPicPr>
            <p:blipFill>
              <a:blip r:embed="rId3">
                <a:duotone>
                  <a:prstClr val="black"/>
                  <a:schemeClr val="accent5">
                    <a:tint val="45000"/>
                    <a:satMod val="400000"/>
                  </a:schemeClr>
                </a:duotone>
              </a:blip>
              <a:stretch>
                <a:fillRect/>
              </a:stretch>
            </p:blipFill>
            <p:spPr>
              <a:xfrm rot="12008094" flipH="1">
                <a:off x="-968684" y="2388381"/>
                <a:ext cx="291499" cy="391752"/>
              </a:xfrm>
              <a:prstGeom prst="rect">
                <a:avLst/>
              </a:prstGeom>
            </p:spPr>
          </p:pic>
        </p:grpSp>
        <p:grpSp>
          <p:nvGrpSpPr>
            <p:cNvPr id="24" name="Group 23">
              <a:extLst>
                <a:ext uri="{FF2B5EF4-FFF2-40B4-BE49-F238E27FC236}">
                  <a16:creationId xmlns:a16="http://schemas.microsoft.com/office/drawing/2014/main" id="{6AD2AEA6-9EA9-4E69-BD6F-2CB2A78F94AF}"/>
                </a:ext>
              </a:extLst>
            </p:cNvPr>
            <p:cNvGrpSpPr/>
            <p:nvPr/>
          </p:nvGrpSpPr>
          <p:grpSpPr>
            <a:xfrm rot="5400000">
              <a:off x="4437678" y="1306952"/>
              <a:ext cx="358596" cy="759754"/>
              <a:chOff x="-968685" y="2045657"/>
              <a:chExt cx="600791" cy="734476"/>
            </a:xfrm>
          </p:grpSpPr>
          <p:pic>
            <p:nvPicPr>
              <p:cNvPr id="37" name="Picture 36">
                <a:extLst>
                  <a:ext uri="{FF2B5EF4-FFF2-40B4-BE49-F238E27FC236}">
                    <a16:creationId xmlns:a16="http://schemas.microsoft.com/office/drawing/2014/main" id="{B6D557B0-43F4-422B-8C45-F1B623D368FA}"/>
                  </a:ext>
                </a:extLst>
              </p:cNvPr>
              <p:cNvPicPr>
                <a:picLocks noChangeAspect="1"/>
              </p:cNvPicPr>
              <p:nvPr/>
            </p:nvPicPr>
            <p:blipFill>
              <a:blip r:embed="rId3">
                <a:duotone>
                  <a:prstClr val="black"/>
                  <a:schemeClr val="accent5">
                    <a:tint val="45000"/>
                    <a:satMod val="400000"/>
                  </a:schemeClr>
                </a:duotone>
              </a:blip>
              <a:stretch>
                <a:fillRect/>
              </a:stretch>
            </p:blipFill>
            <p:spPr>
              <a:xfrm rot="11247878" flipH="1">
                <a:off x="-659392" y="2045657"/>
                <a:ext cx="291498" cy="391752"/>
              </a:xfrm>
              <a:prstGeom prst="rect">
                <a:avLst/>
              </a:prstGeom>
            </p:spPr>
          </p:pic>
          <p:pic>
            <p:nvPicPr>
              <p:cNvPr id="38" name="Picture 37">
                <a:extLst>
                  <a:ext uri="{FF2B5EF4-FFF2-40B4-BE49-F238E27FC236}">
                    <a16:creationId xmlns:a16="http://schemas.microsoft.com/office/drawing/2014/main" id="{C95B4946-6180-4DBF-9072-B59D49E58366}"/>
                  </a:ext>
                </a:extLst>
              </p:cNvPr>
              <p:cNvPicPr>
                <a:picLocks noChangeAspect="1"/>
              </p:cNvPicPr>
              <p:nvPr/>
            </p:nvPicPr>
            <p:blipFill>
              <a:blip r:embed="rId3">
                <a:duotone>
                  <a:prstClr val="black"/>
                  <a:schemeClr val="accent5">
                    <a:tint val="45000"/>
                    <a:satMod val="400000"/>
                  </a:schemeClr>
                </a:duotone>
              </a:blip>
              <a:stretch>
                <a:fillRect/>
              </a:stretch>
            </p:blipFill>
            <p:spPr>
              <a:xfrm rot="12817381" flipH="1">
                <a:off x="-968685" y="2388381"/>
                <a:ext cx="291498" cy="391752"/>
              </a:xfrm>
              <a:prstGeom prst="rect">
                <a:avLst/>
              </a:prstGeom>
            </p:spPr>
          </p:pic>
        </p:grpSp>
      </p:grpSp>
      <p:sp>
        <p:nvSpPr>
          <p:cNvPr id="4" name="Slide Number Placeholder 7">
            <a:extLst>
              <a:ext uri="{FF2B5EF4-FFF2-40B4-BE49-F238E27FC236}">
                <a16:creationId xmlns:a16="http://schemas.microsoft.com/office/drawing/2014/main" id="{500E04B6-DFC2-6BCC-4EF6-3101FBFE25DF}"/>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27</a:t>
            </a:fld>
            <a:endParaRPr lang="en-US" sz="4800" b="1" dirty="0">
              <a:solidFill>
                <a:srgbClr val="FF0000"/>
              </a:solidFill>
            </a:endParaRPr>
          </a:p>
        </p:txBody>
      </p:sp>
      <p:pic>
        <p:nvPicPr>
          <p:cNvPr id="39" name="Space Faculty logo" descr="sf_logo.png"/>
          <p:cNvPicPr>
            <a:picLocks noChangeAspect="1"/>
          </p:cNvPicPr>
          <p:nvPr/>
        </p:nvPicPr>
        <p:blipFill>
          <a:blip r:embed="rId4"/>
          <a:stretch>
            <a:fillRect/>
          </a:stretch>
        </p:blipFill>
        <p:spPr>
          <a:xfrm>
            <a:off x="10519868" y="54864"/>
            <a:ext cx="1559355" cy="443138"/>
          </a:xfrm>
          <a:prstGeom prst="rect">
            <a:avLst/>
          </a:prstGeom>
        </p:spPr>
      </p:pic>
    </p:spTree>
    <p:extLst>
      <p:ext uri="{BB962C8B-B14F-4D97-AF65-F5344CB8AC3E}">
        <p14:creationId xmlns:p14="http://schemas.microsoft.com/office/powerpoint/2010/main" val="3807734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p:cNvSpPr/>
          <p:nvPr/>
        </p:nvSpPr>
        <p:spPr>
          <a:xfrm>
            <a:off x="1524000" y="805072"/>
            <a:ext cx="9144000" cy="108000"/>
          </a:xfrm>
          <a:prstGeom prst="rect">
            <a:avLst/>
          </a:prstGeom>
          <a:gradFill flip="none" rotWithShape="1">
            <a:gsLst>
              <a:gs pos="0">
                <a:schemeClr val="accent5">
                  <a:lumMod val="75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kumimoji="1" lang="ja-JP" altLang="en-US" dirty="0"/>
          </a:p>
        </p:txBody>
      </p:sp>
      <p:sp>
        <p:nvSpPr>
          <p:cNvPr id="11" name="Title 2">
            <a:extLst>
              <a:ext uri="{FF2B5EF4-FFF2-40B4-BE49-F238E27FC236}">
                <a16:creationId xmlns:a16="http://schemas.microsoft.com/office/drawing/2014/main" id="{C28CC5FE-F812-44CD-9FFF-69391F0F3BB6}"/>
              </a:ext>
            </a:extLst>
          </p:cNvPr>
          <p:cNvSpPr>
            <a:spLocks noGrp="1"/>
          </p:cNvSpPr>
          <p:nvPr>
            <p:ph type="title"/>
          </p:nvPr>
        </p:nvSpPr>
        <p:spPr>
          <a:xfrm>
            <a:off x="2384233" y="85709"/>
            <a:ext cx="7786539" cy="635563"/>
          </a:xfrm>
        </p:spPr>
        <p:txBody>
          <a:bodyPr>
            <a:noAutofit/>
          </a:bodyPr>
          <a:lstStyle/>
          <a:p>
            <a:pPr>
              <a:defRPr>
                <a:latin typeface="House Movements Runway"/>
                <a:ea typeface="House Movements Runway"/>
                <a:cs typeface="House Movements Runway"/>
              </a:defRPr>
            </a:pPr>
            <a:r>
              <a:rPr lang="en-US" sz="4800" b="1" dirty="0">
                <a:latin typeface="House Movements Runway"/>
                <a:cs typeface="House Movements Runway" panose="02020603050405020304" pitchFamily="18" charset="0"/>
              </a:rPr>
              <a:t>Integration Test summary</a:t>
            </a:r>
          </a:p>
        </p:txBody>
      </p:sp>
      <p:graphicFrame>
        <p:nvGraphicFramePr>
          <p:cNvPr id="2" name="Table 3">
            <a:extLst>
              <a:ext uri="{FF2B5EF4-FFF2-40B4-BE49-F238E27FC236}">
                <a16:creationId xmlns:a16="http://schemas.microsoft.com/office/drawing/2014/main" id="{0A931ED0-C3E9-4231-AF28-FF2C104E3AFB}"/>
              </a:ext>
            </a:extLst>
          </p:cNvPr>
          <p:cNvGraphicFramePr>
            <a:graphicFrameLocks noGrp="1"/>
          </p:cNvGraphicFramePr>
          <p:nvPr/>
        </p:nvGraphicFramePr>
        <p:xfrm>
          <a:off x="304800" y="1143000"/>
          <a:ext cx="11049000" cy="5486400"/>
        </p:xfrm>
        <a:graphic>
          <a:graphicData uri="http://schemas.openxmlformats.org/drawingml/2006/table">
            <a:tbl>
              <a:tblPr firstRow="1" bandRow="1">
                <a:tableStyleId>{5C22544A-7EE6-4342-B048-85BDC9FD1C3A}</a:tableStyleId>
              </a:tblPr>
              <a:tblGrid>
                <a:gridCol w="5338552">
                  <a:extLst>
                    <a:ext uri="{9D8B030D-6E8A-4147-A177-3AD203B41FA5}">
                      <a16:colId xmlns:a16="http://schemas.microsoft.com/office/drawing/2014/main" val="1314718925"/>
                    </a:ext>
                  </a:extLst>
                </a:gridCol>
                <a:gridCol w="2245197">
                  <a:extLst>
                    <a:ext uri="{9D8B030D-6E8A-4147-A177-3AD203B41FA5}">
                      <a16:colId xmlns:a16="http://schemas.microsoft.com/office/drawing/2014/main" val="2196248977"/>
                    </a:ext>
                  </a:extLst>
                </a:gridCol>
                <a:gridCol w="3465251">
                  <a:extLst>
                    <a:ext uri="{9D8B030D-6E8A-4147-A177-3AD203B41FA5}">
                      <a16:colId xmlns:a16="http://schemas.microsoft.com/office/drawing/2014/main" val="2178958631"/>
                    </a:ext>
                  </a:extLst>
                </a:gridCol>
              </a:tblGrid>
              <a:tr h="325120">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PC or GS operation software (</a:t>
                      </a:r>
                      <a:r>
                        <a:rPr lang="en-US" sz="1800" dirty="0" err="1">
                          <a:latin typeface="Ubuntu" panose="02020603050405020304" pitchFamily="18" charset="0"/>
                          <a:cs typeface="Ubuntu" panose="02020603050405020304" pitchFamily="18" charset="0"/>
                        </a:rPr>
                        <a:t>cmd</a:t>
                      </a:r>
                      <a:r>
                        <a:rPr lang="en-US" sz="1800" dirty="0">
                          <a:latin typeface="Ubuntu" panose="02020603050405020304" pitchFamily="18" charset="0"/>
                          <a:cs typeface="Ubuntu" panose="02020603050405020304" pitchFamily="18" charset="0"/>
                        </a:rPr>
                        <a:t>)</a:t>
                      </a:r>
                    </a:p>
                  </a:txBody>
                  <a:tcPr/>
                </a:tc>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Passed/Failed</a:t>
                      </a:r>
                    </a:p>
                  </a:txBody>
                  <a:tcPr/>
                </a:tc>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Remarks</a:t>
                      </a:r>
                    </a:p>
                  </a:txBody>
                  <a:tcPr/>
                </a:tc>
                <a:extLst>
                  <a:ext uri="{0D108BD9-81ED-4DB2-BD59-A6C34878D82A}">
                    <a16:rowId xmlns:a16="http://schemas.microsoft.com/office/drawing/2014/main" val="2321641832"/>
                  </a:ext>
                </a:extLst>
              </a:tr>
              <a:tr h="325120">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2E turn on CAM1</a:t>
                      </a: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p>
                  </a:txBody>
                  <a:tcPr/>
                </a:tc>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CAM was turn on.</a:t>
                      </a:r>
                    </a:p>
                  </a:txBody>
                  <a:tcPr/>
                </a:tc>
                <a:extLst>
                  <a:ext uri="{0D108BD9-81ED-4DB2-BD59-A6C34878D82A}">
                    <a16:rowId xmlns:a16="http://schemas.microsoft.com/office/drawing/2014/main" val="887487873"/>
                  </a:ext>
                </a:extLst>
              </a:tr>
              <a:tr h="325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Ubuntu"/>
                          <a:ea typeface="Ubuntu"/>
                          <a:cs typeface="Ubuntu"/>
                        </a:defRPr>
                      </a:pPr>
                      <a:r>
                        <a:rPr lang="en-US" sz="1800" dirty="0">
                          <a:latin typeface="Ubuntu" panose="02020603050405020304" pitchFamily="18" charset="0"/>
                          <a:cs typeface="Ubuntu" panose="02020603050405020304" pitchFamily="18" charset="0"/>
                        </a:rPr>
                        <a:t>2E turn on CAM2</a:t>
                      </a: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endParaRPr lang="en-US" sz="1800" dirty="0">
                        <a:solidFill>
                          <a:schemeClr val="accent1"/>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Ubuntu"/>
                          <a:ea typeface="Ubuntu"/>
                          <a:cs typeface="Ubuntu"/>
                        </a:defRPr>
                      </a:pPr>
                      <a:r>
                        <a:rPr lang="en-US" sz="1800" dirty="0">
                          <a:latin typeface="Ubuntu" panose="02020603050405020304" pitchFamily="18" charset="0"/>
                          <a:cs typeface="Ubuntu" panose="02020603050405020304" pitchFamily="18" charset="0"/>
                        </a:rPr>
                        <a:t>CAM was turn on.</a:t>
                      </a:r>
                    </a:p>
                  </a:txBody>
                  <a:tcPr/>
                </a:tc>
                <a:extLst>
                  <a:ext uri="{0D108BD9-81ED-4DB2-BD59-A6C34878D82A}">
                    <a16:rowId xmlns:a16="http://schemas.microsoft.com/office/drawing/2014/main" val="1494821337"/>
                  </a:ext>
                </a:extLst>
              </a:tr>
              <a:tr h="325120">
                <a:tc gridSpan="3">
                  <a:txBody>
                    <a:bodyPr/>
                    <a:lstStyle/>
                    <a:p>
                      <a:pPr algn="ctr">
                        <a:defRPr>
                          <a:latin typeface="Ubuntu"/>
                          <a:ea typeface="Ubuntu"/>
                          <a:cs typeface="Ubuntu"/>
                        </a:defRPr>
                      </a:pPr>
                      <a:r>
                        <a:rPr lang="en-US" sz="1800" dirty="0">
                          <a:latin typeface="Ubuntu" panose="02020603050405020304" pitchFamily="18" charset="0"/>
                          <a:cs typeface="Ubuntu" panose="02020603050405020304" pitchFamily="18" charset="0"/>
                        </a:rPr>
                        <a:t>Wait for 2 minutes before sending command to RPi</a:t>
                      </a:r>
                    </a:p>
                  </a:txBody>
                  <a:tcPr/>
                </a:tc>
                <a:tc hMerge="1">
                  <a:txBody>
                    <a:bodyPr/>
                    <a:lstStyle/>
                    <a:p>
                      <a:pPr>
                        <a:defRPr>
                          <a:latin typeface="Ubuntu"/>
                          <a:ea typeface="Ubuntu"/>
                          <a:cs typeface="Ubuntu"/>
                        </a:defRPr>
                      </a:pPr>
                      <a:endParaRPr lang="en-US"/>
                    </a:p>
                  </a:txBody>
                  <a:tcPr/>
                </a:tc>
                <a:tc hMerge="1">
                  <a:txBody>
                    <a:bodyPr/>
                    <a:lstStyle/>
                    <a:p>
                      <a:pPr algn="ctr">
                        <a:defRPr>
                          <a:latin typeface="Ubuntu"/>
                          <a:ea typeface="Ubuntu"/>
                          <a:cs typeface="Ubuntu"/>
                        </a:defRPr>
                      </a:pPr>
                      <a:endParaRPr lang="en-US" dirty="0"/>
                    </a:p>
                  </a:txBody>
                  <a:tcPr/>
                </a:tc>
                <a:extLst>
                  <a:ext uri="{0D108BD9-81ED-4DB2-BD59-A6C34878D82A}">
                    <a16:rowId xmlns:a16="http://schemas.microsoft.com/office/drawing/2014/main" val="1191692473"/>
                  </a:ext>
                </a:extLst>
              </a:tr>
              <a:tr h="325120">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220028 Initialize CAM1</a:t>
                      </a: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endParaRPr lang="en-US" sz="1800" dirty="0">
                        <a:latin typeface="Times New Roman" panose="02020603050405020304" pitchFamily="18" charset="0"/>
                        <a:cs typeface="Times New Roman" panose="02020603050405020304" pitchFamily="18" charset="0"/>
                      </a:endParaRPr>
                    </a:p>
                  </a:txBody>
                  <a:tcPr/>
                </a:tc>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ACK. was received</a:t>
                      </a:r>
                    </a:p>
                  </a:txBody>
                  <a:tcPr/>
                </a:tc>
                <a:extLst>
                  <a:ext uri="{0D108BD9-81ED-4DB2-BD59-A6C34878D82A}">
                    <a16:rowId xmlns:a16="http://schemas.microsoft.com/office/drawing/2014/main" val="984288237"/>
                  </a:ext>
                </a:extLst>
              </a:tr>
              <a:tr h="325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Ubuntu"/>
                          <a:ea typeface="Ubuntu"/>
                          <a:cs typeface="Ubuntu"/>
                        </a:defRPr>
                      </a:pPr>
                      <a:r>
                        <a:rPr lang="en-US" sz="1800" dirty="0">
                          <a:latin typeface="Ubuntu" panose="02020603050405020304" pitchFamily="18" charset="0"/>
                          <a:cs typeface="Ubuntu" panose="02020603050405020304" pitchFamily="18" charset="0"/>
                        </a:rPr>
                        <a:t>320038 Initialize CAM2</a:t>
                      </a: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endParaRPr lang="en-US"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Ubuntu"/>
                          <a:ea typeface="Ubuntu"/>
                          <a:cs typeface="Ubuntu"/>
                        </a:defRPr>
                      </a:pPr>
                      <a:r>
                        <a:rPr lang="en-US" sz="1800" dirty="0">
                          <a:latin typeface="Ubuntu" panose="02020603050405020304" pitchFamily="18" charset="0"/>
                          <a:cs typeface="Ubuntu" panose="02020603050405020304" pitchFamily="18" charset="0"/>
                        </a:rPr>
                        <a:t>ACK. was received</a:t>
                      </a:r>
                    </a:p>
                  </a:txBody>
                  <a:tcPr/>
                </a:tc>
                <a:extLst>
                  <a:ext uri="{0D108BD9-81ED-4DB2-BD59-A6C34878D82A}">
                    <a16:rowId xmlns:a16="http://schemas.microsoft.com/office/drawing/2014/main" val="1185054271"/>
                  </a:ext>
                </a:extLst>
              </a:tr>
              <a:tr h="325120">
                <a:tc gridSpan="3">
                  <a:txBody>
                    <a:bodyPr/>
                    <a:lstStyle/>
                    <a:p>
                      <a:pPr algn="ctr">
                        <a:defRPr>
                          <a:latin typeface="Ubuntu"/>
                          <a:ea typeface="Ubuntu"/>
                          <a:cs typeface="Ubuntu"/>
                        </a:defRPr>
                      </a:pPr>
                      <a:r>
                        <a:rPr lang="en-US" sz="1800" dirty="0">
                          <a:latin typeface="Ubuntu" panose="02020603050405020304" pitchFamily="18" charset="0"/>
                          <a:cs typeface="Ubuntu" panose="02020603050405020304" pitchFamily="18" charset="0"/>
                        </a:rPr>
                        <a:t>Wait for 10 seconds before sending trigger</a:t>
                      </a:r>
                    </a:p>
                  </a:txBody>
                  <a:tcPr/>
                </a:tc>
                <a:tc hMerge="1">
                  <a:txBody>
                    <a:bodyPr/>
                    <a:lstStyle/>
                    <a:p>
                      <a:pPr>
                        <a:defRPr>
                          <a:latin typeface="Ubuntu"/>
                          <a:ea typeface="Ubuntu"/>
                          <a:cs typeface="Ubuntu"/>
                        </a:defRPr>
                      </a:pPr>
                      <a:endParaRPr lang="en-US"/>
                    </a:p>
                  </a:txBody>
                  <a:tcPr/>
                </a:tc>
                <a:tc hMerge="1">
                  <a:txBody>
                    <a:bodyPr/>
                    <a:lstStyle/>
                    <a:p>
                      <a:pPr algn="ctr">
                        <a:defRPr>
                          <a:latin typeface="Ubuntu"/>
                          <a:ea typeface="Ubuntu"/>
                          <a:cs typeface="Ubuntu"/>
                        </a:defRPr>
                      </a:pPr>
                      <a:endParaRPr lang="en-US" dirty="0"/>
                    </a:p>
                  </a:txBody>
                  <a:tcPr/>
                </a:tc>
                <a:extLst>
                  <a:ext uri="{0D108BD9-81ED-4DB2-BD59-A6C34878D82A}">
                    <a16:rowId xmlns:a16="http://schemas.microsoft.com/office/drawing/2014/main" val="3683588482"/>
                  </a:ext>
                </a:extLst>
              </a:tr>
              <a:tr h="325120">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35 triggers both CAMs</a:t>
                      </a: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endParaRPr lang="en-US" sz="1800" dirty="0">
                        <a:latin typeface="Times New Roman" panose="02020603050405020304" pitchFamily="18" charset="0"/>
                        <a:cs typeface="Times New Roman" panose="02020603050405020304" pitchFamily="18" charset="0"/>
                      </a:endParaRPr>
                    </a:p>
                  </a:txBody>
                  <a:tcPr/>
                </a:tc>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Capture executed</a:t>
                      </a:r>
                    </a:p>
                  </a:txBody>
                  <a:tcPr/>
                </a:tc>
                <a:extLst>
                  <a:ext uri="{0D108BD9-81ED-4DB2-BD59-A6C34878D82A}">
                    <a16:rowId xmlns:a16="http://schemas.microsoft.com/office/drawing/2014/main" val="684120507"/>
                  </a:ext>
                </a:extLst>
              </a:tr>
              <a:tr h="325120">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220029 CAM1 copy thumbnails</a:t>
                      </a: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endParaRPr lang="en-US" sz="1800" dirty="0">
                        <a:latin typeface="Times New Roman" panose="02020603050405020304" pitchFamily="18" charset="0"/>
                        <a:cs typeface="Times New Roman" panose="02020603050405020304" pitchFamily="18" charset="0"/>
                      </a:endParaRPr>
                    </a:p>
                  </a:txBody>
                  <a:tcPr/>
                </a:tc>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Photos were saved</a:t>
                      </a:r>
                    </a:p>
                  </a:txBody>
                  <a:tcPr/>
                </a:tc>
                <a:extLst>
                  <a:ext uri="{0D108BD9-81ED-4DB2-BD59-A6C34878D82A}">
                    <a16:rowId xmlns:a16="http://schemas.microsoft.com/office/drawing/2014/main" val="3469721706"/>
                  </a:ext>
                </a:extLst>
              </a:tr>
              <a:tr h="325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Ubuntu"/>
                          <a:ea typeface="Ubuntu"/>
                          <a:cs typeface="Ubuntu"/>
                        </a:defRPr>
                      </a:pPr>
                      <a:r>
                        <a:rPr lang="en-US" sz="1800" dirty="0">
                          <a:latin typeface="Ubuntu" panose="02020603050405020304" pitchFamily="18" charset="0"/>
                          <a:cs typeface="Ubuntu" panose="02020603050405020304" pitchFamily="18" charset="0"/>
                        </a:rPr>
                        <a:t>320039 CAM 2copy thumbnails</a:t>
                      </a: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endParaRPr lang="en-US" sz="1800" dirty="0">
                        <a:latin typeface="Times New Roman" panose="02020603050405020304" pitchFamily="18" charset="0"/>
                        <a:cs typeface="Times New Roman" panose="02020603050405020304" pitchFamily="18" charset="0"/>
                      </a:endParaRPr>
                    </a:p>
                  </a:txBody>
                  <a:tcPr/>
                </a:tc>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Photo was saved</a:t>
                      </a:r>
                    </a:p>
                  </a:txBody>
                  <a:tcPr/>
                </a:tc>
                <a:extLst>
                  <a:ext uri="{0D108BD9-81ED-4DB2-BD59-A6C34878D82A}">
                    <a16:rowId xmlns:a16="http://schemas.microsoft.com/office/drawing/2014/main" val="3194490686"/>
                  </a:ext>
                </a:extLst>
              </a:tr>
              <a:tr h="325120">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22002A</a:t>
                      </a:r>
                      <a:r>
                        <a:rPr lang="en-US" sz="1800" u="sng" dirty="0">
                          <a:solidFill>
                            <a:srgbClr val="FF0000"/>
                          </a:solidFill>
                          <a:latin typeface="Ubuntu" panose="02020603050405020304" pitchFamily="18" charset="0"/>
                          <a:cs typeface="Ubuntu" panose="02020603050405020304" pitchFamily="18" charset="0"/>
                        </a:rPr>
                        <a:t>11</a:t>
                      </a:r>
                      <a:r>
                        <a:rPr lang="en-US" sz="1800" dirty="0">
                          <a:solidFill>
                            <a:srgbClr val="FF0000"/>
                          </a:solidFill>
                          <a:latin typeface="Ubuntu" panose="02020603050405020304" pitchFamily="18" charset="0"/>
                          <a:cs typeface="Ubuntu" panose="02020603050405020304" pitchFamily="18" charset="0"/>
                        </a:rPr>
                        <a:t> </a:t>
                      </a:r>
                      <a:r>
                        <a:rPr lang="en-US" sz="1800" dirty="0">
                          <a:latin typeface="Ubuntu" panose="02020603050405020304" pitchFamily="18" charset="0"/>
                          <a:cs typeface="Ubuntu" panose="02020603050405020304" pitchFamily="18" charset="0"/>
                        </a:rPr>
                        <a:t>image name 17.jpg for CAM1</a:t>
                      </a: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endParaRPr lang="en-US" sz="1800" dirty="0">
                        <a:latin typeface="Times New Roman" panose="02020603050405020304" pitchFamily="18" charset="0"/>
                        <a:cs typeface="Times New Roman" panose="02020603050405020304" pitchFamily="18" charset="0"/>
                      </a:endParaRPr>
                    </a:p>
                  </a:txBody>
                  <a:tcPr/>
                </a:tc>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Photo was saved</a:t>
                      </a:r>
                    </a:p>
                  </a:txBody>
                  <a:tcPr/>
                </a:tc>
                <a:extLst>
                  <a:ext uri="{0D108BD9-81ED-4DB2-BD59-A6C34878D82A}">
                    <a16:rowId xmlns:a16="http://schemas.microsoft.com/office/drawing/2014/main" val="2403376390"/>
                  </a:ext>
                </a:extLst>
              </a:tr>
              <a:tr h="325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Ubuntu"/>
                          <a:ea typeface="Ubuntu"/>
                          <a:cs typeface="Ubuntu"/>
                        </a:defRPr>
                      </a:pPr>
                      <a:r>
                        <a:rPr lang="en-US" sz="1800" dirty="0">
                          <a:latin typeface="Ubuntu" panose="02020603050405020304" pitchFamily="18" charset="0"/>
                          <a:cs typeface="Ubuntu" panose="02020603050405020304" pitchFamily="18" charset="0"/>
                        </a:rPr>
                        <a:t>32003A</a:t>
                      </a:r>
                      <a:r>
                        <a:rPr lang="en-US" sz="1800" u="sng" dirty="0">
                          <a:solidFill>
                            <a:srgbClr val="FF0000"/>
                          </a:solidFill>
                          <a:latin typeface="Ubuntu" panose="02020603050405020304" pitchFamily="18" charset="0"/>
                          <a:cs typeface="Ubuntu" panose="02020603050405020304" pitchFamily="18" charset="0"/>
                        </a:rPr>
                        <a:t>14</a:t>
                      </a:r>
                      <a:r>
                        <a:rPr lang="en-US" sz="1800" u="none" dirty="0">
                          <a:solidFill>
                            <a:srgbClr val="FF0000"/>
                          </a:solidFill>
                          <a:latin typeface="Ubuntu" panose="02020603050405020304" pitchFamily="18" charset="0"/>
                          <a:cs typeface="Ubuntu" panose="02020603050405020304" pitchFamily="18" charset="0"/>
                        </a:rPr>
                        <a:t> </a:t>
                      </a:r>
                      <a:r>
                        <a:rPr lang="en-US" sz="1800" dirty="0">
                          <a:latin typeface="Ubuntu" panose="02020603050405020304" pitchFamily="18" charset="0"/>
                          <a:cs typeface="Ubuntu" panose="02020603050405020304" pitchFamily="18" charset="0"/>
                        </a:rPr>
                        <a:t>image name 20.jpg for CAM2</a:t>
                      </a: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endParaRPr lang="en-US" sz="1800" dirty="0">
                        <a:latin typeface="Times New Roman" panose="02020603050405020304" pitchFamily="18" charset="0"/>
                        <a:cs typeface="Times New Roman" panose="02020603050405020304" pitchFamily="18" charset="0"/>
                      </a:endParaRPr>
                    </a:p>
                  </a:txBody>
                  <a:tcPr/>
                </a:tc>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Photo was saved</a:t>
                      </a:r>
                    </a:p>
                  </a:txBody>
                  <a:tcPr/>
                </a:tc>
                <a:extLst>
                  <a:ext uri="{0D108BD9-81ED-4DB2-BD59-A6C34878D82A}">
                    <a16:rowId xmlns:a16="http://schemas.microsoft.com/office/drawing/2014/main" val="1351077068"/>
                  </a:ext>
                </a:extLst>
              </a:tr>
              <a:tr h="325120">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12000000000</a:t>
                      </a:r>
                      <a:r>
                        <a:rPr lang="en-US" sz="1800" u="sng" dirty="0">
                          <a:solidFill>
                            <a:srgbClr val="FF0000"/>
                          </a:solidFill>
                          <a:latin typeface="Ubuntu" panose="02020603050405020304" pitchFamily="18" charset="0"/>
                          <a:cs typeface="Ubuntu" panose="02020603050405020304" pitchFamily="18" charset="0"/>
                        </a:rPr>
                        <a:t>900</a:t>
                      </a:r>
                      <a:r>
                        <a:rPr lang="en-US" sz="1800" u="none" dirty="0">
                          <a:solidFill>
                            <a:schemeClr val="tx1"/>
                          </a:solidFill>
                          <a:latin typeface="Ubuntu" panose="02020603050405020304" pitchFamily="18" charset="0"/>
                          <a:cs typeface="Ubuntu" panose="02020603050405020304" pitchFamily="18" charset="0"/>
                        </a:rPr>
                        <a:t> get packets</a:t>
                      </a:r>
                      <a:endParaRPr lang="en-US" sz="1800" u="sng" dirty="0">
                        <a:solidFill>
                          <a:srgbClr val="00B0F0"/>
                        </a:solidFill>
                        <a:latin typeface="Times New Roman" panose="02020603050405020304" pitchFamily="18" charset="0"/>
                        <a:cs typeface="Times New Roman" panose="02020603050405020304" pitchFamily="18" charset="0"/>
                      </a:endParaRP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endParaRPr lang="en-US"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Ubuntu"/>
                          <a:ea typeface="Ubuntu"/>
                          <a:cs typeface="Ubuntu"/>
                        </a:defRPr>
                      </a:pPr>
                      <a:r>
                        <a:rPr lang="en-US" sz="1800" dirty="0">
                          <a:latin typeface="Ubuntu" panose="02020603050405020304" pitchFamily="18" charset="0"/>
                          <a:cs typeface="Ubuntu" panose="02020603050405020304" pitchFamily="18" charset="0"/>
                        </a:rPr>
                        <a:t>HEX. Files downloaded</a:t>
                      </a:r>
                    </a:p>
                  </a:txBody>
                  <a:tcPr/>
                </a:tc>
                <a:extLst>
                  <a:ext uri="{0D108BD9-81ED-4DB2-BD59-A6C34878D82A}">
                    <a16:rowId xmlns:a16="http://schemas.microsoft.com/office/drawing/2014/main" val="1093544785"/>
                  </a:ext>
                </a:extLst>
              </a:tr>
              <a:tr h="325120">
                <a:tc>
                  <a:txBody>
                    <a:bodyPr/>
                    <a:lstStyle/>
                    <a:p>
                      <a:pPr>
                        <a:defRPr>
                          <a:latin typeface="Ubuntu"/>
                          <a:ea typeface="Ubuntu"/>
                          <a:cs typeface="Ubuntu"/>
                        </a:defRPr>
                      </a:pPr>
                      <a:r>
                        <a:rPr lang="en-US" sz="1800" dirty="0">
                          <a:latin typeface="Ubuntu" panose="02020603050405020304" pitchFamily="18" charset="0"/>
                          <a:cs typeface="Ubuntu" panose="02020603050405020304" pitchFamily="18" charset="0"/>
                        </a:rPr>
                        <a:t>20 turn off CAM1</a:t>
                      </a: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endParaRPr lang="en-US"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Ubuntu"/>
                          <a:ea typeface="Ubuntu"/>
                          <a:cs typeface="Ubuntu"/>
                        </a:defRPr>
                      </a:pPr>
                      <a:r>
                        <a:rPr lang="en-US" sz="1800" dirty="0">
                          <a:latin typeface="Ubuntu" panose="02020603050405020304" pitchFamily="18" charset="0"/>
                          <a:cs typeface="Ubuntu" panose="02020603050405020304" pitchFamily="18" charset="0"/>
                        </a:rPr>
                        <a:t>ACK. was received</a:t>
                      </a:r>
                    </a:p>
                  </a:txBody>
                  <a:tcPr/>
                </a:tc>
                <a:extLst>
                  <a:ext uri="{0D108BD9-81ED-4DB2-BD59-A6C34878D82A}">
                    <a16:rowId xmlns:a16="http://schemas.microsoft.com/office/drawing/2014/main" val="2027873102"/>
                  </a:ext>
                </a:extLst>
              </a:tr>
              <a:tr h="325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Ubuntu"/>
                          <a:ea typeface="Ubuntu"/>
                          <a:cs typeface="Ubuntu"/>
                        </a:defRPr>
                      </a:pPr>
                      <a:r>
                        <a:rPr lang="en-US" sz="1800" dirty="0">
                          <a:latin typeface="Ubuntu" panose="02020603050405020304" pitchFamily="18" charset="0"/>
                          <a:cs typeface="Ubuntu" panose="02020603050405020304" pitchFamily="18" charset="0"/>
                        </a:rPr>
                        <a:t>30 turn off CAM2</a:t>
                      </a:r>
                    </a:p>
                  </a:txBody>
                  <a:tcPr/>
                </a:tc>
                <a:tc>
                  <a:txBody>
                    <a:bodyPr/>
                    <a:lstStyle/>
                    <a:p>
                      <a:pPr>
                        <a:defRPr>
                          <a:latin typeface="Ubuntu"/>
                          <a:ea typeface="Ubuntu"/>
                          <a:cs typeface="Ubuntu"/>
                        </a:defRPr>
                      </a:pPr>
                      <a:r>
                        <a:rPr lang="en-US" sz="1800" dirty="0">
                          <a:solidFill>
                            <a:srgbClr val="00B0F0"/>
                          </a:solidFill>
                          <a:latin typeface="Ubuntu" panose="02020603050405020304" pitchFamily="18" charset="0"/>
                          <a:cs typeface="Ubuntu" panose="02020603050405020304" pitchFamily="18" charset="0"/>
                        </a:rPr>
                        <a:t>Passed</a:t>
                      </a:r>
                      <a:endParaRPr lang="en-US"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Ubuntu"/>
                          <a:ea typeface="Ubuntu"/>
                          <a:cs typeface="Ubuntu"/>
                        </a:defRPr>
                      </a:pPr>
                      <a:r>
                        <a:rPr lang="en-US" sz="1800" dirty="0">
                          <a:latin typeface="Ubuntu" panose="02020603050405020304" pitchFamily="18" charset="0"/>
                          <a:cs typeface="Ubuntu" panose="02020603050405020304" pitchFamily="18" charset="0"/>
                        </a:rPr>
                        <a:t>ACK. was received</a:t>
                      </a:r>
                    </a:p>
                  </a:txBody>
                  <a:tcPr/>
                </a:tc>
                <a:extLst>
                  <a:ext uri="{0D108BD9-81ED-4DB2-BD59-A6C34878D82A}">
                    <a16:rowId xmlns:a16="http://schemas.microsoft.com/office/drawing/2014/main" val="3045856208"/>
                  </a:ext>
                </a:extLst>
              </a:tr>
            </a:tbl>
          </a:graphicData>
        </a:graphic>
      </p:graphicFrame>
      <p:sp>
        <p:nvSpPr>
          <p:cNvPr id="4" name="Slide Number Placeholder 7">
            <a:extLst>
              <a:ext uri="{FF2B5EF4-FFF2-40B4-BE49-F238E27FC236}">
                <a16:creationId xmlns:a16="http://schemas.microsoft.com/office/drawing/2014/main" id="{3F284610-C4A8-94F5-30A3-923CF8052186}"/>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28</a:t>
            </a:fld>
            <a:endParaRPr lang="en-US" sz="4800" b="1" dirty="0">
              <a:solidFill>
                <a:srgbClr val="FF0000"/>
              </a:solidFill>
            </a:endParaRPr>
          </a:p>
        </p:txBody>
      </p:sp>
      <p:pic>
        <p:nvPicPr>
          <p:cNvPr id="12" name="Space Faculty logo" descr="sf_logo.png"/>
          <p:cNvPicPr>
            <a:picLocks noChangeAspect="1"/>
          </p:cNvPicPr>
          <p:nvPr/>
        </p:nvPicPr>
        <p:blipFill>
          <a:blip r:embed="rId2"/>
          <a:stretch>
            <a:fillRect/>
          </a:stretch>
        </p:blipFill>
        <p:spPr>
          <a:xfrm>
            <a:off x="10644064" y="54864"/>
            <a:ext cx="1435159" cy="407844"/>
          </a:xfrm>
          <a:prstGeom prst="rect">
            <a:avLst/>
          </a:prstGeom>
        </p:spPr>
      </p:pic>
    </p:spTree>
    <p:extLst>
      <p:ext uri="{BB962C8B-B14F-4D97-AF65-F5344CB8AC3E}">
        <p14:creationId xmlns:p14="http://schemas.microsoft.com/office/powerpoint/2010/main" val="2805213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C28CC5FE-F812-44CD-9FFF-69391F0F3BB6}"/>
              </a:ext>
            </a:extLst>
          </p:cNvPr>
          <p:cNvSpPr>
            <a:spLocks noGrp="1"/>
          </p:cNvSpPr>
          <p:nvPr>
            <p:ph type="title"/>
          </p:nvPr>
        </p:nvSpPr>
        <p:spPr>
          <a:xfrm>
            <a:off x="2357886" y="67851"/>
            <a:ext cx="7043345" cy="635563"/>
          </a:xfrm>
        </p:spPr>
        <p:txBody>
          <a:bodyPr>
            <a:noAutofit/>
          </a:bodyPr>
          <a:lstStyle/>
          <a:p>
            <a:pPr>
              <a:defRPr>
                <a:latin typeface="House Movements Runway"/>
                <a:ea typeface="House Movements Runway"/>
                <a:cs typeface="House Movements Runway"/>
              </a:defRPr>
            </a:pPr>
            <a:r>
              <a:rPr lang="en-US" sz="4800" b="1" dirty="0">
                <a:latin typeface="House Movements Runway" panose="02020603050405020304" pitchFamily="18" charset="0"/>
                <a:cs typeface="House Movements Runway" panose="02020603050405020304" pitchFamily="18" charset="0"/>
              </a:rPr>
              <a:t>Camera Functional Test</a:t>
            </a:r>
          </a:p>
        </p:txBody>
      </p:sp>
      <p:grpSp>
        <p:nvGrpSpPr>
          <p:cNvPr id="2" name="Group 1">
            <a:extLst>
              <a:ext uri="{FF2B5EF4-FFF2-40B4-BE49-F238E27FC236}">
                <a16:creationId xmlns:a16="http://schemas.microsoft.com/office/drawing/2014/main" id="{ACEB774E-3FA6-647C-723A-BFD8043F2F61}"/>
              </a:ext>
            </a:extLst>
          </p:cNvPr>
          <p:cNvGrpSpPr/>
          <p:nvPr/>
        </p:nvGrpSpPr>
        <p:grpSpPr>
          <a:xfrm>
            <a:off x="457200" y="932793"/>
            <a:ext cx="11049000" cy="5803239"/>
            <a:chOff x="1632745" y="1033576"/>
            <a:chExt cx="8830681" cy="5408842"/>
          </a:xfrm>
        </p:grpSpPr>
        <p:pic>
          <p:nvPicPr>
            <p:cNvPr id="10" name="Picture 9" descr="A picture containing outdoor, nature, old&#10;&#10;Description automatically generated">
              <a:extLst>
                <a:ext uri="{FF2B5EF4-FFF2-40B4-BE49-F238E27FC236}">
                  <a16:creationId xmlns:a16="http://schemas.microsoft.com/office/drawing/2014/main" id="{160C93C4-39A9-4B1D-B43A-125D47E579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26640" y="3812024"/>
              <a:ext cx="2961732" cy="2630394"/>
            </a:xfrm>
            <a:prstGeom prst="rect">
              <a:avLst/>
            </a:prstGeom>
          </p:spPr>
        </p:pic>
        <p:pic>
          <p:nvPicPr>
            <p:cNvPr id="12" name="Picture 11" descr="A picture containing outdoor, old&#10;&#10;Description automatically generated">
              <a:extLst>
                <a:ext uri="{FF2B5EF4-FFF2-40B4-BE49-F238E27FC236}">
                  <a16:creationId xmlns:a16="http://schemas.microsoft.com/office/drawing/2014/main" id="{DA31F2FC-BA73-4173-AB8F-F2274F72B6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5485" y="1036523"/>
              <a:ext cx="2961732" cy="2630393"/>
            </a:xfrm>
            <a:prstGeom prst="rect">
              <a:avLst/>
            </a:prstGeom>
          </p:spPr>
        </p:pic>
        <p:sp>
          <p:nvSpPr>
            <p:cNvPr id="13" name="TextBox 12">
              <a:extLst>
                <a:ext uri="{FF2B5EF4-FFF2-40B4-BE49-F238E27FC236}">
                  <a16:creationId xmlns:a16="http://schemas.microsoft.com/office/drawing/2014/main" id="{64C4DCFC-BC5A-45F8-9732-2D1AFAB71705}"/>
                </a:ext>
              </a:extLst>
            </p:cNvPr>
            <p:cNvSpPr txBox="1"/>
            <p:nvPr/>
          </p:nvSpPr>
          <p:spPr>
            <a:xfrm>
              <a:off x="6190728" y="1040578"/>
              <a:ext cx="890275" cy="369332"/>
            </a:xfrm>
            <a:prstGeom prst="rect">
              <a:avLst/>
            </a:prstGeom>
            <a:noFill/>
          </p:spPr>
          <p:txBody>
            <a:bodyPr wrap="square">
              <a:spAutoFit/>
            </a:bodyPr>
            <a:lstStyle/>
            <a:p>
              <a:pPr>
                <a:defRPr>
                  <a:latin typeface="Ubuntu"/>
                  <a:ea typeface="Ubuntu"/>
                  <a:cs typeface="Ubuntu"/>
                </a:defRPr>
              </a:pPr>
              <a:r>
                <a:rPr lang="en-US" dirty="0">
                  <a:solidFill>
                    <a:srgbClr val="FF0000"/>
                  </a:solidFill>
                  <a:latin typeface="Ubuntu"/>
                  <a:ea typeface="Ubuntu"/>
                  <a:cs typeface="Ubuntu"/>
                </a:rPr>
                <a:t>720nm</a:t>
              </a:r>
            </a:p>
          </p:txBody>
        </p:sp>
        <p:sp>
          <p:nvSpPr>
            <p:cNvPr id="14" name="TextBox 13">
              <a:extLst>
                <a:ext uri="{FF2B5EF4-FFF2-40B4-BE49-F238E27FC236}">
                  <a16:creationId xmlns:a16="http://schemas.microsoft.com/office/drawing/2014/main" id="{22534C3B-7206-457D-849B-404A9BA75947}"/>
                </a:ext>
              </a:extLst>
            </p:cNvPr>
            <p:cNvSpPr txBox="1"/>
            <p:nvPr/>
          </p:nvSpPr>
          <p:spPr>
            <a:xfrm>
              <a:off x="6137074" y="3815268"/>
              <a:ext cx="929365" cy="369332"/>
            </a:xfrm>
            <a:prstGeom prst="rect">
              <a:avLst/>
            </a:prstGeom>
            <a:noFill/>
          </p:spPr>
          <p:txBody>
            <a:bodyPr wrap="square">
              <a:spAutoFit/>
            </a:bodyPr>
            <a:lstStyle/>
            <a:p>
              <a:pPr>
                <a:defRPr>
                  <a:latin typeface="Ubuntu"/>
                  <a:ea typeface="Ubuntu"/>
                  <a:cs typeface="Ubuntu"/>
                </a:defRPr>
              </a:pPr>
              <a:r>
                <a:rPr lang="en-US" dirty="0">
                  <a:solidFill>
                    <a:srgbClr val="FF0000"/>
                  </a:solidFill>
                  <a:latin typeface="Ubuntu"/>
                  <a:ea typeface="Ubuntu"/>
                  <a:cs typeface="Ubuntu"/>
                </a:rPr>
                <a:t>790nm</a:t>
              </a:r>
            </a:p>
          </p:txBody>
        </p:sp>
        <p:pic>
          <p:nvPicPr>
            <p:cNvPr id="15" name="Picture 14" descr="A picture containing outdoor, nature, old, night sky&#10;&#10;Description automatically generated">
              <a:extLst>
                <a:ext uri="{FF2B5EF4-FFF2-40B4-BE49-F238E27FC236}">
                  <a16:creationId xmlns:a16="http://schemas.microsoft.com/office/drawing/2014/main" id="{A21BC80F-35F8-4BF6-A2D1-A61523CD3BD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81598" y="1036521"/>
              <a:ext cx="3281828" cy="2630394"/>
            </a:xfrm>
            <a:prstGeom prst="rect">
              <a:avLst/>
            </a:prstGeom>
          </p:spPr>
        </p:pic>
        <p:pic>
          <p:nvPicPr>
            <p:cNvPr id="16" name="Picture 15" descr="A picture containing outdoor&#10;&#10;Description automatically generated">
              <a:extLst>
                <a:ext uri="{FF2B5EF4-FFF2-40B4-BE49-F238E27FC236}">
                  <a16:creationId xmlns:a16="http://schemas.microsoft.com/office/drawing/2014/main" id="{79DFE61E-2E9B-4F7C-9C2E-B8F0F7343B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73110" y="3782601"/>
              <a:ext cx="3281827" cy="2630394"/>
            </a:xfrm>
            <a:prstGeom prst="rect">
              <a:avLst/>
            </a:prstGeom>
          </p:spPr>
        </p:pic>
        <p:sp>
          <p:nvSpPr>
            <p:cNvPr id="17" name="TextBox 16">
              <a:extLst>
                <a:ext uri="{FF2B5EF4-FFF2-40B4-BE49-F238E27FC236}">
                  <a16:creationId xmlns:a16="http://schemas.microsoft.com/office/drawing/2014/main" id="{26BDA150-2225-4117-A0C5-2588B22EBF37}"/>
                </a:ext>
              </a:extLst>
            </p:cNvPr>
            <p:cNvSpPr txBox="1"/>
            <p:nvPr/>
          </p:nvSpPr>
          <p:spPr>
            <a:xfrm>
              <a:off x="9557691" y="1033576"/>
              <a:ext cx="888560" cy="369332"/>
            </a:xfrm>
            <a:prstGeom prst="rect">
              <a:avLst/>
            </a:prstGeom>
            <a:noFill/>
          </p:spPr>
          <p:txBody>
            <a:bodyPr wrap="square">
              <a:spAutoFit/>
            </a:bodyPr>
            <a:lstStyle/>
            <a:p>
              <a:pPr>
                <a:defRPr>
                  <a:latin typeface="Ubuntu"/>
                  <a:ea typeface="Ubuntu"/>
                  <a:cs typeface="Ubuntu"/>
                </a:defRPr>
              </a:pPr>
              <a:r>
                <a:rPr lang="en-US" dirty="0">
                  <a:solidFill>
                    <a:srgbClr val="FF0000"/>
                  </a:solidFill>
                  <a:latin typeface="Ubuntu"/>
                  <a:ea typeface="Ubuntu"/>
                  <a:cs typeface="Ubuntu"/>
                </a:rPr>
                <a:t>550nm</a:t>
              </a:r>
            </a:p>
          </p:txBody>
        </p:sp>
        <p:sp>
          <p:nvSpPr>
            <p:cNvPr id="18" name="TextBox 17">
              <a:extLst>
                <a:ext uri="{FF2B5EF4-FFF2-40B4-BE49-F238E27FC236}">
                  <a16:creationId xmlns:a16="http://schemas.microsoft.com/office/drawing/2014/main" id="{8ED2FBFD-E0C4-48F0-94E4-42803DCEF4E7}"/>
                </a:ext>
              </a:extLst>
            </p:cNvPr>
            <p:cNvSpPr txBox="1"/>
            <p:nvPr/>
          </p:nvSpPr>
          <p:spPr>
            <a:xfrm>
              <a:off x="9460034" y="3782601"/>
              <a:ext cx="983899" cy="369332"/>
            </a:xfrm>
            <a:prstGeom prst="rect">
              <a:avLst/>
            </a:prstGeom>
            <a:noFill/>
          </p:spPr>
          <p:txBody>
            <a:bodyPr wrap="square">
              <a:spAutoFit/>
            </a:bodyPr>
            <a:lstStyle/>
            <a:p>
              <a:pPr>
                <a:defRPr>
                  <a:latin typeface="Ubuntu"/>
                  <a:ea typeface="Ubuntu"/>
                  <a:cs typeface="Ubuntu"/>
                </a:defRPr>
              </a:pPr>
              <a:r>
                <a:rPr lang="en-US" dirty="0">
                  <a:solidFill>
                    <a:srgbClr val="FF0000"/>
                  </a:solidFill>
                  <a:latin typeface="Ubuntu"/>
                  <a:ea typeface="Ubuntu"/>
                  <a:cs typeface="Ubuntu"/>
                </a:rPr>
                <a:t>680nm</a:t>
              </a:r>
            </a:p>
          </p:txBody>
        </p:sp>
        <p:pic>
          <p:nvPicPr>
            <p:cNvPr id="19" name="Picture 18" descr="A picture containing electronics&#10;&#10;Description automatically generated">
              <a:extLst>
                <a:ext uri="{FF2B5EF4-FFF2-40B4-BE49-F238E27FC236}">
                  <a16:creationId xmlns:a16="http://schemas.microsoft.com/office/drawing/2014/main" id="{6D95FA28-1B6F-4D91-AB22-31E97EC50B4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1231879" y="3595968"/>
              <a:ext cx="3206928" cy="2405196"/>
            </a:xfrm>
            <a:prstGeom prst="rect">
              <a:avLst/>
            </a:prstGeom>
          </p:spPr>
        </p:pic>
        <p:cxnSp>
          <p:nvCxnSpPr>
            <p:cNvPr id="3" name="Straight Arrow Connector 2">
              <a:extLst>
                <a:ext uri="{FF2B5EF4-FFF2-40B4-BE49-F238E27FC236}">
                  <a16:creationId xmlns:a16="http://schemas.microsoft.com/office/drawing/2014/main" id="{D8D34BD6-8CE5-46F1-BCA7-51407CDAA796}"/>
                </a:ext>
              </a:extLst>
            </p:cNvPr>
            <p:cNvCxnSpPr>
              <a:cxnSpLocks/>
            </p:cNvCxnSpPr>
            <p:nvPr/>
          </p:nvCxnSpPr>
          <p:spPr>
            <a:xfrm>
              <a:off x="3900040" y="2142207"/>
              <a:ext cx="1503503" cy="680892"/>
            </a:xfrm>
            <a:prstGeom prst="straightConnector1">
              <a:avLst/>
            </a:prstGeom>
            <a:ln w="38100">
              <a:solidFill>
                <a:srgbClr val="FF0000"/>
              </a:solidFill>
              <a:tailEnd type="triangle"/>
            </a:ln>
            <a:effectLst>
              <a:outerShdw blurRad="107950" dist="12700" dir="5400000" algn="ctr">
                <a:srgbClr val="000000"/>
              </a:outerShdw>
            </a:effectLst>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99A0B3E-221C-4778-B861-53101BF4B839}"/>
                </a:ext>
              </a:extLst>
            </p:cNvPr>
            <p:cNvSpPr txBox="1"/>
            <p:nvPr/>
          </p:nvSpPr>
          <p:spPr>
            <a:xfrm>
              <a:off x="2605784" y="1957541"/>
              <a:ext cx="1520856" cy="369332"/>
            </a:xfrm>
            <a:prstGeom prst="rect">
              <a:avLst/>
            </a:prstGeom>
            <a:noFill/>
          </p:spPr>
          <p:txBody>
            <a:bodyPr wrap="square">
              <a:spAutoFit/>
            </a:bodyPr>
            <a:lstStyle/>
            <a:p>
              <a:pPr>
                <a:defRPr>
                  <a:latin typeface="Ubuntu"/>
                  <a:ea typeface="Ubuntu"/>
                  <a:cs typeface="Ubuntu"/>
                </a:defRPr>
              </a:pPr>
              <a:r>
                <a:rPr lang="en-US" dirty="0">
                  <a:latin typeface="Ubuntu" panose="02040602050305030304" pitchFamily="18" charset="0"/>
                  <a:ea typeface="Ubuntu"/>
                  <a:cs typeface="Ubuntu"/>
                </a:rPr>
                <a:t>Water Body</a:t>
              </a:r>
              <a:endParaRPr lang="en-US" dirty="0"/>
            </a:p>
          </p:txBody>
        </p:sp>
        <p:cxnSp>
          <p:nvCxnSpPr>
            <p:cNvPr id="23" name="Straight Arrow Connector 22">
              <a:extLst>
                <a:ext uri="{FF2B5EF4-FFF2-40B4-BE49-F238E27FC236}">
                  <a16:creationId xmlns:a16="http://schemas.microsoft.com/office/drawing/2014/main" id="{7DEC9874-6777-4C00-9987-B76A6BD829AA}"/>
                </a:ext>
              </a:extLst>
            </p:cNvPr>
            <p:cNvCxnSpPr>
              <a:cxnSpLocks/>
            </p:cNvCxnSpPr>
            <p:nvPr/>
          </p:nvCxnSpPr>
          <p:spPr>
            <a:xfrm>
              <a:off x="3521477" y="2849175"/>
              <a:ext cx="1148659" cy="436403"/>
            </a:xfrm>
            <a:prstGeom prst="straightConnector1">
              <a:avLst/>
            </a:prstGeom>
            <a:ln w="38100">
              <a:solidFill>
                <a:srgbClr val="FF0000"/>
              </a:solidFill>
              <a:tailEnd type="triangle"/>
            </a:ln>
            <a:effectLst>
              <a:outerShdw blurRad="107950" dist="12700" dir="5400000" algn="ctr">
                <a:srgbClr val="000000"/>
              </a:outerShdw>
            </a:effectLst>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3B90C7A-7240-4B06-A86A-E7371BF0A5B7}"/>
                </a:ext>
              </a:extLst>
            </p:cNvPr>
            <p:cNvSpPr txBox="1"/>
            <p:nvPr/>
          </p:nvSpPr>
          <p:spPr>
            <a:xfrm>
              <a:off x="2257865" y="2684029"/>
              <a:ext cx="1520856" cy="369332"/>
            </a:xfrm>
            <a:prstGeom prst="rect">
              <a:avLst/>
            </a:prstGeom>
            <a:noFill/>
          </p:spPr>
          <p:txBody>
            <a:bodyPr wrap="square">
              <a:spAutoFit/>
            </a:bodyPr>
            <a:lstStyle/>
            <a:p>
              <a:pPr>
                <a:defRPr>
                  <a:latin typeface="Ubuntu"/>
                  <a:ea typeface="Ubuntu"/>
                  <a:cs typeface="Ubuntu"/>
                </a:defRPr>
              </a:pPr>
              <a:r>
                <a:rPr lang="en-US" dirty="0">
                  <a:latin typeface="Ubuntu" panose="02040602050305030304" pitchFamily="18" charset="0"/>
                  <a:ea typeface="Ubuntu"/>
                  <a:cs typeface="Ubuntu"/>
                </a:rPr>
                <a:t>Settlement</a:t>
              </a:r>
              <a:endParaRPr lang="en-US" dirty="0"/>
            </a:p>
          </p:txBody>
        </p:sp>
        <p:cxnSp>
          <p:nvCxnSpPr>
            <p:cNvPr id="28" name="Straight Arrow Connector 27">
              <a:extLst>
                <a:ext uri="{FF2B5EF4-FFF2-40B4-BE49-F238E27FC236}">
                  <a16:creationId xmlns:a16="http://schemas.microsoft.com/office/drawing/2014/main" id="{8B51FE49-1AD9-499F-800A-322BAB909246}"/>
                </a:ext>
              </a:extLst>
            </p:cNvPr>
            <p:cNvCxnSpPr>
              <a:cxnSpLocks/>
            </p:cNvCxnSpPr>
            <p:nvPr/>
          </p:nvCxnSpPr>
          <p:spPr>
            <a:xfrm>
              <a:off x="8654248" y="1835117"/>
              <a:ext cx="1090474" cy="1033579"/>
            </a:xfrm>
            <a:prstGeom prst="straightConnector1">
              <a:avLst/>
            </a:prstGeom>
            <a:ln w="38100">
              <a:solidFill>
                <a:srgbClr val="FF0000"/>
              </a:solidFill>
              <a:tailEnd type="triangle"/>
            </a:ln>
            <a:effectLst>
              <a:outerShdw blurRad="107950" dist="12700" dir="5400000" algn="ctr">
                <a:srgbClr val="000000"/>
              </a:outerShdw>
            </a:effectLst>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6BC1F57-DFCC-4E07-B625-44D88B2B8799}"/>
                </a:ext>
              </a:extLst>
            </p:cNvPr>
            <p:cNvSpPr txBox="1"/>
            <p:nvPr/>
          </p:nvSpPr>
          <p:spPr>
            <a:xfrm>
              <a:off x="7826490" y="1469991"/>
              <a:ext cx="1520856" cy="369332"/>
            </a:xfrm>
            <a:prstGeom prst="rect">
              <a:avLst/>
            </a:prstGeom>
            <a:noFill/>
            <a:ln>
              <a:noFill/>
            </a:ln>
          </p:spPr>
          <p:txBody>
            <a:bodyPr wrap="square">
              <a:spAutoFit/>
            </a:bodyPr>
            <a:lstStyle/>
            <a:p>
              <a:pPr>
                <a:defRPr>
                  <a:latin typeface="Ubuntu"/>
                  <a:ea typeface="Ubuntu"/>
                  <a:cs typeface="Ubuntu"/>
                </a:defRPr>
              </a:pPr>
              <a:r>
                <a:rPr lang="en-US" dirty="0">
                  <a:solidFill>
                    <a:srgbClr val="FF0000"/>
                  </a:solidFill>
                  <a:latin typeface="Ubuntu" panose="02040602050305030304" pitchFamily="18" charset="0"/>
                  <a:ea typeface="Ubuntu"/>
                  <a:cs typeface="Ubuntu"/>
                </a:rPr>
                <a:t>Empty Field</a:t>
              </a:r>
              <a:endParaRPr lang="en-US" dirty="0">
                <a:solidFill>
                  <a:srgbClr val="FF0000"/>
                </a:solidFill>
              </a:endParaRPr>
            </a:p>
          </p:txBody>
        </p:sp>
      </p:grpSp>
      <p:sp>
        <p:nvSpPr>
          <p:cNvPr id="5" name="Slide Number Placeholder 7">
            <a:extLst>
              <a:ext uri="{FF2B5EF4-FFF2-40B4-BE49-F238E27FC236}">
                <a16:creationId xmlns:a16="http://schemas.microsoft.com/office/drawing/2014/main" id="{5FAC6EA9-DC48-1712-DBD2-C64E2BBF43E4}"/>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29</a:t>
            </a:fld>
            <a:endParaRPr lang="en-US" sz="4800" b="1" dirty="0">
              <a:solidFill>
                <a:srgbClr val="FF0000"/>
              </a:solidFill>
            </a:endParaRPr>
          </a:p>
        </p:txBody>
      </p:sp>
      <p:pic>
        <p:nvPicPr>
          <p:cNvPr id="34" name="Space Faculty logo" descr="sf_logo.png"/>
          <p:cNvPicPr>
            <a:picLocks noChangeAspect="1"/>
          </p:cNvPicPr>
          <p:nvPr/>
        </p:nvPicPr>
        <p:blipFill>
          <a:blip r:embed="rId7"/>
          <a:stretch>
            <a:fillRect/>
          </a:stretch>
        </p:blipFill>
        <p:spPr>
          <a:xfrm>
            <a:off x="10621680" y="54863"/>
            <a:ext cx="1457543" cy="414205"/>
          </a:xfrm>
          <a:prstGeom prst="rect">
            <a:avLst/>
          </a:prstGeom>
        </p:spPr>
      </p:pic>
    </p:spTree>
    <p:extLst>
      <p:ext uri="{BB962C8B-B14F-4D97-AF65-F5344CB8AC3E}">
        <p14:creationId xmlns:p14="http://schemas.microsoft.com/office/powerpoint/2010/main" val="203996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BE8519-CD41-49BC-89A4-CFBA37173A75}"/>
              </a:ext>
            </a:extLst>
          </p:cNvPr>
          <p:cNvSpPr>
            <a:spLocks noGrp="1"/>
          </p:cNvSpPr>
          <p:nvPr>
            <p:ph type="title"/>
          </p:nvPr>
        </p:nvSpPr>
        <p:spPr>
          <a:xfrm>
            <a:off x="3597662" y="79880"/>
            <a:ext cx="4996676" cy="615553"/>
          </a:xfrm>
        </p:spPr>
        <p:txBody>
          <a:bodyPr>
            <a:noAutofit/>
          </a:bodyPr>
          <a:lstStyle/>
          <a:p>
            <a:pPr>
              <a:defRPr>
                <a:latin typeface="House Movements Runway"/>
                <a:ea typeface="House Movements Runway"/>
                <a:cs typeface="House Movements Runway"/>
              </a:defRPr>
            </a:pPr>
            <a:r>
              <a:rPr lang="en-US" sz="4800" b="1" dirty="0">
                <a:latin typeface="House Movements Runway" panose="02020603050405020304" pitchFamily="18" charset="0"/>
                <a:cs typeface="House Movements Runway" panose="02020603050405020304" pitchFamily="18" charset="0"/>
              </a:rPr>
              <a:t>Success Levels</a:t>
            </a:r>
          </a:p>
        </p:txBody>
      </p:sp>
      <p:graphicFrame>
        <p:nvGraphicFramePr>
          <p:cNvPr id="7" name="Table 6">
            <a:extLst>
              <a:ext uri="{FF2B5EF4-FFF2-40B4-BE49-F238E27FC236}">
                <a16:creationId xmlns:a16="http://schemas.microsoft.com/office/drawing/2014/main" id="{313808B5-BB1B-40BB-AE7F-66BAC50AD42A}"/>
              </a:ext>
            </a:extLst>
          </p:cNvPr>
          <p:cNvGraphicFramePr>
            <a:graphicFrameLocks noGrp="1"/>
          </p:cNvGraphicFramePr>
          <p:nvPr/>
        </p:nvGraphicFramePr>
        <p:xfrm>
          <a:off x="57778" y="902544"/>
          <a:ext cx="11811000" cy="6012180"/>
        </p:xfrm>
        <a:graphic>
          <a:graphicData uri="http://schemas.openxmlformats.org/drawingml/2006/table">
            <a:tbl>
              <a:tblPr>
                <a:tableStyleId>{5940675A-B579-460E-94D1-54222C63F5DA}</a:tableStyleId>
              </a:tblPr>
              <a:tblGrid>
                <a:gridCol w="1941808">
                  <a:extLst>
                    <a:ext uri="{9D8B030D-6E8A-4147-A177-3AD203B41FA5}">
                      <a16:colId xmlns:a16="http://schemas.microsoft.com/office/drawing/2014/main" val="1468833731"/>
                    </a:ext>
                  </a:extLst>
                </a:gridCol>
                <a:gridCol w="9869192">
                  <a:extLst>
                    <a:ext uri="{9D8B030D-6E8A-4147-A177-3AD203B41FA5}">
                      <a16:colId xmlns:a16="http://schemas.microsoft.com/office/drawing/2014/main" val="4281615616"/>
                    </a:ext>
                  </a:extLst>
                </a:gridCol>
              </a:tblGrid>
              <a:tr h="602536">
                <a:tc>
                  <a:txBody>
                    <a:bodyPr/>
                    <a:lstStyle/>
                    <a:p>
                      <a:pPr algn="ctr" rtl="0" fontAlgn="b">
                        <a:defRPr>
                          <a:latin typeface="Ubuntu"/>
                          <a:ea typeface="Ubuntu"/>
                          <a:cs typeface="Ubuntu"/>
                        </a:defRPr>
                      </a:pPr>
                      <a:r>
                        <a:rPr lang="en-PH" sz="2200" b="1" dirty="0">
                          <a:effectLst/>
                          <a:latin typeface="Ubuntu" panose="02020603050405020304" pitchFamily="18" charset="0"/>
                          <a:cs typeface="Ubuntu" panose="02020603050405020304" pitchFamily="18" charset="0"/>
                        </a:rPr>
                        <a:t>Success Levels</a:t>
                      </a:r>
                      <a:endParaRPr lang="en-PH" sz="2200" b="1" dirty="0">
                        <a:solidFill>
                          <a:srgbClr val="000000"/>
                        </a:solidFill>
                        <a:effectLst/>
                        <a:latin typeface="Times New Roman" panose="02020603050405020304" pitchFamily="18" charset="0"/>
                        <a:cs typeface="Times New Roman" panose="02020603050405020304" pitchFamily="18" charset="0"/>
                      </a:endParaRPr>
                    </a:p>
                  </a:txBody>
                  <a:tcPr marL="28575" marR="28575" marT="19050" marB="19050" anchor="ctr"/>
                </a:tc>
                <a:tc>
                  <a:txBody>
                    <a:bodyPr/>
                    <a:lstStyle/>
                    <a:p>
                      <a:pPr marL="188913" indent="0" algn="ctr" rtl="0" fontAlgn="ctr">
                        <a:tabLst/>
                        <a:defRPr>
                          <a:latin typeface="Ubuntu"/>
                          <a:ea typeface="Ubuntu"/>
                          <a:cs typeface="Ubuntu"/>
                        </a:defRPr>
                      </a:pPr>
                      <a:r>
                        <a:rPr lang="en-PH" sz="2200" b="1" dirty="0">
                          <a:effectLst/>
                          <a:latin typeface="Ubuntu" panose="02020603050405020304" pitchFamily="18" charset="0"/>
                          <a:cs typeface="Ubuntu" panose="02020603050405020304" pitchFamily="18" charset="0"/>
                        </a:rPr>
                        <a:t>Criterion</a:t>
                      </a:r>
                    </a:p>
                  </a:txBody>
                  <a:tcPr marL="28575" marR="28575" marT="19050" marB="19050" anchor="ctr"/>
                </a:tc>
                <a:extLst>
                  <a:ext uri="{0D108BD9-81ED-4DB2-BD59-A6C34878D82A}">
                    <a16:rowId xmlns:a16="http://schemas.microsoft.com/office/drawing/2014/main" val="3871687798"/>
                  </a:ext>
                </a:extLst>
              </a:tr>
              <a:tr h="1394911">
                <a:tc>
                  <a:txBody>
                    <a:bodyPr/>
                    <a:lstStyle/>
                    <a:p>
                      <a:pPr algn="ctr" rtl="0" fontAlgn="b">
                        <a:lnSpc>
                          <a:spcPct val="100000"/>
                        </a:lnSpc>
                        <a:defRPr>
                          <a:latin typeface="Ubuntu"/>
                          <a:ea typeface="Ubuntu"/>
                          <a:cs typeface="Ubuntu"/>
                        </a:defRPr>
                      </a:pPr>
                      <a:r>
                        <a:rPr lang="en-PH" sz="2200" b="1" dirty="0">
                          <a:effectLst/>
                          <a:latin typeface="Ubuntu" panose="02020603050405020304" pitchFamily="18" charset="0"/>
                          <a:cs typeface="Ubuntu" panose="02020603050405020304" pitchFamily="18" charset="0"/>
                        </a:rPr>
                        <a:t>Minimum</a:t>
                      </a:r>
                      <a:endParaRPr lang="en-PH" sz="2200" b="1" dirty="0">
                        <a:solidFill>
                          <a:srgbClr val="000000"/>
                        </a:solidFill>
                        <a:effectLst/>
                        <a:latin typeface="Times New Roman" panose="02020603050405020304" pitchFamily="18" charset="0"/>
                        <a:cs typeface="Times New Roman" panose="02020603050405020304" pitchFamily="18" charset="0"/>
                      </a:endParaRPr>
                    </a:p>
                  </a:txBody>
                  <a:tcPr marL="28575" marR="28575" marT="19050" marB="19050" anchor="ctr"/>
                </a:tc>
                <a:tc>
                  <a:txBody>
                    <a:bodyPr/>
                    <a:lstStyle/>
                    <a:p>
                      <a:pPr marL="285750" indent="-285750" algn="just">
                        <a:lnSpc>
                          <a:spcPct val="100000"/>
                        </a:lnSpc>
                        <a:buFont typeface="Wingdings" panose="05000000000000000000" pitchFamily="2" charset="2"/>
                        <a:buChar char="§"/>
                        <a:defRPr>
                          <a:latin typeface="Ubuntu"/>
                          <a:ea typeface="Ubuntu"/>
                          <a:cs typeface="Ubuntu"/>
                        </a:defRPr>
                      </a:pPr>
                      <a:r>
                        <a:rPr lang="en-US" sz="2200" dirty="0">
                          <a:latin typeface="Ubuntu" panose="02020603050405020304" pitchFamily="18" charset="0"/>
                          <a:cs typeface="Ubuntu" panose="02020603050405020304" pitchFamily="18" charset="0"/>
                        </a:rPr>
                        <a:t>Capture multispectral image of any target on earth with Ground Resolution</a:t>
                      </a:r>
                      <a:r>
                        <a:rPr lang="en-US" sz="2200" baseline="0" dirty="0">
                          <a:latin typeface="Ubuntu" panose="02020603050405020304" pitchFamily="18" charset="0"/>
                          <a:cs typeface="Ubuntu" panose="02020603050405020304" pitchFamily="18" charset="0"/>
                        </a:rPr>
                        <a:t> of &lt; 175m and Swath &gt; 70Km x 70Km.</a:t>
                      </a:r>
                      <a:endParaRPr lang="en-US" sz="2200" dirty="0">
                        <a:latin typeface="Times New Roman" panose="02020603050405020304" pitchFamily="18" charset="0"/>
                        <a:cs typeface="Times New Roman" panose="02020603050405020304" pitchFamily="18" charset="0"/>
                      </a:endParaRPr>
                    </a:p>
                    <a:p>
                      <a:pPr marL="285750" indent="-285750" algn="just">
                        <a:lnSpc>
                          <a:spcPct val="100000"/>
                        </a:lnSpc>
                        <a:buFont typeface="Wingdings" panose="05000000000000000000" pitchFamily="2" charset="2"/>
                        <a:buChar char="§"/>
                        <a:defRPr>
                          <a:latin typeface="Ubuntu"/>
                          <a:ea typeface="Ubuntu"/>
                          <a:cs typeface="Ubuntu"/>
                        </a:defRPr>
                      </a:pPr>
                      <a:r>
                        <a:rPr lang="en-US" sz="2200" dirty="0">
                          <a:latin typeface="Ubuntu" panose="02020603050405020304" pitchFamily="18" charset="0"/>
                          <a:cs typeface="Ubuntu" panose="02020603050405020304" pitchFamily="18" charset="0"/>
                        </a:rPr>
                        <a:t>Downlink at least 40 images over mission lifetime</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latin typeface="Ubuntu"/>
                          <a:ea typeface="Ubuntu"/>
                          <a:cs typeface="Ubuntu"/>
                        </a:defRPr>
                      </a:pPr>
                      <a:r>
                        <a:rPr lang="en-US" sz="2200" dirty="0">
                          <a:latin typeface="Ubuntu" panose="02020603050405020304" pitchFamily="18" charset="0"/>
                          <a:cs typeface="Ubuntu" panose="02020603050405020304" pitchFamily="18" charset="0"/>
                        </a:rPr>
                        <a:t>Achieve at least half total area mapping of one target member country</a:t>
                      </a:r>
                    </a:p>
                  </a:txBody>
                  <a:tcPr marL="68580" marR="68580" marT="34290" marB="34290"/>
                </a:tc>
                <a:extLst>
                  <a:ext uri="{0D108BD9-81ED-4DB2-BD59-A6C34878D82A}">
                    <a16:rowId xmlns:a16="http://schemas.microsoft.com/office/drawing/2014/main" val="1458234783"/>
                  </a:ext>
                </a:extLst>
              </a:tr>
              <a:tr h="1659036">
                <a:tc>
                  <a:txBody>
                    <a:bodyPr/>
                    <a:lstStyle/>
                    <a:p>
                      <a:pPr algn="ctr" rtl="0" fontAlgn="b">
                        <a:lnSpc>
                          <a:spcPct val="100000"/>
                        </a:lnSpc>
                        <a:defRPr>
                          <a:latin typeface="Ubuntu"/>
                          <a:ea typeface="Ubuntu"/>
                          <a:cs typeface="Ubuntu"/>
                        </a:defRPr>
                      </a:pPr>
                      <a:r>
                        <a:rPr lang="en-PH" sz="2200" b="1" dirty="0">
                          <a:effectLst/>
                          <a:latin typeface="Ubuntu" panose="02020603050405020304" pitchFamily="18" charset="0"/>
                          <a:cs typeface="Ubuntu" panose="02020603050405020304" pitchFamily="18" charset="0"/>
                        </a:rPr>
                        <a:t>Medium</a:t>
                      </a:r>
                      <a:endParaRPr lang="en-PH" sz="2200" b="1" dirty="0">
                        <a:solidFill>
                          <a:srgbClr val="000000"/>
                        </a:solidFill>
                        <a:effectLst/>
                        <a:latin typeface="Times New Roman" panose="02020603050405020304" pitchFamily="18" charset="0"/>
                        <a:cs typeface="Times New Roman" panose="02020603050405020304" pitchFamily="18" charset="0"/>
                      </a:endParaRPr>
                    </a:p>
                  </a:txBody>
                  <a:tcPr marL="28575" marR="28575" marT="19050" marB="19050" anchor="ctr"/>
                </a:tc>
                <a:tc>
                  <a:txBody>
                    <a:bodyPr/>
                    <a:lstStyle/>
                    <a:p>
                      <a:pPr marL="285750" indent="-285750" algn="just">
                        <a:lnSpc>
                          <a:spcPct val="100000"/>
                        </a:lnSpc>
                        <a:buFont typeface="Wingdings" panose="05000000000000000000" pitchFamily="2" charset="2"/>
                        <a:buChar char="§"/>
                        <a:defRPr>
                          <a:latin typeface="Ubuntu"/>
                          <a:ea typeface="Ubuntu"/>
                          <a:cs typeface="Ubuntu"/>
                        </a:defRPr>
                      </a:pPr>
                      <a:r>
                        <a:rPr lang="en-US" sz="2200" dirty="0">
                          <a:latin typeface="Ubuntu" panose="02020603050405020304" pitchFamily="18" charset="0"/>
                          <a:cs typeface="Ubuntu" panose="02020603050405020304" pitchFamily="18" charset="0"/>
                        </a:rPr>
                        <a:t>Capture multispectral data of target countries with Ground Resolution</a:t>
                      </a:r>
                      <a:r>
                        <a:rPr lang="en-US" sz="2200" baseline="0" dirty="0">
                          <a:latin typeface="Ubuntu" panose="02020603050405020304" pitchFamily="18" charset="0"/>
                          <a:cs typeface="Ubuntu" panose="02020603050405020304" pitchFamily="18" charset="0"/>
                        </a:rPr>
                        <a:t> of &lt; 175m and Swath &gt; 70Km x 70Km.</a:t>
                      </a:r>
                      <a:endParaRPr lang="en-US" sz="2200" dirty="0">
                        <a:latin typeface="Times New Roman" panose="02020603050405020304" pitchFamily="18" charset="0"/>
                        <a:cs typeface="Times New Roman" panose="02020603050405020304" pitchFamily="18" charset="0"/>
                      </a:endParaRPr>
                    </a:p>
                    <a:p>
                      <a:pPr marL="285750" indent="-285750" algn="just">
                        <a:lnSpc>
                          <a:spcPct val="100000"/>
                        </a:lnSpc>
                        <a:buFont typeface="Wingdings" panose="05000000000000000000" pitchFamily="2" charset="2"/>
                        <a:buChar char="§"/>
                        <a:defRPr>
                          <a:latin typeface="Ubuntu"/>
                          <a:ea typeface="Ubuntu"/>
                          <a:cs typeface="Ubuntu"/>
                        </a:defRPr>
                      </a:pPr>
                      <a:r>
                        <a:rPr lang="en-US" sz="2200" dirty="0">
                          <a:latin typeface="Ubuntu" panose="02020603050405020304" pitchFamily="18" charset="0"/>
                          <a:cs typeface="Ubuntu" panose="02020603050405020304" pitchFamily="18" charset="0"/>
                        </a:rPr>
                        <a:t>Downlink at least 80 images over mission lifetime</a:t>
                      </a:r>
                    </a:p>
                    <a:p>
                      <a:pPr marL="285750" indent="-285750" algn="just">
                        <a:lnSpc>
                          <a:spcPct val="100000"/>
                        </a:lnSpc>
                        <a:buFont typeface="Wingdings" panose="05000000000000000000" pitchFamily="2" charset="2"/>
                        <a:buChar char="§"/>
                        <a:defRPr>
                          <a:latin typeface="Ubuntu"/>
                          <a:ea typeface="Ubuntu"/>
                          <a:cs typeface="Ubuntu"/>
                        </a:defRPr>
                      </a:pPr>
                      <a:r>
                        <a:rPr lang="en-US" sz="2200" dirty="0">
                          <a:latin typeface="Ubuntu" panose="02020603050405020304" pitchFamily="18" charset="0"/>
                          <a:cs typeface="Ubuntu" panose="02020603050405020304" pitchFamily="18" charset="0"/>
                        </a:rPr>
                        <a:t>Achieve at least half total area mapping of two target member countries</a:t>
                      </a:r>
                    </a:p>
                    <a:p>
                      <a:pPr marL="285750" indent="-285750" algn="just">
                        <a:lnSpc>
                          <a:spcPct val="100000"/>
                        </a:lnSpc>
                        <a:buFont typeface="Wingdings" panose="05000000000000000000" pitchFamily="2" charset="2"/>
                        <a:buChar char="§"/>
                        <a:defRPr>
                          <a:latin typeface="Ubuntu"/>
                          <a:ea typeface="Ubuntu"/>
                          <a:cs typeface="Ubuntu"/>
                        </a:defRPr>
                      </a:pPr>
                      <a:r>
                        <a:rPr lang="en-US" sz="2200" dirty="0">
                          <a:latin typeface="Ubuntu" panose="02020603050405020304" pitchFamily="18" charset="0"/>
                          <a:cs typeface="Ubuntu" panose="02020603050405020304" pitchFamily="18" charset="0"/>
                        </a:rPr>
                        <a:t>Write paper on performance</a:t>
                      </a:r>
                    </a:p>
                  </a:txBody>
                  <a:tcPr marL="68580" marR="68580" marT="34290" marB="34290"/>
                </a:tc>
                <a:extLst>
                  <a:ext uri="{0D108BD9-81ED-4DB2-BD59-A6C34878D82A}">
                    <a16:rowId xmlns:a16="http://schemas.microsoft.com/office/drawing/2014/main" val="4163406500"/>
                  </a:ext>
                </a:extLst>
              </a:tr>
              <a:tr h="866660">
                <a:tc>
                  <a:txBody>
                    <a:bodyPr/>
                    <a:lstStyle/>
                    <a:p>
                      <a:pPr algn="ctr" rtl="0" fontAlgn="b">
                        <a:lnSpc>
                          <a:spcPct val="100000"/>
                        </a:lnSpc>
                        <a:defRPr>
                          <a:latin typeface="Ubuntu"/>
                          <a:ea typeface="Ubuntu"/>
                          <a:cs typeface="Ubuntu"/>
                        </a:defRPr>
                      </a:pPr>
                      <a:r>
                        <a:rPr lang="en-PH" sz="2200" b="1">
                          <a:effectLst/>
                          <a:latin typeface="Ubuntu" panose="02020603050405020304" pitchFamily="18" charset="0"/>
                          <a:cs typeface="Ubuntu" panose="02020603050405020304" pitchFamily="18" charset="0"/>
                        </a:rPr>
                        <a:t>Full</a:t>
                      </a:r>
                      <a:endParaRPr lang="en-PH" sz="2200" b="1">
                        <a:solidFill>
                          <a:srgbClr val="000000"/>
                        </a:solidFill>
                        <a:effectLst/>
                        <a:latin typeface="Times New Roman" panose="02020603050405020304" pitchFamily="18" charset="0"/>
                        <a:cs typeface="Times New Roman" panose="02020603050405020304" pitchFamily="18" charset="0"/>
                      </a:endParaRPr>
                    </a:p>
                  </a:txBody>
                  <a:tcPr marL="28575" marR="28575" marT="19050" marB="19050" anchor="ctr"/>
                </a:tc>
                <a:tc>
                  <a:txBody>
                    <a:bodyPr/>
                    <a:lstStyle/>
                    <a:p>
                      <a:pPr marL="285750" indent="-285750" algn="just">
                        <a:lnSpc>
                          <a:spcPct val="100000"/>
                        </a:lnSpc>
                        <a:buFont typeface="Wingdings" panose="05000000000000000000" pitchFamily="2" charset="2"/>
                        <a:buChar char="§"/>
                        <a:defRPr>
                          <a:latin typeface="Ubuntu"/>
                          <a:ea typeface="Ubuntu"/>
                          <a:cs typeface="Ubuntu"/>
                        </a:defRPr>
                      </a:pPr>
                      <a:r>
                        <a:rPr lang="en-US" sz="2200" dirty="0">
                          <a:latin typeface="Ubuntu" panose="02020603050405020304" pitchFamily="18" charset="0"/>
                          <a:cs typeface="Ubuntu" panose="02020603050405020304" pitchFamily="18" charset="0"/>
                        </a:rPr>
                        <a:t>Downlink at least 150 images over mission lifetime</a:t>
                      </a:r>
                    </a:p>
                    <a:p>
                      <a:pPr marL="285750" indent="-285750" algn="just">
                        <a:lnSpc>
                          <a:spcPct val="100000"/>
                        </a:lnSpc>
                        <a:buFont typeface="Wingdings" panose="05000000000000000000" pitchFamily="2" charset="2"/>
                        <a:buChar char="§"/>
                        <a:defRPr>
                          <a:latin typeface="Ubuntu"/>
                          <a:ea typeface="Ubuntu"/>
                          <a:cs typeface="Ubuntu"/>
                        </a:defRPr>
                      </a:pPr>
                      <a:r>
                        <a:rPr lang="en-US" sz="2200" dirty="0">
                          <a:latin typeface="Ubuntu" panose="02020603050405020304" pitchFamily="18" charset="0"/>
                          <a:cs typeface="Ubuntu" panose="02020603050405020304" pitchFamily="18" charset="0"/>
                        </a:rPr>
                        <a:t>Achieve full area mapping of all target member countries</a:t>
                      </a:r>
                    </a:p>
                    <a:p>
                      <a:pPr marL="285750" indent="-285750" algn="just">
                        <a:lnSpc>
                          <a:spcPct val="100000"/>
                        </a:lnSpc>
                        <a:buFont typeface="Wingdings" panose="05000000000000000000" pitchFamily="2" charset="2"/>
                        <a:buChar char="§"/>
                        <a:defRPr>
                          <a:latin typeface="Ubuntu"/>
                          <a:ea typeface="Ubuntu"/>
                          <a:cs typeface="Ubuntu"/>
                        </a:defRPr>
                      </a:pPr>
                      <a:r>
                        <a:rPr lang="en-US" sz="2200" dirty="0">
                          <a:latin typeface="Ubuntu" panose="02020603050405020304" pitchFamily="18" charset="0"/>
                          <a:cs typeface="Ubuntu" panose="02020603050405020304" pitchFamily="18" charset="0"/>
                        </a:rPr>
                        <a:t>Write paper on outcomes and achievements.</a:t>
                      </a:r>
                    </a:p>
                  </a:txBody>
                  <a:tcPr marL="68580" marR="68580" marT="34290" marB="34290"/>
                </a:tc>
                <a:extLst>
                  <a:ext uri="{0D108BD9-81ED-4DB2-BD59-A6C34878D82A}">
                    <a16:rowId xmlns:a16="http://schemas.microsoft.com/office/drawing/2014/main" val="1269396011"/>
                  </a:ext>
                </a:extLst>
              </a:tr>
              <a:tr h="1019191">
                <a:tc>
                  <a:txBody>
                    <a:bodyPr/>
                    <a:lstStyle/>
                    <a:p>
                      <a:pPr algn="ctr" rtl="0" fontAlgn="b">
                        <a:lnSpc>
                          <a:spcPct val="100000"/>
                        </a:lnSpc>
                        <a:defRPr>
                          <a:latin typeface="Ubuntu"/>
                          <a:ea typeface="Ubuntu"/>
                          <a:cs typeface="Ubuntu"/>
                        </a:defRPr>
                      </a:pPr>
                      <a:r>
                        <a:rPr lang="en-PH" sz="2200" b="1" dirty="0">
                          <a:effectLst/>
                          <a:latin typeface="Ubuntu" panose="02020603050405020304" pitchFamily="18" charset="0"/>
                          <a:cs typeface="Ubuntu" panose="02020603050405020304" pitchFamily="18" charset="0"/>
                        </a:rPr>
                        <a:t>Extra</a:t>
                      </a:r>
                      <a:endParaRPr lang="en-PH" sz="2200" b="1" dirty="0">
                        <a:solidFill>
                          <a:srgbClr val="000000"/>
                        </a:solidFill>
                        <a:effectLst/>
                        <a:latin typeface="Times New Roman" panose="02020603050405020304" pitchFamily="18" charset="0"/>
                        <a:cs typeface="Times New Roman" panose="02020603050405020304" pitchFamily="18" charset="0"/>
                      </a:endParaRPr>
                    </a:p>
                  </a:txBody>
                  <a:tcPr marL="28575" marR="28575" marT="19050" marB="19050" anchor="ctr"/>
                </a:tc>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latin typeface="Ubuntu"/>
                          <a:ea typeface="Ubuntu"/>
                          <a:cs typeface="Ubuntu"/>
                        </a:defRPr>
                      </a:pPr>
                      <a:r>
                        <a:rPr lang="en-US" altLang="ja-JP" sz="2200" dirty="0">
                          <a:solidFill>
                            <a:schemeClr val="tx1"/>
                          </a:solidFill>
                          <a:latin typeface="Ubuntu" panose="02020603050405020304" pitchFamily="18" charset="0"/>
                          <a:cs typeface="Ubuntu" panose="02020603050405020304" pitchFamily="18" charset="0"/>
                        </a:rPr>
                        <a:t>Downlink 200 images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latin typeface="Ubuntu"/>
                          <a:ea typeface="Ubuntu"/>
                          <a:cs typeface="Ubuntu"/>
                        </a:defRPr>
                      </a:pPr>
                      <a:r>
                        <a:rPr lang="en-US" altLang="ja-JP" sz="2200" dirty="0">
                          <a:solidFill>
                            <a:schemeClr val="tx1"/>
                          </a:solidFill>
                          <a:latin typeface="Ubuntu" panose="02020603050405020304" pitchFamily="18" charset="0"/>
                          <a:cs typeface="Ubuntu" panose="02020603050405020304" pitchFamily="18" charset="0"/>
                        </a:rPr>
                        <a:t>Share data with interested parties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latin typeface="Ubuntu"/>
                          <a:ea typeface="Ubuntu"/>
                          <a:cs typeface="Ubuntu"/>
                        </a:defRPr>
                      </a:pPr>
                      <a:r>
                        <a:rPr lang="en-US" altLang="ja-JP" sz="2200" dirty="0">
                          <a:solidFill>
                            <a:schemeClr val="tx1"/>
                          </a:solidFill>
                          <a:latin typeface="Ubuntu" panose="02020603050405020304" pitchFamily="18" charset="0"/>
                          <a:cs typeface="Ubuntu" panose="02020603050405020304" pitchFamily="18" charset="0"/>
                        </a:rPr>
                        <a:t>Achieve data mapping for additional countries</a:t>
                      </a:r>
                    </a:p>
                  </a:txBody>
                  <a:tcPr marL="68580" marR="68580" marT="34290" marB="34290"/>
                </a:tc>
                <a:extLst>
                  <a:ext uri="{0D108BD9-81ED-4DB2-BD59-A6C34878D82A}">
                    <a16:rowId xmlns:a16="http://schemas.microsoft.com/office/drawing/2014/main" val="1173572657"/>
                  </a:ext>
                </a:extLst>
              </a:tr>
            </a:tbl>
          </a:graphicData>
        </a:graphic>
      </p:graphicFrame>
      <p:sp>
        <p:nvSpPr>
          <p:cNvPr id="8" name="正方形/長方形 7">
            <a:extLst>
              <a:ext uri="{FF2B5EF4-FFF2-40B4-BE49-F238E27FC236}">
                <a16:creationId xmlns:a16="http://schemas.microsoft.com/office/drawing/2014/main" id="{FA324220-1EFD-42F3-B461-95F53A426676}"/>
              </a:ext>
            </a:extLst>
          </p:cNvPr>
          <p:cNvSpPr/>
          <p:nvPr/>
        </p:nvSpPr>
        <p:spPr>
          <a:xfrm>
            <a:off x="1524000" y="716063"/>
            <a:ext cx="9144000" cy="108000"/>
          </a:xfrm>
          <a:prstGeom prst="rect">
            <a:avLst/>
          </a:prstGeom>
          <a:gradFill flip="none" rotWithShape="1">
            <a:gsLst>
              <a:gs pos="0">
                <a:schemeClr val="accent5">
                  <a:lumMod val="75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kumimoji="1" lang="ja-JP" altLang="en-US"/>
          </a:p>
        </p:txBody>
      </p:sp>
      <p:sp>
        <p:nvSpPr>
          <p:cNvPr id="4" name="Slide Number Placeholder 7">
            <a:extLst>
              <a:ext uri="{FF2B5EF4-FFF2-40B4-BE49-F238E27FC236}">
                <a16:creationId xmlns:a16="http://schemas.microsoft.com/office/drawing/2014/main" id="{99F90A79-65B7-B065-0CD9-4479CE1C3034}"/>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30</a:t>
            </a:fld>
            <a:endParaRPr lang="en-US" sz="4800" b="1" dirty="0">
              <a:solidFill>
                <a:srgbClr val="FF0000"/>
              </a:solidFill>
            </a:endParaRPr>
          </a:p>
        </p:txBody>
      </p:sp>
      <p:pic>
        <p:nvPicPr>
          <p:cNvPr id="9" name="Space Faculty logo" descr="sf_logo.png"/>
          <p:cNvPicPr>
            <a:picLocks noChangeAspect="1"/>
          </p:cNvPicPr>
          <p:nvPr/>
        </p:nvPicPr>
        <p:blipFill>
          <a:blip r:embed="rId2"/>
          <a:stretch>
            <a:fillRect/>
          </a:stretch>
        </p:blipFill>
        <p:spPr>
          <a:xfrm>
            <a:off x="10488994" y="54864"/>
            <a:ext cx="1590230" cy="451912"/>
          </a:xfrm>
          <a:prstGeom prst="rect">
            <a:avLst/>
          </a:prstGeom>
        </p:spPr>
      </p:pic>
    </p:spTree>
    <p:extLst>
      <p:ext uri="{BB962C8B-B14F-4D97-AF65-F5344CB8AC3E}">
        <p14:creationId xmlns:p14="http://schemas.microsoft.com/office/powerpoint/2010/main" val="4325263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5670" y="116419"/>
            <a:ext cx="9466921"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spc="-5" dirty="0">
                <a:latin typeface="House Movements Runway"/>
                <a:ea typeface="House Movements Runway"/>
                <a:cs typeface="House Movements Runway"/>
              </a:rPr>
              <a:t>LiDAR</a:t>
            </a:r>
            <a:r>
              <a:rPr sz="4000" b="1" spc="-10" dirty="0">
                <a:latin typeface="House Movements Runway"/>
                <a:ea typeface="House Movements Runway"/>
                <a:cs typeface="House Movements Runway"/>
              </a:rPr>
              <a:t> </a:t>
            </a:r>
            <a:r>
              <a:rPr sz="4000" b="1" dirty="0">
                <a:latin typeface="House Movements Runway"/>
                <a:ea typeface="House Movements Runway"/>
                <a:cs typeface="House Movements Runway"/>
              </a:rPr>
              <a:t>(Light</a:t>
            </a:r>
            <a:r>
              <a:rPr sz="4000" b="1" spc="-5" dirty="0">
                <a:latin typeface="House Movements Runway"/>
                <a:ea typeface="House Movements Runway"/>
                <a:cs typeface="House Movements Runway"/>
              </a:rPr>
              <a:t> Detection</a:t>
            </a:r>
            <a:r>
              <a:rPr sz="4000" b="1" spc="-10" dirty="0">
                <a:latin typeface="House Movements Runway"/>
                <a:ea typeface="House Movements Runway"/>
                <a:cs typeface="House Movements Runway"/>
              </a:rPr>
              <a:t> </a:t>
            </a:r>
            <a:r>
              <a:rPr sz="4000" b="1" spc="-5" dirty="0">
                <a:latin typeface="House Movements Runway"/>
                <a:ea typeface="House Movements Runway"/>
                <a:cs typeface="House Movements Runway"/>
              </a:rPr>
              <a:t>And Ranging)</a:t>
            </a:r>
            <a:endParaRPr sz="4000" b="1" dirty="0"/>
          </a:p>
        </p:txBody>
      </p:sp>
      <p:sp>
        <p:nvSpPr>
          <p:cNvPr id="3" name="object 3"/>
          <p:cNvSpPr txBox="1"/>
          <p:nvPr/>
        </p:nvSpPr>
        <p:spPr>
          <a:xfrm>
            <a:off x="194343" y="1524000"/>
            <a:ext cx="6358858" cy="4046749"/>
          </a:xfrm>
          <a:prstGeom prst="rect">
            <a:avLst/>
          </a:prstGeom>
        </p:spPr>
        <p:txBody>
          <a:bodyPr vert="horz" wrap="square" lIns="0" tIns="76835" rIns="0" bIns="0" rtlCol="0">
            <a:spAutoFit/>
          </a:bodyPr>
          <a:lstStyle/>
          <a:p>
            <a:pPr marL="401320" indent="-342900">
              <a:lnSpc>
                <a:spcPct val="100000"/>
              </a:lnSpc>
              <a:spcBef>
                <a:spcPts val="605"/>
              </a:spcBef>
              <a:buFont typeface="Wingdings" panose="05000000000000000000" pitchFamily="2" charset="2"/>
              <a:buChar char="q"/>
              <a:tabLst>
                <a:tab pos="266065" algn="l"/>
              </a:tabLst>
              <a:defRPr>
                <a:latin typeface="Ubuntu"/>
                <a:ea typeface="Ubuntu"/>
                <a:cs typeface="Ubuntu"/>
              </a:defRPr>
            </a:pPr>
            <a:r>
              <a:rPr sz="2400" b="1" i="1" spc="-5" dirty="0">
                <a:solidFill>
                  <a:srgbClr val="FF0000"/>
                </a:solidFill>
                <a:latin typeface="Ubuntu"/>
                <a:cs typeface="Ubuntu"/>
              </a:rPr>
              <a:t>Active</a:t>
            </a:r>
            <a:r>
              <a:rPr sz="2400" b="1" i="1" spc="-10" dirty="0">
                <a:solidFill>
                  <a:srgbClr val="FF0000"/>
                </a:solidFill>
                <a:latin typeface="Ubuntu"/>
                <a:cs typeface="Ubuntu"/>
              </a:rPr>
              <a:t> </a:t>
            </a:r>
            <a:r>
              <a:rPr sz="2400" b="1" i="1" dirty="0">
                <a:solidFill>
                  <a:srgbClr val="FF0000"/>
                </a:solidFill>
                <a:latin typeface="Ubuntu"/>
                <a:cs typeface="Ubuntu"/>
              </a:rPr>
              <a:t>sensor</a:t>
            </a:r>
            <a:endParaRPr lang="en-US" sz="2400" b="1" i="1" dirty="0">
              <a:solidFill>
                <a:srgbClr val="FF0000"/>
              </a:solidFill>
              <a:latin typeface="Arial MT"/>
              <a:cs typeface="Arial MT"/>
            </a:endParaRPr>
          </a:p>
          <a:p>
            <a:pPr marL="58420">
              <a:lnSpc>
                <a:spcPct val="100000"/>
              </a:lnSpc>
              <a:spcBef>
                <a:spcPts val="605"/>
              </a:spcBef>
              <a:tabLst>
                <a:tab pos="266065" algn="l"/>
              </a:tabLst>
              <a:defRPr>
                <a:latin typeface="Ubuntu"/>
                <a:ea typeface="Ubuntu"/>
                <a:cs typeface="Ubuntu"/>
              </a:defRPr>
            </a:pPr>
            <a:endParaRPr sz="2400" dirty="0">
              <a:latin typeface="Arial MT"/>
              <a:cs typeface="Arial MT"/>
            </a:endParaRPr>
          </a:p>
          <a:p>
            <a:pPr marL="401320" marR="5080" indent="-342900">
              <a:lnSpc>
                <a:spcPct val="100800"/>
              </a:lnSpc>
              <a:spcBef>
                <a:spcPts val="480"/>
              </a:spcBef>
              <a:buFont typeface="Wingdings" panose="05000000000000000000" pitchFamily="2" charset="2"/>
              <a:buChar char="q"/>
              <a:tabLst>
                <a:tab pos="266065" algn="l"/>
                <a:tab pos="1175385" algn="l"/>
                <a:tab pos="2492375" algn="l"/>
                <a:tab pos="2859405" algn="l"/>
                <a:tab pos="4141470" algn="l"/>
                <a:tab pos="6525895" algn="l"/>
                <a:tab pos="7281545" algn="l"/>
                <a:tab pos="9089390" algn="l"/>
                <a:tab pos="10372090" algn="l"/>
                <a:tab pos="10789285" algn="l"/>
              </a:tabLst>
              <a:defRPr>
                <a:latin typeface="Ubuntu"/>
                <a:ea typeface="Ubuntu"/>
                <a:cs typeface="Ubuntu"/>
              </a:defRPr>
            </a:pPr>
            <a:r>
              <a:rPr sz="2400" dirty="0">
                <a:latin typeface="Ubuntu"/>
                <a:cs typeface="Ubuntu"/>
              </a:rPr>
              <a:t>Laser	</a:t>
            </a:r>
            <a:r>
              <a:rPr lang="en-US" sz="2400" dirty="0">
                <a:latin typeface="Ubuntu"/>
                <a:cs typeface="Ubuntu"/>
              </a:rPr>
              <a:t> </a:t>
            </a:r>
            <a:r>
              <a:rPr sz="2400" dirty="0">
                <a:latin typeface="Ubuntu"/>
                <a:cs typeface="Ubuntu"/>
              </a:rPr>
              <a:t>rad</a:t>
            </a:r>
            <a:r>
              <a:rPr sz="2400" spc="5" dirty="0">
                <a:latin typeface="Ubuntu"/>
                <a:cs typeface="Ubuntu"/>
              </a:rPr>
              <a:t>i</a:t>
            </a:r>
            <a:r>
              <a:rPr sz="2400" dirty="0">
                <a:latin typeface="Ubuntu"/>
                <a:cs typeface="Ubuntu"/>
              </a:rPr>
              <a:t>a</a:t>
            </a:r>
            <a:r>
              <a:rPr sz="2400" spc="-5" dirty="0">
                <a:latin typeface="Ubuntu"/>
                <a:cs typeface="Ubuntu"/>
              </a:rPr>
              <a:t>t</a:t>
            </a:r>
            <a:r>
              <a:rPr sz="2400" spc="5" dirty="0">
                <a:latin typeface="Ubuntu"/>
                <a:cs typeface="Ubuntu"/>
              </a:rPr>
              <a:t>i</a:t>
            </a:r>
            <a:r>
              <a:rPr sz="2400" dirty="0">
                <a:latin typeface="Ubuntu"/>
                <a:cs typeface="Ubuntu"/>
              </a:rPr>
              <a:t>on	is	re</a:t>
            </a:r>
            <a:r>
              <a:rPr sz="2400" spc="-5" dirty="0">
                <a:latin typeface="Ubuntu"/>
                <a:cs typeface="Ubuntu"/>
              </a:rPr>
              <a:t>t</a:t>
            </a:r>
            <a:r>
              <a:rPr sz="2400" dirty="0">
                <a:latin typeface="Ubuntu"/>
                <a:cs typeface="Ubuntu"/>
              </a:rPr>
              <a:t>urned</a:t>
            </a:r>
            <a:r>
              <a:rPr lang="en-US" sz="2400" dirty="0">
                <a:latin typeface="Ubuntu"/>
                <a:cs typeface="Ubuntu"/>
              </a:rPr>
              <a:t> </a:t>
            </a:r>
            <a:r>
              <a:rPr sz="2400" dirty="0">
                <a:latin typeface="Ubuntu"/>
                <a:cs typeface="Ubuntu"/>
              </a:rPr>
              <a:t>(‘backsca</a:t>
            </a:r>
            <a:r>
              <a:rPr sz="2400" spc="-5" dirty="0">
                <a:latin typeface="Ubuntu"/>
                <a:cs typeface="Ubuntu"/>
              </a:rPr>
              <a:t>tt</a:t>
            </a:r>
            <a:r>
              <a:rPr sz="2400" dirty="0">
                <a:latin typeface="Ubuntu"/>
                <a:cs typeface="Ubuntu"/>
              </a:rPr>
              <a:t>ered’)</a:t>
            </a:r>
            <a:r>
              <a:rPr lang="en-US" sz="2400" dirty="0">
                <a:latin typeface="Ubuntu"/>
                <a:cs typeface="Ubuntu"/>
              </a:rPr>
              <a:t> </a:t>
            </a:r>
            <a:r>
              <a:rPr sz="2400" spc="-5" dirty="0">
                <a:latin typeface="Ubuntu"/>
                <a:cs typeface="Ubuntu"/>
              </a:rPr>
              <a:t>f</a:t>
            </a:r>
            <a:r>
              <a:rPr sz="2400" dirty="0">
                <a:latin typeface="Ubuntu"/>
                <a:cs typeface="Ubuntu"/>
              </a:rPr>
              <a:t>rom	a</a:t>
            </a:r>
            <a:r>
              <a:rPr sz="2400" spc="-5" dirty="0">
                <a:latin typeface="Ubuntu"/>
                <a:cs typeface="Ubuntu"/>
              </a:rPr>
              <a:t>t</a:t>
            </a:r>
            <a:r>
              <a:rPr sz="2400" dirty="0">
                <a:latin typeface="Ubuntu"/>
                <a:cs typeface="Ubuntu"/>
              </a:rPr>
              <a:t>mospheric	par</a:t>
            </a:r>
            <a:r>
              <a:rPr sz="2400" spc="-5" dirty="0">
                <a:latin typeface="Ubuntu"/>
                <a:cs typeface="Ubuntu"/>
              </a:rPr>
              <a:t>t</a:t>
            </a:r>
            <a:r>
              <a:rPr sz="2400" dirty="0">
                <a:latin typeface="Ubuntu"/>
                <a:cs typeface="Ubuntu"/>
              </a:rPr>
              <a:t>icles	or</a:t>
            </a:r>
            <a:r>
              <a:rPr lang="en-US" sz="2400" dirty="0">
                <a:latin typeface="Ubuntu"/>
                <a:cs typeface="Ubuntu"/>
              </a:rPr>
              <a:t> </a:t>
            </a:r>
            <a:r>
              <a:rPr sz="2400" dirty="0">
                <a:latin typeface="Ubuntu"/>
                <a:cs typeface="Ubuntu"/>
              </a:rPr>
              <a:t>by  </a:t>
            </a:r>
            <a:r>
              <a:rPr sz="2400" spc="-5" dirty="0">
                <a:latin typeface="Ubuntu"/>
                <a:cs typeface="Ubuntu"/>
              </a:rPr>
              <a:t>reflection </a:t>
            </a:r>
            <a:r>
              <a:rPr sz="2400" dirty="0">
                <a:latin typeface="Ubuntu"/>
                <a:cs typeface="Ubuntu"/>
              </a:rPr>
              <a:t>at</a:t>
            </a:r>
            <a:r>
              <a:rPr sz="2400" spc="-10" dirty="0">
                <a:latin typeface="Ubuntu"/>
                <a:cs typeface="Ubuntu"/>
              </a:rPr>
              <a:t> </a:t>
            </a:r>
            <a:r>
              <a:rPr sz="2400" spc="-5" dirty="0">
                <a:latin typeface="Ubuntu"/>
                <a:cs typeface="Ubuntu"/>
              </a:rPr>
              <a:t>the </a:t>
            </a:r>
            <a:r>
              <a:rPr sz="2400" spc="-10" dirty="0">
                <a:latin typeface="Ubuntu"/>
                <a:cs typeface="Ubuntu"/>
              </a:rPr>
              <a:t>Earth’s </a:t>
            </a:r>
            <a:r>
              <a:rPr sz="2400" spc="-5" dirty="0">
                <a:latin typeface="Ubuntu"/>
                <a:cs typeface="Ubuntu"/>
              </a:rPr>
              <a:t>surface.</a:t>
            </a:r>
            <a:endParaRPr lang="en-US" sz="2400" spc="-5" dirty="0">
              <a:latin typeface="Arial MT"/>
              <a:cs typeface="Arial MT"/>
            </a:endParaRPr>
          </a:p>
          <a:p>
            <a:pPr marL="58420" marR="5080">
              <a:lnSpc>
                <a:spcPct val="100800"/>
              </a:lnSpc>
              <a:spcBef>
                <a:spcPts val="480"/>
              </a:spcBef>
              <a:tabLst>
                <a:tab pos="266065" algn="l"/>
                <a:tab pos="1175385" algn="l"/>
                <a:tab pos="2492375" algn="l"/>
                <a:tab pos="2859405" algn="l"/>
                <a:tab pos="4141470" algn="l"/>
                <a:tab pos="6525895" algn="l"/>
                <a:tab pos="7281545" algn="l"/>
                <a:tab pos="9089390" algn="l"/>
                <a:tab pos="10372090" algn="l"/>
                <a:tab pos="10789285" algn="l"/>
              </a:tabLst>
              <a:defRPr>
                <a:latin typeface="Ubuntu"/>
                <a:ea typeface="Ubuntu"/>
                <a:cs typeface="Ubuntu"/>
              </a:defRPr>
            </a:pPr>
            <a:endParaRPr sz="2400" dirty="0">
              <a:latin typeface="Arial MT"/>
              <a:cs typeface="Arial MT"/>
            </a:endParaRPr>
          </a:p>
          <a:p>
            <a:pPr marL="401320" marR="6350" indent="-342900">
              <a:lnSpc>
                <a:spcPct val="100800"/>
              </a:lnSpc>
              <a:spcBef>
                <a:spcPts val="505"/>
              </a:spcBef>
              <a:buFont typeface="Wingdings" panose="05000000000000000000" pitchFamily="2" charset="2"/>
              <a:buChar char="q"/>
              <a:tabLst>
                <a:tab pos="266065" algn="l"/>
                <a:tab pos="1888489" algn="l"/>
                <a:tab pos="2508885" algn="l"/>
                <a:tab pos="3502660" algn="l"/>
                <a:tab pos="4429760" algn="l"/>
                <a:tab pos="5356860" algn="l"/>
                <a:tab pos="6130290" algn="l"/>
                <a:tab pos="6836409" algn="l"/>
                <a:tab pos="7457440" algn="l"/>
                <a:tab pos="8773160" algn="l"/>
                <a:tab pos="9462135" algn="l"/>
                <a:tab pos="9998710" algn="l"/>
                <a:tab pos="10857865" algn="l"/>
              </a:tabLst>
              <a:defRPr>
                <a:latin typeface="Ubuntu"/>
                <a:ea typeface="Ubuntu"/>
                <a:cs typeface="Ubuntu"/>
              </a:defRPr>
            </a:pPr>
            <a:r>
              <a:rPr sz="2400" i="1" dirty="0">
                <a:solidFill>
                  <a:srgbClr val="FF0000"/>
                </a:solidFill>
                <a:latin typeface="Ubuntu"/>
                <a:cs typeface="Ubuntu"/>
              </a:rPr>
              <a:t>Measuring	</a:t>
            </a:r>
            <a:r>
              <a:rPr sz="2400" i="1" spc="-5" dirty="0">
                <a:solidFill>
                  <a:srgbClr val="FF0000"/>
                </a:solidFill>
                <a:latin typeface="Ubuntu"/>
                <a:cs typeface="Ubuntu"/>
              </a:rPr>
              <a:t>t</a:t>
            </a:r>
            <a:r>
              <a:rPr sz="2400" i="1" dirty="0">
                <a:solidFill>
                  <a:srgbClr val="FF0000"/>
                </a:solidFill>
                <a:latin typeface="Ubuntu"/>
                <a:cs typeface="Ubuntu"/>
              </a:rPr>
              <a:t>he	re</a:t>
            </a:r>
            <a:r>
              <a:rPr sz="2400" i="1" spc="-5" dirty="0">
                <a:solidFill>
                  <a:srgbClr val="FF0000"/>
                </a:solidFill>
                <a:latin typeface="Ubuntu"/>
                <a:cs typeface="Ubuntu"/>
              </a:rPr>
              <a:t>t</a:t>
            </a:r>
            <a:r>
              <a:rPr sz="2400" i="1" dirty="0">
                <a:solidFill>
                  <a:srgbClr val="FF0000"/>
                </a:solidFill>
                <a:latin typeface="Ubuntu"/>
                <a:cs typeface="Ubuntu"/>
              </a:rPr>
              <a:t>urn	pulse	de</a:t>
            </a:r>
            <a:r>
              <a:rPr sz="2400" i="1" spc="5" dirty="0">
                <a:solidFill>
                  <a:srgbClr val="FF0000"/>
                </a:solidFill>
                <a:latin typeface="Ubuntu"/>
                <a:cs typeface="Ubuntu"/>
              </a:rPr>
              <a:t>l</a:t>
            </a:r>
            <a:r>
              <a:rPr sz="2400" i="1" dirty="0">
                <a:solidFill>
                  <a:srgbClr val="FF0000"/>
                </a:solidFill>
                <a:latin typeface="Ubuntu"/>
                <a:cs typeface="Ubuntu"/>
              </a:rPr>
              <a:t>ay	</a:t>
            </a:r>
            <a:r>
              <a:rPr sz="2400" i="1" spc="-5" dirty="0">
                <a:solidFill>
                  <a:srgbClr val="FF0000"/>
                </a:solidFill>
                <a:latin typeface="Ubuntu"/>
                <a:cs typeface="Ubuntu"/>
              </a:rPr>
              <a:t>t</a:t>
            </a:r>
            <a:r>
              <a:rPr sz="2400" i="1" spc="5" dirty="0">
                <a:solidFill>
                  <a:srgbClr val="FF0000"/>
                </a:solidFill>
                <a:latin typeface="Ubuntu"/>
                <a:cs typeface="Ubuntu"/>
              </a:rPr>
              <a:t>i</a:t>
            </a:r>
            <a:r>
              <a:rPr sz="2400" i="1" dirty="0">
                <a:solidFill>
                  <a:srgbClr val="FF0000"/>
                </a:solidFill>
                <a:latin typeface="Ubuntu"/>
                <a:cs typeface="Ubuntu"/>
              </a:rPr>
              <a:t>me</a:t>
            </a:r>
            <a:r>
              <a:rPr lang="en-US" sz="2400" i="1" dirty="0">
                <a:solidFill>
                  <a:srgbClr val="FF0000"/>
                </a:solidFill>
                <a:latin typeface="Ubuntu"/>
                <a:cs typeface="Ubuntu"/>
              </a:rPr>
              <a:t> </a:t>
            </a:r>
            <a:r>
              <a:rPr sz="2400" dirty="0">
                <a:latin typeface="Ubuntu"/>
                <a:cs typeface="Ubuntu"/>
              </a:rPr>
              <a:t>and</a:t>
            </a:r>
            <a:r>
              <a:rPr lang="en-US" sz="2400" dirty="0">
                <a:latin typeface="Ubuntu"/>
                <a:cs typeface="Ubuntu"/>
              </a:rPr>
              <a:t> </a:t>
            </a:r>
            <a:r>
              <a:rPr sz="2400" spc="-5" dirty="0">
                <a:solidFill>
                  <a:srgbClr val="FF0000"/>
                </a:solidFill>
                <a:latin typeface="Ubuntu"/>
                <a:cs typeface="Ubuntu"/>
              </a:rPr>
              <a:t>t</a:t>
            </a:r>
            <a:r>
              <a:rPr sz="2400" dirty="0">
                <a:solidFill>
                  <a:srgbClr val="FF0000"/>
                </a:solidFill>
                <a:latin typeface="Ubuntu"/>
                <a:cs typeface="Ubuntu"/>
              </a:rPr>
              <a:t>he</a:t>
            </a:r>
            <a:r>
              <a:rPr lang="en-US" sz="2400" dirty="0">
                <a:solidFill>
                  <a:srgbClr val="FF0000"/>
                </a:solidFill>
                <a:latin typeface="Ubuntu"/>
                <a:cs typeface="Ubuntu"/>
              </a:rPr>
              <a:t> </a:t>
            </a:r>
            <a:r>
              <a:rPr sz="2400" dirty="0">
                <a:solidFill>
                  <a:srgbClr val="FF0000"/>
                </a:solidFill>
                <a:latin typeface="Ubuntu"/>
                <a:cs typeface="Ubuntu"/>
              </a:rPr>
              <a:t>in</a:t>
            </a:r>
            <a:r>
              <a:rPr sz="2400" spc="-5" dirty="0">
                <a:solidFill>
                  <a:srgbClr val="FF0000"/>
                </a:solidFill>
                <a:latin typeface="Ubuntu"/>
                <a:cs typeface="Ubuntu"/>
              </a:rPr>
              <a:t>t</a:t>
            </a:r>
            <a:r>
              <a:rPr sz="2400" dirty="0">
                <a:solidFill>
                  <a:srgbClr val="FF0000"/>
                </a:solidFill>
                <a:latin typeface="Ubuntu"/>
                <a:cs typeface="Ubuntu"/>
              </a:rPr>
              <a:t>ensi</a:t>
            </a:r>
            <a:r>
              <a:rPr sz="2400" spc="-5" dirty="0">
                <a:solidFill>
                  <a:srgbClr val="FF0000"/>
                </a:solidFill>
                <a:latin typeface="Ubuntu"/>
                <a:cs typeface="Ubuntu"/>
              </a:rPr>
              <a:t>t</a:t>
            </a:r>
            <a:r>
              <a:rPr sz="2400" dirty="0">
                <a:solidFill>
                  <a:srgbClr val="FF0000"/>
                </a:solidFill>
                <a:latin typeface="Ubuntu"/>
                <a:cs typeface="Ubuntu"/>
              </a:rPr>
              <a:t>y</a:t>
            </a:r>
            <a:r>
              <a:rPr lang="en-US" sz="2400" dirty="0">
                <a:solidFill>
                  <a:srgbClr val="FF0000"/>
                </a:solidFill>
                <a:latin typeface="Ubuntu"/>
                <a:cs typeface="Ubuntu"/>
              </a:rPr>
              <a:t> </a:t>
            </a:r>
            <a:r>
              <a:rPr sz="2400" dirty="0">
                <a:latin typeface="Ubuntu"/>
                <a:cs typeface="Ubuntu"/>
              </a:rPr>
              <a:t>can</a:t>
            </a:r>
            <a:r>
              <a:rPr lang="en-US" sz="2400" dirty="0">
                <a:latin typeface="Ubuntu"/>
                <a:cs typeface="Ubuntu"/>
              </a:rPr>
              <a:t> </a:t>
            </a:r>
            <a:r>
              <a:rPr sz="2400" dirty="0">
                <a:latin typeface="Ubuntu"/>
                <a:cs typeface="Ubuntu"/>
              </a:rPr>
              <a:t>be</a:t>
            </a:r>
            <a:r>
              <a:rPr lang="en-US" sz="2400" dirty="0">
                <a:latin typeface="Ubuntu"/>
                <a:cs typeface="Ubuntu"/>
              </a:rPr>
              <a:t> </a:t>
            </a:r>
            <a:r>
              <a:rPr sz="2400" dirty="0">
                <a:latin typeface="Ubuntu"/>
                <a:cs typeface="Ubuntu"/>
              </a:rPr>
              <a:t>used	</a:t>
            </a:r>
            <a:r>
              <a:rPr sz="2400" spc="-5" dirty="0">
                <a:latin typeface="Ubuntu"/>
                <a:cs typeface="Ubuntu"/>
              </a:rPr>
              <a:t>to  </a:t>
            </a:r>
            <a:r>
              <a:rPr sz="2400" spc="-5" dirty="0">
                <a:solidFill>
                  <a:srgbClr val="0070C0"/>
                </a:solidFill>
                <a:latin typeface="Ubuntu"/>
                <a:cs typeface="Ubuntu"/>
              </a:rPr>
              <a:t>investigate </a:t>
            </a:r>
            <a:r>
              <a:rPr lang="en-US" sz="2400" dirty="0">
                <a:latin typeface="Ubuntu"/>
                <a:ea typeface="Ubuntu"/>
                <a:cs typeface="Ubuntu"/>
              </a:rPr>
              <a:t>Terrain mapping, vegetation analysis, elevation, and atmospheric studies.</a:t>
            </a:r>
            <a:endParaRPr sz="2400" dirty="0">
              <a:solidFill>
                <a:srgbClr val="0070C0"/>
              </a:solidFill>
              <a:latin typeface="Arial MT"/>
              <a:cs typeface="Arial MT"/>
            </a:endParaRPr>
          </a:p>
        </p:txBody>
      </p:sp>
      <p:pic>
        <p:nvPicPr>
          <p:cNvPr id="7" name="Picture 6">
            <a:extLst>
              <a:ext uri="{FF2B5EF4-FFF2-40B4-BE49-F238E27FC236}">
                <a16:creationId xmlns:a16="http://schemas.microsoft.com/office/drawing/2014/main" id="{A96BCF75-B065-1637-D35B-304F8FBC1AF1}"/>
              </a:ext>
            </a:extLst>
          </p:cNvPr>
          <p:cNvPicPr>
            <a:picLocks noChangeAspect="1"/>
          </p:cNvPicPr>
          <p:nvPr/>
        </p:nvPicPr>
        <p:blipFill>
          <a:blip r:embed="rId2"/>
          <a:srcRect t="13333"/>
          <a:stretch/>
        </p:blipFill>
        <p:spPr>
          <a:xfrm>
            <a:off x="6647750" y="787379"/>
            <a:ext cx="5516604" cy="2720696"/>
          </a:xfrm>
          <a:prstGeom prst="rect">
            <a:avLst/>
          </a:prstGeom>
        </p:spPr>
      </p:pic>
      <p:sp>
        <p:nvSpPr>
          <p:cNvPr id="5" name="Slide Number Placeholder 7">
            <a:extLst>
              <a:ext uri="{FF2B5EF4-FFF2-40B4-BE49-F238E27FC236}">
                <a16:creationId xmlns:a16="http://schemas.microsoft.com/office/drawing/2014/main" id="{CC61A5A4-EDB9-C34C-738B-3080141FD149}"/>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31</a:t>
            </a:fld>
            <a:endParaRPr lang="en-US" sz="4800" b="1" dirty="0">
              <a:solidFill>
                <a:srgbClr val="FF0000"/>
              </a:solidFill>
            </a:endParaRPr>
          </a:p>
        </p:txBody>
      </p:sp>
      <p:pic>
        <p:nvPicPr>
          <p:cNvPr id="8" name="Picture 7" descr="The image depicts a clear, open landscape with a mountainous backdrop, a row of trees, and a small aircraft equipped with a Lidar system, showcasing the process of emitting pulses and receiving returns.&#10;&#10;AI-generated content may be incorrect.">
            <a:extLst>
              <a:ext uri="{FF2B5EF4-FFF2-40B4-BE49-F238E27FC236}">
                <a16:creationId xmlns:a16="http://schemas.microsoft.com/office/drawing/2014/main" id="{FFF666A5-8335-6AEB-0C5D-1D96719F5995}"/>
              </a:ext>
            </a:extLst>
          </p:cNvPr>
          <p:cNvPicPr>
            <a:picLocks noChangeAspect="1"/>
          </p:cNvPicPr>
          <p:nvPr/>
        </p:nvPicPr>
        <p:blipFill>
          <a:blip r:embed="rId3"/>
          <a:stretch>
            <a:fillRect/>
          </a:stretch>
        </p:blipFill>
        <p:spPr>
          <a:xfrm>
            <a:off x="6862179" y="3682980"/>
            <a:ext cx="4226508" cy="2818016"/>
          </a:xfrm>
          <a:prstGeom prst="rect">
            <a:avLst/>
          </a:prstGeom>
        </p:spPr>
      </p:pic>
      <p:pic>
        <p:nvPicPr>
          <p:cNvPr id="9" name="Space Faculty logo" descr="sf_logo.png"/>
          <p:cNvPicPr>
            <a:picLocks noChangeAspect="1"/>
          </p:cNvPicPr>
          <p:nvPr/>
        </p:nvPicPr>
        <p:blipFill>
          <a:blip r:embed="rId4"/>
          <a:stretch>
            <a:fillRect/>
          </a:stretch>
        </p:blipFill>
        <p:spPr>
          <a:xfrm>
            <a:off x="10450226" y="54863"/>
            <a:ext cx="1628997" cy="462929"/>
          </a:xfrm>
          <a:prstGeom prst="rect">
            <a:avLst/>
          </a:prstGeom>
        </p:spPr>
      </p:pic>
    </p:spTree>
    <p:extLst>
      <p:ext uri="{BB962C8B-B14F-4D97-AF65-F5344CB8AC3E}">
        <p14:creationId xmlns:p14="http://schemas.microsoft.com/office/powerpoint/2010/main" val="1678979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84802" y="147827"/>
            <a:ext cx="8228965"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spc="-5" dirty="0">
                <a:latin typeface="House Movements Runway" panose="020B0604020202020204" pitchFamily="34" charset="0"/>
                <a:cs typeface="House Movements Runway" panose="020B0604020202020204" pitchFamily="34" charset="0"/>
              </a:rPr>
              <a:t>Synthetic</a:t>
            </a:r>
            <a:r>
              <a:rPr sz="4000" b="1" spc="-25" dirty="0">
                <a:latin typeface="House Movements Runway" panose="020B0604020202020204" pitchFamily="34" charset="0"/>
                <a:cs typeface="House Movements Runway" panose="020B0604020202020204" pitchFamily="34" charset="0"/>
              </a:rPr>
              <a:t> </a:t>
            </a:r>
            <a:r>
              <a:rPr sz="4000" b="1" dirty="0">
                <a:latin typeface="House Movements Runway" panose="020B0604020202020204" pitchFamily="34" charset="0"/>
                <a:cs typeface="House Movements Runway" panose="020B0604020202020204" pitchFamily="34" charset="0"/>
              </a:rPr>
              <a:t>Aperture</a:t>
            </a:r>
            <a:r>
              <a:rPr sz="4000" b="1" spc="-25" dirty="0">
                <a:latin typeface="House Movements Runway" panose="020B0604020202020204" pitchFamily="34" charset="0"/>
                <a:cs typeface="House Movements Runway" panose="020B0604020202020204" pitchFamily="34" charset="0"/>
              </a:rPr>
              <a:t> </a:t>
            </a:r>
            <a:r>
              <a:rPr sz="4000" b="1" dirty="0">
                <a:latin typeface="House Movements Runway" panose="020B0604020202020204" pitchFamily="34" charset="0"/>
                <a:cs typeface="House Movements Runway" panose="020B0604020202020204" pitchFamily="34" charset="0"/>
              </a:rPr>
              <a:t>Radar</a:t>
            </a:r>
            <a:r>
              <a:rPr sz="4000" b="1" spc="-25" dirty="0">
                <a:latin typeface="House Movements Runway" panose="020B0604020202020204" pitchFamily="34" charset="0"/>
                <a:cs typeface="House Movements Runway" panose="020B0604020202020204" pitchFamily="34" charset="0"/>
              </a:rPr>
              <a:t> </a:t>
            </a:r>
            <a:r>
              <a:rPr sz="4000" b="1" spc="-5" dirty="0">
                <a:latin typeface="House Movements Runway" panose="020B0604020202020204" pitchFamily="34" charset="0"/>
                <a:cs typeface="House Movements Runway" panose="020B0604020202020204" pitchFamily="34" charset="0"/>
              </a:rPr>
              <a:t>(SAR)</a:t>
            </a:r>
            <a:endParaRPr sz="4000" b="1" dirty="0">
              <a:latin typeface="Arial" panose="020B0604020202020204" pitchFamily="34" charset="0"/>
              <a:cs typeface="Arial" panose="020B0604020202020204" pitchFamily="34" charset="0"/>
            </a:endParaRPr>
          </a:p>
        </p:txBody>
      </p:sp>
      <p:sp>
        <p:nvSpPr>
          <p:cNvPr id="3" name="object 3"/>
          <p:cNvSpPr txBox="1"/>
          <p:nvPr/>
        </p:nvSpPr>
        <p:spPr>
          <a:xfrm>
            <a:off x="14235" y="1219200"/>
            <a:ext cx="6538965" cy="4248727"/>
          </a:xfrm>
          <a:prstGeom prst="rect">
            <a:avLst/>
          </a:prstGeom>
        </p:spPr>
        <p:txBody>
          <a:bodyPr vert="horz" wrap="square" lIns="0" tIns="9525" rIns="0" bIns="0" rtlCol="0">
            <a:spAutoFit/>
          </a:bodyPr>
          <a:lstStyle/>
          <a:p>
            <a:pPr marL="355600" marR="591185" indent="-342900">
              <a:lnSpc>
                <a:spcPct val="100800"/>
              </a:lnSpc>
              <a:spcBef>
                <a:spcPts val="75"/>
              </a:spcBef>
              <a:buFont typeface="Wingdings" panose="05000000000000000000" pitchFamily="2" charset="2"/>
              <a:buChar char="q"/>
              <a:tabLst>
                <a:tab pos="210185" algn="l"/>
              </a:tabLst>
              <a:defRPr>
                <a:latin typeface="Ubuntu"/>
                <a:ea typeface="Ubuntu"/>
                <a:cs typeface="Ubuntu"/>
              </a:defRPr>
            </a:pPr>
            <a:r>
              <a:rPr sz="2400" dirty="0">
                <a:latin typeface="Ubuntu"/>
                <a:cs typeface="Ubuntu"/>
              </a:rPr>
              <a:t>Radar </a:t>
            </a:r>
            <a:r>
              <a:rPr sz="2400" spc="-5" dirty="0">
                <a:latin typeface="Ubuntu"/>
                <a:cs typeface="Ubuntu"/>
              </a:rPr>
              <a:t>emits </a:t>
            </a:r>
            <a:r>
              <a:rPr sz="2400" dirty="0">
                <a:latin typeface="Ubuntu"/>
                <a:cs typeface="Ubuntu"/>
              </a:rPr>
              <a:t>a series of </a:t>
            </a:r>
            <a:r>
              <a:rPr sz="2400" spc="-5" dirty="0">
                <a:latin typeface="Ubuntu"/>
                <a:cs typeface="Ubuntu"/>
              </a:rPr>
              <a:t>short, </a:t>
            </a:r>
            <a:r>
              <a:rPr sz="2400" dirty="0">
                <a:latin typeface="Ubuntu"/>
                <a:cs typeface="Ubuntu"/>
              </a:rPr>
              <a:t>high power pulses of microwave </a:t>
            </a:r>
            <a:r>
              <a:rPr sz="2400" spc="-5" dirty="0">
                <a:latin typeface="Ubuntu"/>
                <a:cs typeface="Ubuntu"/>
              </a:rPr>
              <a:t>radiation </a:t>
            </a:r>
            <a:r>
              <a:rPr sz="2400" dirty="0">
                <a:latin typeface="Ubuntu"/>
                <a:cs typeface="Ubuntu"/>
              </a:rPr>
              <a:t>at a </a:t>
            </a:r>
            <a:r>
              <a:rPr sz="2400" spc="-5" dirty="0">
                <a:latin typeface="Ubuntu"/>
                <a:cs typeface="Ubuntu"/>
              </a:rPr>
              <a:t>fast </a:t>
            </a:r>
            <a:r>
              <a:rPr sz="2400" spc="-655" dirty="0">
                <a:latin typeface="Ubuntu"/>
                <a:cs typeface="Ubuntu"/>
              </a:rPr>
              <a:t> </a:t>
            </a:r>
            <a:r>
              <a:rPr sz="2400" spc="-5" dirty="0">
                <a:latin typeface="Ubuntu"/>
                <a:cs typeface="Ubuntu"/>
              </a:rPr>
              <a:t>rate (active illumination).</a:t>
            </a:r>
            <a:endParaRPr lang="en-US" sz="2400" spc="-5" dirty="0">
              <a:latin typeface="Arial MT"/>
              <a:cs typeface="Arial MT"/>
            </a:endParaRPr>
          </a:p>
          <a:p>
            <a:pPr marL="355600" marR="591185" indent="-342900">
              <a:lnSpc>
                <a:spcPct val="100800"/>
              </a:lnSpc>
              <a:spcBef>
                <a:spcPts val="75"/>
              </a:spcBef>
              <a:buFont typeface="Wingdings" panose="05000000000000000000" pitchFamily="2" charset="2"/>
              <a:buChar char="q"/>
              <a:tabLst>
                <a:tab pos="210185" algn="l"/>
              </a:tabLst>
              <a:defRPr>
                <a:latin typeface="Ubuntu"/>
                <a:ea typeface="Ubuntu"/>
                <a:cs typeface="Ubuntu"/>
              </a:defRPr>
            </a:pPr>
            <a:endParaRPr sz="2400" dirty="0">
              <a:latin typeface="Arial MT"/>
              <a:cs typeface="Arial MT"/>
            </a:endParaRPr>
          </a:p>
          <a:p>
            <a:pPr marL="355600" marR="367030" indent="-342900">
              <a:lnSpc>
                <a:spcPct val="100000"/>
              </a:lnSpc>
              <a:spcBef>
                <a:spcPts val="430"/>
              </a:spcBef>
              <a:buFont typeface="Wingdings" panose="05000000000000000000" pitchFamily="2" charset="2"/>
              <a:buChar char="q"/>
              <a:tabLst>
                <a:tab pos="210185" algn="l"/>
              </a:tabLst>
              <a:defRPr>
                <a:latin typeface="Ubuntu"/>
                <a:ea typeface="Ubuntu"/>
                <a:cs typeface="Ubuntu"/>
              </a:defRPr>
            </a:pPr>
            <a:r>
              <a:rPr sz="2400" spc="-5" dirty="0">
                <a:latin typeface="Ubuntu"/>
                <a:cs typeface="Ubuntu"/>
              </a:rPr>
              <a:t>Pulses</a:t>
            </a:r>
            <a:r>
              <a:rPr sz="2400" dirty="0">
                <a:latin typeface="Ubuntu"/>
                <a:cs typeface="Ubuntu"/>
              </a:rPr>
              <a:t> </a:t>
            </a:r>
            <a:r>
              <a:rPr sz="2400" spc="-5" dirty="0">
                <a:latin typeface="Ubuntu"/>
                <a:cs typeface="Ubuntu"/>
              </a:rPr>
              <a:t>travel</a:t>
            </a:r>
            <a:r>
              <a:rPr sz="2400" spc="10" dirty="0">
                <a:latin typeface="Ubuntu"/>
                <a:cs typeface="Ubuntu"/>
              </a:rPr>
              <a:t> </a:t>
            </a:r>
            <a:r>
              <a:rPr sz="2400" spc="-5" dirty="0">
                <a:latin typeface="Ubuntu"/>
                <a:cs typeface="Ubuntu"/>
              </a:rPr>
              <a:t>to</a:t>
            </a:r>
            <a:r>
              <a:rPr sz="2400" spc="5" dirty="0">
                <a:latin typeface="Ubuntu"/>
                <a:cs typeface="Ubuntu"/>
              </a:rPr>
              <a:t> </a:t>
            </a:r>
            <a:r>
              <a:rPr sz="2400" spc="-5" dirty="0">
                <a:latin typeface="Ubuntu"/>
                <a:cs typeface="Ubuntu"/>
              </a:rPr>
              <a:t>the</a:t>
            </a:r>
            <a:r>
              <a:rPr sz="2400" spc="5" dirty="0">
                <a:latin typeface="Ubuntu"/>
                <a:cs typeface="Ubuntu"/>
              </a:rPr>
              <a:t> </a:t>
            </a:r>
            <a:r>
              <a:rPr sz="2400" spc="-5" dirty="0">
                <a:latin typeface="Ubuntu"/>
                <a:cs typeface="Ubuntu"/>
              </a:rPr>
              <a:t>‘target’</a:t>
            </a:r>
            <a:r>
              <a:rPr sz="2400" spc="-80" dirty="0">
                <a:latin typeface="Ubuntu"/>
                <a:cs typeface="Ubuntu"/>
              </a:rPr>
              <a:t> </a:t>
            </a:r>
            <a:r>
              <a:rPr sz="2400" dirty="0">
                <a:latin typeface="Ubuntu"/>
                <a:cs typeface="Ubuntu"/>
              </a:rPr>
              <a:t>and</a:t>
            </a:r>
            <a:r>
              <a:rPr sz="2400" spc="5" dirty="0">
                <a:latin typeface="Ubuntu"/>
                <a:cs typeface="Ubuntu"/>
              </a:rPr>
              <a:t> </a:t>
            </a:r>
            <a:r>
              <a:rPr sz="2400" dirty="0">
                <a:latin typeface="Ubuntu"/>
                <a:cs typeface="Ubuntu"/>
              </a:rPr>
              <a:t>a</a:t>
            </a:r>
            <a:r>
              <a:rPr sz="2400" spc="5" dirty="0">
                <a:latin typeface="Ubuntu"/>
                <a:cs typeface="Ubuntu"/>
              </a:rPr>
              <a:t> </a:t>
            </a:r>
            <a:r>
              <a:rPr sz="2400" dirty="0">
                <a:latin typeface="Ubuntu"/>
                <a:cs typeface="Ubuntu"/>
              </a:rPr>
              <a:t>small</a:t>
            </a:r>
            <a:r>
              <a:rPr sz="2400" spc="10" dirty="0">
                <a:latin typeface="Ubuntu"/>
                <a:cs typeface="Ubuntu"/>
              </a:rPr>
              <a:t> </a:t>
            </a:r>
            <a:r>
              <a:rPr sz="2400" spc="-5" dirty="0">
                <a:latin typeface="Ubuntu"/>
                <a:cs typeface="Ubuntu"/>
              </a:rPr>
              <a:t>fraction</a:t>
            </a:r>
            <a:r>
              <a:rPr sz="2400" dirty="0">
                <a:latin typeface="Ubuntu"/>
                <a:cs typeface="Ubuntu"/>
              </a:rPr>
              <a:t> of </a:t>
            </a:r>
            <a:r>
              <a:rPr sz="2400" spc="-5" dirty="0">
                <a:latin typeface="Ubuntu"/>
                <a:cs typeface="Ubuntu"/>
              </a:rPr>
              <a:t>the</a:t>
            </a:r>
            <a:r>
              <a:rPr sz="2400" spc="5" dirty="0">
                <a:latin typeface="Ubuntu"/>
                <a:cs typeface="Ubuntu"/>
              </a:rPr>
              <a:t> </a:t>
            </a:r>
            <a:r>
              <a:rPr sz="2400" spc="-5" dirty="0">
                <a:latin typeface="Ubuntu"/>
                <a:cs typeface="Ubuntu"/>
              </a:rPr>
              <a:t>emitted</a:t>
            </a:r>
            <a:r>
              <a:rPr sz="2400" spc="5" dirty="0">
                <a:latin typeface="Ubuntu"/>
                <a:cs typeface="Ubuntu"/>
              </a:rPr>
              <a:t> </a:t>
            </a:r>
            <a:r>
              <a:rPr sz="2400" spc="-5" dirty="0">
                <a:latin typeface="Ubuntu"/>
                <a:cs typeface="Ubuntu"/>
              </a:rPr>
              <a:t>radiation</a:t>
            </a:r>
            <a:r>
              <a:rPr sz="2400" spc="5" dirty="0">
                <a:latin typeface="Ubuntu"/>
                <a:cs typeface="Ubuntu"/>
              </a:rPr>
              <a:t> </a:t>
            </a:r>
            <a:r>
              <a:rPr sz="2400" dirty="0">
                <a:latin typeface="Ubuntu"/>
                <a:cs typeface="Ubuntu"/>
              </a:rPr>
              <a:t>is</a:t>
            </a:r>
            <a:r>
              <a:rPr sz="2400" spc="5" dirty="0">
                <a:latin typeface="Ubuntu"/>
                <a:cs typeface="Ubuntu"/>
              </a:rPr>
              <a:t> </a:t>
            </a:r>
            <a:r>
              <a:rPr sz="2400" spc="-5" dirty="0">
                <a:latin typeface="Ubuntu"/>
                <a:cs typeface="Ubuntu"/>
              </a:rPr>
              <a:t>reflected </a:t>
            </a:r>
            <a:r>
              <a:rPr sz="2400" spc="-650" dirty="0">
                <a:latin typeface="Ubuntu"/>
                <a:cs typeface="Ubuntu"/>
              </a:rPr>
              <a:t> </a:t>
            </a:r>
            <a:r>
              <a:rPr sz="2400" dirty="0">
                <a:latin typeface="Ubuntu"/>
                <a:cs typeface="Ubuntu"/>
              </a:rPr>
              <a:t>back</a:t>
            </a:r>
            <a:r>
              <a:rPr sz="2400" spc="-10" dirty="0">
                <a:latin typeface="Ubuntu"/>
                <a:cs typeface="Ubuntu"/>
              </a:rPr>
              <a:t> </a:t>
            </a:r>
            <a:r>
              <a:rPr sz="2400" spc="-5" dirty="0">
                <a:latin typeface="Ubuntu"/>
                <a:cs typeface="Ubuntu"/>
              </a:rPr>
              <a:t>to the </a:t>
            </a:r>
            <a:r>
              <a:rPr sz="2400" dirty="0">
                <a:latin typeface="Ubuntu"/>
                <a:cs typeface="Ubuntu"/>
              </a:rPr>
              <a:t>sensor</a:t>
            </a:r>
            <a:r>
              <a:rPr sz="2400" spc="-5" dirty="0">
                <a:latin typeface="Ubuntu"/>
                <a:cs typeface="Ubuntu"/>
              </a:rPr>
              <a:t> </a:t>
            </a:r>
            <a:r>
              <a:rPr sz="2400" dirty="0">
                <a:latin typeface="Ubuntu"/>
                <a:cs typeface="Ubuntu"/>
              </a:rPr>
              <a:t>and</a:t>
            </a:r>
            <a:r>
              <a:rPr sz="2400" spc="-5" dirty="0">
                <a:latin typeface="Ubuntu"/>
                <a:cs typeface="Ubuntu"/>
              </a:rPr>
              <a:t> detected.</a:t>
            </a:r>
            <a:endParaRPr lang="en-US" sz="2400" spc="-5" dirty="0">
              <a:latin typeface="Arial MT"/>
              <a:cs typeface="Arial MT"/>
            </a:endParaRPr>
          </a:p>
          <a:p>
            <a:pPr marL="355600" marR="367030" indent="-342900">
              <a:lnSpc>
                <a:spcPct val="100000"/>
              </a:lnSpc>
              <a:spcBef>
                <a:spcPts val="430"/>
              </a:spcBef>
              <a:buFont typeface="Wingdings" panose="05000000000000000000" pitchFamily="2" charset="2"/>
              <a:buChar char="q"/>
              <a:tabLst>
                <a:tab pos="210185" algn="l"/>
              </a:tabLst>
              <a:defRPr>
                <a:latin typeface="Ubuntu"/>
                <a:ea typeface="Ubuntu"/>
                <a:cs typeface="Ubuntu"/>
              </a:defRPr>
            </a:pPr>
            <a:endParaRPr sz="2400" dirty="0">
              <a:latin typeface="Arial MT"/>
              <a:cs typeface="Arial MT"/>
            </a:endParaRPr>
          </a:p>
          <a:p>
            <a:pPr marL="355600" marR="5080" indent="-342900">
              <a:lnSpc>
                <a:spcPts val="2810"/>
              </a:lnSpc>
              <a:spcBef>
                <a:spcPts val="585"/>
              </a:spcBef>
              <a:buFont typeface="Wingdings" panose="05000000000000000000" pitchFamily="2" charset="2"/>
              <a:buChar char="q"/>
              <a:tabLst>
                <a:tab pos="210185" algn="l"/>
              </a:tabLst>
              <a:defRPr>
                <a:latin typeface="Ubuntu"/>
                <a:ea typeface="Ubuntu"/>
                <a:cs typeface="Ubuntu"/>
              </a:defRPr>
            </a:pPr>
            <a:r>
              <a:rPr sz="2400" spc="-5" dirty="0">
                <a:latin typeface="Ubuntu"/>
                <a:cs typeface="Ubuntu"/>
              </a:rPr>
              <a:t>The detected</a:t>
            </a:r>
            <a:r>
              <a:rPr sz="2400" dirty="0">
                <a:latin typeface="Ubuntu"/>
                <a:cs typeface="Ubuntu"/>
              </a:rPr>
              <a:t> signal</a:t>
            </a:r>
            <a:r>
              <a:rPr sz="2400" spc="5" dirty="0">
                <a:latin typeface="Ubuntu"/>
                <a:cs typeface="Ubuntu"/>
              </a:rPr>
              <a:t> </a:t>
            </a:r>
            <a:r>
              <a:rPr sz="2400" dirty="0">
                <a:latin typeface="Ubuntu"/>
                <a:cs typeface="Ubuntu"/>
              </a:rPr>
              <a:t>depends on </a:t>
            </a:r>
            <a:r>
              <a:rPr sz="2400" spc="-5" dirty="0">
                <a:latin typeface="Ubuntu"/>
                <a:cs typeface="Ubuntu"/>
              </a:rPr>
              <a:t>the </a:t>
            </a:r>
            <a:r>
              <a:rPr sz="2400" spc="-5" dirty="0">
                <a:solidFill>
                  <a:srgbClr val="FF0000"/>
                </a:solidFill>
                <a:latin typeface="Ubuntu"/>
                <a:cs typeface="Ubuntu"/>
              </a:rPr>
              <a:t>backscatter</a:t>
            </a:r>
            <a:r>
              <a:rPr sz="2400" dirty="0">
                <a:solidFill>
                  <a:srgbClr val="FF0000"/>
                </a:solidFill>
                <a:latin typeface="Ubuntu"/>
                <a:cs typeface="Ubuntu"/>
              </a:rPr>
              <a:t> </a:t>
            </a:r>
            <a:r>
              <a:rPr sz="2400" spc="-5" dirty="0">
                <a:solidFill>
                  <a:srgbClr val="FF0000"/>
                </a:solidFill>
                <a:latin typeface="Ubuntu"/>
                <a:cs typeface="Ubuntu"/>
              </a:rPr>
              <a:t>coefficient </a:t>
            </a:r>
            <a:r>
              <a:rPr sz="2400" dirty="0">
                <a:solidFill>
                  <a:srgbClr val="FF0000"/>
                </a:solidFill>
                <a:latin typeface="Ubuntu"/>
                <a:cs typeface="Ubuntu"/>
              </a:rPr>
              <a:t>of</a:t>
            </a:r>
            <a:r>
              <a:rPr sz="2400" spc="-5" dirty="0">
                <a:solidFill>
                  <a:srgbClr val="FF0000"/>
                </a:solidFill>
                <a:latin typeface="Ubuntu"/>
                <a:cs typeface="Ubuntu"/>
              </a:rPr>
              <a:t> the</a:t>
            </a:r>
            <a:r>
              <a:rPr sz="2400" dirty="0">
                <a:solidFill>
                  <a:srgbClr val="FF0000"/>
                </a:solidFill>
                <a:latin typeface="Ubuntu"/>
                <a:cs typeface="Ubuntu"/>
              </a:rPr>
              <a:t> </a:t>
            </a:r>
            <a:r>
              <a:rPr sz="2400" spc="-5" dirty="0">
                <a:solidFill>
                  <a:srgbClr val="FF0000"/>
                </a:solidFill>
                <a:latin typeface="Ubuntu"/>
                <a:cs typeface="Ubuntu"/>
              </a:rPr>
              <a:t>surface,</a:t>
            </a:r>
            <a:r>
              <a:rPr sz="2400" spc="-10" dirty="0">
                <a:solidFill>
                  <a:srgbClr val="FF0000"/>
                </a:solidFill>
                <a:latin typeface="Ubuntu"/>
                <a:cs typeface="Ubuntu"/>
              </a:rPr>
              <a:t> </a:t>
            </a:r>
            <a:r>
              <a:rPr sz="2400" spc="-5" dirty="0">
                <a:solidFill>
                  <a:srgbClr val="FF0000"/>
                </a:solidFill>
                <a:latin typeface="Ubuntu"/>
                <a:cs typeface="Ubuntu"/>
              </a:rPr>
              <a:t>the</a:t>
            </a:r>
            <a:r>
              <a:rPr sz="2400" dirty="0">
                <a:solidFill>
                  <a:srgbClr val="FF0000"/>
                </a:solidFill>
                <a:latin typeface="Ubuntu"/>
                <a:cs typeface="Ubuntu"/>
              </a:rPr>
              <a:t> range, </a:t>
            </a:r>
            <a:r>
              <a:rPr sz="2400" spc="-650" dirty="0">
                <a:solidFill>
                  <a:srgbClr val="FF0000"/>
                </a:solidFill>
                <a:latin typeface="Ubuntu"/>
                <a:cs typeface="Ubuntu"/>
              </a:rPr>
              <a:t> </a:t>
            </a:r>
            <a:r>
              <a:rPr sz="2400" dirty="0">
                <a:solidFill>
                  <a:srgbClr val="FF0000"/>
                </a:solidFill>
                <a:latin typeface="Ubuntu"/>
                <a:cs typeface="Ubuntu"/>
              </a:rPr>
              <a:t>receiver</a:t>
            </a:r>
            <a:r>
              <a:rPr sz="2400" spc="-10" dirty="0">
                <a:solidFill>
                  <a:srgbClr val="FF0000"/>
                </a:solidFill>
                <a:latin typeface="Ubuntu"/>
                <a:cs typeface="Ubuntu"/>
              </a:rPr>
              <a:t> </a:t>
            </a:r>
            <a:r>
              <a:rPr sz="2400" dirty="0">
                <a:solidFill>
                  <a:srgbClr val="FF0000"/>
                </a:solidFill>
                <a:latin typeface="Ubuntu"/>
                <a:cs typeface="Ubuntu"/>
              </a:rPr>
              <a:t>size,</a:t>
            </a:r>
            <a:r>
              <a:rPr sz="2400" spc="-15" dirty="0">
                <a:solidFill>
                  <a:srgbClr val="FF0000"/>
                </a:solidFill>
                <a:latin typeface="Ubuntu"/>
                <a:cs typeface="Ubuntu"/>
              </a:rPr>
              <a:t> </a:t>
            </a:r>
            <a:r>
              <a:rPr sz="2400" spc="-5" dirty="0">
                <a:latin typeface="Ubuntu"/>
                <a:cs typeface="Ubuntu"/>
              </a:rPr>
              <a:t>etc.</a:t>
            </a:r>
            <a:endParaRPr sz="2400" dirty="0">
              <a:latin typeface="Arial MT"/>
              <a:cs typeface="Arial MT"/>
            </a:endParaRPr>
          </a:p>
        </p:txBody>
      </p:sp>
      <p:pic>
        <p:nvPicPr>
          <p:cNvPr id="7" name="Picture 6">
            <a:extLst>
              <a:ext uri="{FF2B5EF4-FFF2-40B4-BE49-F238E27FC236}">
                <a16:creationId xmlns:a16="http://schemas.microsoft.com/office/drawing/2014/main" id="{949B722D-F1A3-D6A7-A906-351384F46013}"/>
              </a:ext>
            </a:extLst>
          </p:cNvPr>
          <p:cNvPicPr>
            <a:picLocks noChangeAspect="1"/>
          </p:cNvPicPr>
          <p:nvPr/>
        </p:nvPicPr>
        <p:blipFill>
          <a:blip r:embed="rId2"/>
          <a:stretch>
            <a:fillRect/>
          </a:stretch>
        </p:blipFill>
        <p:spPr>
          <a:xfrm>
            <a:off x="6248400" y="1005652"/>
            <a:ext cx="5755567" cy="5471348"/>
          </a:xfrm>
          <a:prstGeom prst="rect">
            <a:avLst/>
          </a:prstGeom>
        </p:spPr>
      </p:pic>
      <p:sp>
        <p:nvSpPr>
          <p:cNvPr id="6" name="Slide Number Placeholder 7">
            <a:extLst>
              <a:ext uri="{FF2B5EF4-FFF2-40B4-BE49-F238E27FC236}">
                <a16:creationId xmlns:a16="http://schemas.microsoft.com/office/drawing/2014/main" id="{4C04C15D-6F81-65C1-946D-FA02501941F5}"/>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32</a:t>
            </a:fld>
            <a:endParaRPr lang="en-US" sz="4800" b="1" dirty="0">
              <a:solidFill>
                <a:srgbClr val="FF0000"/>
              </a:solidFill>
            </a:endParaRPr>
          </a:p>
        </p:txBody>
      </p:sp>
      <p:pic>
        <p:nvPicPr>
          <p:cNvPr id="8" name="Space Faculty logo" descr="sf_logo.png"/>
          <p:cNvPicPr>
            <a:picLocks noChangeAspect="1"/>
          </p:cNvPicPr>
          <p:nvPr/>
        </p:nvPicPr>
        <p:blipFill>
          <a:blip r:embed="rId3"/>
          <a:stretch>
            <a:fillRect/>
          </a:stretch>
        </p:blipFill>
        <p:spPr>
          <a:xfrm>
            <a:off x="10488994" y="54864"/>
            <a:ext cx="1590230" cy="451912"/>
          </a:xfrm>
          <a:prstGeom prst="rect">
            <a:avLst/>
          </a:prstGeom>
        </p:spPr>
      </p:pic>
    </p:spTree>
    <p:extLst>
      <p:ext uri="{BB962C8B-B14F-4D97-AF65-F5344CB8AC3E}">
        <p14:creationId xmlns:p14="http://schemas.microsoft.com/office/powerpoint/2010/main" val="4124170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FCACE-26D4-DD58-0EE8-0ABE7244840B}"/>
              </a:ext>
            </a:extLst>
          </p:cNvPr>
          <p:cNvSpPr>
            <a:spLocks noGrp="1"/>
          </p:cNvSpPr>
          <p:nvPr>
            <p:ph type="title"/>
          </p:nvPr>
        </p:nvSpPr>
        <p:spPr>
          <a:xfrm>
            <a:off x="3581400" y="157643"/>
            <a:ext cx="6627867" cy="1231106"/>
          </a:xfrm>
        </p:spPr>
        <p:txBody>
          <a:bodyPr/>
          <a:lstStyle/>
          <a:p>
            <a:pPr>
              <a:defRPr>
                <a:latin typeface="House Movements Runway"/>
                <a:ea typeface="House Movements Runway"/>
                <a:cs typeface="House Movements Runway"/>
              </a:defRPr>
            </a:pPr>
            <a:r>
              <a:rPr lang="en-US" sz="4000" b="1" dirty="0">
                <a:latin typeface="House Movements Runway" panose="020B0604020202020204" pitchFamily="34" charset="0"/>
                <a:cs typeface="House Movements Runway" panose="020B0604020202020204" pitchFamily="34" charset="0"/>
              </a:rPr>
              <a:t>LiDAR, Optical, and SAR</a:t>
            </a:r>
          </a:p>
        </p:txBody>
      </p:sp>
      <p:pic>
        <p:nvPicPr>
          <p:cNvPr id="4" name="Picture 3">
            <a:extLst>
              <a:ext uri="{FF2B5EF4-FFF2-40B4-BE49-F238E27FC236}">
                <a16:creationId xmlns:a16="http://schemas.microsoft.com/office/drawing/2014/main" id="{DC1D0DAE-6923-CAE4-E24A-597E8008F1D1}"/>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900"/>
                    </a14:imgEffect>
                  </a14:imgLayer>
                </a14:imgProps>
              </a:ext>
            </a:extLst>
          </a:blip>
          <a:stretch>
            <a:fillRect/>
          </a:stretch>
        </p:blipFill>
        <p:spPr>
          <a:xfrm>
            <a:off x="76200" y="1713259"/>
            <a:ext cx="6530492" cy="3513503"/>
          </a:xfrm>
          <a:prstGeom prst="rect">
            <a:avLst/>
          </a:prstGeom>
        </p:spPr>
      </p:pic>
      <p:pic>
        <p:nvPicPr>
          <p:cNvPr id="5" name="Picture 4">
            <a:extLst>
              <a:ext uri="{FF2B5EF4-FFF2-40B4-BE49-F238E27FC236}">
                <a16:creationId xmlns:a16="http://schemas.microsoft.com/office/drawing/2014/main" id="{4573648F-7F04-BD3E-A997-4AB34E3F807D}"/>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900"/>
                    </a14:imgEffect>
                  </a14:imgLayer>
                </a14:imgProps>
              </a:ext>
            </a:extLst>
          </a:blip>
          <a:srcRect l="4350" r="3758" b="2926"/>
          <a:stretch/>
        </p:blipFill>
        <p:spPr>
          <a:xfrm>
            <a:off x="6781800" y="1713259"/>
            <a:ext cx="5094530" cy="3204551"/>
          </a:xfrm>
          <a:prstGeom prst="rect">
            <a:avLst/>
          </a:prstGeom>
        </p:spPr>
      </p:pic>
      <p:sp>
        <p:nvSpPr>
          <p:cNvPr id="7" name="TextBox 6">
            <a:extLst>
              <a:ext uri="{FF2B5EF4-FFF2-40B4-BE49-F238E27FC236}">
                <a16:creationId xmlns:a16="http://schemas.microsoft.com/office/drawing/2014/main" id="{E8DD432E-2E9B-290F-F067-EF14D1E546B6}"/>
              </a:ext>
            </a:extLst>
          </p:cNvPr>
          <p:cNvSpPr txBox="1"/>
          <p:nvPr/>
        </p:nvSpPr>
        <p:spPr>
          <a:xfrm>
            <a:off x="228600" y="5715000"/>
            <a:ext cx="11201400" cy="646331"/>
          </a:xfrm>
          <a:prstGeom prst="rect">
            <a:avLst/>
          </a:prstGeom>
          <a:noFill/>
        </p:spPr>
        <p:txBody>
          <a:bodyPr wrap="square">
            <a:spAutoFit/>
          </a:bodyPr>
          <a:lstStyle/>
          <a:p>
            <a:pPr>
              <a:defRPr>
                <a:latin typeface="Ubuntu"/>
                <a:ea typeface="Ubuntu"/>
                <a:cs typeface="Ubuntu"/>
              </a:defRPr>
            </a:pPr>
            <a:r>
              <a:rPr lang="en-US" b="0" i="0" dirty="0">
                <a:solidFill>
                  <a:srgbClr val="777777"/>
                </a:solidFill>
                <a:effectLst/>
                <a:latin typeface="Ubuntu" panose="02000000000000000000" pitchFamily="2" charset="0"/>
                <a:ea typeface="Ubuntu"/>
                <a:cs typeface="Ubuntu"/>
              </a:rPr>
              <a:t>Differences Between LiDAR, Optical Sensor, and SAR (Tsai et al., 2019) (Space Based Infrastructure Monitoring) (National Ecological Observatory Network) (Tshabalala et al., 2020) (WMO Oscar)</a:t>
            </a:r>
            <a:endParaRPr lang="en-US" dirty="0"/>
          </a:p>
        </p:txBody>
      </p:sp>
      <p:sp>
        <p:nvSpPr>
          <p:cNvPr id="9" name="TextBox 8">
            <a:extLst>
              <a:ext uri="{FF2B5EF4-FFF2-40B4-BE49-F238E27FC236}">
                <a16:creationId xmlns:a16="http://schemas.microsoft.com/office/drawing/2014/main" id="{06932356-C02E-D78D-5602-94B74DAE9401}"/>
              </a:ext>
            </a:extLst>
          </p:cNvPr>
          <p:cNvSpPr txBox="1"/>
          <p:nvPr/>
        </p:nvSpPr>
        <p:spPr>
          <a:xfrm>
            <a:off x="8610600" y="4917810"/>
            <a:ext cx="2286000" cy="369332"/>
          </a:xfrm>
          <a:prstGeom prst="rect">
            <a:avLst/>
          </a:prstGeom>
          <a:noFill/>
        </p:spPr>
        <p:txBody>
          <a:bodyPr wrap="square">
            <a:spAutoFit/>
          </a:bodyPr>
          <a:lstStyle/>
          <a:p>
            <a:pPr>
              <a:defRPr>
                <a:latin typeface="Ubuntu"/>
                <a:ea typeface="Ubuntu"/>
                <a:cs typeface="Ubuntu"/>
              </a:defRPr>
            </a:pPr>
            <a:r>
              <a:rPr lang="en-US" b="0" i="0" dirty="0">
                <a:effectLst/>
                <a:latin typeface="Ubuntu" panose="02000000000000000000" pitchFamily="2" charset="0"/>
                <a:ea typeface="Ubuntu"/>
                <a:cs typeface="Ubuntu"/>
              </a:rPr>
              <a:t>(Hu et al., 2017)</a:t>
            </a:r>
            <a:endParaRPr lang="en-US" dirty="0"/>
          </a:p>
        </p:txBody>
      </p:sp>
      <p:sp>
        <p:nvSpPr>
          <p:cNvPr id="6" name="Slide Number Placeholder 7">
            <a:extLst>
              <a:ext uri="{FF2B5EF4-FFF2-40B4-BE49-F238E27FC236}">
                <a16:creationId xmlns:a16="http://schemas.microsoft.com/office/drawing/2014/main" id="{392D3D61-E8B6-E3C7-6336-D4969EF63648}"/>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33</a:t>
            </a:fld>
            <a:endParaRPr lang="en-US" sz="4800" b="1" dirty="0">
              <a:solidFill>
                <a:srgbClr val="FF0000"/>
              </a:solidFill>
            </a:endParaRPr>
          </a:p>
        </p:txBody>
      </p:sp>
      <p:pic>
        <p:nvPicPr>
          <p:cNvPr id="10" name="Space Faculty logo" descr="sf_logo.png"/>
          <p:cNvPicPr>
            <a:picLocks noChangeAspect="1"/>
          </p:cNvPicPr>
          <p:nvPr/>
        </p:nvPicPr>
        <p:blipFill>
          <a:blip r:embed="rId6"/>
          <a:stretch>
            <a:fillRect/>
          </a:stretch>
        </p:blipFill>
        <p:spPr>
          <a:xfrm>
            <a:off x="10524560" y="54863"/>
            <a:ext cx="1554664" cy="441805"/>
          </a:xfrm>
          <a:prstGeom prst="rect">
            <a:avLst/>
          </a:prstGeom>
        </p:spPr>
      </p:pic>
    </p:spTree>
    <p:extLst>
      <p:ext uri="{BB962C8B-B14F-4D97-AF65-F5344CB8AC3E}">
        <p14:creationId xmlns:p14="http://schemas.microsoft.com/office/powerpoint/2010/main" val="4005475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EB170-54BD-A9CF-9366-4573330439BB}"/>
              </a:ext>
            </a:extLst>
          </p:cNvPr>
          <p:cNvSpPr>
            <a:spLocks noGrp="1"/>
          </p:cNvSpPr>
          <p:nvPr>
            <p:ph type="title"/>
          </p:nvPr>
        </p:nvSpPr>
        <p:spPr>
          <a:xfrm>
            <a:off x="457200" y="0"/>
            <a:ext cx="8229600" cy="816635"/>
          </a:xfrm>
        </p:spPr>
        <p:txBody>
          <a:bodyPr/>
          <a:lstStyle/>
          <a:p>
            <a:pPr>
              <a:defRPr>
                <a:latin typeface="House Movements Runway"/>
                <a:ea typeface="House Movements Runway"/>
                <a:cs typeface="House Movements Runway"/>
              </a:defRPr>
            </a:pPr>
            <a:r>
              <a:rPr lang="en-US" b="1" dirty="0">
                <a:latin typeface="House Movements Runway"/>
                <a:ea typeface="House Movements Runway"/>
                <a:cs typeface="House Movements Runway"/>
              </a:rPr>
              <a:t>Radiometers &amp; Altimeters</a:t>
            </a:r>
          </a:p>
        </p:txBody>
      </p:sp>
      <p:sp>
        <p:nvSpPr>
          <p:cNvPr id="3" name="Content Placeholder 2">
            <a:extLst>
              <a:ext uri="{FF2B5EF4-FFF2-40B4-BE49-F238E27FC236}">
                <a16:creationId xmlns:a16="http://schemas.microsoft.com/office/drawing/2014/main" id="{09049AF7-CBEB-CB3A-2D3C-4FD3CF4C279F}"/>
              </a:ext>
            </a:extLst>
          </p:cNvPr>
          <p:cNvSpPr>
            <a:spLocks noGrp="1"/>
          </p:cNvSpPr>
          <p:nvPr>
            <p:ph idx="1"/>
          </p:nvPr>
        </p:nvSpPr>
        <p:spPr>
          <a:xfrm>
            <a:off x="0" y="851937"/>
            <a:ext cx="8091992" cy="1377242"/>
          </a:xfrm>
        </p:spPr>
        <p:txBody>
          <a:bodyPr>
            <a:normAutofit/>
          </a:bodyPr>
          <a:lstStyle/>
          <a:p>
            <a:pPr>
              <a:defRPr>
                <a:latin typeface="House Movements Runway"/>
                <a:ea typeface="House Movements Runway"/>
                <a:cs typeface="House Movements Runway"/>
              </a:defRPr>
            </a:pPr>
            <a:r>
              <a:rPr lang="en-US" sz="2800" dirty="0">
                <a:latin typeface="House Movements Runway"/>
                <a:ea typeface="House Movements Runway"/>
                <a:cs typeface="House Movements Runway"/>
              </a:rPr>
              <a:t>Microwave/infrared instruments to measure sea surface height, wave heights, ocean surface temperatures, and polar ice sheet thickness.</a:t>
            </a:r>
          </a:p>
        </p:txBody>
      </p:sp>
      <p:pic>
        <p:nvPicPr>
          <p:cNvPr id="5" name="Picture 4" descr="An astronaut operates a satellite antenna against a backdrop of a star-filled night sky.&#10;&#10;AI-generated content may be incorrect.">
            <a:extLst>
              <a:ext uri="{FF2B5EF4-FFF2-40B4-BE49-F238E27FC236}">
                <a16:creationId xmlns:a16="http://schemas.microsoft.com/office/drawing/2014/main" id="{9EACBCF3-A86B-8056-DC78-C4760592ABC3}"/>
              </a:ext>
            </a:extLst>
          </p:cNvPr>
          <p:cNvPicPr>
            <a:picLocks noChangeAspect="1"/>
          </p:cNvPicPr>
          <p:nvPr/>
        </p:nvPicPr>
        <p:blipFill>
          <a:blip r:embed="rId2"/>
          <a:srcRect l="4018" r="18963" b="9171"/>
          <a:stretch>
            <a:fillRect/>
          </a:stretch>
        </p:blipFill>
        <p:spPr>
          <a:xfrm>
            <a:off x="8452081" y="2477067"/>
            <a:ext cx="3629003" cy="3962580"/>
          </a:xfrm>
          <a:prstGeom prst="rect">
            <a:avLst/>
          </a:prstGeom>
        </p:spPr>
      </p:pic>
      <p:pic>
        <p:nvPicPr>
          <p:cNvPr id="7" name="Picture 6" descr="The image depicts a High Resolution Microwave Radiometer (HRMR) with its components, including a cold sky mirror, a hot load, a supplemental system, and a rotating SCS mirror.&#10;&#10;AI-generated content may be incorrect.">
            <a:extLst>
              <a:ext uri="{FF2B5EF4-FFF2-40B4-BE49-F238E27FC236}">
                <a16:creationId xmlns:a16="http://schemas.microsoft.com/office/drawing/2014/main" id="{02A14874-7911-E958-2ED8-C85C7400D396}"/>
              </a:ext>
            </a:extLst>
          </p:cNvPr>
          <p:cNvPicPr>
            <a:picLocks noChangeAspect="1"/>
          </p:cNvPicPr>
          <p:nvPr/>
        </p:nvPicPr>
        <p:blipFill>
          <a:blip r:embed="rId3"/>
          <a:stretch>
            <a:fillRect/>
          </a:stretch>
        </p:blipFill>
        <p:spPr>
          <a:xfrm>
            <a:off x="8168981" y="47833"/>
            <a:ext cx="4004406" cy="2351811"/>
          </a:xfrm>
          <a:prstGeom prst="rect">
            <a:avLst/>
          </a:prstGeom>
        </p:spPr>
      </p:pic>
      <p:sp>
        <p:nvSpPr>
          <p:cNvPr id="9" name="TextBox 8">
            <a:extLst>
              <a:ext uri="{FF2B5EF4-FFF2-40B4-BE49-F238E27FC236}">
                <a16:creationId xmlns:a16="http://schemas.microsoft.com/office/drawing/2014/main" id="{E926E01E-5257-E171-C0F3-FC0215FD6312}"/>
              </a:ext>
            </a:extLst>
          </p:cNvPr>
          <p:cNvSpPr txBox="1"/>
          <p:nvPr/>
        </p:nvSpPr>
        <p:spPr>
          <a:xfrm>
            <a:off x="8452081" y="5667765"/>
            <a:ext cx="3271454" cy="707886"/>
          </a:xfrm>
          <a:prstGeom prst="rect">
            <a:avLst/>
          </a:prstGeom>
          <a:noFill/>
        </p:spPr>
        <p:txBody>
          <a:bodyPr wrap="square">
            <a:spAutoFit/>
          </a:bodyPr>
          <a:lstStyle/>
          <a:p>
            <a:pPr>
              <a:defRPr>
                <a:latin typeface="Ubuntu"/>
                <a:ea typeface="Ubuntu"/>
                <a:cs typeface="Ubuntu"/>
              </a:defRPr>
            </a:pPr>
            <a:r>
              <a:rPr lang="en-US" sz="2000" b="0" i="0" dirty="0">
                <a:solidFill>
                  <a:schemeClr val="tx1"/>
                </a:solidFill>
                <a:effectLst/>
                <a:highlight>
                  <a:srgbClr val="FFFF00"/>
                </a:highlight>
                <a:latin typeface="Ubuntu"/>
                <a:ea typeface="Ubuntu"/>
                <a:cs typeface="Ubuntu"/>
              </a:rPr>
              <a:t>Copernicus Imaging Microwave Radiometer, CIMR</a:t>
            </a:r>
            <a:endParaRPr lang="en-US" sz="2000" dirty="0">
              <a:highlight>
                <a:srgbClr val="FFFF00"/>
              </a:highlight>
            </a:endParaRPr>
          </a:p>
        </p:txBody>
      </p:sp>
      <p:pic>
        <p:nvPicPr>
          <p:cNvPr id="11" name="Picture 10">
            <a:extLst>
              <a:ext uri="{FF2B5EF4-FFF2-40B4-BE49-F238E27FC236}">
                <a16:creationId xmlns:a16="http://schemas.microsoft.com/office/drawing/2014/main" id="{E112C433-68DB-3CF1-9C98-E175BB651030}"/>
              </a:ext>
            </a:extLst>
          </p:cNvPr>
          <p:cNvPicPr>
            <a:picLocks noChangeAspect="1"/>
          </p:cNvPicPr>
          <p:nvPr/>
        </p:nvPicPr>
        <p:blipFill>
          <a:blip r:embed="rId4"/>
          <a:stretch>
            <a:fillRect/>
          </a:stretch>
        </p:blipFill>
        <p:spPr>
          <a:xfrm>
            <a:off x="3733445" y="2525665"/>
            <a:ext cx="4558574" cy="4616012"/>
          </a:xfrm>
          <a:prstGeom prst="rect">
            <a:avLst/>
          </a:prstGeom>
        </p:spPr>
      </p:pic>
      <p:pic>
        <p:nvPicPr>
          <p:cNvPr id="13" name="Picture 12" descr="The Lunar Orbiter Laser Altimeter (LOLA) is a NASA instrument aboard the Lunar Reconnaissance Orbiter, measuring the range to the lunar surface, reflectance, and surface roughness with high precision.&#10;&#10;AI-generated content may be incorrect.">
            <a:extLst>
              <a:ext uri="{FF2B5EF4-FFF2-40B4-BE49-F238E27FC236}">
                <a16:creationId xmlns:a16="http://schemas.microsoft.com/office/drawing/2014/main" id="{0A9F47E7-DC70-141C-FE1E-5FA4299E3210}"/>
              </a:ext>
            </a:extLst>
          </p:cNvPr>
          <p:cNvPicPr>
            <a:picLocks noChangeAspect="1"/>
          </p:cNvPicPr>
          <p:nvPr/>
        </p:nvPicPr>
        <p:blipFill>
          <a:blip r:embed="rId5"/>
          <a:stretch>
            <a:fillRect/>
          </a:stretch>
        </p:blipFill>
        <p:spPr>
          <a:xfrm>
            <a:off x="30143" y="2900148"/>
            <a:ext cx="3644710" cy="3214049"/>
          </a:xfrm>
          <a:prstGeom prst="rect">
            <a:avLst/>
          </a:prstGeom>
        </p:spPr>
      </p:pic>
      <p:pic>
        <p:nvPicPr>
          <p:cNvPr id="14" name="Space Faculty logo" descr="sf_logo.png"/>
          <p:cNvPicPr>
            <a:picLocks noChangeAspect="1"/>
          </p:cNvPicPr>
          <p:nvPr/>
        </p:nvPicPr>
        <p:blipFill>
          <a:blip r:embed="rId6"/>
          <a:stretch>
            <a:fillRect/>
          </a:stretch>
        </p:blipFill>
        <p:spPr>
          <a:xfrm>
            <a:off x="146304" y="180968"/>
            <a:ext cx="900949" cy="256032"/>
          </a:xfrm>
          <a:prstGeom prst="rect">
            <a:avLst/>
          </a:prstGeom>
        </p:spPr>
      </p:pic>
    </p:spTree>
    <p:extLst>
      <p:ext uri="{BB962C8B-B14F-4D97-AF65-F5344CB8AC3E}">
        <p14:creationId xmlns:p14="http://schemas.microsoft.com/office/powerpoint/2010/main" val="19502002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08274-0D92-DD66-B123-9C3DFFCB705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F8E12C-2079-A174-6851-6A834209B26F}"/>
              </a:ext>
            </a:extLst>
          </p:cNvPr>
          <p:cNvSpPr>
            <a:spLocks noGrp="1"/>
          </p:cNvSpPr>
          <p:nvPr>
            <p:ph type="ctrTitle"/>
          </p:nvPr>
        </p:nvSpPr>
        <p:spPr>
          <a:xfrm>
            <a:off x="2020019" y="2343210"/>
            <a:ext cx="7772400" cy="1470025"/>
          </a:xfrm>
        </p:spPr>
        <p:txBody>
          <a:bodyPr>
            <a:normAutofit/>
          </a:bodyPr>
          <a:lstStyle/>
          <a:p>
            <a:pPr>
              <a:defRPr>
                <a:latin typeface="House Movements Runway"/>
                <a:ea typeface="House Movements Runway"/>
                <a:cs typeface="House Movements Runway"/>
              </a:defRPr>
            </a:pPr>
            <a:r>
              <a:rPr lang="en-US" sz="5400" b="1" dirty="0">
                <a:latin typeface="House Movements Runway"/>
                <a:ea typeface="House Movements Runway"/>
                <a:cs typeface="House Movements Runway"/>
              </a:rPr>
              <a:t>Communication Payloads</a:t>
            </a:r>
          </a:p>
        </p:txBody>
      </p:sp>
      <p:sp>
        <p:nvSpPr>
          <p:cNvPr id="3" name="Slide Number Placeholder 7">
            <a:extLst>
              <a:ext uri="{FF2B5EF4-FFF2-40B4-BE49-F238E27FC236}">
                <a16:creationId xmlns:a16="http://schemas.microsoft.com/office/drawing/2014/main" id="{FCACEE6F-D928-24DC-2F3B-3A15C16611E8}"/>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35</a:t>
            </a:fld>
            <a:endParaRPr lang="en-US" sz="4800" b="1" dirty="0">
              <a:solidFill>
                <a:srgbClr val="FF0000"/>
              </a:solidFill>
            </a:endParaRPr>
          </a:p>
        </p:txBody>
      </p:sp>
      <p:pic>
        <p:nvPicPr>
          <p:cNvPr id="5" name="Space Faculty logo" descr="sf_logo.png"/>
          <p:cNvPicPr>
            <a:picLocks noChangeAspect="1"/>
          </p:cNvPicPr>
          <p:nvPr/>
        </p:nvPicPr>
        <p:blipFill>
          <a:blip r:embed="rId2"/>
          <a:stretch>
            <a:fillRect/>
          </a:stretch>
        </p:blipFill>
        <p:spPr>
          <a:xfrm>
            <a:off x="10411458" y="54864"/>
            <a:ext cx="1667765" cy="473946"/>
          </a:xfrm>
          <a:prstGeom prst="rect">
            <a:avLst/>
          </a:prstGeom>
        </p:spPr>
      </p:pic>
    </p:spTree>
    <p:extLst>
      <p:ext uri="{BB962C8B-B14F-4D97-AF65-F5344CB8AC3E}">
        <p14:creationId xmlns:p14="http://schemas.microsoft.com/office/powerpoint/2010/main" val="9497291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D8E301-6332-CB1B-403C-0EF074AA8B13}"/>
              </a:ext>
            </a:extLst>
          </p:cNvPr>
          <p:cNvSpPr>
            <a:spLocks noGrp="1"/>
          </p:cNvSpPr>
          <p:nvPr>
            <p:ph type="title"/>
          </p:nvPr>
        </p:nvSpPr>
        <p:spPr>
          <a:xfrm>
            <a:off x="595223" y="38099"/>
            <a:ext cx="8229600" cy="565750"/>
          </a:xfrm>
        </p:spPr>
        <p:txBody>
          <a:bodyPr>
            <a:normAutofit fontScale="90000"/>
          </a:bodyPr>
          <a:lstStyle/>
          <a:p>
            <a:pPr>
              <a:defRPr>
                <a:latin typeface="House Movements Runway"/>
                <a:ea typeface="House Movements Runway"/>
                <a:cs typeface="House Movements Runway"/>
              </a:defRPr>
            </a:pPr>
            <a:r>
              <a:rPr lang="en-US" b="1" dirty="0">
                <a:latin typeface="House Movements Runway"/>
                <a:ea typeface="House Movements Runway"/>
                <a:cs typeface="House Movements Runway"/>
              </a:rPr>
              <a:t>Communication Payloads</a:t>
            </a:r>
          </a:p>
        </p:txBody>
      </p:sp>
      <p:sp>
        <p:nvSpPr>
          <p:cNvPr id="5" name="Content Placeholder 4">
            <a:extLst>
              <a:ext uri="{FF2B5EF4-FFF2-40B4-BE49-F238E27FC236}">
                <a16:creationId xmlns:a16="http://schemas.microsoft.com/office/drawing/2014/main" id="{C49D73AE-0933-3B19-215D-6D922ED4F7A1}"/>
              </a:ext>
            </a:extLst>
          </p:cNvPr>
          <p:cNvSpPr>
            <a:spLocks noGrp="1"/>
          </p:cNvSpPr>
          <p:nvPr>
            <p:ph idx="1"/>
          </p:nvPr>
        </p:nvSpPr>
        <p:spPr>
          <a:xfrm>
            <a:off x="-54718" y="524070"/>
            <a:ext cx="8324575" cy="2822245"/>
          </a:xfrm>
        </p:spPr>
        <p:txBody>
          <a:bodyPr>
            <a:normAutofit fontScale="62500" lnSpcReduction="20000"/>
          </a:bodyPr>
          <a:lstStyle/>
          <a:p>
            <a:pPr>
              <a:defRPr>
                <a:latin typeface="Ubuntu"/>
                <a:ea typeface="Ubuntu"/>
                <a:cs typeface="Ubuntu"/>
              </a:defRPr>
            </a:pPr>
            <a:r>
              <a:rPr lang="en-US" dirty="0">
                <a:latin typeface="Ubuntu"/>
                <a:ea typeface="Ubuntu"/>
                <a:cs typeface="Ubuntu"/>
              </a:rPr>
              <a:t>Designed to receive, process, and retransmit signals across global networks.</a:t>
            </a:r>
          </a:p>
          <a:p>
            <a:pPr lvl="0">
              <a:defRPr>
                <a:latin typeface="Ubuntu"/>
                <a:ea typeface="Ubuntu"/>
                <a:cs typeface="Ubuntu"/>
              </a:defRPr>
            </a:pPr>
            <a:r>
              <a:rPr lang="en-US" b="1" i="1" dirty="0">
                <a:solidFill>
                  <a:srgbClr val="FF0000"/>
                </a:solidFill>
                <a:latin typeface="Ubuntu"/>
                <a:ea typeface="Ubuntu"/>
                <a:cs typeface="Ubuntu"/>
              </a:rPr>
              <a:t>Transponders (C, Ku, Ka, Q/V bands):</a:t>
            </a:r>
            <a:r>
              <a:rPr lang="en-US" i="1" dirty="0">
                <a:solidFill>
                  <a:srgbClr val="FF0000"/>
                </a:solidFill>
                <a:latin typeface="Ubuntu"/>
                <a:ea typeface="Ubuntu"/>
                <a:cs typeface="Ubuntu"/>
              </a:rPr>
              <a:t> </a:t>
            </a:r>
            <a:r>
              <a:rPr lang="en-US" dirty="0">
                <a:latin typeface="Ubuntu"/>
                <a:ea typeface="Ubuntu"/>
                <a:cs typeface="Ubuntu"/>
              </a:rPr>
              <a:t>Analog/digital frequency converters and amplifiers used to relay television, radio, internet, and data signals (e.g., Starlink, Eutelsat).</a:t>
            </a:r>
          </a:p>
          <a:p>
            <a:pPr lvl="0">
              <a:defRPr>
                <a:latin typeface="Ubuntu"/>
                <a:ea typeface="Ubuntu"/>
                <a:cs typeface="Ubuntu"/>
              </a:defRPr>
            </a:pPr>
            <a:r>
              <a:rPr lang="en-US" b="1" i="1" dirty="0">
                <a:solidFill>
                  <a:srgbClr val="FF0000"/>
                </a:solidFill>
                <a:latin typeface="Ubuntu"/>
                <a:ea typeface="Ubuntu"/>
                <a:cs typeface="Ubuntu"/>
              </a:rPr>
              <a:t>Phased Array / Multi-Beam Antennas</a:t>
            </a:r>
            <a:r>
              <a:rPr lang="en-US" b="1" dirty="0">
                <a:solidFill>
                  <a:srgbClr val="FF0000"/>
                </a:solidFill>
                <a:latin typeface="Ubuntu"/>
                <a:ea typeface="Ubuntu"/>
                <a:cs typeface="Ubuntu"/>
              </a:rPr>
              <a:t>:</a:t>
            </a:r>
            <a:r>
              <a:rPr lang="en-US" dirty="0">
                <a:solidFill>
                  <a:srgbClr val="FF0000"/>
                </a:solidFill>
                <a:latin typeface="Ubuntu"/>
                <a:ea typeface="Ubuntu"/>
                <a:cs typeface="Ubuntu"/>
              </a:rPr>
              <a:t> </a:t>
            </a:r>
            <a:r>
              <a:rPr lang="en-US" dirty="0">
                <a:latin typeface="Ubuntu"/>
                <a:ea typeface="Ubuntu"/>
                <a:cs typeface="Ubuntu"/>
              </a:rPr>
              <a:t>Electronically steerable antennas used for high-throughput internet service and targeting specific ground locations.</a:t>
            </a:r>
          </a:p>
          <a:p>
            <a:pPr lvl="0">
              <a:defRPr>
                <a:latin typeface="Ubuntu"/>
                <a:ea typeface="Ubuntu"/>
                <a:cs typeface="Ubuntu"/>
              </a:defRPr>
            </a:pPr>
            <a:r>
              <a:rPr lang="en-US" b="1" i="1" dirty="0">
                <a:solidFill>
                  <a:srgbClr val="FF0000"/>
                </a:solidFill>
                <a:latin typeface="Ubuntu"/>
                <a:ea typeface="Ubuntu"/>
                <a:cs typeface="Ubuntu"/>
              </a:rPr>
              <a:t>Optical Inter-Satellite Links (</a:t>
            </a:r>
            <a:r>
              <a:rPr lang="en-US" b="1" i="1" dirty="0" err="1">
                <a:solidFill>
                  <a:srgbClr val="FF0000"/>
                </a:solidFill>
                <a:latin typeface="Ubuntu"/>
                <a:ea typeface="Ubuntu"/>
                <a:cs typeface="Ubuntu"/>
              </a:rPr>
              <a:t>Lasercom</a:t>
            </a:r>
            <a:r>
              <a:rPr lang="en-US" b="1" i="1" dirty="0">
                <a:solidFill>
                  <a:srgbClr val="FF0000"/>
                </a:solidFill>
                <a:latin typeface="Ubuntu"/>
                <a:ea typeface="Ubuntu"/>
                <a:cs typeface="Ubuntu"/>
              </a:rPr>
              <a:t>):</a:t>
            </a:r>
            <a:r>
              <a:rPr lang="en-US" i="1" dirty="0">
                <a:solidFill>
                  <a:srgbClr val="FF0000"/>
                </a:solidFill>
                <a:latin typeface="Ubuntu"/>
                <a:ea typeface="Ubuntu"/>
                <a:cs typeface="Ubuntu"/>
              </a:rPr>
              <a:t> </a:t>
            </a:r>
            <a:r>
              <a:rPr lang="en-US" dirty="0">
                <a:latin typeface="Ubuntu"/>
                <a:ea typeface="Ubuntu"/>
                <a:cs typeface="Ubuntu"/>
              </a:rPr>
              <a:t>High-speed laser transceivers for data exchange directly between satellites in orbit without ground relays.</a:t>
            </a:r>
          </a:p>
          <a:p>
            <a:pPr>
              <a:defRPr>
                <a:latin typeface="Ubuntu"/>
                <a:ea typeface="Ubuntu"/>
                <a:cs typeface="Ubuntu"/>
              </a:defRPr>
            </a:pPr>
            <a:endParaRPr lang="en-US" dirty="0"/>
          </a:p>
        </p:txBody>
      </p:sp>
      <p:pic>
        <p:nvPicPr>
          <p:cNvPr id="3" name="Picture 2" descr="The image illustrates the process of satellite communication, showing how a satellite amplifies and changes the frequency of the incoming signal, transmits it back to Earth, and how the ground equipment receives the signal.&#10;&#10;AI-generated content may be incorrect.">
            <a:extLst>
              <a:ext uri="{FF2B5EF4-FFF2-40B4-BE49-F238E27FC236}">
                <a16:creationId xmlns:a16="http://schemas.microsoft.com/office/drawing/2014/main" id="{35666637-E3EF-DCD3-3B4B-E19378EC4012}"/>
              </a:ext>
            </a:extLst>
          </p:cNvPr>
          <p:cNvPicPr>
            <a:picLocks noChangeAspect="1"/>
          </p:cNvPicPr>
          <p:nvPr/>
        </p:nvPicPr>
        <p:blipFill>
          <a:blip r:embed="rId2"/>
          <a:stretch>
            <a:fillRect/>
          </a:stretch>
        </p:blipFill>
        <p:spPr>
          <a:xfrm>
            <a:off x="81406" y="3266535"/>
            <a:ext cx="5428745" cy="3553365"/>
          </a:xfrm>
          <a:prstGeom prst="rect">
            <a:avLst/>
          </a:prstGeom>
        </p:spPr>
      </p:pic>
      <p:pic>
        <p:nvPicPr>
          <p:cNvPr id="7" name="Picture 6" descr="The image depicts the Cuban satellite (CubaSAT Daap Spaca) with various technical components such as X-Band TT&amp;C Transponder, MAI Power, and antennae.&#10;&#10;AI-generated content may be incorrect.">
            <a:extLst>
              <a:ext uri="{FF2B5EF4-FFF2-40B4-BE49-F238E27FC236}">
                <a16:creationId xmlns:a16="http://schemas.microsoft.com/office/drawing/2014/main" id="{E87CA052-AD2E-BC20-E4ED-612020E60EA8}"/>
              </a:ext>
            </a:extLst>
          </p:cNvPr>
          <p:cNvPicPr>
            <a:picLocks noChangeAspect="1"/>
          </p:cNvPicPr>
          <p:nvPr/>
        </p:nvPicPr>
        <p:blipFill>
          <a:blip r:embed="rId3"/>
          <a:stretch>
            <a:fillRect/>
          </a:stretch>
        </p:blipFill>
        <p:spPr>
          <a:xfrm>
            <a:off x="5558174" y="3370284"/>
            <a:ext cx="2247353" cy="3371030"/>
          </a:xfrm>
          <a:prstGeom prst="rect">
            <a:avLst/>
          </a:prstGeom>
        </p:spPr>
      </p:pic>
      <p:pic>
        <p:nvPicPr>
          <p:cNvPr id="9" name="Picture 8" descr="The image shows a satellite orbiting Earth, with a network of satellites connected to it, forming a global communication network.&#10;&#10;AI-generated content may be incorrect.">
            <a:extLst>
              <a:ext uri="{FF2B5EF4-FFF2-40B4-BE49-F238E27FC236}">
                <a16:creationId xmlns:a16="http://schemas.microsoft.com/office/drawing/2014/main" id="{52C672A0-E408-5BAB-562F-AD165CEC12DC}"/>
              </a:ext>
            </a:extLst>
          </p:cNvPr>
          <p:cNvPicPr>
            <a:picLocks noChangeAspect="1"/>
          </p:cNvPicPr>
          <p:nvPr/>
        </p:nvPicPr>
        <p:blipFill>
          <a:blip r:embed="rId4"/>
          <a:stretch>
            <a:fillRect/>
          </a:stretch>
        </p:blipFill>
        <p:spPr>
          <a:xfrm>
            <a:off x="7805527" y="4249949"/>
            <a:ext cx="4358496" cy="2569952"/>
          </a:xfrm>
          <a:prstGeom prst="rect">
            <a:avLst/>
          </a:prstGeom>
        </p:spPr>
      </p:pic>
      <p:pic>
        <p:nvPicPr>
          <p:cNvPr id="11" name="Picture 10" descr="The image depicts a phased-array antenna system with multiple radiating elements, electronic phase shifters, and a beam that can be electronically steered without mechanical rotation.&#10;&#10;AI-generated content may be incorrect.">
            <a:extLst>
              <a:ext uri="{FF2B5EF4-FFF2-40B4-BE49-F238E27FC236}">
                <a16:creationId xmlns:a16="http://schemas.microsoft.com/office/drawing/2014/main" id="{A1718EF4-62C7-A58A-4592-C7B262FFA670}"/>
              </a:ext>
            </a:extLst>
          </p:cNvPr>
          <p:cNvPicPr>
            <a:picLocks noChangeAspect="1"/>
          </p:cNvPicPr>
          <p:nvPr/>
        </p:nvPicPr>
        <p:blipFill>
          <a:blip r:embed="rId5"/>
          <a:stretch>
            <a:fillRect/>
          </a:stretch>
        </p:blipFill>
        <p:spPr>
          <a:xfrm>
            <a:off x="8269857" y="424860"/>
            <a:ext cx="3485141" cy="3790582"/>
          </a:xfrm>
          <a:prstGeom prst="rect">
            <a:avLst/>
          </a:prstGeom>
        </p:spPr>
      </p:pic>
      <p:pic>
        <p:nvPicPr>
          <p:cNvPr id="12" name="Space Faculty logo" descr="sf_logo.png"/>
          <p:cNvPicPr>
            <a:picLocks noChangeAspect="1"/>
          </p:cNvPicPr>
          <p:nvPr/>
        </p:nvPicPr>
        <p:blipFill>
          <a:blip r:embed="rId6"/>
          <a:stretch>
            <a:fillRect/>
          </a:stretch>
        </p:blipFill>
        <p:spPr>
          <a:xfrm>
            <a:off x="11082970" y="54864"/>
            <a:ext cx="996254" cy="283116"/>
          </a:xfrm>
          <a:prstGeom prst="rect">
            <a:avLst/>
          </a:prstGeom>
        </p:spPr>
      </p:pic>
    </p:spTree>
    <p:extLst>
      <p:ext uri="{BB962C8B-B14F-4D97-AF65-F5344CB8AC3E}">
        <p14:creationId xmlns:p14="http://schemas.microsoft.com/office/powerpoint/2010/main" val="288152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4"/>
          <p:cNvSpPr txBox="1">
            <a:spLocks noGrp="1"/>
          </p:cNvSpPr>
          <p:nvPr>
            <p:ph type="body" idx="1"/>
          </p:nvPr>
        </p:nvSpPr>
        <p:spPr>
          <a:xfrm>
            <a:off x="205972" y="1050992"/>
            <a:ext cx="5131854" cy="498642"/>
          </a:xfrm>
          <a:prstGeom prst="rect">
            <a:avLst/>
          </a:prstGeom>
          <a:noFill/>
          <a:ln>
            <a:noFill/>
          </a:ln>
        </p:spPr>
        <p:txBody>
          <a:bodyPr spcFirstLastPara="1" wrap="square" lIns="91425" tIns="45700" rIns="91425" bIns="45700" anchor="t" anchorCtr="0">
            <a:normAutofit/>
          </a:bodyPr>
          <a:lstStyle/>
          <a:p>
            <a:pPr marL="0" indent="0" rtl="0">
              <a:spcBef>
                <a:spcPts val="0"/>
              </a:spcBef>
              <a:buSzPct val="100000"/>
              <a:buNone/>
              <a:defRPr>
                <a:latin typeface="House Movements Runway"/>
                <a:ea typeface="House Movements Runway"/>
                <a:cs typeface="House Movements Runway"/>
              </a:defRPr>
            </a:pPr>
            <a:r>
              <a:rPr lang="en-US" sz="2800" b="1" u="sng" dirty="0">
                <a:latin typeface="House Movements Runway" panose="02020603050405020304" pitchFamily="18" charset="0"/>
                <a:cs typeface="House Movements Runway" panose="02020603050405020304" pitchFamily="18" charset="0"/>
              </a:rPr>
              <a:t>Mission Background :</a:t>
            </a:r>
            <a:endParaRPr sz="2800" dirty="0">
              <a:latin typeface="Times New Roman" panose="02020603050405020304" pitchFamily="18" charset="0"/>
              <a:cs typeface="Times New Roman" panose="02020603050405020304" pitchFamily="18" charset="0"/>
            </a:endParaRPr>
          </a:p>
        </p:txBody>
      </p:sp>
      <p:sp>
        <p:nvSpPr>
          <p:cNvPr id="136" name="Google Shape;136;p4"/>
          <p:cNvSpPr txBox="1"/>
          <p:nvPr/>
        </p:nvSpPr>
        <p:spPr>
          <a:xfrm>
            <a:off x="190206" y="1287725"/>
            <a:ext cx="11506200" cy="2031285"/>
          </a:xfrm>
          <a:prstGeom prst="rect">
            <a:avLst/>
          </a:prstGeom>
          <a:noFill/>
          <a:ln>
            <a:noFill/>
          </a:ln>
        </p:spPr>
        <p:txBody>
          <a:bodyPr spcFirstLastPara="1" wrap="square" lIns="91425" tIns="45700" rIns="91425" bIns="45700" anchor="t" anchorCtr="0">
            <a:spAutoFit/>
          </a:bodyPr>
          <a:lstStyle/>
          <a:p>
            <a:pPr>
              <a:lnSpc>
                <a:spcPct val="150000"/>
              </a:lnSpc>
              <a:defRPr>
                <a:latin typeface="Ubuntu"/>
                <a:ea typeface="Ubuntu"/>
                <a:cs typeface="Ubuntu"/>
              </a:defRPr>
            </a:pPr>
            <a:r>
              <a:rPr lang="en-US" sz="2800" dirty="0">
                <a:solidFill>
                  <a:schemeClr val="dk1"/>
                </a:solidFill>
                <a:latin typeface="Ubuntu" panose="02020603050405020304" pitchFamily="18" charset="0"/>
                <a:ea typeface="Ubuntu"/>
                <a:cs typeface="Ubuntu" panose="02020603050405020304" pitchFamily="18" charset="0"/>
                <a:sym typeface="Calibri"/>
              </a:rPr>
              <a:t>Difficulty in gathering data from remote areas</a:t>
            </a:r>
            <a:endParaRPr sz="2800" dirty="0">
              <a:latin typeface="Times New Roman" panose="02020603050405020304" pitchFamily="18" charset="0"/>
              <a:cs typeface="Times New Roman" panose="02020603050405020304" pitchFamily="18" charset="0"/>
            </a:endParaRPr>
          </a:p>
          <a:p>
            <a:pPr marL="742950" lvl="1" indent="-285750">
              <a:buClr>
                <a:schemeClr val="dk1"/>
              </a:buClr>
              <a:buSzPts val="2300"/>
              <a:buFont typeface="Arial"/>
              <a:buChar char="•"/>
              <a:defRPr>
                <a:latin typeface="Ubuntu"/>
                <a:ea typeface="Ubuntu"/>
                <a:cs typeface="Ubuntu"/>
              </a:defRPr>
            </a:pPr>
            <a:r>
              <a:rPr lang="en-US" sz="2800" dirty="0">
                <a:solidFill>
                  <a:schemeClr val="dk1"/>
                </a:solidFill>
                <a:latin typeface="Ubuntu" panose="02020603050405020304" pitchFamily="18" charset="0"/>
                <a:ea typeface="Ubuntu"/>
                <a:cs typeface="Ubuntu" panose="02020603050405020304" pitchFamily="18" charset="0"/>
                <a:sym typeface="Calibri"/>
              </a:rPr>
              <a:t>No need for ground network infrastructure which is costly to establish &amp; maintain.</a:t>
            </a:r>
            <a:endParaRPr sz="2800" dirty="0">
              <a:latin typeface="Times New Roman" panose="02020603050405020304" pitchFamily="18" charset="0"/>
              <a:cs typeface="Times New Roman" panose="02020603050405020304" pitchFamily="18" charset="0"/>
            </a:endParaRPr>
          </a:p>
          <a:p>
            <a:pPr marL="285750" indent="-139700">
              <a:buClr>
                <a:schemeClr val="dk1"/>
              </a:buClr>
              <a:buSzPts val="2300"/>
              <a:defRPr>
                <a:latin typeface="Ubuntu"/>
                <a:ea typeface="Ubuntu"/>
                <a:cs typeface="Ubuntu"/>
              </a:defRPr>
            </a:pPr>
            <a:endParaRPr sz="28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37" name="Google Shape;137;p4"/>
          <p:cNvSpPr txBox="1"/>
          <p:nvPr/>
        </p:nvSpPr>
        <p:spPr>
          <a:xfrm>
            <a:off x="205972" y="2785276"/>
            <a:ext cx="5280428" cy="2492950"/>
          </a:xfrm>
          <a:prstGeom prst="rect">
            <a:avLst/>
          </a:prstGeom>
          <a:noFill/>
          <a:ln>
            <a:noFill/>
          </a:ln>
        </p:spPr>
        <p:txBody>
          <a:bodyPr spcFirstLastPara="1" wrap="square" lIns="91425" tIns="45700" rIns="91425" bIns="45700" anchor="t" anchorCtr="0">
            <a:spAutoFit/>
          </a:bodyPr>
          <a:lstStyle/>
          <a:p>
            <a:pPr>
              <a:lnSpc>
                <a:spcPct val="250000"/>
              </a:lnSpc>
              <a:defRPr>
                <a:latin typeface="Ubuntu"/>
                <a:ea typeface="Ubuntu"/>
                <a:cs typeface="Ubuntu"/>
              </a:defRPr>
            </a:pPr>
            <a:r>
              <a:rPr lang="en-US" sz="2400" b="1" u="sng" dirty="0">
                <a:solidFill>
                  <a:schemeClr val="dk1"/>
                </a:solidFill>
                <a:latin typeface="Ubuntu" panose="02020603050405020304" pitchFamily="18" charset="0"/>
                <a:ea typeface="Ubuntu"/>
                <a:cs typeface="Ubuntu" panose="02020603050405020304" pitchFamily="18" charset="0"/>
                <a:sym typeface="Calibri"/>
              </a:rPr>
              <a:t>Data to be used for:</a:t>
            </a:r>
            <a:endParaRPr sz="2400" dirty="0">
              <a:latin typeface="Times New Roman" panose="02020603050405020304" pitchFamily="18" charset="0"/>
              <a:cs typeface="Times New Roman" panose="02020603050405020304" pitchFamily="18" charset="0"/>
            </a:endParaRPr>
          </a:p>
          <a:p>
            <a:pPr marL="342900" indent="-342900">
              <a:buClr>
                <a:schemeClr val="dk1"/>
              </a:buClr>
              <a:buSzPts val="1800"/>
              <a:buFont typeface="Arial"/>
              <a:buChar char="•"/>
              <a:defRPr>
                <a:latin typeface="Ubuntu"/>
                <a:ea typeface="Ubuntu"/>
                <a:cs typeface="Ubuntu"/>
              </a:defRPr>
            </a:pPr>
            <a:r>
              <a:rPr lang="en-US" sz="2400" dirty="0">
                <a:solidFill>
                  <a:schemeClr val="dk1"/>
                </a:solidFill>
                <a:latin typeface="Ubuntu" panose="02020603050405020304" pitchFamily="18" charset="0"/>
                <a:ea typeface="Ubuntu"/>
                <a:cs typeface="Ubuntu" panose="02020603050405020304" pitchFamily="18" charset="0"/>
                <a:sym typeface="Calibri"/>
              </a:rPr>
              <a:t>Solar Illumination Measurement/Mapping</a:t>
            </a:r>
            <a:endParaRPr sz="2400" dirty="0">
              <a:latin typeface="Times New Roman" panose="02020603050405020304" pitchFamily="18" charset="0"/>
              <a:cs typeface="Times New Roman" panose="02020603050405020304" pitchFamily="18" charset="0"/>
            </a:endParaRPr>
          </a:p>
          <a:p>
            <a:pPr marL="342900" indent="-342900">
              <a:buClr>
                <a:srgbClr val="1D1B10"/>
              </a:buClr>
              <a:buSzPts val="1800"/>
              <a:buFont typeface="Arial"/>
              <a:buChar char="•"/>
              <a:defRPr>
                <a:latin typeface="Ubuntu"/>
                <a:ea typeface="Ubuntu"/>
                <a:cs typeface="Ubuntu"/>
              </a:defRPr>
            </a:pPr>
            <a:r>
              <a:rPr lang="en-US" sz="2400" dirty="0">
                <a:solidFill>
                  <a:schemeClr val="dk1"/>
                </a:solidFill>
                <a:latin typeface="Ubuntu" panose="02020603050405020304" pitchFamily="18" charset="0"/>
                <a:ea typeface="Ubuntu"/>
                <a:cs typeface="Ubuntu" panose="02020603050405020304" pitchFamily="18" charset="0"/>
                <a:sym typeface="Calibri"/>
              </a:rPr>
              <a:t>Disaster Mitigation</a:t>
            </a:r>
            <a:endParaRPr sz="2400" dirty="0">
              <a:latin typeface="Times New Roman" panose="02020603050405020304" pitchFamily="18" charset="0"/>
              <a:cs typeface="Times New Roman" panose="02020603050405020304" pitchFamily="18" charset="0"/>
            </a:endParaRPr>
          </a:p>
          <a:p>
            <a:pPr>
              <a:defRPr>
                <a:latin typeface="Ubuntu"/>
                <a:ea typeface="Ubuntu"/>
                <a:cs typeface="Ubuntu"/>
              </a:defRPr>
            </a:pP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p:txBody>
      </p:sp>
      <p:grpSp>
        <p:nvGrpSpPr>
          <p:cNvPr id="138" name="Google Shape;138;p4"/>
          <p:cNvGrpSpPr/>
          <p:nvPr/>
        </p:nvGrpSpPr>
        <p:grpSpPr>
          <a:xfrm>
            <a:off x="6911830" y="2529442"/>
            <a:ext cx="4784576" cy="3948334"/>
            <a:chOff x="3275856" y="2636913"/>
            <a:chExt cx="4752527" cy="4104455"/>
          </a:xfrm>
        </p:grpSpPr>
        <p:pic>
          <p:nvPicPr>
            <p:cNvPr id="139" name="Google Shape;139;p4"/>
            <p:cNvPicPr preferRelativeResize="0"/>
            <p:nvPr/>
          </p:nvPicPr>
          <p:blipFill rotWithShape="1">
            <a:blip r:embed="rId3">
              <a:alphaModFix/>
              <a:extLst>
                <a:ext uri="{BEBA8EAE-BF5A-486C-A8C5-ECC9F3942E4B}">
                  <a14:imgProps xmlns:a14="http://schemas.microsoft.com/office/drawing/2010/main">
                    <a14:imgLayer r:embed="rId4">
                      <a14:imgEffect>
                        <a14:colorTemperature colorTemp="5900"/>
                      </a14:imgEffect>
                    </a14:imgLayer>
                  </a14:imgProps>
                </a:ext>
              </a:extLst>
            </a:blip>
            <a:srcRect/>
            <a:stretch/>
          </p:blipFill>
          <p:spPr>
            <a:xfrm>
              <a:off x="3275856" y="2636913"/>
              <a:ext cx="4752527" cy="2337012"/>
            </a:xfrm>
            <a:prstGeom prst="rect">
              <a:avLst/>
            </a:prstGeom>
            <a:noFill/>
            <a:ln>
              <a:noFill/>
            </a:ln>
          </p:spPr>
        </p:pic>
        <p:pic>
          <p:nvPicPr>
            <p:cNvPr id="140" name="Google Shape;140;p4"/>
            <p:cNvPicPr preferRelativeResize="0"/>
            <p:nvPr/>
          </p:nvPicPr>
          <p:blipFill rotWithShape="1">
            <a:blip r:embed="rId5">
              <a:alphaModFix/>
            </a:blip>
            <a:srcRect/>
            <a:stretch/>
          </p:blipFill>
          <p:spPr>
            <a:xfrm>
              <a:off x="3301210" y="4945105"/>
              <a:ext cx="4727173" cy="1796263"/>
            </a:xfrm>
            <a:prstGeom prst="rect">
              <a:avLst/>
            </a:prstGeom>
            <a:noFill/>
            <a:ln>
              <a:noFill/>
            </a:ln>
          </p:spPr>
        </p:pic>
      </p:grpSp>
      <p:sp>
        <p:nvSpPr>
          <p:cNvPr id="141" name="Google Shape;141;p4"/>
          <p:cNvSpPr txBox="1"/>
          <p:nvPr/>
        </p:nvSpPr>
        <p:spPr>
          <a:xfrm>
            <a:off x="182323" y="5247901"/>
            <a:ext cx="5459104" cy="1302880"/>
          </a:xfrm>
          <a:prstGeom prst="rect">
            <a:avLst/>
          </a:prstGeom>
          <a:noFill/>
          <a:ln>
            <a:noFill/>
          </a:ln>
        </p:spPr>
        <p:txBody>
          <a:bodyPr spcFirstLastPara="1" wrap="square" lIns="91425" tIns="45700" rIns="91425" bIns="45700" anchor="t" anchorCtr="0">
            <a:spAutoFit/>
          </a:bodyPr>
          <a:lstStyle/>
          <a:p>
            <a:pPr marL="76200">
              <a:defRPr>
                <a:latin typeface="Ubuntu"/>
                <a:ea typeface="Ubuntu"/>
                <a:cs typeface="Ubuntu"/>
              </a:defRPr>
            </a:pPr>
            <a:r>
              <a:rPr lang="en-US" sz="2400" b="1" u="sng" dirty="0">
                <a:solidFill>
                  <a:srgbClr val="06080A"/>
                </a:solidFill>
                <a:latin typeface="Ubuntu" panose="02020603050405020304" pitchFamily="18" charset="0"/>
                <a:ea typeface="Ubuntu"/>
                <a:cs typeface="Ubuntu" panose="02020603050405020304" pitchFamily="18" charset="0"/>
                <a:sym typeface="Calibri"/>
              </a:rPr>
              <a:t>End users:</a:t>
            </a:r>
            <a:endParaRPr sz="2400" u="sng" dirty="0">
              <a:solidFill>
                <a:schemeClr val="dk1"/>
              </a:solidFill>
              <a:latin typeface="Times New Roman" panose="02020603050405020304" pitchFamily="18" charset="0"/>
              <a:ea typeface="Calibri"/>
              <a:cs typeface="Times New Roman" panose="02020603050405020304" pitchFamily="18" charset="0"/>
              <a:sym typeface="Calibri"/>
            </a:endParaRPr>
          </a:p>
          <a:p>
            <a:pPr marL="361950" indent="-285750">
              <a:spcBef>
                <a:spcPts val="400"/>
              </a:spcBef>
              <a:buClr>
                <a:srgbClr val="06080A"/>
              </a:buClr>
              <a:buSzPts val="2000"/>
              <a:buFont typeface="Arial"/>
              <a:buChar char="•"/>
              <a:defRPr>
                <a:latin typeface="Ubuntu"/>
                <a:ea typeface="Ubuntu"/>
                <a:cs typeface="Ubuntu"/>
              </a:defRPr>
            </a:pPr>
            <a:r>
              <a:rPr lang="en-US" sz="2400" dirty="0">
                <a:solidFill>
                  <a:srgbClr val="06080A"/>
                </a:solidFill>
                <a:latin typeface="Ubuntu" panose="02020603050405020304" pitchFamily="18" charset="0"/>
                <a:ea typeface="Ubuntu"/>
                <a:cs typeface="Ubuntu" panose="02020603050405020304" pitchFamily="18" charset="0"/>
                <a:sym typeface="Calibri"/>
              </a:rPr>
              <a:t>Energy &amp; power development sectors</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361950" indent="-285750">
              <a:spcBef>
                <a:spcPts val="400"/>
              </a:spcBef>
              <a:buClr>
                <a:srgbClr val="06080A"/>
              </a:buClr>
              <a:buSzPts val="2000"/>
              <a:buFont typeface="Arial"/>
              <a:buChar char="•"/>
              <a:defRPr>
                <a:latin typeface="Ubuntu"/>
                <a:ea typeface="Ubuntu"/>
                <a:cs typeface="Ubuntu"/>
              </a:defRPr>
            </a:pPr>
            <a:r>
              <a:rPr lang="en-US" sz="2400" dirty="0">
                <a:solidFill>
                  <a:srgbClr val="06080A"/>
                </a:solidFill>
                <a:latin typeface="Ubuntu" panose="02020603050405020304" pitchFamily="18" charset="0"/>
                <a:ea typeface="Ubuntu"/>
                <a:cs typeface="Ubuntu" panose="02020603050405020304" pitchFamily="18" charset="0"/>
                <a:sym typeface="Calibri"/>
              </a:rPr>
              <a:t>Disaster &amp; preparedness ministries</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42" name="Google Shape;142;p4"/>
          <p:cNvSpPr txBox="1"/>
          <p:nvPr/>
        </p:nvSpPr>
        <p:spPr>
          <a:xfrm>
            <a:off x="4295800" y="176536"/>
            <a:ext cx="5503808" cy="625317"/>
          </a:xfrm>
          <a:prstGeom prst="rect">
            <a:avLst/>
          </a:prstGeom>
          <a:noFill/>
          <a:ln>
            <a:noFill/>
          </a:ln>
        </p:spPr>
        <p:txBody>
          <a:bodyPr spcFirstLastPara="1" wrap="square" lIns="91425" tIns="45700" rIns="91425" bIns="45700" anchor="t" anchorCtr="0">
            <a:noAutofit/>
          </a:bodyPr>
          <a:lstStyle/>
          <a:p>
            <a:pPr>
              <a:buClr>
                <a:srgbClr val="974806"/>
              </a:buClr>
              <a:buSzPts val="3200"/>
              <a:defRPr>
                <a:latin typeface="House Movements Runway"/>
                <a:ea typeface="House Movements Runway"/>
                <a:cs typeface="House Movements Runway"/>
              </a:defRPr>
            </a:pPr>
            <a:r>
              <a:rPr lang="en-US" sz="4800" b="1" dirty="0">
                <a:latin typeface="House Movements Runway"/>
                <a:ea typeface="House Movements Runway"/>
                <a:cs typeface="House Movements Runway"/>
                <a:sym typeface="Calibri"/>
              </a:rPr>
              <a:t>SF-WARD MISSION </a:t>
            </a:r>
            <a:endParaRPr sz="4800" dirty="0"/>
          </a:p>
        </p:txBody>
      </p:sp>
      <p:sp>
        <p:nvSpPr>
          <p:cNvPr id="143" name="Google Shape;143;p4"/>
          <p:cNvSpPr txBox="1"/>
          <p:nvPr/>
        </p:nvSpPr>
        <p:spPr>
          <a:xfrm>
            <a:off x="8365232" y="6570062"/>
            <a:ext cx="3582144" cy="276999"/>
          </a:xfrm>
          <a:prstGeom prst="rect">
            <a:avLst/>
          </a:prstGeom>
          <a:noFill/>
          <a:ln>
            <a:noFill/>
          </a:ln>
        </p:spPr>
        <p:txBody>
          <a:bodyPr spcFirstLastPara="1" wrap="square" lIns="91425" tIns="45700" rIns="91425" bIns="45700" anchor="t" anchorCtr="0">
            <a:spAutoFit/>
          </a:bodyPr>
          <a:lstStyle/>
          <a:p>
            <a:pPr>
              <a:defRPr>
                <a:latin typeface="Ubuntu"/>
                <a:ea typeface="Ubuntu"/>
                <a:cs typeface="Ubuntu"/>
              </a:defRPr>
            </a:pPr>
            <a:r>
              <a:rPr lang="en-US" sz="1200" i="1">
                <a:solidFill>
                  <a:schemeClr val="dk1"/>
                </a:solidFill>
                <a:latin typeface="Ubuntu"/>
                <a:ea typeface="Ubuntu"/>
                <a:cs typeface="Ubuntu"/>
                <a:sym typeface="Calibri"/>
              </a:rPr>
              <a:t>https://www.bbc.com/news/world-africa-45836381</a:t>
            </a:r>
            <a:endParaRPr/>
          </a:p>
        </p:txBody>
      </p:sp>
      <p:sp>
        <p:nvSpPr>
          <p:cNvPr id="3" name="Slide Number Placeholder 7">
            <a:extLst>
              <a:ext uri="{FF2B5EF4-FFF2-40B4-BE49-F238E27FC236}">
                <a16:creationId xmlns:a16="http://schemas.microsoft.com/office/drawing/2014/main" id="{C3595244-57ED-F72E-6AC6-420B9FB5CF44}"/>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37</a:t>
            </a:fld>
            <a:endParaRPr lang="en-US" sz="4800" b="1" dirty="0">
              <a:solidFill>
                <a:srgbClr val="FF0000"/>
              </a:solidFill>
            </a:endParaRPr>
          </a:p>
        </p:txBody>
      </p:sp>
      <p:pic>
        <p:nvPicPr>
          <p:cNvPr id="144" name="Space Faculty logo" descr="sf_logo.png"/>
          <p:cNvPicPr>
            <a:picLocks noChangeAspect="1"/>
          </p:cNvPicPr>
          <p:nvPr/>
        </p:nvPicPr>
        <p:blipFill>
          <a:blip r:embed="rId6"/>
          <a:stretch>
            <a:fillRect/>
          </a:stretch>
        </p:blipFill>
        <p:spPr>
          <a:xfrm>
            <a:off x="10178856" y="54863"/>
            <a:ext cx="1900367" cy="54004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
          <p:cNvSpPr txBox="1">
            <a:spLocks noGrp="1"/>
          </p:cNvSpPr>
          <p:nvPr>
            <p:ph type="body" idx="1"/>
          </p:nvPr>
        </p:nvSpPr>
        <p:spPr>
          <a:xfrm>
            <a:off x="332704" y="1409291"/>
            <a:ext cx="5610896" cy="625317"/>
          </a:xfrm>
          <a:prstGeom prst="rect">
            <a:avLst/>
          </a:prstGeom>
          <a:noFill/>
          <a:ln>
            <a:noFill/>
          </a:ln>
        </p:spPr>
        <p:txBody>
          <a:bodyPr spcFirstLastPara="1" wrap="square" lIns="91425" tIns="45700" rIns="91425" bIns="45700" anchor="t" anchorCtr="0">
            <a:noAutofit/>
          </a:bodyPr>
          <a:lstStyle/>
          <a:p>
            <a:pPr marL="0" indent="0" rtl="0">
              <a:spcBef>
                <a:spcPts val="0"/>
              </a:spcBef>
              <a:buSzPts val="3200"/>
              <a:buNone/>
              <a:defRPr>
                <a:latin typeface="Ubuntu"/>
                <a:ea typeface="Ubuntu"/>
                <a:cs typeface="Ubuntu"/>
              </a:defRPr>
            </a:pPr>
            <a:r>
              <a:rPr lang="en-US" sz="3200" b="1" u="sng" dirty="0">
                <a:latin typeface="Ubuntu" panose="02020603050405020304" pitchFamily="18" charset="0"/>
                <a:cs typeface="Ubuntu" panose="02020603050405020304" pitchFamily="18" charset="0"/>
              </a:rPr>
              <a:t>Mission Background:</a:t>
            </a:r>
            <a:endParaRPr sz="3200" dirty="0">
              <a:latin typeface="Times New Roman" panose="02020603050405020304" pitchFamily="18" charset="0"/>
              <a:cs typeface="Times New Roman" panose="02020603050405020304" pitchFamily="18" charset="0"/>
            </a:endParaRPr>
          </a:p>
        </p:txBody>
      </p:sp>
      <p:sp>
        <p:nvSpPr>
          <p:cNvPr id="118" name="Google Shape;118;p2"/>
          <p:cNvSpPr txBox="1"/>
          <p:nvPr/>
        </p:nvSpPr>
        <p:spPr>
          <a:xfrm>
            <a:off x="162987" y="2155414"/>
            <a:ext cx="9141297" cy="1077178"/>
          </a:xfrm>
          <a:prstGeom prst="rect">
            <a:avLst/>
          </a:prstGeom>
          <a:noFill/>
          <a:ln>
            <a:noFill/>
          </a:ln>
        </p:spPr>
        <p:txBody>
          <a:bodyPr spcFirstLastPara="1" wrap="square" lIns="91425" tIns="45700" rIns="91425" bIns="45700" anchor="t" anchorCtr="0">
            <a:spAutoFit/>
          </a:bodyPr>
          <a:lstStyle/>
          <a:p>
            <a:pPr marL="285750" indent="-285750">
              <a:buClr>
                <a:schemeClr val="dk1"/>
              </a:buClr>
              <a:buSzPts val="3200"/>
              <a:buFont typeface="Arial"/>
              <a:buChar char="•"/>
              <a:defRPr>
                <a:latin typeface="Ubuntu"/>
                <a:ea typeface="Ubuntu"/>
                <a:cs typeface="Ubuntu"/>
              </a:defRPr>
            </a:pPr>
            <a:r>
              <a:rPr lang="en-US" sz="3200" dirty="0">
                <a:solidFill>
                  <a:schemeClr val="dk1"/>
                </a:solidFill>
                <a:latin typeface="Ubuntu" panose="02020603050405020304" pitchFamily="18" charset="0"/>
                <a:ea typeface="Ubuntu"/>
                <a:cs typeface="Ubuntu" panose="02020603050405020304" pitchFamily="18" charset="0"/>
                <a:sym typeface="Calibri"/>
              </a:rPr>
              <a:t>APRS – </a:t>
            </a:r>
            <a:r>
              <a:rPr lang="en-US" sz="3200" b="1" dirty="0">
                <a:solidFill>
                  <a:srgbClr val="FF0000"/>
                </a:solidFill>
                <a:latin typeface="Ubuntu" panose="02020603050405020304" pitchFamily="18" charset="0"/>
                <a:ea typeface="Ubuntu"/>
                <a:cs typeface="Ubuntu" panose="02020603050405020304" pitchFamily="18" charset="0"/>
                <a:sym typeface="Calibri"/>
              </a:rPr>
              <a:t>A</a:t>
            </a:r>
            <a:r>
              <a:rPr lang="en-US" sz="3200" dirty="0">
                <a:solidFill>
                  <a:schemeClr val="dk1"/>
                </a:solidFill>
                <a:latin typeface="Ubuntu" panose="02020603050405020304" pitchFamily="18" charset="0"/>
                <a:ea typeface="Ubuntu"/>
                <a:cs typeface="Ubuntu" panose="02020603050405020304" pitchFamily="18" charset="0"/>
                <a:sym typeface="Calibri"/>
              </a:rPr>
              <a:t>utomatic </a:t>
            </a:r>
            <a:r>
              <a:rPr lang="en-US" sz="3200" b="1" dirty="0">
                <a:solidFill>
                  <a:srgbClr val="FF0000"/>
                </a:solidFill>
                <a:latin typeface="Ubuntu" panose="02020603050405020304" pitchFamily="18" charset="0"/>
                <a:ea typeface="Ubuntu"/>
                <a:cs typeface="Ubuntu" panose="02020603050405020304" pitchFamily="18" charset="0"/>
                <a:sym typeface="Calibri"/>
              </a:rPr>
              <a:t>P</a:t>
            </a:r>
            <a:r>
              <a:rPr lang="en-US" sz="3200" dirty="0">
                <a:solidFill>
                  <a:schemeClr val="dk1"/>
                </a:solidFill>
                <a:latin typeface="Ubuntu" panose="02020603050405020304" pitchFamily="18" charset="0"/>
                <a:ea typeface="Ubuntu"/>
                <a:cs typeface="Ubuntu" panose="02020603050405020304" pitchFamily="18" charset="0"/>
                <a:sym typeface="Calibri"/>
              </a:rPr>
              <a:t>acket </a:t>
            </a:r>
            <a:r>
              <a:rPr lang="en-US" sz="3200" b="1" dirty="0">
                <a:solidFill>
                  <a:srgbClr val="FF0000"/>
                </a:solidFill>
                <a:latin typeface="Ubuntu" panose="02020603050405020304" pitchFamily="18" charset="0"/>
                <a:ea typeface="Ubuntu"/>
                <a:cs typeface="Ubuntu" panose="02020603050405020304" pitchFamily="18" charset="0"/>
                <a:sym typeface="Calibri"/>
              </a:rPr>
              <a:t>R</a:t>
            </a:r>
            <a:r>
              <a:rPr lang="en-US" sz="3200" dirty="0">
                <a:solidFill>
                  <a:schemeClr val="dk1"/>
                </a:solidFill>
                <a:latin typeface="Ubuntu" panose="02020603050405020304" pitchFamily="18" charset="0"/>
                <a:ea typeface="Ubuntu"/>
                <a:cs typeface="Ubuntu" panose="02020603050405020304" pitchFamily="18" charset="0"/>
                <a:sym typeface="Calibri"/>
              </a:rPr>
              <a:t>eporting </a:t>
            </a:r>
            <a:r>
              <a:rPr lang="en-US" sz="3200" b="1" dirty="0">
                <a:solidFill>
                  <a:srgbClr val="FF0000"/>
                </a:solidFill>
                <a:latin typeface="Ubuntu" panose="02020603050405020304" pitchFamily="18" charset="0"/>
                <a:ea typeface="Ubuntu"/>
                <a:cs typeface="Ubuntu" panose="02020603050405020304" pitchFamily="18" charset="0"/>
                <a:sym typeface="Calibri"/>
              </a:rPr>
              <a:t>S</a:t>
            </a:r>
            <a:r>
              <a:rPr lang="en-US" sz="3200" dirty="0">
                <a:solidFill>
                  <a:schemeClr val="dk1"/>
                </a:solidFill>
                <a:latin typeface="Ubuntu" panose="02020603050405020304" pitchFamily="18" charset="0"/>
                <a:ea typeface="Ubuntu"/>
                <a:cs typeface="Ubuntu" panose="02020603050405020304" pitchFamily="18" charset="0"/>
                <a:sym typeface="Calibri"/>
              </a:rPr>
              <a:t>ystem</a:t>
            </a:r>
            <a:endParaRPr dirty="0">
              <a:latin typeface="Times New Roman" panose="02020603050405020304" pitchFamily="18" charset="0"/>
              <a:cs typeface="Times New Roman" panose="02020603050405020304" pitchFamily="18" charset="0"/>
            </a:endParaRPr>
          </a:p>
          <a:p>
            <a:pPr marL="285750" indent="-285750">
              <a:buClr>
                <a:schemeClr val="dk1"/>
              </a:buClr>
              <a:buSzPts val="3200"/>
              <a:buFont typeface="Arial"/>
              <a:buChar char="•"/>
              <a:defRPr>
                <a:latin typeface="Ubuntu"/>
                <a:ea typeface="Ubuntu"/>
                <a:cs typeface="Ubuntu"/>
              </a:defRPr>
            </a:pPr>
            <a:r>
              <a:rPr lang="en-US" sz="3200" dirty="0">
                <a:solidFill>
                  <a:schemeClr val="dk1"/>
                </a:solidFill>
                <a:latin typeface="Ubuntu" panose="02020603050405020304" pitchFamily="18" charset="0"/>
                <a:ea typeface="Ubuntu"/>
                <a:cs typeface="Ubuntu" panose="02020603050405020304" pitchFamily="18" charset="0"/>
                <a:sym typeface="Calibri"/>
              </a:rPr>
              <a:t>DP - </a:t>
            </a:r>
            <a:r>
              <a:rPr lang="en-US" sz="3200" b="1" dirty="0">
                <a:solidFill>
                  <a:srgbClr val="FF0000"/>
                </a:solidFill>
                <a:latin typeface="Ubuntu" panose="02020603050405020304" pitchFamily="18" charset="0"/>
                <a:ea typeface="Ubuntu"/>
                <a:cs typeface="Ubuntu" panose="02020603050405020304" pitchFamily="18" charset="0"/>
                <a:sym typeface="Calibri"/>
              </a:rPr>
              <a:t>D</a:t>
            </a:r>
            <a:r>
              <a:rPr lang="en-US" sz="3200" dirty="0">
                <a:solidFill>
                  <a:schemeClr val="dk1"/>
                </a:solidFill>
                <a:latin typeface="Ubuntu" panose="02020603050405020304" pitchFamily="18" charset="0"/>
                <a:ea typeface="Ubuntu"/>
                <a:cs typeface="Ubuntu" panose="02020603050405020304" pitchFamily="18" charset="0"/>
                <a:sym typeface="Calibri"/>
              </a:rPr>
              <a:t>igi</a:t>
            </a:r>
            <a:r>
              <a:rPr lang="en-US" sz="3200" b="1" dirty="0">
                <a:solidFill>
                  <a:srgbClr val="FF0000"/>
                </a:solidFill>
                <a:latin typeface="Ubuntu" panose="02020603050405020304" pitchFamily="18" charset="0"/>
                <a:ea typeface="Ubuntu"/>
                <a:cs typeface="Ubuntu" panose="02020603050405020304" pitchFamily="18" charset="0"/>
                <a:sym typeface="Calibri"/>
              </a:rPr>
              <a:t>p</a:t>
            </a:r>
            <a:r>
              <a:rPr lang="en-US" sz="3200" dirty="0">
                <a:solidFill>
                  <a:schemeClr val="dk1"/>
                </a:solidFill>
                <a:latin typeface="Ubuntu" panose="02020603050405020304" pitchFamily="18" charset="0"/>
                <a:ea typeface="Ubuntu"/>
                <a:cs typeface="Ubuntu" panose="02020603050405020304" pitchFamily="18" charset="0"/>
                <a:sym typeface="Calibri"/>
              </a:rPr>
              <a:t>eater</a:t>
            </a:r>
            <a:endParaRPr dirty="0">
              <a:latin typeface="Times New Roman" panose="02020603050405020304" pitchFamily="18" charset="0"/>
              <a:cs typeface="Times New Roman" panose="02020603050405020304" pitchFamily="18" charset="0"/>
            </a:endParaRPr>
          </a:p>
        </p:txBody>
      </p:sp>
      <p:sp>
        <p:nvSpPr>
          <p:cNvPr id="119" name="Google Shape;119;p2"/>
          <p:cNvSpPr txBox="1"/>
          <p:nvPr/>
        </p:nvSpPr>
        <p:spPr>
          <a:xfrm>
            <a:off x="147221" y="4005305"/>
            <a:ext cx="7363495" cy="3108503"/>
          </a:xfrm>
          <a:prstGeom prst="rect">
            <a:avLst/>
          </a:prstGeom>
          <a:noFill/>
          <a:ln>
            <a:noFill/>
          </a:ln>
        </p:spPr>
        <p:txBody>
          <a:bodyPr spcFirstLastPara="1" wrap="square" lIns="91425" tIns="45700" rIns="91425" bIns="45700" anchor="t" anchorCtr="0">
            <a:spAutoFit/>
          </a:bodyPr>
          <a:lstStyle/>
          <a:p>
            <a:pPr>
              <a:defRPr>
                <a:latin typeface="Ubuntu"/>
                <a:ea typeface="Ubuntu"/>
                <a:cs typeface="Ubuntu"/>
              </a:defRPr>
            </a:pPr>
            <a:r>
              <a:rPr lang="en-US" sz="2800" dirty="0">
                <a:solidFill>
                  <a:schemeClr val="dk1"/>
                </a:solidFill>
                <a:latin typeface="Ubuntu" panose="02020603050405020304" pitchFamily="18" charset="0"/>
                <a:ea typeface="Ubuntu"/>
                <a:cs typeface="Ubuntu" panose="02020603050405020304" pitchFamily="18" charset="0"/>
                <a:sym typeface="Calibri"/>
              </a:rPr>
              <a:t>APRS Functions in Amateur Radio Service</a:t>
            </a:r>
            <a:endParaRPr sz="2800"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indent="-285750">
              <a:lnSpc>
                <a:spcPct val="150000"/>
              </a:lnSpc>
              <a:buClr>
                <a:schemeClr val="dk1"/>
              </a:buClr>
              <a:buSzPts val="2400"/>
              <a:buFont typeface="Arial"/>
              <a:buChar char="•"/>
              <a:defRPr>
                <a:latin typeface="Ubuntu"/>
                <a:ea typeface="Ubuntu"/>
                <a:cs typeface="Ubuntu"/>
              </a:defRPr>
            </a:pPr>
            <a:r>
              <a:rPr lang="en-US" sz="2800" dirty="0">
                <a:solidFill>
                  <a:schemeClr val="dk1"/>
                </a:solidFill>
                <a:latin typeface="Ubuntu" panose="02020603050405020304" pitchFamily="18" charset="0"/>
                <a:ea typeface="Ubuntu"/>
                <a:cs typeface="Ubuntu" panose="02020603050405020304" pitchFamily="18" charset="0"/>
                <a:sym typeface="Calibri"/>
              </a:rPr>
              <a:t>Emergency Disaster Mitigation</a:t>
            </a:r>
            <a:endParaRPr sz="2800" dirty="0">
              <a:latin typeface="Times New Roman" panose="02020603050405020304" pitchFamily="18" charset="0"/>
              <a:cs typeface="Times New Roman" panose="02020603050405020304" pitchFamily="18" charset="0"/>
            </a:endParaRPr>
          </a:p>
          <a:p>
            <a:pPr marL="285750" indent="-285750">
              <a:lnSpc>
                <a:spcPct val="150000"/>
              </a:lnSpc>
              <a:buClr>
                <a:schemeClr val="dk1"/>
              </a:buClr>
              <a:buSzPts val="2400"/>
              <a:buFont typeface="Arial"/>
              <a:buChar char="•"/>
              <a:defRPr>
                <a:latin typeface="Ubuntu"/>
                <a:ea typeface="Ubuntu"/>
                <a:cs typeface="Ubuntu"/>
              </a:defRPr>
            </a:pPr>
            <a:r>
              <a:rPr lang="en-US" sz="2800" dirty="0">
                <a:solidFill>
                  <a:schemeClr val="dk1"/>
                </a:solidFill>
                <a:latin typeface="Ubuntu" panose="02020603050405020304" pitchFamily="18" charset="0"/>
                <a:ea typeface="Ubuntu"/>
                <a:cs typeface="Ubuntu" panose="02020603050405020304" pitchFamily="18" charset="0"/>
                <a:sym typeface="Calibri"/>
              </a:rPr>
              <a:t>Rescue and Relief operation </a:t>
            </a:r>
            <a:endParaRPr sz="2800" dirty="0">
              <a:latin typeface="Times New Roman" panose="02020603050405020304" pitchFamily="18" charset="0"/>
              <a:cs typeface="Times New Roman" panose="02020603050405020304" pitchFamily="18" charset="0"/>
            </a:endParaRPr>
          </a:p>
          <a:p>
            <a:pPr marL="285750" indent="-285750">
              <a:buClr>
                <a:schemeClr val="dk1"/>
              </a:buClr>
              <a:buSzPts val="2400"/>
              <a:buFont typeface="Arial"/>
              <a:buChar char="•"/>
              <a:defRPr>
                <a:latin typeface="Ubuntu"/>
                <a:ea typeface="Ubuntu"/>
                <a:cs typeface="Ubuntu"/>
              </a:defRPr>
            </a:pPr>
            <a:r>
              <a:rPr lang="en-US" sz="2800" dirty="0">
                <a:solidFill>
                  <a:schemeClr val="dk1"/>
                </a:solidFill>
                <a:latin typeface="Ubuntu" panose="02020603050405020304" pitchFamily="18" charset="0"/>
                <a:ea typeface="Ubuntu"/>
                <a:cs typeface="Ubuntu" panose="02020603050405020304" pitchFamily="18" charset="0"/>
                <a:sym typeface="Calibri"/>
              </a:rPr>
              <a:t>Learning &amp; contribution to the Amateur Radio Community</a:t>
            </a:r>
            <a:endParaRPr sz="2800" dirty="0">
              <a:latin typeface="Times New Roman" panose="02020603050405020304" pitchFamily="18" charset="0"/>
              <a:cs typeface="Times New Roman" panose="02020603050405020304" pitchFamily="18" charset="0"/>
            </a:endParaRPr>
          </a:p>
          <a:p>
            <a:pPr>
              <a:defRPr>
                <a:latin typeface="Ubuntu"/>
                <a:ea typeface="Ubuntu"/>
                <a:cs typeface="Ubuntu"/>
              </a:defRPr>
            </a:pPr>
            <a:endParaRPr sz="2800" dirty="0">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20" name="Google Shape;120;p2"/>
          <p:cNvPicPr preferRelativeResize="0"/>
          <p:nvPr/>
        </p:nvPicPr>
        <p:blipFill rotWithShape="1">
          <a:blip r:embed="rId3">
            <a:alphaModFix/>
          </a:blip>
          <a:srcRect/>
          <a:stretch/>
        </p:blipFill>
        <p:spPr>
          <a:xfrm>
            <a:off x="7155547" y="2778418"/>
            <a:ext cx="4904998" cy="4007671"/>
          </a:xfrm>
          <a:prstGeom prst="rect">
            <a:avLst/>
          </a:prstGeom>
          <a:noFill/>
          <a:ln>
            <a:noFill/>
          </a:ln>
        </p:spPr>
      </p:pic>
      <p:sp>
        <p:nvSpPr>
          <p:cNvPr id="121" name="Google Shape;121;p2"/>
          <p:cNvSpPr txBox="1"/>
          <p:nvPr/>
        </p:nvSpPr>
        <p:spPr>
          <a:xfrm>
            <a:off x="4791567" y="259529"/>
            <a:ext cx="2608867" cy="901814"/>
          </a:xfrm>
          <a:prstGeom prst="rect">
            <a:avLst/>
          </a:prstGeom>
          <a:noFill/>
          <a:ln>
            <a:noFill/>
          </a:ln>
        </p:spPr>
        <p:txBody>
          <a:bodyPr spcFirstLastPara="1" wrap="square" lIns="91425" tIns="45700" rIns="91425" bIns="45700" anchor="t" anchorCtr="0">
            <a:normAutofit/>
          </a:bodyPr>
          <a:lstStyle/>
          <a:p>
            <a:pPr>
              <a:buClr>
                <a:srgbClr val="974806"/>
              </a:buClr>
              <a:buSzPts val="4000"/>
              <a:defRPr>
                <a:latin typeface="House Movements Runway"/>
                <a:ea typeface="House Movements Runway"/>
                <a:cs typeface="House Movements Runway"/>
              </a:defRPr>
            </a:pPr>
            <a:r>
              <a:rPr lang="en-US" sz="4800" b="1" dirty="0">
                <a:latin typeface="House Movements Runway"/>
                <a:ea typeface="House Movements Runway"/>
                <a:cs typeface="House Movements Runway"/>
                <a:sym typeface="Calibri"/>
              </a:rPr>
              <a:t>APRS-DP</a:t>
            </a:r>
            <a:endParaRPr sz="4800" dirty="0"/>
          </a:p>
        </p:txBody>
      </p:sp>
      <p:sp>
        <p:nvSpPr>
          <p:cNvPr id="3" name="Slide Number Placeholder 7">
            <a:extLst>
              <a:ext uri="{FF2B5EF4-FFF2-40B4-BE49-F238E27FC236}">
                <a16:creationId xmlns:a16="http://schemas.microsoft.com/office/drawing/2014/main" id="{502CF400-84F0-CEF8-43E9-8D6696658A65}"/>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38</a:t>
            </a:fld>
            <a:endParaRPr lang="en-US" sz="4800" b="1" dirty="0">
              <a:solidFill>
                <a:srgbClr val="FF0000"/>
              </a:solidFill>
            </a:endParaRPr>
          </a:p>
        </p:txBody>
      </p:sp>
      <p:pic>
        <p:nvPicPr>
          <p:cNvPr id="122" name="Space Faculty logo" descr="sf_logo.png"/>
          <p:cNvPicPr>
            <a:picLocks noChangeAspect="1"/>
          </p:cNvPicPr>
          <p:nvPr/>
        </p:nvPicPr>
        <p:blipFill>
          <a:blip r:embed="rId4"/>
          <a:stretch>
            <a:fillRect/>
          </a:stretch>
        </p:blipFill>
        <p:spPr>
          <a:xfrm>
            <a:off x="10217624" y="54864"/>
            <a:ext cx="1861600" cy="52903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45EDD1-A8F6-6275-A264-15366A95E3C1}"/>
              </a:ext>
            </a:extLst>
          </p:cNvPr>
          <p:cNvSpPr>
            <a:spLocks noGrp="1"/>
          </p:cNvSpPr>
          <p:nvPr>
            <p:ph type="ctrTitle"/>
          </p:nvPr>
        </p:nvSpPr>
        <p:spPr>
          <a:xfrm>
            <a:off x="2894162" y="2389218"/>
            <a:ext cx="7772400" cy="1470025"/>
          </a:xfrm>
        </p:spPr>
        <p:txBody>
          <a:bodyPr>
            <a:noAutofit/>
          </a:bodyPr>
          <a:lstStyle/>
          <a:p>
            <a:pPr>
              <a:defRPr>
                <a:latin typeface="House Movements Runway"/>
                <a:ea typeface="House Movements Runway"/>
                <a:cs typeface="House Movements Runway"/>
              </a:defRPr>
            </a:pPr>
            <a:r>
              <a:rPr lang="en-US" sz="5400" b="1" dirty="0">
                <a:latin typeface="House Movements Runway"/>
                <a:ea typeface="House Movements Runway"/>
                <a:cs typeface="House Movements Runway"/>
              </a:rPr>
              <a:t>Navigation &amp; Timing Payloads</a:t>
            </a:r>
          </a:p>
        </p:txBody>
      </p:sp>
      <p:sp>
        <p:nvSpPr>
          <p:cNvPr id="3" name="Slide Number Placeholder 7">
            <a:extLst>
              <a:ext uri="{FF2B5EF4-FFF2-40B4-BE49-F238E27FC236}">
                <a16:creationId xmlns:a16="http://schemas.microsoft.com/office/drawing/2014/main" id="{03E73112-E06B-768F-3DDA-24F066573CC6}"/>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39</a:t>
            </a:fld>
            <a:endParaRPr lang="en-US" sz="4800" b="1" dirty="0">
              <a:solidFill>
                <a:srgbClr val="FF0000"/>
              </a:solidFill>
            </a:endParaRPr>
          </a:p>
        </p:txBody>
      </p:sp>
      <p:pic>
        <p:nvPicPr>
          <p:cNvPr id="5" name="Space Faculty logo" descr="sf_logo.png"/>
          <p:cNvPicPr>
            <a:picLocks noChangeAspect="1"/>
          </p:cNvPicPr>
          <p:nvPr/>
        </p:nvPicPr>
        <p:blipFill>
          <a:blip r:embed="rId2"/>
          <a:stretch>
            <a:fillRect/>
          </a:stretch>
        </p:blipFill>
        <p:spPr>
          <a:xfrm>
            <a:off x="10178856" y="54863"/>
            <a:ext cx="1900367" cy="540047"/>
          </a:xfrm>
          <a:prstGeom prst="rect">
            <a:avLst/>
          </a:prstGeom>
        </p:spPr>
      </p:pic>
    </p:spTree>
    <p:extLst>
      <p:ext uri="{BB962C8B-B14F-4D97-AF65-F5344CB8AC3E}">
        <p14:creationId xmlns:p14="http://schemas.microsoft.com/office/powerpoint/2010/main" val="39985481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2D58FF-0EEC-9EF1-053B-A5B9F1168C5F}"/>
              </a:ext>
            </a:extLst>
          </p:cNvPr>
          <p:cNvSpPr>
            <a:spLocks noGrp="1"/>
          </p:cNvSpPr>
          <p:nvPr>
            <p:ph type="body" idx="1"/>
          </p:nvPr>
        </p:nvSpPr>
        <p:spPr>
          <a:xfrm>
            <a:off x="87977" y="680699"/>
            <a:ext cx="4018198" cy="5691346"/>
          </a:xfrm>
        </p:spPr>
        <p:txBody>
          <a:bodyPr>
            <a:normAutofit fontScale="85000" lnSpcReduction="20000"/>
          </a:bodyPr>
          <a:lstStyle/>
          <a:p>
            <a:pPr marL="50800" indent="0">
              <a:buNone/>
              <a:defRPr>
                <a:latin typeface="Ubuntu"/>
                <a:ea typeface="Ubuntu"/>
                <a:cs typeface="Ubuntu"/>
              </a:defRPr>
            </a:pPr>
            <a:r>
              <a:rPr lang="en-US" dirty="0">
                <a:latin typeface="Ubuntu"/>
                <a:ea typeface="Ubuntu"/>
                <a:cs typeface="Ubuntu"/>
              </a:rPr>
              <a:t>Provide precise time and positioning coordinates across global positioning systems (GPS, Galileo, BeiDou, GLONASS).</a:t>
            </a:r>
          </a:p>
          <a:p>
            <a:pPr lvl="0">
              <a:defRPr>
                <a:latin typeface="Ubuntu"/>
                <a:ea typeface="Ubuntu"/>
                <a:cs typeface="Ubuntu"/>
              </a:defRPr>
            </a:pPr>
            <a:r>
              <a:rPr lang="en-US" b="1" dirty="0">
                <a:solidFill>
                  <a:srgbClr val="FF0000"/>
                </a:solidFill>
                <a:latin typeface="Ubuntu"/>
                <a:ea typeface="Ubuntu"/>
                <a:cs typeface="Ubuntu"/>
              </a:rPr>
              <a:t>Atomic Clocks (Rubidium / Hydrogen Maser)</a:t>
            </a:r>
            <a:r>
              <a:rPr lang="en-US" b="1" dirty="0">
                <a:latin typeface="Ubuntu"/>
                <a:ea typeface="Ubuntu"/>
                <a:cs typeface="Ubuntu"/>
              </a:rPr>
              <a:t>:</a:t>
            </a:r>
            <a:r>
              <a:rPr lang="en-US" dirty="0">
                <a:latin typeface="Ubuntu"/>
                <a:ea typeface="Ubuntu"/>
                <a:cs typeface="Ubuntu"/>
              </a:rPr>
              <a:t> Ultra-precise timing sources required to calculate time-of-flight positioning with nanosecond accuracy.</a:t>
            </a:r>
          </a:p>
          <a:p>
            <a:pPr lvl="0">
              <a:defRPr>
                <a:latin typeface="Ubuntu"/>
                <a:ea typeface="Ubuntu"/>
                <a:cs typeface="Ubuntu"/>
              </a:defRPr>
            </a:pPr>
            <a:r>
              <a:rPr lang="en-US" b="1" dirty="0">
                <a:solidFill>
                  <a:srgbClr val="FF0000"/>
                </a:solidFill>
                <a:latin typeface="Ubuntu"/>
                <a:ea typeface="Ubuntu"/>
                <a:cs typeface="Ubuntu"/>
              </a:rPr>
              <a:t>GNSS Signal Transmitters</a:t>
            </a:r>
            <a:r>
              <a:rPr lang="en-US" b="1" dirty="0">
                <a:latin typeface="Ubuntu"/>
                <a:ea typeface="Ubuntu"/>
                <a:cs typeface="Ubuntu"/>
              </a:rPr>
              <a:t>:</a:t>
            </a:r>
            <a:r>
              <a:rPr lang="en-US" dirty="0">
                <a:latin typeface="Ubuntu"/>
                <a:ea typeface="Ubuntu"/>
                <a:cs typeface="Ubuntu"/>
              </a:rPr>
              <a:t> Dual-band navigation signal generators transmitting L-band navigation frames.</a:t>
            </a:r>
          </a:p>
          <a:p>
            <a:pPr>
              <a:defRPr>
                <a:latin typeface="Ubuntu"/>
                <a:ea typeface="Ubuntu"/>
                <a:cs typeface="Ubuntu"/>
              </a:defRPr>
            </a:pPr>
            <a:endParaRPr lang="en-US" dirty="0"/>
          </a:p>
        </p:txBody>
      </p:sp>
      <p:sp>
        <p:nvSpPr>
          <p:cNvPr id="3" name="Title 2">
            <a:extLst>
              <a:ext uri="{FF2B5EF4-FFF2-40B4-BE49-F238E27FC236}">
                <a16:creationId xmlns:a16="http://schemas.microsoft.com/office/drawing/2014/main" id="{535099DB-EA43-07D2-C9F8-99D3FC9CCAF6}"/>
              </a:ext>
            </a:extLst>
          </p:cNvPr>
          <p:cNvSpPr>
            <a:spLocks noGrp="1"/>
          </p:cNvSpPr>
          <p:nvPr>
            <p:ph type="title"/>
          </p:nvPr>
        </p:nvSpPr>
        <p:spPr/>
        <p:txBody>
          <a:bodyPr>
            <a:normAutofit/>
          </a:bodyPr>
          <a:lstStyle/>
          <a:p>
            <a:pPr>
              <a:defRPr>
                <a:latin typeface="House Movements Runway"/>
                <a:ea typeface="House Movements Runway"/>
                <a:cs typeface="House Movements Runway"/>
              </a:defRPr>
            </a:pPr>
            <a:r>
              <a:rPr lang="en-US" sz="4400" b="1" dirty="0">
                <a:latin typeface="House Movements Runway"/>
                <a:ea typeface="House Movements Runway"/>
                <a:cs typeface="House Movements Runway"/>
              </a:rPr>
              <a:t>Navigation &amp; Timing Payloads</a:t>
            </a:r>
          </a:p>
        </p:txBody>
      </p:sp>
      <p:pic>
        <p:nvPicPr>
          <p:cNvPr id="5" name="Picture 4" descr="The image illustrates a 3D representation of how GPS works, showing four GPS satellites (S1-S4) transmitting signals to a user's location, depicted by the intersection of their spheres.&#10;&#10;AI-generated content may be incorrect.">
            <a:extLst>
              <a:ext uri="{FF2B5EF4-FFF2-40B4-BE49-F238E27FC236}">
                <a16:creationId xmlns:a16="http://schemas.microsoft.com/office/drawing/2014/main" id="{D8409031-7FF2-CD4C-B315-9AD5F09A8A21}"/>
              </a:ext>
            </a:extLst>
          </p:cNvPr>
          <p:cNvPicPr>
            <a:picLocks noChangeAspect="1"/>
          </p:cNvPicPr>
          <p:nvPr/>
        </p:nvPicPr>
        <p:blipFill>
          <a:blip r:embed="rId2"/>
          <a:srcRect l="13325" r="1830"/>
          <a:stretch>
            <a:fillRect/>
          </a:stretch>
        </p:blipFill>
        <p:spPr>
          <a:xfrm>
            <a:off x="4207535" y="982275"/>
            <a:ext cx="4930794" cy="2861883"/>
          </a:xfrm>
          <a:prstGeom prst="rect">
            <a:avLst/>
          </a:prstGeom>
        </p:spPr>
      </p:pic>
      <p:pic>
        <p:nvPicPr>
          <p:cNvPr id="7" name="Picture 6" descr="The image depicts a complex scientific instrument, possibly for advanced imaging or measurement, featuring components such as a camera (EYE), various labeled parts (J02, JO3), and a specific sensor model (MFR AD810).&#10;&#10;AI-generated content may be incorrect.">
            <a:extLst>
              <a:ext uri="{FF2B5EF4-FFF2-40B4-BE49-F238E27FC236}">
                <a16:creationId xmlns:a16="http://schemas.microsoft.com/office/drawing/2014/main" id="{1A609E34-A1B5-CCEF-297E-650E60D9C968}"/>
              </a:ext>
            </a:extLst>
          </p:cNvPr>
          <p:cNvPicPr>
            <a:picLocks noChangeAspect="1"/>
          </p:cNvPicPr>
          <p:nvPr/>
        </p:nvPicPr>
        <p:blipFill>
          <a:blip r:embed="rId3"/>
          <a:stretch>
            <a:fillRect/>
          </a:stretch>
        </p:blipFill>
        <p:spPr>
          <a:xfrm>
            <a:off x="4207535" y="3872728"/>
            <a:ext cx="3502208" cy="2338453"/>
          </a:xfrm>
          <a:prstGeom prst="rect">
            <a:avLst/>
          </a:prstGeom>
        </p:spPr>
      </p:pic>
      <p:sp>
        <p:nvSpPr>
          <p:cNvPr id="9" name="TextBox 8">
            <a:extLst>
              <a:ext uri="{FF2B5EF4-FFF2-40B4-BE49-F238E27FC236}">
                <a16:creationId xmlns:a16="http://schemas.microsoft.com/office/drawing/2014/main" id="{0C874B4A-6CE3-F181-4414-F0503CE1C97C}"/>
              </a:ext>
            </a:extLst>
          </p:cNvPr>
          <p:cNvSpPr txBox="1"/>
          <p:nvPr/>
        </p:nvSpPr>
        <p:spPr>
          <a:xfrm>
            <a:off x="4256275" y="6255413"/>
            <a:ext cx="3679450" cy="584775"/>
          </a:xfrm>
          <a:prstGeom prst="rect">
            <a:avLst/>
          </a:prstGeom>
          <a:noFill/>
        </p:spPr>
        <p:txBody>
          <a:bodyPr wrap="square">
            <a:spAutoFit/>
          </a:bodyPr>
          <a:lstStyle/>
          <a:p>
            <a:pPr>
              <a:defRPr>
                <a:latin typeface="Ubuntu"/>
                <a:ea typeface="Ubuntu"/>
                <a:cs typeface="Ubuntu"/>
              </a:defRPr>
            </a:pPr>
            <a:r>
              <a:rPr lang="en-US" sz="1600" dirty="0">
                <a:solidFill>
                  <a:srgbClr val="FF0000"/>
                </a:solidFill>
                <a:latin typeface="Ubuntu"/>
                <a:ea typeface="Ubuntu"/>
                <a:cs typeface="Ubuntu"/>
              </a:rPr>
              <a:t>Rubidium Pulsed Optically Pumped (Rb POP) atomic clock by Leonardo, Italy</a:t>
            </a:r>
          </a:p>
        </p:txBody>
      </p:sp>
      <p:pic>
        <p:nvPicPr>
          <p:cNvPr id="11" name="Picture 10" descr="The image compares different satellite configurations for GPS systems, detailing compatibility and requirements for handling multi-constellation signals.&#10;&#10;AI-generated content may be incorrect.">
            <a:extLst>
              <a:ext uri="{FF2B5EF4-FFF2-40B4-BE49-F238E27FC236}">
                <a16:creationId xmlns:a16="http://schemas.microsoft.com/office/drawing/2014/main" id="{E391B2BF-473A-6970-BDD5-FFE82E8B78CA}"/>
              </a:ext>
            </a:extLst>
          </p:cNvPr>
          <p:cNvPicPr>
            <a:picLocks noChangeAspect="1"/>
          </p:cNvPicPr>
          <p:nvPr/>
        </p:nvPicPr>
        <p:blipFill>
          <a:blip r:embed="rId4"/>
          <a:stretch>
            <a:fillRect/>
          </a:stretch>
        </p:blipFill>
        <p:spPr>
          <a:xfrm>
            <a:off x="7753594" y="3945147"/>
            <a:ext cx="4438406" cy="1857370"/>
          </a:xfrm>
          <a:prstGeom prst="rect">
            <a:avLst/>
          </a:prstGeom>
        </p:spPr>
      </p:pic>
      <p:pic>
        <p:nvPicPr>
          <p:cNvPr id="13" name="Picture 12" descr="The image depicts a detailed satellite transmitter, specifically a METEOSAT model, featuring technical specifications, certification dates, and components such as an antenna, power, and a failsafe reset switch.&#10;&#10;AI-generated content may be incorrect.">
            <a:extLst>
              <a:ext uri="{FF2B5EF4-FFF2-40B4-BE49-F238E27FC236}">
                <a16:creationId xmlns:a16="http://schemas.microsoft.com/office/drawing/2014/main" id="{71E001C2-6DA3-D4BE-AA8C-5F94CF470EEC}"/>
              </a:ext>
            </a:extLst>
          </p:cNvPr>
          <p:cNvPicPr>
            <a:picLocks noChangeAspect="1"/>
          </p:cNvPicPr>
          <p:nvPr/>
        </p:nvPicPr>
        <p:blipFill>
          <a:blip r:embed="rId5"/>
          <a:stretch>
            <a:fillRect/>
          </a:stretch>
        </p:blipFill>
        <p:spPr>
          <a:xfrm>
            <a:off x="9239689" y="786865"/>
            <a:ext cx="2742351" cy="2703958"/>
          </a:xfrm>
          <a:prstGeom prst="rect">
            <a:avLst/>
          </a:prstGeom>
        </p:spPr>
      </p:pic>
      <p:pic>
        <p:nvPicPr>
          <p:cNvPr id="14" name="Space Faculty logo" descr="sf_logo.png"/>
          <p:cNvPicPr>
            <a:picLocks noChangeAspect="1"/>
          </p:cNvPicPr>
          <p:nvPr/>
        </p:nvPicPr>
        <p:blipFill>
          <a:blip r:embed="rId6"/>
          <a:stretch>
            <a:fillRect/>
          </a:stretch>
        </p:blipFill>
        <p:spPr>
          <a:xfrm>
            <a:off x="10450226" y="54863"/>
            <a:ext cx="1628997" cy="462929"/>
          </a:xfrm>
          <a:prstGeom prst="rect">
            <a:avLst/>
          </a:prstGeom>
        </p:spPr>
      </p:pic>
    </p:spTree>
    <p:extLst>
      <p:ext uri="{BB962C8B-B14F-4D97-AF65-F5344CB8AC3E}">
        <p14:creationId xmlns:p14="http://schemas.microsoft.com/office/powerpoint/2010/main" val="1359971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42110B-F0F0-F839-9DD0-D79A4C8C11E6}"/>
              </a:ext>
            </a:extLst>
          </p:cNvPr>
          <p:cNvSpPr>
            <a:spLocks noGrp="1"/>
          </p:cNvSpPr>
          <p:nvPr>
            <p:ph type="ctrTitle"/>
          </p:nvPr>
        </p:nvSpPr>
        <p:spPr>
          <a:xfrm>
            <a:off x="2560608" y="2308704"/>
            <a:ext cx="7772400" cy="1470025"/>
          </a:xfrm>
        </p:spPr>
        <p:txBody>
          <a:bodyPr>
            <a:noAutofit/>
          </a:bodyPr>
          <a:lstStyle/>
          <a:p>
            <a:pPr>
              <a:defRPr>
                <a:latin typeface="House Movements Runway"/>
                <a:ea typeface="House Movements Runway"/>
                <a:cs typeface="House Movements Runway"/>
              </a:defRPr>
            </a:pPr>
            <a:r>
              <a:rPr lang="en-US" sz="5400" b="1" dirty="0">
                <a:latin typeface="House Movements Runway"/>
                <a:ea typeface="House Movements Runway"/>
                <a:cs typeface="House Movements Runway"/>
              </a:rPr>
              <a:t>Scientific &amp; Planetary Exploration Payloads</a:t>
            </a:r>
          </a:p>
        </p:txBody>
      </p:sp>
      <p:sp>
        <p:nvSpPr>
          <p:cNvPr id="3" name="Slide Number Placeholder 7">
            <a:extLst>
              <a:ext uri="{FF2B5EF4-FFF2-40B4-BE49-F238E27FC236}">
                <a16:creationId xmlns:a16="http://schemas.microsoft.com/office/drawing/2014/main" id="{02696140-0E1C-583B-CF72-B9517B0C62F8}"/>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41</a:t>
            </a:fld>
            <a:endParaRPr lang="en-US" sz="4800" b="1" dirty="0">
              <a:solidFill>
                <a:srgbClr val="FF0000"/>
              </a:solidFill>
            </a:endParaRPr>
          </a:p>
        </p:txBody>
      </p:sp>
      <p:pic>
        <p:nvPicPr>
          <p:cNvPr id="5" name="Space Faculty logo" descr="sf_logo.png"/>
          <p:cNvPicPr>
            <a:picLocks noChangeAspect="1"/>
          </p:cNvPicPr>
          <p:nvPr/>
        </p:nvPicPr>
        <p:blipFill>
          <a:blip r:embed="rId2"/>
          <a:stretch>
            <a:fillRect/>
          </a:stretch>
        </p:blipFill>
        <p:spPr>
          <a:xfrm>
            <a:off x="10256392" y="54863"/>
            <a:ext cx="1822832" cy="518013"/>
          </a:xfrm>
          <a:prstGeom prst="rect">
            <a:avLst/>
          </a:prstGeom>
        </p:spPr>
      </p:pic>
    </p:spTree>
    <p:extLst>
      <p:ext uri="{BB962C8B-B14F-4D97-AF65-F5344CB8AC3E}">
        <p14:creationId xmlns:p14="http://schemas.microsoft.com/office/powerpoint/2010/main" val="1404768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404DF-8A4C-2C26-6488-A81F15E21BE4}"/>
              </a:ext>
            </a:extLst>
          </p:cNvPr>
          <p:cNvSpPr>
            <a:spLocks noGrp="1"/>
          </p:cNvSpPr>
          <p:nvPr>
            <p:ph type="title"/>
          </p:nvPr>
        </p:nvSpPr>
        <p:spPr>
          <a:xfrm>
            <a:off x="1268082" y="23048"/>
            <a:ext cx="9963509" cy="582253"/>
          </a:xfrm>
        </p:spPr>
        <p:txBody>
          <a:bodyPr>
            <a:normAutofit fontScale="90000"/>
          </a:bodyPr>
          <a:lstStyle/>
          <a:p>
            <a:pPr>
              <a:defRPr>
                <a:latin typeface="House Movements Runway"/>
                <a:ea typeface="House Movements Runway"/>
                <a:cs typeface="House Movements Runway"/>
              </a:defRPr>
            </a:pPr>
            <a:r>
              <a:rPr lang="en-US" b="1" dirty="0">
                <a:latin typeface="House Movements Runway"/>
                <a:ea typeface="House Movements Runway"/>
                <a:cs typeface="House Movements Runway"/>
              </a:rPr>
              <a:t>Scientific &amp; Planetary Exploration Payloads</a:t>
            </a:r>
          </a:p>
        </p:txBody>
      </p:sp>
      <p:sp>
        <p:nvSpPr>
          <p:cNvPr id="3" name="Content Placeholder 2">
            <a:extLst>
              <a:ext uri="{FF2B5EF4-FFF2-40B4-BE49-F238E27FC236}">
                <a16:creationId xmlns:a16="http://schemas.microsoft.com/office/drawing/2014/main" id="{761F54ED-8606-D4C3-2A98-BEB84D5AC76C}"/>
              </a:ext>
            </a:extLst>
          </p:cNvPr>
          <p:cNvSpPr>
            <a:spLocks noGrp="1"/>
          </p:cNvSpPr>
          <p:nvPr>
            <p:ph idx="1"/>
          </p:nvPr>
        </p:nvSpPr>
        <p:spPr>
          <a:xfrm>
            <a:off x="-60386" y="605301"/>
            <a:ext cx="7185805" cy="3351347"/>
          </a:xfrm>
        </p:spPr>
        <p:txBody>
          <a:bodyPr>
            <a:normAutofit fontScale="62500" lnSpcReduction="20000"/>
          </a:bodyPr>
          <a:lstStyle/>
          <a:p>
            <a:pPr>
              <a:defRPr>
                <a:latin typeface="Ubuntu"/>
                <a:ea typeface="Ubuntu"/>
                <a:cs typeface="Ubuntu"/>
              </a:defRPr>
            </a:pPr>
            <a:r>
              <a:rPr lang="en-US" dirty="0">
                <a:latin typeface="Ubuntu"/>
                <a:ea typeface="Ubuntu"/>
                <a:cs typeface="Ubuntu"/>
              </a:rPr>
              <a:t>Instruments mounted on space observatories and interplanetary probes to collect astrophysical and planetary data.</a:t>
            </a:r>
          </a:p>
          <a:p>
            <a:pPr lvl="0">
              <a:defRPr>
                <a:latin typeface="Ubuntu"/>
                <a:ea typeface="Ubuntu"/>
                <a:cs typeface="Ubuntu"/>
              </a:defRPr>
            </a:pPr>
            <a:r>
              <a:rPr lang="en-US" b="1" dirty="0">
                <a:latin typeface="Ubuntu"/>
                <a:ea typeface="Ubuntu"/>
                <a:cs typeface="Ubuntu"/>
              </a:rPr>
              <a:t>Space Telescopes &amp; Mirrors:</a:t>
            </a:r>
            <a:r>
              <a:rPr lang="en-US" dirty="0">
                <a:latin typeface="Ubuntu"/>
                <a:ea typeface="Ubuntu"/>
                <a:cs typeface="Ubuntu"/>
              </a:rPr>
              <a:t> Optical assemblies for observing distant stars, galaxies, and exoplanets (e.g., James Webb Space Telescope, Hubble).</a:t>
            </a:r>
          </a:p>
          <a:p>
            <a:pPr lvl="0">
              <a:defRPr>
                <a:latin typeface="Ubuntu"/>
                <a:ea typeface="Ubuntu"/>
                <a:cs typeface="Ubuntu"/>
              </a:defRPr>
            </a:pPr>
            <a:r>
              <a:rPr lang="en-US" b="1" dirty="0">
                <a:latin typeface="Ubuntu"/>
                <a:ea typeface="Ubuntu"/>
                <a:cs typeface="Ubuntu"/>
              </a:rPr>
              <a:t>X-ray &amp; Gamma-ray Spectrometers:</a:t>
            </a:r>
            <a:r>
              <a:rPr lang="en-US" dirty="0">
                <a:latin typeface="Ubuntu"/>
                <a:ea typeface="Ubuntu"/>
                <a:cs typeface="Ubuntu"/>
              </a:rPr>
              <a:t> Instruments designed to register high-energy photons emitted by black holes, neutron stars, and solar flares (e.g., Chandra X-Ray Observatory).</a:t>
            </a:r>
          </a:p>
          <a:p>
            <a:pPr lvl="0">
              <a:defRPr>
                <a:latin typeface="Ubuntu"/>
                <a:ea typeface="Ubuntu"/>
                <a:cs typeface="Ubuntu"/>
              </a:defRPr>
            </a:pPr>
            <a:r>
              <a:rPr lang="en-US" b="1" dirty="0">
                <a:latin typeface="Ubuntu"/>
                <a:ea typeface="Ubuntu"/>
                <a:cs typeface="Ubuntu"/>
              </a:rPr>
              <a:t>Magnetometers &amp; Particle Analyzers:</a:t>
            </a:r>
            <a:r>
              <a:rPr lang="en-US" dirty="0">
                <a:latin typeface="Ubuntu"/>
                <a:ea typeface="Ubuntu"/>
                <a:cs typeface="Ubuntu"/>
              </a:rPr>
              <a:t> Instruments that measure planetary magnetic fields and solar wind interactions (e.g., Europa Clipper, Parker Solar Probe).</a:t>
            </a:r>
          </a:p>
          <a:p>
            <a:pPr>
              <a:defRPr>
                <a:latin typeface="Ubuntu"/>
                <a:ea typeface="Ubuntu"/>
                <a:cs typeface="Ubuntu"/>
              </a:defRPr>
            </a:pPr>
            <a:endParaRPr lang="en-US" dirty="0"/>
          </a:p>
        </p:txBody>
      </p:sp>
      <p:pic>
        <p:nvPicPr>
          <p:cNvPr id="5" name="Picture 4" descr="The image depicts a sleek, metallic spacecraft with a distinct hexagonal solar panel array, situated against a backdrop of a star-filled, dark cosmic sky.&#10;&#10;AI-generated content may be incorrect.">
            <a:extLst>
              <a:ext uri="{FF2B5EF4-FFF2-40B4-BE49-F238E27FC236}">
                <a16:creationId xmlns:a16="http://schemas.microsoft.com/office/drawing/2014/main" id="{1EAF8E96-5A84-CC83-56FA-A174E853EC1C}"/>
              </a:ext>
            </a:extLst>
          </p:cNvPr>
          <p:cNvPicPr>
            <a:picLocks noChangeAspect="1"/>
          </p:cNvPicPr>
          <p:nvPr/>
        </p:nvPicPr>
        <p:blipFill>
          <a:blip r:embed="rId2"/>
          <a:stretch>
            <a:fillRect/>
          </a:stretch>
        </p:blipFill>
        <p:spPr>
          <a:xfrm>
            <a:off x="7242000" y="2112004"/>
            <a:ext cx="4724400" cy="4724400"/>
          </a:xfrm>
          <a:prstGeom prst="rect">
            <a:avLst/>
          </a:prstGeom>
        </p:spPr>
      </p:pic>
      <p:pic>
        <p:nvPicPr>
          <p:cNvPr id="7" name="Picture 6" descr="CHANDRA X-RAY OBSERVATORY is an advanced space telescope equipped with high-resolution imaging, a CCD camera, a mirror assembly, a sunshade, a high-resolution grating, and solar arrays.&#10;&#10;AI-generated content may be incorrect.">
            <a:extLst>
              <a:ext uri="{FF2B5EF4-FFF2-40B4-BE49-F238E27FC236}">
                <a16:creationId xmlns:a16="http://schemas.microsoft.com/office/drawing/2014/main" id="{DBFBBA4A-91E2-9DC0-743E-F91A73DAEC33}"/>
              </a:ext>
            </a:extLst>
          </p:cNvPr>
          <p:cNvPicPr>
            <a:picLocks noChangeAspect="1"/>
          </p:cNvPicPr>
          <p:nvPr/>
        </p:nvPicPr>
        <p:blipFill>
          <a:blip r:embed="rId3"/>
          <a:stretch>
            <a:fillRect/>
          </a:stretch>
        </p:blipFill>
        <p:spPr>
          <a:xfrm>
            <a:off x="4076043" y="3634596"/>
            <a:ext cx="3165957" cy="3062377"/>
          </a:xfrm>
          <a:prstGeom prst="rect">
            <a:avLst/>
          </a:prstGeom>
        </p:spPr>
      </p:pic>
      <p:pic>
        <p:nvPicPr>
          <p:cNvPr id="9" name="Picture 8" descr="The image illustrates a detailed diagram of a complex scientific instrument, featuring various components such as high-gain antennas, spectrometers, thermoelectric generators, and a suite of sensors and detectors, all connected to a centralized 'bus' housing for electronic systems.&#10;&#10;AI-generated content may be incorrect.">
            <a:extLst>
              <a:ext uri="{FF2B5EF4-FFF2-40B4-BE49-F238E27FC236}">
                <a16:creationId xmlns:a16="http://schemas.microsoft.com/office/drawing/2014/main" id="{FD177412-A9C6-772D-E1D4-D5F5B07937D4}"/>
              </a:ext>
            </a:extLst>
          </p:cNvPr>
          <p:cNvPicPr>
            <a:picLocks noChangeAspect="1"/>
          </p:cNvPicPr>
          <p:nvPr/>
        </p:nvPicPr>
        <p:blipFill>
          <a:blip r:embed="rId4"/>
          <a:stretch>
            <a:fillRect/>
          </a:stretch>
        </p:blipFill>
        <p:spPr>
          <a:xfrm>
            <a:off x="43194" y="3679151"/>
            <a:ext cx="3929269" cy="3062377"/>
          </a:xfrm>
          <a:prstGeom prst="rect">
            <a:avLst/>
          </a:prstGeom>
        </p:spPr>
      </p:pic>
      <p:pic>
        <p:nvPicPr>
          <p:cNvPr id="10" name="Space Faculty logo" descr="sf_logo.png"/>
          <p:cNvPicPr>
            <a:picLocks noChangeAspect="1"/>
          </p:cNvPicPr>
          <p:nvPr/>
        </p:nvPicPr>
        <p:blipFill>
          <a:blip r:embed="rId5"/>
          <a:stretch>
            <a:fillRect/>
          </a:stretch>
        </p:blipFill>
        <p:spPr>
          <a:xfrm>
            <a:off x="10876666" y="54863"/>
            <a:ext cx="1202557" cy="341743"/>
          </a:xfrm>
          <a:prstGeom prst="rect">
            <a:avLst/>
          </a:prstGeom>
        </p:spPr>
      </p:pic>
    </p:spTree>
    <p:extLst>
      <p:ext uri="{BB962C8B-B14F-4D97-AF65-F5344CB8AC3E}">
        <p14:creationId xmlns:p14="http://schemas.microsoft.com/office/powerpoint/2010/main" val="24266996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CD8504-4D34-6E58-D884-498A32C34570}"/>
              </a:ext>
            </a:extLst>
          </p:cNvPr>
          <p:cNvSpPr>
            <a:spLocks noGrp="1"/>
          </p:cNvSpPr>
          <p:nvPr>
            <p:ph type="ctrTitle"/>
          </p:nvPr>
        </p:nvSpPr>
        <p:spPr>
          <a:xfrm>
            <a:off x="2738886" y="2199436"/>
            <a:ext cx="7772400" cy="1470025"/>
          </a:xfrm>
        </p:spPr>
        <p:txBody>
          <a:bodyPr>
            <a:noAutofit/>
          </a:bodyPr>
          <a:lstStyle/>
          <a:p>
            <a:pPr>
              <a:defRPr>
                <a:latin typeface="House Movements Runway"/>
                <a:ea typeface="House Movements Runway"/>
                <a:cs typeface="House Movements Runway"/>
              </a:defRPr>
            </a:pPr>
            <a:r>
              <a:rPr lang="en-US" sz="5400" b="1" dirty="0">
                <a:latin typeface="House Movements Runway"/>
                <a:ea typeface="House Movements Runway"/>
                <a:cs typeface="House Movements Runway"/>
              </a:rPr>
              <a:t>Weather &amp; Environmental Payloads</a:t>
            </a:r>
          </a:p>
        </p:txBody>
      </p:sp>
      <p:sp>
        <p:nvSpPr>
          <p:cNvPr id="3" name="Slide Number Placeholder 7">
            <a:extLst>
              <a:ext uri="{FF2B5EF4-FFF2-40B4-BE49-F238E27FC236}">
                <a16:creationId xmlns:a16="http://schemas.microsoft.com/office/drawing/2014/main" id="{ED0B3F27-A17F-D47D-CC51-890CD4AF721F}"/>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43</a:t>
            </a:fld>
            <a:endParaRPr lang="en-US" sz="4800" b="1" dirty="0">
              <a:solidFill>
                <a:srgbClr val="FF0000"/>
              </a:solidFill>
            </a:endParaRPr>
          </a:p>
        </p:txBody>
      </p:sp>
      <p:pic>
        <p:nvPicPr>
          <p:cNvPr id="5" name="Space Faculty logo" descr="sf_logo.png"/>
          <p:cNvPicPr>
            <a:picLocks noChangeAspect="1"/>
          </p:cNvPicPr>
          <p:nvPr/>
        </p:nvPicPr>
        <p:blipFill>
          <a:blip r:embed="rId2"/>
          <a:stretch>
            <a:fillRect/>
          </a:stretch>
        </p:blipFill>
        <p:spPr>
          <a:xfrm>
            <a:off x="10411458" y="54864"/>
            <a:ext cx="1667765" cy="473946"/>
          </a:xfrm>
          <a:prstGeom prst="rect">
            <a:avLst/>
          </a:prstGeom>
        </p:spPr>
      </p:pic>
    </p:spTree>
    <p:extLst>
      <p:ext uri="{BB962C8B-B14F-4D97-AF65-F5344CB8AC3E}">
        <p14:creationId xmlns:p14="http://schemas.microsoft.com/office/powerpoint/2010/main" val="26984686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08D67-FB1D-258C-BFD4-34D475079BE8}"/>
              </a:ext>
            </a:extLst>
          </p:cNvPr>
          <p:cNvSpPr>
            <a:spLocks noGrp="1"/>
          </p:cNvSpPr>
          <p:nvPr>
            <p:ph type="title"/>
          </p:nvPr>
        </p:nvSpPr>
        <p:spPr>
          <a:xfrm>
            <a:off x="2478657" y="23018"/>
            <a:ext cx="8229600" cy="586582"/>
          </a:xfrm>
        </p:spPr>
        <p:txBody>
          <a:bodyPr>
            <a:normAutofit fontScale="90000"/>
          </a:bodyPr>
          <a:lstStyle/>
          <a:p>
            <a:pPr>
              <a:defRPr>
                <a:latin typeface="House Movements Runway"/>
                <a:ea typeface="House Movements Runway"/>
                <a:cs typeface="House Movements Runway"/>
              </a:defRPr>
            </a:pPr>
            <a:r>
              <a:rPr lang="en-US" b="1" dirty="0">
                <a:latin typeface="House Movements Runway"/>
                <a:ea typeface="House Movements Runway"/>
                <a:cs typeface="House Movements Runway"/>
              </a:rPr>
              <a:t>Weather &amp; Environmental Payloads</a:t>
            </a:r>
          </a:p>
        </p:txBody>
      </p:sp>
      <p:sp>
        <p:nvSpPr>
          <p:cNvPr id="3" name="Content Placeholder 2">
            <a:extLst>
              <a:ext uri="{FF2B5EF4-FFF2-40B4-BE49-F238E27FC236}">
                <a16:creationId xmlns:a16="http://schemas.microsoft.com/office/drawing/2014/main" id="{93E09EE2-F2EA-3AAD-8ED7-29E515A18882}"/>
              </a:ext>
            </a:extLst>
          </p:cNvPr>
          <p:cNvSpPr>
            <a:spLocks noGrp="1"/>
          </p:cNvSpPr>
          <p:nvPr>
            <p:ph idx="1"/>
          </p:nvPr>
        </p:nvSpPr>
        <p:spPr>
          <a:xfrm>
            <a:off x="83388" y="609600"/>
            <a:ext cx="11878575" cy="2204035"/>
          </a:xfrm>
        </p:spPr>
        <p:txBody>
          <a:bodyPr>
            <a:normAutofit fontScale="77500" lnSpcReduction="20000"/>
          </a:bodyPr>
          <a:lstStyle/>
          <a:p>
            <a:pPr marL="0" indent="0">
              <a:buNone/>
              <a:defRPr>
                <a:latin typeface="Ubuntu"/>
                <a:ea typeface="Ubuntu"/>
                <a:cs typeface="Ubuntu"/>
              </a:defRPr>
            </a:pPr>
            <a:r>
              <a:rPr lang="en-US" dirty="0">
                <a:latin typeface="Ubuntu"/>
                <a:ea typeface="Ubuntu"/>
                <a:cs typeface="Ubuntu"/>
              </a:rPr>
              <a:t>Specialized meteorological instruments operating in low Earth orbit (LEO) or geostationary orbit (GEO).</a:t>
            </a:r>
          </a:p>
          <a:p>
            <a:pPr lvl="0">
              <a:defRPr>
                <a:latin typeface="Ubuntu"/>
                <a:ea typeface="Ubuntu"/>
                <a:cs typeface="Ubuntu"/>
              </a:defRPr>
            </a:pPr>
            <a:r>
              <a:rPr lang="en-US" b="1" dirty="0">
                <a:latin typeface="Ubuntu"/>
                <a:ea typeface="Ubuntu"/>
                <a:cs typeface="Ubuntu"/>
              </a:rPr>
              <a:t>Sounders (Infrared / Microwave):</a:t>
            </a:r>
            <a:r>
              <a:rPr lang="en-US" dirty="0">
                <a:latin typeface="Ubuntu"/>
                <a:ea typeface="Ubuntu"/>
                <a:cs typeface="Ubuntu"/>
              </a:rPr>
              <a:t> Measure atmospheric temperature profiles and moisture distribution at varying altitudes (e.g., GOES series, </a:t>
            </a:r>
            <a:r>
              <a:rPr lang="en-US" dirty="0" err="1">
                <a:latin typeface="Ubuntu"/>
                <a:ea typeface="Ubuntu"/>
                <a:cs typeface="Ubuntu"/>
              </a:rPr>
              <a:t>MetOp</a:t>
            </a:r>
            <a:r>
              <a:rPr lang="en-US" dirty="0">
                <a:latin typeface="Ubuntu"/>
                <a:ea typeface="Ubuntu"/>
                <a:cs typeface="Ubuntu"/>
              </a:rPr>
              <a:t>).</a:t>
            </a:r>
          </a:p>
          <a:p>
            <a:pPr lvl="0">
              <a:defRPr>
                <a:latin typeface="Ubuntu"/>
                <a:ea typeface="Ubuntu"/>
                <a:cs typeface="Ubuntu"/>
              </a:defRPr>
            </a:pPr>
            <a:r>
              <a:rPr lang="en-US" b="1" dirty="0">
                <a:latin typeface="Ubuntu"/>
                <a:ea typeface="Ubuntu"/>
                <a:cs typeface="Ubuntu"/>
              </a:rPr>
              <a:t>Lightning Mappers:</a:t>
            </a:r>
            <a:r>
              <a:rPr lang="en-US" dirty="0">
                <a:latin typeface="Ubuntu"/>
                <a:ea typeface="Ubuntu"/>
                <a:cs typeface="Ubuntu"/>
              </a:rPr>
              <a:t> High-speed optical detectors that monitor cloud-to-ground and intra-cloud lightning strikes continuously.</a:t>
            </a:r>
          </a:p>
          <a:p>
            <a:pPr>
              <a:defRPr>
                <a:latin typeface="Ubuntu"/>
                <a:ea typeface="Ubuntu"/>
                <a:cs typeface="Ubuntu"/>
              </a:defRPr>
            </a:pPr>
            <a:endParaRPr lang="en-US" dirty="0"/>
          </a:p>
        </p:txBody>
      </p:sp>
      <p:pic>
        <p:nvPicPr>
          <p:cNvPr id="5" name="Picture 4" descr="The image shows a complex scientific instrument or telescope with a large, polished gold lens or mirror, likely inside a controlled environment or laboratory setting.&#10;&#10;AI-generated content may be incorrect.">
            <a:extLst>
              <a:ext uri="{FF2B5EF4-FFF2-40B4-BE49-F238E27FC236}">
                <a16:creationId xmlns:a16="http://schemas.microsoft.com/office/drawing/2014/main" id="{328D3470-C88B-8F69-2B69-9B8557D84787}"/>
              </a:ext>
            </a:extLst>
          </p:cNvPr>
          <p:cNvPicPr>
            <a:picLocks noChangeAspect="1"/>
          </p:cNvPicPr>
          <p:nvPr/>
        </p:nvPicPr>
        <p:blipFill>
          <a:blip r:embed="rId2"/>
          <a:stretch>
            <a:fillRect/>
          </a:stretch>
        </p:blipFill>
        <p:spPr>
          <a:xfrm>
            <a:off x="6279173" y="2970934"/>
            <a:ext cx="5746049" cy="3832570"/>
          </a:xfrm>
          <a:prstGeom prst="rect">
            <a:avLst/>
          </a:prstGeom>
        </p:spPr>
      </p:pic>
      <p:sp>
        <p:nvSpPr>
          <p:cNvPr id="7" name="TextBox 6">
            <a:extLst>
              <a:ext uri="{FF2B5EF4-FFF2-40B4-BE49-F238E27FC236}">
                <a16:creationId xmlns:a16="http://schemas.microsoft.com/office/drawing/2014/main" id="{21DA4EC1-646E-9B5A-FB7B-ED9F4EC19F88}"/>
              </a:ext>
            </a:extLst>
          </p:cNvPr>
          <p:cNvSpPr txBox="1"/>
          <p:nvPr/>
        </p:nvSpPr>
        <p:spPr>
          <a:xfrm>
            <a:off x="6257027" y="6396335"/>
            <a:ext cx="5929222" cy="461665"/>
          </a:xfrm>
          <a:prstGeom prst="rect">
            <a:avLst/>
          </a:prstGeom>
          <a:noFill/>
        </p:spPr>
        <p:txBody>
          <a:bodyPr wrap="square">
            <a:spAutoFit/>
          </a:bodyPr>
          <a:lstStyle/>
          <a:p>
            <a:pPr>
              <a:defRPr>
                <a:latin typeface="Ubuntu"/>
                <a:ea typeface="Ubuntu"/>
                <a:cs typeface="Ubuntu"/>
              </a:defRPr>
            </a:pPr>
            <a:r>
              <a:rPr lang="en-US" sz="2400" b="0" i="0" dirty="0">
                <a:solidFill>
                  <a:schemeClr val="tx1"/>
                </a:solidFill>
                <a:effectLst/>
                <a:highlight>
                  <a:srgbClr val="FFFF00"/>
                </a:highlight>
                <a:latin typeface="Ubuntu"/>
                <a:ea typeface="Ubuntu"/>
                <a:cs typeface="Ubuntu"/>
              </a:rPr>
              <a:t>GOES geostationary lightning mapper (GLM)</a:t>
            </a:r>
            <a:endParaRPr lang="en-US" sz="2400" dirty="0">
              <a:highlight>
                <a:srgbClr val="FFFF00"/>
              </a:highlight>
            </a:endParaRPr>
          </a:p>
        </p:txBody>
      </p:sp>
      <p:pic>
        <p:nvPicPr>
          <p:cNvPr id="9" name="Picture 8" descr="The image depicts a complex, metallic spacecraft with various instruments and cables, clearly designed for space exploration.&#10;&#10;AI-generated content may be incorrect.">
            <a:extLst>
              <a:ext uri="{FF2B5EF4-FFF2-40B4-BE49-F238E27FC236}">
                <a16:creationId xmlns:a16="http://schemas.microsoft.com/office/drawing/2014/main" id="{73872FFE-28E3-941E-9120-ABED96CF5939}"/>
              </a:ext>
            </a:extLst>
          </p:cNvPr>
          <p:cNvPicPr>
            <a:picLocks noChangeAspect="1"/>
          </p:cNvPicPr>
          <p:nvPr/>
        </p:nvPicPr>
        <p:blipFill>
          <a:blip r:embed="rId3"/>
          <a:stretch>
            <a:fillRect/>
          </a:stretch>
        </p:blipFill>
        <p:spPr>
          <a:xfrm>
            <a:off x="83388" y="2641121"/>
            <a:ext cx="5746049" cy="4064154"/>
          </a:xfrm>
          <a:prstGeom prst="rect">
            <a:avLst/>
          </a:prstGeom>
        </p:spPr>
      </p:pic>
      <p:sp>
        <p:nvSpPr>
          <p:cNvPr id="11" name="TextBox 10">
            <a:extLst>
              <a:ext uri="{FF2B5EF4-FFF2-40B4-BE49-F238E27FC236}">
                <a16:creationId xmlns:a16="http://schemas.microsoft.com/office/drawing/2014/main" id="{ADB531D6-C7C4-E06D-B1ED-21D882106ACA}"/>
              </a:ext>
            </a:extLst>
          </p:cNvPr>
          <p:cNvSpPr txBox="1"/>
          <p:nvPr/>
        </p:nvSpPr>
        <p:spPr>
          <a:xfrm>
            <a:off x="322053" y="6341839"/>
            <a:ext cx="6096000" cy="461665"/>
          </a:xfrm>
          <a:prstGeom prst="rect">
            <a:avLst/>
          </a:prstGeom>
          <a:noFill/>
        </p:spPr>
        <p:txBody>
          <a:bodyPr wrap="square">
            <a:spAutoFit/>
          </a:bodyPr>
          <a:lstStyle/>
          <a:p>
            <a:pPr>
              <a:defRPr>
                <a:latin typeface="Ubuntu"/>
                <a:ea typeface="Ubuntu"/>
                <a:cs typeface="Ubuntu"/>
              </a:defRPr>
            </a:pPr>
            <a:r>
              <a:rPr lang="en-US" sz="2400" b="1" dirty="0">
                <a:highlight>
                  <a:srgbClr val="FFFF00"/>
                </a:highlight>
                <a:latin typeface="Ubuntu"/>
                <a:ea typeface="Ubuntu"/>
                <a:cs typeface="Ubuntu"/>
              </a:rPr>
              <a:t>Sounders (Infrared / Microwave)</a:t>
            </a:r>
            <a:endParaRPr lang="en-US" sz="2400" dirty="0">
              <a:highlight>
                <a:srgbClr val="FFFF00"/>
              </a:highlight>
            </a:endParaRPr>
          </a:p>
        </p:txBody>
      </p:sp>
      <p:sp>
        <p:nvSpPr>
          <p:cNvPr id="13" name="Slide Number Placeholder 7">
            <a:extLst>
              <a:ext uri="{FF2B5EF4-FFF2-40B4-BE49-F238E27FC236}">
                <a16:creationId xmlns:a16="http://schemas.microsoft.com/office/drawing/2014/main" id="{327191BD-FB81-6F42-6AE0-058A081AE536}"/>
              </a:ext>
            </a:extLst>
          </p:cNvPr>
          <p:cNvSpPr txBox="1">
            <a:spLocks/>
          </p:cNvSpPr>
          <p:nvPr/>
        </p:nvSpPr>
        <p:spPr>
          <a:xfrm>
            <a:off x="11103511" y="6197834"/>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44</a:t>
            </a:fld>
            <a:endParaRPr lang="en-US" sz="4800" b="1" dirty="0">
              <a:solidFill>
                <a:srgbClr val="FF0000"/>
              </a:solidFill>
            </a:endParaRPr>
          </a:p>
        </p:txBody>
      </p:sp>
      <p:pic>
        <p:nvPicPr>
          <p:cNvPr id="14" name="Space Faculty logo" descr="sf_logo.png"/>
          <p:cNvPicPr>
            <a:picLocks noChangeAspect="1"/>
          </p:cNvPicPr>
          <p:nvPr/>
        </p:nvPicPr>
        <p:blipFill>
          <a:blip r:embed="rId4"/>
          <a:stretch>
            <a:fillRect/>
          </a:stretch>
        </p:blipFill>
        <p:spPr>
          <a:xfrm>
            <a:off x="10680686" y="54863"/>
            <a:ext cx="1398538" cy="397437"/>
          </a:xfrm>
          <a:prstGeom prst="rect">
            <a:avLst/>
          </a:prstGeom>
        </p:spPr>
      </p:pic>
    </p:spTree>
    <p:extLst>
      <p:ext uri="{BB962C8B-B14F-4D97-AF65-F5344CB8AC3E}">
        <p14:creationId xmlns:p14="http://schemas.microsoft.com/office/powerpoint/2010/main" val="3415860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658368" y="277339"/>
            <a:ext cx="10984687" cy="566928"/>
          </a:xfrm>
          <a:prstGeom prst="rect">
            <a:avLst/>
          </a:prstGeom>
          <a:noFill/>
          <a:ln/>
        </p:spPr>
        <p:txBody>
          <a:bodyPr wrap="square" lIns="0" tIns="0" rIns="0" bIns="0" rtlCol="0" anchor="ctr"/>
          <a:lstStyle/>
          <a:p>
            <a:pPr marL="0" indent="0" algn="ctr">
              <a:buNone/>
              <a:defRPr>
                <a:latin typeface="House Movements Runway"/>
                <a:ea typeface="House Movements Runway"/>
                <a:cs typeface="House Movements Runway"/>
              </a:defRPr>
            </a:pPr>
            <a:r>
              <a:rPr lang="en-US" sz="4800" b="1" dirty="0">
                <a:solidFill>
                  <a:srgbClr val="1E2761"/>
                </a:solidFill>
                <a:latin typeface="House Movements Runway" pitchFamily="34" charset="0"/>
                <a:ea typeface="House Movements Runway" pitchFamily="34" charset="-122"/>
                <a:cs typeface="House Movements Runway" pitchFamily="34" charset="-120"/>
              </a:rPr>
              <a:t>In-orbit Demonstration</a:t>
            </a:r>
            <a:endParaRPr lang="en-US" sz="48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sz="2400" dirty="0">
                <a:solidFill>
                  <a:srgbClr val="5F6B8C"/>
                </a:solidFill>
                <a:latin typeface="Ubuntu" pitchFamily="34" charset="0"/>
                <a:ea typeface="Ubuntu" pitchFamily="34" charset="-122"/>
                <a:cs typeface="Ubuntu" pitchFamily="34" charset="-120"/>
              </a:rPr>
              <a:t>A technology can be flown as the payload, so that its behaviour in the real environment is known.</a:t>
            </a:r>
            <a:endParaRPr lang="en-US" sz="2400" dirty="0"/>
          </a:p>
        </p:txBody>
      </p:sp>
      <p:pic>
        <p:nvPicPr>
          <p:cNvPr id="7" name="Image 0" descr="/home/claude/pay/p47-003.jpg"/>
          <p:cNvPicPr>
            <a:picLocks noChangeAspect="1"/>
          </p:cNvPicPr>
          <p:nvPr/>
        </p:nvPicPr>
        <p:blipFill>
          <a:blip r:embed="rId3"/>
          <a:stretch>
            <a:fillRect/>
          </a:stretch>
        </p:blipFill>
        <p:spPr>
          <a:xfrm>
            <a:off x="2107433" y="1880645"/>
            <a:ext cx="8721594" cy="4901535"/>
          </a:xfrm>
          <a:prstGeom prst="rect">
            <a:avLst/>
          </a:prstGeom>
        </p:spPr>
      </p:pic>
      <p:sp>
        <p:nvSpPr>
          <p:cNvPr id="15" name="Slide Number Placeholder 7">
            <a:extLst>
              <a:ext uri="{FF2B5EF4-FFF2-40B4-BE49-F238E27FC236}">
                <a16:creationId xmlns:a16="http://schemas.microsoft.com/office/drawing/2014/main" id="{0C5378E7-078D-3663-34C0-3244BE4CBEAA}"/>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45</a:t>
            </a:fld>
            <a:endParaRPr lang="en-US" sz="4800" b="1" dirty="0">
              <a:solidFill>
                <a:srgbClr val="FF0000"/>
              </a:solidFill>
            </a:endParaRPr>
          </a:p>
        </p:txBody>
      </p:sp>
      <p:pic>
        <p:nvPicPr>
          <p:cNvPr id="16" name="Space Faculty logo" descr="sf_logo.png"/>
          <p:cNvPicPr>
            <a:picLocks noChangeAspect="1"/>
          </p:cNvPicPr>
          <p:nvPr/>
        </p:nvPicPr>
        <p:blipFill>
          <a:blip r:embed="rId4"/>
          <a:stretch>
            <a:fillRect/>
          </a:stretch>
        </p:blipFill>
        <p:spPr>
          <a:xfrm>
            <a:off x="10372690" y="54863"/>
            <a:ext cx="1706533" cy="48496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902115" y="842996"/>
            <a:ext cx="9742170" cy="224154"/>
          </a:xfrm>
          <a:custGeom>
            <a:avLst/>
            <a:gdLst/>
            <a:ahLst/>
            <a:cxnLst/>
            <a:rect l="l" t="t" r="r" b="b"/>
            <a:pathLst>
              <a:path w="9742170" h="224155">
                <a:moveTo>
                  <a:pt x="9742106" y="0"/>
                </a:moveTo>
                <a:lnTo>
                  <a:pt x="0" y="0"/>
                </a:lnTo>
                <a:lnTo>
                  <a:pt x="0" y="223803"/>
                </a:lnTo>
                <a:lnTo>
                  <a:pt x="9742106" y="223803"/>
                </a:lnTo>
                <a:lnTo>
                  <a:pt x="9742106" y="0"/>
                </a:lnTo>
                <a:close/>
              </a:path>
            </a:pathLst>
          </a:custGeom>
          <a:solidFill>
            <a:srgbClr val="E4EDF9"/>
          </a:solidFill>
        </p:spPr>
        <p:txBody>
          <a:bodyPr wrap="square" lIns="0" tIns="0" rIns="0" bIns="0" rtlCol="0"/>
          <a:lstStyle/>
          <a:p>
            <a:pPr>
              <a:defRPr>
                <a:latin typeface="Ubuntu"/>
                <a:ea typeface="Ubuntu"/>
                <a:cs typeface="Ubuntu"/>
              </a:defRPr>
            </a:pPr>
            <a:endParaRPr/>
          </a:p>
        </p:txBody>
      </p:sp>
      <p:sp>
        <p:nvSpPr>
          <p:cNvPr id="9" name="object 9"/>
          <p:cNvSpPr txBox="1">
            <a:spLocks noGrp="1"/>
          </p:cNvSpPr>
          <p:nvPr>
            <p:ph type="title"/>
          </p:nvPr>
        </p:nvSpPr>
        <p:spPr>
          <a:xfrm>
            <a:off x="2363436" y="92935"/>
            <a:ext cx="7667325" cy="628377"/>
          </a:xfrm>
          <a:prstGeom prst="rect">
            <a:avLst/>
          </a:prstGeom>
        </p:spPr>
        <p:txBody>
          <a:bodyPr vert="horz" wrap="square" lIns="0" tIns="12700" rIns="0" bIns="0" rtlCol="0">
            <a:spAutoFit/>
          </a:bodyPr>
          <a:lstStyle/>
          <a:p>
            <a:pPr marL="12700">
              <a:lnSpc>
                <a:spcPct val="100000"/>
              </a:lnSpc>
              <a:spcBef>
                <a:spcPts val="100"/>
              </a:spcBef>
              <a:defRPr>
                <a:latin typeface="House Movements Runway"/>
                <a:ea typeface="House Movements Runway"/>
                <a:cs typeface="House Movements Runway"/>
              </a:defRPr>
            </a:pPr>
            <a:r>
              <a:rPr sz="4000" b="1" spc="-5" dirty="0">
                <a:latin typeface="House Movements Runway" panose="020B0604020202020204" pitchFamily="34" charset="0"/>
                <a:cs typeface="House Movements Runway" panose="020B0604020202020204" pitchFamily="34" charset="0"/>
              </a:rPr>
              <a:t>Satellite</a:t>
            </a:r>
            <a:r>
              <a:rPr sz="4000" b="1" spc="-15" dirty="0">
                <a:latin typeface="House Movements Runway" panose="020B0604020202020204" pitchFamily="34" charset="0"/>
                <a:cs typeface="House Movements Runway" panose="020B0604020202020204" pitchFamily="34" charset="0"/>
              </a:rPr>
              <a:t> </a:t>
            </a:r>
            <a:r>
              <a:rPr sz="4000" b="1" dirty="0">
                <a:latin typeface="House Movements Runway" panose="020B0604020202020204" pitchFamily="34" charset="0"/>
                <a:cs typeface="House Movements Runway" panose="020B0604020202020204" pitchFamily="34" charset="0"/>
              </a:rPr>
              <a:t>as</a:t>
            </a:r>
            <a:r>
              <a:rPr sz="4000" b="1" spc="-10" dirty="0">
                <a:latin typeface="House Movements Runway" panose="020B0604020202020204" pitchFamily="34" charset="0"/>
                <a:cs typeface="House Movements Runway" panose="020B0604020202020204" pitchFamily="34" charset="0"/>
              </a:rPr>
              <a:t> </a:t>
            </a:r>
            <a:r>
              <a:rPr sz="4000" b="1" dirty="0">
                <a:latin typeface="House Movements Runway" panose="020B0604020202020204" pitchFamily="34" charset="0"/>
                <a:cs typeface="House Movements Runway" panose="020B0604020202020204" pitchFamily="34" charset="0"/>
              </a:rPr>
              <a:t>a</a:t>
            </a:r>
            <a:r>
              <a:rPr sz="4000" b="1" spc="-15" dirty="0">
                <a:latin typeface="House Movements Runway" panose="020B0604020202020204" pitchFamily="34" charset="0"/>
                <a:cs typeface="House Movements Runway" panose="020B0604020202020204" pitchFamily="34" charset="0"/>
              </a:rPr>
              <a:t> </a:t>
            </a:r>
            <a:r>
              <a:rPr sz="4000" b="1" dirty="0">
                <a:latin typeface="House Movements Runway" panose="020B0604020202020204" pitchFamily="34" charset="0"/>
                <a:cs typeface="House Movements Runway" panose="020B0604020202020204" pitchFamily="34" charset="0"/>
              </a:rPr>
              <a:t>Platform:</a:t>
            </a:r>
            <a:r>
              <a:rPr sz="4000" b="1" spc="-5" dirty="0">
                <a:latin typeface="House Movements Runway" panose="020B0604020202020204" pitchFamily="34" charset="0"/>
                <a:cs typeface="House Movements Runway" panose="020B0604020202020204" pitchFamily="34" charset="0"/>
              </a:rPr>
              <a:t> Sensors </a:t>
            </a:r>
            <a:endParaRPr sz="4000" b="1" dirty="0">
              <a:latin typeface="Arial" panose="020B0604020202020204" pitchFamily="34" charset="0"/>
              <a:cs typeface="Arial" panose="020B0604020202020204" pitchFamily="34" charset="0"/>
            </a:endParaRPr>
          </a:p>
        </p:txBody>
      </p:sp>
      <p:sp>
        <p:nvSpPr>
          <p:cNvPr id="41" name="Slide Number Placeholder 7">
            <a:extLst>
              <a:ext uri="{FF2B5EF4-FFF2-40B4-BE49-F238E27FC236}">
                <a16:creationId xmlns:a16="http://schemas.microsoft.com/office/drawing/2014/main" id="{DD552B67-3820-ED23-CBAD-AF8BFB9A06FA}"/>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46</a:t>
            </a:fld>
            <a:endParaRPr lang="en-US" sz="4800" b="1" dirty="0">
              <a:solidFill>
                <a:srgbClr val="FF0000"/>
              </a:solidFill>
            </a:endParaRPr>
          </a:p>
        </p:txBody>
      </p:sp>
      <p:pic>
        <p:nvPicPr>
          <p:cNvPr id="38" name="Picture 37" descr="The image displays various scientific instruments and measurements related to atmospheric pollution and solar radiation, including MOPITT, MODIS, ASTER, CERES, and MIRACLE, and their roles in monitoring and analyzing environmental data.&#10;&#10;AI-generated content may be incorrect.">
            <a:extLst>
              <a:ext uri="{FF2B5EF4-FFF2-40B4-BE49-F238E27FC236}">
                <a16:creationId xmlns:a16="http://schemas.microsoft.com/office/drawing/2014/main" id="{7C5A92F1-8173-7EEA-1C3B-5A2D15CC9569}"/>
              </a:ext>
            </a:extLst>
          </p:cNvPr>
          <p:cNvPicPr>
            <a:picLocks noChangeAspect="1"/>
          </p:cNvPicPr>
          <p:nvPr/>
        </p:nvPicPr>
        <p:blipFill>
          <a:blip r:embed="rId2"/>
          <a:stretch>
            <a:fillRect/>
          </a:stretch>
        </p:blipFill>
        <p:spPr>
          <a:xfrm>
            <a:off x="367139" y="955073"/>
            <a:ext cx="9419136" cy="5809992"/>
          </a:xfrm>
          <a:prstGeom prst="rect">
            <a:avLst/>
          </a:prstGeom>
        </p:spPr>
      </p:pic>
      <p:pic>
        <p:nvPicPr>
          <p:cNvPr id="42" name="Space Faculty logo" descr="sf_logo.png"/>
          <p:cNvPicPr>
            <a:picLocks noChangeAspect="1"/>
          </p:cNvPicPr>
          <p:nvPr/>
        </p:nvPicPr>
        <p:blipFill>
          <a:blip r:embed="rId3"/>
          <a:stretch>
            <a:fillRect/>
          </a:stretch>
        </p:blipFill>
        <p:spPr>
          <a:xfrm>
            <a:off x="10411458" y="54864"/>
            <a:ext cx="1667765" cy="473946"/>
          </a:xfrm>
          <a:prstGeom prst="rect">
            <a:avLst/>
          </a:prstGeom>
        </p:spPr>
      </p:pic>
    </p:spTree>
    <p:extLst>
      <p:ext uri="{BB962C8B-B14F-4D97-AF65-F5344CB8AC3E}">
        <p14:creationId xmlns:p14="http://schemas.microsoft.com/office/powerpoint/2010/main" val="17575132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1819558" y="306324"/>
            <a:ext cx="9987129" cy="566928"/>
          </a:xfrm>
          <a:prstGeom prst="rect">
            <a:avLst/>
          </a:prstGeom>
          <a:noFill/>
          <a:ln/>
        </p:spPr>
        <p:txBody>
          <a:bodyPr wrap="square" lIns="0" tIns="0" rIns="0" bIns="0" rtlCol="0" anchor="ctr"/>
          <a:lstStyle/>
          <a:p>
            <a:pPr marL="0" indent="0">
              <a:buNone/>
              <a:defRPr>
                <a:latin typeface="House Movements Runway"/>
                <a:ea typeface="House Movements Runway"/>
                <a:cs typeface="House Movements Runway"/>
              </a:defRPr>
            </a:pPr>
            <a:r>
              <a:rPr lang="en-US" sz="4800" b="1" dirty="0">
                <a:solidFill>
                  <a:srgbClr val="1E2761"/>
                </a:solidFill>
                <a:latin typeface="House Movements Runway" pitchFamily="34" charset="0"/>
                <a:ea typeface="House Movements Runway" pitchFamily="34" charset="-122"/>
                <a:cs typeface="House Movements Runway" pitchFamily="34" charset="-120"/>
              </a:rPr>
              <a:t>References and Further Reading</a:t>
            </a:r>
            <a:endParaRPr lang="en-US" sz="48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sz="1450" dirty="0">
                <a:solidFill>
                  <a:srgbClr val="5F6B8C"/>
                </a:solidFill>
                <a:latin typeface="Ubuntu" pitchFamily="34" charset="0"/>
                <a:ea typeface="Ubuntu" pitchFamily="34" charset="-122"/>
                <a:cs typeface="Ubuntu" pitchFamily="34" charset="-120"/>
              </a:rPr>
              <a:t>Open sources used in this session. Worth returning to after the course.</a:t>
            </a:r>
            <a:endParaRPr lang="en-US" sz="1450" dirty="0"/>
          </a:p>
        </p:txBody>
      </p:sp>
      <p:sp>
        <p:nvSpPr>
          <p:cNvPr id="6" name="Shape 4"/>
          <p:cNvSpPr/>
          <p:nvPr/>
        </p:nvSpPr>
        <p:spPr>
          <a:xfrm>
            <a:off x="658368" y="1828800"/>
            <a:ext cx="10881360" cy="731520"/>
          </a:xfrm>
          <a:prstGeom prst="roundRect">
            <a:avLst>
              <a:gd name="adj" fmla="val 6250"/>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7" name="Shape 5"/>
          <p:cNvSpPr/>
          <p:nvPr/>
        </p:nvSpPr>
        <p:spPr>
          <a:xfrm>
            <a:off x="658368" y="1828800"/>
            <a:ext cx="50292" cy="73152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8" name="Text 6"/>
          <p:cNvSpPr txBox="1"/>
          <p:nvPr/>
        </p:nvSpPr>
        <p:spPr>
          <a:xfrm>
            <a:off x="932688" y="1892808"/>
            <a:ext cx="3931920" cy="274320"/>
          </a:xfrm>
          <a:prstGeom prst="rect">
            <a:avLst/>
          </a:prstGeom>
          <a:noFill/>
          <a:ln/>
        </p:spPr>
        <p:txBody>
          <a:bodyPr wrap="square" lIns="0" tIns="0" rIns="0" bIns="0" rtlCol="0" anchor="ctr"/>
          <a:lstStyle/>
          <a:p>
            <a:pPr marL="0" indent="0">
              <a:buNone/>
              <a:defRPr>
                <a:latin typeface="Ubuntu"/>
                <a:ea typeface="Ubuntu"/>
                <a:cs typeface="Ubuntu"/>
              </a:defRPr>
            </a:pPr>
            <a:r>
              <a:rPr lang="en-US" sz="1300" b="1" dirty="0">
                <a:solidFill>
                  <a:srgbClr val="1E2761"/>
                </a:solidFill>
                <a:latin typeface="Ubuntu" pitchFamily="34" charset="0"/>
                <a:ea typeface="Ubuntu" pitchFamily="34" charset="-122"/>
                <a:cs typeface="Ubuntu" pitchFamily="34" charset="-120"/>
              </a:rPr>
              <a:t>NASA State-of-the-Art of Small Spacecraft Technology</a:t>
            </a:r>
            <a:endParaRPr lang="en-US" sz="1300" dirty="0"/>
          </a:p>
        </p:txBody>
      </p:sp>
      <p:sp>
        <p:nvSpPr>
          <p:cNvPr id="9" name="Text 7"/>
          <p:cNvSpPr txBox="1"/>
          <p:nvPr/>
        </p:nvSpPr>
        <p:spPr>
          <a:xfrm>
            <a:off x="932688" y="2167128"/>
            <a:ext cx="40233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5F6B8C"/>
                </a:solidFill>
                <a:latin typeface="Ubuntu" pitchFamily="34" charset="0"/>
                <a:ea typeface="Ubuntu" pitchFamily="34" charset="-122"/>
                <a:cs typeface="Ubuntu" pitchFamily="34" charset="-120"/>
              </a:rPr>
              <a:t>Free report, updated regularly. A full chapter on payloads</a:t>
            </a:r>
            <a:endParaRPr lang="en-US" sz="1050" dirty="0"/>
          </a:p>
        </p:txBody>
      </p:sp>
      <p:sp>
        <p:nvSpPr>
          <p:cNvPr id="10" name="Text 8">
            <a:hlinkClick r:id="rId3"/>
          </p:cNvPr>
          <p:cNvSpPr txBox="1"/>
          <p:nvPr/>
        </p:nvSpPr>
        <p:spPr>
          <a:xfrm>
            <a:off x="5138928" y="1828800"/>
            <a:ext cx="626364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850" u="sng" dirty="0">
                <a:solidFill>
                  <a:srgbClr val="2C63B8"/>
                </a:solidFill>
                <a:latin typeface="Ubuntu" pitchFamily="34" charset="0"/>
                <a:ea typeface="Ubuntu" pitchFamily="34" charset="-122"/>
                <a:cs typeface="Ubuntu" pitchFamily="34" charset="-120"/>
                <a:hlinkClick r:id="rId3">
                  <a:extLst>
                    <a:ext uri="{A12FA001-AC4F-418D-AE19-62706E023703}">
                      <ahyp:hlinkClr xmlns:ahyp="http://schemas.microsoft.com/office/drawing/2018/hyperlinkcolor" val="tx"/>
                    </a:ext>
                  </a:extLst>
                </a:hlinkClick>
              </a:rPr>
              <a:t>https://www.nasa.gov/smallsat-institute/sst-soa</a:t>
            </a:r>
            <a:endParaRPr lang="en-US" sz="850" dirty="0"/>
          </a:p>
        </p:txBody>
      </p:sp>
      <p:sp>
        <p:nvSpPr>
          <p:cNvPr id="11" name="Shape 9"/>
          <p:cNvSpPr/>
          <p:nvPr/>
        </p:nvSpPr>
        <p:spPr>
          <a:xfrm>
            <a:off x="658368" y="2651760"/>
            <a:ext cx="10881360" cy="731520"/>
          </a:xfrm>
          <a:prstGeom prst="roundRect">
            <a:avLst>
              <a:gd name="adj" fmla="val 6250"/>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12" name="Shape 10"/>
          <p:cNvSpPr/>
          <p:nvPr/>
        </p:nvSpPr>
        <p:spPr>
          <a:xfrm>
            <a:off x="658368" y="2651760"/>
            <a:ext cx="50292" cy="73152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3" name="Text 11"/>
          <p:cNvSpPr txBox="1"/>
          <p:nvPr/>
        </p:nvSpPr>
        <p:spPr>
          <a:xfrm>
            <a:off x="932688" y="2715768"/>
            <a:ext cx="3931920" cy="274320"/>
          </a:xfrm>
          <a:prstGeom prst="rect">
            <a:avLst/>
          </a:prstGeom>
          <a:noFill/>
          <a:ln/>
        </p:spPr>
        <p:txBody>
          <a:bodyPr wrap="square" lIns="0" tIns="0" rIns="0" bIns="0" rtlCol="0" anchor="ctr"/>
          <a:lstStyle/>
          <a:p>
            <a:pPr marL="0" indent="0">
              <a:buNone/>
              <a:defRPr>
                <a:latin typeface="Ubuntu"/>
                <a:ea typeface="Ubuntu"/>
                <a:cs typeface="Ubuntu"/>
              </a:defRPr>
            </a:pPr>
            <a:r>
              <a:rPr lang="en-US" sz="1300" b="1" dirty="0">
                <a:solidFill>
                  <a:srgbClr val="1E2761"/>
                </a:solidFill>
                <a:latin typeface="Ubuntu" pitchFamily="34" charset="0"/>
                <a:ea typeface="Ubuntu" pitchFamily="34" charset="-122"/>
                <a:cs typeface="Ubuntu" pitchFamily="34" charset="-120"/>
              </a:rPr>
              <a:t>MarCO — NASA JPL</a:t>
            </a:r>
            <a:endParaRPr lang="en-US" sz="1300" dirty="0"/>
          </a:p>
        </p:txBody>
      </p:sp>
      <p:sp>
        <p:nvSpPr>
          <p:cNvPr id="14" name="Text 12"/>
          <p:cNvSpPr txBox="1"/>
          <p:nvPr/>
        </p:nvSpPr>
        <p:spPr>
          <a:xfrm>
            <a:off x="932688" y="2990088"/>
            <a:ext cx="40233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5F6B8C"/>
                </a:solidFill>
                <a:latin typeface="Ubuntu" pitchFamily="34" charset="0"/>
                <a:ea typeface="Ubuntu" pitchFamily="34" charset="-122"/>
                <a:cs typeface="Ubuntu" pitchFamily="34" charset="-120"/>
              </a:rPr>
              <a:t>The two CubeSats that relayed InSight's landing from Mars</a:t>
            </a:r>
            <a:endParaRPr lang="en-US" sz="1050" dirty="0"/>
          </a:p>
        </p:txBody>
      </p:sp>
      <p:sp>
        <p:nvSpPr>
          <p:cNvPr id="15" name="Text 13">
            <a:hlinkClick r:id="rId4"/>
          </p:cNvPr>
          <p:cNvSpPr txBox="1"/>
          <p:nvPr/>
        </p:nvSpPr>
        <p:spPr>
          <a:xfrm>
            <a:off x="5138928" y="2651760"/>
            <a:ext cx="626364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850" u="sng" dirty="0">
                <a:solidFill>
                  <a:srgbClr val="2C63B8"/>
                </a:solidFill>
                <a:latin typeface="Ubuntu" pitchFamily="34" charset="0"/>
                <a:ea typeface="Ubuntu" pitchFamily="34" charset="-122"/>
                <a:cs typeface="Ubuntu" pitchFamily="34" charset="-120"/>
                <a:hlinkClick r:id="rId4">
                  <a:extLst>
                    <a:ext uri="{A12FA001-AC4F-418D-AE19-62706E023703}">
                      <ahyp:hlinkClr xmlns:ahyp="http://schemas.microsoft.com/office/drawing/2018/hyperlinkcolor" val="tx"/>
                    </a:ext>
                  </a:extLst>
                </a:hlinkClick>
              </a:rPr>
              <a:t>https://www.jpl.nasa.gov/missions/mars-cube-one-marco</a:t>
            </a:r>
            <a:endParaRPr lang="en-US" sz="850" dirty="0"/>
          </a:p>
        </p:txBody>
      </p:sp>
      <p:sp>
        <p:nvSpPr>
          <p:cNvPr id="16" name="Shape 14"/>
          <p:cNvSpPr/>
          <p:nvPr/>
        </p:nvSpPr>
        <p:spPr>
          <a:xfrm>
            <a:off x="658368" y="3474720"/>
            <a:ext cx="10881360" cy="731520"/>
          </a:xfrm>
          <a:prstGeom prst="roundRect">
            <a:avLst>
              <a:gd name="adj" fmla="val 6250"/>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7" name="Shape 15"/>
          <p:cNvSpPr/>
          <p:nvPr/>
        </p:nvSpPr>
        <p:spPr>
          <a:xfrm>
            <a:off x="658368" y="3474720"/>
            <a:ext cx="50292" cy="73152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8" name="Text 16"/>
          <p:cNvSpPr txBox="1"/>
          <p:nvPr/>
        </p:nvSpPr>
        <p:spPr>
          <a:xfrm>
            <a:off x="932688" y="3538728"/>
            <a:ext cx="3931920" cy="274320"/>
          </a:xfrm>
          <a:prstGeom prst="rect">
            <a:avLst/>
          </a:prstGeom>
          <a:noFill/>
          <a:ln/>
        </p:spPr>
        <p:txBody>
          <a:bodyPr wrap="square" lIns="0" tIns="0" rIns="0" bIns="0" rtlCol="0" anchor="ctr"/>
          <a:lstStyle/>
          <a:p>
            <a:pPr marL="0" indent="0">
              <a:buNone/>
              <a:defRPr>
                <a:latin typeface="Ubuntu"/>
                <a:ea typeface="Ubuntu"/>
                <a:cs typeface="Ubuntu"/>
              </a:defRPr>
            </a:pPr>
            <a:r>
              <a:rPr lang="en-US" sz="1300" b="1" dirty="0">
                <a:solidFill>
                  <a:srgbClr val="1E2761"/>
                </a:solidFill>
                <a:latin typeface="Ubuntu" pitchFamily="34" charset="0"/>
                <a:ea typeface="Ubuntu" pitchFamily="34" charset="-122"/>
                <a:cs typeface="Ubuntu" pitchFamily="34" charset="-120"/>
              </a:rPr>
              <a:t>ESA Web TV — CubeSats</a:t>
            </a:r>
            <a:endParaRPr lang="en-US" sz="1300" dirty="0"/>
          </a:p>
        </p:txBody>
      </p:sp>
      <p:sp>
        <p:nvSpPr>
          <p:cNvPr id="19" name="Text 17"/>
          <p:cNvSpPr txBox="1"/>
          <p:nvPr/>
        </p:nvSpPr>
        <p:spPr>
          <a:xfrm>
            <a:off x="932688" y="3813048"/>
            <a:ext cx="40233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5F6B8C"/>
                </a:solidFill>
                <a:latin typeface="Ubuntu" pitchFamily="34" charset="0"/>
                <a:ea typeface="Ubuntu" pitchFamily="34" charset="-122"/>
                <a:cs typeface="Ubuntu" pitchFamily="34" charset="-120"/>
              </a:rPr>
              <a:t>Mission footage and payload demonstrations, over fifty videos</a:t>
            </a:r>
            <a:endParaRPr lang="en-US" sz="1050" dirty="0"/>
          </a:p>
        </p:txBody>
      </p:sp>
      <p:sp>
        <p:nvSpPr>
          <p:cNvPr id="20" name="Text 18">
            <a:hlinkClick r:id="rId5"/>
          </p:cNvPr>
          <p:cNvSpPr txBox="1"/>
          <p:nvPr/>
        </p:nvSpPr>
        <p:spPr>
          <a:xfrm>
            <a:off x="5138928" y="3474720"/>
            <a:ext cx="626364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850" u="sng" dirty="0">
                <a:solidFill>
                  <a:srgbClr val="2C63B8"/>
                </a:solidFill>
                <a:latin typeface="Ubuntu" pitchFamily="34" charset="0"/>
                <a:ea typeface="Ubuntu" pitchFamily="34" charset="-122"/>
                <a:cs typeface="Ubuntu" pitchFamily="34" charset="-120"/>
                <a:hlinkClick r:id="rId5">
                  <a:extLst>
                    <a:ext uri="{A12FA001-AC4F-418D-AE19-62706E023703}">
                      <ahyp:hlinkClr xmlns:ahyp="http://schemas.microsoft.com/office/drawing/2018/hyperlinkcolor" val="tx"/>
                    </a:ext>
                  </a:extLst>
                </a:hlinkClick>
              </a:rPr>
              <a:t>https://www.esa.int/ESA_Multimedia/Keywords/System/CubeSats/(result_type)/videos</a:t>
            </a:r>
            <a:endParaRPr lang="en-US" sz="850" dirty="0"/>
          </a:p>
        </p:txBody>
      </p:sp>
      <p:sp>
        <p:nvSpPr>
          <p:cNvPr id="21" name="Shape 19"/>
          <p:cNvSpPr/>
          <p:nvPr/>
        </p:nvSpPr>
        <p:spPr>
          <a:xfrm>
            <a:off x="658368" y="4297680"/>
            <a:ext cx="10881360" cy="731520"/>
          </a:xfrm>
          <a:prstGeom prst="roundRect">
            <a:avLst>
              <a:gd name="adj" fmla="val 6250"/>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22" name="Shape 20"/>
          <p:cNvSpPr/>
          <p:nvPr/>
        </p:nvSpPr>
        <p:spPr>
          <a:xfrm>
            <a:off x="658368" y="4297680"/>
            <a:ext cx="50292" cy="73152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23" name="Text 21"/>
          <p:cNvSpPr txBox="1"/>
          <p:nvPr/>
        </p:nvSpPr>
        <p:spPr>
          <a:xfrm>
            <a:off x="932688" y="4361688"/>
            <a:ext cx="3931920" cy="274320"/>
          </a:xfrm>
          <a:prstGeom prst="rect">
            <a:avLst/>
          </a:prstGeom>
          <a:noFill/>
          <a:ln/>
        </p:spPr>
        <p:txBody>
          <a:bodyPr wrap="square" lIns="0" tIns="0" rIns="0" bIns="0" rtlCol="0" anchor="ctr"/>
          <a:lstStyle/>
          <a:p>
            <a:pPr marL="0" indent="0">
              <a:buNone/>
              <a:defRPr>
                <a:latin typeface="Ubuntu"/>
                <a:ea typeface="Ubuntu"/>
                <a:cs typeface="Ubuntu"/>
              </a:defRPr>
            </a:pPr>
            <a:r>
              <a:rPr lang="en-US" sz="1300" b="1" dirty="0">
                <a:solidFill>
                  <a:srgbClr val="1E2761"/>
                </a:solidFill>
                <a:latin typeface="Ubuntu" pitchFamily="34" charset="0"/>
                <a:ea typeface="Ubuntu" pitchFamily="34" charset="-122"/>
                <a:cs typeface="Ubuntu" pitchFamily="34" charset="-120"/>
              </a:rPr>
              <a:t>Nanosats Database</a:t>
            </a:r>
            <a:endParaRPr lang="en-US" sz="1300" dirty="0"/>
          </a:p>
        </p:txBody>
      </p:sp>
      <p:sp>
        <p:nvSpPr>
          <p:cNvPr id="24" name="Text 22"/>
          <p:cNvSpPr txBox="1"/>
          <p:nvPr/>
        </p:nvSpPr>
        <p:spPr>
          <a:xfrm>
            <a:off x="932688" y="4636008"/>
            <a:ext cx="40233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5F6B8C"/>
                </a:solidFill>
                <a:latin typeface="Ubuntu" pitchFamily="34" charset="0"/>
                <a:ea typeface="Ubuntu" pitchFamily="34" charset="-122"/>
                <a:cs typeface="Ubuntu" pitchFamily="34" charset="-120"/>
              </a:rPr>
              <a:t>Every nanosatellite launched, searchable by payload type</a:t>
            </a:r>
            <a:endParaRPr lang="en-US" sz="1050" dirty="0"/>
          </a:p>
        </p:txBody>
      </p:sp>
      <p:sp>
        <p:nvSpPr>
          <p:cNvPr id="25" name="Text 23">
            <a:hlinkClick r:id="rId6"/>
          </p:cNvPr>
          <p:cNvSpPr txBox="1"/>
          <p:nvPr/>
        </p:nvSpPr>
        <p:spPr>
          <a:xfrm>
            <a:off x="5138928" y="4297680"/>
            <a:ext cx="626364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850" u="sng" dirty="0">
                <a:solidFill>
                  <a:srgbClr val="2C63B8"/>
                </a:solidFill>
                <a:latin typeface="Ubuntu" pitchFamily="34" charset="0"/>
                <a:ea typeface="Ubuntu" pitchFamily="34" charset="-122"/>
                <a:cs typeface="Ubuntu" pitchFamily="34" charset="-120"/>
                <a:hlinkClick r:id="rId6">
                  <a:extLst>
                    <a:ext uri="{A12FA001-AC4F-418D-AE19-62706E023703}">
                      <ahyp:hlinkClr xmlns:ahyp="http://schemas.microsoft.com/office/drawing/2018/hyperlinkcolor" val="tx"/>
                    </a:ext>
                  </a:extLst>
                </a:hlinkClick>
              </a:rPr>
              <a:t>https://www.nanosats.eu/</a:t>
            </a:r>
            <a:endParaRPr lang="en-US" sz="850" dirty="0"/>
          </a:p>
        </p:txBody>
      </p:sp>
      <p:sp>
        <p:nvSpPr>
          <p:cNvPr id="26" name="Shape 24"/>
          <p:cNvSpPr/>
          <p:nvPr/>
        </p:nvSpPr>
        <p:spPr>
          <a:xfrm>
            <a:off x="658368" y="5120640"/>
            <a:ext cx="10881360" cy="731520"/>
          </a:xfrm>
          <a:prstGeom prst="roundRect">
            <a:avLst>
              <a:gd name="adj" fmla="val 6250"/>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27" name="Shape 25"/>
          <p:cNvSpPr/>
          <p:nvPr/>
        </p:nvSpPr>
        <p:spPr>
          <a:xfrm>
            <a:off x="658368" y="5120640"/>
            <a:ext cx="50292" cy="73152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28" name="Text 26"/>
          <p:cNvSpPr txBox="1"/>
          <p:nvPr/>
        </p:nvSpPr>
        <p:spPr>
          <a:xfrm>
            <a:off x="932688" y="5184648"/>
            <a:ext cx="3931920" cy="274320"/>
          </a:xfrm>
          <a:prstGeom prst="rect">
            <a:avLst/>
          </a:prstGeom>
          <a:noFill/>
          <a:ln/>
        </p:spPr>
        <p:txBody>
          <a:bodyPr wrap="square" lIns="0" tIns="0" rIns="0" bIns="0" rtlCol="0" anchor="ctr"/>
          <a:lstStyle/>
          <a:p>
            <a:pPr marL="0" indent="0">
              <a:buNone/>
              <a:defRPr>
                <a:latin typeface="Ubuntu"/>
                <a:ea typeface="Ubuntu"/>
                <a:cs typeface="Ubuntu"/>
              </a:defRPr>
            </a:pPr>
            <a:r>
              <a:rPr lang="en-US" sz="1300" b="1" dirty="0">
                <a:solidFill>
                  <a:srgbClr val="1E2761"/>
                </a:solidFill>
                <a:latin typeface="Ubuntu" pitchFamily="34" charset="0"/>
                <a:ea typeface="Ubuntu" pitchFamily="34" charset="-122"/>
                <a:cs typeface="Ubuntu" pitchFamily="34" charset="-120"/>
              </a:rPr>
              <a:t>ESA Technology CubeSats</a:t>
            </a:r>
            <a:endParaRPr lang="en-US" sz="1300" dirty="0"/>
          </a:p>
        </p:txBody>
      </p:sp>
      <p:sp>
        <p:nvSpPr>
          <p:cNvPr id="29" name="Text 27"/>
          <p:cNvSpPr txBox="1"/>
          <p:nvPr/>
        </p:nvSpPr>
        <p:spPr>
          <a:xfrm>
            <a:off x="932688" y="5458968"/>
            <a:ext cx="40233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5F6B8C"/>
                </a:solidFill>
                <a:latin typeface="Ubuntu" pitchFamily="34" charset="0"/>
                <a:ea typeface="Ubuntu" pitchFamily="34" charset="-122"/>
                <a:cs typeface="Ubuntu" pitchFamily="34" charset="-120"/>
              </a:rPr>
              <a:t>In-orbit demonstration missions and their results</a:t>
            </a:r>
            <a:endParaRPr lang="en-US" sz="1050" dirty="0"/>
          </a:p>
        </p:txBody>
      </p:sp>
      <p:sp>
        <p:nvSpPr>
          <p:cNvPr id="30" name="Text 28">
            <a:hlinkClick r:id="rId7"/>
          </p:cNvPr>
          <p:cNvSpPr txBox="1"/>
          <p:nvPr/>
        </p:nvSpPr>
        <p:spPr>
          <a:xfrm>
            <a:off x="5138928" y="5120640"/>
            <a:ext cx="626364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850" u="sng" dirty="0">
                <a:solidFill>
                  <a:srgbClr val="2C63B8"/>
                </a:solidFill>
                <a:latin typeface="Ubuntu" pitchFamily="34" charset="0"/>
                <a:ea typeface="Ubuntu" pitchFamily="34" charset="-122"/>
                <a:cs typeface="Ubuntu" pitchFamily="34" charset="-120"/>
                <a:hlinkClick r:id="rId7">
                  <a:extLst>
                    <a:ext uri="{A12FA001-AC4F-418D-AE19-62706E023703}">
                      <ahyp:hlinkClr xmlns:ahyp="http://schemas.microsoft.com/office/drawing/2018/hyperlinkcolor" val="tx"/>
                    </a:ext>
                  </a:extLst>
                </a:hlinkClick>
              </a:rPr>
              <a:t>https://www.esa.int/Enabling_Support/Space_Engineering_Technology/CubeSats</a:t>
            </a:r>
            <a:endParaRPr lang="en-US" sz="850" dirty="0"/>
          </a:p>
        </p:txBody>
      </p:sp>
      <p:sp>
        <p:nvSpPr>
          <p:cNvPr id="31" name="Text 29"/>
          <p:cNvSpPr txBox="1"/>
          <p:nvPr/>
        </p:nvSpPr>
        <p:spPr>
          <a:xfrm>
            <a:off x="658368" y="6382512"/>
            <a:ext cx="73152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950" dirty="0">
                <a:solidFill>
                  <a:srgbClr val="A6B0C4"/>
                </a:solidFill>
                <a:latin typeface="Ubuntu" pitchFamily="34" charset="0"/>
                <a:ea typeface="Ubuntu" pitchFamily="34" charset="-122"/>
                <a:cs typeface="Ubuntu" pitchFamily="34" charset="-120"/>
              </a:rPr>
              <a:t>Payload Systems</a:t>
            </a:r>
            <a:endParaRPr lang="en-US" sz="950" dirty="0"/>
          </a:p>
        </p:txBody>
      </p:sp>
      <p:sp>
        <p:nvSpPr>
          <p:cNvPr id="34" name="Slide Number Placeholder 7">
            <a:extLst>
              <a:ext uri="{FF2B5EF4-FFF2-40B4-BE49-F238E27FC236}">
                <a16:creationId xmlns:a16="http://schemas.microsoft.com/office/drawing/2014/main" id="{00326624-0348-16CA-68D4-DA4DF1DCAE24}"/>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47</a:t>
            </a:fld>
            <a:endParaRPr lang="en-US" sz="4800" b="1" dirty="0">
              <a:solidFill>
                <a:srgbClr val="FF0000"/>
              </a:solidFill>
            </a:endParaRPr>
          </a:p>
        </p:txBody>
      </p:sp>
      <p:pic>
        <p:nvPicPr>
          <p:cNvPr id="35" name="Space Faculty logo" descr="sf_logo.png"/>
          <p:cNvPicPr>
            <a:picLocks noChangeAspect="1"/>
          </p:cNvPicPr>
          <p:nvPr/>
        </p:nvPicPr>
        <p:blipFill>
          <a:blip r:embed="rId8"/>
          <a:stretch>
            <a:fillRect/>
          </a:stretch>
        </p:blipFill>
        <p:spPr>
          <a:xfrm>
            <a:off x="10372490" y="54864"/>
            <a:ext cx="1706733" cy="48502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658368" y="484402"/>
            <a:ext cx="10984687" cy="566928"/>
          </a:xfrm>
          <a:prstGeom prst="rect">
            <a:avLst/>
          </a:prstGeom>
          <a:noFill/>
          <a:ln/>
        </p:spPr>
        <p:txBody>
          <a:bodyPr wrap="square" lIns="0" tIns="0" rIns="0" bIns="0" rtlCol="0" anchor="ctr"/>
          <a:lstStyle/>
          <a:p>
            <a:pPr marL="0" indent="0">
              <a:buNone/>
              <a:defRPr>
                <a:latin typeface="House Movements Runway"/>
                <a:ea typeface="House Movements Runway"/>
                <a:cs typeface="House Movements Runway"/>
              </a:defRPr>
            </a:pPr>
            <a:r>
              <a:rPr lang="en-US" sz="4800" b="1" dirty="0">
                <a:solidFill>
                  <a:srgbClr val="1E2761"/>
                </a:solidFill>
                <a:latin typeface="House Movements Runway" pitchFamily="34" charset="0"/>
                <a:ea typeface="House Movements Runway" pitchFamily="34" charset="-122"/>
                <a:cs typeface="House Movements Runway" pitchFamily="34" charset="-120"/>
              </a:rPr>
              <a:t>Exercise 5 — What Comes Down</a:t>
            </a:r>
            <a:endParaRPr lang="en-US" sz="48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sz="1450" dirty="0">
                <a:solidFill>
                  <a:srgbClr val="5F6B8C"/>
                </a:solidFill>
                <a:latin typeface="Ubuntu" pitchFamily="34" charset="0"/>
                <a:ea typeface="Ubuntu" pitchFamily="34" charset="-122"/>
                <a:cs typeface="Ubuntu" pitchFamily="34" charset="-120"/>
              </a:rPr>
              <a:t>Fifteen minutes, in your team, on the design sheet.</a:t>
            </a:r>
            <a:endParaRPr lang="en-US" sz="1450" dirty="0"/>
          </a:p>
        </p:txBody>
      </p:sp>
      <p:sp>
        <p:nvSpPr>
          <p:cNvPr id="6" name="Shape 4"/>
          <p:cNvSpPr/>
          <p:nvPr/>
        </p:nvSpPr>
        <p:spPr>
          <a:xfrm>
            <a:off x="10436352" y="1010297"/>
            <a:ext cx="1097280" cy="420624"/>
          </a:xfrm>
          <a:prstGeom prst="roundRect">
            <a:avLst>
              <a:gd name="adj" fmla="val 21739"/>
            </a:avLst>
          </a:prstGeom>
          <a:solidFill>
            <a:srgbClr val="FBEDE7"/>
          </a:solidFill>
          <a:ln w="12700">
            <a:solidFill>
              <a:srgbClr val="FBEDE7"/>
            </a:solidFill>
            <a:prstDash val="solid"/>
          </a:ln>
        </p:spPr>
        <p:txBody>
          <a:bodyPr/>
          <a:lstStyle/>
          <a:p>
            <a:pPr>
              <a:defRPr>
                <a:latin typeface="Ubuntu"/>
                <a:ea typeface="Ubuntu"/>
                <a:cs typeface="Ubuntu"/>
              </a:defRPr>
            </a:pPr>
            <a:endParaRPr lang="en-US" dirty="0"/>
          </a:p>
        </p:txBody>
      </p:sp>
      <p:sp>
        <p:nvSpPr>
          <p:cNvPr id="7" name="Text 5"/>
          <p:cNvSpPr txBox="1"/>
          <p:nvPr/>
        </p:nvSpPr>
        <p:spPr>
          <a:xfrm>
            <a:off x="10381866" y="1010297"/>
            <a:ext cx="1097280" cy="420624"/>
          </a:xfrm>
          <a:prstGeom prst="rect">
            <a:avLst/>
          </a:prstGeom>
          <a:noFill/>
          <a:ln/>
        </p:spPr>
        <p:txBody>
          <a:bodyPr wrap="square" lIns="0" tIns="0" rIns="0" bIns="0" rtlCol="0" anchor="ctr"/>
          <a:lstStyle/>
          <a:p>
            <a:pPr marL="0" indent="0" algn="ctr">
              <a:buNone/>
              <a:defRPr>
                <a:latin typeface="Ubuntu"/>
                <a:ea typeface="Ubuntu"/>
                <a:cs typeface="Ubuntu"/>
              </a:defRPr>
            </a:pPr>
            <a:r>
              <a:rPr lang="en-US" sz="1200" b="1" dirty="0">
                <a:solidFill>
                  <a:srgbClr val="D85A30"/>
                </a:solidFill>
                <a:latin typeface="Ubuntu" pitchFamily="34" charset="0"/>
                <a:ea typeface="Ubuntu" pitchFamily="34" charset="-122"/>
                <a:cs typeface="Ubuntu" pitchFamily="34" charset="-120"/>
              </a:rPr>
              <a:t>10 min</a:t>
            </a:r>
            <a:endParaRPr lang="en-US" sz="1200" dirty="0"/>
          </a:p>
        </p:txBody>
      </p:sp>
      <p:sp>
        <p:nvSpPr>
          <p:cNvPr id="8" name="Text 6"/>
          <p:cNvSpPr txBox="1"/>
          <p:nvPr/>
        </p:nvSpPr>
        <p:spPr>
          <a:xfrm>
            <a:off x="658368" y="1810512"/>
            <a:ext cx="6949440" cy="237744"/>
          </a:xfrm>
          <a:prstGeom prst="rect">
            <a:avLst/>
          </a:prstGeom>
          <a:noFill/>
          <a:ln/>
        </p:spPr>
        <p:txBody>
          <a:bodyPr wrap="square" lIns="0" tIns="0" rIns="0" bIns="0" rtlCol="0" anchor="ctr"/>
          <a:lstStyle/>
          <a:p>
            <a:pPr marL="0" indent="0">
              <a:buNone/>
              <a:defRPr>
                <a:latin typeface="Ubuntu"/>
                <a:ea typeface="Ubuntu"/>
                <a:cs typeface="Ubuntu"/>
              </a:defRPr>
            </a:pPr>
            <a:r>
              <a:rPr lang="en-US" sz="1000" b="1" kern="0" spc="130" dirty="0">
                <a:solidFill>
                  <a:srgbClr val="D85A30"/>
                </a:solidFill>
                <a:latin typeface="Ubuntu" pitchFamily="34" charset="0"/>
                <a:ea typeface="Ubuntu" pitchFamily="34" charset="-122"/>
                <a:cs typeface="Ubuntu" pitchFamily="34" charset="-120"/>
              </a:rPr>
              <a:t>THE TASK</a:t>
            </a:r>
            <a:endParaRPr lang="en-US" sz="1000" dirty="0"/>
          </a:p>
        </p:txBody>
      </p:sp>
      <p:sp>
        <p:nvSpPr>
          <p:cNvPr id="9" name="Shape 7"/>
          <p:cNvSpPr/>
          <p:nvPr/>
        </p:nvSpPr>
        <p:spPr>
          <a:xfrm>
            <a:off x="658368" y="2103120"/>
            <a:ext cx="6949440" cy="786384"/>
          </a:xfrm>
          <a:prstGeom prst="roundRect">
            <a:avLst>
              <a:gd name="adj" fmla="val 5814"/>
            </a:avLst>
          </a:prstGeom>
          <a:solidFill>
            <a:srgbClr val="F4F6FB"/>
          </a:solidFill>
          <a:ln w="12700">
            <a:solidFill>
              <a:srgbClr val="F4F6FB"/>
            </a:solidFill>
            <a:prstDash val="solid"/>
          </a:ln>
        </p:spPr>
        <p:txBody>
          <a:bodyPr/>
          <a:lstStyle/>
          <a:p>
            <a:pPr>
              <a:defRPr>
                <a:latin typeface="Ubuntu"/>
                <a:ea typeface="Ubuntu"/>
                <a:cs typeface="Ubuntu"/>
              </a:defRPr>
            </a:pPr>
            <a:endParaRPr lang="en-US" sz="2000"/>
          </a:p>
        </p:txBody>
      </p:sp>
      <p:sp>
        <p:nvSpPr>
          <p:cNvPr id="10" name="Shape 8"/>
          <p:cNvSpPr/>
          <p:nvPr/>
        </p:nvSpPr>
        <p:spPr>
          <a:xfrm>
            <a:off x="896112" y="2322576"/>
            <a:ext cx="347472" cy="347472"/>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sz="2000"/>
          </a:p>
        </p:txBody>
      </p:sp>
      <p:sp>
        <p:nvSpPr>
          <p:cNvPr id="11" name="Text 9"/>
          <p:cNvSpPr txBox="1"/>
          <p:nvPr/>
        </p:nvSpPr>
        <p:spPr>
          <a:xfrm>
            <a:off x="896112" y="2322576"/>
            <a:ext cx="347472" cy="347472"/>
          </a:xfrm>
          <a:prstGeom prst="rect">
            <a:avLst/>
          </a:prstGeom>
          <a:noFill/>
          <a:ln/>
        </p:spPr>
        <p:txBody>
          <a:bodyPr wrap="square" lIns="0" tIns="0" rIns="0" bIns="0" rtlCol="0" anchor="ctr"/>
          <a:lstStyle/>
          <a:p>
            <a:pPr marL="0" indent="0" algn="ctr">
              <a:buNone/>
              <a:defRPr>
                <a:latin typeface="Ubuntu"/>
                <a:ea typeface="Ubuntu"/>
                <a:cs typeface="Ubuntu"/>
              </a:defRPr>
            </a:pPr>
            <a:r>
              <a:rPr lang="en-US" sz="2000" b="1" dirty="0">
                <a:solidFill>
                  <a:srgbClr val="FFFFFF"/>
                </a:solidFill>
                <a:latin typeface="Ubuntu" pitchFamily="34" charset="0"/>
                <a:ea typeface="Ubuntu" pitchFamily="34" charset="-122"/>
                <a:cs typeface="Ubuntu" pitchFamily="34" charset="-120"/>
              </a:rPr>
              <a:t>1</a:t>
            </a:r>
            <a:endParaRPr lang="en-US" sz="2000" dirty="0"/>
          </a:p>
        </p:txBody>
      </p:sp>
      <p:sp>
        <p:nvSpPr>
          <p:cNvPr id="12" name="Text 10"/>
          <p:cNvSpPr txBox="1"/>
          <p:nvPr/>
        </p:nvSpPr>
        <p:spPr>
          <a:xfrm>
            <a:off x="1408176" y="2103120"/>
            <a:ext cx="5943600" cy="786384"/>
          </a:xfrm>
          <a:prstGeom prst="rect">
            <a:avLst/>
          </a:prstGeom>
          <a:noFill/>
          <a:ln/>
        </p:spPr>
        <p:txBody>
          <a:bodyPr wrap="square" lIns="0" tIns="0" rIns="0" bIns="0" rtlCol="0" anchor="ctr"/>
          <a:lstStyle/>
          <a:p>
            <a:pPr marL="0" indent="0">
              <a:lnSpc>
                <a:spcPct val="112000"/>
              </a:lnSpc>
              <a:buNone/>
              <a:defRPr>
                <a:latin typeface="Ubuntu"/>
                <a:ea typeface="Ubuntu"/>
                <a:cs typeface="Ubuntu"/>
              </a:defRPr>
            </a:pPr>
            <a:r>
              <a:rPr lang="en-US" sz="2000" dirty="0">
                <a:solidFill>
                  <a:srgbClr val="3C4657"/>
                </a:solidFill>
                <a:latin typeface="Ubuntu" pitchFamily="34" charset="0"/>
                <a:ea typeface="Ubuntu" pitchFamily="34" charset="-122"/>
                <a:cs typeface="Ubuntu" pitchFamily="34" charset="-120"/>
              </a:rPr>
              <a:t>Work out how much image data you can return to the ground in one day.</a:t>
            </a:r>
            <a:endParaRPr lang="en-US" sz="2000" dirty="0"/>
          </a:p>
        </p:txBody>
      </p:sp>
      <p:sp>
        <p:nvSpPr>
          <p:cNvPr id="13" name="Shape 11"/>
          <p:cNvSpPr/>
          <p:nvPr/>
        </p:nvSpPr>
        <p:spPr>
          <a:xfrm>
            <a:off x="649224" y="3163651"/>
            <a:ext cx="6949440" cy="786384"/>
          </a:xfrm>
          <a:prstGeom prst="roundRect">
            <a:avLst>
              <a:gd name="adj" fmla="val 5814"/>
            </a:avLst>
          </a:prstGeom>
          <a:solidFill>
            <a:srgbClr val="FFFFFF"/>
          </a:solidFill>
          <a:ln w="12700">
            <a:solidFill>
              <a:srgbClr val="FFFFFF"/>
            </a:solidFill>
            <a:prstDash val="solid"/>
          </a:ln>
        </p:spPr>
        <p:txBody>
          <a:bodyPr/>
          <a:lstStyle/>
          <a:p>
            <a:pPr>
              <a:defRPr>
                <a:latin typeface="Ubuntu"/>
                <a:ea typeface="Ubuntu"/>
                <a:cs typeface="Ubuntu"/>
              </a:defRPr>
            </a:pPr>
            <a:endParaRPr lang="en-US" sz="2000"/>
          </a:p>
        </p:txBody>
      </p:sp>
      <p:sp>
        <p:nvSpPr>
          <p:cNvPr id="14" name="Shape 12"/>
          <p:cNvSpPr/>
          <p:nvPr/>
        </p:nvSpPr>
        <p:spPr>
          <a:xfrm>
            <a:off x="886968" y="3383107"/>
            <a:ext cx="347472" cy="347472"/>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sz="2000"/>
          </a:p>
        </p:txBody>
      </p:sp>
      <p:sp>
        <p:nvSpPr>
          <p:cNvPr id="15" name="Text 13"/>
          <p:cNvSpPr txBox="1"/>
          <p:nvPr/>
        </p:nvSpPr>
        <p:spPr>
          <a:xfrm>
            <a:off x="886968" y="3383107"/>
            <a:ext cx="347472" cy="347472"/>
          </a:xfrm>
          <a:prstGeom prst="rect">
            <a:avLst/>
          </a:prstGeom>
          <a:noFill/>
          <a:ln/>
        </p:spPr>
        <p:txBody>
          <a:bodyPr wrap="square" lIns="0" tIns="0" rIns="0" bIns="0" rtlCol="0" anchor="ctr"/>
          <a:lstStyle/>
          <a:p>
            <a:pPr marL="0" indent="0" algn="ctr">
              <a:buNone/>
              <a:defRPr>
                <a:latin typeface="Ubuntu"/>
                <a:ea typeface="Ubuntu"/>
                <a:cs typeface="Ubuntu"/>
              </a:defRPr>
            </a:pPr>
            <a:r>
              <a:rPr lang="en-US" sz="2000" b="1" dirty="0">
                <a:solidFill>
                  <a:srgbClr val="FFFFFF"/>
                </a:solidFill>
                <a:latin typeface="Ubuntu" pitchFamily="34" charset="0"/>
                <a:ea typeface="Ubuntu" pitchFamily="34" charset="-122"/>
                <a:cs typeface="Ubuntu" pitchFamily="34" charset="-120"/>
              </a:rPr>
              <a:t>2</a:t>
            </a:r>
            <a:endParaRPr lang="en-US" sz="2000" dirty="0"/>
          </a:p>
        </p:txBody>
      </p:sp>
      <p:sp>
        <p:nvSpPr>
          <p:cNvPr id="16" name="Text 14"/>
          <p:cNvSpPr txBox="1"/>
          <p:nvPr/>
        </p:nvSpPr>
        <p:spPr>
          <a:xfrm>
            <a:off x="1399032" y="3163651"/>
            <a:ext cx="5943600" cy="786384"/>
          </a:xfrm>
          <a:prstGeom prst="rect">
            <a:avLst/>
          </a:prstGeom>
          <a:noFill/>
          <a:ln/>
        </p:spPr>
        <p:txBody>
          <a:bodyPr wrap="square" lIns="0" tIns="0" rIns="0" bIns="0" rtlCol="0" anchor="ctr"/>
          <a:lstStyle/>
          <a:p>
            <a:pPr marL="0" indent="0">
              <a:lnSpc>
                <a:spcPct val="112000"/>
              </a:lnSpc>
              <a:buNone/>
              <a:defRPr>
                <a:latin typeface="Ubuntu"/>
                <a:ea typeface="Ubuntu"/>
                <a:cs typeface="Ubuntu"/>
              </a:defRPr>
            </a:pPr>
            <a:r>
              <a:rPr lang="en-US" sz="2000" dirty="0">
                <a:solidFill>
                  <a:srgbClr val="3C4657"/>
                </a:solidFill>
                <a:latin typeface="Ubuntu" pitchFamily="34" charset="0"/>
                <a:ea typeface="Ubuntu" pitchFamily="34" charset="-122"/>
                <a:cs typeface="Ubuntu" pitchFamily="34" charset="-120"/>
              </a:rPr>
              <a:t>Work out how much the payload produces in one day if every image is kept.</a:t>
            </a:r>
            <a:endParaRPr lang="en-US" sz="2000" dirty="0"/>
          </a:p>
        </p:txBody>
      </p:sp>
      <p:sp>
        <p:nvSpPr>
          <p:cNvPr id="17" name="Shape 15"/>
          <p:cNvSpPr/>
          <p:nvPr/>
        </p:nvSpPr>
        <p:spPr>
          <a:xfrm>
            <a:off x="658368" y="4281981"/>
            <a:ext cx="6949440" cy="786384"/>
          </a:xfrm>
          <a:prstGeom prst="roundRect">
            <a:avLst>
              <a:gd name="adj" fmla="val 5814"/>
            </a:avLst>
          </a:prstGeom>
          <a:solidFill>
            <a:srgbClr val="F4F6FB"/>
          </a:solidFill>
          <a:ln w="12700">
            <a:solidFill>
              <a:srgbClr val="F4F6FB"/>
            </a:solidFill>
            <a:prstDash val="solid"/>
          </a:ln>
        </p:spPr>
        <p:txBody>
          <a:bodyPr/>
          <a:lstStyle/>
          <a:p>
            <a:pPr>
              <a:defRPr>
                <a:latin typeface="Ubuntu"/>
                <a:ea typeface="Ubuntu"/>
                <a:cs typeface="Ubuntu"/>
              </a:defRPr>
            </a:pPr>
            <a:endParaRPr lang="en-US" sz="2000"/>
          </a:p>
        </p:txBody>
      </p:sp>
      <p:sp>
        <p:nvSpPr>
          <p:cNvPr id="18" name="Shape 16"/>
          <p:cNvSpPr/>
          <p:nvPr/>
        </p:nvSpPr>
        <p:spPr>
          <a:xfrm>
            <a:off x="896112" y="4501437"/>
            <a:ext cx="347472" cy="347472"/>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sz="2000"/>
          </a:p>
        </p:txBody>
      </p:sp>
      <p:sp>
        <p:nvSpPr>
          <p:cNvPr id="19" name="Text 17"/>
          <p:cNvSpPr txBox="1"/>
          <p:nvPr/>
        </p:nvSpPr>
        <p:spPr>
          <a:xfrm>
            <a:off x="896112" y="4501437"/>
            <a:ext cx="347472" cy="347472"/>
          </a:xfrm>
          <a:prstGeom prst="rect">
            <a:avLst/>
          </a:prstGeom>
          <a:noFill/>
          <a:ln/>
        </p:spPr>
        <p:txBody>
          <a:bodyPr wrap="square" lIns="0" tIns="0" rIns="0" bIns="0" rtlCol="0" anchor="ctr"/>
          <a:lstStyle/>
          <a:p>
            <a:pPr marL="0" indent="0" algn="ctr">
              <a:buNone/>
              <a:defRPr>
                <a:latin typeface="Ubuntu"/>
                <a:ea typeface="Ubuntu"/>
                <a:cs typeface="Ubuntu"/>
              </a:defRPr>
            </a:pPr>
            <a:r>
              <a:rPr lang="en-US" sz="2000" b="1" dirty="0">
                <a:solidFill>
                  <a:srgbClr val="FFFFFF"/>
                </a:solidFill>
                <a:latin typeface="Ubuntu" pitchFamily="34" charset="0"/>
                <a:ea typeface="Ubuntu" pitchFamily="34" charset="-122"/>
                <a:cs typeface="Ubuntu" pitchFamily="34" charset="-120"/>
              </a:rPr>
              <a:t>3</a:t>
            </a:r>
            <a:endParaRPr lang="en-US" sz="2000" dirty="0"/>
          </a:p>
        </p:txBody>
      </p:sp>
      <p:sp>
        <p:nvSpPr>
          <p:cNvPr id="20" name="Text 18"/>
          <p:cNvSpPr txBox="1"/>
          <p:nvPr/>
        </p:nvSpPr>
        <p:spPr>
          <a:xfrm>
            <a:off x="1408176" y="4281981"/>
            <a:ext cx="5943600" cy="786384"/>
          </a:xfrm>
          <a:prstGeom prst="rect">
            <a:avLst/>
          </a:prstGeom>
          <a:noFill/>
          <a:ln/>
        </p:spPr>
        <p:txBody>
          <a:bodyPr wrap="square" lIns="0" tIns="0" rIns="0" bIns="0" rtlCol="0" anchor="ctr"/>
          <a:lstStyle/>
          <a:p>
            <a:pPr marL="0" indent="0">
              <a:lnSpc>
                <a:spcPct val="112000"/>
              </a:lnSpc>
              <a:buNone/>
              <a:defRPr>
                <a:latin typeface="Ubuntu"/>
                <a:ea typeface="Ubuntu"/>
                <a:cs typeface="Ubuntu"/>
              </a:defRPr>
            </a:pPr>
            <a:r>
              <a:rPr lang="en-US" sz="2000" dirty="0">
                <a:solidFill>
                  <a:srgbClr val="3C4657"/>
                </a:solidFill>
                <a:latin typeface="Ubuntu" pitchFamily="34" charset="0"/>
                <a:ea typeface="Ubuntu" pitchFamily="34" charset="-122"/>
                <a:cs typeface="Ubuntu" pitchFamily="34" charset="-120"/>
              </a:rPr>
              <a:t>The two numbers do not match. Decide what the onboard AI should discard, and what must always come down whatever happens.</a:t>
            </a:r>
            <a:endParaRPr lang="en-US" sz="2000" dirty="0"/>
          </a:p>
        </p:txBody>
      </p:sp>
      <p:sp>
        <p:nvSpPr>
          <p:cNvPr id="21" name="Shape 19"/>
          <p:cNvSpPr/>
          <p:nvPr/>
        </p:nvSpPr>
        <p:spPr>
          <a:xfrm>
            <a:off x="626364" y="5561968"/>
            <a:ext cx="6949440" cy="786384"/>
          </a:xfrm>
          <a:prstGeom prst="roundRect">
            <a:avLst>
              <a:gd name="adj" fmla="val 5814"/>
            </a:avLst>
          </a:prstGeom>
          <a:solidFill>
            <a:srgbClr val="FFFFFF"/>
          </a:solidFill>
          <a:ln w="12700">
            <a:solidFill>
              <a:srgbClr val="FFFFFF"/>
            </a:solidFill>
            <a:prstDash val="solid"/>
          </a:ln>
        </p:spPr>
        <p:txBody>
          <a:bodyPr/>
          <a:lstStyle/>
          <a:p>
            <a:pPr>
              <a:defRPr>
                <a:latin typeface="Ubuntu"/>
                <a:ea typeface="Ubuntu"/>
                <a:cs typeface="Ubuntu"/>
              </a:defRPr>
            </a:pPr>
            <a:endParaRPr lang="en-US" sz="2000"/>
          </a:p>
        </p:txBody>
      </p:sp>
      <p:sp>
        <p:nvSpPr>
          <p:cNvPr id="22" name="Shape 20"/>
          <p:cNvSpPr/>
          <p:nvPr/>
        </p:nvSpPr>
        <p:spPr>
          <a:xfrm>
            <a:off x="864108" y="5781424"/>
            <a:ext cx="347472" cy="347472"/>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sz="2000"/>
          </a:p>
        </p:txBody>
      </p:sp>
      <p:sp>
        <p:nvSpPr>
          <p:cNvPr id="23" name="Text 21"/>
          <p:cNvSpPr txBox="1"/>
          <p:nvPr/>
        </p:nvSpPr>
        <p:spPr>
          <a:xfrm>
            <a:off x="864108" y="5781424"/>
            <a:ext cx="347472" cy="347472"/>
          </a:xfrm>
          <a:prstGeom prst="rect">
            <a:avLst/>
          </a:prstGeom>
          <a:noFill/>
          <a:ln/>
        </p:spPr>
        <p:txBody>
          <a:bodyPr wrap="square" lIns="0" tIns="0" rIns="0" bIns="0" rtlCol="0" anchor="ctr"/>
          <a:lstStyle/>
          <a:p>
            <a:pPr marL="0" indent="0" algn="ctr">
              <a:buNone/>
              <a:defRPr>
                <a:latin typeface="Ubuntu"/>
                <a:ea typeface="Ubuntu"/>
                <a:cs typeface="Ubuntu"/>
              </a:defRPr>
            </a:pPr>
            <a:r>
              <a:rPr lang="en-US" sz="2000" b="1" dirty="0">
                <a:solidFill>
                  <a:srgbClr val="FFFFFF"/>
                </a:solidFill>
                <a:latin typeface="Ubuntu" pitchFamily="34" charset="0"/>
                <a:ea typeface="Ubuntu" pitchFamily="34" charset="-122"/>
                <a:cs typeface="Ubuntu" pitchFamily="34" charset="-120"/>
              </a:rPr>
              <a:t>4</a:t>
            </a:r>
            <a:endParaRPr lang="en-US" sz="2000" dirty="0"/>
          </a:p>
        </p:txBody>
      </p:sp>
      <p:sp>
        <p:nvSpPr>
          <p:cNvPr id="24" name="Text 22"/>
          <p:cNvSpPr txBox="1"/>
          <p:nvPr/>
        </p:nvSpPr>
        <p:spPr>
          <a:xfrm>
            <a:off x="1376172" y="5602685"/>
            <a:ext cx="5943600" cy="786384"/>
          </a:xfrm>
          <a:prstGeom prst="rect">
            <a:avLst/>
          </a:prstGeom>
          <a:noFill/>
          <a:ln/>
        </p:spPr>
        <p:txBody>
          <a:bodyPr wrap="square" lIns="0" tIns="0" rIns="0" bIns="0" rtlCol="0" anchor="ctr"/>
          <a:lstStyle/>
          <a:p>
            <a:pPr marL="0" indent="0">
              <a:lnSpc>
                <a:spcPct val="112000"/>
              </a:lnSpc>
              <a:buNone/>
              <a:defRPr>
                <a:latin typeface="Ubuntu"/>
                <a:ea typeface="Ubuntu"/>
                <a:cs typeface="Ubuntu"/>
              </a:defRPr>
            </a:pPr>
            <a:r>
              <a:rPr lang="en-US" sz="2000" dirty="0">
                <a:solidFill>
                  <a:srgbClr val="3C4657"/>
                </a:solidFill>
                <a:latin typeface="Ubuntu" pitchFamily="34" charset="0"/>
                <a:ea typeface="Ubuntu" pitchFamily="34" charset="-122"/>
                <a:cs typeface="Ubuntu" pitchFamily="34" charset="-120"/>
              </a:rPr>
              <a:t>Write the one line you would put in front of the customer to justify that decision.</a:t>
            </a:r>
            <a:endParaRPr lang="en-US" sz="2000" dirty="0"/>
          </a:p>
        </p:txBody>
      </p:sp>
      <p:sp>
        <p:nvSpPr>
          <p:cNvPr id="25" name="Text 23"/>
          <p:cNvSpPr txBox="1"/>
          <p:nvPr/>
        </p:nvSpPr>
        <p:spPr>
          <a:xfrm>
            <a:off x="7818120" y="1810512"/>
            <a:ext cx="3703320" cy="237744"/>
          </a:xfrm>
          <a:prstGeom prst="rect">
            <a:avLst/>
          </a:prstGeom>
          <a:noFill/>
          <a:ln/>
        </p:spPr>
        <p:txBody>
          <a:bodyPr wrap="square" lIns="0" tIns="0" rIns="0" bIns="0" rtlCol="0" anchor="ctr"/>
          <a:lstStyle/>
          <a:p>
            <a:pPr marL="0" indent="0">
              <a:buNone/>
              <a:defRPr>
                <a:latin typeface="Ubuntu"/>
                <a:ea typeface="Ubuntu"/>
                <a:cs typeface="Ubuntu"/>
              </a:defRPr>
            </a:pPr>
            <a:r>
              <a:rPr lang="en-US" sz="1000" b="1" kern="0" spc="130" dirty="0">
                <a:solidFill>
                  <a:srgbClr val="1E2761"/>
                </a:solidFill>
                <a:latin typeface="Ubuntu" pitchFamily="34" charset="0"/>
                <a:ea typeface="Ubuntu" pitchFamily="34" charset="-122"/>
                <a:cs typeface="Ubuntu" pitchFamily="34" charset="-120"/>
              </a:rPr>
              <a:t>ASSUME FOR THIS TASK</a:t>
            </a:r>
            <a:endParaRPr lang="en-US" sz="1000" dirty="0"/>
          </a:p>
        </p:txBody>
      </p:sp>
      <p:sp>
        <p:nvSpPr>
          <p:cNvPr id="26" name="Shape 24"/>
          <p:cNvSpPr/>
          <p:nvPr/>
        </p:nvSpPr>
        <p:spPr>
          <a:xfrm>
            <a:off x="7818120" y="2103120"/>
            <a:ext cx="3703320" cy="603504"/>
          </a:xfrm>
          <a:prstGeom prst="roundRect">
            <a:avLst>
              <a:gd name="adj" fmla="val 7576"/>
            </a:avLst>
          </a:prstGeom>
          <a:solidFill>
            <a:srgbClr val="FBEDE7"/>
          </a:solidFill>
          <a:ln w="12700">
            <a:solidFill>
              <a:srgbClr val="FBEDE7"/>
            </a:solidFill>
            <a:prstDash val="solid"/>
          </a:ln>
        </p:spPr>
        <p:txBody>
          <a:bodyPr/>
          <a:lstStyle/>
          <a:p>
            <a:pPr>
              <a:defRPr>
                <a:latin typeface="Ubuntu"/>
                <a:ea typeface="Ubuntu"/>
                <a:cs typeface="Ubuntu"/>
              </a:defRPr>
            </a:pPr>
            <a:endParaRPr lang="en-US" sz="2000"/>
          </a:p>
        </p:txBody>
      </p:sp>
      <p:sp>
        <p:nvSpPr>
          <p:cNvPr id="27" name="Text 25"/>
          <p:cNvSpPr txBox="1"/>
          <p:nvPr/>
        </p:nvSpPr>
        <p:spPr>
          <a:xfrm>
            <a:off x="8055864" y="2103120"/>
            <a:ext cx="2286000" cy="603504"/>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2000" dirty="0">
                <a:solidFill>
                  <a:srgbClr val="3C4657"/>
                </a:solidFill>
                <a:latin typeface="Ubuntu" pitchFamily="34" charset="0"/>
                <a:ea typeface="Ubuntu" pitchFamily="34" charset="-122"/>
                <a:cs typeface="Ubuntu" pitchFamily="34" charset="-120"/>
              </a:rPr>
              <a:t>Image size</a:t>
            </a:r>
            <a:endParaRPr lang="en-US" sz="2000" dirty="0"/>
          </a:p>
        </p:txBody>
      </p:sp>
      <p:sp>
        <p:nvSpPr>
          <p:cNvPr id="28" name="Text 26"/>
          <p:cNvSpPr txBox="1"/>
          <p:nvPr/>
        </p:nvSpPr>
        <p:spPr>
          <a:xfrm>
            <a:off x="10341864" y="2103120"/>
            <a:ext cx="960120" cy="603504"/>
          </a:xfrm>
          <a:prstGeom prst="rect">
            <a:avLst/>
          </a:prstGeom>
          <a:noFill/>
          <a:ln/>
        </p:spPr>
        <p:txBody>
          <a:bodyPr wrap="square" lIns="0" tIns="0" rIns="0" bIns="0" rtlCol="0" anchor="ctr"/>
          <a:lstStyle/>
          <a:p>
            <a:pPr marL="0" indent="0" algn="r">
              <a:buNone/>
              <a:defRPr>
                <a:latin typeface="Ubuntu"/>
                <a:ea typeface="Ubuntu"/>
                <a:cs typeface="Ubuntu"/>
              </a:defRPr>
            </a:pPr>
            <a:r>
              <a:rPr lang="en-US" sz="2000" b="1" dirty="0">
                <a:solidFill>
                  <a:srgbClr val="1E2761"/>
                </a:solidFill>
                <a:latin typeface="Ubuntu" pitchFamily="34" charset="0"/>
                <a:ea typeface="Ubuntu" pitchFamily="34" charset="-122"/>
                <a:cs typeface="Ubuntu" pitchFamily="34" charset="-120"/>
              </a:rPr>
              <a:t>2 Mbit</a:t>
            </a:r>
            <a:endParaRPr lang="en-US" sz="2000" dirty="0"/>
          </a:p>
        </p:txBody>
      </p:sp>
      <p:sp>
        <p:nvSpPr>
          <p:cNvPr id="29" name="Shape 27"/>
          <p:cNvSpPr/>
          <p:nvPr/>
        </p:nvSpPr>
        <p:spPr>
          <a:xfrm>
            <a:off x="7818120" y="2779776"/>
            <a:ext cx="3703320" cy="603504"/>
          </a:xfrm>
          <a:prstGeom prst="roundRect">
            <a:avLst>
              <a:gd name="adj" fmla="val 7576"/>
            </a:avLst>
          </a:prstGeom>
          <a:solidFill>
            <a:srgbClr val="FFFFFF"/>
          </a:solidFill>
          <a:ln w="12700">
            <a:solidFill>
              <a:srgbClr val="FFFFFF"/>
            </a:solidFill>
            <a:prstDash val="solid"/>
          </a:ln>
        </p:spPr>
        <p:txBody>
          <a:bodyPr/>
          <a:lstStyle/>
          <a:p>
            <a:pPr>
              <a:defRPr>
                <a:latin typeface="Ubuntu"/>
                <a:ea typeface="Ubuntu"/>
                <a:cs typeface="Ubuntu"/>
              </a:defRPr>
            </a:pPr>
            <a:endParaRPr lang="en-US" sz="2000"/>
          </a:p>
        </p:txBody>
      </p:sp>
      <p:sp>
        <p:nvSpPr>
          <p:cNvPr id="30" name="Text 28"/>
          <p:cNvSpPr txBox="1"/>
          <p:nvPr/>
        </p:nvSpPr>
        <p:spPr>
          <a:xfrm>
            <a:off x="8055864" y="2779776"/>
            <a:ext cx="2286000" cy="603504"/>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2000" dirty="0">
                <a:solidFill>
                  <a:srgbClr val="3C4657"/>
                </a:solidFill>
                <a:latin typeface="Ubuntu" pitchFamily="34" charset="0"/>
                <a:ea typeface="Ubuntu" pitchFamily="34" charset="-122"/>
                <a:cs typeface="Ubuntu" pitchFamily="34" charset="-120"/>
              </a:rPr>
              <a:t>Images taken per day</a:t>
            </a:r>
            <a:endParaRPr lang="en-US" sz="2000" dirty="0"/>
          </a:p>
        </p:txBody>
      </p:sp>
      <p:sp>
        <p:nvSpPr>
          <p:cNvPr id="31" name="Text 29"/>
          <p:cNvSpPr txBox="1"/>
          <p:nvPr/>
        </p:nvSpPr>
        <p:spPr>
          <a:xfrm>
            <a:off x="10341864" y="2779776"/>
            <a:ext cx="960120" cy="603504"/>
          </a:xfrm>
          <a:prstGeom prst="rect">
            <a:avLst/>
          </a:prstGeom>
          <a:noFill/>
          <a:ln/>
        </p:spPr>
        <p:txBody>
          <a:bodyPr wrap="square" lIns="0" tIns="0" rIns="0" bIns="0" rtlCol="0" anchor="ctr"/>
          <a:lstStyle/>
          <a:p>
            <a:pPr marL="0" indent="0" algn="r">
              <a:buNone/>
              <a:defRPr>
                <a:latin typeface="Ubuntu"/>
                <a:ea typeface="Ubuntu"/>
                <a:cs typeface="Ubuntu"/>
              </a:defRPr>
            </a:pPr>
            <a:r>
              <a:rPr lang="en-US" sz="2000" b="1" dirty="0">
                <a:solidFill>
                  <a:srgbClr val="1E2761"/>
                </a:solidFill>
                <a:latin typeface="Ubuntu" pitchFamily="34" charset="0"/>
                <a:ea typeface="Ubuntu" pitchFamily="34" charset="-122"/>
                <a:cs typeface="Ubuntu" pitchFamily="34" charset="-120"/>
              </a:rPr>
              <a:t>200</a:t>
            </a:r>
            <a:endParaRPr lang="en-US" sz="2000" dirty="0"/>
          </a:p>
        </p:txBody>
      </p:sp>
      <p:sp>
        <p:nvSpPr>
          <p:cNvPr id="32" name="Shape 30"/>
          <p:cNvSpPr/>
          <p:nvPr/>
        </p:nvSpPr>
        <p:spPr>
          <a:xfrm>
            <a:off x="7818120" y="3456432"/>
            <a:ext cx="3703320" cy="603504"/>
          </a:xfrm>
          <a:prstGeom prst="roundRect">
            <a:avLst>
              <a:gd name="adj" fmla="val 7576"/>
            </a:avLst>
          </a:prstGeom>
          <a:solidFill>
            <a:srgbClr val="FBEDE7"/>
          </a:solidFill>
          <a:ln w="12700">
            <a:solidFill>
              <a:srgbClr val="FBEDE7"/>
            </a:solidFill>
            <a:prstDash val="solid"/>
          </a:ln>
        </p:spPr>
        <p:txBody>
          <a:bodyPr/>
          <a:lstStyle/>
          <a:p>
            <a:pPr>
              <a:defRPr>
                <a:latin typeface="Ubuntu"/>
                <a:ea typeface="Ubuntu"/>
                <a:cs typeface="Ubuntu"/>
              </a:defRPr>
            </a:pPr>
            <a:endParaRPr lang="en-US" sz="2000"/>
          </a:p>
        </p:txBody>
      </p:sp>
      <p:sp>
        <p:nvSpPr>
          <p:cNvPr id="33" name="Text 31"/>
          <p:cNvSpPr txBox="1"/>
          <p:nvPr/>
        </p:nvSpPr>
        <p:spPr>
          <a:xfrm>
            <a:off x="8055864" y="3456432"/>
            <a:ext cx="2286000" cy="603504"/>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2000" dirty="0">
                <a:solidFill>
                  <a:srgbClr val="3C4657"/>
                </a:solidFill>
                <a:latin typeface="Ubuntu" pitchFamily="34" charset="0"/>
                <a:ea typeface="Ubuntu" pitchFamily="34" charset="-122"/>
                <a:cs typeface="Ubuntu" pitchFamily="34" charset="-120"/>
              </a:rPr>
              <a:t>Downlink rate</a:t>
            </a:r>
            <a:endParaRPr lang="en-US" sz="2000" dirty="0"/>
          </a:p>
        </p:txBody>
      </p:sp>
      <p:sp>
        <p:nvSpPr>
          <p:cNvPr id="34" name="Text 32"/>
          <p:cNvSpPr txBox="1"/>
          <p:nvPr/>
        </p:nvSpPr>
        <p:spPr>
          <a:xfrm>
            <a:off x="10341864" y="3456432"/>
            <a:ext cx="960120" cy="603504"/>
          </a:xfrm>
          <a:prstGeom prst="rect">
            <a:avLst/>
          </a:prstGeom>
          <a:noFill/>
          <a:ln/>
        </p:spPr>
        <p:txBody>
          <a:bodyPr wrap="square" lIns="0" tIns="0" rIns="0" bIns="0" rtlCol="0" anchor="ctr"/>
          <a:lstStyle/>
          <a:p>
            <a:pPr marL="0" indent="0" algn="r">
              <a:buNone/>
              <a:defRPr>
                <a:latin typeface="Ubuntu"/>
                <a:ea typeface="Ubuntu"/>
                <a:cs typeface="Ubuntu"/>
              </a:defRPr>
            </a:pPr>
            <a:r>
              <a:rPr lang="en-US" sz="2000" b="1" dirty="0">
                <a:solidFill>
                  <a:srgbClr val="1E2761"/>
                </a:solidFill>
                <a:latin typeface="Ubuntu" pitchFamily="34" charset="0"/>
                <a:ea typeface="Ubuntu" pitchFamily="34" charset="-122"/>
                <a:cs typeface="Ubuntu" pitchFamily="34" charset="-120"/>
              </a:rPr>
              <a:t>9.6 kbit/s</a:t>
            </a:r>
            <a:endParaRPr lang="en-US" sz="2000" dirty="0"/>
          </a:p>
        </p:txBody>
      </p:sp>
      <p:sp>
        <p:nvSpPr>
          <p:cNvPr id="35" name="Shape 33"/>
          <p:cNvSpPr/>
          <p:nvPr/>
        </p:nvSpPr>
        <p:spPr>
          <a:xfrm>
            <a:off x="7818120" y="4133088"/>
            <a:ext cx="3703320" cy="603504"/>
          </a:xfrm>
          <a:prstGeom prst="roundRect">
            <a:avLst>
              <a:gd name="adj" fmla="val 7576"/>
            </a:avLst>
          </a:prstGeom>
          <a:solidFill>
            <a:srgbClr val="FFFFFF"/>
          </a:solidFill>
          <a:ln w="12700">
            <a:solidFill>
              <a:srgbClr val="FFFFFF"/>
            </a:solidFill>
            <a:prstDash val="solid"/>
          </a:ln>
        </p:spPr>
        <p:txBody>
          <a:bodyPr/>
          <a:lstStyle/>
          <a:p>
            <a:pPr>
              <a:defRPr>
                <a:latin typeface="Ubuntu"/>
                <a:ea typeface="Ubuntu"/>
                <a:cs typeface="Ubuntu"/>
              </a:defRPr>
            </a:pPr>
            <a:endParaRPr lang="en-US" sz="2000"/>
          </a:p>
        </p:txBody>
      </p:sp>
      <p:sp>
        <p:nvSpPr>
          <p:cNvPr id="36" name="Text 34"/>
          <p:cNvSpPr txBox="1"/>
          <p:nvPr/>
        </p:nvSpPr>
        <p:spPr>
          <a:xfrm>
            <a:off x="8055864" y="4133088"/>
            <a:ext cx="2286000" cy="603504"/>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2000" dirty="0">
                <a:solidFill>
                  <a:srgbClr val="3C4657"/>
                </a:solidFill>
                <a:latin typeface="Ubuntu" pitchFamily="34" charset="0"/>
                <a:ea typeface="Ubuntu" pitchFamily="34" charset="-122"/>
                <a:cs typeface="Ubuntu" pitchFamily="34" charset="-120"/>
              </a:rPr>
              <a:t>Passes per day</a:t>
            </a:r>
            <a:endParaRPr lang="en-US" sz="2000" dirty="0"/>
          </a:p>
        </p:txBody>
      </p:sp>
      <p:sp>
        <p:nvSpPr>
          <p:cNvPr id="37" name="Text 35"/>
          <p:cNvSpPr txBox="1"/>
          <p:nvPr/>
        </p:nvSpPr>
        <p:spPr>
          <a:xfrm>
            <a:off x="10341864" y="4133088"/>
            <a:ext cx="960120" cy="603504"/>
          </a:xfrm>
          <a:prstGeom prst="rect">
            <a:avLst/>
          </a:prstGeom>
          <a:noFill/>
          <a:ln/>
        </p:spPr>
        <p:txBody>
          <a:bodyPr wrap="square" lIns="0" tIns="0" rIns="0" bIns="0" rtlCol="0" anchor="ctr"/>
          <a:lstStyle/>
          <a:p>
            <a:pPr marL="0" indent="0" algn="r">
              <a:buNone/>
              <a:defRPr>
                <a:latin typeface="Ubuntu"/>
                <a:ea typeface="Ubuntu"/>
                <a:cs typeface="Ubuntu"/>
              </a:defRPr>
            </a:pPr>
            <a:r>
              <a:rPr lang="en-US" sz="2000" b="1" dirty="0">
                <a:solidFill>
                  <a:srgbClr val="1E2761"/>
                </a:solidFill>
                <a:latin typeface="Ubuntu" pitchFamily="34" charset="0"/>
                <a:ea typeface="Ubuntu" pitchFamily="34" charset="-122"/>
                <a:cs typeface="Ubuntu" pitchFamily="34" charset="-120"/>
              </a:rPr>
              <a:t>4</a:t>
            </a:r>
            <a:endParaRPr lang="en-US" sz="2000" dirty="0"/>
          </a:p>
        </p:txBody>
      </p:sp>
      <p:sp>
        <p:nvSpPr>
          <p:cNvPr id="38" name="Shape 36"/>
          <p:cNvSpPr/>
          <p:nvPr/>
        </p:nvSpPr>
        <p:spPr>
          <a:xfrm>
            <a:off x="7818120" y="4809744"/>
            <a:ext cx="3703320" cy="603504"/>
          </a:xfrm>
          <a:prstGeom prst="roundRect">
            <a:avLst>
              <a:gd name="adj" fmla="val 7576"/>
            </a:avLst>
          </a:prstGeom>
          <a:solidFill>
            <a:srgbClr val="FBEDE7"/>
          </a:solidFill>
          <a:ln w="12700">
            <a:solidFill>
              <a:srgbClr val="FBEDE7"/>
            </a:solidFill>
            <a:prstDash val="solid"/>
          </a:ln>
        </p:spPr>
        <p:txBody>
          <a:bodyPr/>
          <a:lstStyle/>
          <a:p>
            <a:pPr>
              <a:defRPr>
                <a:latin typeface="Ubuntu"/>
                <a:ea typeface="Ubuntu"/>
                <a:cs typeface="Ubuntu"/>
              </a:defRPr>
            </a:pPr>
            <a:endParaRPr lang="en-US" sz="2000"/>
          </a:p>
        </p:txBody>
      </p:sp>
      <p:sp>
        <p:nvSpPr>
          <p:cNvPr id="39" name="Text 37"/>
          <p:cNvSpPr txBox="1"/>
          <p:nvPr/>
        </p:nvSpPr>
        <p:spPr>
          <a:xfrm>
            <a:off x="8055864" y="4809744"/>
            <a:ext cx="2286000" cy="603504"/>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2000" dirty="0">
                <a:solidFill>
                  <a:srgbClr val="3C4657"/>
                </a:solidFill>
                <a:latin typeface="Ubuntu" pitchFamily="34" charset="0"/>
                <a:ea typeface="Ubuntu" pitchFamily="34" charset="-122"/>
                <a:cs typeface="Ubuntu" pitchFamily="34" charset="-120"/>
              </a:rPr>
              <a:t>Useful time per pass</a:t>
            </a:r>
            <a:endParaRPr lang="en-US" sz="2000" dirty="0"/>
          </a:p>
        </p:txBody>
      </p:sp>
      <p:sp>
        <p:nvSpPr>
          <p:cNvPr id="40" name="Text 38"/>
          <p:cNvSpPr txBox="1"/>
          <p:nvPr/>
        </p:nvSpPr>
        <p:spPr>
          <a:xfrm>
            <a:off x="10341864" y="4809744"/>
            <a:ext cx="960120" cy="603504"/>
          </a:xfrm>
          <a:prstGeom prst="rect">
            <a:avLst/>
          </a:prstGeom>
          <a:noFill/>
          <a:ln/>
        </p:spPr>
        <p:txBody>
          <a:bodyPr wrap="square" lIns="0" tIns="0" rIns="0" bIns="0" rtlCol="0" anchor="ctr"/>
          <a:lstStyle/>
          <a:p>
            <a:pPr marL="0" indent="0" algn="r">
              <a:buNone/>
              <a:defRPr>
                <a:latin typeface="Ubuntu"/>
                <a:ea typeface="Ubuntu"/>
                <a:cs typeface="Ubuntu"/>
              </a:defRPr>
            </a:pPr>
            <a:r>
              <a:rPr lang="en-US" sz="2000" b="1" dirty="0">
                <a:solidFill>
                  <a:srgbClr val="1E2761"/>
                </a:solidFill>
                <a:latin typeface="Ubuntu" pitchFamily="34" charset="0"/>
                <a:ea typeface="Ubuntu" pitchFamily="34" charset="-122"/>
                <a:cs typeface="Ubuntu" pitchFamily="34" charset="-120"/>
              </a:rPr>
              <a:t>8 min</a:t>
            </a:r>
            <a:endParaRPr lang="en-US" sz="2000" dirty="0"/>
          </a:p>
        </p:txBody>
      </p:sp>
      <p:sp>
        <p:nvSpPr>
          <p:cNvPr id="47" name="Slide Number Placeholder 7">
            <a:extLst>
              <a:ext uri="{FF2B5EF4-FFF2-40B4-BE49-F238E27FC236}">
                <a16:creationId xmlns:a16="http://schemas.microsoft.com/office/drawing/2014/main" id="{0B05FDE2-EFA0-68F8-8617-D339A0E93790}"/>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48</a:t>
            </a:fld>
            <a:endParaRPr lang="en-US" sz="4800" b="1" dirty="0">
              <a:solidFill>
                <a:srgbClr val="FF0000"/>
              </a:solidFill>
            </a:endParaRPr>
          </a:p>
        </p:txBody>
      </p:sp>
      <p:pic>
        <p:nvPicPr>
          <p:cNvPr id="48" name="Space Faculty logo" descr="sf_logo.png"/>
          <p:cNvPicPr>
            <a:picLocks noChangeAspect="1"/>
          </p:cNvPicPr>
          <p:nvPr/>
        </p:nvPicPr>
        <p:blipFill>
          <a:blip r:embed="rId3"/>
          <a:stretch>
            <a:fillRect/>
          </a:stretch>
        </p:blipFill>
        <p:spPr>
          <a:xfrm>
            <a:off x="10599092" y="54864"/>
            <a:ext cx="1480131" cy="4206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434</TotalTime>
  <Words>3090</Words>
  <Application>Microsoft Office PowerPoint</Application>
  <PresentationFormat>Widescreen</PresentationFormat>
  <Paragraphs>484</Paragraphs>
  <Slides>48</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Arial</vt:lpstr>
      <vt:lpstr>Arial MT</vt:lpstr>
      <vt:lpstr>Calibri</vt:lpstr>
      <vt:lpstr>House Movements Runway</vt:lpstr>
      <vt:lpstr>Microsoft Sans Serif</vt:lpstr>
      <vt:lpstr>Space Mono</vt:lpstr>
      <vt:lpstr>Times New Roman</vt:lpstr>
      <vt:lpstr>Ubuntu</vt:lpstr>
      <vt:lpstr>Wingdings</vt:lpstr>
      <vt:lpstr>Office Theme</vt:lpstr>
      <vt:lpstr>Payload Systems</vt:lpstr>
      <vt:lpstr>Lecture Outline</vt:lpstr>
      <vt:lpstr>Lecture Objectives</vt:lpstr>
      <vt:lpstr>Satellite Payload/Mission Subsystem</vt:lpstr>
      <vt:lpstr>Spacecraft Configuration</vt:lpstr>
      <vt:lpstr>Payload Design and Configuration</vt:lpstr>
      <vt:lpstr>PowerPoint Presentation</vt:lpstr>
      <vt:lpstr>PowerPoint Presentation</vt:lpstr>
      <vt:lpstr>PowerPoint Presentation</vt:lpstr>
      <vt:lpstr>Payload Drivers</vt:lpstr>
      <vt:lpstr>Payload Design Characteristics</vt:lpstr>
      <vt:lpstr>Sentinel Satellites</vt:lpstr>
      <vt:lpstr>Key Points in Spacecraft Design Review</vt:lpstr>
      <vt:lpstr>EO &amp; Remote Sensing Sensors</vt:lpstr>
      <vt:lpstr>Remote Sensing Sensor Types</vt:lpstr>
      <vt:lpstr>Remote Sensing Platforms</vt:lpstr>
      <vt:lpstr>Earth Observation &amp; Remote Sensing Payloads</vt:lpstr>
      <vt:lpstr>Optical Imaging Sensors</vt:lpstr>
      <vt:lpstr>Reflectance Spectra</vt:lpstr>
      <vt:lpstr>PowerPoint Presentation</vt:lpstr>
      <vt:lpstr>Camera Specification</vt:lpstr>
      <vt:lpstr>Camera Block Diagram</vt:lpstr>
      <vt:lpstr>Camera Hardware</vt:lpstr>
      <vt:lpstr>Mission Modes - CAM</vt:lpstr>
      <vt:lpstr>Mission Modes - CAM</vt:lpstr>
      <vt:lpstr>Concept of Operation(Execution)</vt:lpstr>
      <vt:lpstr>Concept of Operation (Downlink)</vt:lpstr>
      <vt:lpstr>Integration Test summary</vt:lpstr>
      <vt:lpstr>Camera Functional Test</vt:lpstr>
      <vt:lpstr>Success Levels</vt:lpstr>
      <vt:lpstr>LiDAR (Light Detection And Ranging)</vt:lpstr>
      <vt:lpstr>Synthetic Aperture Radar (SAR)</vt:lpstr>
      <vt:lpstr>LiDAR, Optical, and SAR</vt:lpstr>
      <vt:lpstr>Radiometers &amp; Altimeters</vt:lpstr>
      <vt:lpstr>Communication Payloads</vt:lpstr>
      <vt:lpstr>Communication Payloads</vt:lpstr>
      <vt:lpstr>PowerPoint Presentation</vt:lpstr>
      <vt:lpstr>PowerPoint Presentation</vt:lpstr>
      <vt:lpstr>Navigation &amp; Timing Payloads</vt:lpstr>
      <vt:lpstr>Navigation &amp; Timing Payloads</vt:lpstr>
      <vt:lpstr>Scientific &amp; Planetary Exploration Payloads</vt:lpstr>
      <vt:lpstr>Scientific &amp; Planetary Exploration Payloads</vt:lpstr>
      <vt:lpstr>Weather &amp; Environmental Payloads</vt:lpstr>
      <vt:lpstr>Weather &amp; Environmental Payloads</vt:lpstr>
      <vt:lpstr>PowerPoint Presentation</vt:lpstr>
      <vt:lpstr>Satellite as a Platform: Sensors </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Ramson Nyamukondiwa</dc:creator>
  <cp:keywords/>
  <dc:description>generated using python-pptx</dc:description>
  <cp:lastModifiedBy>Rohini Parthasarathy</cp:lastModifiedBy>
  <cp:revision>17</cp:revision>
  <dcterms:created xsi:type="dcterms:W3CDTF">2013-01-27T09:14:16Z</dcterms:created>
  <dcterms:modified xsi:type="dcterms:W3CDTF">2026-10-15T14:57:33Z</dcterms:modified>
  <cp:category/>
</cp:coreProperties>
</file>