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5.jpg" ContentType="image/jpg"/>
  <Override PartName="/ppt/media/image16.jpg" ContentType="image/jpg"/>
  <Override PartName="/ppt/media/image17.jpg" ContentType="image/jp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media/image46.jpg" ContentType="image/jpg"/>
  <Override PartName="/ppt/notesSlides/notesSlide17.xml" ContentType="application/vnd.openxmlformats-officedocument.presentationml.notesSlide+xml"/>
  <Override PartName="/ppt/media/image47.jpg" ContentType="image/jp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1672" r:id="rId3"/>
    <p:sldId id="1671" r:id="rId4"/>
    <p:sldId id="259" r:id="rId5"/>
    <p:sldId id="257" r:id="rId6"/>
    <p:sldId id="1673" r:id="rId7"/>
    <p:sldId id="1674" r:id="rId8"/>
    <p:sldId id="1675" r:id="rId9"/>
    <p:sldId id="1676" r:id="rId10"/>
    <p:sldId id="1669" r:id="rId11"/>
    <p:sldId id="260" r:id="rId12"/>
    <p:sldId id="1670" r:id="rId13"/>
    <p:sldId id="1677" r:id="rId14"/>
    <p:sldId id="1679" r:id="rId15"/>
    <p:sldId id="1680" r:id="rId16"/>
    <p:sldId id="523" r:id="rId17"/>
    <p:sldId id="1668" r:id="rId18"/>
    <p:sldId id="1666" r:id="rId19"/>
    <p:sldId id="512" r:id="rId20"/>
    <p:sldId id="536" r:id="rId21"/>
    <p:sldId id="540" r:id="rId22"/>
    <p:sldId id="541" r:id="rId23"/>
    <p:sldId id="1232" r:id="rId24"/>
    <p:sldId id="1493" r:id="rId25"/>
    <p:sldId id="544" r:id="rId26"/>
    <p:sldId id="1667" r:id="rId27"/>
    <p:sldId id="1641" r:id="rId28"/>
    <p:sldId id="1642" r:id="rId29"/>
    <p:sldId id="1643" r:id="rId30"/>
    <p:sldId id="1648" r:id="rId31"/>
    <p:sldId id="543" r:id="rId32"/>
    <p:sldId id="542" r:id="rId33"/>
    <p:sldId id="1644" r:id="rId34"/>
    <p:sldId id="1645" r:id="rId35"/>
    <p:sldId id="1647" r:id="rId36"/>
    <p:sldId id="1650" r:id="rId37"/>
    <p:sldId id="466" r:id="rId38"/>
    <p:sldId id="267" r:id="rId39"/>
    <p:sldId id="268" r:id="rId40"/>
    <p:sldId id="513" r:id="rId41"/>
    <p:sldId id="270" r:id="rId42"/>
    <p:sldId id="264" r:id="rId43"/>
    <p:sldId id="266" r:id="rId44"/>
    <p:sldId id="269"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61" autoAdjust="0"/>
  </p:normalViewPr>
  <p:slideViewPr>
    <p:cSldViewPr snapToGrid="0" snapToObjects="1">
      <p:cViewPr varScale="1">
        <p:scale>
          <a:sx n="59" d="100"/>
          <a:sy n="59" d="100"/>
        </p:scale>
        <p:origin x="94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A02232-A452-4F52-BB50-74311C1712C3}"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626A66E-D75C-4CA6-8F1E-472FD936B30F}">
      <dgm:prSet/>
      <dgm:spPr/>
      <dgm:t>
        <a:bodyPr/>
        <a:lstStyle/>
        <a:p>
          <a:r>
            <a:rPr lang="en-US"/>
            <a:t>Open Loop Control  </a:t>
          </a:r>
        </a:p>
      </dgm:t>
    </dgm:pt>
    <dgm:pt modelId="{E1075420-4E9F-4F82-BA3A-1C09FBB5C594}" type="parTrans" cxnId="{F2788179-74FC-424F-8EC1-0541A02B7A0E}">
      <dgm:prSet/>
      <dgm:spPr/>
      <dgm:t>
        <a:bodyPr/>
        <a:lstStyle/>
        <a:p>
          <a:endParaRPr lang="en-US"/>
        </a:p>
      </dgm:t>
    </dgm:pt>
    <dgm:pt modelId="{84CEEDF8-9BC2-4C0F-82F7-32EC3EF8479C}" type="sibTrans" cxnId="{F2788179-74FC-424F-8EC1-0541A02B7A0E}">
      <dgm:prSet/>
      <dgm:spPr/>
      <dgm:t>
        <a:bodyPr/>
        <a:lstStyle/>
        <a:p>
          <a:endParaRPr lang="en-US"/>
        </a:p>
      </dgm:t>
    </dgm:pt>
    <dgm:pt modelId="{B0700506-D5B1-41C7-B86E-E45C3E417E20}">
      <dgm:prSet/>
      <dgm:spPr/>
      <dgm:t>
        <a:bodyPr/>
        <a:lstStyle/>
        <a:p>
          <a:r>
            <a:rPr lang="en-US"/>
            <a:t>no feedback from sensor </a:t>
          </a:r>
        </a:p>
      </dgm:t>
    </dgm:pt>
    <dgm:pt modelId="{6114CDE7-30D2-43A9-89C6-215394D633D3}" type="parTrans" cxnId="{C4E0F160-11D3-4623-B86E-FE12758984D5}">
      <dgm:prSet/>
      <dgm:spPr/>
      <dgm:t>
        <a:bodyPr/>
        <a:lstStyle/>
        <a:p>
          <a:endParaRPr lang="en-US"/>
        </a:p>
      </dgm:t>
    </dgm:pt>
    <dgm:pt modelId="{6DD6E9F9-7CF8-4264-A0B0-3B26BF33A186}" type="sibTrans" cxnId="{C4E0F160-11D3-4623-B86E-FE12758984D5}">
      <dgm:prSet/>
      <dgm:spPr/>
      <dgm:t>
        <a:bodyPr/>
        <a:lstStyle/>
        <a:p>
          <a:endParaRPr lang="en-US"/>
        </a:p>
      </dgm:t>
    </dgm:pt>
    <dgm:pt modelId="{851D685E-51D6-42BE-91D2-4C9BB05A3AD1}">
      <dgm:prSet/>
      <dgm:spPr/>
      <dgm:t>
        <a:bodyPr/>
        <a:lstStyle/>
        <a:p>
          <a:r>
            <a:rPr lang="en-US"/>
            <a:t>actuator inputs are not influenced by a controller </a:t>
          </a:r>
        </a:p>
      </dgm:t>
    </dgm:pt>
    <dgm:pt modelId="{F8A25759-F059-4725-9CEE-D731BC62275F}" type="parTrans" cxnId="{30E5677F-D519-405E-8CC7-D3EDA65CD9C9}">
      <dgm:prSet/>
      <dgm:spPr/>
      <dgm:t>
        <a:bodyPr/>
        <a:lstStyle/>
        <a:p>
          <a:endParaRPr lang="en-US"/>
        </a:p>
      </dgm:t>
    </dgm:pt>
    <dgm:pt modelId="{95A4E743-9137-44BB-A11E-5B39123E8778}" type="sibTrans" cxnId="{30E5677F-D519-405E-8CC7-D3EDA65CD9C9}">
      <dgm:prSet/>
      <dgm:spPr/>
      <dgm:t>
        <a:bodyPr/>
        <a:lstStyle/>
        <a:p>
          <a:endParaRPr lang="en-US"/>
        </a:p>
      </dgm:t>
    </dgm:pt>
    <dgm:pt modelId="{7F457530-C02D-481A-8D22-CD3DE277AA4B}">
      <dgm:prSet/>
      <dgm:spPr/>
      <dgm:t>
        <a:bodyPr/>
        <a:lstStyle/>
        <a:p>
          <a:r>
            <a:rPr lang="en-US"/>
            <a:t>Closed Loop Control - Feedback </a:t>
          </a:r>
        </a:p>
      </dgm:t>
    </dgm:pt>
    <dgm:pt modelId="{C4160889-1B41-4AC4-9C60-62903B0747C0}" type="parTrans" cxnId="{17E82EB9-A7BB-47D2-B5F8-A3F694053E38}">
      <dgm:prSet/>
      <dgm:spPr/>
      <dgm:t>
        <a:bodyPr/>
        <a:lstStyle/>
        <a:p>
          <a:endParaRPr lang="en-US"/>
        </a:p>
      </dgm:t>
    </dgm:pt>
    <dgm:pt modelId="{16F6326B-FE2B-42AA-BCC0-5A75E707A859}" type="sibTrans" cxnId="{17E82EB9-A7BB-47D2-B5F8-A3F694053E38}">
      <dgm:prSet/>
      <dgm:spPr/>
      <dgm:t>
        <a:bodyPr/>
        <a:lstStyle/>
        <a:p>
          <a:endParaRPr lang="en-US"/>
        </a:p>
      </dgm:t>
    </dgm:pt>
    <dgm:pt modelId="{28BF13EE-E0AE-449B-A988-41F23C6FB040}">
      <dgm:prSet/>
      <dgm:spPr/>
      <dgm:t>
        <a:bodyPr/>
        <a:lstStyle/>
        <a:p>
          <a:r>
            <a:rPr lang="en-US"/>
            <a:t>uses the sensor measurements of the output </a:t>
          </a:r>
        </a:p>
      </dgm:t>
    </dgm:pt>
    <dgm:pt modelId="{02E91B1C-8625-4E34-9A78-2B5E9045F9F6}" type="parTrans" cxnId="{D5434588-722C-4B58-84F0-D28F986396B6}">
      <dgm:prSet/>
      <dgm:spPr/>
      <dgm:t>
        <a:bodyPr/>
        <a:lstStyle/>
        <a:p>
          <a:endParaRPr lang="en-US"/>
        </a:p>
      </dgm:t>
    </dgm:pt>
    <dgm:pt modelId="{E61196B8-56C0-41F1-9A5B-DFAE113FDEB4}" type="sibTrans" cxnId="{D5434588-722C-4B58-84F0-D28F986396B6}">
      <dgm:prSet/>
      <dgm:spPr/>
      <dgm:t>
        <a:bodyPr/>
        <a:lstStyle/>
        <a:p>
          <a:endParaRPr lang="en-US"/>
        </a:p>
      </dgm:t>
    </dgm:pt>
    <dgm:pt modelId="{AD2275D2-42CA-47EB-AAC6-C39F3F6F90B0}">
      <dgm:prSet/>
      <dgm:spPr/>
      <dgm:t>
        <a:bodyPr/>
        <a:lstStyle/>
        <a:p>
          <a:r>
            <a:rPr lang="en-US"/>
            <a:t>output (sensor) measurements used by controller</a:t>
          </a:r>
        </a:p>
      </dgm:t>
    </dgm:pt>
    <dgm:pt modelId="{E9201C9F-98CF-4515-BFF2-65A62D0FC751}" type="parTrans" cxnId="{3F55B011-7E32-40FE-82B0-AEFA8E54781A}">
      <dgm:prSet/>
      <dgm:spPr/>
      <dgm:t>
        <a:bodyPr/>
        <a:lstStyle/>
        <a:p>
          <a:endParaRPr lang="en-US"/>
        </a:p>
      </dgm:t>
    </dgm:pt>
    <dgm:pt modelId="{DA20D52C-0D38-4BE2-9833-78636398787A}" type="sibTrans" cxnId="{3F55B011-7E32-40FE-82B0-AEFA8E54781A}">
      <dgm:prSet/>
      <dgm:spPr/>
      <dgm:t>
        <a:bodyPr/>
        <a:lstStyle/>
        <a:p>
          <a:endParaRPr lang="en-US"/>
        </a:p>
      </dgm:t>
    </dgm:pt>
    <dgm:pt modelId="{14BF9D0F-E1DC-4269-B966-994AB9F9E1C2}">
      <dgm:prSet/>
      <dgm:spPr/>
      <dgm:t>
        <a:bodyPr/>
        <a:lstStyle/>
        <a:p>
          <a:r>
            <a:rPr lang="en-US"/>
            <a:t>controller generates input (control signal) to the system based on outputs fed back through the controller</a:t>
          </a:r>
        </a:p>
      </dgm:t>
    </dgm:pt>
    <dgm:pt modelId="{51110B1A-CFDD-4BFC-A027-3DEE5E2A111C}" type="parTrans" cxnId="{A6427A0B-2FC5-4A1A-9CDB-44E1626B8E2E}">
      <dgm:prSet/>
      <dgm:spPr/>
      <dgm:t>
        <a:bodyPr/>
        <a:lstStyle/>
        <a:p>
          <a:endParaRPr lang="en-US"/>
        </a:p>
      </dgm:t>
    </dgm:pt>
    <dgm:pt modelId="{F2BABE99-D6BE-4DA9-9179-7DB43621726F}" type="sibTrans" cxnId="{A6427A0B-2FC5-4A1A-9CDB-44E1626B8E2E}">
      <dgm:prSet/>
      <dgm:spPr/>
      <dgm:t>
        <a:bodyPr/>
        <a:lstStyle/>
        <a:p>
          <a:endParaRPr lang="en-US"/>
        </a:p>
      </dgm:t>
    </dgm:pt>
    <dgm:pt modelId="{C4715FA6-1343-4B72-B8C0-81426B429A24}" type="pres">
      <dgm:prSet presAssocID="{D1A02232-A452-4F52-BB50-74311C1712C3}" presName="linear" presStyleCnt="0">
        <dgm:presLayoutVars>
          <dgm:animLvl val="lvl"/>
          <dgm:resizeHandles val="exact"/>
        </dgm:presLayoutVars>
      </dgm:prSet>
      <dgm:spPr/>
    </dgm:pt>
    <dgm:pt modelId="{0BAC3340-54E5-4FC3-8176-5EF6321A25EC}" type="pres">
      <dgm:prSet presAssocID="{A626A66E-D75C-4CA6-8F1E-472FD936B30F}" presName="parentText" presStyleLbl="node1" presStyleIdx="0" presStyleCnt="2">
        <dgm:presLayoutVars>
          <dgm:chMax val="0"/>
          <dgm:bulletEnabled val="1"/>
        </dgm:presLayoutVars>
      </dgm:prSet>
      <dgm:spPr/>
    </dgm:pt>
    <dgm:pt modelId="{F1C27A86-E072-4D26-8D68-A1C6E2F799A8}" type="pres">
      <dgm:prSet presAssocID="{A626A66E-D75C-4CA6-8F1E-472FD936B30F}" presName="childText" presStyleLbl="revTx" presStyleIdx="0" presStyleCnt="2">
        <dgm:presLayoutVars>
          <dgm:bulletEnabled val="1"/>
        </dgm:presLayoutVars>
      </dgm:prSet>
      <dgm:spPr/>
    </dgm:pt>
    <dgm:pt modelId="{0CB7D07F-E76E-4EF9-B590-21BF6D8AC54A}" type="pres">
      <dgm:prSet presAssocID="{7F457530-C02D-481A-8D22-CD3DE277AA4B}" presName="parentText" presStyleLbl="node1" presStyleIdx="1" presStyleCnt="2">
        <dgm:presLayoutVars>
          <dgm:chMax val="0"/>
          <dgm:bulletEnabled val="1"/>
        </dgm:presLayoutVars>
      </dgm:prSet>
      <dgm:spPr/>
    </dgm:pt>
    <dgm:pt modelId="{D6137376-3DBF-4C21-BCC0-A9A45BB6B992}" type="pres">
      <dgm:prSet presAssocID="{7F457530-C02D-481A-8D22-CD3DE277AA4B}" presName="childText" presStyleLbl="revTx" presStyleIdx="1" presStyleCnt="2">
        <dgm:presLayoutVars>
          <dgm:bulletEnabled val="1"/>
        </dgm:presLayoutVars>
      </dgm:prSet>
      <dgm:spPr/>
    </dgm:pt>
  </dgm:ptLst>
  <dgm:cxnLst>
    <dgm:cxn modelId="{A6427A0B-2FC5-4A1A-9CDB-44E1626B8E2E}" srcId="{7F457530-C02D-481A-8D22-CD3DE277AA4B}" destId="{14BF9D0F-E1DC-4269-B966-994AB9F9E1C2}" srcOrd="2" destOrd="0" parTransId="{51110B1A-CFDD-4BFC-A027-3DEE5E2A111C}" sibTransId="{F2BABE99-D6BE-4DA9-9179-7DB43621726F}"/>
    <dgm:cxn modelId="{3F55B011-7E32-40FE-82B0-AEFA8E54781A}" srcId="{7F457530-C02D-481A-8D22-CD3DE277AA4B}" destId="{AD2275D2-42CA-47EB-AAC6-C39F3F6F90B0}" srcOrd="1" destOrd="0" parTransId="{E9201C9F-98CF-4515-BFF2-65A62D0FC751}" sibTransId="{DA20D52C-0D38-4BE2-9833-78636398787A}"/>
    <dgm:cxn modelId="{BE7AA82A-E3A6-48A8-9DE5-C8AC0E5F2FB4}" type="presOf" srcId="{14BF9D0F-E1DC-4269-B966-994AB9F9E1C2}" destId="{D6137376-3DBF-4C21-BCC0-A9A45BB6B992}" srcOrd="0" destOrd="2" presId="urn:microsoft.com/office/officeart/2005/8/layout/vList2"/>
    <dgm:cxn modelId="{ACA49E5D-0EB7-44BB-9FCA-55C99FCAEDE9}" type="presOf" srcId="{851D685E-51D6-42BE-91D2-4C9BB05A3AD1}" destId="{F1C27A86-E072-4D26-8D68-A1C6E2F799A8}" srcOrd="0" destOrd="1" presId="urn:microsoft.com/office/officeart/2005/8/layout/vList2"/>
    <dgm:cxn modelId="{C4E0F160-11D3-4623-B86E-FE12758984D5}" srcId="{A626A66E-D75C-4CA6-8F1E-472FD936B30F}" destId="{B0700506-D5B1-41C7-B86E-E45C3E417E20}" srcOrd="0" destOrd="0" parTransId="{6114CDE7-30D2-43A9-89C6-215394D633D3}" sibTransId="{6DD6E9F9-7CF8-4264-A0B0-3B26BF33A186}"/>
    <dgm:cxn modelId="{781BAB69-FA29-4DE7-8340-5A576FD6722B}" type="presOf" srcId="{AD2275D2-42CA-47EB-AAC6-C39F3F6F90B0}" destId="{D6137376-3DBF-4C21-BCC0-A9A45BB6B992}" srcOrd="0" destOrd="1" presId="urn:microsoft.com/office/officeart/2005/8/layout/vList2"/>
    <dgm:cxn modelId="{F2788179-74FC-424F-8EC1-0541A02B7A0E}" srcId="{D1A02232-A452-4F52-BB50-74311C1712C3}" destId="{A626A66E-D75C-4CA6-8F1E-472FD936B30F}" srcOrd="0" destOrd="0" parTransId="{E1075420-4E9F-4F82-BA3A-1C09FBB5C594}" sibTransId="{84CEEDF8-9BC2-4C0F-82F7-32EC3EF8479C}"/>
    <dgm:cxn modelId="{0842057D-CE0C-489A-A2EF-1CFCF4535A3D}" type="presOf" srcId="{7F457530-C02D-481A-8D22-CD3DE277AA4B}" destId="{0CB7D07F-E76E-4EF9-B590-21BF6D8AC54A}" srcOrd="0" destOrd="0" presId="urn:microsoft.com/office/officeart/2005/8/layout/vList2"/>
    <dgm:cxn modelId="{30E5677F-D519-405E-8CC7-D3EDA65CD9C9}" srcId="{A626A66E-D75C-4CA6-8F1E-472FD936B30F}" destId="{851D685E-51D6-42BE-91D2-4C9BB05A3AD1}" srcOrd="1" destOrd="0" parTransId="{F8A25759-F059-4725-9CEE-D731BC62275F}" sibTransId="{95A4E743-9137-44BB-A11E-5B39123E8778}"/>
    <dgm:cxn modelId="{D5434588-722C-4B58-84F0-D28F986396B6}" srcId="{7F457530-C02D-481A-8D22-CD3DE277AA4B}" destId="{28BF13EE-E0AE-449B-A988-41F23C6FB040}" srcOrd="0" destOrd="0" parTransId="{02E91B1C-8625-4E34-9A78-2B5E9045F9F6}" sibTransId="{E61196B8-56C0-41F1-9A5B-DFAE113FDEB4}"/>
    <dgm:cxn modelId="{17E82EB9-A7BB-47D2-B5F8-A3F694053E38}" srcId="{D1A02232-A452-4F52-BB50-74311C1712C3}" destId="{7F457530-C02D-481A-8D22-CD3DE277AA4B}" srcOrd="1" destOrd="0" parTransId="{C4160889-1B41-4AC4-9C60-62903B0747C0}" sibTransId="{16F6326B-FE2B-42AA-BCC0-5A75E707A859}"/>
    <dgm:cxn modelId="{B05D05C5-1A85-4B9E-B178-92DC24ADEB6B}" type="presOf" srcId="{D1A02232-A452-4F52-BB50-74311C1712C3}" destId="{C4715FA6-1343-4B72-B8C0-81426B429A24}" srcOrd="0" destOrd="0" presId="urn:microsoft.com/office/officeart/2005/8/layout/vList2"/>
    <dgm:cxn modelId="{67AD22D5-CBE1-4CDB-9C19-6099575625C4}" type="presOf" srcId="{A626A66E-D75C-4CA6-8F1E-472FD936B30F}" destId="{0BAC3340-54E5-4FC3-8176-5EF6321A25EC}" srcOrd="0" destOrd="0" presId="urn:microsoft.com/office/officeart/2005/8/layout/vList2"/>
    <dgm:cxn modelId="{4D1D93E7-4372-40C1-B802-278718FEC22D}" type="presOf" srcId="{28BF13EE-E0AE-449B-A988-41F23C6FB040}" destId="{D6137376-3DBF-4C21-BCC0-A9A45BB6B992}" srcOrd="0" destOrd="0" presId="urn:microsoft.com/office/officeart/2005/8/layout/vList2"/>
    <dgm:cxn modelId="{4F4075EF-6149-4E3F-B89B-802D0E5648E6}" type="presOf" srcId="{B0700506-D5B1-41C7-B86E-E45C3E417E20}" destId="{F1C27A86-E072-4D26-8D68-A1C6E2F799A8}" srcOrd="0" destOrd="0" presId="urn:microsoft.com/office/officeart/2005/8/layout/vList2"/>
    <dgm:cxn modelId="{D2ECD706-2D8F-49B2-AF7E-2B7F92CD4468}" type="presParOf" srcId="{C4715FA6-1343-4B72-B8C0-81426B429A24}" destId="{0BAC3340-54E5-4FC3-8176-5EF6321A25EC}" srcOrd="0" destOrd="0" presId="urn:microsoft.com/office/officeart/2005/8/layout/vList2"/>
    <dgm:cxn modelId="{E1262F42-4251-4CF0-BDBF-D7232D160537}" type="presParOf" srcId="{C4715FA6-1343-4B72-B8C0-81426B429A24}" destId="{F1C27A86-E072-4D26-8D68-A1C6E2F799A8}" srcOrd="1" destOrd="0" presId="urn:microsoft.com/office/officeart/2005/8/layout/vList2"/>
    <dgm:cxn modelId="{E362811A-9E58-4EBD-89C0-EA1D6D1BBA5E}" type="presParOf" srcId="{C4715FA6-1343-4B72-B8C0-81426B429A24}" destId="{0CB7D07F-E76E-4EF9-B590-21BF6D8AC54A}" srcOrd="2" destOrd="0" presId="urn:microsoft.com/office/officeart/2005/8/layout/vList2"/>
    <dgm:cxn modelId="{1690C085-8142-4F61-A5EC-70292FFD4A23}" type="presParOf" srcId="{C4715FA6-1343-4B72-B8C0-81426B429A24}" destId="{D6137376-3DBF-4C21-BCC0-A9A45BB6B99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E81422-5E4F-4B25-AEAA-DC08CBE77EA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910C152-200E-4CFC-905A-64590E537F3E}">
      <dgm:prSet/>
      <dgm:spPr/>
      <dgm:t>
        <a:bodyPr/>
        <a:lstStyle/>
        <a:p>
          <a:r>
            <a:rPr lang="en-US" b="1"/>
            <a:t>1. Detumbling Mode</a:t>
          </a:r>
          <a:endParaRPr lang="en-US"/>
        </a:p>
      </dgm:t>
    </dgm:pt>
    <dgm:pt modelId="{441070E5-E50B-4CB4-8D35-5D0C91E684A5}" type="parTrans" cxnId="{B553B5F9-75F7-4685-AD8A-5AED7A674AAC}">
      <dgm:prSet/>
      <dgm:spPr/>
      <dgm:t>
        <a:bodyPr/>
        <a:lstStyle/>
        <a:p>
          <a:endParaRPr lang="en-US"/>
        </a:p>
      </dgm:t>
    </dgm:pt>
    <dgm:pt modelId="{A68586DE-09C1-4FAC-9D1E-768478A66268}" type="sibTrans" cxnId="{B553B5F9-75F7-4685-AD8A-5AED7A674AAC}">
      <dgm:prSet/>
      <dgm:spPr/>
      <dgm:t>
        <a:bodyPr/>
        <a:lstStyle/>
        <a:p>
          <a:endParaRPr lang="en-US"/>
        </a:p>
      </dgm:t>
    </dgm:pt>
    <dgm:pt modelId="{98006F9E-E98E-4DA2-957C-86C7B63CAF42}">
      <dgm:prSet/>
      <dgm:spPr/>
      <dgm:t>
        <a:bodyPr/>
        <a:lstStyle/>
        <a:p>
          <a:r>
            <a:rPr lang="en-US"/>
            <a:t>Activated right after launch or separation.</a:t>
          </a:r>
        </a:p>
      </dgm:t>
    </dgm:pt>
    <dgm:pt modelId="{82C98E55-A6D7-4B79-84D1-180BF6A1F403}" type="parTrans" cxnId="{0DC4A0EA-12E7-4FC1-9364-1E2C34C954CE}">
      <dgm:prSet/>
      <dgm:spPr/>
      <dgm:t>
        <a:bodyPr/>
        <a:lstStyle/>
        <a:p>
          <a:endParaRPr lang="en-US"/>
        </a:p>
      </dgm:t>
    </dgm:pt>
    <dgm:pt modelId="{57D08DD6-2513-4929-8791-D0766E95EE41}" type="sibTrans" cxnId="{0DC4A0EA-12E7-4FC1-9364-1E2C34C954CE}">
      <dgm:prSet/>
      <dgm:spPr/>
      <dgm:t>
        <a:bodyPr/>
        <a:lstStyle/>
        <a:p>
          <a:endParaRPr lang="en-US"/>
        </a:p>
      </dgm:t>
    </dgm:pt>
    <dgm:pt modelId="{39A2521F-8D62-43FE-8E2F-06F80EFF1215}">
      <dgm:prSet/>
      <dgm:spPr/>
      <dgm:t>
        <a:bodyPr/>
        <a:lstStyle/>
        <a:p>
          <a:r>
            <a:rPr lang="en-US"/>
            <a:t>Objective: Remove residual angular rates from the launch vehicle separation.</a:t>
          </a:r>
        </a:p>
      </dgm:t>
    </dgm:pt>
    <dgm:pt modelId="{42D89597-BC36-4B6F-9CB5-385EFA70BBF7}" type="parTrans" cxnId="{C96A2992-5370-4B47-B6B6-82D17E5C1CBE}">
      <dgm:prSet/>
      <dgm:spPr/>
      <dgm:t>
        <a:bodyPr/>
        <a:lstStyle/>
        <a:p>
          <a:endParaRPr lang="en-US"/>
        </a:p>
      </dgm:t>
    </dgm:pt>
    <dgm:pt modelId="{57CDE861-2BB8-4FEC-A0B8-3C7AE9730622}" type="sibTrans" cxnId="{C96A2992-5370-4B47-B6B6-82D17E5C1CBE}">
      <dgm:prSet/>
      <dgm:spPr/>
      <dgm:t>
        <a:bodyPr/>
        <a:lstStyle/>
        <a:p>
          <a:endParaRPr lang="en-US"/>
        </a:p>
      </dgm:t>
    </dgm:pt>
    <dgm:pt modelId="{94D4E05C-D90A-4BDF-9E37-CDACB582ED57}">
      <dgm:prSet/>
      <dgm:spPr/>
      <dgm:t>
        <a:bodyPr/>
        <a:lstStyle/>
        <a:p>
          <a:r>
            <a:rPr lang="en-US"/>
            <a:t>Typically uses magnetorquers or thrusters for stabilization.</a:t>
          </a:r>
          <a:br>
            <a:rPr lang="en-US"/>
          </a:br>
          <a:endParaRPr lang="en-US"/>
        </a:p>
      </dgm:t>
    </dgm:pt>
    <dgm:pt modelId="{944EF751-70E8-4F6C-B425-FC7963046A0E}" type="parTrans" cxnId="{8A7C735F-19BF-4EB4-A969-F5736BC53C96}">
      <dgm:prSet/>
      <dgm:spPr/>
      <dgm:t>
        <a:bodyPr/>
        <a:lstStyle/>
        <a:p>
          <a:endParaRPr lang="en-US"/>
        </a:p>
      </dgm:t>
    </dgm:pt>
    <dgm:pt modelId="{BEC2B38D-043D-45C5-BCC8-40AEB0E1C4BE}" type="sibTrans" cxnId="{8A7C735F-19BF-4EB4-A969-F5736BC53C96}">
      <dgm:prSet/>
      <dgm:spPr/>
      <dgm:t>
        <a:bodyPr/>
        <a:lstStyle/>
        <a:p>
          <a:endParaRPr lang="en-US"/>
        </a:p>
      </dgm:t>
    </dgm:pt>
    <dgm:pt modelId="{47E69A20-4851-4E17-8A57-99D025EA5DCC}">
      <dgm:prSet/>
      <dgm:spPr/>
      <dgm:t>
        <a:bodyPr/>
        <a:lstStyle/>
        <a:p>
          <a:r>
            <a:rPr lang="en-US" b="1"/>
            <a:t>2. Sun Acquisition / Safe Mode</a:t>
          </a:r>
          <a:endParaRPr lang="en-US"/>
        </a:p>
      </dgm:t>
    </dgm:pt>
    <dgm:pt modelId="{54E87E15-DA19-46D0-ADAC-B2B119BA0816}" type="parTrans" cxnId="{1F159B81-4D2C-4876-8AA2-42C56C394B66}">
      <dgm:prSet/>
      <dgm:spPr/>
      <dgm:t>
        <a:bodyPr/>
        <a:lstStyle/>
        <a:p>
          <a:endParaRPr lang="en-US"/>
        </a:p>
      </dgm:t>
    </dgm:pt>
    <dgm:pt modelId="{58E3E02D-14D7-4B0D-9B79-9C597952B41C}" type="sibTrans" cxnId="{1F159B81-4D2C-4876-8AA2-42C56C394B66}">
      <dgm:prSet/>
      <dgm:spPr/>
      <dgm:t>
        <a:bodyPr/>
        <a:lstStyle/>
        <a:p>
          <a:endParaRPr lang="en-US"/>
        </a:p>
      </dgm:t>
    </dgm:pt>
    <dgm:pt modelId="{F83E6148-2BF6-414B-97AE-1F4670E08843}">
      <dgm:prSet/>
      <dgm:spPr/>
      <dgm:t>
        <a:bodyPr/>
        <a:lstStyle/>
        <a:p>
          <a:r>
            <a:rPr lang="en-US"/>
            <a:t>Spacecraft aligns its solar panels toward the Sun to ensure power generation.</a:t>
          </a:r>
        </a:p>
      </dgm:t>
    </dgm:pt>
    <dgm:pt modelId="{DACB4E04-C853-4ADF-B837-B98C7843E4C5}" type="parTrans" cxnId="{4864AF2E-D5D8-4D5F-A415-D1684AAC7730}">
      <dgm:prSet/>
      <dgm:spPr/>
      <dgm:t>
        <a:bodyPr/>
        <a:lstStyle/>
        <a:p>
          <a:endParaRPr lang="en-US"/>
        </a:p>
      </dgm:t>
    </dgm:pt>
    <dgm:pt modelId="{8D7E87CE-3DF1-4874-A813-3692CD9F54EE}" type="sibTrans" cxnId="{4864AF2E-D5D8-4D5F-A415-D1684AAC7730}">
      <dgm:prSet/>
      <dgm:spPr/>
      <dgm:t>
        <a:bodyPr/>
        <a:lstStyle/>
        <a:p>
          <a:endParaRPr lang="en-US"/>
        </a:p>
      </dgm:t>
    </dgm:pt>
    <dgm:pt modelId="{7DE382CC-E546-4BB8-A75D-11A6C302C30D}">
      <dgm:prSet/>
      <dgm:spPr/>
      <dgm:t>
        <a:bodyPr/>
        <a:lstStyle/>
        <a:p>
          <a:r>
            <a:rPr lang="en-US" dirty="0"/>
            <a:t>Ensures survival while awaiting further commands.</a:t>
          </a:r>
          <a:br>
            <a:rPr lang="en-US" dirty="0"/>
          </a:br>
          <a:endParaRPr lang="en-US" dirty="0"/>
        </a:p>
      </dgm:t>
    </dgm:pt>
    <dgm:pt modelId="{12709DB0-399B-4006-85E5-0100CA9DB934}" type="parTrans" cxnId="{1CB9F2A7-8993-437F-BC28-FE432B7FD7B2}">
      <dgm:prSet/>
      <dgm:spPr/>
      <dgm:t>
        <a:bodyPr/>
        <a:lstStyle/>
        <a:p>
          <a:endParaRPr lang="en-US"/>
        </a:p>
      </dgm:t>
    </dgm:pt>
    <dgm:pt modelId="{890E6B85-BD41-4B5B-8F20-EBACE5DA82F5}" type="sibTrans" cxnId="{1CB9F2A7-8993-437F-BC28-FE432B7FD7B2}">
      <dgm:prSet/>
      <dgm:spPr/>
      <dgm:t>
        <a:bodyPr/>
        <a:lstStyle/>
        <a:p>
          <a:endParaRPr lang="en-US"/>
        </a:p>
      </dgm:t>
    </dgm:pt>
    <dgm:pt modelId="{76D47F6F-7014-4989-AAAD-B9BAC3C858EA}">
      <dgm:prSet/>
      <dgm:spPr/>
      <dgm:t>
        <a:bodyPr/>
        <a:lstStyle/>
        <a:p>
          <a:r>
            <a:rPr lang="en-US" b="1"/>
            <a:t>3. Earth Acquisition / Nadir-Pointing Mode</a:t>
          </a:r>
          <a:endParaRPr lang="en-US"/>
        </a:p>
      </dgm:t>
    </dgm:pt>
    <dgm:pt modelId="{F4381F38-8A84-48B8-BB4C-82282D8BC549}" type="parTrans" cxnId="{9BF5C5E8-0E2F-4A22-9EC8-1C90ECF91D14}">
      <dgm:prSet/>
      <dgm:spPr/>
      <dgm:t>
        <a:bodyPr/>
        <a:lstStyle/>
        <a:p>
          <a:endParaRPr lang="en-US"/>
        </a:p>
      </dgm:t>
    </dgm:pt>
    <dgm:pt modelId="{0FCD7F27-D8B9-4715-AA28-405F97036DFC}" type="sibTrans" cxnId="{9BF5C5E8-0E2F-4A22-9EC8-1C90ECF91D14}">
      <dgm:prSet/>
      <dgm:spPr/>
      <dgm:t>
        <a:bodyPr/>
        <a:lstStyle/>
        <a:p>
          <a:endParaRPr lang="en-US"/>
        </a:p>
      </dgm:t>
    </dgm:pt>
    <dgm:pt modelId="{409C8DC8-B73D-41FE-87D0-B9F3595A2403}">
      <dgm:prSet/>
      <dgm:spPr/>
      <dgm:t>
        <a:bodyPr/>
        <a:lstStyle/>
        <a:p>
          <a:r>
            <a:rPr lang="en-US"/>
            <a:t>Satellite orients itself so that instruments or antennas face Earth.</a:t>
          </a:r>
        </a:p>
      </dgm:t>
    </dgm:pt>
    <dgm:pt modelId="{6AD3C885-C9F0-47D1-9AEB-046D96E34F50}" type="parTrans" cxnId="{2F8BF6E9-BB38-4AA5-AC0E-F863DD328874}">
      <dgm:prSet/>
      <dgm:spPr/>
      <dgm:t>
        <a:bodyPr/>
        <a:lstStyle/>
        <a:p>
          <a:endParaRPr lang="en-US"/>
        </a:p>
      </dgm:t>
    </dgm:pt>
    <dgm:pt modelId="{180A7ED5-1388-4CC7-9BBC-EA55D848D286}" type="sibTrans" cxnId="{2F8BF6E9-BB38-4AA5-AC0E-F863DD328874}">
      <dgm:prSet/>
      <dgm:spPr/>
      <dgm:t>
        <a:bodyPr/>
        <a:lstStyle/>
        <a:p>
          <a:endParaRPr lang="en-US"/>
        </a:p>
      </dgm:t>
    </dgm:pt>
    <dgm:pt modelId="{745F7FBE-E310-4244-B5C4-17566F8728BB}">
      <dgm:prSet/>
      <dgm:spPr/>
      <dgm:t>
        <a:bodyPr/>
        <a:lstStyle/>
        <a:p>
          <a:r>
            <a:rPr lang="en-US"/>
            <a:t>Common for Earth-observation or communication satellites.</a:t>
          </a:r>
        </a:p>
      </dgm:t>
    </dgm:pt>
    <dgm:pt modelId="{6BE35F2E-A154-4847-8235-44E819B0F4CD}" type="parTrans" cxnId="{BA936628-98BE-4F72-A476-AC5F75C911E3}">
      <dgm:prSet/>
      <dgm:spPr/>
      <dgm:t>
        <a:bodyPr/>
        <a:lstStyle/>
        <a:p>
          <a:endParaRPr lang="en-US"/>
        </a:p>
      </dgm:t>
    </dgm:pt>
    <dgm:pt modelId="{B9F99FED-C1CE-48D1-93BD-75B833933984}" type="sibTrans" cxnId="{BA936628-98BE-4F72-A476-AC5F75C911E3}">
      <dgm:prSet/>
      <dgm:spPr/>
      <dgm:t>
        <a:bodyPr/>
        <a:lstStyle/>
        <a:p>
          <a:endParaRPr lang="en-US"/>
        </a:p>
      </dgm:t>
    </dgm:pt>
    <dgm:pt modelId="{43EA055F-9A93-47B2-9337-E48C58AA2B96}" type="pres">
      <dgm:prSet presAssocID="{3EE81422-5E4F-4B25-AEAA-DC08CBE77EAF}" presName="linear" presStyleCnt="0">
        <dgm:presLayoutVars>
          <dgm:animLvl val="lvl"/>
          <dgm:resizeHandles val="exact"/>
        </dgm:presLayoutVars>
      </dgm:prSet>
      <dgm:spPr/>
    </dgm:pt>
    <dgm:pt modelId="{7632C0E9-ABD1-4DE8-BF61-8A3F7B1759D8}" type="pres">
      <dgm:prSet presAssocID="{C910C152-200E-4CFC-905A-64590E537F3E}" presName="parentText" presStyleLbl="node1" presStyleIdx="0" presStyleCnt="3">
        <dgm:presLayoutVars>
          <dgm:chMax val="0"/>
          <dgm:bulletEnabled val="1"/>
        </dgm:presLayoutVars>
      </dgm:prSet>
      <dgm:spPr/>
    </dgm:pt>
    <dgm:pt modelId="{CDE10A9F-FC56-45C0-9AAE-D4A7E01DBB38}" type="pres">
      <dgm:prSet presAssocID="{C910C152-200E-4CFC-905A-64590E537F3E}" presName="childText" presStyleLbl="revTx" presStyleIdx="0" presStyleCnt="3">
        <dgm:presLayoutVars>
          <dgm:bulletEnabled val="1"/>
        </dgm:presLayoutVars>
      </dgm:prSet>
      <dgm:spPr/>
    </dgm:pt>
    <dgm:pt modelId="{38C52E07-55A8-4136-970D-DD62CD9ACA35}" type="pres">
      <dgm:prSet presAssocID="{47E69A20-4851-4E17-8A57-99D025EA5DCC}" presName="parentText" presStyleLbl="node1" presStyleIdx="1" presStyleCnt="3">
        <dgm:presLayoutVars>
          <dgm:chMax val="0"/>
          <dgm:bulletEnabled val="1"/>
        </dgm:presLayoutVars>
      </dgm:prSet>
      <dgm:spPr/>
    </dgm:pt>
    <dgm:pt modelId="{79934B4A-B43E-45E4-A2A7-AC0BC0DB438D}" type="pres">
      <dgm:prSet presAssocID="{47E69A20-4851-4E17-8A57-99D025EA5DCC}" presName="childText" presStyleLbl="revTx" presStyleIdx="1" presStyleCnt="3">
        <dgm:presLayoutVars>
          <dgm:bulletEnabled val="1"/>
        </dgm:presLayoutVars>
      </dgm:prSet>
      <dgm:spPr/>
    </dgm:pt>
    <dgm:pt modelId="{16451D2F-894F-4E82-A219-C62FE1AA1E9F}" type="pres">
      <dgm:prSet presAssocID="{76D47F6F-7014-4989-AAAD-B9BAC3C858EA}" presName="parentText" presStyleLbl="node1" presStyleIdx="2" presStyleCnt="3">
        <dgm:presLayoutVars>
          <dgm:chMax val="0"/>
          <dgm:bulletEnabled val="1"/>
        </dgm:presLayoutVars>
      </dgm:prSet>
      <dgm:spPr/>
    </dgm:pt>
    <dgm:pt modelId="{A272A936-2AED-4DFC-B7ED-EDCA22038994}" type="pres">
      <dgm:prSet presAssocID="{76D47F6F-7014-4989-AAAD-B9BAC3C858EA}" presName="childText" presStyleLbl="revTx" presStyleIdx="2" presStyleCnt="3">
        <dgm:presLayoutVars>
          <dgm:bulletEnabled val="1"/>
        </dgm:presLayoutVars>
      </dgm:prSet>
      <dgm:spPr/>
    </dgm:pt>
  </dgm:ptLst>
  <dgm:cxnLst>
    <dgm:cxn modelId="{58D45C00-3FA3-40A3-A75A-8064A20053C9}" type="presOf" srcId="{47E69A20-4851-4E17-8A57-99D025EA5DCC}" destId="{38C52E07-55A8-4136-970D-DD62CD9ACA35}" srcOrd="0" destOrd="0" presId="urn:microsoft.com/office/officeart/2005/8/layout/vList2"/>
    <dgm:cxn modelId="{00636907-B587-415D-8111-3106B88CDE37}" type="presOf" srcId="{3EE81422-5E4F-4B25-AEAA-DC08CBE77EAF}" destId="{43EA055F-9A93-47B2-9337-E48C58AA2B96}" srcOrd="0" destOrd="0" presId="urn:microsoft.com/office/officeart/2005/8/layout/vList2"/>
    <dgm:cxn modelId="{05883D10-CD31-4F57-B7C4-43FBB1967A0F}" type="presOf" srcId="{76D47F6F-7014-4989-AAAD-B9BAC3C858EA}" destId="{16451D2F-894F-4E82-A219-C62FE1AA1E9F}" srcOrd="0" destOrd="0" presId="urn:microsoft.com/office/officeart/2005/8/layout/vList2"/>
    <dgm:cxn modelId="{0D394911-B7F2-423B-8157-D9AE05052A69}" type="presOf" srcId="{409C8DC8-B73D-41FE-87D0-B9F3595A2403}" destId="{A272A936-2AED-4DFC-B7ED-EDCA22038994}" srcOrd="0" destOrd="0" presId="urn:microsoft.com/office/officeart/2005/8/layout/vList2"/>
    <dgm:cxn modelId="{BA936628-98BE-4F72-A476-AC5F75C911E3}" srcId="{76D47F6F-7014-4989-AAAD-B9BAC3C858EA}" destId="{745F7FBE-E310-4244-B5C4-17566F8728BB}" srcOrd="1" destOrd="0" parTransId="{6BE35F2E-A154-4847-8235-44E819B0F4CD}" sibTransId="{B9F99FED-C1CE-48D1-93BD-75B833933984}"/>
    <dgm:cxn modelId="{9F485D2B-6E73-4750-9815-B5CFD75CE8BF}" type="presOf" srcId="{98006F9E-E98E-4DA2-957C-86C7B63CAF42}" destId="{CDE10A9F-FC56-45C0-9AAE-D4A7E01DBB38}" srcOrd="0" destOrd="0" presId="urn:microsoft.com/office/officeart/2005/8/layout/vList2"/>
    <dgm:cxn modelId="{4864AF2E-D5D8-4D5F-A415-D1684AAC7730}" srcId="{47E69A20-4851-4E17-8A57-99D025EA5DCC}" destId="{F83E6148-2BF6-414B-97AE-1F4670E08843}" srcOrd="0" destOrd="0" parTransId="{DACB4E04-C853-4ADF-B837-B98C7843E4C5}" sibTransId="{8D7E87CE-3DF1-4874-A813-3692CD9F54EE}"/>
    <dgm:cxn modelId="{42454D5E-1F06-4C87-ACB4-683CB425C21D}" type="presOf" srcId="{39A2521F-8D62-43FE-8E2F-06F80EFF1215}" destId="{CDE10A9F-FC56-45C0-9AAE-D4A7E01DBB38}" srcOrd="0" destOrd="1" presId="urn:microsoft.com/office/officeart/2005/8/layout/vList2"/>
    <dgm:cxn modelId="{8A7C735F-19BF-4EB4-A969-F5736BC53C96}" srcId="{C910C152-200E-4CFC-905A-64590E537F3E}" destId="{94D4E05C-D90A-4BDF-9E37-CDACB582ED57}" srcOrd="2" destOrd="0" parTransId="{944EF751-70E8-4F6C-B425-FC7963046A0E}" sibTransId="{BEC2B38D-043D-45C5-BCC8-40AEB0E1C4BE}"/>
    <dgm:cxn modelId="{6E690E71-5161-4C8B-A1AD-73AC98E72BC2}" type="presOf" srcId="{C910C152-200E-4CFC-905A-64590E537F3E}" destId="{7632C0E9-ABD1-4DE8-BF61-8A3F7B1759D8}" srcOrd="0" destOrd="0" presId="urn:microsoft.com/office/officeart/2005/8/layout/vList2"/>
    <dgm:cxn modelId="{595AA375-A357-4818-B81F-57BEE77B7B62}" type="presOf" srcId="{94D4E05C-D90A-4BDF-9E37-CDACB582ED57}" destId="{CDE10A9F-FC56-45C0-9AAE-D4A7E01DBB38}" srcOrd="0" destOrd="2" presId="urn:microsoft.com/office/officeart/2005/8/layout/vList2"/>
    <dgm:cxn modelId="{F4DBCB56-C150-4BDC-8894-3EC4E3519C3B}" type="presOf" srcId="{745F7FBE-E310-4244-B5C4-17566F8728BB}" destId="{A272A936-2AED-4DFC-B7ED-EDCA22038994}" srcOrd="0" destOrd="1" presId="urn:microsoft.com/office/officeart/2005/8/layout/vList2"/>
    <dgm:cxn modelId="{08EA7C81-3CA4-4D1D-A14C-A61E10123B5B}" type="presOf" srcId="{F83E6148-2BF6-414B-97AE-1F4670E08843}" destId="{79934B4A-B43E-45E4-A2A7-AC0BC0DB438D}" srcOrd="0" destOrd="0" presId="urn:microsoft.com/office/officeart/2005/8/layout/vList2"/>
    <dgm:cxn modelId="{1F159B81-4D2C-4876-8AA2-42C56C394B66}" srcId="{3EE81422-5E4F-4B25-AEAA-DC08CBE77EAF}" destId="{47E69A20-4851-4E17-8A57-99D025EA5DCC}" srcOrd="1" destOrd="0" parTransId="{54E87E15-DA19-46D0-ADAC-B2B119BA0816}" sibTransId="{58E3E02D-14D7-4B0D-9B79-9C597952B41C}"/>
    <dgm:cxn modelId="{C96A2992-5370-4B47-B6B6-82D17E5C1CBE}" srcId="{C910C152-200E-4CFC-905A-64590E537F3E}" destId="{39A2521F-8D62-43FE-8E2F-06F80EFF1215}" srcOrd="1" destOrd="0" parTransId="{42D89597-BC36-4B6F-9CB5-385EFA70BBF7}" sibTransId="{57CDE861-2BB8-4FEC-A0B8-3C7AE9730622}"/>
    <dgm:cxn modelId="{1CB9F2A7-8993-437F-BC28-FE432B7FD7B2}" srcId="{47E69A20-4851-4E17-8A57-99D025EA5DCC}" destId="{7DE382CC-E546-4BB8-A75D-11A6C302C30D}" srcOrd="1" destOrd="0" parTransId="{12709DB0-399B-4006-85E5-0100CA9DB934}" sibTransId="{890E6B85-BD41-4B5B-8F20-EBACE5DA82F5}"/>
    <dgm:cxn modelId="{F8CA36B8-E683-4967-897B-968FFA2467EF}" type="presOf" srcId="{7DE382CC-E546-4BB8-A75D-11A6C302C30D}" destId="{79934B4A-B43E-45E4-A2A7-AC0BC0DB438D}" srcOrd="0" destOrd="1" presId="urn:microsoft.com/office/officeart/2005/8/layout/vList2"/>
    <dgm:cxn modelId="{9BF5C5E8-0E2F-4A22-9EC8-1C90ECF91D14}" srcId="{3EE81422-5E4F-4B25-AEAA-DC08CBE77EAF}" destId="{76D47F6F-7014-4989-AAAD-B9BAC3C858EA}" srcOrd="2" destOrd="0" parTransId="{F4381F38-8A84-48B8-BB4C-82282D8BC549}" sibTransId="{0FCD7F27-D8B9-4715-AA28-405F97036DFC}"/>
    <dgm:cxn modelId="{2F8BF6E9-BB38-4AA5-AC0E-F863DD328874}" srcId="{76D47F6F-7014-4989-AAAD-B9BAC3C858EA}" destId="{409C8DC8-B73D-41FE-87D0-B9F3595A2403}" srcOrd="0" destOrd="0" parTransId="{6AD3C885-C9F0-47D1-9AEB-046D96E34F50}" sibTransId="{180A7ED5-1388-4CC7-9BBC-EA55D848D286}"/>
    <dgm:cxn modelId="{0DC4A0EA-12E7-4FC1-9364-1E2C34C954CE}" srcId="{C910C152-200E-4CFC-905A-64590E537F3E}" destId="{98006F9E-E98E-4DA2-957C-86C7B63CAF42}" srcOrd="0" destOrd="0" parTransId="{82C98E55-A6D7-4B79-84D1-180BF6A1F403}" sibTransId="{57D08DD6-2513-4929-8791-D0766E95EE41}"/>
    <dgm:cxn modelId="{B553B5F9-75F7-4685-AD8A-5AED7A674AAC}" srcId="{3EE81422-5E4F-4B25-AEAA-DC08CBE77EAF}" destId="{C910C152-200E-4CFC-905A-64590E537F3E}" srcOrd="0" destOrd="0" parTransId="{441070E5-E50B-4CB4-8D35-5D0C91E684A5}" sibTransId="{A68586DE-09C1-4FAC-9D1E-768478A66268}"/>
    <dgm:cxn modelId="{9D7BA821-5248-4370-AD13-5535412F5F3E}" type="presParOf" srcId="{43EA055F-9A93-47B2-9337-E48C58AA2B96}" destId="{7632C0E9-ABD1-4DE8-BF61-8A3F7B1759D8}" srcOrd="0" destOrd="0" presId="urn:microsoft.com/office/officeart/2005/8/layout/vList2"/>
    <dgm:cxn modelId="{483FF337-9B18-4E16-8EE2-3073C5DD2AE2}" type="presParOf" srcId="{43EA055F-9A93-47B2-9337-E48C58AA2B96}" destId="{CDE10A9F-FC56-45C0-9AAE-D4A7E01DBB38}" srcOrd="1" destOrd="0" presId="urn:microsoft.com/office/officeart/2005/8/layout/vList2"/>
    <dgm:cxn modelId="{1F2C9151-2C39-43B8-A540-D51FD970A7B0}" type="presParOf" srcId="{43EA055F-9A93-47B2-9337-E48C58AA2B96}" destId="{38C52E07-55A8-4136-970D-DD62CD9ACA35}" srcOrd="2" destOrd="0" presId="urn:microsoft.com/office/officeart/2005/8/layout/vList2"/>
    <dgm:cxn modelId="{C86FC07B-36B0-4CAB-9D50-3CEB45C46CB2}" type="presParOf" srcId="{43EA055F-9A93-47B2-9337-E48C58AA2B96}" destId="{79934B4A-B43E-45E4-A2A7-AC0BC0DB438D}" srcOrd="3" destOrd="0" presId="urn:microsoft.com/office/officeart/2005/8/layout/vList2"/>
    <dgm:cxn modelId="{886B1E81-CF0D-433F-9A47-7CA7909B3D30}" type="presParOf" srcId="{43EA055F-9A93-47B2-9337-E48C58AA2B96}" destId="{16451D2F-894F-4E82-A219-C62FE1AA1E9F}" srcOrd="4" destOrd="0" presId="urn:microsoft.com/office/officeart/2005/8/layout/vList2"/>
    <dgm:cxn modelId="{31B0E368-E661-4C1F-AFCB-4C40941C1C05}" type="presParOf" srcId="{43EA055F-9A93-47B2-9337-E48C58AA2B96}" destId="{A272A936-2AED-4DFC-B7ED-EDCA2203899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C3340-54E5-4FC3-8176-5EF6321A25EC}">
      <dsp:nvSpPr>
        <dsp:cNvPr id="0" name=""/>
        <dsp:cNvSpPr/>
      </dsp:nvSpPr>
      <dsp:spPr>
        <a:xfrm>
          <a:off x="0" y="154399"/>
          <a:ext cx="6666833" cy="76752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Open Loop Control  </a:t>
          </a:r>
        </a:p>
      </dsp:txBody>
      <dsp:txXfrm>
        <a:off x="37467" y="191866"/>
        <a:ext cx="6591899" cy="692586"/>
      </dsp:txXfrm>
    </dsp:sp>
    <dsp:sp modelId="{F1C27A86-E072-4D26-8D68-A1C6E2F799A8}">
      <dsp:nvSpPr>
        <dsp:cNvPr id="0" name=""/>
        <dsp:cNvSpPr/>
      </dsp:nvSpPr>
      <dsp:spPr>
        <a:xfrm>
          <a:off x="0" y="921919"/>
          <a:ext cx="6666833" cy="1225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a:t>no feedback from sensor </a:t>
          </a:r>
        </a:p>
        <a:p>
          <a:pPr marL="228600" lvl="1" indent="-228600" algn="l" defTabSz="1111250">
            <a:lnSpc>
              <a:spcPct val="90000"/>
            </a:lnSpc>
            <a:spcBef>
              <a:spcPct val="0"/>
            </a:spcBef>
            <a:spcAft>
              <a:spcPct val="20000"/>
            </a:spcAft>
            <a:buChar char="•"/>
          </a:pPr>
          <a:r>
            <a:rPr lang="en-US" sz="2500" kern="1200"/>
            <a:t>actuator inputs are not influenced by a controller </a:t>
          </a:r>
        </a:p>
      </dsp:txBody>
      <dsp:txXfrm>
        <a:off x="0" y="921919"/>
        <a:ext cx="6666833" cy="1225440"/>
      </dsp:txXfrm>
    </dsp:sp>
    <dsp:sp modelId="{0CB7D07F-E76E-4EF9-B590-21BF6D8AC54A}">
      <dsp:nvSpPr>
        <dsp:cNvPr id="0" name=""/>
        <dsp:cNvSpPr/>
      </dsp:nvSpPr>
      <dsp:spPr>
        <a:xfrm>
          <a:off x="0" y="2147360"/>
          <a:ext cx="6666833" cy="767520"/>
        </a:xfrm>
        <a:prstGeom prst="roundRec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Closed Loop Control - Feedback </a:t>
          </a:r>
        </a:p>
      </dsp:txBody>
      <dsp:txXfrm>
        <a:off x="37467" y="2184827"/>
        <a:ext cx="6591899" cy="692586"/>
      </dsp:txXfrm>
    </dsp:sp>
    <dsp:sp modelId="{D6137376-3DBF-4C21-BCC0-A9A45BB6B992}">
      <dsp:nvSpPr>
        <dsp:cNvPr id="0" name=""/>
        <dsp:cNvSpPr/>
      </dsp:nvSpPr>
      <dsp:spPr>
        <a:xfrm>
          <a:off x="0" y="2914880"/>
          <a:ext cx="6666833" cy="238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a:t>uses the sensor measurements of the output </a:t>
          </a:r>
        </a:p>
        <a:p>
          <a:pPr marL="228600" lvl="1" indent="-228600" algn="l" defTabSz="1111250">
            <a:lnSpc>
              <a:spcPct val="90000"/>
            </a:lnSpc>
            <a:spcBef>
              <a:spcPct val="0"/>
            </a:spcBef>
            <a:spcAft>
              <a:spcPct val="20000"/>
            </a:spcAft>
            <a:buChar char="•"/>
          </a:pPr>
          <a:r>
            <a:rPr lang="en-US" sz="2500" kern="1200"/>
            <a:t>output (sensor) measurements used by controller</a:t>
          </a:r>
        </a:p>
        <a:p>
          <a:pPr marL="228600" lvl="1" indent="-228600" algn="l" defTabSz="1111250">
            <a:lnSpc>
              <a:spcPct val="90000"/>
            </a:lnSpc>
            <a:spcBef>
              <a:spcPct val="0"/>
            </a:spcBef>
            <a:spcAft>
              <a:spcPct val="20000"/>
            </a:spcAft>
            <a:buChar char="•"/>
          </a:pPr>
          <a:r>
            <a:rPr lang="en-US" sz="2500" kern="1200"/>
            <a:t>controller generates input (control signal) to the system based on outputs fed back through the controller</a:t>
          </a:r>
        </a:p>
      </dsp:txBody>
      <dsp:txXfrm>
        <a:off x="0" y="2914880"/>
        <a:ext cx="6666833" cy="23846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32C0E9-ABD1-4DE8-BF61-8A3F7B1759D8}">
      <dsp:nvSpPr>
        <dsp:cNvPr id="0" name=""/>
        <dsp:cNvSpPr/>
      </dsp:nvSpPr>
      <dsp:spPr>
        <a:xfrm>
          <a:off x="0" y="87732"/>
          <a:ext cx="11465131"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1. Detumbling Mode</a:t>
          </a:r>
          <a:endParaRPr lang="en-US" sz="2600" kern="1200"/>
        </a:p>
      </dsp:txBody>
      <dsp:txXfrm>
        <a:off x="30442" y="118174"/>
        <a:ext cx="11404247" cy="562726"/>
      </dsp:txXfrm>
    </dsp:sp>
    <dsp:sp modelId="{CDE10A9F-FC56-45C0-9AAE-D4A7E01DBB38}">
      <dsp:nvSpPr>
        <dsp:cNvPr id="0" name=""/>
        <dsp:cNvSpPr/>
      </dsp:nvSpPr>
      <dsp:spPr>
        <a:xfrm>
          <a:off x="0" y="711342"/>
          <a:ext cx="11465131" cy="131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01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Activated right after launch or separation.</a:t>
          </a:r>
        </a:p>
        <a:p>
          <a:pPr marL="228600" lvl="1" indent="-228600" algn="l" defTabSz="889000">
            <a:lnSpc>
              <a:spcPct val="90000"/>
            </a:lnSpc>
            <a:spcBef>
              <a:spcPct val="0"/>
            </a:spcBef>
            <a:spcAft>
              <a:spcPct val="20000"/>
            </a:spcAft>
            <a:buChar char="•"/>
          </a:pPr>
          <a:r>
            <a:rPr lang="en-US" sz="2000" kern="1200"/>
            <a:t>Objective: Remove residual angular rates from the launch vehicle separation.</a:t>
          </a:r>
        </a:p>
        <a:p>
          <a:pPr marL="228600" lvl="1" indent="-228600" algn="l" defTabSz="889000">
            <a:lnSpc>
              <a:spcPct val="90000"/>
            </a:lnSpc>
            <a:spcBef>
              <a:spcPct val="0"/>
            </a:spcBef>
            <a:spcAft>
              <a:spcPct val="20000"/>
            </a:spcAft>
            <a:buChar char="•"/>
          </a:pPr>
          <a:r>
            <a:rPr lang="en-US" sz="2000" kern="1200"/>
            <a:t>Typically uses magnetorquers or thrusters for stabilization.</a:t>
          </a:r>
          <a:br>
            <a:rPr lang="en-US" sz="2000" kern="1200"/>
          </a:br>
          <a:endParaRPr lang="en-US" sz="2000" kern="1200"/>
        </a:p>
      </dsp:txBody>
      <dsp:txXfrm>
        <a:off x="0" y="711342"/>
        <a:ext cx="11465131" cy="1318590"/>
      </dsp:txXfrm>
    </dsp:sp>
    <dsp:sp modelId="{38C52E07-55A8-4136-970D-DD62CD9ACA35}">
      <dsp:nvSpPr>
        <dsp:cNvPr id="0" name=""/>
        <dsp:cNvSpPr/>
      </dsp:nvSpPr>
      <dsp:spPr>
        <a:xfrm>
          <a:off x="0" y="2029932"/>
          <a:ext cx="11465131"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2. Sun Acquisition / Safe Mode</a:t>
          </a:r>
          <a:endParaRPr lang="en-US" sz="2600" kern="1200"/>
        </a:p>
      </dsp:txBody>
      <dsp:txXfrm>
        <a:off x="30442" y="2060374"/>
        <a:ext cx="11404247" cy="562726"/>
      </dsp:txXfrm>
    </dsp:sp>
    <dsp:sp modelId="{79934B4A-B43E-45E4-A2A7-AC0BC0DB438D}">
      <dsp:nvSpPr>
        <dsp:cNvPr id="0" name=""/>
        <dsp:cNvSpPr/>
      </dsp:nvSpPr>
      <dsp:spPr>
        <a:xfrm>
          <a:off x="0" y="2653542"/>
          <a:ext cx="11465131"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01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Spacecraft aligns its solar panels toward the Sun to ensure power generation.</a:t>
          </a:r>
        </a:p>
        <a:p>
          <a:pPr marL="228600" lvl="1" indent="-228600" algn="l" defTabSz="889000">
            <a:lnSpc>
              <a:spcPct val="90000"/>
            </a:lnSpc>
            <a:spcBef>
              <a:spcPct val="0"/>
            </a:spcBef>
            <a:spcAft>
              <a:spcPct val="20000"/>
            </a:spcAft>
            <a:buChar char="•"/>
          </a:pPr>
          <a:r>
            <a:rPr lang="en-US" sz="2000" kern="1200" dirty="0"/>
            <a:t>Ensures survival while awaiting further commands.</a:t>
          </a:r>
          <a:br>
            <a:rPr lang="en-US" sz="2000" kern="1200" dirty="0"/>
          </a:br>
          <a:endParaRPr lang="en-US" sz="2000" kern="1200" dirty="0"/>
        </a:p>
      </dsp:txBody>
      <dsp:txXfrm>
        <a:off x="0" y="2653542"/>
        <a:ext cx="11465131" cy="968760"/>
      </dsp:txXfrm>
    </dsp:sp>
    <dsp:sp modelId="{16451D2F-894F-4E82-A219-C62FE1AA1E9F}">
      <dsp:nvSpPr>
        <dsp:cNvPr id="0" name=""/>
        <dsp:cNvSpPr/>
      </dsp:nvSpPr>
      <dsp:spPr>
        <a:xfrm>
          <a:off x="0" y="3622302"/>
          <a:ext cx="11465131" cy="6236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3. Earth Acquisition / Nadir-Pointing Mode</a:t>
          </a:r>
          <a:endParaRPr lang="en-US" sz="2600" kern="1200"/>
        </a:p>
      </dsp:txBody>
      <dsp:txXfrm>
        <a:off x="30442" y="3652744"/>
        <a:ext cx="11404247" cy="562726"/>
      </dsp:txXfrm>
    </dsp:sp>
    <dsp:sp modelId="{A272A936-2AED-4DFC-B7ED-EDCA22038994}">
      <dsp:nvSpPr>
        <dsp:cNvPr id="0" name=""/>
        <dsp:cNvSpPr/>
      </dsp:nvSpPr>
      <dsp:spPr>
        <a:xfrm>
          <a:off x="0" y="4245912"/>
          <a:ext cx="11465131" cy="699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401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Satellite orients itself so that instruments or antennas face Earth.</a:t>
          </a:r>
        </a:p>
        <a:p>
          <a:pPr marL="228600" lvl="1" indent="-228600" algn="l" defTabSz="889000">
            <a:lnSpc>
              <a:spcPct val="90000"/>
            </a:lnSpc>
            <a:spcBef>
              <a:spcPct val="0"/>
            </a:spcBef>
            <a:spcAft>
              <a:spcPct val="20000"/>
            </a:spcAft>
            <a:buChar char="•"/>
          </a:pPr>
          <a:r>
            <a:rPr lang="en-US" sz="2000" kern="1200"/>
            <a:t>Common for Earth-observation or communication satellites.</a:t>
          </a:r>
        </a:p>
      </dsp:txBody>
      <dsp:txXfrm>
        <a:off x="0" y="4245912"/>
        <a:ext cx="11465131" cy="6996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1353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of the four subsystem lectures, and the one that ties the others together — pointing is what the payload, the link and the power system all depend on. 45 minutes, then the final build session.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questions come from Lecture 08 and are worth asking out loud rather than reading. Two minutes.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08 puts it this way: if figure skaters close their arms while they are spinning, their inertia decreases, since the mass is getting closer to the centre; since angular momentum is conserved, the angular velocity has to increase. Satellites change their orientation in space in the exact same way. Lecture 08 also states that reaction and momentum wheels, which need a high moment of inertia, are built with the mass located as far away from the centre as possible.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5"/>
        <p:cNvGrpSpPr/>
        <p:nvPr/>
      </p:nvGrpSpPr>
      <p:grpSpPr>
        <a:xfrm>
          <a:off x="0" y="0"/>
          <a:ext cx="0" cy="0"/>
          <a:chOff x="0" y="0"/>
          <a:chExt cx="0" cy="0"/>
        </a:xfrm>
      </p:grpSpPr>
      <p:sp>
        <p:nvSpPr>
          <p:cNvPr id="4266" name="Google Shape;4266;p2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7" name="Google Shape;4267;p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Inertial space = the star-fixed reference frame (non-accelerating, non-rotating), used for precise spacecraft orientation and navigation.</a:t>
            </a:r>
          </a:p>
        </p:txBody>
      </p:sp>
      <p:sp>
        <p:nvSpPr>
          <p:cNvPr id="4" name="Slide Number Placeholder 3"/>
          <p:cNvSpPr>
            <a:spLocks noGrp="1"/>
          </p:cNvSpPr>
          <p:nvPr>
            <p:ph type="sldNum" sz="quarter" idx="5"/>
          </p:nvPr>
        </p:nvSpPr>
        <p:spPr/>
        <p:txBody>
          <a:bodyPr/>
          <a:lstStyle/>
          <a:p>
            <a:fld id="{E2028738-50C9-406A-BA2E-6C4B03F47A2D}" type="slidenum">
              <a:rPr lang="en-US" smtClean="0"/>
              <a:t>17</a:t>
            </a:fld>
            <a:endParaRPr lang="en-US"/>
          </a:p>
        </p:txBody>
      </p:sp>
    </p:spTree>
    <p:extLst>
      <p:ext uri="{BB962C8B-B14F-4D97-AF65-F5344CB8AC3E}">
        <p14:creationId xmlns:p14="http://schemas.microsoft.com/office/powerpoint/2010/main" val="1432434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4"/>
        <p:cNvGrpSpPr/>
        <p:nvPr/>
      </p:nvGrpSpPr>
      <p:grpSpPr>
        <a:xfrm>
          <a:off x="0" y="0"/>
          <a:ext cx="0" cy="0"/>
          <a:chOff x="0" y="0"/>
          <a:chExt cx="0" cy="0"/>
        </a:xfrm>
      </p:grpSpPr>
      <p:sp>
        <p:nvSpPr>
          <p:cNvPr id="4435" name="Google Shape;4435;p2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Gyroscopes in ADCS are used to measure the rate of rotation of the spacecraft around its axes, helping track orientation changes over time.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magnetometer in ADCS measures the magnetic field strength and direction, typically of Earth’s magnetic field. By comparing the measured magnetic field vector to a model, the spacecraft can determine its orientation relative to Earth.</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Accelerometers measure linear accelerations, which help in detecting translational forces acting on the spacecraft, such as gravity or atmospheric drag in LEO.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Permanent magnets can be used as a passive attitude control component, especially in simpler ADCS designs. They align the spacecraft with Earth’s magnetic field, providing a stabilizing effect that helps maintain a desired orientation.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Hysteresis dampers provide passive damping, reducing oscillations and stabilizing the spacecraft’s attitude over time. They use materials with hysteresis properties (often magnetic materials) to absorb and dissipate energy as the spacecraft rotates.</a:t>
            </a:r>
          </a:p>
          <a:p>
            <a:pPr marL="0" lvl="0" indent="0" algn="l" rtl="0">
              <a:spcBef>
                <a:spcPts val="0"/>
              </a:spcBef>
              <a:spcAft>
                <a:spcPts val="0"/>
              </a:spcAft>
              <a:buNone/>
            </a:pPr>
            <a:endParaRPr dirty="0"/>
          </a:p>
        </p:txBody>
      </p:sp>
      <p:sp>
        <p:nvSpPr>
          <p:cNvPr id="4436" name="Google Shape;4436;p2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2165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7"/>
        <p:cNvGrpSpPr/>
        <p:nvPr/>
      </p:nvGrpSpPr>
      <p:grpSpPr>
        <a:xfrm>
          <a:off x="0" y="0"/>
          <a:ext cx="0" cy="0"/>
          <a:chOff x="0" y="0"/>
          <a:chExt cx="0" cy="0"/>
        </a:xfrm>
      </p:grpSpPr>
      <p:sp>
        <p:nvSpPr>
          <p:cNvPr id="4418" name="Google Shape;4418;p2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9" name="Google Shape;4419;p2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9"/>
        <p:cNvGrpSpPr/>
        <p:nvPr/>
      </p:nvGrpSpPr>
      <p:grpSpPr>
        <a:xfrm>
          <a:off x="0" y="0"/>
          <a:ext cx="0" cy="0"/>
          <a:chOff x="0" y="0"/>
          <a:chExt cx="0" cy="0"/>
        </a:xfrm>
      </p:grpSpPr>
      <p:sp>
        <p:nvSpPr>
          <p:cNvPr id="4860" name="Google Shape;4860;p2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1" name="Google Shape;4861;p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0"/>
        <p:cNvGrpSpPr/>
        <p:nvPr/>
      </p:nvGrpSpPr>
      <p:grpSpPr>
        <a:xfrm>
          <a:off x="0" y="0"/>
          <a:ext cx="0" cy="0"/>
          <a:chOff x="0" y="0"/>
          <a:chExt cx="0" cy="0"/>
        </a:xfrm>
      </p:grpSpPr>
      <p:sp>
        <p:nvSpPr>
          <p:cNvPr id="4471" name="Google Shape;4471;p2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2" name="Google Shape;4472;p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1"/>
        <p:cNvGrpSpPr/>
        <p:nvPr/>
      </p:nvGrpSpPr>
      <p:grpSpPr>
        <a:xfrm>
          <a:off x="0" y="0"/>
          <a:ext cx="0" cy="0"/>
          <a:chOff x="0" y="0"/>
          <a:chExt cx="0" cy="0"/>
        </a:xfrm>
      </p:grpSpPr>
      <p:sp>
        <p:nvSpPr>
          <p:cNvPr id="4492" name="Google Shape;4492;p4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3" name="Google Shape;4493;p4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028738-50C9-406A-BA2E-6C4B03F47A2D}" type="slidenum">
              <a:rPr lang="en-US" smtClean="0"/>
              <a:t>29</a:t>
            </a:fld>
            <a:endParaRPr lang="en-US"/>
          </a:p>
        </p:txBody>
      </p:sp>
    </p:spTree>
    <p:extLst>
      <p:ext uri="{BB962C8B-B14F-4D97-AF65-F5344CB8AC3E}">
        <p14:creationId xmlns:p14="http://schemas.microsoft.com/office/powerpoint/2010/main" val="2247242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5"/>
        <p:cNvGrpSpPr/>
        <p:nvPr/>
      </p:nvGrpSpPr>
      <p:grpSpPr>
        <a:xfrm>
          <a:off x="0" y="0"/>
          <a:ext cx="0" cy="0"/>
          <a:chOff x="0" y="0"/>
          <a:chExt cx="0" cy="0"/>
        </a:xfrm>
      </p:grpSpPr>
      <p:sp>
        <p:nvSpPr>
          <p:cNvPr id="4486" name="Google Shape;4486;p2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7" name="Google Shape;4487;p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2817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9"/>
        <p:cNvGrpSpPr/>
        <p:nvPr/>
      </p:nvGrpSpPr>
      <p:grpSpPr>
        <a:xfrm>
          <a:off x="0" y="0"/>
          <a:ext cx="0" cy="0"/>
          <a:chOff x="0" y="0"/>
          <a:chExt cx="0" cy="0"/>
        </a:xfrm>
      </p:grpSpPr>
      <p:sp>
        <p:nvSpPr>
          <p:cNvPr id="4480" name="Google Shape;4480;p2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1" name="Google Shape;4481;p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9727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three items are Lecture 08's. The idea worth leaving behind is that the orbit environment is reproduced piece by piece, because it cannot be reproduced as a whole.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in hand. Note that there is no magnetic torquer on the kit, so the wheel is the whole actuator set — which makes saturation a useful thing to mention again here.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is a public, maintained source. The NASA State-of-the-Art report is the single most useful reference for anyone continuing this work.</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accuracy column is the useful one. Point out the two orders of magnitude between passive and active three-axis control, and that a requirement written a little tighter than necessary can change the entire spacecraft. The closing panel answers the question the first row always provokes. The same double role applies to the magnetic interaction, one row below.</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Lecture 08's own mission analysis, with its two multiple-choice questions. Run it as a decision the room makes rather than a result they are shown: offer the options, take a vote, then reveal. The torque question is the fourth of the Lecture 08 options; the point is that the actuator has to exceed the worst-case total without being wildly oversized.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figures are the ones given earlier in this deck. For an imaging payload the mission analysis works to around 0.1°, which rules out the two passive methods and points at zero momentum with reaction wheels. The sensor answer depends on what the team argues: a star tracker gives the accuracy, a magnetometer is needed anyway if magnetorquers do the desaturation. The last part is the one that matters — wheels are always paired with another actuator, usually magnetorquers, and that is mass and power the team has to find in the budget it set in the power exercise.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latin typeface="Space Mono"/>
                <a:ea typeface="Space Mono"/>
                <a:cs typeface="Space Mono"/>
              </a:defRPr>
            </a:pPr>
            <a:r>
              <a:rPr lang="en-US">
                <a:latin typeface="Space Mono"/>
                <a:ea typeface="Space Mono"/>
                <a:cs typeface="Space Mono"/>
              </a:rPr>
              <a:t>Click to edit Master subtitle style</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Content Placeholder 2"/>
          <p:cNvSpPr>
            <a:spLocks noGrp="1"/>
          </p:cNvSpPr>
          <p:nvPr>
            <p:ph idx="1"/>
          </p:nvPr>
        </p:nvSpPr>
        <p:spPr/>
        <p:txBody>
          <a:bodyPr/>
          <a:lstStyle/>
          <a:p>
            <a:pPr lvl="0">
              <a:defRPr>
                <a:latin typeface="Space Mono"/>
                <a:ea typeface="Space Mono"/>
                <a:cs typeface="Space Mono"/>
              </a:defRPr>
            </a:pPr>
            <a:r>
              <a:rPr lang="en-US">
                <a:latin typeface="Space Mono"/>
                <a:ea typeface="Space Mono"/>
                <a:cs typeface="Space Mono"/>
              </a:rPr>
              <a:t>Click to edit Master text styles</a:t>
            </a:r>
          </a:p>
          <a:p>
            <a:pPr lvl="1">
              <a:defRPr>
                <a:latin typeface="Space Mono"/>
                <a:ea typeface="Space Mono"/>
                <a:cs typeface="Space Mono"/>
              </a:defRPr>
            </a:pPr>
            <a:r>
              <a:rPr lang="en-US">
                <a:latin typeface="Space Mono"/>
                <a:ea typeface="Space Mono"/>
                <a:cs typeface="Space Mono"/>
              </a:rPr>
              <a:t>Second level</a:t>
            </a:r>
          </a:p>
          <a:p>
            <a:pPr lvl="2">
              <a:defRPr>
                <a:latin typeface="Space Mono"/>
                <a:ea typeface="Space Mono"/>
                <a:cs typeface="Space Mono"/>
              </a:defRPr>
            </a:pPr>
            <a:r>
              <a:rPr lang="en-US">
                <a:latin typeface="Space Mono"/>
                <a:ea typeface="Space Mono"/>
                <a:cs typeface="Space Mono"/>
              </a:rPr>
              <a:t>Third level</a:t>
            </a:r>
          </a:p>
          <a:p>
            <a:pPr lvl="3">
              <a:defRPr>
                <a:latin typeface="Space Mono"/>
                <a:ea typeface="Space Mono"/>
                <a:cs typeface="Space Mono"/>
              </a:defRPr>
            </a:pPr>
            <a:r>
              <a:rPr lang="en-US">
                <a:latin typeface="Space Mono"/>
                <a:ea typeface="Space Mono"/>
                <a:cs typeface="Space Mono"/>
              </a:rPr>
              <a:t>Fourth level</a:t>
            </a:r>
          </a:p>
          <a:p>
            <a:pPr lvl="4">
              <a:defRPr>
                <a:latin typeface="Space Mono"/>
                <a:ea typeface="Space Mono"/>
                <a:cs typeface="Space Mono"/>
              </a:defRPr>
            </a:pPr>
            <a:r>
              <a:rPr lang="en-US">
                <a:latin typeface="Space Mono"/>
                <a:ea typeface="Space Mono"/>
                <a:cs typeface="Space Mono"/>
              </a:rPr>
              <a:t>Fifth level</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latin typeface="Ubuntu"/>
                <a:ea typeface="Ubuntu"/>
                <a:cs typeface="Ubuntu"/>
              </a:defRPr>
            </a:pPr>
            <a:r>
              <a:rPr lang="en-US">
                <a:latin typeface="Ubuntu"/>
                <a:ea typeface="Ubuntu"/>
                <a:cs typeface="Ubuntu"/>
              </a:rPr>
              <a:t>Click to edit Master text styles</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latin typeface="Space Mono"/>
                <a:ea typeface="Space Mono"/>
                <a:cs typeface="Space Mono"/>
              </a:defRPr>
            </a:pPr>
            <a:r>
              <a:rPr lang="en-US">
                <a:latin typeface="Space Mono"/>
                <a:ea typeface="Space Mono"/>
                <a:cs typeface="Space Mono"/>
              </a:rPr>
              <a:t>Click to edit Master text styles</a:t>
            </a:r>
          </a:p>
          <a:p>
            <a:pPr lvl="1">
              <a:defRPr>
                <a:latin typeface="Space Mono"/>
                <a:ea typeface="Space Mono"/>
                <a:cs typeface="Space Mono"/>
              </a:defRPr>
            </a:pPr>
            <a:r>
              <a:rPr lang="en-US">
                <a:latin typeface="Space Mono"/>
                <a:ea typeface="Space Mono"/>
                <a:cs typeface="Space Mono"/>
              </a:rPr>
              <a:t>Second level</a:t>
            </a:r>
          </a:p>
          <a:p>
            <a:pPr lvl="2">
              <a:defRPr>
                <a:latin typeface="Space Mono"/>
                <a:ea typeface="Space Mono"/>
                <a:cs typeface="Space Mono"/>
              </a:defRPr>
            </a:pPr>
            <a:r>
              <a:rPr lang="en-US">
                <a:latin typeface="Space Mono"/>
                <a:ea typeface="Space Mono"/>
                <a:cs typeface="Space Mono"/>
              </a:rPr>
              <a:t>Third level</a:t>
            </a:r>
          </a:p>
          <a:p>
            <a:pPr lvl="3">
              <a:defRPr>
                <a:latin typeface="Space Mono"/>
                <a:ea typeface="Space Mono"/>
                <a:cs typeface="Space Mono"/>
              </a:defRPr>
            </a:pPr>
            <a:r>
              <a:rPr lang="en-US">
                <a:latin typeface="Space Mono"/>
                <a:ea typeface="Space Mono"/>
                <a:cs typeface="Space Mono"/>
              </a:rPr>
              <a:t>Fourth level</a:t>
            </a:r>
          </a:p>
          <a:p>
            <a:pPr lvl="4">
              <a:defRPr>
                <a:latin typeface="Space Mono"/>
                <a:ea typeface="Space Mono"/>
                <a:cs typeface="Space Mono"/>
              </a:defRPr>
            </a:pPr>
            <a:r>
              <a:rPr lang="en-US">
                <a:latin typeface="Space Mono"/>
                <a:ea typeface="Space Mono"/>
                <a:cs typeface="Space Mono"/>
              </a:rPr>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5" name="Date Placeholder 4"/>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pPr>
              <a:defRPr>
                <a:latin typeface="Ubuntu"/>
                <a:ea typeface="Ubuntu"/>
                <a:cs typeface="Ubuntu"/>
              </a:defRPr>
            </a:pPr>
            <a:endParaRPr lang="en-US"/>
          </a:p>
        </p:txBody>
      </p:sp>
      <p:sp>
        <p:nvSpPr>
          <p:cNvPr id="7" name="Slide Number Placeholder 6"/>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latin typeface="Ubuntu"/>
                <a:ea typeface="Ubuntu"/>
                <a:cs typeface="Ubuntu"/>
              </a:defRPr>
            </a:pPr>
            <a:r>
              <a:rPr lang="en-US">
                <a:latin typeface="Ubuntu"/>
                <a:ea typeface="Ubuntu"/>
                <a:cs typeface="Ubuntu"/>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latin typeface="Ubuntu"/>
                <a:ea typeface="Ubuntu"/>
                <a:cs typeface="Ubuntu"/>
              </a:defRPr>
            </a:pPr>
            <a:r>
              <a:rPr lang="en-US">
                <a:latin typeface="Ubuntu"/>
                <a:ea typeface="Ubuntu"/>
                <a:cs typeface="Ubuntu"/>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7" name="Date Placeholder 6"/>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pPr>
              <a:defRPr>
                <a:latin typeface="Ubuntu"/>
                <a:ea typeface="Ubuntu"/>
                <a:cs typeface="Ubuntu"/>
              </a:defRPr>
            </a:pPr>
            <a:endParaRPr lang="en-US"/>
          </a:p>
        </p:txBody>
      </p:sp>
      <p:sp>
        <p:nvSpPr>
          <p:cNvPr id="9" name="Slide Number Placeholder 8"/>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Date Placeholder 2"/>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pPr>
              <a:defRPr>
                <a:latin typeface="Ubuntu"/>
                <a:ea typeface="Ubuntu"/>
                <a:cs typeface="Ubuntu"/>
              </a:defRPr>
            </a:pPr>
            <a:endParaRPr lang="en-US"/>
          </a:p>
        </p:txBody>
      </p:sp>
      <p:sp>
        <p:nvSpPr>
          <p:cNvPr id="5" name="Slide Number Placeholder 4"/>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pPr>
              <a:defRPr>
                <a:latin typeface="Ubuntu"/>
                <a:ea typeface="Ubuntu"/>
                <a:cs typeface="Ubuntu"/>
              </a:defRPr>
            </a:pPr>
            <a:endParaRPr lang="en-US"/>
          </a:p>
        </p:txBody>
      </p:sp>
      <p:sp>
        <p:nvSpPr>
          <p:cNvPr id="4" name="Slide Number Placeholder 3"/>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latin typeface="Space Mono"/>
                <a:ea typeface="Space Mono"/>
                <a:cs typeface="Space Mono"/>
              </a:defRPr>
            </a:pPr>
            <a:r>
              <a:rPr lang="en-US">
                <a:latin typeface="Space Mono"/>
                <a:ea typeface="Space Mono"/>
                <a:cs typeface="Space Mono"/>
              </a:rPr>
              <a:t>Click to edit Master text styles</a:t>
            </a:r>
          </a:p>
          <a:p>
            <a:pPr lvl="1">
              <a:defRPr>
                <a:latin typeface="Space Mono"/>
                <a:ea typeface="Space Mono"/>
                <a:cs typeface="Space Mono"/>
              </a:defRPr>
            </a:pPr>
            <a:r>
              <a:rPr lang="en-US">
                <a:latin typeface="Space Mono"/>
                <a:ea typeface="Space Mono"/>
                <a:cs typeface="Space Mono"/>
              </a:rPr>
              <a:t>Second level</a:t>
            </a:r>
          </a:p>
          <a:p>
            <a:pPr lvl="2">
              <a:defRPr>
                <a:latin typeface="Space Mono"/>
                <a:ea typeface="Space Mono"/>
                <a:cs typeface="Space Mono"/>
              </a:defRPr>
            </a:pPr>
            <a:r>
              <a:rPr lang="en-US">
                <a:latin typeface="Space Mono"/>
                <a:ea typeface="Space Mono"/>
                <a:cs typeface="Space Mono"/>
              </a:rPr>
              <a:t>Third level</a:t>
            </a:r>
          </a:p>
          <a:p>
            <a:pPr lvl="3">
              <a:defRPr>
                <a:latin typeface="Space Mono"/>
                <a:ea typeface="Space Mono"/>
                <a:cs typeface="Space Mono"/>
              </a:defRPr>
            </a:pPr>
            <a:r>
              <a:rPr lang="en-US">
                <a:latin typeface="Space Mono"/>
                <a:ea typeface="Space Mono"/>
                <a:cs typeface="Space Mono"/>
              </a:rPr>
              <a:t>Fourth level</a:t>
            </a:r>
          </a:p>
          <a:p>
            <a:pPr lvl="4">
              <a:defRPr>
                <a:latin typeface="Space Mono"/>
                <a:ea typeface="Space Mono"/>
                <a:cs typeface="Space Mono"/>
              </a:defRPr>
            </a:pPr>
            <a:r>
              <a:rPr lang="en-US">
                <a:latin typeface="Space Mono"/>
                <a:ea typeface="Space Mono"/>
                <a:cs typeface="Space Mono"/>
              </a:rPr>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latin typeface="Ubuntu"/>
                <a:ea typeface="Ubuntu"/>
                <a:cs typeface="Ubuntu"/>
              </a:defRPr>
            </a:pPr>
            <a:r>
              <a:rPr lang="en-US">
                <a:latin typeface="Ubuntu"/>
                <a:ea typeface="Ubuntu"/>
                <a:cs typeface="Ubuntu"/>
              </a:rPr>
              <a:t>Click to edit Master text styles</a:t>
            </a:r>
          </a:p>
        </p:txBody>
      </p:sp>
      <p:sp>
        <p:nvSpPr>
          <p:cNvPr id="5" name="Date Placeholder 4"/>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pPr>
              <a:defRPr>
                <a:latin typeface="Ubuntu"/>
                <a:ea typeface="Ubuntu"/>
                <a:cs typeface="Ubuntu"/>
              </a:defRPr>
            </a:pPr>
            <a:endParaRPr lang="en-US"/>
          </a:p>
        </p:txBody>
      </p:sp>
      <p:sp>
        <p:nvSpPr>
          <p:cNvPr id="7" name="Slide Number Placeholder 6"/>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latin typeface="Space Mono"/>
                <a:ea typeface="Space Mono"/>
                <a:cs typeface="Space Mono"/>
              </a:defRPr>
            </a:pP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latin typeface="Ubuntu"/>
                <a:ea typeface="Ubuntu"/>
                <a:cs typeface="Ubuntu"/>
              </a:defRPr>
            </a:pPr>
            <a:r>
              <a:rPr lang="en-US">
                <a:latin typeface="Ubuntu"/>
                <a:ea typeface="Ubuntu"/>
                <a:cs typeface="Ubuntu"/>
              </a:rPr>
              <a:t>Click to edit Master text styles</a:t>
            </a:r>
          </a:p>
        </p:txBody>
      </p:sp>
      <p:sp>
        <p:nvSpPr>
          <p:cNvPr id="5" name="Date Placeholder 4"/>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pPr>
              <a:defRPr>
                <a:latin typeface="Ubuntu"/>
                <a:ea typeface="Ubuntu"/>
                <a:cs typeface="Ubuntu"/>
              </a:defRPr>
            </a:pPr>
            <a:endParaRPr lang="en-US"/>
          </a:p>
        </p:txBody>
      </p:sp>
      <p:sp>
        <p:nvSpPr>
          <p:cNvPr id="7" name="Slide Number Placeholder 6"/>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Vertical Text Placeholder 2"/>
          <p:cNvSpPr>
            <a:spLocks noGrp="1"/>
          </p:cNvSpPr>
          <p:nvPr>
            <p:ph type="body" orient="vert" idx="1"/>
          </p:nvPr>
        </p:nvSpPr>
        <p:spPr/>
        <p:txBody>
          <a:bodyPr vert="eaVert"/>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Date Placeholder 3"/>
          <p:cNvSpPr>
            <a:spLocks noGrp="1"/>
          </p:cNvSpPr>
          <p:nvPr>
            <p:ph type="dt" sz="half" idx="10"/>
          </p:nvPr>
        </p:nvSpPr>
        <p:spPr/>
        <p:txBody>
          <a:body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pPr>
              <a:defRPr>
                <a:latin typeface="Ubuntu"/>
                <a:ea typeface="Ubuntu"/>
                <a:cs typeface="Ubuntu"/>
              </a:defRPr>
            </a:pPr>
            <a:endParaRPr lang="en-US"/>
          </a:p>
        </p:txBody>
      </p:sp>
      <p:sp>
        <p:nvSpPr>
          <p:cNvPr id="6" name="Slide Number Placeholder 5"/>
          <p:cNvSpPr>
            <a:spLocks noGrp="1"/>
          </p:cNvSpPr>
          <p:nvPr>
            <p:ph type="sldNum" sz="quarter" idx="12"/>
          </p:nvPr>
        </p:nvSpPr>
        <p:spPr/>
        <p:txBody>
          <a:body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7"/>
        <p:cNvGrpSpPr/>
        <p:nvPr/>
      </p:nvGrpSpPr>
      <p:grpSpPr>
        <a:xfrm>
          <a:off x="0" y="0"/>
          <a:ext cx="0" cy="0"/>
          <a:chOff x="0" y="0"/>
          <a:chExt cx="0" cy="0"/>
        </a:xfrm>
      </p:grpSpPr>
      <p:sp>
        <p:nvSpPr>
          <p:cNvPr id="28" name="Google Shape;28;p316"/>
          <p:cNvSpPr txBox="1">
            <a:spLocks noGrp="1"/>
          </p:cNvSpPr>
          <p:nvPr>
            <p:ph type="body" idx="1"/>
          </p:nvPr>
        </p:nvSpPr>
        <p:spPr>
          <a:xfrm>
            <a:off x="323765" y="1100518"/>
            <a:ext cx="11441512" cy="4847522"/>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marL="914400" lvl="1" indent="-381000" algn="l">
              <a:lnSpc>
                <a:spcPct val="90000"/>
              </a:lnSpc>
              <a:spcBef>
                <a:spcPts val="500"/>
              </a:spcBef>
              <a:spcAft>
                <a:spcPts val="0"/>
              </a:spcAft>
              <a:buClr>
                <a:schemeClr val="dk1"/>
              </a:buClr>
              <a:buSzPts val="2400"/>
              <a:buChar char="•"/>
              <a:defRPr>
                <a:latin typeface="Times New Roman"/>
                <a:ea typeface="Times New Roman"/>
                <a:cs typeface="Times New Roman"/>
                <a:sym typeface="Times New Roman"/>
              </a:defRPr>
            </a:lvl2pPr>
            <a:lvl3pPr marL="1371600" lvl="2" indent="-355600" algn="l">
              <a:lnSpc>
                <a:spcPct val="90000"/>
              </a:lnSpc>
              <a:spcBef>
                <a:spcPts val="500"/>
              </a:spcBef>
              <a:spcAft>
                <a:spcPts val="0"/>
              </a:spcAft>
              <a:buClr>
                <a:schemeClr val="dk1"/>
              </a:buClr>
              <a:buSzPts val="2000"/>
              <a:buChar char="•"/>
              <a:defRPr>
                <a:latin typeface="Times New Roman"/>
                <a:ea typeface="Times New Roman"/>
                <a:cs typeface="Times New Roman"/>
                <a:sym typeface="Times New Roman"/>
              </a:defRPr>
            </a:lvl3pPr>
            <a:lvl4pPr marL="1828800" lvl="3" indent="-342900" algn="l">
              <a:lnSpc>
                <a:spcPct val="90000"/>
              </a:lnSpc>
              <a:spcBef>
                <a:spcPts val="500"/>
              </a:spcBef>
              <a:spcAft>
                <a:spcPts val="0"/>
              </a:spcAft>
              <a:buClr>
                <a:schemeClr val="dk1"/>
              </a:buClr>
              <a:buSzPts val="1800"/>
              <a:buChar char="•"/>
              <a:defRPr>
                <a:latin typeface="Times New Roman"/>
                <a:ea typeface="Times New Roman"/>
                <a:cs typeface="Times New Roman"/>
                <a:sym typeface="Times New Roman"/>
              </a:defRPr>
            </a:lvl4pPr>
            <a:lvl5pPr marL="2286000" lvl="4" indent="-342900" algn="l">
              <a:lnSpc>
                <a:spcPct val="90000"/>
              </a:lnSpc>
              <a:spcBef>
                <a:spcPts val="500"/>
              </a:spcBef>
              <a:spcAft>
                <a:spcPts val="0"/>
              </a:spcAft>
              <a:buClr>
                <a:schemeClr val="dk1"/>
              </a:buClr>
              <a:buSzPts val="1800"/>
              <a:buChar char="•"/>
              <a:defRPr>
                <a:latin typeface="Times New Roman"/>
                <a:ea typeface="Times New Roman"/>
                <a:cs typeface="Times New Roman"/>
                <a:sym typeface="Times New Roman"/>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latin typeface="Ubuntu"/>
                <a:ea typeface="Ubuntu"/>
                <a:cs typeface="Ubuntu"/>
              </a:defRPr>
            </a:pPr>
            <a:endParaRPr/>
          </a:p>
        </p:txBody>
      </p:sp>
      <p:sp>
        <p:nvSpPr>
          <p:cNvPr id="29" name="Google Shape;29;p316"/>
          <p:cNvSpPr txBox="1">
            <a:spLocks noGrp="1"/>
          </p:cNvSpPr>
          <p:nvPr>
            <p:ph type="title"/>
          </p:nvPr>
        </p:nvSpPr>
        <p:spPr>
          <a:xfrm>
            <a:off x="323765" y="1"/>
            <a:ext cx="11441512" cy="82889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000"/>
              <a:buFont typeface="Times New Roman"/>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latin typeface="House Movements Runway"/>
                <a:ea typeface="House Movements Runway"/>
                <a:cs typeface="House Movements Runway"/>
              </a:defRPr>
            </a:pPr>
            <a:endParaRPr/>
          </a:p>
        </p:txBody>
      </p:sp>
      <p:sp>
        <p:nvSpPr>
          <p:cNvPr id="30" name="Google Shape;30;p316"/>
          <p:cNvSpPr txBox="1">
            <a:spLocks noGrp="1"/>
          </p:cNvSpPr>
          <p:nvPr>
            <p:ph type="dt" idx="10"/>
          </p:nvPr>
        </p:nvSpPr>
        <p:spPr>
          <a:xfrm>
            <a:off x="838200" y="6412996"/>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latin typeface="Ubuntu"/>
                <a:ea typeface="Ubuntu"/>
                <a:cs typeface="Ubuntu"/>
              </a:defRPr>
            </a:pPr>
            <a:fld id="{E7395FE8-6D54-4529-A1E5-B2A54D8DD3A1}" type="datetime1">
              <a:rPr lang="en-US" smtClean="0"/>
              <a:t>10/15/2026</a:t>
            </a:fld>
            <a:endParaRPr/>
          </a:p>
        </p:txBody>
      </p:sp>
      <p:sp>
        <p:nvSpPr>
          <p:cNvPr id="31" name="Google Shape;31;p316"/>
          <p:cNvSpPr txBox="1">
            <a:spLocks noGrp="1"/>
          </p:cNvSpPr>
          <p:nvPr>
            <p:ph type="ftr" idx="11"/>
          </p:nvPr>
        </p:nvSpPr>
        <p:spPr>
          <a:xfrm>
            <a:off x="4038600" y="6412996"/>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latin typeface="Ubuntu"/>
                <a:ea typeface="Ubuntu"/>
                <a:cs typeface="Ubuntu"/>
              </a:defRPr>
            </a:pPr>
            <a:endParaRPr/>
          </a:p>
        </p:txBody>
      </p:sp>
      <p:sp>
        <p:nvSpPr>
          <p:cNvPr id="32" name="Google Shape;32;p316"/>
          <p:cNvSpPr txBox="1">
            <a:spLocks noGrp="1"/>
          </p:cNvSpPr>
          <p:nvPr>
            <p:ph type="sldNum" idx="12"/>
          </p:nvPr>
        </p:nvSpPr>
        <p:spPr>
          <a:xfrm>
            <a:off x="8610600" y="6412996"/>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a:defRPr>
                <a:latin typeface="Ubuntu"/>
                <a:ea typeface="Ubuntu"/>
                <a:cs typeface="Ubuntu"/>
              </a:defRPr>
            </a:pPr>
            <a:fld id="{00000000-1234-1234-1234-123412341234}" type="slidenum">
              <a:rPr lang="en-US" smtClean="0"/>
              <a:pPr/>
              <a:t>‹#›</a:t>
            </a:fld>
            <a:endParaRPr lang="en-US"/>
          </a:p>
        </p:txBody>
      </p:sp>
    </p:spTree>
    <p:extLst>
      <p:ext uri="{BB962C8B-B14F-4D97-AF65-F5344CB8AC3E}">
        <p14:creationId xmlns:p14="http://schemas.microsoft.com/office/powerpoint/2010/main" val="753865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728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defRPr>
                <a:latin typeface="House Movements Runway"/>
                <a:ea typeface="House Movements Runway"/>
                <a:cs typeface="House Movements Runway"/>
              </a:defRPr>
            </a:pPr>
            <a:endParaRPr lang="en-US" sz="340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000">
                <a:solidFill>
                  <a:schemeClr val="accent6"/>
                </a:solidFill>
                <a:latin typeface="Ubuntu"/>
                <a:ea typeface="Ubuntu"/>
                <a:cs typeface="Ubuntu"/>
              </a:rPr>
              <a:t>Spacecraft Attitude and Orbit Control</a:t>
            </a:r>
            <a:endParaRPr lang="en-US" sz="100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defRPr>
                <a:latin typeface="Ubuntu"/>
                <a:ea typeface="Ubuntu"/>
                <a:cs typeface="Ubuntu"/>
              </a:defRPr>
            </a:pPr>
            <a:fld id="{F7021451-1387-4CA6-816F-3879F97B5CBC}" type="slidenum">
              <a:rPr lang="en-US" b="0"/>
              <a:t>‹#›</a:t>
            </a:fld>
            <a:endParaRPr lang="en-US"/>
          </a:p>
        </p:txBody>
      </p:sp>
    </p:spTree>
    <p:extLst>
      <p:ext uri="{BB962C8B-B14F-4D97-AF65-F5344CB8AC3E}">
        <p14:creationId xmlns:p14="http://schemas.microsoft.com/office/powerpoint/2010/main" val="3004446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pPr>
              <a:defRPr>
                <a:latin typeface="House Movements Runway"/>
                <a:ea typeface="House Movements Runway"/>
                <a:cs typeface="House Movements Runway"/>
              </a:defRPr>
            </a:pPr>
            <a:r>
              <a:rPr lang="en-US">
                <a:latin typeface="House Movements Runway"/>
                <a:ea typeface="House Movements Runway"/>
                <a:cs typeface="House Movements Runway"/>
              </a:rP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defRPr>
                <a:latin typeface="Ubuntu"/>
                <a:ea typeface="Ubuntu"/>
                <a:cs typeface="Ubuntu"/>
              </a:defRPr>
            </a:pPr>
            <a:r>
              <a:rPr lang="en-US">
                <a:latin typeface="Ubuntu"/>
                <a:ea typeface="Ubuntu"/>
                <a:cs typeface="Ubuntu"/>
              </a:rPr>
              <a:t>Click to edit Master text styles</a:t>
            </a:r>
          </a:p>
          <a:p>
            <a:pPr lvl="1">
              <a:defRPr>
                <a:latin typeface="Ubuntu"/>
                <a:ea typeface="Ubuntu"/>
                <a:cs typeface="Ubuntu"/>
              </a:defRPr>
            </a:pPr>
            <a:r>
              <a:rPr lang="en-US">
                <a:latin typeface="Ubuntu"/>
                <a:ea typeface="Ubuntu"/>
                <a:cs typeface="Ubuntu"/>
              </a:rPr>
              <a:t>Second level</a:t>
            </a:r>
          </a:p>
          <a:p>
            <a:pPr lvl="2">
              <a:defRPr>
                <a:latin typeface="Ubuntu"/>
                <a:ea typeface="Ubuntu"/>
                <a:cs typeface="Ubuntu"/>
              </a:defRPr>
            </a:pPr>
            <a:r>
              <a:rPr lang="en-US">
                <a:latin typeface="Ubuntu"/>
                <a:ea typeface="Ubuntu"/>
                <a:cs typeface="Ubuntu"/>
              </a:rPr>
              <a:t>Third level</a:t>
            </a:r>
          </a:p>
          <a:p>
            <a:pPr lvl="3">
              <a:defRPr>
                <a:latin typeface="Ubuntu"/>
                <a:ea typeface="Ubuntu"/>
                <a:cs typeface="Ubuntu"/>
              </a:defRPr>
            </a:pPr>
            <a:r>
              <a:rPr lang="en-US">
                <a:latin typeface="Ubuntu"/>
                <a:ea typeface="Ubuntu"/>
                <a:cs typeface="Ubuntu"/>
              </a:rPr>
              <a:t>Fourth level</a:t>
            </a:r>
          </a:p>
          <a:p>
            <a:pPr lvl="4">
              <a:defRPr>
                <a:latin typeface="Ubuntu"/>
                <a:ea typeface="Ubuntu"/>
                <a:cs typeface="Ubuntu"/>
              </a:defRPr>
            </a:pPr>
            <a:r>
              <a:rPr lang="en-US">
                <a:latin typeface="Ubuntu"/>
                <a:ea typeface="Ubuntu"/>
                <a:cs typeface="Ubuntu"/>
              </a:rPr>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latin typeface="Ubuntu"/>
                <a:ea typeface="Ubuntu"/>
                <a:cs typeface="Ubuntu"/>
              </a:defRPr>
            </a:pPr>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latin typeface="Ubuntu"/>
                <a:ea typeface="Ubuntu"/>
                <a:cs typeface="Ubuntu"/>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latin typeface="Ubuntu"/>
                <a:ea typeface="Ubuntu"/>
                <a:cs typeface="Ubuntu"/>
              </a:defRPr>
            </a:pPr>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0.jpg"/><Relationship Id="rId7" Type="http://schemas.openxmlformats.org/officeDocument/2006/relationships/image" Target="../media/image24.jp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82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1.jpe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51.png"/><Relationship Id="rId4" Type="http://schemas.openxmlformats.org/officeDocument/2006/relationships/image" Target="../media/image50.jpeg"/></Relationships>
</file>

<file path=ppt/slides/_rels/slide41.xml.rels><?xml version="1.0" encoding="UTF-8" standalone="yes"?>
<Relationships xmlns="http://schemas.openxmlformats.org/package/2006/relationships"><Relationship Id="rId3" Type="http://schemas.openxmlformats.org/officeDocument/2006/relationships/hyperlink" Target="https://www.nasa.gov/smallsat-institute/sst-soa" TargetMode="External"/><Relationship Id="rId7"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hyperlink" Target="https://ecss.nl/" TargetMode="External"/><Relationship Id="rId5" Type="http://schemas.openxmlformats.org/officeDocument/2006/relationships/hyperlink" Target="https://www.cubesatshop.com/product-category/integrated-adcs/" TargetMode="External"/><Relationship Id="rId4" Type="http://schemas.openxmlformats.org/officeDocument/2006/relationships/hyperlink" Target="https://www.esa.int/ESA_Multimedia/Keywords/System/CubeSats/(result_type)/videos"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2" name="Title 1"/>
          <p:cNvSpPr>
            <a:spLocks noGrp="1"/>
          </p:cNvSpPr>
          <p:nvPr>
            <p:ph type="ctrTitle"/>
          </p:nvPr>
        </p:nvSpPr>
        <p:spPr>
          <a:xfrm>
            <a:off x="638881" y="457200"/>
            <a:ext cx="10909640" cy="1368614"/>
          </a:xfrm>
        </p:spPr>
        <p:txBody>
          <a:bodyPr anchor="ctr">
            <a:normAutofit/>
          </a:bodyPr>
          <a:lstStyle/>
          <a:p>
            <a:pPr>
              <a:lnSpc>
                <a:spcPct val="90000"/>
              </a:lnSpc>
              <a:defRPr>
                <a:latin typeface="House Movements Runway"/>
                <a:ea typeface="House Movements Runway"/>
                <a:cs typeface="House Movements Runway"/>
              </a:defRPr>
            </a:pPr>
            <a:r>
              <a:rPr lang="en-US" sz="4600" b="1" dirty="0">
                <a:latin typeface="House Movements Runway"/>
                <a:ea typeface="House Movements Runway"/>
                <a:cs typeface="House Movements Runway"/>
              </a:rPr>
              <a:t>Attitude and Orbit Control System</a:t>
            </a:r>
          </a:p>
        </p:txBody>
      </p:sp>
      <p:sp>
        <p:nvSpPr>
          <p:cNvPr id="3" name="Subtitle 2"/>
          <p:cNvSpPr>
            <a:spLocks noGrp="1"/>
          </p:cNvSpPr>
          <p:nvPr>
            <p:ph type="subTitle" idx="1"/>
          </p:nvPr>
        </p:nvSpPr>
        <p:spPr>
          <a:xfrm>
            <a:off x="638881" y="1922561"/>
            <a:ext cx="10909643" cy="552659"/>
          </a:xfrm>
        </p:spPr>
        <p:txBody>
          <a:bodyPr anchor="ctr">
            <a:normAutofit/>
          </a:bodyPr>
          <a:lstStyle/>
          <a:p>
            <a:pPr>
              <a:lnSpc>
                <a:spcPct val="90000"/>
              </a:lnSpc>
              <a:defRPr>
                <a:latin typeface="Space Mono"/>
                <a:ea typeface="Space Mono"/>
                <a:cs typeface="Space Mono"/>
              </a:defRPr>
            </a:pPr>
            <a:r>
              <a:rPr lang="en-US">
                <a:latin typeface="Space Mono"/>
                <a:ea typeface="Space Mono"/>
                <a:cs typeface="Space Mono"/>
              </a:rPr>
              <a:t>LECTURE 4</a:t>
            </a:r>
          </a:p>
        </p:txBody>
      </p:sp>
      <p:sp>
        <p:nvSpPr>
          <p:cNvPr id="21"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pic>
        <p:nvPicPr>
          <p:cNvPr id="7" name="Picture 6" descr="The image depicts a silver Z-Axis sensor from Tensor Tech, featuring integrated circuit components, mounted on a white surface.&#10;&#10;AI-generated content may be incorrect.">
            <a:extLst>
              <a:ext uri="{FF2B5EF4-FFF2-40B4-BE49-F238E27FC236}">
                <a16:creationId xmlns:a16="http://schemas.microsoft.com/office/drawing/2014/main" id="{E6C4AB72-A96A-F4ED-1C45-8C3240559D18}"/>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rcRect t="509" r="-1" b="42801"/>
          <a:stretch>
            <a:fillRect/>
          </a:stretch>
        </p:blipFill>
        <p:spPr>
          <a:xfrm>
            <a:off x="288603" y="2776384"/>
            <a:ext cx="5987842" cy="3728688"/>
          </a:xfrm>
          <a:prstGeom prst="rect">
            <a:avLst/>
          </a:prstGeom>
        </p:spPr>
      </p:pic>
      <p:pic>
        <p:nvPicPr>
          <p:cNvPr id="10" name="Picture 9" descr="ADCS Test Facility – HSFL">
            <a:extLst>
              <a:ext uri="{FF2B5EF4-FFF2-40B4-BE49-F238E27FC236}">
                <a16:creationId xmlns:a16="http://schemas.microsoft.com/office/drawing/2014/main" id="{765FB4F5-C72D-20FE-29A6-8E867269C1B3}"/>
              </a:ext>
            </a:extLst>
          </p:cNvPr>
          <p:cNvPicPr>
            <a:picLocks noChangeAspect="1"/>
          </p:cNvPicPr>
          <p:nvPr/>
        </p:nvPicPr>
        <p:blipFill>
          <a:blip r:embed="rId5"/>
          <a:stretch>
            <a:fillRect/>
          </a:stretch>
        </p:blipFill>
        <p:spPr>
          <a:xfrm>
            <a:off x="6393952" y="2528810"/>
            <a:ext cx="5677493" cy="4266049"/>
          </a:xfrm>
          <a:prstGeom prst="rect">
            <a:avLst/>
          </a:prstGeom>
        </p:spPr>
      </p:pic>
      <p:sp>
        <p:nvSpPr>
          <p:cNvPr id="13" name="Slide Number Placeholder 7">
            <a:extLst>
              <a:ext uri="{FF2B5EF4-FFF2-40B4-BE49-F238E27FC236}">
                <a16:creationId xmlns:a16="http://schemas.microsoft.com/office/drawing/2014/main" id="{0E966A6B-2D6F-28E0-CBF3-723FF40B64D8}"/>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a:t>
            </a:fld>
            <a:endParaRPr lang="en-US" sz="4800" b="1" dirty="0">
              <a:solidFill>
                <a:srgbClr val="FF0000"/>
              </a:solidFill>
            </a:endParaRPr>
          </a:p>
        </p:txBody>
      </p:sp>
      <p:pic>
        <p:nvPicPr>
          <p:cNvPr id="22" name="Space Faculty logo" descr="sf_logo.png"/>
          <p:cNvPicPr>
            <a:picLocks noChangeAspect="1"/>
          </p:cNvPicPr>
          <p:nvPr/>
        </p:nvPicPr>
        <p:blipFill>
          <a:blip r:embed="rId6"/>
          <a:stretch>
            <a:fillRect/>
          </a:stretch>
        </p:blipFill>
        <p:spPr>
          <a:xfrm>
            <a:off x="10663446" y="54864"/>
            <a:ext cx="1415777" cy="4023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2" name="Title 1">
            <a:extLst>
              <a:ext uri="{FF2B5EF4-FFF2-40B4-BE49-F238E27FC236}">
                <a16:creationId xmlns:a16="http://schemas.microsoft.com/office/drawing/2014/main" id="{724F96D1-5AA0-0C71-5589-1E80D3ECE674}"/>
              </a:ext>
            </a:extLst>
          </p:cNvPr>
          <p:cNvSpPr>
            <a:spLocks noGrp="1"/>
          </p:cNvSpPr>
          <p:nvPr>
            <p:ph type="title"/>
          </p:nvPr>
        </p:nvSpPr>
        <p:spPr>
          <a:xfrm>
            <a:off x="616533" y="331828"/>
            <a:ext cx="4282983" cy="1200361"/>
          </a:xfrm>
        </p:spPr>
        <p:txBody>
          <a:bodyPr anchor="b">
            <a:normAutofit/>
          </a:bodyPr>
          <a:lstStyle/>
          <a:p>
            <a:pPr>
              <a:defRPr>
                <a:latin typeface="House Movements Runway"/>
                <a:ea typeface="House Movements Runway"/>
                <a:cs typeface="House Movements Runway"/>
              </a:defRPr>
            </a:pPr>
            <a:r>
              <a:rPr lang="en-US" sz="4800" b="1" dirty="0">
                <a:latin typeface="House Movements Runway"/>
                <a:ea typeface="House Movements Runway"/>
                <a:cs typeface="House Movements Runway"/>
              </a:rPr>
              <a:t>Lecture Outline</a:t>
            </a:r>
          </a:p>
        </p:txBody>
      </p:sp>
      <p:sp>
        <p:nvSpPr>
          <p:cNvPr id="30" name="Rectangle 2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3" name="Content Placeholder 2">
            <a:extLst>
              <a:ext uri="{FF2B5EF4-FFF2-40B4-BE49-F238E27FC236}">
                <a16:creationId xmlns:a16="http://schemas.microsoft.com/office/drawing/2014/main" id="{85FFECFB-50F9-580B-AAA6-F597C4EA2A36}"/>
              </a:ext>
            </a:extLst>
          </p:cNvPr>
          <p:cNvSpPr>
            <a:spLocks noGrp="1"/>
          </p:cNvSpPr>
          <p:nvPr>
            <p:ph idx="1"/>
          </p:nvPr>
        </p:nvSpPr>
        <p:spPr>
          <a:xfrm>
            <a:off x="645066" y="2031101"/>
            <a:ext cx="4282984" cy="3511943"/>
          </a:xfrm>
        </p:spPr>
        <p:txBody>
          <a:bodyPr anchor="ctr">
            <a:normAutofit/>
          </a:bodyPr>
          <a:lstStyle/>
          <a:p>
            <a:pPr>
              <a:buFont typeface="Wingdings" panose="05000000000000000000" pitchFamily="2" charset="2"/>
              <a:buChar char="q"/>
              <a:defRPr>
                <a:latin typeface="Space Mono"/>
                <a:ea typeface="Space Mono"/>
                <a:cs typeface="Space Mono"/>
              </a:defRPr>
            </a:pPr>
            <a:r>
              <a:rPr lang="en-US" sz="2400">
                <a:latin typeface="Space Mono"/>
                <a:ea typeface="Space Mono"/>
                <a:cs typeface="Space Mono"/>
              </a:rPr>
              <a:t>Sensor and actuators</a:t>
            </a:r>
          </a:p>
          <a:p>
            <a:pPr>
              <a:buFont typeface="Wingdings" panose="05000000000000000000" pitchFamily="2" charset="2"/>
              <a:buChar char="q"/>
              <a:defRPr>
                <a:latin typeface="Space Mono"/>
                <a:ea typeface="Space Mono"/>
                <a:cs typeface="Space Mono"/>
              </a:defRPr>
            </a:pPr>
            <a:r>
              <a:rPr lang="en-US" sz="2400">
                <a:latin typeface="Space Mono"/>
                <a:ea typeface="Space Mono"/>
                <a:cs typeface="Space Mono"/>
              </a:rPr>
              <a:t>ADCS modes</a:t>
            </a:r>
          </a:p>
          <a:p>
            <a:pPr>
              <a:buFont typeface="Wingdings" panose="05000000000000000000" pitchFamily="2" charset="2"/>
              <a:buChar char="q"/>
              <a:defRPr>
                <a:latin typeface="Space Mono"/>
                <a:ea typeface="Space Mono"/>
                <a:cs typeface="Space Mono"/>
              </a:defRPr>
            </a:pPr>
            <a:r>
              <a:rPr lang="en-US" sz="2400">
                <a:latin typeface="Space Mono"/>
                <a:ea typeface="Space Mono"/>
                <a:cs typeface="Space Mono"/>
              </a:rPr>
              <a:t>Passive ADCS system</a:t>
            </a:r>
          </a:p>
          <a:p>
            <a:pPr>
              <a:buFont typeface="Wingdings" panose="05000000000000000000" pitchFamily="2" charset="2"/>
              <a:buChar char="q"/>
              <a:defRPr>
                <a:latin typeface="Space Mono"/>
                <a:ea typeface="Space Mono"/>
                <a:cs typeface="Space Mono"/>
              </a:defRPr>
            </a:pPr>
            <a:r>
              <a:rPr lang="en-US" sz="2400">
                <a:latin typeface="Space Mono"/>
                <a:ea typeface="Space Mono"/>
                <a:cs typeface="Space Mono"/>
              </a:rPr>
              <a:t>Active ADCS system</a:t>
            </a:r>
          </a:p>
          <a:p>
            <a:pPr>
              <a:buFont typeface="Wingdings" panose="05000000000000000000" pitchFamily="2" charset="2"/>
              <a:buChar char="q"/>
              <a:defRPr>
                <a:latin typeface="Space Mono"/>
                <a:ea typeface="Space Mono"/>
                <a:cs typeface="Space Mono"/>
              </a:defRPr>
            </a:pPr>
            <a:r>
              <a:rPr lang="en-US" sz="2400">
                <a:latin typeface="Space Mono"/>
                <a:ea typeface="Space Mono"/>
                <a:cs typeface="Space Mono"/>
              </a:rPr>
              <a:t>Simulation and Test</a:t>
            </a:r>
          </a:p>
          <a:p>
            <a:pPr>
              <a:buFont typeface="Wingdings" panose="05000000000000000000" pitchFamily="2" charset="2"/>
              <a:buChar char="q"/>
              <a:defRPr>
                <a:latin typeface="Space Mono"/>
                <a:ea typeface="Space Mono"/>
                <a:cs typeface="Space Mono"/>
              </a:defRPr>
            </a:pPr>
            <a:r>
              <a:rPr lang="en-US" sz="2400">
                <a:latin typeface="Space Mono"/>
                <a:ea typeface="Space Mono"/>
                <a:cs typeface="Space Mono"/>
              </a:rPr>
              <a:t>Propulsion and functions</a:t>
            </a:r>
          </a:p>
          <a:p>
            <a:pPr>
              <a:buFont typeface="Wingdings" panose="05000000000000000000" pitchFamily="2" charset="2"/>
              <a:buChar char="q"/>
              <a:defRPr>
                <a:latin typeface="Space Mono"/>
                <a:ea typeface="Space Mono"/>
                <a:cs typeface="Space Mono"/>
              </a:defRPr>
            </a:pPr>
            <a:r>
              <a:rPr lang="en-US" sz="2400">
                <a:latin typeface="Space Mono"/>
                <a:ea typeface="Space Mono"/>
                <a:cs typeface="Space Mono"/>
              </a:rPr>
              <a:t>Exercise </a:t>
            </a:r>
          </a:p>
          <a:p>
            <a:pPr>
              <a:buFont typeface="Wingdings" panose="05000000000000000000" pitchFamily="2" charset="2"/>
              <a:buChar char="q"/>
              <a:defRPr>
                <a:latin typeface="Space Mono"/>
                <a:ea typeface="Space Mono"/>
                <a:cs typeface="Space Mono"/>
              </a:defRPr>
            </a:pPr>
            <a:endParaRPr lang="en-US" sz="2400"/>
          </a:p>
        </p:txBody>
      </p:sp>
      <p:sp>
        <p:nvSpPr>
          <p:cNvPr id="27" name="Rectangle 2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29" name="Rectangle 2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31" name="Rectangle 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pic>
        <p:nvPicPr>
          <p:cNvPr id="5" name="Picture 4" descr="The image depicts a cube-based control system featuring various components such as a momentum wheel, solar sensor, torquers, rods, and a computer, all integrated for precise movement and orientation control.&#10;&#10;AI-generated content may be incorrect.">
            <a:extLst>
              <a:ext uri="{FF2B5EF4-FFF2-40B4-BE49-F238E27FC236}">
                <a16:creationId xmlns:a16="http://schemas.microsoft.com/office/drawing/2014/main" id="{34044994-59BC-5766-A00D-75F1D09AA556}"/>
              </a:ext>
            </a:extLst>
          </p:cNvPr>
          <p:cNvPicPr>
            <a:picLocks noChangeAspect="1"/>
          </p:cNvPicPr>
          <p:nvPr/>
        </p:nvPicPr>
        <p:blipFill>
          <a:blip r:embed="rId2"/>
          <a:stretch>
            <a:fillRect/>
          </a:stretch>
        </p:blipFill>
        <p:spPr>
          <a:xfrm>
            <a:off x="5987738" y="1138743"/>
            <a:ext cx="5628018" cy="4347643"/>
          </a:xfrm>
          <a:prstGeom prst="rect">
            <a:avLst/>
          </a:prstGeom>
        </p:spPr>
      </p:pic>
      <p:sp>
        <p:nvSpPr>
          <p:cNvPr id="7" name="Slide Number Placeholder 7">
            <a:extLst>
              <a:ext uri="{FF2B5EF4-FFF2-40B4-BE49-F238E27FC236}">
                <a16:creationId xmlns:a16="http://schemas.microsoft.com/office/drawing/2014/main" id="{3C511349-538A-B732-1096-27F4A7B54227}"/>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a:t>
            </a:fld>
            <a:endParaRPr lang="en-US" sz="4800" b="1" dirty="0">
              <a:solidFill>
                <a:srgbClr val="FF0000"/>
              </a:solidFill>
            </a:endParaRPr>
          </a:p>
        </p:txBody>
      </p:sp>
      <p:pic>
        <p:nvPicPr>
          <p:cNvPr id="32" name="Space Faculty logo" descr="sf_logo.png"/>
          <p:cNvPicPr>
            <a:picLocks noChangeAspect="1"/>
          </p:cNvPicPr>
          <p:nvPr/>
        </p:nvPicPr>
        <p:blipFill>
          <a:blip r:embed="rId3"/>
          <a:stretch>
            <a:fillRect/>
          </a:stretch>
        </p:blipFill>
        <p:spPr>
          <a:xfrm>
            <a:off x="10548530" y="54863"/>
            <a:ext cx="1530693" cy="434993"/>
          </a:xfrm>
          <a:prstGeom prst="rect">
            <a:avLst/>
          </a:prstGeom>
        </p:spPr>
      </p:pic>
    </p:spTree>
    <p:extLst>
      <p:ext uri="{BB962C8B-B14F-4D97-AF65-F5344CB8AC3E}">
        <p14:creationId xmlns:p14="http://schemas.microsoft.com/office/powerpoint/2010/main" val="3387174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2" name="Title 1">
            <a:extLst>
              <a:ext uri="{FF2B5EF4-FFF2-40B4-BE49-F238E27FC236}">
                <a16:creationId xmlns:a16="http://schemas.microsoft.com/office/drawing/2014/main" id="{E1517CC9-CE55-8DF3-62A8-E1B4CA3A14CF}"/>
              </a:ext>
            </a:extLst>
          </p:cNvPr>
          <p:cNvSpPr>
            <a:spLocks noGrp="1"/>
          </p:cNvSpPr>
          <p:nvPr>
            <p:ph type="title"/>
          </p:nvPr>
        </p:nvSpPr>
        <p:spPr>
          <a:xfrm>
            <a:off x="572493" y="238539"/>
            <a:ext cx="11018520" cy="1434415"/>
          </a:xfrm>
        </p:spPr>
        <p:txBody>
          <a:bodyPr anchor="b">
            <a:normAutofit/>
          </a:bodyPr>
          <a:lstStyle/>
          <a:p>
            <a:pPr>
              <a:defRPr>
                <a:latin typeface="House Movements Runway"/>
                <a:ea typeface="House Movements Runway"/>
                <a:cs typeface="House Movements Runway"/>
              </a:defRPr>
            </a:pPr>
            <a:r>
              <a:rPr lang="en-US" sz="5400" b="1" dirty="0">
                <a:latin typeface="House Movements Runway"/>
                <a:ea typeface="House Movements Runway"/>
                <a:cs typeface="House Movements Runway"/>
              </a:rPr>
              <a:t>Learning Outcomes </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3" name="Content Placeholder 2">
            <a:extLst>
              <a:ext uri="{FF2B5EF4-FFF2-40B4-BE49-F238E27FC236}">
                <a16:creationId xmlns:a16="http://schemas.microsoft.com/office/drawing/2014/main" id="{EB228A0F-37EA-BAA7-ED7E-EEC3CA5727B0}"/>
              </a:ext>
            </a:extLst>
          </p:cNvPr>
          <p:cNvSpPr>
            <a:spLocks noGrp="1"/>
          </p:cNvSpPr>
          <p:nvPr>
            <p:ph idx="1"/>
          </p:nvPr>
        </p:nvSpPr>
        <p:spPr>
          <a:xfrm>
            <a:off x="135764" y="1859775"/>
            <a:ext cx="7083902" cy="4759685"/>
          </a:xfrm>
        </p:spPr>
        <p:txBody>
          <a:bodyPr>
            <a:noAutofit/>
          </a:bodyPr>
          <a:lstStyle/>
          <a:p>
            <a:pPr>
              <a:lnSpc>
                <a:spcPct val="90000"/>
              </a:lnSpc>
              <a:defRPr>
                <a:latin typeface="Space Mono"/>
                <a:ea typeface="Space Mono"/>
                <a:cs typeface="Space Mono"/>
              </a:defRPr>
            </a:pPr>
            <a:r>
              <a:rPr lang="en-US" sz="2300" b="1" dirty="0">
                <a:latin typeface="Space Mono"/>
                <a:ea typeface="Space Mono"/>
                <a:cs typeface="Space Mono"/>
              </a:rPr>
              <a:t>By the end of this lecture, participants will be able to:</a:t>
            </a:r>
            <a:endParaRPr lang="en-US" sz="2300" dirty="0"/>
          </a:p>
          <a:p>
            <a:pPr lvl="1">
              <a:lnSpc>
                <a:spcPct val="90000"/>
              </a:lnSpc>
              <a:defRPr>
                <a:latin typeface="Space Mono"/>
                <a:ea typeface="Space Mono"/>
                <a:cs typeface="Space Mono"/>
              </a:defRPr>
            </a:pPr>
            <a:r>
              <a:rPr lang="en-US" sz="2300" dirty="0">
                <a:latin typeface="Space Mono"/>
                <a:ea typeface="Space Mono"/>
                <a:cs typeface="Space Mono"/>
              </a:rPr>
              <a:t>Explain the functions of ADCS sensors and actuators. </a:t>
            </a:r>
          </a:p>
          <a:p>
            <a:pPr lvl="1">
              <a:lnSpc>
                <a:spcPct val="90000"/>
              </a:lnSpc>
              <a:defRPr>
                <a:latin typeface="Space Mono"/>
                <a:ea typeface="Space Mono"/>
                <a:cs typeface="Space Mono"/>
              </a:defRPr>
            </a:pPr>
            <a:r>
              <a:rPr lang="en-US" sz="2300" dirty="0">
                <a:latin typeface="Space Mono"/>
                <a:ea typeface="Space Mono"/>
                <a:cs typeface="Space Mono"/>
              </a:rPr>
              <a:t>Describe and distinguish different ADCS operating modes. </a:t>
            </a:r>
          </a:p>
          <a:p>
            <a:pPr lvl="1">
              <a:lnSpc>
                <a:spcPct val="90000"/>
              </a:lnSpc>
              <a:defRPr>
                <a:latin typeface="Space Mono"/>
                <a:ea typeface="Space Mono"/>
                <a:cs typeface="Space Mono"/>
              </a:defRPr>
            </a:pPr>
            <a:r>
              <a:rPr lang="en-US" sz="2300" dirty="0">
                <a:latin typeface="Space Mono"/>
                <a:ea typeface="Space Mono"/>
                <a:cs typeface="Space Mono"/>
              </a:rPr>
              <a:t>Explain passive and active attitude control systems. </a:t>
            </a:r>
          </a:p>
          <a:p>
            <a:pPr lvl="1">
              <a:lnSpc>
                <a:spcPct val="90000"/>
              </a:lnSpc>
              <a:defRPr>
                <a:latin typeface="Space Mono"/>
                <a:ea typeface="Space Mono"/>
                <a:cs typeface="Space Mono"/>
              </a:defRPr>
            </a:pPr>
            <a:r>
              <a:rPr lang="en-US" sz="2300" dirty="0">
                <a:latin typeface="Space Mono"/>
                <a:ea typeface="Space Mono"/>
                <a:cs typeface="Space Mono"/>
              </a:rPr>
              <a:t>Compare different ADCS sensors and actuators and their applications. </a:t>
            </a:r>
          </a:p>
          <a:p>
            <a:pPr lvl="1">
              <a:lnSpc>
                <a:spcPct val="90000"/>
              </a:lnSpc>
              <a:defRPr>
                <a:latin typeface="Space Mono"/>
                <a:ea typeface="Space Mono"/>
                <a:cs typeface="Space Mono"/>
              </a:defRPr>
            </a:pPr>
            <a:r>
              <a:rPr lang="en-US" sz="2300" dirty="0">
                <a:latin typeface="Space Mono"/>
                <a:ea typeface="Space Mono"/>
                <a:cs typeface="Space Mono"/>
              </a:rPr>
              <a:t>Understand basic ADCS simulation and testing. </a:t>
            </a:r>
          </a:p>
          <a:p>
            <a:pPr lvl="1">
              <a:lnSpc>
                <a:spcPct val="90000"/>
              </a:lnSpc>
              <a:defRPr>
                <a:latin typeface="Space Mono"/>
                <a:ea typeface="Space Mono"/>
                <a:cs typeface="Space Mono"/>
              </a:defRPr>
            </a:pPr>
            <a:r>
              <a:rPr lang="en-US" sz="2300" dirty="0">
                <a:latin typeface="Space Mono"/>
                <a:ea typeface="Space Mono"/>
                <a:cs typeface="Space Mono"/>
              </a:rPr>
              <a:t>Explain the functions and applications of spacecraft propulsion. </a:t>
            </a:r>
          </a:p>
        </p:txBody>
      </p:sp>
      <p:pic>
        <p:nvPicPr>
          <p:cNvPr id="5" name="Picture 4" descr="The image shows a circuit board with various electronic components and a camera module mounted on it.&#10;&#10;AI-generated content may be incorrect.">
            <a:extLst>
              <a:ext uri="{FF2B5EF4-FFF2-40B4-BE49-F238E27FC236}">
                <a16:creationId xmlns:a16="http://schemas.microsoft.com/office/drawing/2014/main" id="{471579AA-D9D3-D516-B495-1633DDFFC66D}"/>
              </a:ext>
            </a:extLst>
          </p:cNvPr>
          <p:cNvPicPr>
            <a:picLocks noChangeAspect="1"/>
          </p:cNvPicPr>
          <p:nvPr/>
        </p:nvPicPr>
        <p:blipFill>
          <a:blip r:embed="rId2"/>
          <a:srcRect l="3699" r="7376" b="-2"/>
          <a:stretch>
            <a:fillRect/>
          </a:stretch>
        </p:blipFill>
        <p:spPr>
          <a:xfrm>
            <a:off x="7675658" y="2093976"/>
            <a:ext cx="3941064" cy="4096512"/>
          </a:xfrm>
          <a:prstGeom prst="rect">
            <a:avLst/>
          </a:prstGeom>
        </p:spPr>
      </p:pic>
      <p:sp>
        <p:nvSpPr>
          <p:cNvPr id="7" name="Slide Number Placeholder 7">
            <a:extLst>
              <a:ext uri="{FF2B5EF4-FFF2-40B4-BE49-F238E27FC236}">
                <a16:creationId xmlns:a16="http://schemas.microsoft.com/office/drawing/2014/main" id="{E658CC8F-C106-9963-BF47-35E1E70EC6A2}"/>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a:t>
            </a:fld>
            <a:endParaRPr lang="en-US" sz="4800" b="1" dirty="0">
              <a:solidFill>
                <a:srgbClr val="FF0000"/>
              </a:solidFill>
            </a:endParaRPr>
          </a:p>
        </p:txBody>
      </p:sp>
      <p:pic>
        <p:nvPicPr>
          <p:cNvPr id="13" name="Space Faculty logo" descr="sf_logo.png"/>
          <p:cNvPicPr>
            <a:picLocks noChangeAspect="1"/>
          </p:cNvPicPr>
          <p:nvPr/>
        </p:nvPicPr>
        <p:blipFill>
          <a:blip r:embed="rId3"/>
          <a:stretch>
            <a:fillRect/>
          </a:stretch>
        </p:blipFill>
        <p:spPr>
          <a:xfrm>
            <a:off x="10510224" y="54863"/>
            <a:ext cx="1569000" cy="445879"/>
          </a:xfrm>
          <a:prstGeom prst="rect">
            <a:avLst/>
          </a:prstGeom>
        </p:spPr>
      </p:pic>
    </p:spTree>
    <p:extLst>
      <p:ext uri="{BB962C8B-B14F-4D97-AF65-F5344CB8AC3E}">
        <p14:creationId xmlns:p14="http://schemas.microsoft.com/office/powerpoint/2010/main" val="39875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a:bodyPr>
          <a:lstStyle/>
          <a:p>
            <a:pPr marL="0" indent="0" algn="ctr">
              <a:buNone/>
              <a:defRPr>
                <a:latin typeface="House Movements Runway"/>
                <a:ea typeface="House Movements Runway"/>
                <a:cs typeface="House Movements Runway"/>
              </a:defRPr>
            </a:pPr>
            <a:r>
              <a:rPr lang="en-US" sz="4400" b="1" dirty="0">
                <a:solidFill>
                  <a:schemeClr val="tx2"/>
                </a:solidFill>
                <a:latin typeface="House Movements Runway"/>
                <a:ea typeface="House Movements Runway"/>
                <a:cs typeface="House Movements Runway"/>
              </a:rPr>
              <a:t>Two modes of Spacecraft </a:t>
            </a:r>
            <a:r>
              <a:rPr lang="en-US" sz="4400" dirty="0">
                <a:latin typeface="House Movements Runway"/>
                <a:ea typeface="House Movements Runway"/>
                <a:cs typeface="House Movements Runway"/>
              </a:rPr>
              <a:t>C</a:t>
            </a:r>
            <a:r>
              <a:rPr lang="en-US" sz="4400" b="1" dirty="0">
                <a:solidFill>
                  <a:schemeClr val="tx2"/>
                </a:solidFill>
                <a:latin typeface="House Movements Runway"/>
                <a:ea typeface="House Movements Runway"/>
                <a:cs typeface="House Movements Runway"/>
              </a:rPr>
              <a:t>ontrol</a:t>
            </a:r>
            <a:endParaRPr lang="en-US" sz="4400" dirty="0"/>
          </a:p>
        </p:txBody>
      </p:sp>
      <p:sp>
        <p:nvSpPr>
          <p:cNvPr id="3" name="Attitude control card"/>
          <p:cNvSpPr/>
          <p:nvPr/>
        </p:nvSpPr>
        <p:spPr>
          <a:xfrm>
            <a:off x="548640" y="1463040"/>
            <a:ext cx="5394960" cy="4754880"/>
          </a:xfrm>
          <a:prstGeom prst="roundRect">
            <a:avLst>
              <a:gd name="adj" fmla="val 2308"/>
            </a:avLst>
          </a:prstGeom>
          <a:solidFill>
            <a:schemeClr val="bg2"/>
          </a:solidFill>
          <a:ln/>
        </p:spPr>
        <p:txBody>
          <a:bodyPr/>
          <a:lstStyle/>
          <a:p>
            <a:pPr>
              <a:defRPr>
                <a:latin typeface="Ubuntu"/>
                <a:ea typeface="Ubuntu"/>
                <a:cs typeface="Ubuntu"/>
              </a:defRPr>
            </a:pPr>
            <a:endParaRPr lang="en-US"/>
          </a:p>
        </p:txBody>
      </p:sp>
      <p:sp>
        <p:nvSpPr>
          <p:cNvPr id="4" name="Icon circle Attitude control"/>
          <p:cNvSpPr/>
          <p:nvPr/>
        </p:nvSpPr>
        <p:spPr>
          <a:xfrm>
            <a:off x="868680" y="1783080"/>
            <a:ext cx="731520" cy="731520"/>
          </a:xfrm>
          <a:prstGeom prst="ellipse">
            <a:avLst/>
          </a:prstGeom>
          <a:solidFill>
            <a:schemeClr val="tx2"/>
          </a:solidFill>
          <a:ln/>
        </p:spPr>
        <p:txBody>
          <a:bodyPr/>
          <a:lstStyle/>
          <a:p>
            <a:pPr>
              <a:defRPr>
                <a:latin typeface="Ubuntu"/>
                <a:ea typeface="Ubuntu"/>
                <a:cs typeface="Ubuntu"/>
              </a:defRPr>
            </a:pPr>
            <a:endParaRPr lang="en-US"/>
          </a:p>
        </p:txBody>
      </p:sp>
      <p:pic>
        <p:nvPicPr>
          <p:cNvPr id="5" name="Image 0" descr="Attitude control"/>
          <p:cNvPicPr>
            <a:picLocks noChangeAspect="1"/>
          </p:cNvPicPr>
          <p:nvPr/>
        </p:nvPicPr>
        <p:blipFill>
          <a:blip r:embed="rId3"/>
          <a:stretch>
            <a:fillRect/>
          </a:stretch>
        </p:blipFill>
        <p:spPr>
          <a:xfrm>
            <a:off x="1051560" y="1965960"/>
            <a:ext cx="365760" cy="365760"/>
          </a:xfrm>
          <a:prstGeom prst="rect">
            <a:avLst/>
          </a:prstGeom>
        </p:spPr>
      </p:pic>
      <p:sp>
        <p:nvSpPr>
          <p:cNvPr id="6" name="Text 3"/>
          <p:cNvSpPr txBox="1"/>
          <p:nvPr/>
        </p:nvSpPr>
        <p:spPr>
          <a:xfrm>
            <a:off x="1828800" y="1783080"/>
            <a:ext cx="393192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2600" b="1" dirty="0">
                <a:solidFill>
                  <a:schemeClr val="tx2"/>
                </a:solidFill>
                <a:latin typeface="Ubuntu"/>
                <a:ea typeface="Ubuntu"/>
                <a:cs typeface="Ubuntu"/>
              </a:rPr>
              <a:t>Attitude control</a:t>
            </a:r>
            <a:endParaRPr lang="en-US" sz="2600" dirty="0"/>
          </a:p>
        </p:txBody>
      </p:sp>
      <p:sp>
        <p:nvSpPr>
          <p:cNvPr id="7" name="Text 4"/>
          <p:cNvSpPr txBox="1"/>
          <p:nvPr/>
        </p:nvSpPr>
        <p:spPr>
          <a:xfrm>
            <a:off x="868680" y="2743200"/>
            <a:ext cx="4754880" cy="731520"/>
          </a:xfrm>
          <a:prstGeom prst="rect">
            <a:avLst/>
          </a:prstGeom>
          <a:noFill/>
          <a:ln/>
        </p:spPr>
        <p:txBody>
          <a:bodyPr wrap="square" lIns="0" tIns="0" rIns="0" bIns="0" rtlCol="0" anchor="t"/>
          <a:lstStyle/>
          <a:p>
            <a:pPr marL="0" indent="0">
              <a:buNone/>
              <a:defRPr>
                <a:latin typeface="Ubuntu"/>
                <a:ea typeface="Ubuntu"/>
                <a:cs typeface="Ubuntu"/>
              </a:defRPr>
            </a:pPr>
            <a:r>
              <a:rPr lang="en-US" sz="1600" dirty="0">
                <a:solidFill>
                  <a:schemeClr val="tx1"/>
                </a:solidFill>
                <a:latin typeface="Ubuntu"/>
                <a:ea typeface="Ubuntu"/>
                <a:cs typeface="Ubuntu"/>
              </a:rPr>
              <a:t>Orientation of the vehicle in space</a:t>
            </a:r>
            <a:endParaRPr lang="en-US" sz="1600" dirty="0"/>
          </a:p>
        </p:txBody>
      </p:sp>
      <p:sp>
        <p:nvSpPr>
          <p:cNvPr id="8" name="Orientation box"/>
          <p:cNvSpPr/>
          <p:nvPr/>
        </p:nvSpPr>
        <p:spPr>
          <a:xfrm>
            <a:off x="822960" y="3611880"/>
            <a:ext cx="4846320" cy="1143000"/>
          </a:xfrm>
          <a:prstGeom prst="roundRect">
            <a:avLst>
              <a:gd name="adj" fmla="val 8000"/>
            </a:avLst>
          </a:prstGeom>
          <a:solidFill>
            <a:schemeClr val="bg1"/>
          </a:solidFill>
          <a:ln/>
        </p:spPr>
        <p:txBody>
          <a:bodyPr/>
          <a:lstStyle/>
          <a:p>
            <a:pPr>
              <a:defRPr>
                <a:latin typeface="Ubuntu"/>
                <a:ea typeface="Ubuntu"/>
                <a:cs typeface="Ubuntu"/>
              </a:defRPr>
            </a:pPr>
            <a:endParaRPr lang="en-US"/>
          </a:p>
        </p:txBody>
      </p:sp>
      <p:sp>
        <p:nvSpPr>
          <p:cNvPr id="9" name="Text 6"/>
          <p:cNvSpPr txBox="1"/>
          <p:nvPr/>
        </p:nvSpPr>
        <p:spPr>
          <a:xfrm>
            <a:off x="1051560" y="3721608"/>
            <a:ext cx="4434840" cy="960120"/>
          </a:xfrm>
          <a:prstGeom prst="rect">
            <a:avLst/>
          </a:prstGeom>
          <a:noFill/>
          <a:ln/>
        </p:spPr>
        <p:txBody>
          <a:bodyPr wrap="square" lIns="0" tIns="0" rIns="0" bIns="0" rtlCol="0" anchor="t"/>
          <a:lstStyle/>
          <a:p>
            <a:pPr marL="0" indent="0">
              <a:buNone/>
              <a:defRPr>
                <a:latin typeface="Ubuntu"/>
                <a:ea typeface="Ubuntu"/>
                <a:cs typeface="Ubuntu"/>
              </a:defRPr>
            </a:pPr>
            <a:r>
              <a:rPr lang="en-US" sz="1800" b="1" dirty="0">
                <a:solidFill>
                  <a:schemeClr val="tx2"/>
                </a:solidFill>
                <a:latin typeface="Ubuntu"/>
                <a:ea typeface="Ubuntu"/>
                <a:cs typeface="Ubuntu"/>
              </a:rPr>
              <a:t>Orientation</a:t>
            </a:r>
            <a:endParaRPr lang="en-US" sz="1600" dirty="0"/>
          </a:p>
          <a:p>
            <a:pPr marL="0" indent="0">
              <a:buNone/>
              <a:defRPr>
                <a:latin typeface="Ubuntu"/>
                <a:ea typeface="Ubuntu"/>
                <a:cs typeface="Ubuntu"/>
              </a:defRPr>
            </a:pPr>
            <a:r>
              <a:rPr lang="en-US" sz="1500" dirty="0">
                <a:solidFill>
                  <a:schemeClr val="tx1"/>
                </a:solidFill>
                <a:latin typeface="Ubuntu"/>
                <a:ea typeface="Ubuntu"/>
                <a:cs typeface="Ubuntu"/>
              </a:rPr>
              <a:t>Maneuvers the attitude to the desired direction</a:t>
            </a:r>
            <a:endParaRPr lang="en-US" sz="1600" dirty="0"/>
          </a:p>
        </p:txBody>
      </p:sp>
      <p:sp>
        <p:nvSpPr>
          <p:cNvPr id="10" name="Stabilization box"/>
          <p:cNvSpPr/>
          <p:nvPr/>
        </p:nvSpPr>
        <p:spPr>
          <a:xfrm>
            <a:off x="822960" y="4892040"/>
            <a:ext cx="4846320" cy="1143000"/>
          </a:xfrm>
          <a:prstGeom prst="roundRect">
            <a:avLst>
              <a:gd name="adj" fmla="val 8000"/>
            </a:avLst>
          </a:prstGeom>
          <a:solidFill>
            <a:schemeClr val="bg1"/>
          </a:solidFill>
          <a:ln/>
        </p:spPr>
        <p:txBody>
          <a:bodyPr/>
          <a:lstStyle/>
          <a:p>
            <a:pPr>
              <a:defRPr>
                <a:latin typeface="Ubuntu"/>
                <a:ea typeface="Ubuntu"/>
                <a:cs typeface="Ubuntu"/>
              </a:defRPr>
            </a:pPr>
            <a:endParaRPr lang="en-US"/>
          </a:p>
        </p:txBody>
      </p:sp>
      <p:sp>
        <p:nvSpPr>
          <p:cNvPr id="11" name="Text 8"/>
          <p:cNvSpPr txBox="1"/>
          <p:nvPr/>
        </p:nvSpPr>
        <p:spPr>
          <a:xfrm>
            <a:off x="1051560" y="5001768"/>
            <a:ext cx="4434840" cy="960120"/>
          </a:xfrm>
          <a:prstGeom prst="rect">
            <a:avLst/>
          </a:prstGeom>
          <a:noFill/>
          <a:ln/>
        </p:spPr>
        <p:txBody>
          <a:bodyPr wrap="square" lIns="0" tIns="0" rIns="0" bIns="0" rtlCol="0" anchor="t"/>
          <a:lstStyle/>
          <a:p>
            <a:pPr marL="0" indent="0">
              <a:buNone/>
              <a:defRPr>
                <a:latin typeface="Ubuntu"/>
                <a:ea typeface="Ubuntu"/>
                <a:cs typeface="Ubuntu"/>
              </a:defRPr>
            </a:pPr>
            <a:r>
              <a:rPr lang="en-US" sz="1800" b="1" dirty="0">
                <a:solidFill>
                  <a:schemeClr val="tx2"/>
                </a:solidFill>
                <a:latin typeface="Ubuntu"/>
                <a:ea typeface="Ubuntu"/>
                <a:cs typeface="Ubuntu"/>
              </a:rPr>
              <a:t>Stabilization</a:t>
            </a:r>
            <a:endParaRPr lang="en-US" sz="1600" dirty="0"/>
          </a:p>
          <a:p>
            <a:pPr marL="0" indent="0">
              <a:buNone/>
              <a:defRPr>
                <a:latin typeface="Ubuntu"/>
                <a:ea typeface="Ubuntu"/>
                <a:cs typeface="Ubuntu"/>
              </a:defRPr>
            </a:pPr>
            <a:r>
              <a:rPr lang="en-US" sz="1500" dirty="0">
                <a:solidFill>
                  <a:schemeClr val="tx1"/>
                </a:solidFill>
                <a:latin typeface="Ubuntu"/>
                <a:ea typeface="Ubuntu"/>
                <a:cs typeface="Ubuntu"/>
              </a:rPr>
              <a:t>Maintains the attitude to a desired accuracy</a:t>
            </a:r>
            <a:endParaRPr lang="en-US" sz="1600" dirty="0"/>
          </a:p>
        </p:txBody>
      </p:sp>
      <p:sp>
        <p:nvSpPr>
          <p:cNvPr id="12" name="Orbital control card"/>
          <p:cNvSpPr/>
          <p:nvPr/>
        </p:nvSpPr>
        <p:spPr>
          <a:xfrm>
            <a:off x="6217920" y="1463040"/>
            <a:ext cx="5394960" cy="4754880"/>
          </a:xfrm>
          <a:prstGeom prst="roundRect">
            <a:avLst>
              <a:gd name="adj" fmla="val 2308"/>
            </a:avLst>
          </a:prstGeom>
          <a:solidFill>
            <a:schemeClr val="bg2"/>
          </a:solidFill>
          <a:ln/>
        </p:spPr>
        <p:txBody>
          <a:bodyPr/>
          <a:lstStyle/>
          <a:p>
            <a:pPr>
              <a:defRPr>
                <a:latin typeface="Ubuntu"/>
                <a:ea typeface="Ubuntu"/>
                <a:cs typeface="Ubuntu"/>
              </a:defRPr>
            </a:pPr>
            <a:endParaRPr lang="en-US"/>
          </a:p>
        </p:txBody>
      </p:sp>
      <p:sp>
        <p:nvSpPr>
          <p:cNvPr id="13" name="Icon circle Orbital control"/>
          <p:cNvSpPr/>
          <p:nvPr/>
        </p:nvSpPr>
        <p:spPr>
          <a:xfrm>
            <a:off x="6537960" y="1783080"/>
            <a:ext cx="731520" cy="731520"/>
          </a:xfrm>
          <a:prstGeom prst="ellipse">
            <a:avLst/>
          </a:prstGeom>
          <a:solidFill>
            <a:schemeClr val="tx2"/>
          </a:solidFill>
          <a:ln/>
        </p:spPr>
        <p:txBody>
          <a:bodyPr/>
          <a:lstStyle/>
          <a:p>
            <a:pPr>
              <a:defRPr>
                <a:latin typeface="Ubuntu"/>
                <a:ea typeface="Ubuntu"/>
                <a:cs typeface="Ubuntu"/>
              </a:defRPr>
            </a:pPr>
            <a:endParaRPr lang="en-US"/>
          </a:p>
        </p:txBody>
      </p:sp>
      <p:pic>
        <p:nvPicPr>
          <p:cNvPr id="14" name="Image 1" descr="Orbital control"/>
          <p:cNvPicPr>
            <a:picLocks noChangeAspect="1"/>
          </p:cNvPicPr>
          <p:nvPr/>
        </p:nvPicPr>
        <p:blipFill>
          <a:blip r:embed="rId4"/>
          <a:stretch>
            <a:fillRect/>
          </a:stretch>
        </p:blipFill>
        <p:spPr>
          <a:xfrm>
            <a:off x="6720840" y="1965960"/>
            <a:ext cx="365760" cy="365760"/>
          </a:xfrm>
          <a:prstGeom prst="rect">
            <a:avLst/>
          </a:prstGeom>
        </p:spPr>
      </p:pic>
      <p:sp>
        <p:nvSpPr>
          <p:cNvPr id="15" name="Text 11"/>
          <p:cNvSpPr txBox="1"/>
          <p:nvPr/>
        </p:nvSpPr>
        <p:spPr>
          <a:xfrm>
            <a:off x="7498080" y="1783080"/>
            <a:ext cx="393192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2600" b="1" dirty="0">
                <a:solidFill>
                  <a:schemeClr val="tx2"/>
                </a:solidFill>
                <a:latin typeface="Ubuntu"/>
                <a:ea typeface="Ubuntu"/>
                <a:cs typeface="Ubuntu"/>
              </a:rPr>
              <a:t>Orbital control</a:t>
            </a:r>
            <a:endParaRPr lang="en-US" sz="2600" dirty="0"/>
          </a:p>
        </p:txBody>
      </p:sp>
      <p:sp>
        <p:nvSpPr>
          <p:cNvPr id="16" name="Text 12"/>
          <p:cNvSpPr txBox="1"/>
          <p:nvPr/>
        </p:nvSpPr>
        <p:spPr>
          <a:xfrm>
            <a:off x="6537960" y="2743200"/>
            <a:ext cx="4754880" cy="731520"/>
          </a:xfrm>
          <a:prstGeom prst="rect">
            <a:avLst/>
          </a:prstGeom>
          <a:noFill/>
          <a:ln/>
        </p:spPr>
        <p:txBody>
          <a:bodyPr wrap="square" lIns="0" tIns="0" rIns="0" bIns="0" rtlCol="0" anchor="t"/>
          <a:lstStyle/>
          <a:p>
            <a:pPr marL="0" indent="0">
              <a:buNone/>
              <a:defRPr>
                <a:latin typeface="Ubuntu"/>
                <a:ea typeface="Ubuntu"/>
                <a:cs typeface="Ubuntu"/>
              </a:defRPr>
            </a:pPr>
            <a:r>
              <a:rPr lang="en-US" sz="1600" dirty="0">
                <a:solidFill>
                  <a:schemeClr val="tx1"/>
                </a:solidFill>
                <a:latin typeface="Ubuntu"/>
                <a:ea typeface="Ubuntu"/>
                <a:cs typeface="Ubuntu"/>
              </a:rPr>
              <a:t>Control of the spacecraft inertial position and velocity, or orbital elements</a:t>
            </a:r>
            <a:endParaRPr lang="en-US" sz="1600" dirty="0"/>
          </a:p>
        </p:txBody>
      </p:sp>
      <p:sp>
        <p:nvSpPr>
          <p:cNvPr id="17" name="Navigation box"/>
          <p:cNvSpPr/>
          <p:nvPr/>
        </p:nvSpPr>
        <p:spPr>
          <a:xfrm>
            <a:off x="6492240" y="3611880"/>
            <a:ext cx="4846320" cy="1143000"/>
          </a:xfrm>
          <a:prstGeom prst="roundRect">
            <a:avLst>
              <a:gd name="adj" fmla="val 8000"/>
            </a:avLst>
          </a:prstGeom>
          <a:solidFill>
            <a:schemeClr val="bg1"/>
          </a:solidFill>
          <a:ln/>
        </p:spPr>
        <p:txBody>
          <a:bodyPr/>
          <a:lstStyle/>
          <a:p>
            <a:pPr>
              <a:defRPr>
                <a:latin typeface="Ubuntu"/>
                <a:ea typeface="Ubuntu"/>
                <a:cs typeface="Ubuntu"/>
              </a:defRPr>
            </a:pPr>
            <a:endParaRPr lang="en-US"/>
          </a:p>
        </p:txBody>
      </p:sp>
      <p:sp>
        <p:nvSpPr>
          <p:cNvPr id="18" name="Text 14"/>
          <p:cNvSpPr txBox="1"/>
          <p:nvPr/>
        </p:nvSpPr>
        <p:spPr>
          <a:xfrm>
            <a:off x="6720840" y="3721608"/>
            <a:ext cx="4434840" cy="960120"/>
          </a:xfrm>
          <a:prstGeom prst="rect">
            <a:avLst/>
          </a:prstGeom>
          <a:noFill/>
          <a:ln/>
        </p:spPr>
        <p:txBody>
          <a:bodyPr wrap="square" lIns="0" tIns="0" rIns="0" bIns="0" rtlCol="0" anchor="t"/>
          <a:lstStyle/>
          <a:p>
            <a:pPr marL="0" indent="0">
              <a:buNone/>
              <a:defRPr>
                <a:latin typeface="Ubuntu"/>
                <a:ea typeface="Ubuntu"/>
                <a:cs typeface="Ubuntu"/>
              </a:defRPr>
            </a:pPr>
            <a:r>
              <a:rPr lang="en-US" sz="1800" b="1" dirty="0">
                <a:solidFill>
                  <a:schemeClr val="tx2"/>
                </a:solidFill>
                <a:latin typeface="Ubuntu"/>
                <a:ea typeface="Ubuntu"/>
                <a:cs typeface="Ubuntu"/>
              </a:rPr>
              <a:t>Navigation</a:t>
            </a:r>
            <a:endParaRPr lang="en-US" sz="1600" dirty="0"/>
          </a:p>
          <a:p>
            <a:pPr marL="0" indent="0">
              <a:buNone/>
              <a:defRPr>
                <a:latin typeface="Ubuntu"/>
                <a:ea typeface="Ubuntu"/>
                <a:cs typeface="Ubuntu"/>
              </a:defRPr>
            </a:pPr>
            <a:r>
              <a:rPr lang="en-US" sz="1500" dirty="0">
                <a:solidFill>
                  <a:schemeClr val="tx1"/>
                </a:solidFill>
                <a:latin typeface="Ubuntu"/>
                <a:ea typeface="Ubuntu"/>
                <a:cs typeface="Ubuntu"/>
              </a:rPr>
              <a:t>Determines inertial position and velocity (or orbital elements) and predicts these states</a:t>
            </a:r>
            <a:endParaRPr lang="en-US" sz="1600" dirty="0"/>
          </a:p>
        </p:txBody>
      </p:sp>
      <p:sp>
        <p:nvSpPr>
          <p:cNvPr id="19" name="Guidance box"/>
          <p:cNvSpPr/>
          <p:nvPr/>
        </p:nvSpPr>
        <p:spPr>
          <a:xfrm>
            <a:off x="6492240" y="4892040"/>
            <a:ext cx="4846320" cy="1143000"/>
          </a:xfrm>
          <a:prstGeom prst="roundRect">
            <a:avLst>
              <a:gd name="adj" fmla="val 8000"/>
            </a:avLst>
          </a:prstGeom>
          <a:solidFill>
            <a:schemeClr val="bg1"/>
          </a:solidFill>
          <a:ln/>
        </p:spPr>
        <p:txBody>
          <a:bodyPr/>
          <a:lstStyle/>
          <a:p>
            <a:pPr>
              <a:defRPr>
                <a:latin typeface="Ubuntu"/>
                <a:ea typeface="Ubuntu"/>
                <a:cs typeface="Ubuntu"/>
              </a:defRPr>
            </a:pPr>
            <a:endParaRPr lang="en-US"/>
          </a:p>
        </p:txBody>
      </p:sp>
      <p:sp>
        <p:nvSpPr>
          <p:cNvPr id="20" name="Text 16"/>
          <p:cNvSpPr txBox="1"/>
          <p:nvPr/>
        </p:nvSpPr>
        <p:spPr>
          <a:xfrm>
            <a:off x="6720840" y="5001768"/>
            <a:ext cx="4434840" cy="960120"/>
          </a:xfrm>
          <a:prstGeom prst="rect">
            <a:avLst/>
          </a:prstGeom>
          <a:noFill/>
          <a:ln/>
        </p:spPr>
        <p:txBody>
          <a:bodyPr wrap="square" lIns="0" tIns="0" rIns="0" bIns="0" rtlCol="0" anchor="t"/>
          <a:lstStyle/>
          <a:p>
            <a:pPr marL="0" indent="0">
              <a:buNone/>
              <a:defRPr>
                <a:latin typeface="Ubuntu"/>
                <a:ea typeface="Ubuntu"/>
                <a:cs typeface="Ubuntu"/>
              </a:defRPr>
            </a:pPr>
            <a:r>
              <a:rPr lang="en-US" sz="1800" b="1" dirty="0">
                <a:solidFill>
                  <a:schemeClr val="tx2"/>
                </a:solidFill>
                <a:latin typeface="Ubuntu"/>
                <a:ea typeface="Ubuntu"/>
                <a:cs typeface="Ubuntu"/>
              </a:rPr>
              <a:t>Guidance</a:t>
            </a:r>
            <a:endParaRPr lang="en-US" sz="1600" dirty="0"/>
          </a:p>
          <a:p>
            <a:pPr marL="0" indent="0">
              <a:buNone/>
              <a:defRPr>
                <a:latin typeface="Ubuntu"/>
                <a:ea typeface="Ubuntu"/>
                <a:cs typeface="Ubuntu"/>
              </a:defRPr>
            </a:pPr>
            <a:r>
              <a:rPr lang="en-US" sz="1500" dirty="0">
                <a:solidFill>
                  <a:schemeClr val="tx1"/>
                </a:solidFill>
                <a:latin typeface="Ubuntu"/>
                <a:ea typeface="Ubuntu"/>
                <a:cs typeface="Ubuntu"/>
              </a:rPr>
              <a:t>Controls the trajectory or orbit to meet the desired conditions, based on navigation data</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defRPr>
                <a:latin typeface="Ubuntu"/>
                <a:ea typeface="Ubuntu"/>
                <a:cs typeface="Ubuntu"/>
              </a:defRPr>
            </a:pPr>
            <a:fld id="{F7021451-1387-4CA6-816F-3879F97B5CBC}" type="slidenum">
              <a:rPr lang="en-US" b="0"/>
              <a:t>4</a:t>
            </a:fld>
            <a:endParaRPr lang="en-US"/>
          </a:p>
        </p:txBody>
      </p:sp>
      <p:sp>
        <p:nvSpPr>
          <p:cNvPr id="24" name="Slide Number Placeholder 7">
            <a:extLst>
              <a:ext uri="{FF2B5EF4-FFF2-40B4-BE49-F238E27FC236}">
                <a16:creationId xmlns:a16="http://schemas.microsoft.com/office/drawing/2014/main" id="{7AF67C2C-92D3-E9EC-298C-F84400E7DE94}"/>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a:t>
            </a:fld>
            <a:endParaRPr lang="en-US" sz="4800" b="1" dirty="0">
              <a:solidFill>
                <a:srgbClr val="FF0000"/>
              </a:solidFill>
            </a:endParaRPr>
          </a:p>
        </p:txBody>
      </p:sp>
      <p:pic>
        <p:nvPicPr>
          <p:cNvPr id="26" name="Space Faculty logo" descr="sf_logo.png"/>
          <p:cNvPicPr>
            <a:picLocks noChangeAspect="1"/>
          </p:cNvPicPr>
          <p:nvPr/>
        </p:nvPicPr>
        <p:blipFill>
          <a:blip r:embed="rId5"/>
          <a:stretch>
            <a:fillRect/>
          </a:stretch>
        </p:blipFill>
        <p:spPr>
          <a:xfrm>
            <a:off x="10548530" y="54863"/>
            <a:ext cx="1530693" cy="4349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1847492" y="286962"/>
            <a:ext cx="8065813" cy="566928"/>
          </a:xfrm>
          <a:prstGeom prst="rect">
            <a:avLst/>
          </a:prstGeom>
          <a:noFill/>
          <a:ln/>
        </p:spPr>
        <p:txBody>
          <a:bodyPr wrap="square" lIns="0" tIns="0" rIns="0" bIns="0" rtlCol="0" anchor="ctr"/>
          <a:lstStyle/>
          <a:p>
            <a:pPr marL="0" indent="0" algn="ctr">
              <a:buNone/>
              <a:defRPr>
                <a:latin typeface="Ubuntu"/>
                <a:ea typeface="Ubuntu"/>
                <a:cs typeface="Ubuntu"/>
              </a:defRPr>
            </a:pPr>
            <a:r>
              <a:rPr lang="en-US" sz="4800" b="1" dirty="0">
                <a:solidFill>
                  <a:srgbClr val="1E2761"/>
                </a:solidFill>
                <a:latin typeface="Ubuntu" pitchFamily="34" charset="0"/>
                <a:ea typeface="Ubuntu" pitchFamily="34" charset="-122"/>
                <a:cs typeface="Ubuntu" pitchFamily="34" charset="-120"/>
              </a:rPr>
              <a:t>Why Attitude Control?</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566928"/>
          </a:xfrm>
          <a:prstGeom prst="rect">
            <a:avLst/>
          </a:prstGeom>
          <a:noFill/>
          <a:ln/>
        </p:spPr>
        <p:txBody>
          <a:bodyPr wrap="square" lIns="0" tIns="0" rIns="0" bIns="0" rtlCol="0" anchor="t"/>
          <a:lstStyle/>
          <a:p>
            <a:pPr marL="0" indent="0">
              <a:buNone/>
              <a:defRPr>
                <a:latin typeface="Ubuntu"/>
                <a:ea typeface="Ubuntu"/>
                <a:cs typeface="Ubuntu"/>
              </a:defRPr>
            </a:pPr>
            <a:r>
              <a:rPr lang="en-US" sz="2000" dirty="0">
                <a:solidFill>
                  <a:srgbClr val="5F6B8C"/>
                </a:solidFill>
                <a:latin typeface="Ubuntu" pitchFamily="34" charset="0"/>
                <a:ea typeface="Ubuntu" pitchFamily="34" charset="-122"/>
                <a:cs typeface="Ubuntu" pitchFamily="34" charset="-120"/>
              </a:rPr>
              <a:t>Attitude refers to the orientation of the spacecraft in space. It is not sufficient for a satellite to be in the right orbit: it also needs to be in the right orientation.</a:t>
            </a:r>
            <a:endParaRPr lang="en-US" sz="2000" dirty="0"/>
          </a:p>
        </p:txBody>
      </p:sp>
      <p:sp>
        <p:nvSpPr>
          <p:cNvPr id="6" name="Shape 4"/>
          <p:cNvSpPr/>
          <p:nvPr/>
        </p:nvSpPr>
        <p:spPr>
          <a:xfrm>
            <a:off x="667001" y="2151623"/>
            <a:ext cx="3419856" cy="2148840"/>
          </a:xfrm>
          <a:prstGeom prst="roundRect">
            <a:avLst>
              <a:gd name="adj" fmla="val 2128"/>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7" name="Shape 5"/>
          <p:cNvSpPr/>
          <p:nvPr/>
        </p:nvSpPr>
        <p:spPr>
          <a:xfrm>
            <a:off x="667001" y="2151623"/>
            <a:ext cx="3419856" cy="54864"/>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8" name="Text 6"/>
          <p:cNvSpPr txBox="1"/>
          <p:nvPr/>
        </p:nvSpPr>
        <p:spPr>
          <a:xfrm>
            <a:off x="923033" y="2371079"/>
            <a:ext cx="2962656" cy="384048"/>
          </a:xfrm>
          <a:prstGeom prst="rect">
            <a:avLst/>
          </a:prstGeom>
          <a:noFill/>
          <a:ln/>
        </p:spPr>
        <p:txBody>
          <a:bodyPr wrap="square" lIns="0" tIns="0" rIns="0" bIns="0" rtlCol="0" anchor="ctr"/>
          <a:lstStyle/>
          <a:p>
            <a:pPr marL="0" indent="0">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The camera</a:t>
            </a:r>
            <a:endParaRPr lang="en-US" sz="2000" dirty="0"/>
          </a:p>
        </p:txBody>
      </p:sp>
      <p:sp>
        <p:nvSpPr>
          <p:cNvPr id="9" name="Text 7"/>
          <p:cNvSpPr txBox="1"/>
          <p:nvPr/>
        </p:nvSpPr>
        <p:spPr>
          <a:xfrm>
            <a:off x="923033" y="2828279"/>
            <a:ext cx="2916936" cy="1280160"/>
          </a:xfrm>
          <a:prstGeom prst="rect">
            <a:avLst/>
          </a:prstGeom>
          <a:noFill/>
          <a:ln/>
        </p:spPr>
        <p:txBody>
          <a:bodyPr wrap="square" lIns="0" tIns="0" rIns="0" bIns="0" rtlCol="0" anchor="ctr"/>
          <a:lstStyle/>
          <a:p>
            <a:pPr marL="0" indent="0">
              <a:lnSpc>
                <a:spcPct val="125000"/>
              </a:lnSpc>
              <a:buNone/>
              <a:defRPr>
                <a:latin typeface="Ubuntu"/>
                <a:ea typeface="Ubuntu"/>
                <a:cs typeface="Ubuntu"/>
              </a:defRPr>
            </a:pPr>
            <a:r>
              <a:rPr lang="en-US" dirty="0">
                <a:solidFill>
                  <a:srgbClr val="3C4657"/>
                </a:solidFill>
                <a:latin typeface="Ubuntu" pitchFamily="34" charset="0"/>
                <a:ea typeface="Ubuntu" pitchFamily="34" charset="-122"/>
                <a:cs typeface="Ubuntu" pitchFamily="34" charset="-120"/>
              </a:rPr>
              <a:t>What happens if we need to take pictures of the Earth but the camera is pointing toward the Moon?</a:t>
            </a:r>
            <a:endParaRPr lang="en-US" dirty="0"/>
          </a:p>
        </p:txBody>
      </p:sp>
      <p:sp>
        <p:nvSpPr>
          <p:cNvPr id="10" name="Shape 8"/>
          <p:cNvSpPr/>
          <p:nvPr/>
        </p:nvSpPr>
        <p:spPr>
          <a:xfrm>
            <a:off x="4397753" y="2151623"/>
            <a:ext cx="3419856" cy="2148840"/>
          </a:xfrm>
          <a:prstGeom prst="roundRect">
            <a:avLst>
              <a:gd name="adj" fmla="val 2128"/>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1" name="Shape 9"/>
          <p:cNvSpPr/>
          <p:nvPr/>
        </p:nvSpPr>
        <p:spPr>
          <a:xfrm>
            <a:off x="4397753" y="2151623"/>
            <a:ext cx="3419856" cy="54864"/>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2" name="Text 10"/>
          <p:cNvSpPr txBox="1"/>
          <p:nvPr/>
        </p:nvSpPr>
        <p:spPr>
          <a:xfrm>
            <a:off x="4653785" y="2371079"/>
            <a:ext cx="2962656" cy="384048"/>
          </a:xfrm>
          <a:prstGeom prst="rect">
            <a:avLst/>
          </a:prstGeom>
          <a:noFill/>
          <a:ln/>
        </p:spPr>
        <p:txBody>
          <a:bodyPr wrap="square" lIns="0" tIns="0" rIns="0" bIns="0" rtlCol="0" anchor="ctr"/>
          <a:lstStyle/>
          <a:p>
            <a:pPr marL="0" indent="0">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The antenna</a:t>
            </a:r>
            <a:endParaRPr lang="en-US" sz="2000" dirty="0"/>
          </a:p>
        </p:txBody>
      </p:sp>
      <p:sp>
        <p:nvSpPr>
          <p:cNvPr id="13" name="Text 11"/>
          <p:cNvSpPr txBox="1"/>
          <p:nvPr/>
        </p:nvSpPr>
        <p:spPr>
          <a:xfrm>
            <a:off x="4653785" y="2828279"/>
            <a:ext cx="2916936" cy="1280160"/>
          </a:xfrm>
          <a:prstGeom prst="rect">
            <a:avLst/>
          </a:prstGeom>
          <a:noFill/>
          <a:ln/>
        </p:spPr>
        <p:txBody>
          <a:bodyPr wrap="square" lIns="0" tIns="0" rIns="0" bIns="0" rtlCol="0" anchor="ctr"/>
          <a:lstStyle/>
          <a:p>
            <a:pPr marL="0" indent="0">
              <a:lnSpc>
                <a:spcPct val="125000"/>
              </a:lnSpc>
              <a:buNone/>
              <a:defRPr>
                <a:latin typeface="Ubuntu"/>
                <a:ea typeface="Ubuntu"/>
                <a:cs typeface="Ubuntu"/>
              </a:defRPr>
            </a:pPr>
            <a:r>
              <a:rPr lang="en-US" dirty="0">
                <a:solidFill>
                  <a:srgbClr val="3C4657"/>
                </a:solidFill>
                <a:latin typeface="Ubuntu" pitchFamily="34" charset="0"/>
                <a:ea typeface="Ubuntu" pitchFamily="34" charset="-122"/>
                <a:cs typeface="Ubuntu" pitchFamily="34" charset="-120"/>
              </a:rPr>
              <a:t>What happens if we need to send payload data to the ground station but the antenna is pointing toward deep space?</a:t>
            </a:r>
            <a:endParaRPr lang="en-US" dirty="0"/>
          </a:p>
        </p:txBody>
      </p:sp>
      <p:sp>
        <p:nvSpPr>
          <p:cNvPr id="14" name="Shape 12"/>
          <p:cNvSpPr/>
          <p:nvPr/>
        </p:nvSpPr>
        <p:spPr>
          <a:xfrm>
            <a:off x="8128505" y="2151623"/>
            <a:ext cx="3419856" cy="2148840"/>
          </a:xfrm>
          <a:prstGeom prst="roundRect">
            <a:avLst>
              <a:gd name="adj" fmla="val 2128"/>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5" name="Shape 13"/>
          <p:cNvSpPr/>
          <p:nvPr/>
        </p:nvSpPr>
        <p:spPr>
          <a:xfrm>
            <a:off x="8128505" y="2151623"/>
            <a:ext cx="3419856" cy="54864"/>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6" name="Text 14"/>
          <p:cNvSpPr txBox="1"/>
          <p:nvPr/>
        </p:nvSpPr>
        <p:spPr>
          <a:xfrm>
            <a:off x="8384537" y="2371079"/>
            <a:ext cx="2962656" cy="384048"/>
          </a:xfrm>
          <a:prstGeom prst="rect">
            <a:avLst/>
          </a:prstGeom>
          <a:noFill/>
          <a:ln/>
        </p:spPr>
        <p:txBody>
          <a:bodyPr wrap="square" lIns="0" tIns="0" rIns="0" bIns="0" rtlCol="0" anchor="ctr"/>
          <a:lstStyle/>
          <a:p>
            <a:pPr marL="0" indent="0">
              <a:buNone/>
              <a:defRPr>
                <a:latin typeface="Ubuntu"/>
                <a:ea typeface="Ubuntu"/>
                <a:cs typeface="Ubuntu"/>
              </a:defRPr>
            </a:pPr>
            <a:r>
              <a:rPr lang="en-US" sz="2000" b="1" dirty="0">
                <a:solidFill>
                  <a:srgbClr val="1E2761"/>
                </a:solidFill>
                <a:latin typeface="Ubuntu" pitchFamily="34" charset="0"/>
                <a:ea typeface="Ubuntu" pitchFamily="34" charset="-122"/>
                <a:cs typeface="Ubuntu" pitchFamily="34" charset="-120"/>
              </a:rPr>
              <a:t>The solar panels</a:t>
            </a:r>
            <a:endParaRPr lang="en-US" sz="2000" dirty="0"/>
          </a:p>
        </p:txBody>
      </p:sp>
      <p:sp>
        <p:nvSpPr>
          <p:cNvPr id="17" name="Text 15"/>
          <p:cNvSpPr txBox="1"/>
          <p:nvPr/>
        </p:nvSpPr>
        <p:spPr>
          <a:xfrm>
            <a:off x="8384537" y="2828279"/>
            <a:ext cx="2916936" cy="1280160"/>
          </a:xfrm>
          <a:prstGeom prst="rect">
            <a:avLst/>
          </a:prstGeom>
          <a:noFill/>
          <a:ln/>
        </p:spPr>
        <p:txBody>
          <a:bodyPr wrap="square" lIns="0" tIns="0" rIns="0" bIns="0" rtlCol="0" anchor="ctr"/>
          <a:lstStyle/>
          <a:p>
            <a:pPr marL="0" indent="0">
              <a:lnSpc>
                <a:spcPct val="125000"/>
              </a:lnSpc>
              <a:buNone/>
              <a:defRPr>
                <a:latin typeface="Ubuntu"/>
                <a:ea typeface="Ubuntu"/>
                <a:cs typeface="Ubuntu"/>
              </a:defRPr>
            </a:pPr>
            <a:r>
              <a:rPr lang="en-US" dirty="0">
                <a:solidFill>
                  <a:srgbClr val="3C4657"/>
                </a:solidFill>
                <a:latin typeface="Ubuntu" pitchFamily="34" charset="0"/>
                <a:ea typeface="Ubuntu" pitchFamily="34" charset="-122"/>
                <a:cs typeface="Ubuntu" pitchFamily="34" charset="-120"/>
              </a:rPr>
              <a:t>And what if the solar panels are never facing the Sun?</a:t>
            </a:r>
            <a:endParaRPr lang="en-US" dirty="0"/>
          </a:p>
        </p:txBody>
      </p:sp>
      <p:sp>
        <p:nvSpPr>
          <p:cNvPr id="18" name="Shape 16"/>
          <p:cNvSpPr/>
          <p:nvPr/>
        </p:nvSpPr>
        <p:spPr>
          <a:xfrm>
            <a:off x="667001" y="4638791"/>
            <a:ext cx="10881360" cy="1005840"/>
          </a:xfrm>
          <a:prstGeom prst="roundRect">
            <a:avLst>
              <a:gd name="adj" fmla="val 4545"/>
            </a:avLst>
          </a:prstGeom>
          <a:solidFill>
            <a:srgbClr val="E3EBFB"/>
          </a:solidFill>
          <a:ln w="12700">
            <a:solidFill>
              <a:srgbClr val="E3EBFB"/>
            </a:solidFill>
            <a:prstDash val="solid"/>
          </a:ln>
        </p:spPr>
        <p:txBody>
          <a:bodyPr/>
          <a:lstStyle/>
          <a:p>
            <a:pPr>
              <a:defRPr>
                <a:latin typeface="Ubuntu"/>
                <a:ea typeface="Ubuntu"/>
                <a:cs typeface="Ubuntu"/>
              </a:defRPr>
            </a:pPr>
            <a:endParaRPr lang="en-US"/>
          </a:p>
        </p:txBody>
      </p:sp>
      <p:sp>
        <p:nvSpPr>
          <p:cNvPr id="19" name="Text 17"/>
          <p:cNvSpPr txBox="1"/>
          <p:nvPr/>
        </p:nvSpPr>
        <p:spPr>
          <a:xfrm>
            <a:off x="987041" y="4785095"/>
            <a:ext cx="1024128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2000" dirty="0">
                <a:solidFill>
                  <a:srgbClr val="1E2761"/>
                </a:solidFill>
                <a:latin typeface="Ubuntu" pitchFamily="34" charset="0"/>
                <a:ea typeface="Ubuntu" pitchFamily="34" charset="-122"/>
                <a:cs typeface="Ubuntu" pitchFamily="34" charset="-120"/>
              </a:rPr>
              <a:t>The ADCS has two functions: to determine the satellite attitude using its sensors, and to control the attitude — counteracting disturbance torques, and </a:t>
            </a:r>
            <a:r>
              <a:rPr lang="en-US" sz="2000" dirty="0" err="1">
                <a:solidFill>
                  <a:srgbClr val="1E2761"/>
                </a:solidFill>
                <a:latin typeface="Ubuntu" pitchFamily="34" charset="0"/>
                <a:ea typeface="Ubuntu" pitchFamily="34" charset="-122"/>
                <a:cs typeface="Ubuntu" pitchFamily="34" charset="-120"/>
              </a:rPr>
              <a:t>manoeuvering</a:t>
            </a:r>
            <a:r>
              <a:rPr lang="en-US" sz="2000" dirty="0">
                <a:solidFill>
                  <a:srgbClr val="1E2761"/>
                </a:solidFill>
                <a:latin typeface="Ubuntu" pitchFamily="34" charset="0"/>
                <a:ea typeface="Ubuntu" pitchFamily="34" charset="-122"/>
                <a:cs typeface="Ubuntu" pitchFamily="34" charset="-120"/>
              </a:rPr>
              <a:t> to meet the mission requirements — using its actuators.</a:t>
            </a:r>
            <a:endParaRPr lang="en-US" sz="2000" dirty="0"/>
          </a:p>
        </p:txBody>
      </p:sp>
      <p:sp>
        <p:nvSpPr>
          <p:cNvPr id="20" name="Text 18"/>
          <p:cNvSpPr txBox="1"/>
          <p:nvPr/>
        </p:nvSpPr>
        <p:spPr>
          <a:xfrm>
            <a:off x="552091" y="6316267"/>
            <a:ext cx="10881360" cy="219456"/>
          </a:xfrm>
          <a:prstGeom prst="rect">
            <a:avLst/>
          </a:prstGeom>
          <a:noFill/>
          <a:ln/>
        </p:spPr>
        <p:txBody>
          <a:bodyPr wrap="square" lIns="0" tIns="0" rIns="0" bIns="0" rtlCol="0" anchor="ctr"/>
          <a:lstStyle/>
          <a:p>
            <a:pPr marL="0" indent="0">
              <a:buNone/>
              <a:defRPr>
                <a:latin typeface="Ubuntu"/>
                <a:ea typeface="Ubuntu"/>
                <a:cs typeface="Ubuntu"/>
              </a:defRPr>
            </a:pPr>
            <a:r>
              <a:rPr lang="en-US" sz="900" i="1" dirty="0">
                <a:solidFill>
                  <a:srgbClr val="5F6B8C"/>
                </a:solidFill>
                <a:latin typeface="Ubuntu" pitchFamily="34" charset="0"/>
                <a:ea typeface="Ubuntu" pitchFamily="34" charset="-122"/>
                <a:cs typeface="Ubuntu" pitchFamily="34" charset="-120"/>
              </a:rPr>
              <a:t>Definition: ESA Science, Spacecraft glossary — sci.esa.int. Remaining text: Lecture 08.</a:t>
            </a:r>
            <a:endParaRPr lang="en-US" sz="900" dirty="0"/>
          </a:p>
        </p:txBody>
      </p:sp>
      <p:sp>
        <p:nvSpPr>
          <p:cNvPr id="24" name="Slide Number Placeholder 7">
            <a:extLst>
              <a:ext uri="{FF2B5EF4-FFF2-40B4-BE49-F238E27FC236}">
                <a16:creationId xmlns:a16="http://schemas.microsoft.com/office/drawing/2014/main" id="{12DB51A8-F110-B9A1-00A5-C2FFF85E0BA2}"/>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5</a:t>
            </a:fld>
            <a:endParaRPr lang="en-US" sz="4800" b="1" dirty="0">
              <a:solidFill>
                <a:srgbClr val="FF0000"/>
              </a:solidFill>
            </a:endParaRPr>
          </a:p>
        </p:txBody>
      </p:sp>
      <p:pic>
        <p:nvPicPr>
          <p:cNvPr id="67" name="Space Faculty logo" descr="sf_logo.png"/>
          <p:cNvPicPr>
            <a:picLocks noChangeAspect="1"/>
          </p:cNvPicPr>
          <p:nvPr/>
        </p:nvPicPr>
        <p:blipFill>
          <a:blip r:embed="rId3"/>
          <a:stretch>
            <a:fillRect/>
          </a:stretch>
        </p:blipFill>
        <p:spPr>
          <a:xfrm>
            <a:off x="10277326" y="54864"/>
            <a:ext cx="1801898" cy="5120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circle(in)">
                                      <p:cBhvr>
                                        <p:cTn id="45" dur="2000"/>
                                        <p:tgtEl>
                                          <p:spTgt spid="14"/>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circle(in)">
                                      <p:cBhvr>
                                        <p:cTn id="48" dur="2000"/>
                                        <p:tgtEl>
                                          <p:spTgt spid="15"/>
                                        </p:tgtEl>
                                      </p:cBhvr>
                                    </p:animEffect>
                                  </p:childTnLst>
                                </p:cTn>
                              </p:par>
                              <p:par>
                                <p:cTn id="49" presetID="6" presetClass="entr" presetSubtype="16"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circle(in)">
                                      <p:cBhvr>
                                        <p:cTn id="51" dur="2000"/>
                                        <p:tgtEl>
                                          <p:spTgt spid="16"/>
                                        </p:tgtEl>
                                      </p:cBhvr>
                                    </p:animEffect>
                                  </p:childTnLst>
                                </p:cTn>
                              </p:par>
                              <p:par>
                                <p:cTn id="52" presetID="6" presetClass="entr" presetSubtype="16"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circle(in)">
                                      <p:cBhvr>
                                        <p:cTn id="54" dur="20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1000"/>
                                        <p:tgtEl>
                                          <p:spTgt spid="18"/>
                                        </p:tgtEl>
                                      </p:cBhvr>
                                    </p:animEffect>
                                    <p:anim calcmode="lin" valueType="num">
                                      <p:cBhvr>
                                        <p:cTn id="60" dur="1000" fill="hold"/>
                                        <p:tgtEl>
                                          <p:spTgt spid="18"/>
                                        </p:tgtEl>
                                        <p:attrNameLst>
                                          <p:attrName>ppt_x</p:attrName>
                                        </p:attrNameLst>
                                      </p:cBhvr>
                                      <p:tavLst>
                                        <p:tav tm="0">
                                          <p:val>
                                            <p:strVal val="#ppt_x"/>
                                          </p:val>
                                        </p:tav>
                                        <p:tav tm="100000">
                                          <p:val>
                                            <p:strVal val="#ppt_x"/>
                                          </p:val>
                                        </p:tav>
                                      </p:tavLst>
                                    </p:anim>
                                    <p:anim calcmode="lin" valueType="num">
                                      <p:cBhvr>
                                        <p:cTn id="61" dur="1000" fill="hold"/>
                                        <p:tgtEl>
                                          <p:spTgt spid="18"/>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1000"/>
                                        <p:tgtEl>
                                          <p:spTgt spid="19"/>
                                        </p:tgtEl>
                                      </p:cBhvr>
                                    </p:animEffect>
                                    <p:anim calcmode="lin" valueType="num">
                                      <p:cBhvr>
                                        <p:cTn id="65" dur="1000" fill="hold"/>
                                        <p:tgtEl>
                                          <p:spTgt spid="19"/>
                                        </p:tgtEl>
                                        <p:attrNameLst>
                                          <p:attrName>ppt_x</p:attrName>
                                        </p:attrNameLst>
                                      </p:cBhvr>
                                      <p:tavLst>
                                        <p:tav tm="0">
                                          <p:val>
                                            <p:strVal val="#ppt_x"/>
                                          </p:val>
                                        </p:tav>
                                        <p:tav tm="100000">
                                          <p:val>
                                            <p:strVal val="#ppt_x"/>
                                          </p:val>
                                        </p:tav>
                                      </p:tavLst>
                                    </p:anim>
                                    <p:anim calcmode="lin" valueType="num">
                                      <p:cBhvr>
                                        <p:cTn id="6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45574-02C6-DBFE-38AB-E6BE5D0371BA}"/>
              </a:ext>
            </a:extLst>
          </p:cNvPr>
          <p:cNvSpPr>
            <a:spLocks noGrp="1"/>
          </p:cNvSpPr>
          <p:nvPr>
            <p:ph type="title"/>
          </p:nvPr>
        </p:nvSpPr>
        <p:spPr>
          <a:xfrm>
            <a:off x="623977" y="46024"/>
            <a:ext cx="8229600" cy="1143000"/>
          </a:xfrm>
        </p:spPr>
        <p:txBody>
          <a:bodyPr>
            <a:normAutofit/>
          </a:bodyPr>
          <a:lstStyle/>
          <a:p>
            <a:pPr>
              <a:defRPr>
                <a:latin typeface="House Movements Runway"/>
                <a:ea typeface="House Movements Runway"/>
                <a:cs typeface="House Movements Runway"/>
              </a:defRPr>
            </a:pPr>
            <a:r>
              <a:rPr lang="en-US" sz="4800" b="1" dirty="0">
                <a:latin typeface="House Movements Runway"/>
                <a:ea typeface="House Movements Runway"/>
                <a:cs typeface="House Movements Runway"/>
              </a:rPr>
              <a:t>Attitude vs Altitude</a:t>
            </a:r>
          </a:p>
        </p:txBody>
      </p:sp>
      <p:pic>
        <p:nvPicPr>
          <p:cNvPr id="5" name="Picture 4" descr="The diagram illustrates a cube-shaped device with labeled sides for pitch, roll, and yaw, and additional components such as a compass and front panel.&#10;&#10;AI-generated content may be incorrect.">
            <a:extLst>
              <a:ext uri="{FF2B5EF4-FFF2-40B4-BE49-F238E27FC236}">
                <a16:creationId xmlns:a16="http://schemas.microsoft.com/office/drawing/2014/main" id="{F1550E27-E844-6C2D-BC22-8CDFC031723E}"/>
              </a:ext>
            </a:extLst>
          </p:cNvPr>
          <p:cNvPicPr>
            <a:picLocks noChangeAspect="1"/>
          </p:cNvPicPr>
          <p:nvPr/>
        </p:nvPicPr>
        <p:blipFill>
          <a:blip r:embed="rId2"/>
          <a:stretch>
            <a:fillRect/>
          </a:stretch>
        </p:blipFill>
        <p:spPr>
          <a:xfrm>
            <a:off x="494932" y="1850744"/>
            <a:ext cx="5770084" cy="4705320"/>
          </a:xfrm>
          <a:prstGeom prst="rect">
            <a:avLst/>
          </a:prstGeom>
        </p:spPr>
      </p:pic>
      <p:pic>
        <p:nvPicPr>
          <p:cNvPr id="7" name="Picture 6" descr="R&#10;&#10;AI-generated content may be incorrect.">
            <a:extLst>
              <a:ext uri="{FF2B5EF4-FFF2-40B4-BE49-F238E27FC236}">
                <a16:creationId xmlns:a16="http://schemas.microsoft.com/office/drawing/2014/main" id="{17135402-8F8A-2104-A4AA-0A3128B9E871}"/>
              </a:ext>
            </a:extLst>
          </p:cNvPr>
          <p:cNvPicPr>
            <a:picLocks noChangeAspect="1"/>
          </p:cNvPicPr>
          <p:nvPr/>
        </p:nvPicPr>
        <p:blipFill>
          <a:blip r:embed="rId3"/>
          <a:stretch>
            <a:fillRect/>
          </a:stretch>
        </p:blipFill>
        <p:spPr>
          <a:xfrm>
            <a:off x="7504349" y="1422532"/>
            <a:ext cx="4346059" cy="4957482"/>
          </a:xfrm>
          <a:prstGeom prst="rect">
            <a:avLst/>
          </a:prstGeom>
        </p:spPr>
      </p:pic>
      <p:sp>
        <p:nvSpPr>
          <p:cNvPr id="9" name="TextBox 8">
            <a:extLst>
              <a:ext uri="{FF2B5EF4-FFF2-40B4-BE49-F238E27FC236}">
                <a16:creationId xmlns:a16="http://schemas.microsoft.com/office/drawing/2014/main" id="{632240B3-D319-7DE8-2A37-2329E318088C}"/>
              </a:ext>
            </a:extLst>
          </p:cNvPr>
          <p:cNvSpPr txBox="1"/>
          <p:nvPr/>
        </p:nvSpPr>
        <p:spPr>
          <a:xfrm>
            <a:off x="494932" y="1662023"/>
            <a:ext cx="1643142" cy="584775"/>
          </a:xfrm>
          <a:prstGeom prst="rect">
            <a:avLst/>
          </a:prstGeom>
          <a:noFill/>
        </p:spPr>
        <p:txBody>
          <a:bodyPr wrap="none" rtlCol="0">
            <a:spAutoFit/>
          </a:bodyPr>
          <a:lstStyle/>
          <a:p>
            <a:pPr>
              <a:defRPr>
                <a:latin typeface="Ubuntu"/>
                <a:ea typeface="Ubuntu"/>
                <a:cs typeface="Ubuntu"/>
              </a:defRPr>
            </a:pPr>
            <a:r>
              <a:rPr lang="en-US" sz="3200" dirty="0">
                <a:highlight>
                  <a:srgbClr val="FFFF00"/>
                </a:highlight>
                <a:latin typeface="Ubuntu"/>
                <a:ea typeface="Ubuntu"/>
                <a:cs typeface="Ubuntu"/>
              </a:rPr>
              <a:t>Attitude </a:t>
            </a:r>
          </a:p>
        </p:txBody>
      </p:sp>
      <p:sp>
        <p:nvSpPr>
          <p:cNvPr id="12" name="TextBox 11">
            <a:extLst>
              <a:ext uri="{FF2B5EF4-FFF2-40B4-BE49-F238E27FC236}">
                <a16:creationId xmlns:a16="http://schemas.microsoft.com/office/drawing/2014/main" id="{657CD9B9-5288-5E2F-7827-D6CB9ABE9701}"/>
              </a:ext>
            </a:extLst>
          </p:cNvPr>
          <p:cNvSpPr txBox="1"/>
          <p:nvPr/>
        </p:nvSpPr>
        <p:spPr>
          <a:xfrm>
            <a:off x="7237913" y="1700344"/>
            <a:ext cx="1523174" cy="584775"/>
          </a:xfrm>
          <a:prstGeom prst="rect">
            <a:avLst/>
          </a:prstGeom>
          <a:noFill/>
        </p:spPr>
        <p:txBody>
          <a:bodyPr wrap="none" rtlCol="0">
            <a:spAutoFit/>
          </a:bodyPr>
          <a:lstStyle/>
          <a:p>
            <a:pPr>
              <a:defRPr>
                <a:latin typeface="Ubuntu"/>
                <a:ea typeface="Ubuntu"/>
                <a:cs typeface="Ubuntu"/>
              </a:defRPr>
            </a:pPr>
            <a:r>
              <a:rPr lang="en-US" sz="3200" dirty="0">
                <a:highlight>
                  <a:srgbClr val="FFFF00"/>
                </a:highlight>
                <a:latin typeface="Ubuntu"/>
                <a:ea typeface="Ubuntu"/>
                <a:cs typeface="Ubuntu"/>
              </a:rPr>
              <a:t>Altitude</a:t>
            </a:r>
          </a:p>
        </p:txBody>
      </p:sp>
      <p:sp>
        <p:nvSpPr>
          <p:cNvPr id="8" name="Slide Number Placeholder 7">
            <a:extLst>
              <a:ext uri="{FF2B5EF4-FFF2-40B4-BE49-F238E27FC236}">
                <a16:creationId xmlns:a16="http://schemas.microsoft.com/office/drawing/2014/main" id="{538928F9-6591-9685-DD01-63307CF8DAF6}"/>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6</a:t>
            </a:fld>
            <a:endParaRPr lang="en-US" sz="4800" b="1" dirty="0">
              <a:solidFill>
                <a:srgbClr val="FF0000"/>
              </a:solidFill>
            </a:endParaRPr>
          </a:p>
        </p:txBody>
      </p:sp>
      <p:pic>
        <p:nvPicPr>
          <p:cNvPr id="51" name="Space Faculty logo" descr="sf_logo.png"/>
          <p:cNvPicPr>
            <a:picLocks noChangeAspect="1"/>
          </p:cNvPicPr>
          <p:nvPr/>
        </p:nvPicPr>
        <p:blipFill>
          <a:blip r:embed="rId4"/>
          <a:stretch>
            <a:fillRect/>
          </a:stretch>
        </p:blipFill>
        <p:spPr>
          <a:xfrm>
            <a:off x="10242084" y="54863"/>
            <a:ext cx="1837140" cy="522079"/>
          </a:xfrm>
          <a:prstGeom prst="rect">
            <a:avLst/>
          </a:prstGeom>
        </p:spPr>
      </p:pic>
    </p:spTree>
    <p:extLst>
      <p:ext uri="{BB962C8B-B14F-4D97-AF65-F5344CB8AC3E}">
        <p14:creationId xmlns:p14="http://schemas.microsoft.com/office/powerpoint/2010/main" val="39088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80">
                                          <p:stCondLst>
                                            <p:cond delay="0"/>
                                          </p:stCondLst>
                                        </p:cTn>
                                        <p:tgtEl>
                                          <p:spTgt spid="7"/>
                                        </p:tgtEl>
                                      </p:cBhvr>
                                    </p:animEffect>
                                    <p:anim calcmode="lin" valueType="num">
                                      <p:cBhvr>
                                        <p:cTn id="2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1" dur="26">
                                          <p:stCondLst>
                                            <p:cond delay="650"/>
                                          </p:stCondLst>
                                        </p:cTn>
                                        <p:tgtEl>
                                          <p:spTgt spid="7"/>
                                        </p:tgtEl>
                                      </p:cBhvr>
                                      <p:to x="100000" y="60000"/>
                                    </p:animScale>
                                    <p:animScale>
                                      <p:cBhvr>
                                        <p:cTn id="32" dur="166" decel="50000">
                                          <p:stCondLst>
                                            <p:cond delay="676"/>
                                          </p:stCondLst>
                                        </p:cTn>
                                        <p:tgtEl>
                                          <p:spTgt spid="7"/>
                                        </p:tgtEl>
                                      </p:cBhvr>
                                      <p:to x="100000" y="100000"/>
                                    </p:animScale>
                                    <p:animScale>
                                      <p:cBhvr>
                                        <p:cTn id="33" dur="26">
                                          <p:stCondLst>
                                            <p:cond delay="1312"/>
                                          </p:stCondLst>
                                        </p:cTn>
                                        <p:tgtEl>
                                          <p:spTgt spid="7"/>
                                        </p:tgtEl>
                                      </p:cBhvr>
                                      <p:to x="100000" y="80000"/>
                                    </p:animScale>
                                    <p:animScale>
                                      <p:cBhvr>
                                        <p:cTn id="34" dur="166" decel="50000">
                                          <p:stCondLst>
                                            <p:cond delay="1338"/>
                                          </p:stCondLst>
                                        </p:cTn>
                                        <p:tgtEl>
                                          <p:spTgt spid="7"/>
                                        </p:tgtEl>
                                      </p:cBhvr>
                                      <p:to x="100000" y="100000"/>
                                    </p:animScale>
                                    <p:animScale>
                                      <p:cBhvr>
                                        <p:cTn id="35" dur="26">
                                          <p:stCondLst>
                                            <p:cond delay="1642"/>
                                          </p:stCondLst>
                                        </p:cTn>
                                        <p:tgtEl>
                                          <p:spTgt spid="7"/>
                                        </p:tgtEl>
                                      </p:cBhvr>
                                      <p:to x="100000" y="90000"/>
                                    </p:animScale>
                                    <p:animScale>
                                      <p:cBhvr>
                                        <p:cTn id="36" dur="166" decel="50000">
                                          <p:stCondLst>
                                            <p:cond delay="1668"/>
                                          </p:stCondLst>
                                        </p:cTn>
                                        <p:tgtEl>
                                          <p:spTgt spid="7"/>
                                        </p:tgtEl>
                                      </p:cBhvr>
                                      <p:to x="100000" y="100000"/>
                                    </p:animScale>
                                    <p:animScale>
                                      <p:cBhvr>
                                        <p:cTn id="37" dur="26">
                                          <p:stCondLst>
                                            <p:cond delay="1808"/>
                                          </p:stCondLst>
                                        </p:cTn>
                                        <p:tgtEl>
                                          <p:spTgt spid="7"/>
                                        </p:tgtEl>
                                      </p:cBhvr>
                                      <p:to x="100000" y="95000"/>
                                    </p:animScale>
                                    <p:animScale>
                                      <p:cBhvr>
                                        <p:cTn id="38" dur="166" decel="50000">
                                          <p:stCondLst>
                                            <p:cond delay="1834"/>
                                          </p:stCondLst>
                                        </p:cTn>
                                        <p:tgtEl>
                                          <p:spTgt spid="7"/>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circle(in)">
                                      <p:cBhvr>
                                        <p:cTn id="5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2" name="Title 1">
            <a:extLst>
              <a:ext uri="{FF2B5EF4-FFF2-40B4-BE49-F238E27FC236}">
                <a16:creationId xmlns:a16="http://schemas.microsoft.com/office/drawing/2014/main" id="{C54B6130-6DEB-C43F-7C93-C08C7C998E50}"/>
              </a:ext>
            </a:extLst>
          </p:cNvPr>
          <p:cNvSpPr>
            <a:spLocks noGrp="1"/>
          </p:cNvSpPr>
          <p:nvPr>
            <p:ph type="title"/>
          </p:nvPr>
        </p:nvSpPr>
        <p:spPr>
          <a:xfrm>
            <a:off x="645065" y="1463040"/>
            <a:ext cx="3796306" cy="2690949"/>
          </a:xfrm>
        </p:spPr>
        <p:txBody>
          <a:bodyPr>
            <a:normAutofit/>
          </a:bodyPr>
          <a:lstStyle/>
          <a:p>
            <a:pPr>
              <a:defRPr>
                <a:latin typeface="House Movements Runway"/>
                <a:ea typeface="House Movements Runway"/>
                <a:cs typeface="House Movements Runway"/>
              </a:defRPr>
            </a:pPr>
            <a:r>
              <a:rPr lang="en-US" sz="4800" b="1" dirty="0">
                <a:latin typeface="House Movements Runway"/>
                <a:ea typeface="House Movements Runway"/>
                <a:cs typeface="House Movements Runway"/>
              </a:rPr>
              <a:t>Common Acronyms</a:t>
            </a:r>
          </a:p>
        </p:txBody>
      </p:sp>
      <p:grpSp>
        <p:nvGrpSpPr>
          <p:cNvPr id="14" name="Group 13">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5" name="Rectangle 1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cxnSp>
          <p:nvCxnSpPr>
            <p:cNvPr id="16" name="Straight Connector 15">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3" name="Content Placeholder 2">
            <a:extLst>
              <a:ext uri="{FF2B5EF4-FFF2-40B4-BE49-F238E27FC236}">
                <a16:creationId xmlns:a16="http://schemas.microsoft.com/office/drawing/2014/main" id="{8A481A1E-BAFE-13B7-B299-CEA0A4DD92D4}"/>
              </a:ext>
            </a:extLst>
          </p:cNvPr>
          <p:cNvSpPr>
            <a:spLocks noGrp="1"/>
          </p:cNvSpPr>
          <p:nvPr>
            <p:ph idx="1"/>
          </p:nvPr>
        </p:nvSpPr>
        <p:spPr>
          <a:xfrm>
            <a:off x="5343374" y="750627"/>
            <a:ext cx="6203561" cy="5012859"/>
          </a:xfrm>
        </p:spPr>
        <p:txBody>
          <a:bodyPr>
            <a:normAutofit/>
          </a:bodyPr>
          <a:lstStyle/>
          <a:p>
            <a:pPr>
              <a:defRPr>
                <a:latin typeface="Space Mono"/>
                <a:ea typeface="Space Mono"/>
                <a:cs typeface="Space Mono"/>
              </a:defRPr>
            </a:pPr>
            <a:r>
              <a:rPr lang="en-US" sz="2800" dirty="0">
                <a:latin typeface="Space Mono"/>
                <a:ea typeface="Space Mono"/>
                <a:cs typeface="Space Mono"/>
              </a:rPr>
              <a:t>ACS – Attitude Control System </a:t>
            </a:r>
          </a:p>
          <a:p>
            <a:pPr>
              <a:defRPr>
                <a:latin typeface="Space Mono"/>
                <a:ea typeface="Space Mono"/>
                <a:cs typeface="Space Mono"/>
              </a:defRPr>
            </a:pPr>
            <a:r>
              <a:rPr lang="en-US" sz="2800" dirty="0">
                <a:latin typeface="Space Mono"/>
                <a:ea typeface="Space Mono"/>
                <a:cs typeface="Space Mono"/>
              </a:rPr>
              <a:t>ADCS – Attitude Determination &amp; Control System </a:t>
            </a:r>
          </a:p>
          <a:p>
            <a:pPr>
              <a:defRPr>
                <a:latin typeface="Space Mono"/>
                <a:ea typeface="Space Mono"/>
                <a:cs typeface="Space Mono"/>
              </a:defRPr>
            </a:pPr>
            <a:r>
              <a:rPr lang="en-US" sz="2800" dirty="0">
                <a:latin typeface="Space Mono"/>
                <a:ea typeface="Space Mono"/>
                <a:cs typeface="Space Mono"/>
              </a:rPr>
              <a:t>AGS – Attitude Ground System </a:t>
            </a:r>
          </a:p>
          <a:p>
            <a:pPr>
              <a:defRPr>
                <a:latin typeface="Space Mono"/>
                <a:ea typeface="Space Mono"/>
                <a:cs typeface="Space Mono"/>
              </a:defRPr>
            </a:pPr>
            <a:r>
              <a:rPr lang="en-US" sz="2800" dirty="0">
                <a:latin typeface="Space Mono"/>
                <a:ea typeface="Space Mono"/>
                <a:cs typeface="Space Mono"/>
              </a:rPr>
              <a:t>AOCS – Attitude &amp; Orbital Control System</a:t>
            </a:r>
          </a:p>
          <a:p>
            <a:pPr>
              <a:defRPr>
                <a:latin typeface="Space Mono"/>
                <a:ea typeface="Space Mono"/>
                <a:cs typeface="Space Mono"/>
              </a:defRPr>
            </a:pPr>
            <a:r>
              <a:rPr lang="en-US" sz="2800" dirty="0">
                <a:latin typeface="Space Mono"/>
                <a:ea typeface="Space Mono"/>
                <a:cs typeface="Space Mono"/>
              </a:rPr>
              <a:t>GNC – Guidance, Navigation &amp; Control </a:t>
            </a:r>
          </a:p>
          <a:p>
            <a:pPr marL="0" indent="0">
              <a:buNone/>
              <a:defRPr>
                <a:latin typeface="Space Mono"/>
                <a:ea typeface="Space Mono"/>
                <a:cs typeface="Space Mono"/>
              </a:defRPr>
            </a:pPr>
            <a:endParaRPr lang="en-US" sz="2800" dirty="0"/>
          </a:p>
          <a:p>
            <a:pPr marL="0" indent="0">
              <a:buNone/>
              <a:defRPr>
                <a:latin typeface="Space Mono"/>
                <a:ea typeface="Space Mono"/>
                <a:cs typeface="Space Mono"/>
              </a:defRPr>
            </a:pPr>
            <a:r>
              <a:rPr lang="en-US" sz="2800" dirty="0">
                <a:latin typeface="Space Mono"/>
                <a:ea typeface="Space Mono"/>
                <a:cs typeface="Space Mono"/>
              </a:rPr>
              <a:t>We will use </a:t>
            </a:r>
          </a:p>
          <a:p>
            <a:pPr>
              <a:defRPr>
                <a:latin typeface="Space Mono"/>
                <a:ea typeface="Space Mono"/>
                <a:cs typeface="Space Mono"/>
              </a:defRPr>
            </a:pPr>
            <a:r>
              <a:rPr lang="en-US" sz="2800" dirty="0">
                <a:latin typeface="Space Mono"/>
                <a:ea typeface="Space Mono"/>
                <a:cs typeface="Space Mono"/>
              </a:rPr>
              <a:t>ADCS (attitude) and GNC (orbit)</a:t>
            </a:r>
          </a:p>
        </p:txBody>
      </p:sp>
      <p:sp>
        <p:nvSpPr>
          <p:cNvPr id="7" name="Slide Number Placeholder 7">
            <a:extLst>
              <a:ext uri="{FF2B5EF4-FFF2-40B4-BE49-F238E27FC236}">
                <a16:creationId xmlns:a16="http://schemas.microsoft.com/office/drawing/2014/main" id="{4268C50B-3A1D-0282-2B33-81766C485801}"/>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spcAft>
                <a:spcPts val="600"/>
              </a:spcAft>
              <a:defRPr>
                <a:latin typeface="Ubuntu"/>
                <a:ea typeface="Ubuntu"/>
                <a:cs typeface="Ubuntu"/>
              </a:defRPr>
            </a:pPr>
            <a:fld id="{81D60167-4931-47E6-BA6A-407CBD079E47}" type="slidenum">
              <a:rPr lang="en-US" sz="4800" b="1" smtClean="0">
                <a:solidFill>
                  <a:srgbClr val="FF0000"/>
                </a:solidFill>
              </a:rPr>
              <a:pPr marL="37465">
                <a:lnSpc>
                  <a:spcPts val="1870"/>
                </a:lnSpc>
                <a:spcAft>
                  <a:spcPts val="600"/>
                </a:spcAft>
              </a:pPr>
              <a:t>7</a:t>
            </a:fld>
            <a:endParaRPr lang="en-US" sz="4800" b="1">
              <a:solidFill>
                <a:srgbClr val="FF0000"/>
              </a:solidFill>
            </a:endParaRPr>
          </a:p>
        </p:txBody>
      </p:sp>
      <p:pic>
        <p:nvPicPr>
          <p:cNvPr id="19" name="Space Faculty logo" descr="sf_logo.png"/>
          <p:cNvPicPr>
            <a:picLocks noChangeAspect="1"/>
          </p:cNvPicPr>
          <p:nvPr/>
        </p:nvPicPr>
        <p:blipFill>
          <a:blip r:embed="rId2"/>
          <a:stretch>
            <a:fillRect/>
          </a:stretch>
        </p:blipFill>
        <p:spPr>
          <a:xfrm>
            <a:off x="10316782" y="54863"/>
            <a:ext cx="1762441" cy="500851"/>
          </a:xfrm>
          <a:prstGeom prst="rect">
            <a:avLst/>
          </a:prstGeom>
        </p:spPr>
      </p:pic>
    </p:spTree>
    <p:extLst>
      <p:ext uri="{BB962C8B-B14F-4D97-AF65-F5344CB8AC3E}">
        <p14:creationId xmlns:p14="http://schemas.microsoft.com/office/powerpoint/2010/main" val="1144154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04197-F14B-0E4F-10F9-0CCB1C8003CC}"/>
              </a:ext>
            </a:extLst>
          </p:cNvPr>
          <p:cNvSpPr>
            <a:spLocks noGrp="1"/>
          </p:cNvSpPr>
          <p:nvPr>
            <p:ph type="title"/>
          </p:nvPr>
        </p:nvSpPr>
        <p:spPr/>
        <p:txBody>
          <a:bodyPr/>
          <a:lstStyle/>
          <a:p>
            <a:pPr>
              <a:defRPr>
                <a:latin typeface="House Movements Runway"/>
                <a:ea typeface="House Movements Runway"/>
                <a:cs typeface="House Movements Runway"/>
              </a:defRPr>
            </a:pPr>
            <a:endParaRPr lang="en-US"/>
          </a:p>
        </p:txBody>
      </p:sp>
      <p:sp>
        <p:nvSpPr>
          <p:cNvPr id="3" name="Content Placeholder 2">
            <a:extLst>
              <a:ext uri="{FF2B5EF4-FFF2-40B4-BE49-F238E27FC236}">
                <a16:creationId xmlns:a16="http://schemas.microsoft.com/office/drawing/2014/main" id="{FA0E9B7B-1810-DD00-A371-B524FB4DC99E}"/>
              </a:ext>
            </a:extLst>
          </p:cNvPr>
          <p:cNvSpPr>
            <a:spLocks noGrp="1"/>
          </p:cNvSpPr>
          <p:nvPr>
            <p:ph idx="1"/>
          </p:nvPr>
        </p:nvSpPr>
        <p:spPr/>
        <p:txBody>
          <a:bodyPr/>
          <a:lstStyle/>
          <a:p>
            <a:pPr>
              <a:defRPr>
                <a:latin typeface="Space Mono"/>
                <a:ea typeface="Space Mono"/>
                <a:cs typeface="Space Mono"/>
              </a:defRPr>
            </a:pPr>
            <a:endParaRPr lang="en-US"/>
          </a:p>
        </p:txBody>
      </p:sp>
      <p:pic>
        <p:nvPicPr>
          <p:cNvPr id="5" name="Picture 4" descr="The diagram illustrates a coordinate frame system for a spacecraft, detailing the Earth-centered, attitude motion in terms of Pitch, Yaw, and Roll, and the coordinate transformation from X, Y, Z to x, y, z.&#10;&#10;AI-generated content may be incorrect.">
            <a:extLst>
              <a:ext uri="{FF2B5EF4-FFF2-40B4-BE49-F238E27FC236}">
                <a16:creationId xmlns:a16="http://schemas.microsoft.com/office/drawing/2014/main" id="{CF3D92AD-B8DD-2CAE-9037-82596ED5158E}"/>
              </a:ext>
            </a:extLst>
          </p:cNvPr>
          <p:cNvPicPr>
            <a:picLocks noChangeAspect="1"/>
          </p:cNvPicPr>
          <p:nvPr/>
        </p:nvPicPr>
        <p:blipFill>
          <a:blip r:embed="rId2"/>
          <a:stretch>
            <a:fillRect/>
          </a:stretch>
        </p:blipFill>
        <p:spPr>
          <a:xfrm>
            <a:off x="0" y="24713"/>
            <a:ext cx="11998010" cy="6558649"/>
          </a:xfrm>
          <a:prstGeom prst="rect">
            <a:avLst/>
          </a:prstGeom>
        </p:spPr>
      </p:pic>
      <p:pic>
        <p:nvPicPr>
          <p:cNvPr id="7" name="Picture 6" descr="The diagram illustrates the three principal axes of an aircraft: the longitudinal axis running from nose to tail, the lateral axis from wing to wing, and the vertical axis through the center of gravity, along with the concepts of pitch, roll, and yaw.&#10;&#10;AI-generated content may be incorrect.">
            <a:extLst>
              <a:ext uri="{FF2B5EF4-FFF2-40B4-BE49-F238E27FC236}">
                <a16:creationId xmlns:a16="http://schemas.microsoft.com/office/drawing/2014/main" id="{D2351AC7-097E-2491-C2E2-9B9BC615B404}"/>
              </a:ext>
            </a:extLst>
          </p:cNvPr>
          <p:cNvPicPr>
            <a:picLocks noChangeAspect="1"/>
          </p:cNvPicPr>
          <p:nvPr/>
        </p:nvPicPr>
        <p:blipFill>
          <a:blip r:embed="rId3"/>
          <a:stretch>
            <a:fillRect/>
          </a:stretch>
        </p:blipFill>
        <p:spPr>
          <a:xfrm>
            <a:off x="10013509" y="334509"/>
            <a:ext cx="2178491" cy="1817913"/>
          </a:xfrm>
          <a:prstGeom prst="rect">
            <a:avLst/>
          </a:prstGeom>
        </p:spPr>
      </p:pic>
      <p:sp>
        <p:nvSpPr>
          <p:cNvPr id="10" name="Slide Number Placeholder 7">
            <a:extLst>
              <a:ext uri="{FF2B5EF4-FFF2-40B4-BE49-F238E27FC236}">
                <a16:creationId xmlns:a16="http://schemas.microsoft.com/office/drawing/2014/main" id="{D5615E4D-93EF-F6DB-8C3C-E1E83A294E09}"/>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8</a:t>
            </a:fld>
            <a:endParaRPr lang="en-US" sz="4800" b="1" dirty="0">
              <a:solidFill>
                <a:srgbClr val="FF0000"/>
              </a:solidFill>
            </a:endParaRPr>
          </a:p>
        </p:txBody>
      </p:sp>
      <p:sp>
        <p:nvSpPr>
          <p:cNvPr id="4" name="Rectangle 3">
            <a:extLst>
              <a:ext uri="{FF2B5EF4-FFF2-40B4-BE49-F238E27FC236}">
                <a16:creationId xmlns:a16="http://schemas.microsoft.com/office/drawing/2014/main" id="{23096521-BE4C-3A74-2DCD-145BD071023C}"/>
              </a:ext>
            </a:extLst>
          </p:cNvPr>
          <p:cNvSpPr/>
          <p:nvPr/>
        </p:nvSpPr>
        <p:spPr>
          <a:xfrm>
            <a:off x="0" y="54864"/>
            <a:ext cx="1774371" cy="990165"/>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pic>
        <p:nvPicPr>
          <p:cNvPr id="11" name="Space Faculty logo" descr="sf_logo.png"/>
          <p:cNvPicPr>
            <a:picLocks noChangeAspect="1"/>
          </p:cNvPicPr>
          <p:nvPr/>
        </p:nvPicPr>
        <p:blipFill>
          <a:blip r:embed="rId4"/>
          <a:stretch>
            <a:fillRect/>
          </a:stretch>
        </p:blipFill>
        <p:spPr>
          <a:xfrm>
            <a:off x="158697" y="334509"/>
            <a:ext cx="1398154" cy="397328"/>
          </a:xfrm>
          <a:prstGeom prst="rect">
            <a:avLst/>
          </a:prstGeom>
        </p:spPr>
      </p:pic>
    </p:spTree>
    <p:extLst>
      <p:ext uri="{BB962C8B-B14F-4D97-AF65-F5344CB8AC3E}">
        <p14:creationId xmlns:p14="http://schemas.microsoft.com/office/powerpoint/2010/main" val="405696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normAutofit/>
          </a:bodyPr>
          <a:lstStyle/>
          <a:p>
            <a:pPr marL="0" indent="0" algn="ctr">
              <a:buNone/>
              <a:defRPr>
                <a:latin typeface="House Movements Runway"/>
                <a:ea typeface="House Movements Runway"/>
                <a:cs typeface="House Movements Runway"/>
              </a:defRPr>
            </a:pPr>
            <a:r>
              <a:rPr lang="en-US" sz="4800" b="1" dirty="0">
                <a:solidFill>
                  <a:schemeClr val="tx2"/>
                </a:solidFill>
                <a:latin typeface="House Movements Runway"/>
                <a:ea typeface="House Movements Runway"/>
                <a:cs typeface="House Movements Runway"/>
              </a:rPr>
              <a:t>Key Control </a:t>
            </a:r>
            <a:r>
              <a:rPr lang="en-US" sz="4800" dirty="0">
                <a:latin typeface="House Movements Runway"/>
                <a:ea typeface="House Movements Runway"/>
                <a:cs typeface="House Movements Runway"/>
              </a:rPr>
              <a:t>T</a:t>
            </a:r>
            <a:r>
              <a:rPr lang="en-US" sz="4800" b="1" dirty="0">
                <a:solidFill>
                  <a:schemeClr val="tx2"/>
                </a:solidFill>
                <a:latin typeface="House Movements Runway"/>
                <a:ea typeface="House Movements Runway"/>
                <a:cs typeface="House Movements Runway"/>
              </a:rPr>
              <a:t>erms</a:t>
            </a:r>
            <a:endParaRPr lang="en-US" sz="4800" dirty="0"/>
          </a:p>
        </p:txBody>
      </p:sp>
      <p:grpSp>
        <p:nvGrpSpPr>
          <p:cNvPr id="20" name="Group 19">
            <a:extLst>
              <a:ext uri="{FF2B5EF4-FFF2-40B4-BE49-F238E27FC236}">
                <a16:creationId xmlns:a16="http://schemas.microsoft.com/office/drawing/2014/main" id="{C7D99C44-5D66-13A8-1004-5A555C38A9C0}"/>
              </a:ext>
            </a:extLst>
          </p:cNvPr>
          <p:cNvGrpSpPr/>
          <p:nvPr/>
        </p:nvGrpSpPr>
        <p:grpSpPr>
          <a:xfrm>
            <a:off x="168113" y="1851660"/>
            <a:ext cx="11639574" cy="3498432"/>
            <a:chOff x="168113" y="1851660"/>
            <a:chExt cx="11064240" cy="3017520"/>
          </a:xfrm>
        </p:grpSpPr>
        <p:sp>
          <p:nvSpPr>
            <p:cNvPr id="3" name="Input card"/>
            <p:cNvSpPr/>
            <p:nvPr/>
          </p:nvSpPr>
          <p:spPr>
            <a:xfrm>
              <a:off x="168113" y="1851660"/>
              <a:ext cx="3520440" cy="3017520"/>
            </a:xfrm>
            <a:prstGeom prst="roundRect">
              <a:avLst>
                <a:gd name="adj" fmla="val 3636"/>
              </a:avLst>
            </a:prstGeom>
            <a:solidFill>
              <a:schemeClr val="bg2"/>
            </a:solidFill>
            <a:ln/>
          </p:spPr>
          <p:txBody>
            <a:bodyPr/>
            <a:lstStyle/>
            <a:p>
              <a:pPr>
                <a:defRPr>
                  <a:latin typeface="Ubuntu"/>
                  <a:ea typeface="Ubuntu"/>
                  <a:cs typeface="Ubuntu"/>
                </a:defRPr>
              </a:pPr>
              <a:endParaRPr lang="en-US"/>
            </a:p>
          </p:txBody>
        </p:sp>
        <p:sp>
          <p:nvSpPr>
            <p:cNvPr id="4" name="Icon circle Input"/>
            <p:cNvSpPr/>
            <p:nvPr/>
          </p:nvSpPr>
          <p:spPr>
            <a:xfrm>
              <a:off x="442433" y="2125980"/>
              <a:ext cx="640080" cy="640080"/>
            </a:xfrm>
            <a:prstGeom prst="ellipse">
              <a:avLst/>
            </a:prstGeom>
            <a:solidFill>
              <a:schemeClr val="tx2"/>
            </a:solidFill>
            <a:ln/>
          </p:spPr>
          <p:txBody>
            <a:bodyPr/>
            <a:lstStyle/>
            <a:p>
              <a:pPr>
                <a:defRPr>
                  <a:latin typeface="Ubuntu"/>
                  <a:ea typeface="Ubuntu"/>
                  <a:cs typeface="Ubuntu"/>
                </a:defRPr>
              </a:pPr>
              <a:endParaRPr lang="en-US"/>
            </a:p>
          </p:txBody>
        </p:sp>
        <p:pic>
          <p:nvPicPr>
            <p:cNvPr id="5" name="Image 0" descr="Input"/>
            <p:cNvPicPr>
              <a:picLocks noChangeAspect="1"/>
            </p:cNvPicPr>
            <p:nvPr/>
          </p:nvPicPr>
          <p:blipFill>
            <a:blip r:embed="rId3"/>
            <a:stretch>
              <a:fillRect/>
            </a:stretch>
          </p:blipFill>
          <p:spPr>
            <a:xfrm>
              <a:off x="602453" y="2286000"/>
              <a:ext cx="320040" cy="320040"/>
            </a:xfrm>
            <a:prstGeom prst="rect">
              <a:avLst/>
            </a:prstGeom>
          </p:spPr>
        </p:pic>
        <p:sp>
          <p:nvSpPr>
            <p:cNvPr id="6" name="Text 3"/>
            <p:cNvSpPr txBox="1"/>
            <p:nvPr/>
          </p:nvSpPr>
          <p:spPr>
            <a:xfrm>
              <a:off x="1265393" y="2125980"/>
              <a:ext cx="2194560" cy="640080"/>
            </a:xfrm>
            <a:prstGeom prst="rect">
              <a:avLst/>
            </a:prstGeom>
            <a:noFill/>
            <a:ln/>
          </p:spPr>
          <p:txBody>
            <a:bodyPr wrap="square" lIns="0" tIns="0" rIns="0" bIns="0" rtlCol="0" anchor="ctr"/>
            <a:lstStyle/>
            <a:p>
              <a:pPr marL="0" indent="0">
                <a:buNone/>
                <a:defRPr>
                  <a:latin typeface="Ubuntu"/>
                  <a:ea typeface="Ubuntu"/>
                  <a:cs typeface="Ubuntu"/>
                </a:defRPr>
              </a:pPr>
              <a:r>
                <a:rPr lang="en-US" sz="2800" b="1" dirty="0">
                  <a:solidFill>
                    <a:schemeClr val="tx2"/>
                  </a:solidFill>
                  <a:latin typeface="Ubuntu"/>
                  <a:ea typeface="Ubuntu"/>
                  <a:cs typeface="Ubuntu"/>
                </a:rPr>
                <a:t>Input</a:t>
              </a:r>
              <a:endParaRPr lang="en-US" sz="2800" dirty="0"/>
            </a:p>
          </p:txBody>
        </p:sp>
        <p:sp>
          <p:nvSpPr>
            <p:cNvPr id="7" name="Text 4"/>
            <p:cNvSpPr txBox="1"/>
            <p:nvPr/>
          </p:nvSpPr>
          <p:spPr>
            <a:xfrm>
              <a:off x="442433" y="2994660"/>
              <a:ext cx="3017520" cy="1783080"/>
            </a:xfrm>
            <a:prstGeom prst="rect">
              <a:avLst/>
            </a:prstGeom>
            <a:noFill/>
            <a:ln/>
          </p:spPr>
          <p:txBody>
            <a:bodyPr wrap="square" lIns="0" tIns="0" rIns="0" bIns="0" rtlCol="0" anchor="t"/>
            <a:lstStyle/>
            <a:p>
              <a:pPr marL="0" indent="0">
                <a:buNone/>
                <a:defRPr>
                  <a:latin typeface="Ubuntu"/>
                  <a:ea typeface="Ubuntu"/>
                  <a:cs typeface="Ubuntu"/>
                </a:defRPr>
              </a:pPr>
              <a:r>
                <a:rPr lang="en-US" sz="1600" dirty="0">
                  <a:solidFill>
                    <a:schemeClr val="tx1"/>
                  </a:solidFill>
                  <a:latin typeface="Ubuntu"/>
                  <a:ea typeface="Ubuntu"/>
                  <a:cs typeface="Ubuntu"/>
                </a:rPr>
                <a:t>Instructions or commands used by the control algorithm to generate an action by the spacecraft or rocket. The action is carried out by actuators.</a:t>
              </a:r>
              <a:endParaRPr lang="en-US" sz="1600" dirty="0"/>
            </a:p>
          </p:txBody>
        </p:sp>
        <p:sp>
          <p:nvSpPr>
            <p:cNvPr id="8" name="Output card"/>
            <p:cNvSpPr/>
            <p:nvPr/>
          </p:nvSpPr>
          <p:spPr>
            <a:xfrm>
              <a:off x="3940013" y="1851660"/>
              <a:ext cx="3520440" cy="3017520"/>
            </a:xfrm>
            <a:prstGeom prst="roundRect">
              <a:avLst>
                <a:gd name="adj" fmla="val 3636"/>
              </a:avLst>
            </a:prstGeom>
            <a:solidFill>
              <a:schemeClr val="bg2"/>
            </a:solidFill>
            <a:ln/>
          </p:spPr>
          <p:txBody>
            <a:bodyPr/>
            <a:lstStyle/>
            <a:p>
              <a:pPr>
                <a:defRPr>
                  <a:latin typeface="Ubuntu"/>
                  <a:ea typeface="Ubuntu"/>
                  <a:cs typeface="Ubuntu"/>
                </a:defRPr>
              </a:pPr>
              <a:endParaRPr lang="en-US"/>
            </a:p>
          </p:txBody>
        </p:sp>
        <p:sp>
          <p:nvSpPr>
            <p:cNvPr id="9" name="Icon circle Output"/>
            <p:cNvSpPr/>
            <p:nvPr/>
          </p:nvSpPr>
          <p:spPr>
            <a:xfrm>
              <a:off x="4214333" y="2125980"/>
              <a:ext cx="640080" cy="640080"/>
            </a:xfrm>
            <a:prstGeom prst="ellipse">
              <a:avLst/>
            </a:prstGeom>
            <a:solidFill>
              <a:schemeClr val="tx2"/>
            </a:solidFill>
            <a:ln/>
          </p:spPr>
          <p:txBody>
            <a:bodyPr/>
            <a:lstStyle/>
            <a:p>
              <a:pPr>
                <a:defRPr>
                  <a:latin typeface="Ubuntu"/>
                  <a:ea typeface="Ubuntu"/>
                  <a:cs typeface="Ubuntu"/>
                </a:defRPr>
              </a:pPr>
              <a:endParaRPr lang="en-US"/>
            </a:p>
          </p:txBody>
        </p:sp>
        <p:pic>
          <p:nvPicPr>
            <p:cNvPr id="10" name="Image 1" descr="Output"/>
            <p:cNvPicPr>
              <a:picLocks noChangeAspect="1"/>
            </p:cNvPicPr>
            <p:nvPr/>
          </p:nvPicPr>
          <p:blipFill>
            <a:blip r:embed="rId4"/>
            <a:stretch>
              <a:fillRect/>
            </a:stretch>
          </p:blipFill>
          <p:spPr>
            <a:xfrm>
              <a:off x="4374353" y="2286000"/>
              <a:ext cx="320040" cy="320040"/>
            </a:xfrm>
            <a:prstGeom prst="rect">
              <a:avLst/>
            </a:prstGeom>
          </p:spPr>
        </p:pic>
        <p:sp>
          <p:nvSpPr>
            <p:cNvPr id="11" name="Text 7"/>
            <p:cNvSpPr txBox="1"/>
            <p:nvPr/>
          </p:nvSpPr>
          <p:spPr>
            <a:xfrm>
              <a:off x="5037293" y="2125980"/>
              <a:ext cx="2194560" cy="640080"/>
            </a:xfrm>
            <a:prstGeom prst="rect">
              <a:avLst/>
            </a:prstGeom>
            <a:noFill/>
            <a:ln/>
          </p:spPr>
          <p:txBody>
            <a:bodyPr wrap="square" lIns="0" tIns="0" rIns="0" bIns="0" rtlCol="0" anchor="ctr"/>
            <a:lstStyle/>
            <a:p>
              <a:pPr marL="0" indent="0">
                <a:buNone/>
                <a:defRPr>
                  <a:latin typeface="Ubuntu"/>
                  <a:ea typeface="Ubuntu"/>
                  <a:cs typeface="Ubuntu"/>
                </a:defRPr>
              </a:pPr>
              <a:r>
                <a:rPr lang="en-US" sz="2800" b="1" dirty="0">
                  <a:solidFill>
                    <a:schemeClr val="tx2"/>
                  </a:solidFill>
                  <a:latin typeface="Ubuntu"/>
                  <a:ea typeface="Ubuntu"/>
                  <a:cs typeface="Ubuntu"/>
                </a:rPr>
                <a:t>Output</a:t>
              </a:r>
              <a:endParaRPr lang="en-US" sz="2800" dirty="0"/>
            </a:p>
          </p:txBody>
        </p:sp>
        <p:sp>
          <p:nvSpPr>
            <p:cNvPr id="12" name="Text 8"/>
            <p:cNvSpPr txBox="1"/>
            <p:nvPr/>
          </p:nvSpPr>
          <p:spPr>
            <a:xfrm>
              <a:off x="4214333" y="2994660"/>
              <a:ext cx="3017520" cy="1783080"/>
            </a:xfrm>
            <a:prstGeom prst="rect">
              <a:avLst/>
            </a:prstGeom>
            <a:noFill/>
            <a:ln/>
          </p:spPr>
          <p:txBody>
            <a:bodyPr wrap="square" lIns="0" tIns="0" rIns="0" bIns="0" rtlCol="0" anchor="t"/>
            <a:lstStyle/>
            <a:p>
              <a:pPr marL="0" indent="0">
                <a:buNone/>
                <a:defRPr>
                  <a:latin typeface="Ubuntu"/>
                  <a:ea typeface="Ubuntu"/>
                  <a:cs typeface="Ubuntu"/>
                </a:defRPr>
              </a:pPr>
              <a:r>
                <a:rPr lang="en-US" sz="1600" dirty="0">
                  <a:solidFill>
                    <a:schemeClr val="tx1"/>
                  </a:solidFill>
                  <a:latin typeface="Ubuntu"/>
                  <a:ea typeface="Ubuntu"/>
                  <a:cs typeface="Ubuntu"/>
                </a:rPr>
                <a:t>What the system is doing dynamically in response to the input or to other disturbances. It is measured by sensors.</a:t>
              </a:r>
              <a:endParaRPr lang="en-US" sz="1600" dirty="0"/>
            </a:p>
          </p:txBody>
        </p:sp>
        <p:sp>
          <p:nvSpPr>
            <p:cNvPr id="13" name="Feedback card"/>
            <p:cNvSpPr/>
            <p:nvPr/>
          </p:nvSpPr>
          <p:spPr>
            <a:xfrm>
              <a:off x="7711913" y="1851660"/>
              <a:ext cx="3520440" cy="3017520"/>
            </a:xfrm>
            <a:prstGeom prst="roundRect">
              <a:avLst>
                <a:gd name="adj" fmla="val 3636"/>
              </a:avLst>
            </a:prstGeom>
            <a:solidFill>
              <a:schemeClr val="bg2"/>
            </a:solidFill>
            <a:ln/>
          </p:spPr>
          <p:txBody>
            <a:bodyPr/>
            <a:lstStyle/>
            <a:p>
              <a:pPr>
                <a:defRPr>
                  <a:latin typeface="Ubuntu"/>
                  <a:ea typeface="Ubuntu"/>
                  <a:cs typeface="Ubuntu"/>
                </a:defRPr>
              </a:pPr>
              <a:endParaRPr lang="en-US"/>
            </a:p>
          </p:txBody>
        </p:sp>
        <p:sp>
          <p:nvSpPr>
            <p:cNvPr id="14" name="Icon circle Feedback"/>
            <p:cNvSpPr/>
            <p:nvPr/>
          </p:nvSpPr>
          <p:spPr>
            <a:xfrm>
              <a:off x="7986233" y="2125980"/>
              <a:ext cx="640080" cy="640080"/>
            </a:xfrm>
            <a:prstGeom prst="ellipse">
              <a:avLst/>
            </a:prstGeom>
            <a:solidFill>
              <a:schemeClr val="tx2"/>
            </a:solidFill>
            <a:ln/>
          </p:spPr>
          <p:txBody>
            <a:bodyPr/>
            <a:lstStyle/>
            <a:p>
              <a:pPr>
                <a:defRPr>
                  <a:latin typeface="Ubuntu"/>
                  <a:ea typeface="Ubuntu"/>
                  <a:cs typeface="Ubuntu"/>
                </a:defRPr>
              </a:pPr>
              <a:endParaRPr lang="en-US"/>
            </a:p>
          </p:txBody>
        </p:sp>
        <p:pic>
          <p:nvPicPr>
            <p:cNvPr id="15" name="Image 2" descr="Feedback"/>
            <p:cNvPicPr>
              <a:picLocks noChangeAspect="1"/>
            </p:cNvPicPr>
            <p:nvPr/>
          </p:nvPicPr>
          <p:blipFill>
            <a:blip r:embed="rId5"/>
            <a:stretch>
              <a:fillRect/>
            </a:stretch>
          </p:blipFill>
          <p:spPr>
            <a:xfrm>
              <a:off x="8146253" y="2286000"/>
              <a:ext cx="320040" cy="320040"/>
            </a:xfrm>
            <a:prstGeom prst="rect">
              <a:avLst/>
            </a:prstGeom>
          </p:spPr>
        </p:pic>
        <p:sp>
          <p:nvSpPr>
            <p:cNvPr id="16" name="Text 11"/>
            <p:cNvSpPr txBox="1"/>
            <p:nvPr/>
          </p:nvSpPr>
          <p:spPr>
            <a:xfrm>
              <a:off x="8809193" y="2125980"/>
              <a:ext cx="2194560" cy="640080"/>
            </a:xfrm>
            <a:prstGeom prst="rect">
              <a:avLst/>
            </a:prstGeom>
            <a:noFill/>
            <a:ln/>
          </p:spPr>
          <p:txBody>
            <a:bodyPr wrap="square" lIns="0" tIns="0" rIns="0" bIns="0" rtlCol="0" anchor="ctr"/>
            <a:lstStyle/>
            <a:p>
              <a:pPr marL="0" indent="0">
                <a:buNone/>
                <a:defRPr>
                  <a:latin typeface="Ubuntu"/>
                  <a:ea typeface="Ubuntu"/>
                  <a:cs typeface="Ubuntu"/>
                </a:defRPr>
              </a:pPr>
              <a:r>
                <a:rPr lang="en-US" sz="2800" b="1" dirty="0">
                  <a:solidFill>
                    <a:schemeClr val="tx2"/>
                  </a:solidFill>
                  <a:latin typeface="Ubuntu"/>
                  <a:ea typeface="Ubuntu"/>
                  <a:cs typeface="Ubuntu"/>
                </a:rPr>
                <a:t>Feedback</a:t>
              </a:r>
              <a:endParaRPr lang="en-US" sz="2800" dirty="0"/>
            </a:p>
          </p:txBody>
        </p:sp>
        <p:sp>
          <p:nvSpPr>
            <p:cNvPr id="17" name="Text 12"/>
            <p:cNvSpPr txBox="1"/>
            <p:nvPr/>
          </p:nvSpPr>
          <p:spPr>
            <a:xfrm>
              <a:off x="7986233" y="2994660"/>
              <a:ext cx="3017520" cy="1783080"/>
            </a:xfrm>
            <a:prstGeom prst="rect">
              <a:avLst/>
            </a:prstGeom>
            <a:noFill/>
            <a:ln/>
          </p:spPr>
          <p:txBody>
            <a:bodyPr wrap="square" lIns="0" tIns="0" rIns="0" bIns="0" rtlCol="0" anchor="t"/>
            <a:lstStyle/>
            <a:p>
              <a:pPr marL="0" indent="0">
                <a:buNone/>
                <a:defRPr>
                  <a:latin typeface="Ubuntu"/>
                  <a:ea typeface="Ubuntu"/>
                  <a:cs typeface="Ubuntu"/>
                </a:defRPr>
              </a:pPr>
              <a:r>
                <a:rPr lang="en-US" sz="1600" dirty="0">
                  <a:solidFill>
                    <a:schemeClr val="tx1"/>
                  </a:solidFill>
                  <a:latin typeface="Ubuntu"/>
                  <a:ea typeface="Ubuntu"/>
                  <a:cs typeface="Ubuntu"/>
                </a:rPr>
                <a:t>Information obtained from the sensors and used by the controller to generate actuator commands (the control signal).</a:t>
              </a:r>
              <a:endParaRPr lang="en-US" sz="1600" dirty="0"/>
            </a:p>
          </p:txBody>
        </p:sp>
      </p:grpSp>
      <p:sp>
        <p:nvSpPr>
          <p:cNvPr id="24" name="Slide Number Placeholder 7">
            <a:extLst>
              <a:ext uri="{FF2B5EF4-FFF2-40B4-BE49-F238E27FC236}">
                <a16:creationId xmlns:a16="http://schemas.microsoft.com/office/drawing/2014/main" id="{8DD0C9AF-E26F-FB37-E3A1-F0CB33290DB2}"/>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9</a:t>
            </a:fld>
            <a:endParaRPr lang="en-US" sz="4800" b="1" dirty="0">
              <a:solidFill>
                <a:srgbClr val="FF0000"/>
              </a:solidFill>
            </a:endParaRPr>
          </a:p>
        </p:txBody>
      </p:sp>
      <p:pic>
        <p:nvPicPr>
          <p:cNvPr id="25" name="Space Faculty logo" descr="sf_logo.png"/>
          <p:cNvPicPr>
            <a:picLocks noChangeAspect="1"/>
          </p:cNvPicPr>
          <p:nvPr/>
        </p:nvPicPr>
        <p:blipFill>
          <a:blip r:embed="rId6"/>
          <a:stretch>
            <a:fillRect/>
          </a:stretch>
        </p:blipFill>
        <p:spPr>
          <a:xfrm>
            <a:off x="10471916" y="54863"/>
            <a:ext cx="1607307" cy="4567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EC2CF2-A891-6CFA-0ADC-99DDF3D9955C}"/>
              </a:ext>
            </a:extLst>
          </p:cNvPr>
          <p:cNvSpPr>
            <a:spLocks noGrp="1"/>
          </p:cNvSpPr>
          <p:nvPr>
            <p:ph type="title"/>
          </p:nvPr>
        </p:nvSpPr>
        <p:spPr>
          <a:xfrm>
            <a:off x="457199" y="274638"/>
            <a:ext cx="9923253" cy="1143000"/>
          </a:xfrm>
        </p:spPr>
        <p:txBody>
          <a:bodyPr>
            <a:noAutofit/>
          </a:bodyPr>
          <a:lstStyle/>
          <a:p>
            <a:pPr>
              <a:defRPr>
                <a:latin typeface="House Movements Runway"/>
                <a:ea typeface="House Movements Runway"/>
                <a:cs typeface="House Movements Runway"/>
              </a:defRPr>
            </a:pPr>
            <a:r>
              <a:rPr lang="en-US" sz="4800" b="1" dirty="0">
                <a:latin typeface="House Movements Runway"/>
                <a:ea typeface="House Movements Runway"/>
                <a:cs typeface="House Movements Runway"/>
              </a:rPr>
              <a:t>Sensors (Attitude Determination)</a:t>
            </a:r>
            <a:br>
              <a:rPr lang="en-US" sz="4800" b="1" dirty="0"/>
            </a:br>
            <a:endParaRPr lang="en-US" sz="4800" dirty="0"/>
          </a:p>
        </p:txBody>
      </p:sp>
      <p:sp>
        <p:nvSpPr>
          <p:cNvPr id="2" name="Text Placeholder 1">
            <a:extLst>
              <a:ext uri="{FF2B5EF4-FFF2-40B4-BE49-F238E27FC236}">
                <a16:creationId xmlns:a16="http://schemas.microsoft.com/office/drawing/2014/main" id="{FFB4CA02-CC10-DC3B-FFC7-222DE09254DF}"/>
              </a:ext>
            </a:extLst>
          </p:cNvPr>
          <p:cNvSpPr>
            <a:spLocks noGrp="1"/>
          </p:cNvSpPr>
          <p:nvPr>
            <p:ph idx="1"/>
          </p:nvPr>
        </p:nvSpPr>
        <p:spPr>
          <a:xfrm>
            <a:off x="122109" y="1190237"/>
            <a:ext cx="11277602" cy="5514562"/>
          </a:xfrm>
        </p:spPr>
        <p:txBody>
          <a:bodyPr>
            <a:noAutofit/>
          </a:bodyPr>
          <a:lstStyle/>
          <a:p>
            <a:pPr>
              <a:buFont typeface="Wingdings" panose="05000000000000000000" pitchFamily="2" charset="2"/>
              <a:buChar char="q"/>
              <a:defRPr>
                <a:latin typeface="Space Mono"/>
                <a:ea typeface="Space Mono"/>
                <a:cs typeface="Space Mono"/>
              </a:defRPr>
            </a:pPr>
            <a:r>
              <a:rPr lang="en-US" sz="2400" dirty="0">
                <a:latin typeface="Space Mono"/>
                <a:ea typeface="Space Mono"/>
                <a:cs typeface="Space Mono"/>
              </a:rPr>
              <a:t>These provide information about the spacecraft’s orientation and angular velocity.</a:t>
            </a:r>
          </a:p>
          <a:p>
            <a:pPr lvl="1">
              <a:buFont typeface="Wingdings" panose="05000000000000000000" pitchFamily="2" charset="2"/>
              <a:buChar char="q"/>
              <a:defRPr>
                <a:latin typeface="Space Mono"/>
                <a:ea typeface="Space Mono"/>
                <a:cs typeface="Space Mono"/>
              </a:defRPr>
            </a:pPr>
            <a:r>
              <a:rPr lang="en-US" sz="2400" b="1" dirty="0">
                <a:latin typeface="Space Mono"/>
                <a:ea typeface="Space Mono"/>
                <a:cs typeface="Space Mono"/>
              </a:rPr>
              <a:t>Sun sensors</a:t>
            </a:r>
            <a:r>
              <a:rPr lang="en-US" sz="2400" dirty="0">
                <a:latin typeface="Space Mono"/>
                <a:ea typeface="Space Mono"/>
                <a:cs typeface="Space Mono"/>
              </a:rPr>
              <a:t> → detect Sun direction for coarse orientation.</a:t>
            </a:r>
          </a:p>
          <a:p>
            <a:pPr lvl="1">
              <a:buFont typeface="Wingdings" panose="05000000000000000000" pitchFamily="2" charset="2"/>
              <a:buChar char="q"/>
              <a:defRPr>
                <a:latin typeface="Space Mono"/>
                <a:ea typeface="Space Mono"/>
                <a:cs typeface="Space Mono"/>
              </a:defRPr>
            </a:pPr>
            <a:r>
              <a:rPr lang="en-US" sz="2400" b="1" dirty="0">
                <a:latin typeface="Space Mono"/>
                <a:ea typeface="Space Mono"/>
                <a:cs typeface="Space Mono"/>
              </a:rPr>
              <a:t>Earth sensors (horizon sensors/infrared sensors)</a:t>
            </a:r>
            <a:r>
              <a:rPr lang="en-US" sz="2400" dirty="0">
                <a:latin typeface="Space Mono"/>
                <a:ea typeface="Space Mono"/>
                <a:cs typeface="Space Mono"/>
              </a:rPr>
              <a:t> → measure Earth’s horizon to point nadir or in the direction of the earth</a:t>
            </a:r>
          </a:p>
          <a:p>
            <a:pPr lvl="1">
              <a:buFont typeface="Wingdings" panose="05000000000000000000" pitchFamily="2" charset="2"/>
              <a:buChar char="q"/>
              <a:defRPr>
                <a:latin typeface="Space Mono"/>
                <a:ea typeface="Space Mono"/>
                <a:cs typeface="Space Mono"/>
              </a:defRPr>
            </a:pPr>
            <a:r>
              <a:rPr lang="en-US" sz="2400" b="1" dirty="0">
                <a:latin typeface="Space Mono"/>
                <a:ea typeface="Space Mono"/>
                <a:cs typeface="Space Mono"/>
              </a:rPr>
              <a:t>Star trackers</a:t>
            </a:r>
            <a:r>
              <a:rPr lang="en-US" sz="2400" dirty="0">
                <a:latin typeface="Space Mono"/>
                <a:ea typeface="Space Mono"/>
                <a:cs typeface="Space Mono"/>
              </a:rPr>
              <a:t> → very precise attitude determination by comparing star fields with onboard catalogues.</a:t>
            </a:r>
          </a:p>
          <a:p>
            <a:pPr lvl="1">
              <a:buFont typeface="Wingdings" panose="05000000000000000000" pitchFamily="2" charset="2"/>
              <a:buChar char="q"/>
              <a:defRPr>
                <a:latin typeface="Space Mono"/>
                <a:ea typeface="Space Mono"/>
                <a:cs typeface="Space Mono"/>
              </a:defRPr>
            </a:pPr>
            <a:r>
              <a:rPr lang="en-US" sz="2400" b="1" dirty="0">
                <a:latin typeface="Space Mono"/>
                <a:ea typeface="Space Mono"/>
                <a:cs typeface="Space Mono"/>
              </a:rPr>
              <a:t>Magnetometers</a:t>
            </a:r>
            <a:r>
              <a:rPr lang="en-US" sz="2400" dirty="0">
                <a:latin typeface="Space Mono"/>
                <a:ea typeface="Space Mono"/>
                <a:cs typeface="Space Mono"/>
              </a:rPr>
              <a:t> → measure Earth’s magnetic field direction for coarse attitude reference.</a:t>
            </a:r>
          </a:p>
          <a:p>
            <a:pPr lvl="1">
              <a:buFont typeface="Wingdings" panose="05000000000000000000" pitchFamily="2" charset="2"/>
              <a:buChar char="q"/>
              <a:defRPr>
                <a:latin typeface="Space Mono"/>
                <a:ea typeface="Space Mono"/>
                <a:cs typeface="Space Mono"/>
              </a:defRPr>
            </a:pPr>
            <a:r>
              <a:rPr lang="en-US" sz="2400" b="1" dirty="0">
                <a:latin typeface="Space Mono"/>
                <a:ea typeface="Space Mono"/>
                <a:cs typeface="Space Mono"/>
              </a:rPr>
              <a:t>Gyroscopes/Inertial Measurement Units (IMUs)</a:t>
            </a:r>
            <a:r>
              <a:rPr lang="en-US" sz="2400" dirty="0">
                <a:latin typeface="Space Mono"/>
                <a:ea typeface="Space Mono"/>
                <a:cs typeface="Space Mono"/>
              </a:rPr>
              <a:t> → measure angular velocity and short-term orientation changes.</a:t>
            </a:r>
          </a:p>
          <a:p>
            <a:pPr marL="457200" lvl="1" indent="0">
              <a:buNone/>
              <a:defRPr>
                <a:latin typeface="Space Mono"/>
                <a:ea typeface="Space Mono"/>
                <a:cs typeface="Space Mono"/>
              </a:defRPr>
            </a:pPr>
            <a:endParaRPr lang="en-US" sz="2400" dirty="0"/>
          </a:p>
        </p:txBody>
      </p:sp>
      <p:sp>
        <p:nvSpPr>
          <p:cNvPr id="4" name="Slide Number Placeholder 7">
            <a:extLst>
              <a:ext uri="{FF2B5EF4-FFF2-40B4-BE49-F238E27FC236}">
                <a16:creationId xmlns:a16="http://schemas.microsoft.com/office/drawing/2014/main" id="{8A6BB153-4D77-1F0B-6AAF-A56C5E283F73}"/>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10</a:t>
            </a:fld>
            <a:endParaRPr lang="en-US" sz="4800" b="1" dirty="0">
              <a:solidFill>
                <a:srgbClr val="FF0000"/>
              </a:solidFill>
            </a:endParaRPr>
          </a:p>
        </p:txBody>
      </p:sp>
      <p:pic>
        <p:nvPicPr>
          <p:cNvPr id="5" name="Space Faculty logo" descr="sf_logo.png"/>
          <p:cNvPicPr>
            <a:picLocks noChangeAspect="1"/>
          </p:cNvPicPr>
          <p:nvPr/>
        </p:nvPicPr>
        <p:blipFill>
          <a:blip r:embed="rId2"/>
          <a:stretch>
            <a:fillRect/>
          </a:stretch>
        </p:blipFill>
        <p:spPr>
          <a:xfrm>
            <a:off x="10318698" y="54863"/>
            <a:ext cx="1760526" cy="500307"/>
          </a:xfrm>
          <a:prstGeom prst="rect">
            <a:avLst/>
          </a:prstGeom>
        </p:spPr>
      </p:pic>
    </p:spTree>
    <p:extLst>
      <p:ext uri="{BB962C8B-B14F-4D97-AF65-F5344CB8AC3E}">
        <p14:creationId xmlns:p14="http://schemas.microsoft.com/office/powerpoint/2010/main" val="1101063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1161288" y="454914"/>
            <a:ext cx="10984687" cy="566928"/>
          </a:xfrm>
          <a:prstGeom prst="rect">
            <a:avLst/>
          </a:prstGeom>
          <a:noFill/>
          <a:ln/>
        </p:spPr>
        <p:txBody>
          <a:bodyPr wrap="square" lIns="0" tIns="0" rIns="0" bIns="0" rtlCol="0" anchor="ctr"/>
          <a:lstStyle/>
          <a:p>
            <a:pPr marL="0" indent="0">
              <a:buNone/>
              <a:defRPr>
                <a:latin typeface="Ubuntu"/>
                <a:ea typeface="Ubuntu"/>
                <a:cs typeface="Ubuntu"/>
              </a:defRPr>
            </a:pPr>
            <a:r>
              <a:rPr lang="en-US" sz="4000" b="1" dirty="0">
                <a:solidFill>
                  <a:srgbClr val="1E2761"/>
                </a:solidFill>
                <a:latin typeface="Ubuntu" pitchFamily="34" charset="0"/>
                <a:ea typeface="Ubuntu" pitchFamily="34" charset="-122"/>
                <a:cs typeface="Ubuntu" pitchFamily="34" charset="-120"/>
              </a:rPr>
              <a:t>Torque, Inertia &amp; Angular Momentum</a:t>
            </a:r>
            <a:endParaRPr lang="en-US" sz="40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2000" dirty="0">
                <a:solidFill>
                  <a:srgbClr val="5F6B8C"/>
                </a:solidFill>
                <a:latin typeface="Ubuntu" pitchFamily="34" charset="0"/>
                <a:ea typeface="Ubuntu" pitchFamily="34" charset="-122"/>
                <a:cs typeface="Ubuntu" pitchFamily="34" charset="-120"/>
              </a:rPr>
              <a:t>To decide how much torque is needed and how to apply it, three physical quantities have to be defined first.</a:t>
            </a:r>
            <a:endParaRPr lang="en-US" sz="2000" dirty="0"/>
          </a:p>
        </p:txBody>
      </p:sp>
      <p:sp>
        <p:nvSpPr>
          <p:cNvPr id="6" name="Shape 4"/>
          <p:cNvSpPr/>
          <p:nvPr/>
        </p:nvSpPr>
        <p:spPr>
          <a:xfrm>
            <a:off x="658368" y="1828800"/>
            <a:ext cx="4572000" cy="1920240"/>
          </a:xfrm>
          <a:prstGeom prst="roundRect">
            <a:avLst>
              <a:gd name="adj" fmla="val 2381"/>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pic>
        <p:nvPicPr>
          <p:cNvPr id="7" name="Image 0" descr="/home/claude/adcs/L8p13-003.jpg"/>
          <p:cNvPicPr>
            <a:picLocks noChangeAspect="1"/>
          </p:cNvPicPr>
          <p:nvPr/>
        </p:nvPicPr>
        <p:blipFill>
          <a:blip r:embed="rId3"/>
          <a:stretch>
            <a:fillRect/>
          </a:stretch>
        </p:blipFill>
        <p:spPr>
          <a:xfrm>
            <a:off x="1810245" y="1901952"/>
            <a:ext cx="2268246" cy="1773936"/>
          </a:xfrm>
          <a:prstGeom prst="rect">
            <a:avLst/>
          </a:prstGeom>
        </p:spPr>
      </p:pic>
      <p:sp>
        <p:nvSpPr>
          <p:cNvPr id="8" name="Text 5"/>
          <p:cNvSpPr txBox="1"/>
          <p:nvPr/>
        </p:nvSpPr>
        <p:spPr>
          <a:xfrm>
            <a:off x="658368" y="3785616"/>
            <a:ext cx="4572000" cy="29260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050" i="1" dirty="0">
                <a:solidFill>
                  <a:srgbClr val="5F6B8C"/>
                </a:solidFill>
                <a:latin typeface="Ubuntu" pitchFamily="34" charset="0"/>
                <a:ea typeface="Ubuntu" pitchFamily="34" charset="-122"/>
                <a:cs typeface="Ubuntu" pitchFamily="34" charset="-120"/>
              </a:rPr>
              <a:t>Torque is a force applied at a distance</a:t>
            </a:r>
            <a:endParaRPr lang="en-US" sz="1050" dirty="0"/>
          </a:p>
        </p:txBody>
      </p:sp>
      <p:sp>
        <p:nvSpPr>
          <p:cNvPr id="9" name="Shape 6"/>
          <p:cNvSpPr/>
          <p:nvPr/>
        </p:nvSpPr>
        <p:spPr>
          <a:xfrm>
            <a:off x="658368" y="4133088"/>
            <a:ext cx="4572000" cy="1828800"/>
          </a:xfrm>
          <a:prstGeom prst="roundRect">
            <a:avLst>
              <a:gd name="adj" fmla="val 2500"/>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pic>
        <p:nvPicPr>
          <p:cNvPr id="10" name="Image 1" descr="/home/claude/adcs/L8p16-003.jpg"/>
          <p:cNvPicPr>
            <a:picLocks noChangeAspect="1"/>
          </p:cNvPicPr>
          <p:nvPr/>
        </p:nvPicPr>
        <p:blipFill>
          <a:blip r:embed="rId4"/>
          <a:stretch>
            <a:fillRect/>
          </a:stretch>
        </p:blipFill>
        <p:spPr>
          <a:xfrm>
            <a:off x="1559598" y="4206240"/>
            <a:ext cx="2769541" cy="1682496"/>
          </a:xfrm>
          <a:prstGeom prst="rect">
            <a:avLst/>
          </a:prstGeom>
        </p:spPr>
      </p:pic>
      <p:sp>
        <p:nvSpPr>
          <p:cNvPr id="11" name="Text 7"/>
          <p:cNvSpPr txBox="1"/>
          <p:nvPr/>
        </p:nvSpPr>
        <p:spPr>
          <a:xfrm>
            <a:off x="658368" y="5943600"/>
            <a:ext cx="4572000" cy="29260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050" i="1" dirty="0">
                <a:solidFill>
                  <a:srgbClr val="5F6B8C"/>
                </a:solidFill>
                <a:latin typeface="Ubuntu" pitchFamily="34" charset="0"/>
                <a:ea typeface="Ubuntu" pitchFamily="34" charset="-122"/>
                <a:cs typeface="Ubuntu" pitchFamily="34" charset="-120"/>
              </a:rPr>
              <a:t>Angular momentum is conserved when no external torque acts</a:t>
            </a:r>
            <a:endParaRPr lang="en-US" sz="1050" dirty="0"/>
          </a:p>
        </p:txBody>
      </p:sp>
      <p:sp>
        <p:nvSpPr>
          <p:cNvPr id="12" name="Shape 8"/>
          <p:cNvSpPr/>
          <p:nvPr/>
        </p:nvSpPr>
        <p:spPr>
          <a:xfrm>
            <a:off x="5623560" y="1847088"/>
            <a:ext cx="5897880" cy="1225296"/>
          </a:xfrm>
          <a:prstGeom prst="roundRect">
            <a:avLst>
              <a:gd name="adj" fmla="val 3731"/>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3" name="Shape 9"/>
          <p:cNvSpPr/>
          <p:nvPr/>
        </p:nvSpPr>
        <p:spPr>
          <a:xfrm>
            <a:off x="5623560" y="1847088"/>
            <a:ext cx="50292" cy="1225296"/>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4" name="Text 10"/>
          <p:cNvSpPr txBox="1"/>
          <p:nvPr/>
        </p:nvSpPr>
        <p:spPr>
          <a:xfrm>
            <a:off x="5879592" y="1993392"/>
            <a:ext cx="53949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650" b="1" dirty="0">
                <a:solidFill>
                  <a:srgbClr val="1E2761"/>
                </a:solidFill>
                <a:latin typeface="Ubuntu" pitchFamily="34" charset="0"/>
                <a:ea typeface="Ubuntu" pitchFamily="34" charset="-122"/>
                <a:cs typeface="Ubuntu" pitchFamily="34" charset="-120"/>
              </a:rPr>
              <a:t>Torque</a:t>
            </a:r>
            <a:endParaRPr lang="en-US" sz="1650" dirty="0"/>
          </a:p>
        </p:txBody>
      </p:sp>
      <p:sp>
        <p:nvSpPr>
          <p:cNvPr id="15" name="Text 11"/>
          <p:cNvSpPr txBox="1"/>
          <p:nvPr/>
        </p:nvSpPr>
        <p:spPr>
          <a:xfrm>
            <a:off x="5879592" y="2322576"/>
            <a:ext cx="5394960" cy="676656"/>
          </a:xfrm>
          <a:prstGeom prst="rect">
            <a:avLst/>
          </a:prstGeom>
          <a:noFill/>
          <a:ln/>
        </p:spPr>
        <p:txBody>
          <a:bodyPr wrap="square" lIns="0" tIns="0" rIns="0" bIns="0" rtlCol="0" anchor="ctr"/>
          <a:lstStyle/>
          <a:p>
            <a:pPr marL="0" indent="0">
              <a:lnSpc>
                <a:spcPct val="120000"/>
              </a:lnSpc>
              <a:buNone/>
              <a:defRPr>
                <a:latin typeface="Ubuntu"/>
                <a:ea typeface="Ubuntu"/>
                <a:cs typeface="Ubuntu"/>
              </a:defRPr>
            </a:pPr>
            <a:r>
              <a:rPr lang="en-US" sz="1250" dirty="0">
                <a:solidFill>
                  <a:srgbClr val="3C4657"/>
                </a:solidFill>
                <a:latin typeface="Ubuntu" pitchFamily="34" charset="0"/>
                <a:ea typeface="Ubuntu" pitchFamily="34" charset="-122"/>
                <a:cs typeface="Ubuntu" pitchFamily="34" charset="-120"/>
              </a:rPr>
              <a:t>Torque is a force applied at a distance about a point. Torque is creating a rotation and not a linear movement.</a:t>
            </a:r>
            <a:endParaRPr lang="en-US" sz="1250" dirty="0"/>
          </a:p>
        </p:txBody>
      </p:sp>
      <p:sp>
        <p:nvSpPr>
          <p:cNvPr id="16" name="Shape 12"/>
          <p:cNvSpPr/>
          <p:nvPr/>
        </p:nvSpPr>
        <p:spPr>
          <a:xfrm>
            <a:off x="5623560" y="3218688"/>
            <a:ext cx="5897880" cy="1225296"/>
          </a:xfrm>
          <a:prstGeom prst="roundRect">
            <a:avLst>
              <a:gd name="adj" fmla="val 3731"/>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7" name="Shape 13"/>
          <p:cNvSpPr/>
          <p:nvPr/>
        </p:nvSpPr>
        <p:spPr>
          <a:xfrm>
            <a:off x="5623560" y="3218688"/>
            <a:ext cx="50292" cy="1225296"/>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8" name="Text 14"/>
          <p:cNvSpPr txBox="1"/>
          <p:nvPr/>
        </p:nvSpPr>
        <p:spPr>
          <a:xfrm>
            <a:off x="5879592" y="3364992"/>
            <a:ext cx="53949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650" b="1" dirty="0">
                <a:solidFill>
                  <a:srgbClr val="1E2761"/>
                </a:solidFill>
                <a:latin typeface="Ubuntu" pitchFamily="34" charset="0"/>
                <a:ea typeface="Ubuntu" pitchFamily="34" charset="-122"/>
                <a:cs typeface="Ubuntu" pitchFamily="34" charset="-120"/>
              </a:rPr>
              <a:t>Moment of inertia</a:t>
            </a:r>
            <a:endParaRPr lang="en-US" sz="1650" dirty="0"/>
          </a:p>
        </p:txBody>
      </p:sp>
      <p:sp>
        <p:nvSpPr>
          <p:cNvPr id="19" name="Text 15"/>
          <p:cNvSpPr txBox="1"/>
          <p:nvPr/>
        </p:nvSpPr>
        <p:spPr>
          <a:xfrm>
            <a:off x="5879592" y="3694176"/>
            <a:ext cx="5394960" cy="676656"/>
          </a:xfrm>
          <a:prstGeom prst="rect">
            <a:avLst/>
          </a:prstGeom>
          <a:noFill/>
          <a:ln/>
        </p:spPr>
        <p:txBody>
          <a:bodyPr wrap="square" lIns="0" tIns="0" rIns="0" bIns="0" rtlCol="0" anchor="ctr"/>
          <a:lstStyle/>
          <a:p>
            <a:pPr marL="0" indent="0">
              <a:lnSpc>
                <a:spcPct val="120000"/>
              </a:lnSpc>
              <a:buNone/>
              <a:defRPr>
                <a:latin typeface="Ubuntu"/>
                <a:ea typeface="Ubuntu"/>
                <a:cs typeface="Ubuntu"/>
              </a:defRPr>
            </a:pPr>
            <a:r>
              <a:rPr lang="en-US" sz="1250" dirty="0">
                <a:solidFill>
                  <a:srgbClr val="3C4657"/>
                </a:solidFill>
                <a:latin typeface="Ubuntu" pitchFamily="34" charset="0"/>
                <a:ea typeface="Ubuntu" pitchFamily="34" charset="-122"/>
                <a:cs typeface="Ubuntu" pitchFamily="34" charset="-120"/>
              </a:rPr>
              <a:t>A body is harder to turn if it has a higher moment of inertia. The moment of inertia is bigger if the mass is further away from the centre of rotation.</a:t>
            </a:r>
            <a:endParaRPr lang="en-US" sz="1250" dirty="0"/>
          </a:p>
        </p:txBody>
      </p:sp>
      <p:sp>
        <p:nvSpPr>
          <p:cNvPr id="20" name="Shape 16"/>
          <p:cNvSpPr/>
          <p:nvPr/>
        </p:nvSpPr>
        <p:spPr>
          <a:xfrm>
            <a:off x="5623560" y="4590288"/>
            <a:ext cx="5897880" cy="1225296"/>
          </a:xfrm>
          <a:prstGeom prst="roundRect">
            <a:avLst>
              <a:gd name="adj" fmla="val 3731"/>
            </a:avLst>
          </a:prstGeom>
          <a:solidFill>
            <a:srgbClr val="FBEDE7"/>
          </a:solidFill>
          <a:ln w="12700">
            <a:solidFill>
              <a:srgbClr val="FBEDE7"/>
            </a:solidFill>
            <a:prstDash val="solid"/>
          </a:ln>
        </p:spPr>
        <p:txBody>
          <a:bodyPr/>
          <a:lstStyle/>
          <a:p>
            <a:pPr>
              <a:defRPr>
                <a:latin typeface="Ubuntu"/>
                <a:ea typeface="Ubuntu"/>
                <a:cs typeface="Ubuntu"/>
              </a:defRPr>
            </a:pPr>
            <a:endParaRPr lang="en-US"/>
          </a:p>
        </p:txBody>
      </p:sp>
      <p:sp>
        <p:nvSpPr>
          <p:cNvPr id="21" name="Shape 17"/>
          <p:cNvSpPr/>
          <p:nvPr/>
        </p:nvSpPr>
        <p:spPr>
          <a:xfrm>
            <a:off x="5623560" y="4590288"/>
            <a:ext cx="50292" cy="1225296"/>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22" name="Text 18"/>
          <p:cNvSpPr txBox="1"/>
          <p:nvPr/>
        </p:nvSpPr>
        <p:spPr>
          <a:xfrm>
            <a:off x="5879592" y="4736592"/>
            <a:ext cx="53949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650" b="1" dirty="0">
                <a:solidFill>
                  <a:srgbClr val="1E2761"/>
                </a:solidFill>
                <a:latin typeface="Ubuntu" pitchFamily="34" charset="0"/>
                <a:ea typeface="Ubuntu" pitchFamily="34" charset="-122"/>
                <a:cs typeface="Ubuntu" pitchFamily="34" charset="-120"/>
              </a:rPr>
              <a:t>Angular momentum</a:t>
            </a:r>
            <a:endParaRPr lang="en-US" sz="1650" dirty="0"/>
          </a:p>
        </p:txBody>
      </p:sp>
      <p:sp>
        <p:nvSpPr>
          <p:cNvPr id="23" name="Text 19"/>
          <p:cNvSpPr txBox="1"/>
          <p:nvPr/>
        </p:nvSpPr>
        <p:spPr>
          <a:xfrm>
            <a:off x="5879592" y="5065776"/>
            <a:ext cx="5394960" cy="676656"/>
          </a:xfrm>
          <a:prstGeom prst="rect">
            <a:avLst/>
          </a:prstGeom>
          <a:noFill/>
          <a:ln/>
        </p:spPr>
        <p:txBody>
          <a:bodyPr wrap="square" lIns="0" tIns="0" rIns="0" bIns="0" rtlCol="0" anchor="ctr"/>
          <a:lstStyle/>
          <a:p>
            <a:pPr marL="0" indent="0">
              <a:lnSpc>
                <a:spcPct val="120000"/>
              </a:lnSpc>
              <a:buNone/>
              <a:defRPr>
                <a:latin typeface="Ubuntu"/>
                <a:ea typeface="Ubuntu"/>
                <a:cs typeface="Ubuntu"/>
              </a:defRPr>
            </a:pPr>
            <a:r>
              <a:rPr lang="en-US" sz="1250" dirty="0">
                <a:solidFill>
                  <a:srgbClr val="3C4657"/>
                </a:solidFill>
                <a:latin typeface="Ubuntu" pitchFamily="34" charset="0"/>
                <a:ea typeface="Ubuntu" pitchFamily="34" charset="-122"/>
                <a:cs typeface="Ubuntu" pitchFamily="34" charset="-120"/>
              </a:rPr>
              <a:t>The product between inertia and angular velocity. The rate of change of angular momentum of a body is equal to the torque applied to it, and angular momentum is conserved if there is no external torque.</a:t>
            </a:r>
            <a:endParaRPr lang="en-US" sz="1250" dirty="0"/>
          </a:p>
        </p:txBody>
      </p:sp>
      <p:sp>
        <p:nvSpPr>
          <p:cNvPr id="24" name="Text 20"/>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Pointing and Attitude Control</a:t>
            </a:r>
            <a:endParaRPr lang="en-US" sz="950" dirty="0"/>
          </a:p>
        </p:txBody>
      </p:sp>
      <p:sp>
        <p:nvSpPr>
          <p:cNvPr id="25" name="Text 21"/>
          <p:cNvSpPr txBox="1"/>
          <p:nvPr/>
        </p:nvSpPr>
        <p:spPr>
          <a:xfrm>
            <a:off x="11185855" y="6382512"/>
            <a:ext cx="457200" cy="256032"/>
          </a:xfrm>
          <a:prstGeom prst="rect">
            <a:avLst/>
          </a:prstGeom>
          <a:noFill/>
          <a:ln/>
        </p:spPr>
        <p:txBody>
          <a:bodyPr wrap="square" lIns="0" tIns="0" rIns="0" bIns="0" rtlCol="0" anchor="ctr"/>
          <a:lstStyle/>
          <a:p>
            <a:pPr marL="0" indent="0" algn="r">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5</a:t>
            </a:r>
            <a:endParaRPr lang="en-US" sz="950" dirty="0"/>
          </a:p>
        </p:txBody>
      </p:sp>
      <p:sp>
        <p:nvSpPr>
          <p:cNvPr id="27" name="Slide Number Placeholder 7">
            <a:extLst>
              <a:ext uri="{FF2B5EF4-FFF2-40B4-BE49-F238E27FC236}">
                <a16:creationId xmlns:a16="http://schemas.microsoft.com/office/drawing/2014/main" id="{E8060F27-2527-47C2-9680-40D4B922A225}"/>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11</a:t>
            </a:fld>
            <a:endParaRPr lang="en-US" sz="4800" b="1" dirty="0">
              <a:solidFill>
                <a:srgbClr val="FF0000"/>
              </a:solidFill>
            </a:endParaRPr>
          </a:p>
        </p:txBody>
      </p:sp>
      <p:pic>
        <p:nvPicPr>
          <p:cNvPr id="28" name="Space Faculty logo" descr="sf_logo.png"/>
          <p:cNvPicPr>
            <a:picLocks noChangeAspect="1"/>
          </p:cNvPicPr>
          <p:nvPr/>
        </p:nvPicPr>
        <p:blipFill>
          <a:blip r:embed="rId5"/>
          <a:stretch>
            <a:fillRect/>
          </a:stretch>
        </p:blipFill>
        <p:spPr>
          <a:xfrm>
            <a:off x="10395306" y="54864"/>
            <a:ext cx="1683917" cy="4785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D865CC-3D24-DD76-C213-C068C2C7D0AC}"/>
              </a:ext>
            </a:extLst>
          </p:cNvPr>
          <p:cNvSpPr>
            <a:spLocks noGrp="1"/>
          </p:cNvSpPr>
          <p:nvPr>
            <p:ph type="body" idx="1"/>
          </p:nvPr>
        </p:nvSpPr>
        <p:spPr>
          <a:xfrm>
            <a:off x="152400" y="1371600"/>
            <a:ext cx="11658600" cy="5486400"/>
          </a:xfrm>
        </p:spPr>
        <p:txBody>
          <a:bodyPr>
            <a:normAutofit/>
          </a:bodyPr>
          <a:lstStyle/>
          <a:p>
            <a:pPr>
              <a:buFont typeface="Wingdings" panose="05000000000000000000" pitchFamily="2" charset="2"/>
              <a:buChar char="q"/>
              <a:defRPr>
                <a:latin typeface="Ubuntu"/>
                <a:ea typeface="Ubuntu"/>
                <a:cs typeface="Ubuntu"/>
              </a:defRPr>
            </a:pPr>
            <a:r>
              <a:rPr lang="en-US" sz="2300" b="1" dirty="0">
                <a:latin typeface="Ubuntu"/>
                <a:ea typeface="Ubuntu"/>
                <a:cs typeface="Ubuntu"/>
              </a:rPr>
              <a:t>Function:</a:t>
            </a:r>
            <a:r>
              <a:rPr lang="en-US" sz="2300" dirty="0">
                <a:latin typeface="Ubuntu"/>
                <a:ea typeface="Ubuntu"/>
                <a:cs typeface="Ubuntu"/>
              </a:rPr>
              <a:t> Generate forces/torques to orient or stabilize the satellite.</a:t>
            </a:r>
          </a:p>
          <a:p>
            <a:pPr>
              <a:buFont typeface="Wingdings" panose="05000000000000000000" pitchFamily="2" charset="2"/>
              <a:buChar char="q"/>
              <a:defRPr>
                <a:latin typeface="Ubuntu"/>
                <a:ea typeface="Ubuntu"/>
                <a:cs typeface="Ubuntu"/>
              </a:defRPr>
            </a:pPr>
            <a:r>
              <a:rPr lang="en-US" sz="2300" dirty="0">
                <a:latin typeface="Ubuntu"/>
                <a:ea typeface="Ubuntu"/>
                <a:cs typeface="Ubuntu"/>
              </a:rPr>
              <a:t>These actively change or maintain spacecraft orientation.</a:t>
            </a:r>
          </a:p>
          <a:p>
            <a:pPr lvl="1">
              <a:buFont typeface="Wingdings" panose="05000000000000000000" pitchFamily="2" charset="2"/>
              <a:buChar char="q"/>
              <a:defRPr>
                <a:latin typeface="Ubuntu"/>
                <a:ea typeface="Ubuntu"/>
                <a:cs typeface="Ubuntu"/>
              </a:defRPr>
            </a:pPr>
            <a:r>
              <a:rPr lang="en-US" sz="2300" b="1" dirty="0">
                <a:latin typeface="Ubuntu"/>
                <a:ea typeface="Ubuntu"/>
                <a:cs typeface="Ubuntu"/>
              </a:rPr>
              <a:t>Reaction wheels</a:t>
            </a:r>
            <a:r>
              <a:rPr lang="en-US" sz="2300" dirty="0">
                <a:latin typeface="Ubuntu"/>
                <a:ea typeface="Ubuntu"/>
                <a:cs typeface="Ubuntu"/>
              </a:rPr>
              <a:t> → store angular momentum to control pitch, yaw, roll precisely.</a:t>
            </a:r>
          </a:p>
          <a:p>
            <a:pPr lvl="1">
              <a:buFont typeface="Wingdings" panose="05000000000000000000" pitchFamily="2" charset="2"/>
              <a:buChar char="q"/>
              <a:defRPr>
                <a:latin typeface="Ubuntu"/>
                <a:ea typeface="Ubuntu"/>
                <a:cs typeface="Ubuntu"/>
              </a:defRPr>
            </a:pPr>
            <a:r>
              <a:rPr lang="en-US" sz="2300" b="1" dirty="0">
                <a:latin typeface="Ubuntu"/>
                <a:ea typeface="Ubuntu"/>
                <a:cs typeface="Ubuntu"/>
              </a:rPr>
              <a:t>Control Moment Gyroscopes (CMGs)</a:t>
            </a:r>
            <a:r>
              <a:rPr lang="en-US" sz="2300" dirty="0">
                <a:latin typeface="Ubuntu"/>
                <a:ea typeface="Ubuntu"/>
                <a:cs typeface="Ubuntu"/>
              </a:rPr>
              <a:t> → generate large torques for fast maneuvering.</a:t>
            </a:r>
          </a:p>
          <a:p>
            <a:pPr lvl="1">
              <a:buFont typeface="Wingdings" panose="05000000000000000000" pitchFamily="2" charset="2"/>
              <a:buChar char="q"/>
              <a:defRPr>
                <a:latin typeface="Ubuntu"/>
                <a:ea typeface="Ubuntu"/>
                <a:cs typeface="Ubuntu"/>
              </a:defRPr>
            </a:pPr>
            <a:r>
              <a:rPr lang="en-US" sz="2300" b="1" dirty="0">
                <a:latin typeface="Ubuntu"/>
                <a:ea typeface="Ubuntu"/>
                <a:cs typeface="Ubuntu"/>
              </a:rPr>
              <a:t>Thrusters (cold gas or chemical)</a:t>
            </a:r>
            <a:r>
              <a:rPr lang="en-US" sz="2300" dirty="0">
                <a:latin typeface="Ubuntu"/>
                <a:ea typeface="Ubuntu"/>
                <a:cs typeface="Ubuntu"/>
              </a:rPr>
              <a:t> → provide torque and momentum dumping; also used for orbit control.</a:t>
            </a:r>
          </a:p>
          <a:p>
            <a:pPr lvl="1">
              <a:buFont typeface="Wingdings" panose="05000000000000000000" pitchFamily="2" charset="2"/>
              <a:buChar char="q"/>
              <a:defRPr>
                <a:latin typeface="Ubuntu"/>
                <a:ea typeface="Ubuntu"/>
                <a:cs typeface="Ubuntu"/>
              </a:defRPr>
            </a:pPr>
            <a:r>
              <a:rPr lang="en-US" sz="2300" b="1" dirty="0">
                <a:latin typeface="Ubuntu"/>
                <a:ea typeface="Ubuntu"/>
                <a:cs typeface="Ubuntu"/>
              </a:rPr>
              <a:t>Magnetorquers (magnetic torque rods)</a:t>
            </a:r>
            <a:r>
              <a:rPr lang="en-US" sz="2300" dirty="0">
                <a:latin typeface="Ubuntu"/>
                <a:ea typeface="Ubuntu"/>
                <a:cs typeface="Ubuntu"/>
              </a:rPr>
              <a:t> → generate torque by interacting with Earth’s magnetic field.</a:t>
            </a:r>
          </a:p>
          <a:p>
            <a:pPr lvl="1">
              <a:buFont typeface="Wingdings" panose="05000000000000000000" pitchFamily="2" charset="2"/>
              <a:buChar char="q"/>
              <a:defRPr>
                <a:latin typeface="Ubuntu"/>
                <a:ea typeface="Ubuntu"/>
                <a:cs typeface="Ubuntu"/>
              </a:defRPr>
            </a:pPr>
            <a:r>
              <a:rPr lang="en-US" sz="2300" b="1" dirty="0">
                <a:latin typeface="Ubuntu"/>
                <a:ea typeface="Ubuntu"/>
                <a:cs typeface="Ubuntu"/>
              </a:rPr>
              <a:t>Spin stabilization</a:t>
            </a:r>
            <a:r>
              <a:rPr lang="en-US" sz="2300" dirty="0">
                <a:latin typeface="Ubuntu"/>
                <a:ea typeface="Ubuntu"/>
                <a:cs typeface="Ubuntu"/>
              </a:rPr>
              <a:t> → the spacecraft body itself acts as a gyroscope.</a:t>
            </a:r>
          </a:p>
          <a:p>
            <a:pPr>
              <a:buFont typeface="Wingdings" panose="05000000000000000000" pitchFamily="2" charset="2"/>
              <a:buChar char="q"/>
              <a:defRPr>
                <a:latin typeface="Ubuntu"/>
                <a:ea typeface="Ubuntu"/>
                <a:cs typeface="Ubuntu"/>
              </a:defRPr>
            </a:pPr>
            <a:endParaRPr lang="en-US" sz="2300" dirty="0"/>
          </a:p>
        </p:txBody>
      </p:sp>
      <p:sp>
        <p:nvSpPr>
          <p:cNvPr id="3" name="Title 2">
            <a:extLst>
              <a:ext uri="{FF2B5EF4-FFF2-40B4-BE49-F238E27FC236}">
                <a16:creationId xmlns:a16="http://schemas.microsoft.com/office/drawing/2014/main" id="{5F24EABB-5212-ED2F-07E3-7131EE42E0C0}"/>
              </a:ext>
            </a:extLst>
          </p:cNvPr>
          <p:cNvSpPr>
            <a:spLocks noGrp="1"/>
          </p:cNvSpPr>
          <p:nvPr>
            <p:ph type="title"/>
          </p:nvPr>
        </p:nvSpPr>
        <p:spPr>
          <a:xfrm>
            <a:off x="323765" y="310896"/>
            <a:ext cx="11441512" cy="828897"/>
          </a:xfrm>
        </p:spPr>
        <p:txBody>
          <a:bodyPr>
            <a:normAutofit/>
          </a:bodyPr>
          <a:lstStyle/>
          <a:p>
            <a:pPr>
              <a:defRPr>
                <a:latin typeface="House Movements Runway"/>
                <a:ea typeface="House Movements Runway"/>
                <a:cs typeface="House Movements Runway"/>
              </a:defRPr>
            </a:pPr>
            <a:r>
              <a:rPr lang="en-US" sz="4800" b="1" dirty="0">
                <a:latin typeface="House Movements Runway"/>
                <a:ea typeface="House Movements Runway"/>
                <a:cs typeface="House Movements Runway"/>
              </a:rPr>
              <a:t>Actuators (Attitude Control)</a:t>
            </a:r>
          </a:p>
        </p:txBody>
      </p:sp>
      <p:sp>
        <p:nvSpPr>
          <p:cNvPr id="4" name="Slide Number Placeholder 7">
            <a:extLst>
              <a:ext uri="{FF2B5EF4-FFF2-40B4-BE49-F238E27FC236}">
                <a16:creationId xmlns:a16="http://schemas.microsoft.com/office/drawing/2014/main" id="{51916CAB-0914-139D-A356-260FB2D3D71C}"/>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12</a:t>
            </a:fld>
            <a:endParaRPr lang="en-US" sz="4800" b="1" dirty="0">
              <a:solidFill>
                <a:srgbClr val="FF0000"/>
              </a:solidFill>
            </a:endParaRPr>
          </a:p>
        </p:txBody>
      </p:sp>
      <p:pic>
        <p:nvPicPr>
          <p:cNvPr id="6" name="Image 0" descr="/home/claude/adcs/L8p14-003.jpg">
            <a:extLst>
              <a:ext uri="{FF2B5EF4-FFF2-40B4-BE49-F238E27FC236}">
                <a16:creationId xmlns:a16="http://schemas.microsoft.com/office/drawing/2014/main" id="{05ACD45D-1A1B-2E34-9613-2C2C8E783821}"/>
              </a:ext>
            </a:extLst>
          </p:cNvPr>
          <p:cNvPicPr>
            <a:picLocks noChangeAspect="1"/>
          </p:cNvPicPr>
          <p:nvPr/>
        </p:nvPicPr>
        <p:blipFill>
          <a:blip r:embed="rId2"/>
          <a:stretch>
            <a:fillRect/>
          </a:stretch>
        </p:blipFill>
        <p:spPr>
          <a:xfrm>
            <a:off x="152400" y="159591"/>
            <a:ext cx="1700978" cy="1134714"/>
          </a:xfrm>
          <a:prstGeom prst="rect">
            <a:avLst/>
          </a:prstGeom>
        </p:spPr>
      </p:pic>
      <p:pic>
        <p:nvPicPr>
          <p:cNvPr id="7" name="Space Faculty logo" descr="sf_logo.png"/>
          <p:cNvPicPr>
            <a:picLocks noChangeAspect="1"/>
          </p:cNvPicPr>
          <p:nvPr/>
        </p:nvPicPr>
        <p:blipFill>
          <a:blip r:embed="rId3"/>
          <a:stretch>
            <a:fillRect/>
          </a:stretch>
        </p:blipFill>
        <p:spPr>
          <a:xfrm>
            <a:off x="10165474" y="54864"/>
            <a:ext cx="1913750" cy="543850"/>
          </a:xfrm>
          <a:prstGeom prst="rect">
            <a:avLst/>
          </a:prstGeom>
        </p:spPr>
      </p:pic>
    </p:spTree>
    <p:extLst>
      <p:ext uri="{BB962C8B-B14F-4D97-AF65-F5344CB8AC3E}">
        <p14:creationId xmlns:p14="http://schemas.microsoft.com/office/powerpoint/2010/main" val="4061419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CED5-DB74-A6EA-4E65-EE9D147830F4}"/>
              </a:ext>
            </a:extLst>
          </p:cNvPr>
          <p:cNvSpPr>
            <a:spLocks noGrp="1"/>
          </p:cNvSpPr>
          <p:nvPr>
            <p:ph type="title"/>
          </p:nvPr>
        </p:nvSpPr>
        <p:spPr/>
        <p:txBody>
          <a:bodyPr/>
          <a:lstStyle/>
          <a:p>
            <a:pPr>
              <a:defRPr>
                <a:latin typeface="House Movements Runway"/>
                <a:ea typeface="House Movements Runway"/>
                <a:cs typeface="House Movements Runway"/>
              </a:defRPr>
            </a:pPr>
            <a:endParaRPr lang="en-US"/>
          </a:p>
        </p:txBody>
      </p:sp>
      <p:sp>
        <p:nvSpPr>
          <p:cNvPr id="3" name="Content Placeholder 2">
            <a:extLst>
              <a:ext uri="{FF2B5EF4-FFF2-40B4-BE49-F238E27FC236}">
                <a16:creationId xmlns:a16="http://schemas.microsoft.com/office/drawing/2014/main" id="{F343A1CC-102A-AD71-2252-4680B66BFA02}"/>
              </a:ext>
            </a:extLst>
          </p:cNvPr>
          <p:cNvSpPr>
            <a:spLocks noGrp="1"/>
          </p:cNvSpPr>
          <p:nvPr>
            <p:ph idx="1"/>
          </p:nvPr>
        </p:nvSpPr>
        <p:spPr/>
        <p:txBody>
          <a:bodyPr/>
          <a:lstStyle/>
          <a:p>
            <a:pPr>
              <a:defRPr>
                <a:latin typeface="Space Mono"/>
                <a:ea typeface="Space Mono"/>
                <a:cs typeface="Space Mono"/>
              </a:defRPr>
            </a:pPr>
            <a:endParaRPr lang="en-US"/>
          </a:p>
        </p:txBody>
      </p:sp>
      <p:pic>
        <p:nvPicPr>
          <p:cNvPr id="5" name="Picture 4" descr="The image is a diagram outlining the various technical requirements and considerations for spacecraft control, including mission objectives, thermal management, power supply, propulsion, structural design, and communication systems.&#10;&#10;AI-generated content may be incorrect.">
            <a:extLst>
              <a:ext uri="{FF2B5EF4-FFF2-40B4-BE49-F238E27FC236}">
                <a16:creationId xmlns:a16="http://schemas.microsoft.com/office/drawing/2014/main" id="{2B4F3243-9F1B-4C8B-1EF7-57412CA9B283}"/>
              </a:ext>
            </a:extLst>
          </p:cNvPr>
          <p:cNvPicPr>
            <a:picLocks noChangeAspect="1"/>
          </p:cNvPicPr>
          <p:nvPr/>
        </p:nvPicPr>
        <p:blipFill>
          <a:blip r:embed="rId2"/>
          <a:srcRect l="1447" t="1297"/>
          <a:stretch>
            <a:fillRect/>
          </a:stretch>
        </p:blipFill>
        <p:spPr>
          <a:xfrm>
            <a:off x="457200" y="19890"/>
            <a:ext cx="10383856" cy="6838110"/>
          </a:xfrm>
          <a:prstGeom prst="rect">
            <a:avLst/>
          </a:prstGeom>
        </p:spPr>
      </p:pic>
      <p:sp>
        <p:nvSpPr>
          <p:cNvPr id="8" name="Slide Number Placeholder 7">
            <a:extLst>
              <a:ext uri="{FF2B5EF4-FFF2-40B4-BE49-F238E27FC236}">
                <a16:creationId xmlns:a16="http://schemas.microsoft.com/office/drawing/2014/main" id="{04F5E006-3D1E-C399-3F53-5471CAD562E2}"/>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13</a:t>
            </a:fld>
            <a:endParaRPr lang="en-US" sz="4800" b="1" dirty="0">
              <a:solidFill>
                <a:srgbClr val="FF0000"/>
              </a:solidFill>
            </a:endParaRPr>
          </a:p>
        </p:txBody>
      </p:sp>
      <p:pic>
        <p:nvPicPr>
          <p:cNvPr id="9" name="Space Faculty logo" descr="sf_logo.png"/>
          <p:cNvPicPr>
            <a:picLocks noChangeAspect="1"/>
          </p:cNvPicPr>
          <p:nvPr/>
        </p:nvPicPr>
        <p:blipFill>
          <a:blip r:embed="rId3"/>
          <a:stretch>
            <a:fillRect/>
          </a:stretch>
        </p:blipFill>
        <p:spPr>
          <a:xfrm>
            <a:off x="10357000" y="54864"/>
            <a:ext cx="1722223" cy="489422"/>
          </a:xfrm>
          <a:prstGeom prst="rect">
            <a:avLst/>
          </a:prstGeom>
        </p:spPr>
      </p:pic>
      <p:sp>
        <p:nvSpPr>
          <p:cNvPr id="4" name="Rectangle 3">
            <a:extLst>
              <a:ext uri="{FF2B5EF4-FFF2-40B4-BE49-F238E27FC236}">
                <a16:creationId xmlns:a16="http://schemas.microsoft.com/office/drawing/2014/main" id="{24F9725F-071D-0665-5D5E-1C8F3BB4453C}"/>
              </a:ext>
            </a:extLst>
          </p:cNvPr>
          <p:cNvSpPr/>
          <p:nvPr/>
        </p:nvSpPr>
        <p:spPr>
          <a:xfrm>
            <a:off x="457200" y="19890"/>
            <a:ext cx="359229" cy="1210196"/>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30944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15" name="Rectangle 1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17" name="Rectangle 1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19" name="Rectangle 18">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dirty="0"/>
          </a:p>
        </p:txBody>
      </p:sp>
      <p:sp>
        <p:nvSpPr>
          <p:cNvPr id="21" name="Freeform: Shape 2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latin typeface="Ubuntu"/>
                <a:ea typeface="Ubuntu"/>
                <a:cs typeface="Ubuntu"/>
              </a:defRPr>
            </a:pPr>
            <a:endParaRPr lang="en-US" dirty="0"/>
          </a:p>
        </p:txBody>
      </p:sp>
      <p:sp>
        <p:nvSpPr>
          <p:cNvPr id="23" name="Rectangle 22">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latin typeface="Ubuntu"/>
                <a:ea typeface="Ubuntu"/>
                <a:cs typeface="Ubuntu"/>
              </a:defRPr>
            </a:pPr>
            <a:endParaRPr lang="en-US"/>
          </a:p>
        </p:txBody>
      </p:sp>
      <p:sp>
        <p:nvSpPr>
          <p:cNvPr id="2" name="Title 1">
            <a:extLst>
              <a:ext uri="{FF2B5EF4-FFF2-40B4-BE49-F238E27FC236}">
                <a16:creationId xmlns:a16="http://schemas.microsoft.com/office/drawing/2014/main" id="{78EF087B-FCE9-DCDF-3F90-2F562F62C5AA}"/>
              </a:ext>
            </a:extLst>
          </p:cNvPr>
          <p:cNvSpPr>
            <a:spLocks noGrp="1"/>
          </p:cNvSpPr>
          <p:nvPr>
            <p:ph type="title"/>
          </p:nvPr>
        </p:nvSpPr>
        <p:spPr>
          <a:xfrm>
            <a:off x="586478" y="1683756"/>
            <a:ext cx="3115265" cy="2396359"/>
          </a:xfrm>
        </p:spPr>
        <p:txBody>
          <a:bodyPr anchor="b">
            <a:normAutofit/>
          </a:bodyPr>
          <a:lstStyle/>
          <a:p>
            <a:pPr algn="r">
              <a:defRPr>
                <a:latin typeface="House Movements Runway"/>
                <a:ea typeface="House Movements Runway"/>
                <a:cs typeface="House Movements Runway"/>
              </a:defRPr>
            </a:pPr>
            <a:r>
              <a:rPr lang="en-US" sz="4800" b="1" dirty="0">
                <a:solidFill>
                  <a:srgbClr val="FFFFFF"/>
                </a:solidFill>
                <a:latin typeface="House Movements Runway"/>
                <a:ea typeface="House Movements Runway"/>
                <a:cs typeface="House Movements Runway"/>
              </a:rPr>
              <a:t>Two Basic Methods of Control</a:t>
            </a:r>
          </a:p>
        </p:txBody>
      </p:sp>
      <p:sp>
        <p:nvSpPr>
          <p:cNvPr id="7" name="Slide Number Placeholder 7">
            <a:extLst>
              <a:ext uri="{FF2B5EF4-FFF2-40B4-BE49-F238E27FC236}">
                <a16:creationId xmlns:a16="http://schemas.microsoft.com/office/drawing/2014/main" id="{35CF1E69-2820-AF19-6A2F-4CB322B04DAF}"/>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spcAft>
                <a:spcPts val="600"/>
              </a:spcAft>
              <a:defRPr>
                <a:latin typeface="Ubuntu"/>
                <a:ea typeface="Ubuntu"/>
                <a:cs typeface="Ubuntu"/>
              </a:defRPr>
            </a:pPr>
            <a:fld id="{81D60167-4931-47E6-BA6A-407CBD079E47}" type="slidenum">
              <a:rPr lang="en-US" sz="4800" b="1" smtClean="0">
                <a:solidFill>
                  <a:srgbClr val="FF0000"/>
                </a:solidFill>
              </a:rPr>
              <a:pPr marL="37465">
                <a:lnSpc>
                  <a:spcPts val="1870"/>
                </a:lnSpc>
                <a:spcAft>
                  <a:spcPts val="600"/>
                </a:spcAft>
              </a:pPr>
              <a:t>14</a:t>
            </a:fld>
            <a:endParaRPr lang="en-US" sz="4800" b="1" dirty="0">
              <a:solidFill>
                <a:srgbClr val="FF0000"/>
              </a:solidFill>
            </a:endParaRPr>
          </a:p>
        </p:txBody>
      </p:sp>
      <p:graphicFrame>
        <p:nvGraphicFramePr>
          <p:cNvPr id="9" name="Content Placeholder 2">
            <a:extLst>
              <a:ext uri="{FF2B5EF4-FFF2-40B4-BE49-F238E27FC236}">
                <a16:creationId xmlns:a16="http://schemas.microsoft.com/office/drawing/2014/main" id="{EE224455-CF92-BC18-BC35-9A6389C142F7}"/>
              </a:ext>
            </a:extLst>
          </p:cNvPr>
          <p:cNvGraphicFramePr>
            <a:graphicFrameLocks noGrp="1"/>
          </p:cNvGraphicFramePr>
          <p:nvPr>
            <p:ph idx="1"/>
            <p:extLst>
              <p:ext uri="{D42A27DB-BD31-4B8C-83A1-F6EECF244321}">
                <p14:modId xmlns:p14="http://schemas.microsoft.com/office/powerpoint/2010/main" val="34810466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4" name="Space Faculty logo" descr="sf_logo.png"/>
          <p:cNvPicPr>
            <a:picLocks noChangeAspect="1"/>
          </p:cNvPicPr>
          <p:nvPr/>
        </p:nvPicPr>
        <p:blipFill>
          <a:blip r:embed="rId7"/>
          <a:stretch>
            <a:fillRect/>
          </a:stretch>
        </p:blipFill>
        <p:spPr>
          <a:xfrm>
            <a:off x="10472764" y="54864"/>
            <a:ext cx="1606459" cy="456524"/>
          </a:xfrm>
          <a:prstGeom prst="rect">
            <a:avLst/>
          </a:prstGeom>
        </p:spPr>
      </p:pic>
    </p:spTree>
    <p:extLst>
      <p:ext uri="{BB962C8B-B14F-4D97-AF65-F5344CB8AC3E}">
        <p14:creationId xmlns:p14="http://schemas.microsoft.com/office/powerpoint/2010/main" val="3585253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7">
            <a:extLst>
              <a:ext uri="{FF2B5EF4-FFF2-40B4-BE49-F238E27FC236}">
                <a16:creationId xmlns:a16="http://schemas.microsoft.com/office/drawing/2014/main" id="{32AA9E8D-8746-6CAB-AE12-8CDD98938B47}"/>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15</a:t>
            </a:fld>
            <a:endParaRPr lang="en-US" sz="4800" b="1" dirty="0">
              <a:solidFill>
                <a:srgbClr val="FF0000"/>
              </a:solidFill>
            </a:endParaRPr>
          </a:p>
        </p:txBody>
      </p:sp>
      <p:grpSp>
        <p:nvGrpSpPr>
          <p:cNvPr id="17" name="Group 16">
            <a:extLst>
              <a:ext uri="{FF2B5EF4-FFF2-40B4-BE49-F238E27FC236}">
                <a16:creationId xmlns:a16="http://schemas.microsoft.com/office/drawing/2014/main" id="{1F8F93F1-BF4A-1288-CE84-74F5D768C961}"/>
              </a:ext>
            </a:extLst>
          </p:cNvPr>
          <p:cNvGrpSpPr/>
          <p:nvPr/>
        </p:nvGrpSpPr>
        <p:grpSpPr>
          <a:xfrm>
            <a:off x="750626" y="90873"/>
            <a:ext cx="9813249" cy="6605703"/>
            <a:chOff x="750626" y="90873"/>
            <a:chExt cx="9813249" cy="6605703"/>
          </a:xfrm>
        </p:grpSpPr>
        <p:grpSp>
          <p:nvGrpSpPr>
            <p:cNvPr id="8" name="Group 7">
              <a:extLst>
                <a:ext uri="{FF2B5EF4-FFF2-40B4-BE49-F238E27FC236}">
                  <a16:creationId xmlns:a16="http://schemas.microsoft.com/office/drawing/2014/main" id="{6C196AB7-955F-54A8-F81F-64AAE47501B4}"/>
                </a:ext>
              </a:extLst>
            </p:cNvPr>
            <p:cNvGrpSpPr/>
            <p:nvPr/>
          </p:nvGrpSpPr>
          <p:grpSpPr>
            <a:xfrm>
              <a:off x="750626" y="90873"/>
              <a:ext cx="9813249" cy="5475041"/>
              <a:chOff x="750627" y="948519"/>
              <a:chExt cx="8808781" cy="4751797"/>
            </a:xfrm>
          </p:grpSpPr>
          <p:pic>
            <p:nvPicPr>
              <p:cNvPr id="5" name="Picture 4" descr="The diagram illustrates a closed loop control system for a spacecraft, detailing input disturbances, error correction, actuator signal, control algorithms, and various outputs such as position, rate, and acceleration.&#10;&#10;AI-generated content may be incorrect.">
                <a:extLst>
                  <a:ext uri="{FF2B5EF4-FFF2-40B4-BE49-F238E27FC236}">
                    <a16:creationId xmlns:a16="http://schemas.microsoft.com/office/drawing/2014/main" id="{2FDCF04A-F719-14EE-AA2F-B60FB7059D00}"/>
                  </a:ext>
                </a:extLst>
              </p:cNvPr>
              <p:cNvPicPr>
                <a:picLocks noChangeAspect="1"/>
              </p:cNvPicPr>
              <p:nvPr/>
            </p:nvPicPr>
            <p:blipFill>
              <a:blip r:embed="rId2"/>
              <a:srcRect l="13951" t="2475" r="3493" b="16511"/>
              <a:stretch>
                <a:fillRect/>
              </a:stretch>
            </p:blipFill>
            <p:spPr>
              <a:xfrm>
                <a:off x="2330220" y="1367760"/>
                <a:ext cx="7229188" cy="4332556"/>
              </a:xfrm>
              <a:prstGeom prst="rect">
                <a:avLst/>
              </a:prstGeom>
            </p:spPr>
          </p:pic>
          <p:sp>
            <p:nvSpPr>
              <p:cNvPr id="7" name="Rectangle 6">
                <a:extLst>
                  <a:ext uri="{FF2B5EF4-FFF2-40B4-BE49-F238E27FC236}">
                    <a16:creationId xmlns:a16="http://schemas.microsoft.com/office/drawing/2014/main" id="{41CA8C12-DABF-640F-EDE8-0DABE284AB05}"/>
                  </a:ext>
                </a:extLst>
              </p:cNvPr>
              <p:cNvSpPr/>
              <p:nvPr/>
            </p:nvSpPr>
            <p:spPr>
              <a:xfrm>
                <a:off x="750627" y="948519"/>
                <a:ext cx="1862919" cy="123512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defRPr>
                    <a:latin typeface="Ubuntu"/>
                    <a:ea typeface="Ubuntu"/>
                    <a:cs typeface="Ubuntu"/>
                  </a:defRPr>
                </a:pPr>
                <a:endParaRPr lang="en-US"/>
              </a:p>
            </p:txBody>
          </p:sp>
        </p:grpSp>
        <p:sp>
          <p:nvSpPr>
            <p:cNvPr id="14" name="Rectangle 13">
              <a:extLst>
                <a:ext uri="{FF2B5EF4-FFF2-40B4-BE49-F238E27FC236}">
                  <a16:creationId xmlns:a16="http://schemas.microsoft.com/office/drawing/2014/main" id="{595E7E94-3645-4C1F-3724-AD77B2E0C099}"/>
                </a:ext>
              </a:extLst>
            </p:cNvPr>
            <p:cNvSpPr/>
            <p:nvPr/>
          </p:nvSpPr>
          <p:spPr>
            <a:xfrm>
              <a:off x="988218" y="5372809"/>
              <a:ext cx="4890068" cy="132376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defRPr>
                  <a:latin typeface="Ubuntu"/>
                  <a:ea typeface="Ubuntu"/>
                  <a:cs typeface="Ubuntu"/>
                </a:defRPr>
              </a:pPr>
              <a:endParaRPr lang="en-US"/>
            </a:p>
          </p:txBody>
        </p:sp>
        <p:sp>
          <p:nvSpPr>
            <p:cNvPr id="16" name="Rectangle 15">
              <a:extLst>
                <a:ext uri="{FF2B5EF4-FFF2-40B4-BE49-F238E27FC236}">
                  <a16:creationId xmlns:a16="http://schemas.microsoft.com/office/drawing/2014/main" id="{FBB09C52-8D4A-0149-2D27-F780B34F33A5}"/>
                </a:ext>
              </a:extLst>
            </p:cNvPr>
            <p:cNvSpPr/>
            <p:nvPr/>
          </p:nvSpPr>
          <p:spPr>
            <a:xfrm>
              <a:off x="5019719" y="5731565"/>
              <a:ext cx="4890068" cy="96501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defRPr>
                  <a:latin typeface="Ubuntu"/>
                  <a:ea typeface="Ubuntu"/>
                  <a:cs typeface="Ubuntu"/>
                </a:defRPr>
              </a:pPr>
              <a:endParaRPr lang="en-US"/>
            </a:p>
          </p:txBody>
        </p:sp>
      </p:grpSp>
      <p:pic>
        <p:nvPicPr>
          <p:cNvPr id="18" name="Space Faculty logo" descr="sf_logo.png"/>
          <p:cNvPicPr>
            <a:picLocks noChangeAspect="1"/>
          </p:cNvPicPr>
          <p:nvPr/>
        </p:nvPicPr>
        <p:blipFill>
          <a:blip r:embed="rId3"/>
          <a:stretch>
            <a:fillRect/>
          </a:stretch>
        </p:blipFill>
        <p:spPr>
          <a:xfrm>
            <a:off x="10252708" y="54864"/>
            <a:ext cx="1826516" cy="519060"/>
          </a:xfrm>
          <a:prstGeom prst="rect">
            <a:avLst/>
          </a:prstGeom>
        </p:spPr>
      </p:pic>
    </p:spTree>
    <p:extLst>
      <p:ext uri="{BB962C8B-B14F-4D97-AF65-F5344CB8AC3E}">
        <p14:creationId xmlns:p14="http://schemas.microsoft.com/office/powerpoint/2010/main" val="1026633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68"/>
        <p:cNvGrpSpPr/>
        <p:nvPr/>
      </p:nvGrpSpPr>
      <p:grpSpPr>
        <a:xfrm>
          <a:off x="0" y="0"/>
          <a:ext cx="0" cy="0"/>
          <a:chOff x="0" y="0"/>
          <a:chExt cx="0" cy="0"/>
        </a:xfrm>
      </p:grpSpPr>
      <p:sp>
        <p:nvSpPr>
          <p:cNvPr id="4270" name="Google Shape;4270;p236"/>
          <p:cNvSpPr txBox="1">
            <a:spLocks noGrp="1"/>
          </p:cNvSpPr>
          <p:nvPr>
            <p:ph type="title"/>
          </p:nvPr>
        </p:nvSpPr>
        <p:spPr>
          <a:xfrm>
            <a:off x="1766824" y="1"/>
            <a:ext cx="8581134" cy="828897"/>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400" b="1" dirty="0">
                <a:latin typeface="House Movements Runway" panose="02020603050405020304" pitchFamily="18" charset="0"/>
                <a:ea typeface="House Movements Runway"/>
                <a:cs typeface="House Movements Runway" panose="02020603050405020304" pitchFamily="18" charset="0"/>
                <a:sym typeface="Book Antiqua"/>
              </a:rPr>
              <a:t>ADCS Modes</a:t>
            </a:r>
            <a:endParaRPr sz="4400" b="1" dirty="0">
              <a:latin typeface="Times New Roman" panose="02020603050405020304" pitchFamily="18" charset="0"/>
              <a:cs typeface="Times New Roman" panose="02020603050405020304" pitchFamily="18" charset="0"/>
            </a:endParaRPr>
          </a:p>
        </p:txBody>
      </p:sp>
      <p:sp>
        <p:nvSpPr>
          <p:cNvPr id="3" name="Slide Number Placeholder 7">
            <a:extLst>
              <a:ext uri="{FF2B5EF4-FFF2-40B4-BE49-F238E27FC236}">
                <a16:creationId xmlns:a16="http://schemas.microsoft.com/office/drawing/2014/main" id="{70C3974A-85B9-3AB9-A795-0A4B6B4847A0}"/>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16</a:t>
            </a:fld>
            <a:endParaRPr lang="en-US" sz="4800" b="1" dirty="0">
              <a:solidFill>
                <a:srgbClr val="FF0000"/>
              </a:solidFill>
            </a:endParaRPr>
          </a:p>
        </p:txBody>
      </p:sp>
      <p:graphicFrame>
        <p:nvGraphicFramePr>
          <p:cNvPr id="4272" name="Google Shape;4269;p236">
            <a:extLst>
              <a:ext uri="{FF2B5EF4-FFF2-40B4-BE49-F238E27FC236}">
                <a16:creationId xmlns:a16="http://schemas.microsoft.com/office/drawing/2014/main" id="{8313FAED-88A8-9735-D6EA-020315857EB4}"/>
              </a:ext>
            </a:extLst>
          </p:cNvPr>
          <p:cNvGraphicFramePr/>
          <p:nvPr>
            <p:extLst>
              <p:ext uri="{D42A27DB-BD31-4B8C-83A1-F6EECF244321}">
                <p14:modId xmlns:p14="http://schemas.microsoft.com/office/powerpoint/2010/main" val="149063110"/>
              </p:ext>
            </p:extLst>
          </p:nvPr>
        </p:nvGraphicFramePr>
        <p:xfrm>
          <a:off x="278767" y="937590"/>
          <a:ext cx="11465131" cy="50333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273" name="Space Faculty logo" descr="sf_logo.png"/>
          <p:cNvPicPr>
            <a:picLocks noChangeAspect="1"/>
          </p:cNvPicPr>
          <p:nvPr/>
        </p:nvPicPr>
        <p:blipFill>
          <a:blip r:embed="rId8"/>
          <a:stretch>
            <a:fillRect/>
          </a:stretch>
        </p:blipFill>
        <p:spPr>
          <a:xfrm>
            <a:off x="10395306" y="54864"/>
            <a:ext cx="1683917" cy="47853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4B5723-6872-D3A1-D94D-86E0A99DE131}"/>
              </a:ext>
            </a:extLst>
          </p:cNvPr>
          <p:cNvSpPr>
            <a:spLocks noGrp="1"/>
          </p:cNvSpPr>
          <p:nvPr>
            <p:ph type="body" idx="1"/>
          </p:nvPr>
        </p:nvSpPr>
        <p:spPr>
          <a:xfrm>
            <a:off x="323765" y="1100518"/>
            <a:ext cx="11441512" cy="5528882"/>
          </a:xfrm>
        </p:spPr>
        <p:txBody>
          <a:bodyPr>
            <a:noAutofit/>
          </a:bodyPr>
          <a:lstStyle/>
          <a:p>
            <a:pPr marL="50800" indent="0">
              <a:buNone/>
              <a:defRPr>
                <a:latin typeface="Ubuntu"/>
                <a:ea typeface="Ubuntu"/>
                <a:cs typeface="Ubuntu"/>
              </a:defRPr>
            </a:pPr>
            <a:r>
              <a:rPr lang="en-US" b="1" dirty="0">
                <a:latin typeface="Ubuntu"/>
                <a:ea typeface="Ubuntu"/>
                <a:cs typeface="Ubuntu"/>
              </a:rPr>
              <a:t>4. Inertial Pointing Mode</a:t>
            </a:r>
          </a:p>
          <a:p>
            <a:pPr lvl="1">
              <a:defRPr>
                <a:latin typeface="Ubuntu"/>
                <a:ea typeface="Ubuntu"/>
                <a:cs typeface="Ubuntu"/>
              </a:defRPr>
            </a:pPr>
            <a:r>
              <a:rPr lang="en-US" sz="2400" dirty="0">
                <a:latin typeface="Ubuntu"/>
                <a:ea typeface="Ubuntu"/>
                <a:cs typeface="Ubuntu"/>
              </a:rPr>
              <a:t>Spacecraft maintains orientation fixed with respect to inertial space.</a:t>
            </a:r>
          </a:p>
          <a:p>
            <a:pPr lvl="1">
              <a:defRPr>
                <a:latin typeface="Ubuntu"/>
                <a:ea typeface="Ubuntu"/>
                <a:cs typeface="Ubuntu"/>
              </a:defRPr>
            </a:pPr>
            <a:r>
              <a:rPr lang="en-US" sz="2400" dirty="0">
                <a:latin typeface="Ubuntu"/>
                <a:ea typeface="Ubuntu"/>
                <a:cs typeface="Ubuntu"/>
              </a:rPr>
              <a:t>Useful for astronomy or scientific payloads observing deep space.</a:t>
            </a:r>
            <a:br>
              <a:rPr lang="en-US" sz="2400" dirty="0"/>
            </a:br>
            <a:endParaRPr lang="en-US" sz="2400" dirty="0"/>
          </a:p>
          <a:p>
            <a:pPr marL="50800" indent="0">
              <a:buNone/>
              <a:defRPr>
                <a:latin typeface="Ubuntu"/>
                <a:ea typeface="Ubuntu"/>
                <a:cs typeface="Ubuntu"/>
              </a:defRPr>
            </a:pPr>
            <a:r>
              <a:rPr lang="en-US" b="1" dirty="0">
                <a:latin typeface="Ubuntu"/>
                <a:ea typeface="Ubuntu"/>
                <a:cs typeface="Ubuntu"/>
              </a:rPr>
              <a:t> 5. Tracking / Target Pointing Mode</a:t>
            </a:r>
          </a:p>
          <a:p>
            <a:pPr lvl="1">
              <a:defRPr>
                <a:latin typeface="Ubuntu"/>
                <a:ea typeface="Ubuntu"/>
                <a:cs typeface="Ubuntu"/>
              </a:defRPr>
            </a:pPr>
            <a:r>
              <a:rPr lang="en-US" sz="2400" dirty="0">
                <a:latin typeface="Ubuntu"/>
                <a:ea typeface="Ubuntu"/>
                <a:cs typeface="Ubuntu"/>
              </a:rPr>
              <a:t>Satellite continuously points to a moving target (e.g., ground station, star, planet, other spacecraft).</a:t>
            </a:r>
          </a:p>
          <a:p>
            <a:pPr lvl="1">
              <a:defRPr>
                <a:latin typeface="Ubuntu"/>
                <a:ea typeface="Ubuntu"/>
                <a:cs typeface="Ubuntu"/>
              </a:defRPr>
            </a:pPr>
            <a:r>
              <a:rPr lang="en-US" sz="2400" dirty="0">
                <a:latin typeface="Ubuntu"/>
                <a:ea typeface="Ubuntu"/>
                <a:cs typeface="Ubuntu"/>
              </a:rPr>
              <a:t>Requires precise sensors and actuators.</a:t>
            </a:r>
            <a:br>
              <a:rPr lang="en-US" sz="2400" dirty="0"/>
            </a:br>
            <a:endParaRPr lang="en-US" sz="2400" dirty="0"/>
          </a:p>
          <a:p>
            <a:pPr marL="50800" indent="0">
              <a:buNone/>
              <a:defRPr>
                <a:latin typeface="Ubuntu"/>
                <a:ea typeface="Ubuntu"/>
                <a:cs typeface="Ubuntu"/>
              </a:defRPr>
            </a:pPr>
            <a:r>
              <a:rPr lang="en-US" b="1" dirty="0">
                <a:latin typeface="Ubuntu"/>
                <a:ea typeface="Ubuntu"/>
                <a:cs typeface="Ubuntu"/>
              </a:rPr>
              <a:t>6. Momentum Management Mode</a:t>
            </a:r>
          </a:p>
          <a:p>
            <a:pPr lvl="1">
              <a:defRPr>
                <a:latin typeface="Ubuntu"/>
                <a:ea typeface="Ubuntu"/>
                <a:cs typeface="Ubuntu"/>
              </a:defRPr>
            </a:pPr>
            <a:r>
              <a:rPr lang="en-US" sz="2400" dirty="0">
                <a:latin typeface="Ubuntu"/>
                <a:ea typeface="Ubuntu"/>
                <a:cs typeface="Ubuntu"/>
              </a:rPr>
              <a:t>Used when reaction wheels or gyros reach speed limits due to accumulated momentum.</a:t>
            </a:r>
          </a:p>
          <a:p>
            <a:pPr lvl="1">
              <a:defRPr>
                <a:latin typeface="Ubuntu"/>
                <a:ea typeface="Ubuntu"/>
                <a:cs typeface="Ubuntu"/>
              </a:defRPr>
            </a:pPr>
            <a:r>
              <a:rPr lang="en-US" sz="2400" dirty="0">
                <a:latin typeface="Ubuntu"/>
                <a:ea typeface="Ubuntu"/>
                <a:cs typeface="Ubuntu"/>
              </a:rPr>
              <a:t>Magnetorquers or thrusters are activated to dump momentum.</a:t>
            </a:r>
          </a:p>
          <a:p>
            <a:pPr>
              <a:defRPr>
                <a:latin typeface="Ubuntu"/>
                <a:ea typeface="Ubuntu"/>
                <a:cs typeface="Ubuntu"/>
              </a:defRPr>
            </a:pPr>
            <a:endParaRPr lang="en-US" dirty="0"/>
          </a:p>
        </p:txBody>
      </p:sp>
      <p:sp>
        <p:nvSpPr>
          <p:cNvPr id="3" name="Title 2">
            <a:extLst>
              <a:ext uri="{FF2B5EF4-FFF2-40B4-BE49-F238E27FC236}">
                <a16:creationId xmlns:a16="http://schemas.microsoft.com/office/drawing/2014/main" id="{1E28C2AA-BCEB-F245-CE23-D3A6A5EB437F}"/>
              </a:ext>
            </a:extLst>
          </p:cNvPr>
          <p:cNvSpPr>
            <a:spLocks noGrp="1"/>
          </p:cNvSpPr>
          <p:nvPr>
            <p:ph type="title"/>
          </p:nvPr>
        </p:nvSpPr>
        <p:spPr/>
        <p:txBody>
          <a:bodyPr/>
          <a:lstStyle/>
          <a:p>
            <a:pPr>
              <a:defRPr>
                <a:latin typeface="House Movements Runway"/>
                <a:ea typeface="House Movements Runway"/>
                <a:cs typeface="House Movements Runway"/>
              </a:defRPr>
            </a:pPr>
            <a:r>
              <a:rPr lang="en-US" b="1" dirty="0">
                <a:latin typeface="House Movements Runway" panose="02020603050405020304" pitchFamily="18" charset="0"/>
                <a:ea typeface="House Movements Runway"/>
                <a:cs typeface="House Movements Runway" panose="02020603050405020304" pitchFamily="18" charset="0"/>
                <a:sym typeface="Book Antiqua"/>
              </a:rPr>
              <a:t>ADCS Modes</a:t>
            </a:r>
            <a:endParaRPr lang="en-US" dirty="0"/>
          </a:p>
        </p:txBody>
      </p:sp>
      <p:sp>
        <p:nvSpPr>
          <p:cNvPr id="4" name="Slide Number Placeholder 7">
            <a:extLst>
              <a:ext uri="{FF2B5EF4-FFF2-40B4-BE49-F238E27FC236}">
                <a16:creationId xmlns:a16="http://schemas.microsoft.com/office/drawing/2014/main" id="{0F333321-0C0E-BE3E-4F40-853CDBE86416}"/>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17</a:t>
            </a:fld>
            <a:endParaRPr lang="en-US" sz="4800" b="1" dirty="0">
              <a:solidFill>
                <a:srgbClr val="FF0000"/>
              </a:solidFill>
            </a:endParaRPr>
          </a:p>
        </p:txBody>
      </p:sp>
      <p:pic>
        <p:nvPicPr>
          <p:cNvPr id="5" name="Space Faculty logo" descr="sf_logo.png"/>
          <p:cNvPicPr>
            <a:picLocks noChangeAspect="1"/>
          </p:cNvPicPr>
          <p:nvPr/>
        </p:nvPicPr>
        <p:blipFill>
          <a:blip r:embed="rId3"/>
          <a:stretch>
            <a:fillRect/>
          </a:stretch>
        </p:blipFill>
        <p:spPr>
          <a:xfrm>
            <a:off x="10280390" y="54863"/>
            <a:ext cx="1798833" cy="511193"/>
          </a:xfrm>
          <a:prstGeom prst="rect">
            <a:avLst/>
          </a:prstGeom>
        </p:spPr>
      </p:pic>
    </p:spTree>
    <p:extLst>
      <p:ext uri="{BB962C8B-B14F-4D97-AF65-F5344CB8AC3E}">
        <p14:creationId xmlns:p14="http://schemas.microsoft.com/office/powerpoint/2010/main" val="1116246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853D803-F7B2-8523-1ACA-55AF5CF75408}"/>
              </a:ext>
            </a:extLst>
          </p:cNvPr>
          <p:cNvSpPr>
            <a:spLocks noGrp="1"/>
          </p:cNvSpPr>
          <p:nvPr>
            <p:ph type="body" idx="1"/>
          </p:nvPr>
        </p:nvSpPr>
        <p:spPr>
          <a:xfrm>
            <a:off x="76200" y="1143000"/>
            <a:ext cx="11811000" cy="5410200"/>
          </a:xfrm>
        </p:spPr>
        <p:txBody>
          <a:bodyPr>
            <a:normAutofit fontScale="85000" lnSpcReduction="10000"/>
          </a:bodyPr>
          <a:lstStyle/>
          <a:p>
            <a:pPr marL="0" lvl="0" indent="0" rtl="0" eaLnBrk="0" fontAlgn="base" hangingPunct="0">
              <a:lnSpc>
                <a:spcPct val="150000"/>
              </a:lnSpc>
              <a:spcBef>
                <a:spcPct val="0"/>
              </a:spcBef>
              <a:spcAft>
                <a:spcPct val="0"/>
              </a:spcAft>
              <a:buClrTx/>
              <a:buSzTx/>
              <a:defRPr>
                <a:latin typeface="Ubuntu"/>
                <a:ea typeface="Ubuntu"/>
                <a:cs typeface="Ubuntu"/>
              </a:defRPr>
            </a:pPr>
            <a:r>
              <a:rPr lang="en-US" altLang="en-US" dirty="0">
                <a:latin typeface="Ubuntu" panose="020B0604020202020204" pitchFamily="34" charset="0"/>
                <a:ea typeface="Ubuntu"/>
                <a:cs typeface="Ubuntu"/>
              </a:rPr>
              <a:t>Uses natural forces (gravity, magnetic field, aerodynamic drag, solar pressure) to stabilize or orient the satellite.</a:t>
            </a:r>
            <a:endParaRPr lang="en-US" altLang="en-US" b="1" dirty="0">
              <a:latin typeface="Arial" panose="020B0604020202020204" pitchFamily="34" charset="0"/>
            </a:endParaRPr>
          </a:p>
          <a:p>
            <a:pPr marL="0" lvl="0" indent="0" rtl="0" eaLnBrk="0" fontAlgn="base" hangingPunct="0">
              <a:lnSpc>
                <a:spcPct val="150000"/>
              </a:lnSpc>
              <a:spcBef>
                <a:spcPct val="0"/>
              </a:spcBef>
              <a:spcAft>
                <a:spcPct val="0"/>
              </a:spcAft>
              <a:buClrTx/>
              <a:buSzTx/>
              <a:buNone/>
              <a:defRPr>
                <a:latin typeface="Ubuntu"/>
                <a:ea typeface="Ubuntu"/>
                <a:cs typeface="Ubuntu"/>
              </a:defRPr>
            </a:pPr>
            <a:r>
              <a:rPr lang="en-US" altLang="en-US" b="1" dirty="0">
                <a:latin typeface="Ubuntu" panose="020B0604020202020204" pitchFamily="34" charset="0"/>
                <a:ea typeface="Ubuntu"/>
                <a:cs typeface="Ubuntu"/>
              </a:rPr>
              <a:t>Key Features:</a:t>
            </a:r>
            <a:endParaRPr lang="en-US" altLang="en-US" dirty="0">
              <a:latin typeface="Arial" panose="020B0604020202020204" pitchFamily="34" charset="0"/>
            </a:endParaRPr>
          </a:p>
          <a:p>
            <a:pPr marL="457200" lvl="1" indent="0" rtl="0" eaLnBrk="0" fontAlgn="base" hangingPunct="0">
              <a:lnSpc>
                <a:spcPct val="150000"/>
              </a:lnSpc>
              <a:spcBef>
                <a:spcPct val="0"/>
              </a:spcBef>
              <a:spcAft>
                <a:spcPct val="0"/>
              </a:spcAft>
              <a:buClrTx/>
              <a:buSzTx/>
              <a:defRPr>
                <a:latin typeface="Ubuntu"/>
                <a:ea typeface="Ubuntu"/>
                <a:cs typeface="Ubuntu"/>
              </a:defRPr>
            </a:pPr>
            <a:r>
              <a:rPr lang="en-US" altLang="en-US" sz="2400" dirty="0">
                <a:latin typeface="Ubuntu" panose="020B0604020202020204" pitchFamily="34" charset="0"/>
                <a:ea typeface="Ubuntu"/>
                <a:cs typeface="Ubuntu"/>
              </a:rPr>
              <a:t>No moving parts or powered actuators.</a:t>
            </a:r>
          </a:p>
          <a:p>
            <a:pPr marL="457200" lvl="1" indent="0" rtl="0" eaLnBrk="0" fontAlgn="base" hangingPunct="0">
              <a:lnSpc>
                <a:spcPct val="150000"/>
              </a:lnSpc>
              <a:spcBef>
                <a:spcPct val="0"/>
              </a:spcBef>
              <a:spcAft>
                <a:spcPct val="0"/>
              </a:spcAft>
              <a:buClrTx/>
              <a:buSzTx/>
              <a:defRPr>
                <a:latin typeface="Ubuntu"/>
                <a:ea typeface="Ubuntu"/>
                <a:cs typeface="Ubuntu"/>
              </a:defRPr>
            </a:pPr>
            <a:r>
              <a:rPr lang="en-US" altLang="en-US" sz="2400" dirty="0">
                <a:latin typeface="Ubuntu" panose="020B0604020202020204" pitchFamily="34" charset="0"/>
                <a:ea typeface="Ubuntu"/>
                <a:cs typeface="Ubuntu"/>
              </a:rPr>
              <a:t>Low complexity, lightweight, and reliable.</a:t>
            </a:r>
          </a:p>
          <a:p>
            <a:pPr marL="457200" lvl="1" indent="0" rtl="0" eaLnBrk="0" fontAlgn="base" hangingPunct="0">
              <a:lnSpc>
                <a:spcPct val="150000"/>
              </a:lnSpc>
              <a:spcBef>
                <a:spcPct val="0"/>
              </a:spcBef>
              <a:spcAft>
                <a:spcPct val="0"/>
              </a:spcAft>
              <a:buClrTx/>
              <a:buSzTx/>
              <a:defRPr>
                <a:latin typeface="Ubuntu"/>
                <a:ea typeface="Ubuntu"/>
                <a:cs typeface="Ubuntu"/>
              </a:defRPr>
            </a:pPr>
            <a:r>
              <a:rPr lang="en-US" altLang="en-US" sz="2400" dirty="0">
                <a:latin typeface="Ubuntu" panose="020B0604020202020204" pitchFamily="34" charset="0"/>
                <a:ea typeface="Ubuntu"/>
                <a:cs typeface="Ubuntu"/>
              </a:rPr>
              <a:t>Slower response and less precise control.</a:t>
            </a:r>
          </a:p>
          <a:p>
            <a:pPr marL="0" lvl="0" indent="0" rtl="0" eaLnBrk="0" fontAlgn="base" hangingPunct="0">
              <a:lnSpc>
                <a:spcPct val="150000"/>
              </a:lnSpc>
              <a:spcBef>
                <a:spcPct val="0"/>
              </a:spcBef>
              <a:spcAft>
                <a:spcPct val="0"/>
              </a:spcAft>
              <a:buClrTx/>
              <a:buSzTx/>
              <a:buNone/>
              <a:defRPr>
                <a:latin typeface="Ubuntu"/>
                <a:ea typeface="Ubuntu"/>
                <a:cs typeface="Ubuntu"/>
              </a:defRPr>
            </a:pPr>
            <a:r>
              <a:rPr lang="en-US" altLang="en-US" b="1" dirty="0">
                <a:latin typeface="Ubuntu" panose="020B0604020202020204" pitchFamily="34" charset="0"/>
                <a:ea typeface="Ubuntu"/>
                <a:cs typeface="Ubuntu"/>
              </a:rPr>
              <a:t>Examples:</a:t>
            </a:r>
            <a:endParaRPr lang="en-US" altLang="en-US" dirty="0">
              <a:latin typeface="Arial" panose="020B0604020202020204" pitchFamily="34" charset="0"/>
            </a:endParaRPr>
          </a:p>
          <a:p>
            <a:pPr marL="457200" lvl="1" indent="0" rtl="0" eaLnBrk="0" fontAlgn="base" hangingPunct="0">
              <a:lnSpc>
                <a:spcPct val="150000"/>
              </a:lnSpc>
              <a:spcBef>
                <a:spcPct val="0"/>
              </a:spcBef>
              <a:spcAft>
                <a:spcPct val="0"/>
              </a:spcAft>
              <a:buClrTx/>
              <a:buSzTx/>
              <a:defRPr>
                <a:latin typeface="Ubuntu"/>
                <a:ea typeface="Ubuntu"/>
                <a:cs typeface="Ubuntu"/>
              </a:defRPr>
            </a:pPr>
            <a:r>
              <a:rPr lang="en-US" altLang="en-US" sz="2400" b="1" dirty="0">
                <a:latin typeface="Ubuntu" panose="020B0604020202020204" pitchFamily="34" charset="0"/>
                <a:ea typeface="Ubuntu"/>
                <a:cs typeface="Ubuntu"/>
              </a:rPr>
              <a:t>Gravity-gradient stabilization:</a:t>
            </a:r>
            <a:r>
              <a:rPr lang="en-US" altLang="en-US" sz="2400" dirty="0">
                <a:latin typeface="Ubuntu" panose="020B0604020202020204" pitchFamily="34" charset="0"/>
                <a:ea typeface="Ubuntu"/>
                <a:cs typeface="Ubuntu"/>
              </a:rPr>
              <a:t> Using Earth’s gravity to align the satellite’s long axis toward Earth.</a:t>
            </a:r>
          </a:p>
          <a:p>
            <a:pPr marL="457200" lvl="1" indent="0" rtl="0" eaLnBrk="0" fontAlgn="base" hangingPunct="0">
              <a:lnSpc>
                <a:spcPct val="150000"/>
              </a:lnSpc>
              <a:spcBef>
                <a:spcPct val="0"/>
              </a:spcBef>
              <a:spcAft>
                <a:spcPct val="0"/>
              </a:spcAft>
              <a:buClrTx/>
              <a:buSzTx/>
              <a:defRPr>
                <a:latin typeface="Ubuntu"/>
                <a:ea typeface="Ubuntu"/>
                <a:cs typeface="Ubuntu"/>
              </a:defRPr>
            </a:pPr>
            <a:r>
              <a:rPr lang="en-US" altLang="en-US" sz="2400" b="1" dirty="0">
                <a:latin typeface="Ubuntu" panose="020B0604020202020204" pitchFamily="34" charset="0"/>
                <a:ea typeface="Ubuntu"/>
                <a:cs typeface="Ubuntu"/>
              </a:rPr>
              <a:t>Magnetic torquers (passive magnets):</a:t>
            </a:r>
            <a:r>
              <a:rPr lang="en-US" altLang="en-US" sz="2400" dirty="0">
                <a:latin typeface="Ubuntu" panose="020B0604020202020204" pitchFamily="34" charset="0"/>
                <a:ea typeface="Ubuntu"/>
                <a:cs typeface="Ubuntu"/>
              </a:rPr>
              <a:t> Aligning with Earth’s magnetic field.</a:t>
            </a:r>
          </a:p>
          <a:p>
            <a:pPr marL="457200" lvl="1" indent="0" rtl="0" eaLnBrk="0" fontAlgn="base" hangingPunct="0">
              <a:lnSpc>
                <a:spcPct val="150000"/>
              </a:lnSpc>
              <a:spcBef>
                <a:spcPct val="0"/>
              </a:spcBef>
              <a:spcAft>
                <a:spcPct val="0"/>
              </a:spcAft>
              <a:buClrTx/>
              <a:buSzTx/>
              <a:defRPr>
                <a:latin typeface="Ubuntu"/>
                <a:ea typeface="Ubuntu"/>
                <a:cs typeface="Ubuntu"/>
              </a:defRPr>
            </a:pPr>
            <a:r>
              <a:rPr lang="en-US" altLang="en-US" sz="2400" b="1" dirty="0">
                <a:latin typeface="Ubuntu" panose="020B0604020202020204" pitchFamily="34" charset="0"/>
                <a:ea typeface="Ubuntu"/>
                <a:cs typeface="Ubuntu"/>
              </a:rPr>
              <a:t>Spin stabilization:</a:t>
            </a:r>
            <a:r>
              <a:rPr lang="en-US" altLang="en-US" sz="2400" dirty="0">
                <a:latin typeface="Ubuntu" panose="020B0604020202020204" pitchFamily="34" charset="0"/>
                <a:ea typeface="Ubuntu"/>
                <a:cs typeface="Ubuntu"/>
              </a:rPr>
              <a:t> Rotating the spacecraft to keep it stable (like a gyroscope).</a:t>
            </a:r>
          </a:p>
          <a:p>
            <a:pPr>
              <a:lnSpc>
                <a:spcPct val="150000"/>
              </a:lnSpc>
              <a:defRPr>
                <a:latin typeface="Ubuntu"/>
                <a:ea typeface="Ubuntu"/>
                <a:cs typeface="Ubuntu"/>
              </a:defRPr>
            </a:pPr>
            <a:endParaRPr lang="en-US" dirty="0"/>
          </a:p>
        </p:txBody>
      </p:sp>
      <p:sp>
        <p:nvSpPr>
          <p:cNvPr id="3" name="Title 2">
            <a:extLst>
              <a:ext uri="{FF2B5EF4-FFF2-40B4-BE49-F238E27FC236}">
                <a16:creationId xmlns:a16="http://schemas.microsoft.com/office/drawing/2014/main" id="{5556B7C3-0078-015B-27F4-7B24DD3EEF2D}"/>
              </a:ext>
            </a:extLst>
          </p:cNvPr>
          <p:cNvSpPr>
            <a:spLocks noGrp="1"/>
          </p:cNvSpPr>
          <p:nvPr>
            <p:ph type="title"/>
          </p:nvPr>
        </p:nvSpPr>
        <p:spPr>
          <a:xfrm>
            <a:off x="112777" y="416511"/>
            <a:ext cx="11441512" cy="828897"/>
          </a:xfrm>
        </p:spPr>
        <p:txBody>
          <a:bodyPr>
            <a:normAutofit/>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Passive Attitude Determination and Control</a:t>
            </a:r>
          </a:p>
        </p:txBody>
      </p:sp>
      <p:sp>
        <p:nvSpPr>
          <p:cNvPr id="6" name="Slide Number Placeholder 7">
            <a:extLst>
              <a:ext uri="{FF2B5EF4-FFF2-40B4-BE49-F238E27FC236}">
                <a16:creationId xmlns:a16="http://schemas.microsoft.com/office/drawing/2014/main" id="{B3FDF142-B4B9-9DEC-D759-BA033EBBECAC}"/>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18</a:t>
            </a:fld>
            <a:endParaRPr lang="en-US" sz="4800" b="1" dirty="0">
              <a:solidFill>
                <a:srgbClr val="FF0000"/>
              </a:solidFill>
            </a:endParaRPr>
          </a:p>
        </p:txBody>
      </p:sp>
      <p:pic>
        <p:nvPicPr>
          <p:cNvPr id="7" name="Space Faculty logo" descr="sf_logo.png"/>
          <p:cNvPicPr>
            <a:picLocks noChangeAspect="1"/>
          </p:cNvPicPr>
          <p:nvPr/>
        </p:nvPicPr>
        <p:blipFill>
          <a:blip r:embed="rId2"/>
          <a:stretch>
            <a:fillRect/>
          </a:stretch>
        </p:blipFill>
        <p:spPr>
          <a:xfrm>
            <a:off x="10548530" y="54863"/>
            <a:ext cx="1530693" cy="434993"/>
          </a:xfrm>
          <a:prstGeom prst="rect">
            <a:avLst/>
          </a:prstGeom>
        </p:spPr>
      </p:pic>
    </p:spTree>
    <p:extLst>
      <p:ext uri="{BB962C8B-B14F-4D97-AF65-F5344CB8AC3E}">
        <p14:creationId xmlns:p14="http://schemas.microsoft.com/office/powerpoint/2010/main" val="3339874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37"/>
        <p:cNvGrpSpPr/>
        <p:nvPr/>
      </p:nvGrpSpPr>
      <p:grpSpPr>
        <a:xfrm>
          <a:off x="0" y="0"/>
          <a:ext cx="0" cy="0"/>
          <a:chOff x="0" y="0"/>
          <a:chExt cx="0" cy="0"/>
        </a:xfrm>
      </p:grpSpPr>
      <p:sp>
        <p:nvSpPr>
          <p:cNvPr id="4438" name="Google Shape;4438;p257"/>
          <p:cNvSpPr txBox="1">
            <a:spLocks noGrp="1"/>
          </p:cNvSpPr>
          <p:nvPr>
            <p:ph type="title"/>
          </p:nvPr>
        </p:nvSpPr>
        <p:spPr>
          <a:xfrm>
            <a:off x="1766824" y="26635"/>
            <a:ext cx="8581134" cy="828897"/>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Example of ADCS PBS</a:t>
            </a:r>
            <a:endParaRPr sz="4400" b="1" dirty="0">
              <a:latin typeface="Times New Roman" panose="02020603050405020304" pitchFamily="18" charset="0"/>
              <a:cs typeface="Times New Roman" panose="02020603050405020304" pitchFamily="18" charset="0"/>
            </a:endParaRPr>
          </a:p>
        </p:txBody>
      </p:sp>
      <p:sp>
        <p:nvSpPr>
          <p:cNvPr id="4444" name="Google Shape;4444;p257"/>
          <p:cNvSpPr txBox="1"/>
          <p:nvPr/>
        </p:nvSpPr>
        <p:spPr>
          <a:xfrm>
            <a:off x="-51487" y="2523959"/>
            <a:ext cx="1039575" cy="369291"/>
          </a:xfrm>
          <a:prstGeom prst="rect">
            <a:avLst/>
          </a:prstGeom>
          <a:noFill/>
          <a:ln>
            <a:noFill/>
          </a:ln>
        </p:spPr>
        <p:txBody>
          <a:bodyPr spcFirstLastPara="1" wrap="square" lIns="91425" tIns="45700" rIns="91425" bIns="45700" anchor="t" anchorCtr="0">
            <a:spAutoFit/>
          </a:bodyPr>
          <a:lstStyle/>
          <a:p>
            <a:pPr>
              <a:defRPr>
                <a:latin typeface="Ubuntu"/>
                <a:ea typeface="Ubuntu"/>
                <a:cs typeface="Ubuntu"/>
              </a:defRPr>
            </a:pPr>
            <a:r>
              <a:rPr lang="en-US" b="1" dirty="0">
                <a:latin typeface="Ubuntu"/>
                <a:ea typeface="Ubuntu"/>
                <a:cs typeface="Ubuntu"/>
                <a:sym typeface="Times New Roman"/>
              </a:rPr>
              <a:t>Layer 3</a:t>
            </a:r>
            <a:endParaRPr b="1" dirty="0"/>
          </a:p>
        </p:txBody>
      </p:sp>
      <p:sp>
        <p:nvSpPr>
          <p:cNvPr id="4445" name="Google Shape;4445;p257"/>
          <p:cNvSpPr txBox="1"/>
          <p:nvPr/>
        </p:nvSpPr>
        <p:spPr>
          <a:xfrm>
            <a:off x="-48975" y="1079262"/>
            <a:ext cx="1039575" cy="369291"/>
          </a:xfrm>
          <a:prstGeom prst="rect">
            <a:avLst/>
          </a:prstGeom>
          <a:noFill/>
          <a:ln>
            <a:noFill/>
          </a:ln>
        </p:spPr>
        <p:txBody>
          <a:bodyPr spcFirstLastPara="1" wrap="square" lIns="91425" tIns="45700" rIns="91425" bIns="45700" anchor="t" anchorCtr="0">
            <a:spAutoFit/>
          </a:bodyPr>
          <a:lstStyle/>
          <a:p>
            <a:pPr>
              <a:defRPr>
                <a:latin typeface="Ubuntu"/>
                <a:ea typeface="Ubuntu"/>
                <a:cs typeface="Ubuntu"/>
              </a:defRPr>
            </a:pPr>
            <a:r>
              <a:rPr lang="en-US" b="1" dirty="0">
                <a:latin typeface="Ubuntu"/>
                <a:ea typeface="Ubuntu"/>
                <a:cs typeface="Ubuntu"/>
                <a:sym typeface="Times New Roman"/>
              </a:rPr>
              <a:t>Layer 2</a:t>
            </a:r>
            <a:endParaRPr b="1" dirty="0"/>
          </a:p>
        </p:txBody>
      </p:sp>
      <p:sp>
        <p:nvSpPr>
          <p:cNvPr id="4446" name="Google Shape;4446;p257"/>
          <p:cNvSpPr txBox="1"/>
          <p:nvPr/>
        </p:nvSpPr>
        <p:spPr>
          <a:xfrm>
            <a:off x="-35347" y="4043227"/>
            <a:ext cx="1039575" cy="369291"/>
          </a:xfrm>
          <a:prstGeom prst="rect">
            <a:avLst/>
          </a:prstGeom>
          <a:noFill/>
          <a:ln>
            <a:noFill/>
          </a:ln>
        </p:spPr>
        <p:txBody>
          <a:bodyPr spcFirstLastPara="1" wrap="square" lIns="91425" tIns="45700" rIns="91425" bIns="45700" anchor="t" anchorCtr="0">
            <a:spAutoFit/>
          </a:bodyPr>
          <a:lstStyle/>
          <a:p>
            <a:pPr>
              <a:defRPr>
                <a:latin typeface="Ubuntu"/>
                <a:ea typeface="Ubuntu"/>
                <a:cs typeface="Ubuntu"/>
              </a:defRPr>
            </a:pPr>
            <a:r>
              <a:rPr lang="en-US" b="1" dirty="0">
                <a:latin typeface="Ubuntu"/>
                <a:ea typeface="Ubuntu"/>
                <a:cs typeface="Ubuntu"/>
                <a:sym typeface="Times New Roman"/>
              </a:rPr>
              <a:t>Layer 4</a:t>
            </a:r>
            <a:endParaRPr b="1" dirty="0"/>
          </a:p>
        </p:txBody>
      </p:sp>
      <p:grpSp>
        <p:nvGrpSpPr>
          <p:cNvPr id="2" name="Group 1">
            <a:extLst>
              <a:ext uri="{FF2B5EF4-FFF2-40B4-BE49-F238E27FC236}">
                <a16:creationId xmlns:a16="http://schemas.microsoft.com/office/drawing/2014/main" id="{D701D5EF-4D96-24C8-4228-AD1118B64F88}"/>
              </a:ext>
            </a:extLst>
          </p:cNvPr>
          <p:cNvGrpSpPr/>
          <p:nvPr/>
        </p:nvGrpSpPr>
        <p:grpSpPr>
          <a:xfrm>
            <a:off x="871158" y="855532"/>
            <a:ext cx="10939841" cy="5850068"/>
            <a:chOff x="2076167" y="1154203"/>
            <a:chExt cx="8271792" cy="4242758"/>
          </a:xfrm>
        </p:grpSpPr>
        <p:cxnSp>
          <p:nvCxnSpPr>
            <p:cNvPr id="4442" name="Google Shape;4442;p257"/>
            <p:cNvCxnSpPr/>
            <p:nvPr/>
          </p:nvCxnSpPr>
          <p:spPr>
            <a:xfrm rot="10800000" flipH="1">
              <a:off x="6042691" y="1834785"/>
              <a:ext cx="2774" cy="292241"/>
            </a:xfrm>
            <a:prstGeom prst="straightConnector1">
              <a:avLst/>
            </a:prstGeom>
            <a:noFill/>
            <a:ln w="38100" cap="flat" cmpd="sng">
              <a:solidFill>
                <a:schemeClr val="accent2"/>
              </a:solidFill>
              <a:prstDash val="solid"/>
              <a:miter lim="800000"/>
              <a:headEnd type="none" w="sm" len="sm"/>
              <a:tailEnd type="none" w="sm" len="sm"/>
            </a:ln>
          </p:spPr>
        </p:cxnSp>
        <p:sp>
          <p:nvSpPr>
            <p:cNvPr id="4443" name="Google Shape;4443;p257"/>
            <p:cNvSpPr/>
            <p:nvPr/>
          </p:nvSpPr>
          <p:spPr>
            <a:xfrm>
              <a:off x="5518805" y="1154203"/>
              <a:ext cx="1077172" cy="694797"/>
            </a:xfrm>
            <a:prstGeom prst="rect">
              <a:avLst/>
            </a:prstGeom>
            <a:gradFill>
              <a:gsLst>
                <a:gs pos="0">
                  <a:srgbClr val="F08B54"/>
                </a:gs>
                <a:gs pos="50000">
                  <a:srgbClr val="F67A26"/>
                </a:gs>
                <a:gs pos="100000">
                  <a:srgbClr val="E36A18"/>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1.1.1</a:t>
              </a:r>
              <a:br>
                <a:rPr lang="en-US" sz="2000" b="1">
                  <a:latin typeface="Calibri"/>
                  <a:ea typeface="Calibri"/>
                  <a:cs typeface="Calibri"/>
                  <a:sym typeface="Calibri"/>
                </a:rPr>
              </a:br>
              <a:r>
                <a:rPr lang="en-US" sz="2000" b="1">
                  <a:latin typeface="Ubuntu"/>
                  <a:ea typeface="Ubuntu"/>
                  <a:cs typeface="Ubuntu"/>
                  <a:sym typeface="Calibri"/>
                </a:rPr>
                <a:t>Satellite Bus</a:t>
              </a:r>
              <a:endParaRPr sz="2000" b="1"/>
            </a:p>
          </p:txBody>
        </p:sp>
        <p:sp>
          <p:nvSpPr>
            <p:cNvPr id="4447" name="Google Shape;4447;p257"/>
            <p:cNvSpPr/>
            <p:nvPr/>
          </p:nvSpPr>
          <p:spPr>
            <a:xfrm>
              <a:off x="8461252" y="3602291"/>
              <a:ext cx="1460734" cy="694797"/>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1.1.1.3.2</a:t>
              </a:r>
              <a:br>
                <a:rPr lang="en-US" sz="2000" b="1">
                  <a:latin typeface="Calibri"/>
                  <a:ea typeface="Calibri"/>
                  <a:cs typeface="Calibri"/>
                  <a:sym typeface="Calibri"/>
                </a:rPr>
              </a:br>
              <a:r>
                <a:rPr lang="en-US" sz="2000" b="1">
                  <a:latin typeface="Ubuntu"/>
                  <a:ea typeface="Ubuntu"/>
                  <a:cs typeface="Ubuntu"/>
                  <a:sym typeface="Calibri"/>
                </a:rPr>
                <a:t>Passive Attitude Control</a:t>
              </a:r>
              <a:endParaRPr sz="2000" b="1">
                <a:latin typeface="Calibri"/>
                <a:ea typeface="Calibri"/>
                <a:cs typeface="Calibri"/>
                <a:sym typeface="Calibri"/>
              </a:endParaRPr>
            </a:p>
          </p:txBody>
        </p:sp>
        <p:sp>
          <p:nvSpPr>
            <p:cNvPr id="4448" name="Google Shape;4448;p257"/>
            <p:cNvSpPr/>
            <p:nvPr/>
          </p:nvSpPr>
          <p:spPr>
            <a:xfrm>
              <a:off x="4194092" y="3457949"/>
              <a:ext cx="1389803" cy="806831"/>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dirty="0">
                  <a:latin typeface="Ubuntu"/>
                  <a:ea typeface="Ubuntu"/>
                  <a:cs typeface="Ubuntu"/>
                  <a:sym typeface="Calibri"/>
                </a:rPr>
                <a:t>1.1.1.3.1</a:t>
              </a:r>
              <a:br>
                <a:rPr lang="en-US" sz="2000" b="1" dirty="0">
                  <a:latin typeface="Calibri"/>
                  <a:ea typeface="Calibri"/>
                  <a:cs typeface="Calibri"/>
                  <a:sym typeface="Calibri"/>
                </a:rPr>
              </a:br>
              <a:r>
                <a:rPr lang="en-US" sz="2000" b="1" dirty="0">
                  <a:latin typeface="Ubuntu"/>
                  <a:ea typeface="Ubuntu"/>
                  <a:cs typeface="Ubuntu"/>
                  <a:sym typeface="Calibri"/>
                </a:rPr>
                <a:t>Attitude Determination</a:t>
              </a:r>
              <a:endParaRPr sz="2000" b="1" dirty="0">
                <a:latin typeface="Calibri"/>
                <a:ea typeface="Calibri"/>
                <a:cs typeface="Calibri"/>
                <a:sym typeface="Calibri"/>
              </a:endParaRPr>
            </a:p>
          </p:txBody>
        </p:sp>
        <p:sp>
          <p:nvSpPr>
            <p:cNvPr id="4449" name="Google Shape;4449;p257"/>
            <p:cNvSpPr/>
            <p:nvPr/>
          </p:nvSpPr>
          <p:spPr>
            <a:xfrm>
              <a:off x="6741733" y="4702160"/>
              <a:ext cx="952779" cy="694797"/>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dirty="0">
                  <a:latin typeface="Ubuntu"/>
                  <a:ea typeface="Ubuntu"/>
                  <a:cs typeface="Ubuntu"/>
                  <a:sym typeface="Calibri"/>
                </a:rPr>
                <a:t>Accelerometer</a:t>
              </a:r>
              <a:endParaRPr sz="2000" b="1" dirty="0">
                <a:latin typeface="Calibri"/>
                <a:ea typeface="Calibri"/>
                <a:cs typeface="Calibri"/>
                <a:sym typeface="Calibri"/>
              </a:endParaRPr>
            </a:p>
          </p:txBody>
        </p:sp>
        <p:sp>
          <p:nvSpPr>
            <p:cNvPr id="4450" name="Google Shape;4450;p257"/>
            <p:cNvSpPr/>
            <p:nvPr/>
          </p:nvSpPr>
          <p:spPr>
            <a:xfrm>
              <a:off x="5773442" y="4702161"/>
              <a:ext cx="781872" cy="694797"/>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3-axis Gyro</a:t>
              </a:r>
              <a:endParaRPr sz="2000" b="1">
                <a:latin typeface="Calibri"/>
                <a:ea typeface="Calibri"/>
                <a:cs typeface="Calibri"/>
                <a:sym typeface="Calibri"/>
              </a:endParaRPr>
            </a:p>
          </p:txBody>
        </p:sp>
        <p:sp>
          <p:nvSpPr>
            <p:cNvPr id="4451" name="Google Shape;4451;p257"/>
            <p:cNvSpPr/>
            <p:nvPr/>
          </p:nvSpPr>
          <p:spPr>
            <a:xfrm>
              <a:off x="4195407" y="4702161"/>
              <a:ext cx="1391616" cy="694797"/>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3-axis Magnetometer</a:t>
              </a:r>
              <a:endParaRPr sz="2000" b="1">
                <a:latin typeface="Calibri"/>
                <a:ea typeface="Calibri"/>
                <a:cs typeface="Calibri"/>
                <a:sym typeface="Calibri"/>
              </a:endParaRPr>
            </a:p>
          </p:txBody>
        </p:sp>
        <p:sp>
          <p:nvSpPr>
            <p:cNvPr id="4452" name="Google Shape;4452;p257"/>
            <p:cNvSpPr/>
            <p:nvPr/>
          </p:nvSpPr>
          <p:spPr>
            <a:xfrm>
              <a:off x="3238688" y="4702164"/>
              <a:ext cx="770300" cy="694797"/>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GPS</a:t>
              </a:r>
              <a:endParaRPr sz="2000" b="1">
                <a:latin typeface="Calibri"/>
                <a:ea typeface="Calibri"/>
                <a:cs typeface="Calibri"/>
                <a:sym typeface="Calibri"/>
              </a:endParaRPr>
            </a:p>
          </p:txBody>
        </p:sp>
        <p:sp>
          <p:nvSpPr>
            <p:cNvPr id="4453" name="Google Shape;4453;p257"/>
            <p:cNvSpPr/>
            <p:nvPr/>
          </p:nvSpPr>
          <p:spPr>
            <a:xfrm>
              <a:off x="7919022" y="4702164"/>
              <a:ext cx="1089849" cy="694793"/>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Permanent Magnet</a:t>
              </a:r>
              <a:endParaRPr sz="2000" b="1">
                <a:latin typeface="Calibri"/>
                <a:ea typeface="Calibri"/>
                <a:cs typeface="Calibri"/>
                <a:sym typeface="Calibri"/>
              </a:endParaRPr>
            </a:p>
          </p:txBody>
        </p:sp>
        <p:sp>
          <p:nvSpPr>
            <p:cNvPr id="4454" name="Google Shape;4454;p257"/>
            <p:cNvSpPr/>
            <p:nvPr/>
          </p:nvSpPr>
          <p:spPr>
            <a:xfrm>
              <a:off x="9354152" y="4702168"/>
              <a:ext cx="993807" cy="694789"/>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defRPr>
                  <a:latin typeface="Ubuntu"/>
                  <a:ea typeface="Ubuntu"/>
                  <a:cs typeface="Ubuntu"/>
                </a:defRPr>
              </a:pPr>
              <a:r>
                <a:rPr lang="en-US" sz="2000" b="1">
                  <a:latin typeface="Ubuntu"/>
                  <a:ea typeface="Ubuntu"/>
                  <a:cs typeface="Ubuntu"/>
                  <a:sym typeface="Calibri"/>
                </a:rPr>
                <a:t>Hysteresis Damper</a:t>
              </a:r>
              <a:endParaRPr sz="2000" b="1">
                <a:latin typeface="Calibri"/>
                <a:ea typeface="Calibri"/>
                <a:cs typeface="Calibri"/>
                <a:sym typeface="Calibri"/>
              </a:endParaRPr>
            </a:p>
          </p:txBody>
        </p:sp>
        <p:sp>
          <p:nvSpPr>
            <p:cNvPr id="4455" name="Google Shape;4455;p257"/>
            <p:cNvSpPr/>
            <p:nvPr/>
          </p:nvSpPr>
          <p:spPr>
            <a:xfrm>
              <a:off x="2076167" y="4702164"/>
              <a:ext cx="976102" cy="694797"/>
            </a:xfrm>
            <a:prstGeom prst="rect">
              <a:avLst/>
            </a:prstGeom>
            <a:gradFill>
              <a:gsLst>
                <a:gs pos="0">
                  <a:srgbClr val="FFC647"/>
                </a:gs>
                <a:gs pos="50000">
                  <a:srgbClr val="FFC600"/>
                </a:gs>
                <a:gs pos="100000">
                  <a:srgbClr val="E3B400"/>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Micro-controller</a:t>
              </a:r>
              <a:endParaRPr sz="2000" b="1">
                <a:latin typeface="Calibri"/>
                <a:ea typeface="Calibri"/>
                <a:cs typeface="Calibri"/>
                <a:sym typeface="Calibri"/>
              </a:endParaRPr>
            </a:p>
          </p:txBody>
        </p:sp>
        <p:cxnSp>
          <p:nvCxnSpPr>
            <p:cNvPr id="4456" name="Google Shape;4456;p257"/>
            <p:cNvCxnSpPr>
              <a:cxnSpLocks/>
              <a:endCxn id="4448" idx="0"/>
            </p:cNvCxnSpPr>
            <p:nvPr/>
          </p:nvCxnSpPr>
          <p:spPr>
            <a:xfrm flipH="1">
              <a:off x="4888994" y="3295311"/>
              <a:ext cx="1" cy="162638"/>
            </a:xfrm>
            <a:prstGeom prst="straightConnector1">
              <a:avLst/>
            </a:prstGeom>
            <a:noFill/>
            <a:ln w="38100" cap="flat" cmpd="sng">
              <a:solidFill>
                <a:schemeClr val="accent4"/>
              </a:solidFill>
              <a:prstDash val="solid"/>
              <a:miter lim="800000"/>
              <a:headEnd type="none" w="sm" len="sm"/>
              <a:tailEnd type="none" w="sm" len="sm"/>
            </a:ln>
          </p:spPr>
        </p:cxnSp>
        <p:cxnSp>
          <p:nvCxnSpPr>
            <p:cNvPr id="4457" name="Google Shape;4457;p257"/>
            <p:cNvCxnSpPr/>
            <p:nvPr/>
          </p:nvCxnSpPr>
          <p:spPr>
            <a:xfrm flipH="1">
              <a:off x="4891215" y="3059026"/>
              <a:ext cx="2554" cy="244244"/>
            </a:xfrm>
            <a:prstGeom prst="straightConnector1">
              <a:avLst/>
            </a:prstGeom>
            <a:noFill/>
            <a:ln w="38100" cap="flat" cmpd="sng">
              <a:solidFill>
                <a:schemeClr val="accent6"/>
              </a:solidFill>
              <a:prstDash val="solid"/>
              <a:miter lim="800000"/>
              <a:headEnd type="none" w="sm" len="sm"/>
              <a:tailEnd type="none" w="sm" len="sm"/>
            </a:ln>
          </p:spPr>
        </p:cxnSp>
        <p:cxnSp>
          <p:nvCxnSpPr>
            <p:cNvPr id="4458" name="Google Shape;4458;p257"/>
            <p:cNvCxnSpPr/>
            <p:nvPr/>
          </p:nvCxnSpPr>
          <p:spPr>
            <a:xfrm>
              <a:off x="4891216" y="3303270"/>
              <a:ext cx="4252785" cy="0"/>
            </a:xfrm>
            <a:prstGeom prst="straightConnector1">
              <a:avLst/>
            </a:prstGeom>
            <a:noFill/>
            <a:ln w="38100" cap="flat" cmpd="sng">
              <a:solidFill>
                <a:schemeClr val="accent4"/>
              </a:solidFill>
              <a:prstDash val="solid"/>
              <a:miter lim="800000"/>
              <a:headEnd type="none" w="sm" len="sm"/>
              <a:tailEnd type="none" w="sm" len="sm"/>
            </a:ln>
          </p:spPr>
        </p:cxnSp>
        <p:cxnSp>
          <p:nvCxnSpPr>
            <p:cNvPr id="4459" name="Google Shape;4459;p257"/>
            <p:cNvCxnSpPr/>
            <p:nvPr/>
          </p:nvCxnSpPr>
          <p:spPr>
            <a:xfrm>
              <a:off x="9140127" y="3303270"/>
              <a:ext cx="0" cy="296736"/>
            </a:xfrm>
            <a:prstGeom prst="straightConnector1">
              <a:avLst/>
            </a:prstGeom>
            <a:noFill/>
            <a:ln w="38100" cap="flat" cmpd="sng">
              <a:solidFill>
                <a:schemeClr val="accent4"/>
              </a:solidFill>
              <a:prstDash val="solid"/>
              <a:miter lim="800000"/>
              <a:headEnd type="none" w="sm" len="sm"/>
              <a:tailEnd type="none" w="sm" len="sm"/>
            </a:ln>
          </p:spPr>
        </p:cxnSp>
        <p:cxnSp>
          <p:nvCxnSpPr>
            <p:cNvPr id="4460" name="Google Shape;4460;p257"/>
            <p:cNvCxnSpPr/>
            <p:nvPr/>
          </p:nvCxnSpPr>
          <p:spPr>
            <a:xfrm>
              <a:off x="4891215" y="4490543"/>
              <a:ext cx="0" cy="211616"/>
            </a:xfrm>
            <a:prstGeom prst="straightConnector1">
              <a:avLst/>
            </a:prstGeom>
            <a:noFill/>
            <a:ln w="38100" cap="flat" cmpd="sng">
              <a:solidFill>
                <a:schemeClr val="accent4"/>
              </a:solidFill>
              <a:prstDash val="solid"/>
              <a:miter lim="800000"/>
              <a:headEnd type="none" w="sm" len="sm"/>
              <a:tailEnd type="none" w="sm" len="sm"/>
            </a:ln>
          </p:spPr>
        </p:cxnSp>
        <p:cxnSp>
          <p:nvCxnSpPr>
            <p:cNvPr id="4461" name="Google Shape;4461;p257"/>
            <p:cNvCxnSpPr/>
            <p:nvPr/>
          </p:nvCxnSpPr>
          <p:spPr>
            <a:xfrm>
              <a:off x="3604959" y="4490543"/>
              <a:ext cx="0" cy="211616"/>
            </a:xfrm>
            <a:prstGeom prst="straightConnector1">
              <a:avLst/>
            </a:prstGeom>
            <a:noFill/>
            <a:ln w="38100" cap="flat" cmpd="sng">
              <a:solidFill>
                <a:schemeClr val="accent4"/>
              </a:solidFill>
              <a:prstDash val="solid"/>
              <a:miter lim="800000"/>
              <a:headEnd type="none" w="sm" len="sm"/>
              <a:tailEnd type="none" w="sm" len="sm"/>
            </a:ln>
          </p:spPr>
        </p:cxnSp>
        <p:cxnSp>
          <p:nvCxnSpPr>
            <p:cNvPr id="4462" name="Google Shape;4462;p257"/>
            <p:cNvCxnSpPr/>
            <p:nvPr/>
          </p:nvCxnSpPr>
          <p:spPr>
            <a:xfrm>
              <a:off x="2562543" y="4490543"/>
              <a:ext cx="0" cy="211616"/>
            </a:xfrm>
            <a:prstGeom prst="straightConnector1">
              <a:avLst/>
            </a:prstGeom>
            <a:noFill/>
            <a:ln w="38100" cap="flat" cmpd="sng">
              <a:solidFill>
                <a:schemeClr val="accent4"/>
              </a:solidFill>
              <a:prstDash val="solid"/>
              <a:miter lim="800000"/>
              <a:headEnd type="none" w="sm" len="sm"/>
              <a:tailEnd type="none" w="sm" len="sm"/>
            </a:ln>
          </p:spPr>
        </p:cxnSp>
        <p:cxnSp>
          <p:nvCxnSpPr>
            <p:cNvPr id="4463" name="Google Shape;4463;p257"/>
            <p:cNvCxnSpPr/>
            <p:nvPr/>
          </p:nvCxnSpPr>
          <p:spPr>
            <a:xfrm>
              <a:off x="6159183" y="4490543"/>
              <a:ext cx="0" cy="211616"/>
            </a:xfrm>
            <a:prstGeom prst="straightConnector1">
              <a:avLst/>
            </a:prstGeom>
            <a:noFill/>
            <a:ln w="38100" cap="flat" cmpd="sng">
              <a:solidFill>
                <a:schemeClr val="accent4"/>
              </a:solidFill>
              <a:prstDash val="solid"/>
              <a:miter lim="800000"/>
              <a:headEnd type="none" w="sm" len="sm"/>
              <a:tailEnd type="none" w="sm" len="sm"/>
            </a:ln>
          </p:spPr>
        </p:cxnSp>
        <p:cxnSp>
          <p:nvCxnSpPr>
            <p:cNvPr id="4464" name="Google Shape;4464;p257"/>
            <p:cNvCxnSpPr/>
            <p:nvPr/>
          </p:nvCxnSpPr>
          <p:spPr>
            <a:xfrm>
              <a:off x="7116255" y="4490543"/>
              <a:ext cx="0" cy="211616"/>
            </a:xfrm>
            <a:prstGeom prst="straightConnector1">
              <a:avLst/>
            </a:prstGeom>
            <a:noFill/>
            <a:ln w="38100" cap="flat" cmpd="sng">
              <a:solidFill>
                <a:schemeClr val="accent4"/>
              </a:solidFill>
              <a:prstDash val="solid"/>
              <a:miter lim="800000"/>
              <a:headEnd type="none" w="sm" len="sm"/>
              <a:tailEnd type="none" w="sm" len="sm"/>
            </a:ln>
          </p:spPr>
        </p:cxnSp>
        <p:cxnSp>
          <p:nvCxnSpPr>
            <p:cNvPr id="4465" name="Google Shape;4465;p257"/>
            <p:cNvCxnSpPr/>
            <p:nvPr/>
          </p:nvCxnSpPr>
          <p:spPr>
            <a:xfrm>
              <a:off x="8390319" y="4490543"/>
              <a:ext cx="0" cy="211616"/>
            </a:xfrm>
            <a:prstGeom prst="straightConnector1">
              <a:avLst/>
            </a:prstGeom>
            <a:noFill/>
            <a:ln w="38100" cap="flat" cmpd="sng">
              <a:solidFill>
                <a:schemeClr val="accent4"/>
              </a:solidFill>
              <a:prstDash val="solid"/>
              <a:miter lim="800000"/>
              <a:headEnd type="none" w="sm" len="sm"/>
              <a:tailEnd type="none" w="sm" len="sm"/>
            </a:ln>
          </p:spPr>
        </p:cxnSp>
        <p:cxnSp>
          <p:nvCxnSpPr>
            <p:cNvPr id="4466" name="Google Shape;4466;p257"/>
            <p:cNvCxnSpPr/>
            <p:nvPr/>
          </p:nvCxnSpPr>
          <p:spPr>
            <a:xfrm>
              <a:off x="9853277" y="4490543"/>
              <a:ext cx="0" cy="211616"/>
            </a:xfrm>
            <a:prstGeom prst="straightConnector1">
              <a:avLst/>
            </a:prstGeom>
            <a:noFill/>
            <a:ln w="38100" cap="flat" cmpd="sng">
              <a:solidFill>
                <a:schemeClr val="accent4"/>
              </a:solidFill>
              <a:prstDash val="solid"/>
              <a:miter lim="800000"/>
              <a:headEnd type="none" w="sm" len="sm"/>
              <a:tailEnd type="none" w="sm" len="sm"/>
            </a:ln>
          </p:spPr>
        </p:cxnSp>
        <p:cxnSp>
          <p:nvCxnSpPr>
            <p:cNvPr id="4467" name="Google Shape;4467;p257"/>
            <p:cNvCxnSpPr/>
            <p:nvPr/>
          </p:nvCxnSpPr>
          <p:spPr>
            <a:xfrm>
              <a:off x="2562543" y="4490543"/>
              <a:ext cx="4553712" cy="0"/>
            </a:xfrm>
            <a:prstGeom prst="straightConnector1">
              <a:avLst/>
            </a:prstGeom>
            <a:noFill/>
            <a:ln w="38100" cap="flat" cmpd="sng">
              <a:solidFill>
                <a:schemeClr val="accent4"/>
              </a:solidFill>
              <a:prstDash val="solid"/>
              <a:miter lim="800000"/>
              <a:headEnd type="none" w="sm" len="sm"/>
              <a:tailEnd type="none" w="sm" len="sm"/>
            </a:ln>
          </p:spPr>
        </p:cxnSp>
        <p:cxnSp>
          <p:nvCxnSpPr>
            <p:cNvPr id="4468" name="Google Shape;4468;p257"/>
            <p:cNvCxnSpPr/>
            <p:nvPr/>
          </p:nvCxnSpPr>
          <p:spPr>
            <a:xfrm>
              <a:off x="8390320" y="4490543"/>
              <a:ext cx="1460735" cy="0"/>
            </a:xfrm>
            <a:prstGeom prst="straightConnector1">
              <a:avLst/>
            </a:prstGeom>
            <a:noFill/>
            <a:ln w="38100" cap="flat" cmpd="sng">
              <a:solidFill>
                <a:schemeClr val="accent4"/>
              </a:solidFill>
              <a:prstDash val="solid"/>
              <a:miter lim="800000"/>
              <a:headEnd type="none" w="sm" len="sm"/>
              <a:tailEnd type="none" w="sm" len="sm"/>
            </a:ln>
          </p:spPr>
        </p:cxnSp>
        <p:cxnSp>
          <p:nvCxnSpPr>
            <p:cNvPr id="4469" name="Google Shape;4469;p257"/>
            <p:cNvCxnSpPr>
              <a:cxnSpLocks/>
              <a:stCxn id="4448" idx="2"/>
            </p:cNvCxnSpPr>
            <p:nvPr/>
          </p:nvCxnSpPr>
          <p:spPr>
            <a:xfrm>
              <a:off x="4888994" y="4264780"/>
              <a:ext cx="0" cy="211618"/>
            </a:xfrm>
            <a:prstGeom prst="straightConnector1">
              <a:avLst/>
            </a:prstGeom>
            <a:noFill/>
            <a:ln w="38100" cap="flat" cmpd="sng">
              <a:solidFill>
                <a:schemeClr val="accent4"/>
              </a:solidFill>
              <a:prstDash val="solid"/>
              <a:miter lim="800000"/>
              <a:headEnd type="none" w="sm" len="sm"/>
              <a:tailEnd type="none" w="sm" len="sm"/>
            </a:ln>
          </p:spPr>
        </p:cxnSp>
        <p:cxnSp>
          <p:nvCxnSpPr>
            <p:cNvPr id="4470" name="Google Shape;4470;p257"/>
            <p:cNvCxnSpPr>
              <a:cxnSpLocks/>
              <a:stCxn id="4447" idx="2"/>
            </p:cNvCxnSpPr>
            <p:nvPr/>
          </p:nvCxnSpPr>
          <p:spPr>
            <a:xfrm>
              <a:off x="9191620" y="4297088"/>
              <a:ext cx="0" cy="193455"/>
            </a:xfrm>
            <a:prstGeom prst="straightConnector1">
              <a:avLst/>
            </a:prstGeom>
            <a:noFill/>
            <a:ln w="38100" cap="flat" cmpd="sng">
              <a:solidFill>
                <a:schemeClr val="accent4"/>
              </a:solidFill>
              <a:prstDash val="solid"/>
              <a:miter lim="800000"/>
              <a:headEnd type="none" w="sm" len="sm"/>
              <a:tailEnd type="none" w="sm" len="sm"/>
            </a:ln>
          </p:spPr>
        </p:cxnSp>
        <p:sp>
          <p:nvSpPr>
            <p:cNvPr id="4471" name="Google Shape;4471;p257"/>
            <p:cNvSpPr/>
            <p:nvPr/>
          </p:nvSpPr>
          <p:spPr>
            <a:xfrm>
              <a:off x="4546262" y="2364230"/>
              <a:ext cx="695007" cy="694797"/>
            </a:xfrm>
            <a:prstGeom prst="rect">
              <a:avLst/>
            </a:prstGeom>
            <a:gradFill>
              <a:gsLst>
                <a:gs pos="0">
                  <a:srgbClr val="7FB75F"/>
                </a:gs>
                <a:gs pos="50000">
                  <a:srgbClr val="6EB141"/>
                </a:gs>
                <a:gs pos="100000">
                  <a:srgbClr val="5FA134"/>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1.1.1.3</a:t>
              </a:r>
              <a:br>
                <a:rPr lang="en-US" sz="2000" b="1">
                  <a:latin typeface="Calibri"/>
                  <a:ea typeface="Calibri"/>
                  <a:cs typeface="Calibri"/>
                  <a:sym typeface="Calibri"/>
                </a:rPr>
              </a:br>
              <a:r>
                <a:rPr lang="en-US" sz="2000" b="1">
                  <a:latin typeface="Ubuntu"/>
                  <a:ea typeface="Ubuntu"/>
                  <a:cs typeface="Ubuntu"/>
                  <a:sym typeface="Calibri"/>
                </a:rPr>
                <a:t>ADCS</a:t>
              </a:r>
              <a:endParaRPr sz="2000" b="1"/>
            </a:p>
          </p:txBody>
        </p:sp>
        <p:sp>
          <p:nvSpPr>
            <p:cNvPr id="4472" name="Google Shape;4472;p257"/>
            <p:cNvSpPr/>
            <p:nvPr/>
          </p:nvSpPr>
          <p:spPr>
            <a:xfrm>
              <a:off x="7919018" y="2357137"/>
              <a:ext cx="708533" cy="694797"/>
            </a:xfrm>
            <a:prstGeom prst="rect">
              <a:avLst/>
            </a:prstGeom>
            <a:gradFill>
              <a:gsLst>
                <a:gs pos="0">
                  <a:srgbClr val="7FB75F"/>
                </a:gs>
                <a:gs pos="50000">
                  <a:srgbClr val="6EB141"/>
                </a:gs>
                <a:gs pos="100000">
                  <a:srgbClr val="5FA134"/>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1.1.1.6</a:t>
              </a:r>
              <a:br>
                <a:rPr lang="en-US" sz="2000" b="1">
                  <a:latin typeface="Calibri"/>
                  <a:ea typeface="Calibri"/>
                  <a:cs typeface="Calibri"/>
                  <a:sym typeface="Calibri"/>
                </a:rPr>
              </a:br>
              <a:r>
                <a:rPr lang="en-US" sz="2000" b="1">
                  <a:latin typeface="Ubuntu"/>
                  <a:ea typeface="Ubuntu"/>
                  <a:cs typeface="Ubuntu"/>
                  <a:sym typeface="Calibri"/>
                </a:rPr>
                <a:t>OBC/</a:t>
              </a:r>
              <a:endParaRPr sz="2000" b="1"/>
            </a:p>
            <a:p>
              <a:pPr algn="ctr">
                <a:buClr>
                  <a:srgbClr val="FFFFFF"/>
                </a:buClr>
                <a:buSzPts val="1400"/>
                <a:defRPr>
                  <a:latin typeface="Ubuntu"/>
                  <a:ea typeface="Ubuntu"/>
                  <a:cs typeface="Ubuntu"/>
                </a:defRPr>
              </a:pPr>
              <a:r>
                <a:rPr lang="en-US" sz="2000" b="1">
                  <a:latin typeface="Ubuntu"/>
                  <a:ea typeface="Ubuntu"/>
                  <a:cs typeface="Ubuntu"/>
                  <a:sym typeface="Calibri"/>
                </a:rPr>
                <a:t>CD&amp;H</a:t>
              </a:r>
              <a:endParaRPr sz="2000" b="1"/>
            </a:p>
          </p:txBody>
        </p:sp>
        <p:sp>
          <p:nvSpPr>
            <p:cNvPr id="4473" name="Google Shape;4473;p257"/>
            <p:cNvSpPr/>
            <p:nvPr/>
          </p:nvSpPr>
          <p:spPr>
            <a:xfrm>
              <a:off x="5696931" y="2357139"/>
              <a:ext cx="695006" cy="694797"/>
            </a:xfrm>
            <a:prstGeom prst="rect">
              <a:avLst/>
            </a:prstGeom>
            <a:gradFill>
              <a:gsLst>
                <a:gs pos="0">
                  <a:srgbClr val="7FB75F"/>
                </a:gs>
                <a:gs pos="50000">
                  <a:srgbClr val="6EB141"/>
                </a:gs>
                <a:gs pos="100000">
                  <a:srgbClr val="5FA134"/>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1.1.1.4</a:t>
              </a:r>
              <a:br>
                <a:rPr lang="en-US" sz="2000" b="1">
                  <a:latin typeface="Calibri"/>
                  <a:ea typeface="Calibri"/>
                  <a:cs typeface="Calibri"/>
                  <a:sym typeface="Calibri"/>
                </a:rPr>
              </a:br>
              <a:r>
                <a:rPr lang="en-US" sz="2000" b="1">
                  <a:latin typeface="Ubuntu"/>
                  <a:ea typeface="Ubuntu"/>
                  <a:cs typeface="Ubuntu"/>
                  <a:sym typeface="Calibri"/>
                </a:rPr>
                <a:t>EPS</a:t>
              </a:r>
              <a:endParaRPr sz="2000" b="1"/>
            </a:p>
          </p:txBody>
        </p:sp>
        <p:sp>
          <p:nvSpPr>
            <p:cNvPr id="4474" name="Google Shape;4474;p257"/>
            <p:cNvSpPr/>
            <p:nvPr/>
          </p:nvSpPr>
          <p:spPr>
            <a:xfrm>
              <a:off x="6841360" y="2357138"/>
              <a:ext cx="708533" cy="694797"/>
            </a:xfrm>
            <a:prstGeom prst="rect">
              <a:avLst/>
            </a:prstGeom>
            <a:gradFill>
              <a:gsLst>
                <a:gs pos="0">
                  <a:srgbClr val="7FB75F"/>
                </a:gs>
                <a:gs pos="50000">
                  <a:srgbClr val="6EB141"/>
                </a:gs>
                <a:gs pos="100000">
                  <a:srgbClr val="5FA134"/>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1.1.1.5</a:t>
              </a:r>
              <a:br>
                <a:rPr lang="en-US" sz="2000" b="1">
                  <a:latin typeface="Calibri"/>
                  <a:ea typeface="Calibri"/>
                  <a:cs typeface="Calibri"/>
                  <a:sym typeface="Calibri"/>
                </a:rPr>
              </a:br>
              <a:r>
                <a:rPr lang="en-US" sz="2000" b="1">
                  <a:latin typeface="Ubuntu"/>
                  <a:ea typeface="Ubuntu"/>
                  <a:cs typeface="Ubuntu"/>
                  <a:sym typeface="Calibri"/>
                </a:rPr>
                <a:t>COMM</a:t>
              </a:r>
              <a:endParaRPr sz="2000" b="1"/>
            </a:p>
          </p:txBody>
        </p:sp>
        <p:sp>
          <p:nvSpPr>
            <p:cNvPr id="4475" name="Google Shape;4475;p257"/>
            <p:cNvSpPr/>
            <p:nvPr/>
          </p:nvSpPr>
          <p:spPr>
            <a:xfrm>
              <a:off x="2432194" y="2357137"/>
              <a:ext cx="770993" cy="694797"/>
            </a:xfrm>
            <a:prstGeom prst="rect">
              <a:avLst/>
            </a:prstGeom>
            <a:gradFill>
              <a:gsLst>
                <a:gs pos="0">
                  <a:srgbClr val="7FB75F"/>
                </a:gs>
                <a:gs pos="50000">
                  <a:srgbClr val="6EB141"/>
                </a:gs>
                <a:gs pos="100000">
                  <a:srgbClr val="5FA134"/>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a:latin typeface="Ubuntu"/>
                  <a:ea typeface="Ubuntu"/>
                  <a:cs typeface="Ubuntu"/>
                  <a:sym typeface="Calibri"/>
                </a:rPr>
                <a:t>1.1.1.1</a:t>
              </a:r>
              <a:br>
                <a:rPr lang="en-US" sz="2000" b="1">
                  <a:latin typeface="Calibri"/>
                  <a:ea typeface="Calibri"/>
                  <a:cs typeface="Calibri"/>
                  <a:sym typeface="Calibri"/>
                </a:rPr>
              </a:br>
              <a:r>
                <a:rPr lang="en-US" sz="2000" b="1">
                  <a:latin typeface="Ubuntu"/>
                  <a:ea typeface="Ubuntu"/>
                  <a:cs typeface="Ubuntu"/>
                  <a:sym typeface="Calibri"/>
                </a:rPr>
                <a:t>STR 1U</a:t>
              </a:r>
              <a:endParaRPr sz="2000" b="1"/>
            </a:p>
          </p:txBody>
        </p:sp>
        <p:cxnSp>
          <p:nvCxnSpPr>
            <p:cNvPr id="4476" name="Google Shape;4476;p257"/>
            <p:cNvCxnSpPr/>
            <p:nvPr/>
          </p:nvCxnSpPr>
          <p:spPr>
            <a:xfrm rot="10800000">
              <a:off x="3844600" y="2128539"/>
              <a:ext cx="0" cy="235689"/>
            </a:xfrm>
            <a:prstGeom prst="straightConnector1">
              <a:avLst/>
            </a:prstGeom>
            <a:noFill/>
            <a:ln w="38100" cap="flat" cmpd="sng">
              <a:solidFill>
                <a:schemeClr val="accent6"/>
              </a:solidFill>
              <a:prstDash val="solid"/>
              <a:miter lim="800000"/>
              <a:headEnd type="none" w="sm" len="sm"/>
              <a:tailEnd type="none" w="sm" len="sm"/>
            </a:ln>
          </p:spPr>
        </p:cxnSp>
        <p:cxnSp>
          <p:nvCxnSpPr>
            <p:cNvPr id="4477" name="Google Shape;4477;p257"/>
            <p:cNvCxnSpPr/>
            <p:nvPr/>
          </p:nvCxnSpPr>
          <p:spPr>
            <a:xfrm rot="10800000">
              <a:off x="4901434" y="2128539"/>
              <a:ext cx="0" cy="235689"/>
            </a:xfrm>
            <a:prstGeom prst="straightConnector1">
              <a:avLst/>
            </a:prstGeom>
            <a:noFill/>
            <a:ln w="38100" cap="flat" cmpd="sng">
              <a:solidFill>
                <a:schemeClr val="accent6"/>
              </a:solidFill>
              <a:prstDash val="solid"/>
              <a:miter lim="800000"/>
              <a:headEnd type="none" w="sm" len="sm"/>
              <a:tailEnd type="none" w="sm" len="sm"/>
            </a:ln>
          </p:spPr>
        </p:cxnSp>
        <p:cxnSp>
          <p:nvCxnSpPr>
            <p:cNvPr id="4478" name="Google Shape;4478;p257"/>
            <p:cNvCxnSpPr/>
            <p:nvPr/>
          </p:nvCxnSpPr>
          <p:spPr>
            <a:xfrm rot="10800000">
              <a:off x="6044434" y="2128539"/>
              <a:ext cx="0" cy="235689"/>
            </a:xfrm>
            <a:prstGeom prst="straightConnector1">
              <a:avLst/>
            </a:prstGeom>
            <a:noFill/>
            <a:ln w="38100" cap="flat" cmpd="sng">
              <a:solidFill>
                <a:schemeClr val="accent6"/>
              </a:solidFill>
              <a:prstDash val="solid"/>
              <a:miter lim="800000"/>
              <a:headEnd type="none" w="sm" len="sm"/>
              <a:tailEnd type="none" w="sm" len="sm"/>
            </a:ln>
          </p:spPr>
        </p:cxnSp>
        <p:cxnSp>
          <p:nvCxnSpPr>
            <p:cNvPr id="4479" name="Google Shape;4479;p257"/>
            <p:cNvCxnSpPr/>
            <p:nvPr/>
          </p:nvCxnSpPr>
          <p:spPr>
            <a:xfrm rot="10800000">
              <a:off x="7187434" y="2128539"/>
              <a:ext cx="0" cy="235689"/>
            </a:xfrm>
            <a:prstGeom prst="straightConnector1">
              <a:avLst/>
            </a:prstGeom>
            <a:noFill/>
            <a:ln w="38100" cap="flat" cmpd="sng">
              <a:solidFill>
                <a:schemeClr val="accent6"/>
              </a:solidFill>
              <a:prstDash val="solid"/>
              <a:miter lim="800000"/>
              <a:headEnd type="none" w="sm" len="sm"/>
              <a:tailEnd type="none" w="sm" len="sm"/>
            </a:ln>
          </p:spPr>
        </p:cxnSp>
        <p:cxnSp>
          <p:nvCxnSpPr>
            <p:cNvPr id="4480" name="Google Shape;4480;p257"/>
            <p:cNvCxnSpPr/>
            <p:nvPr/>
          </p:nvCxnSpPr>
          <p:spPr>
            <a:xfrm rot="10800000">
              <a:off x="8326624" y="2128539"/>
              <a:ext cx="0" cy="235689"/>
            </a:xfrm>
            <a:prstGeom prst="straightConnector1">
              <a:avLst/>
            </a:prstGeom>
            <a:noFill/>
            <a:ln w="38100" cap="flat" cmpd="sng">
              <a:solidFill>
                <a:schemeClr val="accent6"/>
              </a:solidFill>
              <a:prstDash val="solid"/>
              <a:miter lim="800000"/>
              <a:headEnd type="none" w="sm" len="sm"/>
              <a:tailEnd type="none" w="sm" len="sm"/>
            </a:ln>
          </p:spPr>
        </p:cxnSp>
        <p:cxnSp>
          <p:nvCxnSpPr>
            <p:cNvPr id="4481" name="Google Shape;4481;p257"/>
            <p:cNvCxnSpPr/>
            <p:nvPr/>
          </p:nvCxnSpPr>
          <p:spPr>
            <a:xfrm>
              <a:off x="2817349" y="2127025"/>
              <a:ext cx="6521287" cy="0"/>
            </a:xfrm>
            <a:prstGeom prst="straightConnector1">
              <a:avLst/>
            </a:prstGeom>
            <a:noFill/>
            <a:ln w="38100" cap="flat" cmpd="sng">
              <a:solidFill>
                <a:schemeClr val="accent6"/>
              </a:solidFill>
              <a:prstDash val="solid"/>
              <a:miter lim="800000"/>
              <a:headEnd type="none" w="sm" len="sm"/>
              <a:tailEnd type="none" w="sm" len="sm"/>
            </a:ln>
          </p:spPr>
        </p:cxnSp>
        <p:sp>
          <p:nvSpPr>
            <p:cNvPr id="4482" name="Google Shape;4482;p257"/>
            <p:cNvSpPr/>
            <p:nvPr/>
          </p:nvSpPr>
          <p:spPr>
            <a:xfrm>
              <a:off x="4414292" y="2300700"/>
              <a:ext cx="943740" cy="828896"/>
            </a:xfrm>
            <a:prstGeom prst="rect">
              <a:avLst/>
            </a:prstGeom>
            <a:noFill/>
            <a:ln w="38100" cap="flat" cmpd="sng">
              <a:solidFill>
                <a:srgbClr val="7030A0"/>
              </a:solidFill>
              <a:prstDash val="dash"/>
              <a:miter lim="800000"/>
              <a:headEnd type="none" w="sm" len="sm"/>
              <a:tailEnd type="none" w="sm" len="sm"/>
            </a:ln>
          </p:spPr>
          <p:txBody>
            <a:bodyPr spcFirstLastPara="1" wrap="square" lIns="91425" tIns="45700" rIns="91425" bIns="45700" anchor="ctr" anchorCtr="0">
              <a:noAutofit/>
            </a:bodyPr>
            <a:lstStyle/>
            <a:p>
              <a:pPr algn="ctr">
                <a:buClr>
                  <a:schemeClr val="dk1"/>
                </a:buClr>
                <a:buSzPts val="1600"/>
                <a:defRPr>
                  <a:latin typeface="Ubuntu"/>
                  <a:ea typeface="Ubuntu"/>
                  <a:cs typeface="Ubuntu"/>
                </a:defRPr>
              </a:pPr>
              <a:endParaRPr sz="2000" b="1">
                <a:latin typeface="Calibri"/>
                <a:ea typeface="Calibri"/>
                <a:cs typeface="Calibri"/>
                <a:sym typeface="Calibri"/>
              </a:endParaRPr>
            </a:p>
          </p:txBody>
        </p:sp>
        <p:sp>
          <p:nvSpPr>
            <p:cNvPr id="4483" name="Google Shape;4483;p257"/>
            <p:cNvSpPr/>
            <p:nvPr/>
          </p:nvSpPr>
          <p:spPr>
            <a:xfrm>
              <a:off x="3473756" y="2364290"/>
              <a:ext cx="770993" cy="694797"/>
            </a:xfrm>
            <a:prstGeom prst="rect">
              <a:avLst/>
            </a:prstGeom>
            <a:gradFill>
              <a:gsLst>
                <a:gs pos="0">
                  <a:srgbClr val="7FB75F"/>
                </a:gs>
                <a:gs pos="50000">
                  <a:srgbClr val="6EB141"/>
                </a:gs>
                <a:gs pos="100000">
                  <a:srgbClr val="5FA134"/>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dirty="0">
                  <a:latin typeface="Ubuntu"/>
                  <a:ea typeface="Ubuntu"/>
                  <a:cs typeface="Ubuntu"/>
                  <a:sym typeface="Calibri"/>
                </a:rPr>
                <a:t>1.1.1.2</a:t>
              </a:r>
              <a:br>
                <a:rPr lang="en-US" sz="2000" b="1" dirty="0">
                  <a:latin typeface="Calibri"/>
                  <a:ea typeface="Calibri"/>
                  <a:cs typeface="Calibri"/>
                  <a:sym typeface="Calibri"/>
                </a:rPr>
              </a:br>
              <a:r>
                <a:rPr lang="en-US" sz="2000" b="1" dirty="0">
                  <a:latin typeface="Ubuntu"/>
                  <a:ea typeface="Ubuntu"/>
                  <a:cs typeface="Ubuntu"/>
                  <a:sym typeface="Calibri"/>
                </a:rPr>
                <a:t>Propulsion</a:t>
              </a:r>
              <a:endParaRPr sz="2000" b="1" dirty="0"/>
            </a:p>
          </p:txBody>
        </p:sp>
        <p:cxnSp>
          <p:nvCxnSpPr>
            <p:cNvPr id="4484" name="Google Shape;4484;p257"/>
            <p:cNvCxnSpPr/>
            <p:nvPr/>
          </p:nvCxnSpPr>
          <p:spPr>
            <a:xfrm rot="10800000">
              <a:off x="2817348" y="2121446"/>
              <a:ext cx="0" cy="235689"/>
            </a:xfrm>
            <a:prstGeom prst="straightConnector1">
              <a:avLst/>
            </a:prstGeom>
            <a:noFill/>
            <a:ln w="38100" cap="flat" cmpd="sng">
              <a:solidFill>
                <a:schemeClr val="accent6"/>
              </a:solidFill>
              <a:prstDash val="solid"/>
              <a:miter lim="800000"/>
              <a:headEnd type="none" w="sm" len="sm"/>
              <a:tailEnd type="none" w="sm" len="sm"/>
            </a:ln>
          </p:spPr>
        </p:cxnSp>
        <p:sp>
          <p:nvSpPr>
            <p:cNvPr id="4485" name="Google Shape;4485;p257"/>
            <p:cNvSpPr/>
            <p:nvPr/>
          </p:nvSpPr>
          <p:spPr>
            <a:xfrm>
              <a:off x="8984370" y="2367896"/>
              <a:ext cx="708533" cy="694797"/>
            </a:xfrm>
            <a:prstGeom prst="rect">
              <a:avLst/>
            </a:prstGeom>
            <a:gradFill>
              <a:gsLst>
                <a:gs pos="0">
                  <a:srgbClr val="7FB75F"/>
                </a:gs>
                <a:gs pos="50000">
                  <a:srgbClr val="6EB141"/>
                </a:gs>
                <a:gs pos="100000">
                  <a:srgbClr val="5FA134"/>
                </a:gs>
              </a:gsLst>
              <a:lin ang="5400000" scaled="0"/>
            </a:gradFill>
            <a:ln w="38100">
              <a:solidFill>
                <a:schemeClr val="tx1"/>
              </a:solid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algn="ctr">
                <a:buClr>
                  <a:srgbClr val="FFFFFF"/>
                </a:buClr>
                <a:buSzPts val="1400"/>
                <a:defRPr>
                  <a:latin typeface="Ubuntu"/>
                  <a:ea typeface="Ubuntu"/>
                  <a:cs typeface="Ubuntu"/>
                </a:defRPr>
              </a:pPr>
              <a:r>
                <a:rPr lang="en-US" sz="2000" b="1" dirty="0">
                  <a:latin typeface="Ubuntu"/>
                  <a:ea typeface="Ubuntu"/>
                  <a:cs typeface="Ubuntu"/>
                  <a:sym typeface="Calibri"/>
                </a:rPr>
                <a:t>1.1.1.7</a:t>
              </a:r>
              <a:br>
                <a:rPr lang="en-US" sz="2000" b="1" dirty="0">
                  <a:latin typeface="Calibri"/>
                  <a:ea typeface="Calibri"/>
                  <a:cs typeface="Calibri"/>
                  <a:sym typeface="Calibri"/>
                </a:rPr>
              </a:br>
              <a:r>
                <a:rPr lang="en-US" sz="2000" b="1" dirty="0">
                  <a:latin typeface="Ubuntu"/>
                  <a:ea typeface="Ubuntu"/>
                  <a:cs typeface="Ubuntu"/>
                  <a:sym typeface="Calibri"/>
                </a:rPr>
                <a:t>Thermal</a:t>
              </a:r>
              <a:endParaRPr sz="2000" b="1" dirty="0"/>
            </a:p>
          </p:txBody>
        </p:sp>
        <p:cxnSp>
          <p:nvCxnSpPr>
            <p:cNvPr id="4486" name="Google Shape;4486;p257"/>
            <p:cNvCxnSpPr/>
            <p:nvPr/>
          </p:nvCxnSpPr>
          <p:spPr>
            <a:xfrm rot="10800000">
              <a:off x="9342314" y="2130444"/>
              <a:ext cx="0" cy="235689"/>
            </a:xfrm>
            <a:prstGeom prst="straightConnector1">
              <a:avLst/>
            </a:prstGeom>
            <a:noFill/>
            <a:ln w="38100" cap="flat" cmpd="sng">
              <a:solidFill>
                <a:schemeClr val="accent6"/>
              </a:solidFill>
              <a:prstDash val="solid"/>
              <a:miter lim="800000"/>
              <a:headEnd type="none" w="sm" len="sm"/>
              <a:tailEnd type="none" w="sm" len="sm"/>
            </a:ln>
          </p:spPr>
        </p:cxnSp>
      </p:grpSp>
      <p:sp>
        <p:nvSpPr>
          <p:cNvPr id="8" name="Google Shape;4446;p257">
            <a:extLst>
              <a:ext uri="{FF2B5EF4-FFF2-40B4-BE49-F238E27FC236}">
                <a16:creationId xmlns:a16="http://schemas.microsoft.com/office/drawing/2014/main" id="{3F649C4F-AA2E-6D0B-F318-7BDDEF155D6F}"/>
              </a:ext>
            </a:extLst>
          </p:cNvPr>
          <p:cNvSpPr txBox="1"/>
          <p:nvPr/>
        </p:nvSpPr>
        <p:spPr>
          <a:xfrm>
            <a:off x="-15720" y="5857256"/>
            <a:ext cx="1039575" cy="369291"/>
          </a:xfrm>
          <a:prstGeom prst="rect">
            <a:avLst/>
          </a:prstGeom>
          <a:noFill/>
          <a:ln>
            <a:noFill/>
          </a:ln>
        </p:spPr>
        <p:txBody>
          <a:bodyPr spcFirstLastPara="1" wrap="square" lIns="91425" tIns="45700" rIns="91425" bIns="45700" anchor="t" anchorCtr="0">
            <a:spAutoFit/>
          </a:bodyPr>
          <a:lstStyle/>
          <a:p>
            <a:pPr>
              <a:defRPr>
                <a:latin typeface="Ubuntu"/>
                <a:ea typeface="Ubuntu"/>
                <a:cs typeface="Ubuntu"/>
              </a:defRPr>
            </a:pPr>
            <a:r>
              <a:rPr lang="en-US" b="1" dirty="0">
                <a:latin typeface="Ubuntu"/>
                <a:ea typeface="Ubuntu"/>
                <a:cs typeface="Ubuntu"/>
                <a:sym typeface="Times New Roman"/>
              </a:rPr>
              <a:t>Layer 5</a:t>
            </a:r>
            <a:endParaRPr b="1" dirty="0"/>
          </a:p>
        </p:txBody>
      </p:sp>
      <p:sp>
        <p:nvSpPr>
          <p:cNvPr id="5" name="Slide Number Placeholder 7">
            <a:extLst>
              <a:ext uri="{FF2B5EF4-FFF2-40B4-BE49-F238E27FC236}">
                <a16:creationId xmlns:a16="http://schemas.microsoft.com/office/drawing/2014/main" id="{D67CEA0F-4758-BCB7-7314-3141E671339B}"/>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19</a:t>
            </a:fld>
            <a:endParaRPr lang="en-US" sz="4800" b="1" dirty="0">
              <a:solidFill>
                <a:srgbClr val="FF0000"/>
              </a:solidFill>
            </a:endParaRPr>
          </a:p>
        </p:txBody>
      </p:sp>
      <p:pic>
        <p:nvPicPr>
          <p:cNvPr id="4487" name="Space Faculty logo" descr="sf_logo.png"/>
          <p:cNvPicPr>
            <a:picLocks noChangeAspect="1"/>
          </p:cNvPicPr>
          <p:nvPr/>
        </p:nvPicPr>
        <p:blipFill>
          <a:blip r:embed="rId3"/>
          <a:stretch>
            <a:fillRect/>
          </a:stretch>
        </p:blipFill>
        <p:spPr>
          <a:xfrm>
            <a:off x="10248762" y="54863"/>
            <a:ext cx="1830461" cy="520181"/>
          </a:xfrm>
          <a:prstGeom prst="rect">
            <a:avLst/>
          </a:prstGeom>
        </p:spPr>
      </p:pic>
    </p:spTree>
    <p:extLst>
      <p:ext uri="{BB962C8B-B14F-4D97-AF65-F5344CB8AC3E}">
        <p14:creationId xmlns:p14="http://schemas.microsoft.com/office/powerpoint/2010/main" val="2768576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20"/>
        <p:cNvGrpSpPr/>
        <p:nvPr/>
      </p:nvGrpSpPr>
      <p:grpSpPr>
        <a:xfrm>
          <a:off x="0" y="0"/>
          <a:ext cx="0" cy="0"/>
          <a:chOff x="0" y="0"/>
          <a:chExt cx="0" cy="0"/>
        </a:xfrm>
      </p:grpSpPr>
      <p:sp>
        <p:nvSpPr>
          <p:cNvPr id="4421" name="Google Shape;4421;p249"/>
          <p:cNvSpPr txBox="1">
            <a:spLocks noGrp="1"/>
          </p:cNvSpPr>
          <p:nvPr>
            <p:ph type="title"/>
          </p:nvPr>
        </p:nvSpPr>
        <p:spPr>
          <a:xfrm>
            <a:off x="1766824" y="1"/>
            <a:ext cx="8581134" cy="828897"/>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Passive ADCS Components</a:t>
            </a:r>
            <a:endParaRPr sz="4400" b="1" dirty="0">
              <a:latin typeface="Times New Roman" panose="02020603050405020304" pitchFamily="18" charset="0"/>
              <a:cs typeface="Times New Roman" panose="02020603050405020304" pitchFamily="18" charset="0"/>
            </a:endParaRPr>
          </a:p>
        </p:txBody>
      </p:sp>
      <p:pic>
        <p:nvPicPr>
          <p:cNvPr id="4425" name="Google Shape;4425;p249"/>
          <p:cNvPicPr preferRelativeResize="0">
            <a:picLocks noGrp="1"/>
          </p:cNvPicPr>
          <p:nvPr>
            <p:ph type="body" idx="1"/>
          </p:nvPr>
        </p:nvPicPr>
        <p:blipFill rotWithShape="1">
          <a:blip r:embed="rId3">
            <a:alphaModFix/>
          </a:blip>
          <a:stretch/>
        </p:blipFill>
        <p:spPr>
          <a:xfrm>
            <a:off x="626839" y="1264536"/>
            <a:ext cx="2244925" cy="2697937"/>
          </a:xfrm>
          <a:prstGeom prst="rect">
            <a:avLst/>
          </a:prstGeom>
          <a:noFill/>
          <a:ln>
            <a:noFill/>
          </a:ln>
        </p:spPr>
      </p:pic>
      <p:pic>
        <p:nvPicPr>
          <p:cNvPr id="4426" name="Google Shape;4426;p249"/>
          <p:cNvPicPr preferRelativeResize="0"/>
          <p:nvPr/>
        </p:nvPicPr>
        <p:blipFill rotWithShape="1">
          <a:blip r:embed="rId4">
            <a:alphaModFix/>
          </a:blip>
          <a:stretch/>
        </p:blipFill>
        <p:spPr>
          <a:xfrm>
            <a:off x="4660037" y="1304834"/>
            <a:ext cx="2173070" cy="2613558"/>
          </a:xfrm>
          <a:prstGeom prst="rect">
            <a:avLst/>
          </a:prstGeom>
          <a:noFill/>
          <a:ln>
            <a:noFill/>
          </a:ln>
        </p:spPr>
      </p:pic>
      <p:pic>
        <p:nvPicPr>
          <p:cNvPr id="4427" name="Google Shape;4427;p249"/>
          <p:cNvPicPr preferRelativeResize="0"/>
          <p:nvPr/>
        </p:nvPicPr>
        <p:blipFill rotWithShape="1">
          <a:blip r:embed="rId5">
            <a:alphaModFix/>
          </a:blip>
          <a:srcRect t="13650" b="9647"/>
          <a:stretch/>
        </p:blipFill>
        <p:spPr>
          <a:xfrm>
            <a:off x="8249981" y="1183274"/>
            <a:ext cx="2987238" cy="2735118"/>
          </a:xfrm>
          <a:prstGeom prst="rect">
            <a:avLst/>
          </a:prstGeom>
          <a:noFill/>
          <a:ln>
            <a:noFill/>
          </a:ln>
        </p:spPr>
      </p:pic>
      <p:pic>
        <p:nvPicPr>
          <p:cNvPr id="4428" name="Google Shape;4428;p249"/>
          <p:cNvPicPr preferRelativeResize="0"/>
          <p:nvPr/>
        </p:nvPicPr>
        <p:blipFill rotWithShape="1">
          <a:blip r:embed="rId6">
            <a:alphaModFix/>
          </a:blip>
          <a:stretch/>
        </p:blipFill>
        <p:spPr>
          <a:xfrm>
            <a:off x="551561" y="4374808"/>
            <a:ext cx="1711958" cy="2179894"/>
          </a:xfrm>
          <a:prstGeom prst="rect">
            <a:avLst/>
          </a:prstGeom>
          <a:noFill/>
          <a:ln>
            <a:noFill/>
          </a:ln>
        </p:spPr>
      </p:pic>
      <p:sp>
        <p:nvSpPr>
          <p:cNvPr id="4429" name="Google Shape;4429;p249"/>
          <p:cNvSpPr txBox="1"/>
          <p:nvPr/>
        </p:nvSpPr>
        <p:spPr>
          <a:xfrm>
            <a:off x="126927" y="1260080"/>
            <a:ext cx="3359031" cy="523180"/>
          </a:xfrm>
          <a:prstGeom prst="rect">
            <a:avLst/>
          </a:prstGeom>
          <a:noFill/>
          <a:ln>
            <a:noFill/>
          </a:ln>
        </p:spPr>
        <p:txBody>
          <a:bodyPr spcFirstLastPara="1" wrap="square" lIns="91425" tIns="45700" rIns="91425" bIns="45700" anchor="t" anchorCtr="0">
            <a:spAutoFit/>
          </a:bodyPr>
          <a:lstStyle/>
          <a:p>
            <a:pPr>
              <a:buClr>
                <a:srgbClr val="000000"/>
              </a:buClr>
              <a:buSzPts val="1600"/>
              <a:defRPr>
                <a:latin typeface="Ubuntu"/>
                <a:ea typeface="Ubuntu"/>
                <a:cs typeface="Ubuntu"/>
              </a:defRPr>
            </a:pPr>
            <a:r>
              <a:rPr lang="en-US" sz="2800" b="1" dirty="0">
                <a:solidFill>
                  <a:srgbClr val="000000"/>
                </a:solidFill>
                <a:highlight>
                  <a:srgbClr val="FFFF00"/>
                </a:highlight>
                <a:latin typeface="Ubuntu"/>
                <a:ea typeface="Ubuntu"/>
                <a:cs typeface="Ubuntu"/>
                <a:sym typeface="Times New Roman"/>
              </a:rPr>
              <a:t>Permanent magnets </a:t>
            </a:r>
            <a:endParaRPr sz="2800" dirty="0">
              <a:solidFill>
                <a:srgbClr val="000000"/>
              </a:solidFill>
              <a:highlight>
                <a:srgbClr val="FFFF00"/>
              </a:highlight>
              <a:latin typeface="Arial"/>
              <a:ea typeface="Arial"/>
              <a:cs typeface="Arial"/>
              <a:sym typeface="Arial"/>
            </a:endParaRPr>
          </a:p>
        </p:txBody>
      </p:sp>
      <p:sp>
        <p:nvSpPr>
          <p:cNvPr id="4430" name="Google Shape;4430;p249"/>
          <p:cNvSpPr txBox="1"/>
          <p:nvPr/>
        </p:nvSpPr>
        <p:spPr>
          <a:xfrm>
            <a:off x="4425831" y="966280"/>
            <a:ext cx="2855064" cy="954067"/>
          </a:xfrm>
          <a:prstGeom prst="rect">
            <a:avLst/>
          </a:prstGeom>
          <a:noFill/>
          <a:ln>
            <a:noFill/>
          </a:ln>
        </p:spPr>
        <p:txBody>
          <a:bodyPr spcFirstLastPara="1" wrap="square" lIns="91425" tIns="45700" rIns="91425" bIns="45700" anchor="t" anchorCtr="0">
            <a:spAutoFit/>
          </a:bodyPr>
          <a:lstStyle/>
          <a:p>
            <a:pPr algn="ctr">
              <a:buClr>
                <a:srgbClr val="000000"/>
              </a:buClr>
              <a:buSzPts val="1600"/>
              <a:defRPr>
                <a:latin typeface="Ubuntu"/>
                <a:ea typeface="Ubuntu"/>
                <a:cs typeface="Ubuntu"/>
              </a:defRPr>
            </a:pPr>
            <a:r>
              <a:rPr lang="en-US" sz="2800" b="1" dirty="0">
                <a:solidFill>
                  <a:srgbClr val="000000"/>
                </a:solidFill>
                <a:highlight>
                  <a:srgbClr val="FFFF00"/>
                </a:highlight>
                <a:latin typeface="Ubuntu"/>
                <a:ea typeface="Ubuntu"/>
                <a:cs typeface="Ubuntu"/>
                <a:sym typeface="Times New Roman"/>
              </a:rPr>
              <a:t>Magnetometers &amp; Gyroscopes </a:t>
            </a:r>
            <a:endParaRPr sz="2800" dirty="0">
              <a:solidFill>
                <a:srgbClr val="000000"/>
              </a:solidFill>
              <a:highlight>
                <a:srgbClr val="FFFF00"/>
              </a:highlight>
              <a:latin typeface="Arial"/>
              <a:ea typeface="Arial"/>
              <a:cs typeface="Arial"/>
              <a:sym typeface="Arial"/>
            </a:endParaRPr>
          </a:p>
        </p:txBody>
      </p:sp>
      <p:sp>
        <p:nvSpPr>
          <p:cNvPr id="4431" name="Google Shape;4431;p249"/>
          <p:cNvSpPr txBox="1"/>
          <p:nvPr/>
        </p:nvSpPr>
        <p:spPr>
          <a:xfrm>
            <a:off x="9028040" y="920997"/>
            <a:ext cx="2401960" cy="523180"/>
          </a:xfrm>
          <a:prstGeom prst="rect">
            <a:avLst/>
          </a:prstGeom>
          <a:noFill/>
          <a:ln>
            <a:noFill/>
          </a:ln>
        </p:spPr>
        <p:txBody>
          <a:bodyPr spcFirstLastPara="1" wrap="square" lIns="91425" tIns="45700" rIns="91425" bIns="45700" anchor="t" anchorCtr="0">
            <a:spAutoFit/>
          </a:bodyPr>
          <a:lstStyle/>
          <a:p>
            <a:pPr>
              <a:buClr>
                <a:srgbClr val="000000"/>
              </a:buClr>
              <a:buSzPts val="1600"/>
              <a:defRPr>
                <a:latin typeface="Ubuntu"/>
                <a:ea typeface="Ubuntu"/>
                <a:cs typeface="Ubuntu"/>
              </a:defRPr>
            </a:pPr>
            <a:r>
              <a:rPr lang="en-US" sz="2800" b="1" dirty="0">
                <a:solidFill>
                  <a:srgbClr val="000000"/>
                </a:solidFill>
                <a:highlight>
                  <a:srgbClr val="FFFF00"/>
                </a:highlight>
                <a:latin typeface="Ubuntu"/>
                <a:ea typeface="Ubuntu"/>
                <a:cs typeface="Ubuntu"/>
                <a:sym typeface="Times New Roman"/>
              </a:rPr>
              <a:t>ADCS MCU</a:t>
            </a:r>
            <a:endParaRPr sz="2800" dirty="0">
              <a:solidFill>
                <a:srgbClr val="000000"/>
              </a:solidFill>
              <a:highlight>
                <a:srgbClr val="FFFF00"/>
              </a:highlight>
              <a:latin typeface="Arial"/>
              <a:ea typeface="Arial"/>
              <a:cs typeface="Arial"/>
              <a:sym typeface="Arial"/>
            </a:endParaRPr>
          </a:p>
        </p:txBody>
      </p:sp>
      <p:sp>
        <p:nvSpPr>
          <p:cNvPr id="4432" name="Google Shape;4432;p249"/>
          <p:cNvSpPr txBox="1"/>
          <p:nvPr/>
        </p:nvSpPr>
        <p:spPr>
          <a:xfrm>
            <a:off x="5181600" y="5203165"/>
            <a:ext cx="3219597" cy="523180"/>
          </a:xfrm>
          <a:prstGeom prst="rect">
            <a:avLst/>
          </a:prstGeom>
          <a:noFill/>
          <a:ln>
            <a:noFill/>
          </a:ln>
        </p:spPr>
        <p:txBody>
          <a:bodyPr spcFirstLastPara="1" wrap="square" lIns="91425" tIns="45700" rIns="91425" bIns="45700" anchor="t" anchorCtr="0">
            <a:spAutoFit/>
          </a:bodyPr>
          <a:lstStyle/>
          <a:p>
            <a:pPr>
              <a:buClr>
                <a:srgbClr val="000000"/>
              </a:buClr>
              <a:buSzPts val="1600"/>
              <a:defRPr>
                <a:latin typeface="Ubuntu"/>
                <a:ea typeface="Ubuntu"/>
                <a:cs typeface="Ubuntu"/>
              </a:defRPr>
            </a:pPr>
            <a:r>
              <a:rPr lang="en-US" sz="2800" b="1" dirty="0">
                <a:solidFill>
                  <a:srgbClr val="000000"/>
                </a:solidFill>
                <a:highlight>
                  <a:srgbClr val="FFFF00"/>
                </a:highlight>
                <a:latin typeface="Ubuntu"/>
                <a:ea typeface="Ubuntu"/>
                <a:cs typeface="Ubuntu"/>
                <a:sym typeface="Times New Roman"/>
              </a:rPr>
              <a:t>Hysteresis damper</a:t>
            </a:r>
            <a:endParaRPr sz="2800" dirty="0">
              <a:solidFill>
                <a:srgbClr val="000000"/>
              </a:solidFill>
              <a:highlight>
                <a:srgbClr val="FFFF00"/>
              </a:highlight>
              <a:latin typeface="Arial"/>
              <a:ea typeface="Arial"/>
              <a:cs typeface="Arial"/>
              <a:sym typeface="Arial"/>
            </a:endParaRPr>
          </a:p>
        </p:txBody>
      </p:sp>
      <p:pic>
        <p:nvPicPr>
          <p:cNvPr id="4433" name="Google Shape;4433;p249"/>
          <p:cNvPicPr preferRelativeResize="0"/>
          <p:nvPr/>
        </p:nvPicPr>
        <p:blipFill rotWithShape="1">
          <a:blip r:embed="rId7">
            <a:alphaModFix/>
          </a:blip>
          <a:srcRect l="7000" r="6295"/>
          <a:stretch/>
        </p:blipFill>
        <p:spPr>
          <a:xfrm rot="10800000">
            <a:off x="2514599" y="4373306"/>
            <a:ext cx="2749794" cy="2332293"/>
          </a:xfrm>
          <a:prstGeom prst="rect">
            <a:avLst/>
          </a:prstGeom>
          <a:noFill/>
          <a:ln>
            <a:noFill/>
          </a:ln>
        </p:spPr>
      </p:pic>
      <p:sp>
        <p:nvSpPr>
          <p:cNvPr id="3" name="Slide Number Placeholder 7">
            <a:extLst>
              <a:ext uri="{FF2B5EF4-FFF2-40B4-BE49-F238E27FC236}">
                <a16:creationId xmlns:a16="http://schemas.microsoft.com/office/drawing/2014/main" id="{60BA1177-3F00-B318-8602-D74EE0E73A37}"/>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20</a:t>
            </a:fld>
            <a:endParaRPr lang="en-US" sz="4800" b="1" dirty="0">
              <a:solidFill>
                <a:srgbClr val="FF0000"/>
              </a:solidFill>
            </a:endParaRPr>
          </a:p>
        </p:txBody>
      </p:sp>
      <p:pic>
        <p:nvPicPr>
          <p:cNvPr id="4434" name="Space Faculty logo" descr="sf_logo.png"/>
          <p:cNvPicPr>
            <a:picLocks noChangeAspect="1"/>
          </p:cNvPicPr>
          <p:nvPr/>
        </p:nvPicPr>
        <p:blipFill>
          <a:blip r:embed="rId8"/>
          <a:stretch>
            <a:fillRect/>
          </a:stretch>
        </p:blipFill>
        <p:spPr>
          <a:xfrm>
            <a:off x="10548530" y="54863"/>
            <a:ext cx="1530693" cy="43499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62"/>
        <p:cNvGrpSpPr/>
        <p:nvPr/>
      </p:nvGrpSpPr>
      <p:grpSpPr>
        <a:xfrm>
          <a:off x="0" y="0"/>
          <a:ext cx="0" cy="0"/>
          <a:chOff x="0" y="0"/>
          <a:chExt cx="0" cy="0"/>
        </a:xfrm>
      </p:grpSpPr>
      <p:sp>
        <p:nvSpPr>
          <p:cNvPr id="4863" name="Google Shape;4863;p285"/>
          <p:cNvSpPr txBox="1">
            <a:spLocks noGrp="1"/>
          </p:cNvSpPr>
          <p:nvPr>
            <p:ph type="title"/>
          </p:nvPr>
        </p:nvSpPr>
        <p:spPr>
          <a:xfrm>
            <a:off x="796655" y="298346"/>
            <a:ext cx="9815576" cy="828897"/>
          </a:xfrm>
          <a:prstGeom prst="rect">
            <a:avLst/>
          </a:prstGeom>
          <a:noFill/>
          <a:ln>
            <a:noFill/>
          </a:ln>
        </p:spPr>
        <p:txBody>
          <a:bodyPr spcFirstLastPara="1" wrap="square" lIns="91425" tIns="45700" rIns="91425" bIns="45700" anchor="ctr" anchorCtr="0">
            <a:noAutofit/>
          </a:bodyPr>
          <a:lstStyle/>
          <a:p>
            <a:pPr rtl="0">
              <a:defRPr>
                <a:latin typeface="House Movements Runway"/>
                <a:ea typeface="House Movements Runway"/>
                <a:cs typeface="House Movements Runway"/>
              </a:defRPr>
            </a:pPr>
            <a:r>
              <a:rPr lang="en-US" b="1" dirty="0">
                <a:latin typeface="House Movements Runway" panose="02020603050405020304" pitchFamily="18" charset="0"/>
                <a:cs typeface="House Movements Runway" panose="02020603050405020304" pitchFamily="18" charset="0"/>
              </a:rPr>
              <a:t>Block Configuration (e.g. Passive System)</a:t>
            </a:r>
            <a:endParaRPr b="1"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99954F73-86A1-E91A-BD7F-401DF5C4CA39}"/>
              </a:ext>
            </a:extLst>
          </p:cNvPr>
          <p:cNvGrpSpPr/>
          <p:nvPr/>
        </p:nvGrpSpPr>
        <p:grpSpPr>
          <a:xfrm>
            <a:off x="618176" y="1043244"/>
            <a:ext cx="9592624" cy="5128956"/>
            <a:chOff x="622748" y="1043244"/>
            <a:chExt cx="7273885" cy="4850351"/>
          </a:xfrm>
        </p:grpSpPr>
        <p:sp>
          <p:nvSpPr>
            <p:cNvPr id="4867" name="Google Shape;4867;p285"/>
            <p:cNvSpPr/>
            <p:nvPr/>
          </p:nvSpPr>
          <p:spPr>
            <a:xfrm>
              <a:off x="2648427" y="3453718"/>
              <a:ext cx="2120945" cy="625529"/>
            </a:xfrm>
            <a:prstGeom prst="roundRect">
              <a:avLst>
                <a:gd name="adj" fmla="val 16667"/>
              </a:avLst>
            </a:prstGeom>
            <a:solidFill>
              <a:srgbClr val="BBD6EE"/>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lvl="0" algn="ctr">
                <a:buClr>
                  <a:srgbClr val="000000"/>
                </a:buClr>
                <a:buSzPts val="1800"/>
                <a:defRPr>
                  <a:latin typeface="Ubuntu"/>
                  <a:ea typeface="Ubuntu"/>
                  <a:cs typeface="Ubuntu"/>
                </a:defRPr>
              </a:pPr>
              <a:r>
                <a:rPr lang="en-US" dirty="0">
                  <a:solidFill>
                    <a:srgbClr val="000000"/>
                  </a:solidFill>
                  <a:latin typeface="Ubuntu"/>
                  <a:ea typeface="Ubuntu"/>
                  <a:cs typeface="Ubuntu"/>
                  <a:sym typeface="Book Antiqua"/>
                </a:rPr>
                <a:t>ADCS MCU</a:t>
              </a:r>
              <a:endParaRPr lang="en-US" sz="1400" dirty="0">
                <a:solidFill>
                  <a:srgbClr val="000000"/>
                </a:solidFill>
                <a:latin typeface="Arial"/>
                <a:ea typeface="Arial"/>
                <a:cs typeface="Arial"/>
                <a:sym typeface="Arial"/>
              </a:endParaRPr>
            </a:p>
            <a:p>
              <a:pPr lvl="0" algn="ctr">
                <a:buClr>
                  <a:srgbClr val="000000"/>
                </a:buClr>
                <a:buSzPts val="1800"/>
                <a:defRPr>
                  <a:latin typeface="Ubuntu"/>
                  <a:ea typeface="Ubuntu"/>
                  <a:cs typeface="Ubuntu"/>
                </a:defRPr>
              </a:pPr>
              <a:r>
                <a:rPr lang="en-US" dirty="0">
                  <a:solidFill>
                    <a:srgbClr val="000000"/>
                  </a:solidFill>
                  <a:latin typeface="Ubuntu"/>
                  <a:ea typeface="Ubuntu"/>
                  <a:cs typeface="Ubuntu"/>
                  <a:sym typeface="Book Antiqua"/>
                </a:rPr>
                <a:t>ARM STM32F446RET6</a:t>
              </a:r>
              <a:endParaRPr dirty="0">
                <a:latin typeface="Times New Roman" panose="02020603050405020304" pitchFamily="18" charset="0"/>
                <a:cs typeface="Times New Roman" panose="02020603050405020304" pitchFamily="18" charset="0"/>
              </a:endParaRPr>
            </a:p>
          </p:txBody>
        </p:sp>
        <p:sp>
          <p:nvSpPr>
            <p:cNvPr id="4868" name="Google Shape;4868;p285"/>
            <p:cNvSpPr/>
            <p:nvPr/>
          </p:nvSpPr>
          <p:spPr>
            <a:xfrm>
              <a:off x="3332416" y="4579244"/>
              <a:ext cx="1436956" cy="759854"/>
            </a:xfrm>
            <a:prstGeom prst="roundRect">
              <a:avLst>
                <a:gd name="adj" fmla="val 16667"/>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SzPts val="1800"/>
                <a:defRPr>
                  <a:latin typeface="Ubuntu"/>
                  <a:ea typeface="Ubuntu"/>
                  <a:cs typeface="Ubuntu"/>
                </a:defRPr>
              </a:pPr>
              <a:r>
                <a:rPr lang="en-US">
                  <a:solidFill>
                    <a:srgbClr val="000000"/>
                  </a:solidFill>
                  <a:latin typeface="Ubuntu" panose="02020603050405020304" pitchFamily="18" charset="0"/>
                  <a:ea typeface="Ubuntu"/>
                  <a:cs typeface="Ubuntu" panose="02020603050405020304" pitchFamily="18" charset="0"/>
                  <a:sym typeface="Times New Roman"/>
                </a:rPr>
                <a:t> Hysteresis Damper</a:t>
              </a:r>
              <a:endParaRPr>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869" name="Google Shape;4869;p285"/>
            <p:cNvSpPr/>
            <p:nvPr/>
          </p:nvSpPr>
          <p:spPr>
            <a:xfrm>
              <a:off x="6605619" y="1043244"/>
              <a:ext cx="1253275" cy="571681"/>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SzPts val="1800"/>
                <a:defRPr>
                  <a:latin typeface="Ubuntu"/>
                  <a:ea typeface="Ubuntu"/>
                  <a:cs typeface="Ubuntu"/>
                </a:defRPr>
              </a:pPr>
              <a:r>
                <a:rPr lang="en-US">
                  <a:solidFill>
                    <a:srgbClr val="000000"/>
                  </a:solidFill>
                  <a:latin typeface="Ubuntu" panose="02020603050405020304" pitchFamily="18" charset="0"/>
                  <a:ea typeface="Ubuntu"/>
                  <a:cs typeface="Ubuntu" panose="02020603050405020304" pitchFamily="18" charset="0"/>
                  <a:sym typeface="Times New Roman"/>
                </a:rPr>
                <a:t>GS</a:t>
              </a:r>
              <a:endParaRPr>
                <a:latin typeface="Times New Roman" panose="02020603050405020304" pitchFamily="18" charset="0"/>
                <a:cs typeface="Times New Roman" panose="02020603050405020304" pitchFamily="18" charset="0"/>
              </a:endParaRPr>
            </a:p>
          </p:txBody>
        </p:sp>
        <p:sp>
          <p:nvSpPr>
            <p:cNvPr id="4870" name="Google Shape;4870;p285"/>
            <p:cNvSpPr/>
            <p:nvPr/>
          </p:nvSpPr>
          <p:spPr>
            <a:xfrm>
              <a:off x="6567877" y="2202011"/>
              <a:ext cx="1328756" cy="552694"/>
            </a:xfrm>
            <a:prstGeom prst="roundRect">
              <a:avLst>
                <a:gd name="adj" fmla="val 16667"/>
              </a:avLst>
            </a:prstGeom>
            <a:solidFill>
              <a:srgbClr val="B3C6E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SzPts val="1800"/>
                <a:defRPr>
                  <a:latin typeface="Ubuntu"/>
                  <a:ea typeface="Ubuntu"/>
                  <a:cs typeface="Ubuntu"/>
                </a:defRPr>
              </a:pPr>
              <a:r>
                <a:rPr lang="en-US">
                  <a:solidFill>
                    <a:srgbClr val="000000"/>
                  </a:solidFill>
                  <a:latin typeface="Ubuntu" panose="02020603050405020304" pitchFamily="18" charset="0"/>
                  <a:ea typeface="Ubuntu"/>
                  <a:cs typeface="Ubuntu" panose="02020603050405020304" pitchFamily="18" charset="0"/>
                  <a:sym typeface="Times New Roman"/>
                </a:rPr>
                <a:t>COM</a:t>
              </a:r>
              <a:endParaRPr>
                <a:latin typeface="Times New Roman" panose="02020603050405020304" pitchFamily="18" charset="0"/>
                <a:cs typeface="Times New Roman" panose="02020603050405020304" pitchFamily="18" charset="0"/>
              </a:endParaRPr>
            </a:p>
          </p:txBody>
        </p:sp>
        <p:sp>
          <p:nvSpPr>
            <p:cNvPr id="4872" name="Google Shape;4872;p285"/>
            <p:cNvSpPr/>
            <p:nvPr/>
          </p:nvSpPr>
          <p:spPr>
            <a:xfrm>
              <a:off x="6599785" y="3460870"/>
              <a:ext cx="1259109" cy="618376"/>
            </a:xfrm>
            <a:prstGeom prst="roundRect">
              <a:avLst>
                <a:gd name="adj" fmla="val 16667"/>
              </a:avLst>
            </a:prstGeom>
            <a:solidFill>
              <a:srgbClr val="B3C6E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SzPts val="1800"/>
                <a:defRPr>
                  <a:latin typeface="Ubuntu"/>
                  <a:ea typeface="Ubuntu"/>
                  <a:cs typeface="Ubuntu"/>
                </a:defRPr>
              </a:pPr>
              <a:r>
                <a:rPr lang="en-US">
                  <a:solidFill>
                    <a:srgbClr val="000000"/>
                  </a:solidFill>
                  <a:latin typeface="Ubuntu" panose="02020603050405020304" pitchFamily="18" charset="0"/>
                  <a:ea typeface="Ubuntu"/>
                  <a:cs typeface="Ubuntu" panose="02020603050405020304" pitchFamily="18" charset="0"/>
                  <a:sym typeface="Times New Roman"/>
                </a:rPr>
                <a:t>OBC</a:t>
              </a:r>
              <a:endParaRPr>
                <a:latin typeface="Times New Roman" panose="02020603050405020304" pitchFamily="18" charset="0"/>
                <a:cs typeface="Times New Roman" panose="02020603050405020304" pitchFamily="18" charset="0"/>
              </a:endParaRPr>
            </a:p>
          </p:txBody>
        </p:sp>
        <p:sp>
          <p:nvSpPr>
            <p:cNvPr id="4873" name="Google Shape;4873;p285"/>
            <p:cNvSpPr/>
            <p:nvPr/>
          </p:nvSpPr>
          <p:spPr>
            <a:xfrm>
              <a:off x="875575" y="4566880"/>
              <a:ext cx="1436956" cy="759854"/>
            </a:xfrm>
            <a:prstGeom prst="roundRect">
              <a:avLst>
                <a:gd name="adj" fmla="val 16667"/>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SzPts val="1800"/>
                <a:defRPr>
                  <a:latin typeface="Ubuntu"/>
                  <a:ea typeface="Ubuntu"/>
                  <a:cs typeface="Ubuntu"/>
                </a:defRPr>
              </a:pPr>
              <a:r>
                <a:rPr lang="en-US">
                  <a:solidFill>
                    <a:srgbClr val="000000"/>
                  </a:solidFill>
                  <a:latin typeface="Ubuntu" panose="02020603050405020304" pitchFamily="18" charset="0"/>
                  <a:ea typeface="Ubuntu"/>
                  <a:cs typeface="Ubuntu" panose="02020603050405020304" pitchFamily="18" charset="0"/>
                  <a:sym typeface="Times New Roman"/>
                </a:rPr>
                <a:t>Permanent</a:t>
              </a:r>
              <a:endParaRPr>
                <a:latin typeface="Times New Roman" panose="02020603050405020304" pitchFamily="18" charset="0"/>
                <a:cs typeface="Times New Roman" panose="02020603050405020304" pitchFamily="18" charset="0"/>
              </a:endParaRPr>
            </a:p>
            <a:p>
              <a:pPr algn="ctr">
                <a:buClr>
                  <a:srgbClr val="000000"/>
                </a:buClr>
                <a:buSzPts val="1800"/>
                <a:defRPr>
                  <a:latin typeface="Ubuntu"/>
                  <a:ea typeface="Ubuntu"/>
                  <a:cs typeface="Ubuntu"/>
                </a:defRPr>
              </a:pPr>
              <a:r>
                <a:rPr lang="en-US">
                  <a:solidFill>
                    <a:srgbClr val="000000"/>
                  </a:solidFill>
                  <a:latin typeface="Ubuntu" panose="02020603050405020304" pitchFamily="18" charset="0"/>
                  <a:ea typeface="Ubuntu"/>
                  <a:cs typeface="Ubuntu" panose="02020603050405020304" pitchFamily="18" charset="0"/>
                  <a:sym typeface="Times New Roman"/>
                </a:rPr>
                <a:t>magnets </a:t>
              </a:r>
              <a:endParaRPr>
                <a:latin typeface="Times New Roman" panose="02020603050405020304" pitchFamily="18" charset="0"/>
                <a:cs typeface="Times New Roman" panose="02020603050405020304" pitchFamily="18" charset="0"/>
              </a:endParaRPr>
            </a:p>
          </p:txBody>
        </p:sp>
        <p:sp>
          <p:nvSpPr>
            <p:cNvPr id="4874" name="Google Shape;4874;p285"/>
            <p:cNvSpPr/>
            <p:nvPr/>
          </p:nvSpPr>
          <p:spPr>
            <a:xfrm>
              <a:off x="4858611" y="2007751"/>
              <a:ext cx="1214264" cy="687433"/>
            </a:xfrm>
            <a:prstGeom prst="roundRect">
              <a:avLst>
                <a:gd name="adj" fmla="val 16667"/>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SzPts val="1800"/>
                <a:defRPr>
                  <a:latin typeface="Ubuntu"/>
                  <a:ea typeface="Ubuntu"/>
                  <a:cs typeface="Ubuntu"/>
                </a:defRPr>
              </a:pPr>
              <a:r>
                <a:rPr lang="en-US" dirty="0">
                  <a:solidFill>
                    <a:srgbClr val="000000"/>
                  </a:solidFill>
                  <a:latin typeface="Ubuntu" panose="02020603050405020304" pitchFamily="18" charset="0"/>
                  <a:ea typeface="Ubuntu"/>
                  <a:cs typeface="Ubuntu" panose="02020603050405020304" pitchFamily="18" charset="0"/>
                  <a:sym typeface="Times New Roman"/>
                </a:rPr>
                <a:t>Solar cell</a:t>
              </a:r>
              <a:endParaRPr dirty="0">
                <a:latin typeface="Times New Roman" panose="02020603050405020304" pitchFamily="18" charset="0"/>
                <a:cs typeface="Times New Roman" panose="02020603050405020304" pitchFamily="18" charset="0"/>
              </a:endParaRPr>
            </a:p>
          </p:txBody>
        </p:sp>
        <p:sp>
          <p:nvSpPr>
            <p:cNvPr id="4875" name="Google Shape;4875;p285"/>
            <p:cNvSpPr/>
            <p:nvPr/>
          </p:nvSpPr>
          <p:spPr>
            <a:xfrm>
              <a:off x="3124200" y="2007751"/>
              <a:ext cx="1656221" cy="704683"/>
            </a:xfrm>
            <a:prstGeom prst="roundRect">
              <a:avLst>
                <a:gd name="adj" fmla="val 16667"/>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latin typeface="Ubuntu"/>
                  <a:ea typeface="Ubuntu"/>
                  <a:cs typeface="Ubuntu"/>
                </a:defRPr>
              </a:pPr>
              <a:r>
                <a:rPr lang="en-US" dirty="0">
                  <a:solidFill>
                    <a:srgbClr val="000000"/>
                  </a:solidFill>
                  <a:latin typeface="Ubuntu"/>
                  <a:ea typeface="Ubuntu"/>
                  <a:cs typeface="Ubuntu"/>
                  <a:sym typeface="Times New Roman"/>
                </a:rPr>
                <a:t>Magnetometer</a:t>
              </a:r>
              <a:endParaRPr lang="en-US" dirty="0">
                <a:solidFill>
                  <a:srgbClr val="000000"/>
                </a:solidFill>
                <a:latin typeface="Arial"/>
                <a:ea typeface="Arial"/>
                <a:cs typeface="Arial"/>
                <a:sym typeface="Arial"/>
              </a:endParaRPr>
            </a:p>
            <a:p>
              <a:pPr lvl="0" algn="ctr">
                <a:buClr>
                  <a:srgbClr val="000000"/>
                </a:buClr>
                <a:buSzPts val="1400"/>
                <a:defRPr>
                  <a:latin typeface="Ubuntu"/>
                  <a:ea typeface="Ubuntu"/>
                  <a:cs typeface="Ubuntu"/>
                </a:defRPr>
              </a:pPr>
              <a:r>
                <a:rPr lang="en-US" dirty="0">
                  <a:solidFill>
                    <a:srgbClr val="000000"/>
                  </a:solidFill>
                  <a:latin typeface="Ubuntu"/>
                  <a:ea typeface="Ubuntu"/>
                  <a:cs typeface="Ubuntu"/>
                  <a:sym typeface="Book Antiqua"/>
                </a:rPr>
                <a:t>MMC5883ma</a:t>
              </a:r>
              <a:endParaRPr lang="en-US" dirty="0">
                <a:solidFill>
                  <a:srgbClr val="000000"/>
                </a:solidFill>
                <a:latin typeface="Arial"/>
                <a:ea typeface="Arial"/>
                <a:cs typeface="Arial"/>
                <a:sym typeface="Arial"/>
              </a:endParaRPr>
            </a:p>
          </p:txBody>
        </p:sp>
        <p:sp>
          <p:nvSpPr>
            <p:cNvPr id="4876" name="Google Shape;4876;p285"/>
            <p:cNvSpPr/>
            <p:nvPr/>
          </p:nvSpPr>
          <p:spPr>
            <a:xfrm>
              <a:off x="1523963" y="1995990"/>
              <a:ext cx="1436956" cy="756550"/>
            </a:xfrm>
            <a:prstGeom prst="roundRect">
              <a:avLst>
                <a:gd name="adj" fmla="val 16667"/>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lvl="0" algn="ctr">
                <a:buClr>
                  <a:srgbClr val="000000"/>
                </a:buClr>
                <a:buSzPts val="1400"/>
                <a:defRPr>
                  <a:latin typeface="Ubuntu"/>
                  <a:ea typeface="Ubuntu"/>
                  <a:cs typeface="Ubuntu"/>
                </a:defRPr>
              </a:pPr>
              <a:r>
                <a:rPr lang="en-US" dirty="0">
                  <a:solidFill>
                    <a:srgbClr val="000000"/>
                  </a:solidFill>
                  <a:latin typeface="Ubuntu" panose="02020603050405020304" pitchFamily="18" charset="0"/>
                  <a:ea typeface="Ubuntu"/>
                  <a:cs typeface="Ubuntu" panose="02020603050405020304" pitchFamily="18" charset="0"/>
                  <a:sym typeface="Times New Roman"/>
                </a:rPr>
                <a:t>3 axis </a:t>
              </a:r>
              <a:r>
                <a:rPr lang="en-US" dirty="0">
                  <a:solidFill>
                    <a:srgbClr val="000000"/>
                  </a:solidFill>
                  <a:latin typeface="Ubuntu"/>
                  <a:ea typeface="Ubuntu"/>
                  <a:cs typeface="Ubuntu"/>
                  <a:sym typeface="Times New Roman"/>
                </a:rPr>
                <a:t>Gyroscope</a:t>
              </a:r>
              <a:endParaRPr lang="en-US" dirty="0">
                <a:solidFill>
                  <a:srgbClr val="000000"/>
                </a:solidFill>
                <a:latin typeface="Arial"/>
                <a:ea typeface="Arial"/>
                <a:cs typeface="Arial"/>
                <a:sym typeface="Arial"/>
              </a:endParaRPr>
            </a:p>
            <a:p>
              <a:pPr lvl="0" algn="ctr">
                <a:buClr>
                  <a:srgbClr val="000000"/>
                </a:buClr>
                <a:buSzPts val="1400"/>
                <a:defRPr>
                  <a:latin typeface="Ubuntu"/>
                  <a:ea typeface="Ubuntu"/>
                  <a:cs typeface="Ubuntu"/>
                </a:defRPr>
              </a:pPr>
              <a:r>
                <a:rPr lang="en-US" dirty="0">
                  <a:solidFill>
                    <a:srgbClr val="000000"/>
                  </a:solidFill>
                  <a:latin typeface="Ubuntu"/>
                  <a:ea typeface="Ubuntu"/>
                  <a:cs typeface="Ubuntu"/>
                  <a:sym typeface="Book Antiqua"/>
                </a:rPr>
                <a:t>L3GD20TR</a:t>
              </a:r>
            </a:p>
            <a:p>
              <a:pPr algn="ctr">
                <a:buClr>
                  <a:srgbClr val="000000"/>
                </a:buClr>
                <a:buSzPts val="1800"/>
                <a:defRPr>
                  <a:latin typeface="Ubuntu"/>
                  <a:ea typeface="Ubuntu"/>
                  <a:cs typeface="Ubuntu"/>
                </a:defRPr>
              </a:pPr>
              <a:endParaRPr dirty="0">
                <a:latin typeface="Times New Roman" panose="02020603050405020304" pitchFamily="18" charset="0"/>
                <a:cs typeface="Times New Roman" panose="02020603050405020304" pitchFamily="18" charset="0"/>
              </a:endParaRPr>
            </a:p>
          </p:txBody>
        </p:sp>
        <p:cxnSp>
          <p:nvCxnSpPr>
            <p:cNvPr id="4877" name="Google Shape;4877;p285"/>
            <p:cNvCxnSpPr>
              <a:cxnSpLocks/>
              <a:stCxn id="4872" idx="0"/>
              <a:endCxn id="4870" idx="2"/>
            </p:cNvCxnSpPr>
            <p:nvPr/>
          </p:nvCxnSpPr>
          <p:spPr>
            <a:xfrm rot="10800000" flipH="1">
              <a:off x="7229339" y="2754670"/>
              <a:ext cx="3000" cy="706200"/>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4878" name="Google Shape;4878;p285"/>
            <p:cNvCxnSpPr>
              <a:cxnSpLocks/>
              <a:stCxn id="4870" idx="0"/>
              <a:endCxn id="4869" idx="2"/>
            </p:cNvCxnSpPr>
            <p:nvPr/>
          </p:nvCxnSpPr>
          <p:spPr>
            <a:xfrm rot="10800000">
              <a:off x="7232255" y="1614911"/>
              <a:ext cx="0" cy="587100"/>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4880" name="Google Shape;4880;p285"/>
            <p:cNvCxnSpPr>
              <a:cxnSpLocks/>
              <a:stCxn id="4872" idx="1"/>
              <a:endCxn id="4867" idx="3"/>
            </p:cNvCxnSpPr>
            <p:nvPr/>
          </p:nvCxnSpPr>
          <p:spPr>
            <a:xfrm flipH="1" flipV="1">
              <a:off x="4769372" y="3766483"/>
              <a:ext cx="1830413" cy="3576"/>
            </a:xfrm>
            <a:prstGeom prst="straightConnector1">
              <a:avLst/>
            </a:prstGeom>
            <a:noFill/>
            <a:ln w="9525" cap="flat" cmpd="sng">
              <a:solidFill>
                <a:schemeClr val="accent1"/>
              </a:solidFill>
              <a:prstDash val="solid"/>
              <a:miter lim="800000"/>
              <a:headEnd type="triangle" w="med" len="med"/>
              <a:tailEnd type="triangle" w="med" len="med"/>
            </a:ln>
          </p:spPr>
        </p:cxnSp>
        <p:cxnSp>
          <p:nvCxnSpPr>
            <p:cNvPr id="4881" name="Google Shape;4881;p285"/>
            <p:cNvCxnSpPr/>
            <p:nvPr/>
          </p:nvCxnSpPr>
          <p:spPr>
            <a:xfrm rot="10800000" flipH="1">
              <a:off x="972843" y="3170161"/>
              <a:ext cx="4492901" cy="30858"/>
            </a:xfrm>
            <a:prstGeom prst="straightConnector1">
              <a:avLst/>
            </a:prstGeom>
            <a:noFill/>
            <a:ln w="9525" cap="flat" cmpd="sng">
              <a:solidFill>
                <a:schemeClr val="accent1"/>
              </a:solidFill>
              <a:prstDash val="solid"/>
              <a:miter lim="800000"/>
              <a:headEnd type="none" w="sm" len="sm"/>
              <a:tailEnd type="none" w="sm" len="sm"/>
            </a:ln>
          </p:spPr>
        </p:cxnSp>
        <p:cxnSp>
          <p:nvCxnSpPr>
            <p:cNvPr id="4882" name="Google Shape;4882;p285"/>
            <p:cNvCxnSpPr>
              <a:cxnSpLocks/>
              <a:stCxn id="4874" idx="2"/>
            </p:cNvCxnSpPr>
            <p:nvPr/>
          </p:nvCxnSpPr>
          <p:spPr>
            <a:xfrm>
              <a:off x="5465743" y="2695183"/>
              <a:ext cx="0" cy="482100"/>
            </a:xfrm>
            <a:prstGeom prst="straightConnector1">
              <a:avLst/>
            </a:prstGeom>
            <a:noFill/>
            <a:ln w="9525" cap="flat" cmpd="sng">
              <a:solidFill>
                <a:schemeClr val="accent1"/>
              </a:solidFill>
              <a:prstDash val="solid"/>
              <a:miter lim="800000"/>
              <a:headEnd type="none" w="sm" len="sm"/>
              <a:tailEnd type="none" w="sm" len="sm"/>
            </a:ln>
          </p:spPr>
        </p:cxnSp>
        <p:cxnSp>
          <p:nvCxnSpPr>
            <p:cNvPr id="4883" name="Google Shape;4883;p285"/>
            <p:cNvCxnSpPr>
              <a:cxnSpLocks/>
              <a:stCxn id="4875" idx="2"/>
            </p:cNvCxnSpPr>
            <p:nvPr/>
          </p:nvCxnSpPr>
          <p:spPr>
            <a:xfrm>
              <a:off x="3952311" y="2712433"/>
              <a:ext cx="8399" cy="457798"/>
            </a:xfrm>
            <a:prstGeom prst="straightConnector1">
              <a:avLst/>
            </a:prstGeom>
            <a:noFill/>
            <a:ln w="9525" cap="flat" cmpd="sng">
              <a:solidFill>
                <a:schemeClr val="accent1"/>
              </a:solidFill>
              <a:prstDash val="solid"/>
              <a:miter lim="800000"/>
              <a:headEnd type="none" w="sm" len="sm"/>
              <a:tailEnd type="none" w="sm" len="sm"/>
            </a:ln>
          </p:spPr>
        </p:cxnSp>
        <p:cxnSp>
          <p:nvCxnSpPr>
            <p:cNvPr id="4884" name="Google Shape;4884;p285"/>
            <p:cNvCxnSpPr>
              <a:cxnSpLocks/>
              <a:stCxn id="4876" idx="2"/>
            </p:cNvCxnSpPr>
            <p:nvPr/>
          </p:nvCxnSpPr>
          <p:spPr>
            <a:xfrm flipH="1">
              <a:off x="2242441" y="2752540"/>
              <a:ext cx="1" cy="420298"/>
            </a:xfrm>
            <a:prstGeom prst="straightConnector1">
              <a:avLst/>
            </a:prstGeom>
            <a:noFill/>
            <a:ln w="9525" cap="flat" cmpd="sng">
              <a:solidFill>
                <a:schemeClr val="accent1"/>
              </a:solidFill>
              <a:prstDash val="solid"/>
              <a:miter lim="800000"/>
              <a:headEnd type="none" w="sm" len="sm"/>
              <a:tailEnd type="none" w="sm" len="sm"/>
            </a:ln>
          </p:spPr>
        </p:cxnSp>
        <p:cxnSp>
          <p:nvCxnSpPr>
            <p:cNvPr id="4885" name="Google Shape;4885;p285"/>
            <p:cNvCxnSpPr>
              <a:cxnSpLocks/>
            </p:cNvCxnSpPr>
            <p:nvPr/>
          </p:nvCxnSpPr>
          <p:spPr>
            <a:xfrm>
              <a:off x="3366905" y="3177417"/>
              <a:ext cx="0" cy="276301"/>
            </a:xfrm>
            <a:prstGeom prst="straightConnector1">
              <a:avLst/>
            </a:prstGeom>
            <a:noFill/>
            <a:ln w="9525" cap="flat" cmpd="sng">
              <a:solidFill>
                <a:schemeClr val="accent1"/>
              </a:solidFill>
              <a:prstDash val="solid"/>
              <a:miter lim="800000"/>
              <a:headEnd type="none" w="sm" len="sm"/>
              <a:tailEnd type="none" w="sm" len="sm"/>
            </a:ln>
          </p:spPr>
        </p:cxnSp>
        <p:sp>
          <p:nvSpPr>
            <p:cNvPr id="4886" name="Google Shape;4886;p285"/>
            <p:cNvSpPr txBox="1"/>
            <p:nvPr/>
          </p:nvSpPr>
          <p:spPr>
            <a:xfrm>
              <a:off x="1719818" y="5524263"/>
              <a:ext cx="2240923" cy="369332"/>
            </a:xfrm>
            <a:prstGeom prst="rect">
              <a:avLst/>
            </a:prstGeom>
            <a:noFill/>
            <a:ln>
              <a:noFill/>
            </a:ln>
          </p:spPr>
          <p:txBody>
            <a:bodyPr spcFirstLastPara="1" wrap="square" lIns="91425" tIns="45700" rIns="91425" bIns="45700" anchor="t" anchorCtr="0">
              <a:spAutoFit/>
            </a:bodyPr>
            <a:lstStyle/>
            <a:p>
              <a:pPr>
                <a:buClr>
                  <a:srgbClr val="000000"/>
                </a:buClr>
                <a:buSzPts val="1800"/>
                <a:defRPr>
                  <a:latin typeface="Ubuntu"/>
                  <a:ea typeface="Ubuntu"/>
                  <a:cs typeface="Ubuntu"/>
                </a:defRPr>
              </a:pPr>
              <a:r>
                <a:rPr lang="en-US">
                  <a:solidFill>
                    <a:srgbClr val="000000"/>
                  </a:solidFill>
                  <a:latin typeface="Ubuntu" panose="02020603050405020304" pitchFamily="18" charset="0"/>
                  <a:ea typeface="Ubuntu"/>
                  <a:cs typeface="Ubuntu" panose="02020603050405020304" pitchFamily="18" charset="0"/>
                  <a:sym typeface="Times New Roman"/>
                </a:rPr>
                <a:t>Attitude Stabilization   </a:t>
              </a:r>
              <a:endParaRPr>
                <a:latin typeface="Times New Roman" panose="02020603050405020304" pitchFamily="18" charset="0"/>
                <a:cs typeface="Times New Roman" panose="02020603050405020304" pitchFamily="18" charset="0"/>
              </a:endParaRPr>
            </a:p>
          </p:txBody>
        </p:sp>
        <p:sp>
          <p:nvSpPr>
            <p:cNvPr id="4887" name="Google Shape;4887;p285"/>
            <p:cNvSpPr/>
            <p:nvPr/>
          </p:nvSpPr>
          <p:spPr>
            <a:xfrm>
              <a:off x="622748" y="1995990"/>
              <a:ext cx="770944" cy="802051"/>
            </a:xfrm>
            <a:prstGeom prst="roundRect">
              <a:avLst>
                <a:gd name="adj" fmla="val 16667"/>
              </a:avLst>
            </a:prstGeom>
            <a:solidFill>
              <a:schemeClr val="accent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000000"/>
                </a:buClr>
                <a:buSzPts val="1800"/>
                <a:defRPr>
                  <a:latin typeface="Ubuntu"/>
                  <a:ea typeface="Ubuntu"/>
                  <a:cs typeface="Ubuntu"/>
                </a:defRPr>
              </a:pPr>
              <a:r>
                <a:rPr lang="en-US" dirty="0">
                  <a:solidFill>
                    <a:srgbClr val="000000"/>
                  </a:solidFill>
                  <a:latin typeface="Ubuntu" panose="02020603050405020304" pitchFamily="18" charset="0"/>
                  <a:ea typeface="Ubuntu"/>
                  <a:cs typeface="Ubuntu" panose="02020603050405020304" pitchFamily="18" charset="0"/>
                  <a:sym typeface="Times New Roman"/>
                </a:rPr>
                <a:t>GPS</a:t>
              </a:r>
              <a:endParaRPr dirty="0">
                <a:latin typeface="Times New Roman" panose="02020603050405020304" pitchFamily="18" charset="0"/>
                <a:cs typeface="Times New Roman" panose="02020603050405020304" pitchFamily="18" charset="0"/>
              </a:endParaRPr>
            </a:p>
          </p:txBody>
        </p:sp>
        <p:cxnSp>
          <p:nvCxnSpPr>
            <p:cNvPr id="4888" name="Google Shape;4888;p285"/>
            <p:cNvCxnSpPr>
              <a:cxnSpLocks/>
              <a:endCxn id="4887" idx="2"/>
            </p:cNvCxnSpPr>
            <p:nvPr/>
          </p:nvCxnSpPr>
          <p:spPr>
            <a:xfrm flipH="1" flipV="1">
              <a:off x="1008220" y="2798041"/>
              <a:ext cx="1" cy="402978"/>
            </a:xfrm>
            <a:prstGeom prst="straightConnector1">
              <a:avLst/>
            </a:prstGeom>
            <a:noFill/>
            <a:ln w="9525" cap="flat" cmpd="sng">
              <a:solidFill>
                <a:schemeClr val="accent1"/>
              </a:solidFill>
              <a:prstDash val="solid"/>
              <a:miter lim="800000"/>
              <a:headEnd type="none" w="sm" len="sm"/>
              <a:tailEnd type="none" w="sm" len="sm"/>
            </a:ln>
          </p:spPr>
        </p:cxnSp>
        <p:sp>
          <p:nvSpPr>
            <p:cNvPr id="4889" name="Google Shape;4889;p285"/>
            <p:cNvSpPr txBox="1"/>
            <p:nvPr/>
          </p:nvSpPr>
          <p:spPr>
            <a:xfrm>
              <a:off x="1682084" y="1453253"/>
              <a:ext cx="2687800" cy="369332"/>
            </a:xfrm>
            <a:prstGeom prst="rect">
              <a:avLst/>
            </a:prstGeom>
            <a:noFill/>
            <a:ln>
              <a:noFill/>
            </a:ln>
          </p:spPr>
          <p:txBody>
            <a:bodyPr spcFirstLastPara="1" wrap="square" lIns="91425" tIns="45700" rIns="91425" bIns="45700" anchor="t" anchorCtr="0">
              <a:spAutoFit/>
            </a:bodyPr>
            <a:lstStyle/>
            <a:p>
              <a:pPr>
                <a:buClr>
                  <a:srgbClr val="000000"/>
                </a:buClr>
                <a:buSzPts val="1800"/>
                <a:defRPr>
                  <a:latin typeface="Ubuntu"/>
                  <a:ea typeface="Ubuntu"/>
                  <a:cs typeface="Ubuntu"/>
                </a:defRPr>
              </a:pPr>
              <a:r>
                <a:rPr lang="en-US" dirty="0">
                  <a:solidFill>
                    <a:srgbClr val="000000"/>
                  </a:solidFill>
                  <a:latin typeface="Ubuntu" panose="02020603050405020304" pitchFamily="18" charset="0"/>
                  <a:ea typeface="Ubuntu"/>
                  <a:cs typeface="Ubuntu" panose="02020603050405020304" pitchFamily="18" charset="0"/>
                  <a:sym typeface="Times New Roman"/>
                </a:rPr>
                <a:t>Attitude determination  </a:t>
              </a:r>
              <a:endParaRPr dirty="0">
                <a:latin typeface="Times New Roman" panose="02020603050405020304" pitchFamily="18" charset="0"/>
                <a:cs typeface="Times New Roman" panose="02020603050405020304" pitchFamily="18" charset="0"/>
              </a:endParaRPr>
            </a:p>
          </p:txBody>
        </p:sp>
      </p:grpSp>
      <p:sp>
        <p:nvSpPr>
          <p:cNvPr id="5" name="TextBox 4">
            <a:extLst>
              <a:ext uri="{FF2B5EF4-FFF2-40B4-BE49-F238E27FC236}">
                <a16:creationId xmlns:a16="http://schemas.microsoft.com/office/drawing/2014/main" id="{F1D21FA5-A3C3-39C0-F3B4-4DC879C7258A}"/>
              </a:ext>
            </a:extLst>
          </p:cNvPr>
          <p:cNvSpPr txBox="1"/>
          <p:nvPr/>
        </p:nvSpPr>
        <p:spPr>
          <a:xfrm>
            <a:off x="6346848" y="4617199"/>
            <a:ext cx="5680611" cy="1938992"/>
          </a:xfrm>
          <a:prstGeom prst="rect">
            <a:avLst/>
          </a:prstGeom>
          <a:solidFill>
            <a:schemeClr val="bg2"/>
          </a:solidFill>
        </p:spPr>
        <p:txBody>
          <a:bodyPr wrap="square">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latin typeface="Ubuntu"/>
                <a:ea typeface="Ubuntu"/>
                <a:cs typeface="Ubuntu"/>
              </a:defRPr>
            </a:pPr>
            <a:r>
              <a:rPr kumimoji="0" lang="en-US" altLang="en-US" sz="2000" b="1" i="0" u="none" strike="noStrike" cap="none" normalizeH="0" baseline="0" dirty="0">
                <a:ln>
                  <a:noFill/>
                </a:ln>
                <a:solidFill>
                  <a:schemeClr val="tx1"/>
                </a:solidFill>
                <a:effectLst/>
                <a:latin typeface="Ubuntu" panose="02020603050405020304" pitchFamily="18" charset="0"/>
                <a:cs typeface="Ubuntu" panose="02020603050405020304" pitchFamily="18" charset="0"/>
              </a:rPr>
              <a:t>Hysteresis damper</a:t>
            </a:r>
            <a:r>
              <a:rPr kumimoji="0" lang="en-US" altLang="en-US" sz="2000" b="0" i="0" u="none" strike="noStrike" cap="none" normalizeH="0" baseline="0" dirty="0">
                <a:ln>
                  <a:noFill/>
                </a:ln>
                <a:solidFill>
                  <a:schemeClr val="tx1"/>
                </a:solidFill>
                <a:effectLst/>
                <a:latin typeface="Ubuntu" panose="02020603050405020304" pitchFamily="18" charset="0"/>
                <a:cs typeface="Ubuntu" panose="02020603050405020304" pitchFamily="18" charset="0"/>
              </a:rPr>
              <a:t>: Passively dissipates rotational energy to reduce residual oscillations and stabilize the satellite's attitude.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latin typeface="Ubuntu"/>
                <a:ea typeface="Ubuntu"/>
                <a:cs typeface="Ubuntu"/>
              </a:defRPr>
            </a:pPr>
            <a:r>
              <a:rPr kumimoji="0" lang="en-US" altLang="en-US" sz="2000" b="1" i="0" u="none" strike="noStrike" cap="none" normalizeH="0" baseline="0" dirty="0">
                <a:ln>
                  <a:noFill/>
                </a:ln>
                <a:solidFill>
                  <a:schemeClr val="tx1"/>
                </a:solidFill>
                <a:effectLst/>
                <a:latin typeface="Ubuntu" panose="02020603050405020304" pitchFamily="18" charset="0"/>
                <a:cs typeface="Ubuntu" panose="02020603050405020304" pitchFamily="18" charset="0"/>
              </a:rPr>
              <a:t>Permanent magnet</a:t>
            </a:r>
            <a:r>
              <a:rPr kumimoji="0" lang="en-US" altLang="en-US" sz="2000" b="0" i="0" u="none" strike="noStrike" cap="none" normalizeH="0" baseline="0" dirty="0">
                <a:ln>
                  <a:noFill/>
                </a:ln>
                <a:solidFill>
                  <a:schemeClr val="tx1"/>
                </a:solidFill>
                <a:effectLst/>
                <a:latin typeface="Ubuntu" panose="02020603050405020304" pitchFamily="18" charset="0"/>
                <a:cs typeface="Ubuntu" panose="02020603050405020304" pitchFamily="18" charset="0"/>
              </a:rPr>
              <a:t>: Aligns the satellite with Earth's magnetic field to provide passive attitude control.</a:t>
            </a:r>
          </a:p>
        </p:txBody>
      </p:sp>
      <p:cxnSp>
        <p:nvCxnSpPr>
          <p:cNvPr id="6" name="Google Shape;4304;p239">
            <a:extLst>
              <a:ext uri="{FF2B5EF4-FFF2-40B4-BE49-F238E27FC236}">
                <a16:creationId xmlns:a16="http://schemas.microsoft.com/office/drawing/2014/main" id="{EEB8ADA0-8A44-7EF9-D200-64D5A5BA5F7E}"/>
              </a:ext>
            </a:extLst>
          </p:cNvPr>
          <p:cNvCxnSpPr/>
          <p:nvPr/>
        </p:nvCxnSpPr>
        <p:spPr>
          <a:xfrm>
            <a:off x="1822775" y="3909490"/>
            <a:ext cx="1427870" cy="13389"/>
          </a:xfrm>
          <a:prstGeom prst="straightConnector1">
            <a:avLst/>
          </a:prstGeom>
          <a:noFill/>
          <a:ln w="25400" cap="flat" cmpd="sng">
            <a:solidFill>
              <a:schemeClr val="dk1"/>
            </a:solidFill>
            <a:prstDash val="solid"/>
            <a:miter lim="800000"/>
            <a:headEnd type="triangle" w="med" len="med"/>
            <a:tailEnd type="triangle" w="med" len="med"/>
          </a:ln>
        </p:spPr>
      </p:cxnSp>
      <p:sp>
        <p:nvSpPr>
          <p:cNvPr id="7" name="Google Shape;4313;p239">
            <a:extLst>
              <a:ext uri="{FF2B5EF4-FFF2-40B4-BE49-F238E27FC236}">
                <a16:creationId xmlns:a16="http://schemas.microsoft.com/office/drawing/2014/main" id="{3A571C5C-2FEB-5147-E0A8-E89CB543069D}"/>
              </a:ext>
            </a:extLst>
          </p:cNvPr>
          <p:cNvSpPr txBox="1"/>
          <p:nvPr/>
        </p:nvSpPr>
        <p:spPr>
          <a:xfrm>
            <a:off x="257256" y="3725964"/>
            <a:ext cx="139653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Times New Roman"/>
              <a:buNone/>
              <a:defRPr>
                <a:latin typeface="Ubuntu"/>
                <a:ea typeface="Ubuntu"/>
                <a:cs typeface="Ubuntu"/>
              </a:defRPr>
            </a:pPr>
            <a:r>
              <a:rPr lang="en-US" sz="1800" b="0" i="0" u="none" strike="noStrike" cap="none" dirty="0">
                <a:solidFill>
                  <a:srgbClr val="000000"/>
                </a:solidFill>
                <a:latin typeface="Ubuntu"/>
                <a:ea typeface="Ubuntu"/>
                <a:cs typeface="Ubuntu"/>
                <a:sym typeface="Times New Roman"/>
              </a:rPr>
              <a:t>Mission boss</a:t>
            </a:r>
            <a:endParaRPr sz="1400" b="0" i="0" u="none" strike="noStrike" cap="none" dirty="0">
              <a:solidFill>
                <a:srgbClr val="000000"/>
              </a:solidFill>
              <a:latin typeface="Arial"/>
              <a:ea typeface="Arial"/>
              <a:cs typeface="Arial"/>
              <a:sym typeface="Arial"/>
            </a:endParaRPr>
          </a:p>
        </p:txBody>
      </p:sp>
      <p:sp>
        <p:nvSpPr>
          <p:cNvPr id="17" name="Google Shape;4307;p239">
            <a:extLst>
              <a:ext uri="{FF2B5EF4-FFF2-40B4-BE49-F238E27FC236}">
                <a16:creationId xmlns:a16="http://schemas.microsoft.com/office/drawing/2014/main" id="{7AFBA807-7D9A-F004-6FC1-431F8F4BCBDB}"/>
              </a:ext>
            </a:extLst>
          </p:cNvPr>
          <p:cNvSpPr txBox="1"/>
          <p:nvPr/>
        </p:nvSpPr>
        <p:spPr>
          <a:xfrm>
            <a:off x="6791016" y="2889013"/>
            <a:ext cx="835200" cy="3036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200"/>
              <a:buFont typeface="Times New Roman"/>
              <a:buNone/>
              <a:defRPr>
                <a:latin typeface="Ubuntu"/>
                <a:ea typeface="Ubuntu"/>
                <a:cs typeface="Ubuntu"/>
              </a:defRPr>
            </a:pPr>
            <a:r>
              <a:rPr lang="en-US" sz="1200" b="0" i="0" u="none" strike="noStrike" cap="none" dirty="0">
                <a:solidFill>
                  <a:srgbClr val="000000"/>
                </a:solidFill>
                <a:latin typeface="Ubuntu"/>
                <a:ea typeface="Ubuntu"/>
                <a:cs typeface="Ubuntu"/>
                <a:sym typeface="Times New Roman"/>
              </a:rPr>
              <a:t>UART</a:t>
            </a:r>
            <a:endParaRPr sz="1200" b="0" i="0" u="none" strike="noStrike" cap="none" dirty="0">
              <a:solidFill>
                <a:srgbClr val="000000"/>
              </a:solidFill>
              <a:latin typeface="Times New Roman"/>
              <a:ea typeface="Times New Roman"/>
              <a:cs typeface="Times New Roman"/>
              <a:sym typeface="Times New Roman"/>
            </a:endParaRPr>
          </a:p>
        </p:txBody>
      </p:sp>
      <p:sp>
        <p:nvSpPr>
          <p:cNvPr id="18" name="Google Shape;4307;p239">
            <a:extLst>
              <a:ext uri="{FF2B5EF4-FFF2-40B4-BE49-F238E27FC236}">
                <a16:creationId xmlns:a16="http://schemas.microsoft.com/office/drawing/2014/main" id="{7CB43087-D49C-95F1-442F-3E85B7D9C7D5}"/>
              </a:ext>
            </a:extLst>
          </p:cNvPr>
          <p:cNvSpPr txBox="1"/>
          <p:nvPr/>
        </p:nvSpPr>
        <p:spPr>
          <a:xfrm>
            <a:off x="2583524" y="2891372"/>
            <a:ext cx="835200" cy="3036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200"/>
              <a:buFont typeface="Times New Roman"/>
              <a:buNone/>
              <a:defRPr>
                <a:latin typeface="Ubuntu"/>
                <a:ea typeface="Ubuntu"/>
                <a:cs typeface="Ubuntu"/>
              </a:defRPr>
            </a:pPr>
            <a:r>
              <a:rPr lang="en-US" sz="1200" b="0" i="0" u="none" strike="noStrike" cap="none" dirty="0">
                <a:solidFill>
                  <a:srgbClr val="000000"/>
                </a:solidFill>
                <a:latin typeface="Ubuntu"/>
                <a:ea typeface="Ubuntu"/>
                <a:cs typeface="Ubuntu"/>
                <a:sym typeface="Times New Roman"/>
              </a:rPr>
              <a:t>SPI</a:t>
            </a:r>
            <a:endParaRPr sz="1200" b="0" i="0" u="none" strike="noStrike" cap="none" dirty="0">
              <a:solidFill>
                <a:srgbClr val="000000"/>
              </a:solidFill>
              <a:latin typeface="Times New Roman"/>
              <a:ea typeface="Times New Roman"/>
              <a:cs typeface="Times New Roman"/>
              <a:sym typeface="Times New Roman"/>
            </a:endParaRPr>
          </a:p>
        </p:txBody>
      </p:sp>
      <p:sp>
        <p:nvSpPr>
          <p:cNvPr id="19" name="Google Shape;4306;p239">
            <a:extLst>
              <a:ext uri="{FF2B5EF4-FFF2-40B4-BE49-F238E27FC236}">
                <a16:creationId xmlns:a16="http://schemas.microsoft.com/office/drawing/2014/main" id="{0E6BD3B1-9F25-C370-DBD5-0162D1DA83CD}"/>
              </a:ext>
            </a:extLst>
          </p:cNvPr>
          <p:cNvSpPr txBox="1"/>
          <p:nvPr/>
        </p:nvSpPr>
        <p:spPr>
          <a:xfrm>
            <a:off x="4869243" y="2844288"/>
            <a:ext cx="835200" cy="3036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200"/>
              <a:buFont typeface="Times New Roman"/>
              <a:buNone/>
              <a:defRPr>
                <a:latin typeface="Ubuntu"/>
                <a:ea typeface="Ubuntu"/>
                <a:cs typeface="Ubuntu"/>
              </a:defRPr>
            </a:pPr>
            <a:r>
              <a:rPr lang="en-US" sz="1200" b="0" i="0" u="none" strike="noStrike" cap="none" dirty="0">
                <a:solidFill>
                  <a:srgbClr val="000000"/>
                </a:solidFill>
                <a:latin typeface="Ubuntu"/>
                <a:ea typeface="Ubuntu"/>
                <a:cs typeface="Ubuntu"/>
                <a:sym typeface="Times New Roman"/>
              </a:rPr>
              <a:t>I2C</a:t>
            </a:r>
            <a:endParaRPr sz="1200" b="0" i="0" u="none" strike="noStrike" cap="none" dirty="0">
              <a:solidFill>
                <a:srgbClr val="000000"/>
              </a:solidFill>
              <a:latin typeface="Times New Roman"/>
              <a:ea typeface="Times New Roman"/>
              <a:cs typeface="Times New Roman"/>
              <a:sym typeface="Times New Roman"/>
            </a:endParaRPr>
          </a:p>
        </p:txBody>
      </p:sp>
      <p:sp>
        <p:nvSpPr>
          <p:cNvPr id="20" name="Google Shape;4307;p239">
            <a:extLst>
              <a:ext uri="{FF2B5EF4-FFF2-40B4-BE49-F238E27FC236}">
                <a16:creationId xmlns:a16="http://schemas.microsoft.com/office/drawing/2014/main" id="{6E877CB8-113F-4EC2-848E-6523DD2D70D9}"/>
              </a:ext>
            </a:extLst>
          </p:cNvPr>
          <p:cNvSpPr txBox="1"/>
          <p:nvPr/>
        </p:nvSpPr>
        <p:spPr>
          <a:xfrm>
            <a:off x="6958964" y="3566656"/>
            <a:ext cx="835200" cy="3036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200"/>
              <a:buFont typeface="Times New Roman"/>
              <a:buNone/>
              <a:defRPr>
                <a:latin typeface="Ubuntu"/>
                <a:ea typeface="Ubuntu"/>
                <a:cs typeface="Ubuntu"/>
              </a:defRPr>
            </a:pPr>
            <a:r>
              <a:rPr lang="en-US" sz="1200" b="0" i="0" u="none" strike="noStrike" cap="none" dirty="0">
                <a:solidFill>
                  <a:srgbClr val="000000"/>
                </a:solidFill>
                <a:latin typeface="Ubuntu"/>
                <a:ea typeface="Ubuntu"/>
                <a:cs typeface="Ubuntu"/>
                <a:sym typeface="Times New Roman"/>
              </a:rPr>
              <a:t>UART</a:t>
            </a:r>
            <a:endParaRPr sz="1200" b="0" i="0" u="none" strike="noStrike" cap="none" dirty="0">
              <a:solidFill>
                <a:srgbClr val="000000"/>
              </a:solidFill>
              <a:latin typeface="Times New Roman"/>
              <a:ea typeface="Times New Roman"/>
              <a:cs typeface="Times New Roman"/>
              <a:sym typeface="Times New Roman"/>
            </a:endParaRPr>
          </a:p>
        </p:txBody>
      </p:sp>
      <p:sp>
        <p:nvSpPr>
          <p:cNvPr id="21" name="Google Shape;4307;p239">
            <a:extLst>
              <a:ext uri="{FF2B5EF4-FFF2-40B4-BE49-F238E27FC236}">
                <a16:creationId xmlns:a16="http://schemas.microsoft.com/office/drawing/2014/main" id="{9AE7C291-3478-2D7D-7AED-B280DC6A4F9F}"/>
              </a:ext>
            </a:extLst>
          </p:cNvPr>
          <p:cNvSpPr txBox="1"/>
          <p:nvPr/>
        </p:nvSpPr>
        <p:spPr>
          <a:xfrm>
            <a:off x="1918988" y="3580490"/>
            <a:ext cx="835200" cy="3036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200"/>
              <a:buFont typeface="Times New Roman"/>
              <a:buNone/>
              <a:defRPr>
                <a:latin typeface="Ubuntu"/>
                <a:ea typeface="Ubuntu"/>
                <a:cs typeface="Ubuntu"/>
              </a:defRPr>
            </a:pPr>
            <a:r>
              <a:rPr lang="en-US" sz="1200" b="0" i="0" u="none" strike="noStrike" cap="none" dirty="0">
                <a:solidFill>
                  <a:srgbClr val="000000"/>
                </a:solidFill>
                <a:latin typeface="Ubuntu"/>
                <a:ea typeface="Ubuntu"/>
                <a:cs typeface="Ubuntu"/>
                <a:sym typeface="Times New Roman"/>
              </a:rPr>
              <a:t>UART</a:t>
            </a:r>
            <a:endParaRPr sz="1200" b="0" i="0" u="none" strike="noStrike" cap="none" dirty="0">
              <a:solidFill>
                <a:srgbClr val="000000"/>
              </a:solidFill>
              <a:latin typeface="Times New Roman"/>
              <a:ea typeface="Times New Roman"/>
              <a:cs typeface="Times New Roman"/>
              <a:sym typeface="Times New Roman"/>
            </a:endParaRPr>
          </a:p>
        </p:txBody>
      </p:sp>
      <p:sp>
        <p:nvSpPr>
          <p:cNvPr id="22" name="Google Shape;4305;p239">
            <a:extLst>
              <a:ext uri="{FF2B5EF4-FFF2-40B4-BE49-F238E27FC236}">
                <a16:creationId xmlns:a16="http://schemas.microsoft.com/office/drawing/2014/main" id="{E382A83E-7E38-5445-C1AD-C037F2AF4D5E}"/>
              </a:ext>
            </a:extLst>
          </p:cNvPr>
          <p:cNvSpPr/>
          <p:nvPr/>
        </p:nvSpPr>
        <p:spPr>
          <a:xfrm>
            <a:off x="6368036" y="4035511"/>
            <a:ext cx="1181855" cy="525257"/>
          </a:xfrm>
          <a:prstGeom prst="roundRect">
            <a:avLst>
              <a:gd name="adj" fmla="val 16667"/>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Times New Roman"/>
              <a:buNone/>
              <a:defRPr>
                <a:latin typeface="Ubuntu"/>
                <a:ea typeface="Ubuntu"/>
                <a:cs typeface="Ubuntu"/>
              </a:defRPr>
            </a:pPr>
            <a:r>
              <a:rPr lang="en-US" sz="1600" b="0" i="0" u="none" strike="noStrike" cap="none" dirty="0">
                <a:solidFill>
                  <a:srgbClr val="000000"/>
                </a:solidFill>
                <a:latin typeface="Ubuntu"/>
                <a:ea typeface="Ubuntu"/>
                <a:cs typeface="Ubuntu"/>
                <a:sym typeface="Times New Roman"/>
              </a:rPr>
              <a:t>Flash Memory</a:t>
            </a:r>
            <a:endParaRPr sz="1400" b="0" i="0" u="none" strike="noStrike" cap="none" dirty="0">
              <a:solidFill>
                <a:srgbClr val="000000"/>
              </a:solidFill>
              <a:latin typeface="Arial"/>
              <a:ea typeface="Arial"/>
              <a:cs typeface="Arial"/>
              <a:sym typeface="Arial"/>
            </a:endParaRPr>
          </a:p>
        </p:txBody>
      </p:sp>
      <p:cxnSp>
        <p:nvCxnSpPr>
          <p:cNvPr id="24" name="Connector: Elbow 23">
            <a:extLst>
              <a:ext uri="{FF2B5EF4-FFF2-40B4-BE49-F238E27FC236}">
                <a16:creationId xmlns:a16="http://schemas.microsoft.com/office/drawing/2014/main" id="{E0AD2D64-A2B9-DED3-2F13-B2C1F30A522D}"/>
              </a:ext>
            </a:extLst>
          </p:cNvPr>
          <p:cNvCxnSpPr>
            <a:stCxn id="4867" idx="2"/>
            <a:endCxn id="22" idx="1"/>
          </p:cNvCxnSpPr>
          <p:nvPr/>
        </p:nvCxnSpPr>
        <p:spPr>
          <a:xfrm rot="16200000" flipH="1">
            <a:off x="5505825" y="3435928"/>
            <a:ext cx="44505" cy="1679917"/>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5" name="Google Shape;4307;p239">
            <a:extLst>
              <a:ext uri="{FF2B5EF4-FFF2-40B4-BE49-F238E27FC236}">
                <a16:creationId xmlns:a16="http://schemas.microsoft.com/office/drawing/2014/main" id="{D66D5888-45BB-BCF9-D681-3CA7256CF207}"/>
              </a:ext>
            </a:extLst>
          </p:cNvPr>
          <p:cNvSpPr txBox="1"/>
          <p:nvPr/>
        </p:nvSpPr>
        <p:spPr>
          <a:xfrm>
            <a:off x="5231084" y="4275886"/>
            <a:ext cx="835200" cy="303600"/>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200"/>
              <a:buFont typeface="Times New Roman"/>
              <a:buNone/>
              <a:defRPr>
                <a:latin typeface="Ubuntu"/>
                <a:ea typeface="Ubuntu"/>
                <a:cs typeface="Ubuntu"/>
              </a:defRPr>
            </a:pPr>
            <a:r>
              <a:rPr lang="en-US" sz="1200" b="0" i="0" u="none" strike="noStrike" cap="none" dirty="0">
                <a:solidFill>
                  <a:srgbClr val="000000"/>
                </a:solidFill>
                <a:latin typeface="Ubuntu"/>
                <a:ea typeface="Ubuntu"/>
                <a:cs typeface="Ubuntu"/>
                <a:sym typeface="Times New Roman"/>
              </a:rPr>
              <a:t>SPI</a:t>
            </a:r>
            <a:endParaRPr sz="1200" b="0" i="0" u="none" strike="noStrike" cap="none" dirty="0">
              <a:solidFill>
                <a:srgbClr val="000000"/>
              </a:solidFill>
              <a:latin typeface="Times New Roman"/>
              <a:ea typeface="Times New Roman"/>
              <a:cs typeface="Times New Roman"/>
              <a:sym typeface="Times New Roman"/>
            </a:endParaRPr>
          </a:p>
        </p:txBody>
      </p:sp>
      <p:sp>
        <p:nvSpPr>
          <p:cNvPr id="4" name="Slide Number Placeholder 7">
            <a:extLst>
              <a:ext uri="{FF2B5EF4-FFF2-40B4-BE49-F238E27FC236}">
                <a16:creationId xmlns:a16="http://schemas.microsoft.com/office/drawing/2014/main" id="{8F250BA3-E661-DA2D-8834-B96EBD7392A3}"/>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21</a:t>
            </a:fld>
            <a:endParaRPr lang="en-US" sz="4800" b="1" dirty="0">
              <a:solidFill>
                <a:srgbClr val="FF0000"/>
              </a:solidFill>
            </a:endParaRPr>
          </a:p>
        </p:txBody>
      </p:sp>
      <p:pic>
        <p:nvPicPr>
          <p:cNvPr id="4890" name="Space Faculty logo" descr="sf_logo.png"/>
          <p:cNvPicPr>
            <a:picLocks noChangeAspect="1"/>
          </p:cNvPicPr>
          <p:nvPr/>
        </p:nvPicPr>
        <p:blipFill>
          <a:blip r:embed="rId3"/>
          <a:stretch>
            <a:fillRect/>
          </a:stretch>
        </p:blipFill>
        <p:spPr>
          <a:xfrm>
            <a:off x="10471916" y="54863"/>
            <a:ext cx="1607307" cy="4567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73"/>
        <p:cNvGrpSpPr/>
        <p:nvPr/>
      </p:nvGrpSpPr>
      <p:grpSpPr>
        <a:xfrm>
          <a:off x="0" y="0"/>
          <a:ext cx="0" cy="0"/>
          <a:chOff x="0" y="0"/>
          <a:chExt cx="0" cy="0"/>
        </a:xfrm>
      </p:grpSpPr>
      <p:pic>
        <p:nvPicPr>
          <p:cNvPr id="4474" name="Google Shape;4474;p254"/>
          <p:cNvPicPr preferRelativeResize="0">
            <a:picLocks noGrp="1"/>
          </p:cNvPicPr>
          <p:nvPr>
            <p:ph type="body" idx="1"/>
          </p:nvPr>
        </p:nvPicPr>
        <p:blipFill rotWithShape="1">
          <a:blip r:embed="rId3">
            <a:alphaModFix/>
          </a:blip>
          <a:srcRect/>
          <a:stretch/>
        </p:blipFill>
        <p:spPr>
          <a:xfrm>
            <a:off x="3130858" y="748295"/>
            <a:ext cx="5983550" cy="5649934"/>
          </a:xfrm>
          <a:prstGeom prst="rect">
            <a:avLst/>
          </a:prstGeom>
          <a:noFill/>
          <a:ln>
            <a:noFill/>
          </a:ln>
        </p:spPr>
      </p:pic>
      <p:sp>
        <p:nvSpPr>
          <p:cNvPr id="4475" name="Google Shape;4475;p254"/>
          <p:cNvSpPr txBox="1">
            <a:spLocks noGrp="1"/>
          </p:cNvSpPr>
          <p:nvPr>
            <p:ph type="title"/>
          </p:nvPr>
        </p:nvSpPr>
        <p:spPr>
          <a:xfrm>
            <a:off x="1766824" y="1"/>
            <a:ext cx="8581134" cy="828897"/>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ADCS BBM Schematic </a:t>
            </a:r>
            <a:endParaRPr sz="4400" b="1" dirty="0">
              <a:latin typeface="Times New Roman" panose="02020603050405020304" pitchFamily="18" charset="0"/>
              <a:cs typeface="Times New Roman" panose="02020603050405020304" pitchFamily="18" charset="0"/>
            </a:endParaRPr>
          </a:p>
        </p:txBody>
      </p:sp>
      <p:sp>
        <p:nvSpPr>
          <p:cNvPr id="3" name="Slide Number Placeholder 7">
            <a:extLst>
              <a:ext uri="{FF2B5EF4-FFF2-40B4-BE49-F238E27FC236}">
                <a16:creationId xmlns:a16="http://schemas.microsoft.com/office/drawing/2014/main" id="{367410BE-2966-9981-DA58-95617E64E147}"/>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22</a:t>
            </a:fld>
            <a:endParaRPr lang="en-US" sz="4800" b="1" dirty="0">
              <a:solidFill>
                <a:srgbClr val="FF0000"/>
              </a:solidFill>
            </a:endParaRPr>
          </a:p>
        </p:txBody>
      </p:sp>
      <p:pic>
        <p:nvPicPr>
          <p:cNvPr id="4476" name="Space Faculty logo" descr="sf_logo.png"/>
          <p:cNvPicPr>
            <a:picLocks noChangeAspect="1"/>
          </p:cNvPicPr>
          <p:nvPr/>
        </p:nvPicPr>
        <p:blipFill>
          <a:blip r:embed="rId4"/>
          <a:stretch>
            <a:fillRect/>
          </a:stretch>
        </p:blipFill>
        <p:spPr>
          <a:xfrm>
            <a:off x="10510224" y="54863"/>
            <a:ext cx="1569000" cy="44587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9233" y="441691"/>
            <a:ext cx="7173534" cy="677108"/>
          </a:xfrm>
        </p:spPr>
        <p:txBody>
          <a:bodyPr>
            <a:no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Passive Attitude Control</a:t>
            </a:r>
          </a:p>
        </p:txBody>
      </p:sp>
      <p:sp>
        <p:nvSpPr>
          <p:cNvPr id="9" name="テキスト ボックス 8">
            <a:extLst>
              <a:ext uri="{FF2B5EF4-FFF2-40B4-BE49-F238E27FC236}">
                <a16:creationId xmlns:a16="http://schemas.microsoft.com/office/drawing/2014/main" id="{65DA7DB7-D1BE-4203-AB81-B44D73B2E7A7}"/>
              </a:ext>
            </a:extLst>
          </p:cNvPr>
          <p:cNvSpPr txBox="1"/>
          <p:nvPr/>
        </p:nvSpPr>
        <p:spPr>
          <a:xfrm>
            <a:off x="1932125" y="5389216"/>
            <a:ext cx="5855314" cy="707886"/>
          </a:xfrm>
          <a:prstGeom prst="rect">
            <a:avLst/>
          </a:prstGeom>
          <a:noFill/>
        </p:spPr>
        <p:txBody>
          <a:bodyPr wrap="square" rtlCol="0">
            <a:spAutoFit/>
          </a:bodyPr>
          <a:lstStyle/>
          <a:p>
            <a:pPr defTabSz="457200">
              <a:defRPr>
                <a:latin typeface="Ubuntu"/>
                <a:ea typeface="Ubuntu"/>
                <a:cs typeface="Ubuntu"/>
              </a:defRPr>
            </a:pPr>
            <a:r>
              <a:rPr kumimoji="1" lang="en-US" altLang="ja-JP" sz="2000" dirty="0">
                <a:solidFill>
                  <a:prstClr val="black"/>
                </a:solidFill>
                <a:latin typeface="Ubuntu"/>
                <a:ea typeface="Ubuntu"/>
                <a:cs typeface="Ubuntu"/>
              </a:rPr>
              <a:t>Hysteresis dampers are mounted on –Z panel</a:t>
            </a:r>
          </a:p>
          <a:p>
            <a:pPr defTabSz="457200">
              <a:defRPr>
                <a:latin typeface="Ubuntu"/>
                <a:ea typeface="Ubuntu"/>
                <a:cs typeface="Ubuntu"/>
              </a:defRPr>
            </a:pPr>
            <a:r>
              <a:rPr kumimoji="1" lang="en-US" altLang="ja-JP" sz="2000" dirty="0">
                <a:solidFill>
                  <a:prstClr val="black"/>
                </a:solidFill>
                <a:latin typeface="Ubuntu"/>
                <a:ea typeface="Ubuntu"/>
                <a:cs typeface="Ubuntu"/>
              </a:rPr>
              <a:t>They reduce satellite oscillation to magnetic field</a:t>
            </a:r>
            <a:endParaRPr kumimoji="1" lang="ja-JP" altLang="en-US" sz="2000" dirty="0">
              <a:solidFill>
                <a:prstClr val="black"/>
              </a:solidFill>
              <a:latin typeface="Times New Roman"/>
              <a:ea typeface="ＭＳ ゴシック"/>
            </a:endParaRPr>
          </a:p>
        </p:txBody>
      </p:sp>
      <p:pic>
        <p:nvPicPr>
          <p:cNvPr id="42" name="図 41">
            <a:extLst>
              <a:ext uri="{FF2B5EF4-FFF2-40B4-BE49-F238E27FC236}">
                <a16:creationId xmlns:a16="http://schemas.microsoft.com/office/drawing/2014/main" id="{167B37DB-5485-4D7E-9F22-A7B4E6A4B723}"/>
              </a:ext>
            </a:extLst>
          </p:cNvPr>
          <p:cNvPicPr>
            <a:picLocks noChangeAspect="1"/>
          </p:cNvPicPr>
          <p:nvPr/>
        </p:nvPicPr>
        <p:blipFill>
          <a:blip r:embed="rId2"/>
          <a:stretch>
            <a:fillRect/>
          </a:stretch>
        </p:blipFill>
        <p:spPr>
          <a:xfrm>
            <a:off x="1932126" y="1522014"/>
            <a:ext cx="4332985" cy="3519920"/>
          </a:xfrm>
          <a:prstGeom prst="rect">
            <a:avLst/>
          </a:prstGeom>
        </p:spPr>
      </p:pic>
      <p:pic>
        <p:nvPicPr>
          <p:cNvPr id="10" name="Picture 11" descr="A picture containing text, electronics, circuit&#10;&#10;Description automatically generated">
            <a:extLst>
              <a:ext uri="{FF2B5EF4-FFF2-40B4-BE49-F238E27FC236}">
                <a16:creationId xmlns:a16="http://schemas.microsoft.com/office/drawing/2014/main" id="{C1773B71-6008-4D0E-9D06-9317586736EE}"/>
              </a:ext>
            </a:extLst>
          </p:cNvPr>
          <p:cNvPicPr>
            <a:picLocks noChangeAspect="1"/>
          </p:cNvPicPr>
          <p:nvPr/>
        </p:nvPicPr>
        <p:blipFill>
          <a:blip r:embed="rId3"/>
          <a:stretch>
            <a:fillRect/>
          </a:stretch>
        </p:blipFill>
        <p:spPr>
          <a:xfrm>
            <a:off x="6833965" y="2629677"/>
            <a:ext cx="3095402" cy="3027121"/>
          </a:xfrm>
          <a:prstGeom prst="rect">
            <a:avLst/>
          </a:prstGeom>
        </p:spPr>
      </p:pic>
      <p:cxnSp>
        <p:nvCxnSpPr>
          <p:cNvPr id="11" name="直線矢印コネクタ 10">
            <a:extLst>
              <a:ext uri="{FF2B5EF4-FFF2-40B4-BE49-F238E27FC236}">
                <a16:creationId xmlns:a16="http://schemas.microsoft.com/office/drawing/2014/main" id="{D8199740-BBAB-4EA1-8748-B612B46EC843}"/>
              </a:ext>
            </a:extLst>
          </p:cNvPr>
          <p:cNvCxnSpPr>
            <a:cxnSpLocks/>
          </p:cNvCxnSpPr>
          <p:nvPr/>
        </p:nvCxnSpPr>
        <p:spPr>
          <a:xfrm flipH="1">
            <a:off x="7322822" y="1977364"/>
            <a:ext cx="560457" cy="1569097"/>
          </a:xfrm>
          <a:prstGeom prst="straightConnector1">
            <a:avLst/>
          </a:prstGeom>
          <a:ln w="38100">
            <a:solidFill>
              <a:srgbClr val="61FF0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98BBA6-FDC2-49D2-BA27-50EB84683FF3}"/>
              </a:ext>
            </a:extLst>
          </p:cNvPr>
          <p:cNvCxnSpPr>
            <a:cxnSpLocks/>
          </p:cNvCxnSpPr>
          <p:nvPr/>
        </p:nvCxnSpPr>
        <p:spPr>
          <a:xfrm flipH="1">
            <a:off x="8086726" y="2006617"/>
            <a:ext cx="111056" cy="2973111"/>
          </a:xfrm>
          <a:prstGeom prst="straightConnector1">
            <a:avLst/>
          </a:prstGeom>
          <a:ln w="38100">
            <a:solidFill>
              <a:srgbClr val="61FF0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380768B1-AC20-4E5A-BB4C-297CA0722902}"/>
              </a:ext>
            </a:extLst>
          </p:cNvPr>
          <p:cNvCxnSpPr>
            <a:cxnSpLocks/>
          </p:cNvCxnSpPr>
          <p:nvPr/>
        </p:nvCxnSpPr>
        <p:spPr>
          <a:xfrm>
            <a:off x="8674759" y="1977363"/>
            <a:ext cx="425130" cy="2212182"/>
          </a:xfrm>
          <a:prstGeom prst="straightConnector1">
            <a:avLst/>
          </a:prstGeom>
          <a:ln w="38100">
            <a:solidFill>
              <a:srgbClr val="61FF09"/>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D77B1E3C-8EEA-4112-AFF5-D8043E2EA591}"/>
              </a:ext>
            </a:extLst>
          </p:cNvPr>
          <p:cNvCxnSpPr>
            <a:cxnSpLocks/>
          </p:cNvCxnSpPr>
          <p:nvPr/>
        </p:nvCxnSpPr>
        <p:spPr>
          <a:xfrm>
            <a:off x="8454235" y="2006617"/>
            <a:ext cx="18665" cy="974795"/>
          </a:xfrm>
          <a:prstGeom prst="straightConnector1">
            <a:avLst/>
          </a:prstGeom>
          <a:ln w="38100">
            <a:solidFill>
              <a:srgbClr val="61FF09"/>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CB799724-FCF1-4593-8804-0758466DDACD}"/>
              </a:ext>
            </a:extLst>
          </p:cNvPr>
          <p:cNvSpPr txBox="1"/>
          <p:nvPr/>
        </p:nvSpPr>
        <p:spPr>
          <a:xfrm>
            <a:off x="7501734" y="1592241"/>
            <a:ext cx="1905000" cy="369332"/>
          </a:xfrm>
          <a:prstGeom prst="rect">
            <a:avLst/>
          </a:prstGeom>
          <a:noFill/>
        </p:spPr>
        <p:txBody>
          <a:bodyPr wrap="square" rtlCol="0">
            <a:spAutoFit/>
          </a:bodyPr>
          <a:lstStyle/>
          <a:p>
            <a:pPr defTabSz="457200">
              <a:defRPr>
                <a:latin typeface="Ubuntu"/>
                <a:ea typeface="Ubuntu"/>
                <a:cs typeface="Ubuntu"/>
              </a:defRPr>
            </a:pPr>
            <a:r>
              <a:rPr kumimoji="1" lang="en-US" altLang="ja-JP" dirty="0">
                <a:solidFill>
                  <a:prstClr val="black"/>
                </a:solidFill>
                <a:latin typeface="Ubuntu"/>
                <a:ea typeface="Ubuntu"/>
                <a:cs typeface="Ubuntu"/>
              </a:rPr>
              <a:t>Hysteresis damper</a:t>
            </a:r>
            <a:endParaRPr kumimoji="1" lang="ja-JP" altLang="en-US" dirty="0">
              <a:solidFill>
                <a:prstClr val="black"/>
              </a:solidFill>
              <a:latin typeface="Times New Roman"/>
              <a:ea typeface="ＭＳ ゴシック"/>
            </a:endParaRPr>
          </a:p>
        </p:txBody>
      </p:sp>
      <p:sp>
        <p:nvSpPr>
          <p:cNvPr id="5" name="Slide Number Placeholder 7">
            <a:extLst>
              <a:ext uri="{FF2B5EF4-FFF2-40B4-BE49-F238E27FC236}">
                <a16:creationId xmlns:a16="http://schemas.microsoft.com/office/drawing/2014/main" id="{D646F344-37D3-3C26-C566-51A6206A6F70}"/>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23</a:t>
            </a:fld>
            <a:endParaRPr lang="en-US" sz="4800" b="1" dirty="0">
              <a:solidFill>
                <a:srgbClr val="FF0000"/>
              </a:solidFill>
            </a:endParaRPr>
          </a:p>
        </p:txBody>
      </p:sp>
      <p:pic>
        <p:nvPicPr>
          <p:cNvPr id="43" name="Space Faculty logo" descr="sf_logo.png"/>
          <p:cNvPicPr>
            <a:picLocks noChangeAspect="1"/>
          </p:cNvPicPr>
          <p:nvPr/>
        </p:nvPicPr>
        <p:blipFill>
          <a:blip r:embed="rId4"/>
          <a:stretch>
            <a:fillRect/>
          </a:stretch>
        </p:blipFill>
        <p:spPr>
          <a:xfrm>
            <a:off x="10280390" y="54863"/>
            <a:ext cx="1798833" cy="511193"/>
          </a:xfrm>
          <a:prstGeom prst="rect">
            <a:avLst/>
          </a:prstGeom>
        </p:spPr>
      </p:pic>
    </p:spTree>
    <p:extLst>
      <p:ext uri="{BB962C8B-B14F-4D97-AF65-F5344CB8AC3E}">
        <p14:creationId xmlns:p14="http://schemas.microsoft.com/office/powerpoint/2010/main" val="2518648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94944-E968-49B8-8C45-915637F6BB1A}"/>
              </a:ext>
            </a:extLst>
          </p:cNvPr>
          <p:cNvSpPr>
            <a:spLocks noGrp="1"/>
          </p:cNvSpPr>
          <p:nvPr>
            <p:ph type="title"/>
          </p:nvPr>
        </p:nvSpPr>
        <p:spPr>
          <a:xfrm>
            <a:off x="2459966" y="-11195"/>
            <a:ext cx="7886700" cy="1325563"/>
          </a:xfrm>
        </p:spPr>
        <p:txBody>
          <a:bodyPr>
            <a:normAutofit/>
          </a:bodyPr>
          <a:lstStyle/>
          <a:p>
            <a:pPr algn="ctr">
              <a:defRPr>
                <a:latin typeface="House Movements Runway"/>
                <a:ea typeface="House Movements Runway"/>
                <a:cs typeface="House Movements Runway"/>
              </a:defRPr>
            </a:pPr>
            <a:r>
              <a:rPr lang="en-GB" sz="4800" b="1" dirty="0" err="1">
                <a:latin typeface="House Movements Runway" panose="02020603050405020304" pitchFamily="18" charset="0"/>
                <a:cs typeface="House Movements Runway" panose="02020603050405020304" pitchFamily="18" charset="0"/>
              </a:rPr>
              <a:t>Hysteris</a:t>
            </a:r>
            <a:r>
              <a:rPr lang="en-GB" sz="4800" b="1" dirty="0">
                <a:latin typeface="House Movements Runway" panose="02020603050405020304" pitchFamily="18" charset="0"/>
                <a:cs typeface="House Movements Runway" panose="02020603050405020304" pitchFamily="18" charset="0"/>
              </a:rPr>
              <a:t> Damper Test Results </a:t>
            </a:r>
          </a:p>
        </p:txBody>
      </p:sp>
      <p:pic>
        <p:nvPicPr>
          <p:cNvPr id="5" name="Content Placeholder 4">
            <a:extLst>
              <a:ext uri="{FF2B5EF4-FFF2-40B4-BE49-F238E27FC236}">
                <a16:creationId xmlns:a16="http://schemas.microsoft.com/office/drawing/2014/main" id="{112E78E9-BF78-42C8-84B3-02E57A92324C}"/>
              </a:ext>
            </a:extLst>
          </p:cNvPr>
          <p:cNvPicPr>
            <a:picLocks noGrp="1" noChangeAspect="1"/>
          </p:cNvPicPr>
          <p:nvPr>
            <p:ph idx="1"/>
          </p:nvPr>
        </p:nvPicPr>
        <p:blipFill rotWithShape="1">
          <a:blip r:embed="rId2"/>
          <a:srcRect t="1732" b="1"/>
          <a:stretch/>
        </p:blipFill>
        <p:spPr>
          <a:xfrm>
            <a:off x="473552" y="1247573"/>
            <a:ext cx="4431171" cy="4226906"/>
          </a:xfrm>
        </p:spPr>
      </p:pic>
      <p:pic>
        <p:nvPicPr>
          <p:cNvPr id="6" name="Content Placeholder 4">
            <a:extLst>
              <a:ext uri="{FF2B5EF4-FFF2-40B4-BE49-F238E27FC236}">
                <a16:creationId xmlns:a16="http://schemas.microsoft.com/office/drawing/2014/main" id="{0F3BA730-38F8-4098-ABCB-789080F03DDE}"/>
              </a:ext>
            </a:extLst>
          </p:cNvPr>
          <p:cNvPicPr>
            <a:picLocks noChangeAspect="1"/>
          </p:cNvPicPr>
          <p:nvPr/>
        </p:nvPicPr>
        <p:blipFill rotWithShape="1">
          <a:blip r:embed="rId3"/>
          <a:srcRect t="1857"/>
          <a:stretch/>
        </p:blipFill>
        <p:spPr>
          <a:xfrm>
            <a:off x="5931702" y="1032703"/>
            <a:ext cx="4272473" cy="4444476"/>
          </a:xfrm>
          <a:prstGeom prst="rect">
            <a:avLst/>
          </a:prstGeom>
        </p:spPr>
      </p:pic>
      <p:sp>
        <p:nvSpPr>
          <p:cNvPr id="8" name="四角形: 角を丸くする 7">
            <a:extLst>
              <a:ext uri="{FF2B5EF4-FFF2-40B4-BE49-F238E27FC236}">
                <a16:creationId xmlns:a16="http://schemas.microsoft.com/office/drawing/2014/main" id="{DEA5F03E-8855-4540-9674-E92CD31A1515}"/>
              </a:ext>
            </a:extLst>
          </p:cNvPr>
          <p:cNvSpPr/>
          <p:nvPr/>
        </p:nvSpPr>
        <p:spPr>
          <a:xfrm>
            <a:off x="3220281" y="5546140"/>
            <a:ext cx="5304032" cy="1035471"/>
          </a:xfrm>
          <a:prstGeom prst="roundRect">
            <a:avLst/>
          </a:prstGeom>
          <a:noFill/>
          <a:ln w="57150">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latin typeface="Ubuntu"/>
                <a:ea typeface="Ubuntu"/>
                <a:cs typeface="Ubuntu"/>
              </a:defRPr>
            </a:pPr>
            <a:endParaRPr kumimoji="1" lang="ja-JP" altLang="en-US">
              <a:solidFill>
                <a:prstClr val="white"/>
              </a:solidFill>
              <a:latin typeface="Times New Roman"/>
              <a:ea typeface="ＭＳ ゴシック"/>
            </a:endParaRPr>
          </a:p>
        </p:txBody>
      </p:sp>
      <p:sp>
        <p:nvSpPr>
          <p:cNvPr id="9" name="Rounded Rectangle 10">
            <a:extLst>
              <a:ext uri="{FF2B5EF4-FFF2-40B4-BE49-F238E27FC236}">
                <a16:creationId xmlns:a16="http://schemas.microsoft.com/office/drawing/2014/main" id="{1E373A59-1915-4BF4-B1CA-FDB417655DA9}"/>
              </a:ext>
            </a:extLst>
          </p:cNvPr>
          <p:cNvSpPr/>
          <p:nvPr/>
        </p:nvSpPr>
        <p:spPr>
          <a:xfrm>
            <a:off x="3267620" y="5684063"/>
            <a:ext cx="5151230" cy="422031"/>
          </a:xfrm>
          <a:prstGeom prst="roundRect">
            <a:avLst/>
          </a:prstGeom>
          <a:solidFill>
            <a:schemeClr val="accent1">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latin typeface="Ubuntu"/>
                <a:ea typeface="Ubuntu"/>
                <a:cs typeface="Ubuntu"/>
              </a:defRPr>
            </a:pPr>
            <a:r>
              <a:rPr lang="en-US" sz="2400" b="1" dirty="0">
                <a:solidFill>
                  <a:prstClr val="black"/>
                </a:solidFill>
                <a:latin typeface="Ubuntu"/>
                <a:ea typeface="Ubuntu"/>
                <a:cs typeface="Ubuntu"/>
              </a:rPr>
              <a:t>Hysteresis dampers are working well</a:t>
            </a:r>
          </a:p>
        </p:txBody>
      </p:sp>
      <p:sp>
        <p:nvSpPr>
          <p:cNvPr id="7" name="Slide Number Placeholder 7">
            <a:extLst>
              <a:ext uri="{FF2B5EF4-FFF2-40B4-BE49-F238E27FC236}">
                <a16:creationId xmlns:a16="http://schemas.microsoft.com/office/drawing/2014/main" id="{D5ADDAD6-F2D5-A2D6-A1D1-778E01FB5517}"/>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24</a:t>
            </a:fld>
            <a:endParaRPr lang="en-US" sz="4800" b="1" dirty="0">
              <a:solidFill>
                <a:srgbClr val="FF0000"/>
              </a:solidFill>
            </a:endParaRPr>
          </a:p>
        </p:txBody>
      </p:sp>
      <p:pic>
        <p:nvPicPr>
          <p:cNvPr id="10" name="Space Faculty logo" descr="sf_logo.png"/>
          <p:cNvPicPr>
            <a:picLocks noChangeAspect="1"/>
          </p:cNvPicPr>
          <p:nvPr/>
        </p:nvPicPr>
        <p:blipFill>
          <a:blip r:embed="rId4"/>
          <a:stretch>
            <a:fillRect/>
          </a:stretch>
        </p:blipFill>
        <p:spPr>
          <a:xfrm>
            <a:off x="10318698" y="54863"/>
            <a:ext cx="1760526" cy="500307"/>
          </a:xfrm>
          <a:prstGeom prst="rect">
            <a:avLst/>
          </a:prstGeom>
        </p:spPr>
      </p:pic>
    </p:spTree>
    <p:extLst>
      <p:ext uri="{BB962C8B-B14F-4D97-AF65-F5344CB8AC3E}">
        <p14:creationId xmlns:p14="http://schemas.microsoft.com/office/powerpoint/2010/main" val="3784042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94"/>
        <p:cNvGrpSpPr/>
        <p:nvPr/>
      </p:nvGrpSpPr>
      <p:grpSpPr>
        <a:xfrm>
          <a:off x="0" y="0"/>
          <a:ext cx="0" cy="0"/>
          <a:chOff x="0" y="0"/>
          <a:chExt cx="0" cy="0"/>
        </a:xfrm>
      </p:grpSpPr>
      <p:sp>
        <p:nvSpPr>
          <p:cNvPr id="4495" name="Google Shape;4495;p406"/>
          <p:cNvSpPr txBox="1">
            <a:spLocks noGrp="1"/>
          </p:cNvSpPr>
          <p:nvPr>
            <p:ph type="title"/>
          </p:nvPr>
        </p:nvSpPr>
        <p:spPr>
          <a:xfrm>
            <a:off x="1766824" y="1"/>
            <a:ext cx="8581134" cy="828897"/>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Success Levels</a:t>
            </a:r>
            <a:endParaRPr sz="44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3A91143-C2E4-4CA8-93E6-A2A99ECC11CF}"/>
                  </a:ext>
                </a:extLst>
              </p:cNvPr>
              <p:cNvGraphicFramePr>
                <a:graphicFrameLocks noGrp="1"/>
              </p:cNvGraphicFramePr>
              <p:nvPr/>
            </p:nvGraphicFramePr>
            <p:xfrm>
              <a:off x="605329" y="1143000"/>
              <a:ext cx="11129471" cy="4945586"/>
            </p:xfrm>
            <a:graphic>
              <a:graphicData uri="http://schemas.openxmlformats.org/drawingml/2006/table">
                <a:tbl>
                  <a:tblPr>
                    <a:tableStyleId>{793D81CF-94F2-401A-BA57-92F5A7B2D0C5}</a:tableStyleId>
                  </a:tblPr>
                  <a:tblGrid>
                    <a:gridCol w="2058316">
                      <a:extLst>
                        <a:ext uri="{9D8B030D-6E8A-4147-A177-3AD203B41FA5}">
                          <a16:colId xmlns:a16="http://schemas.microsoft.com/office/drawing/2014/main" val="20000"/>
                        </a:ext>
                      </a:extLst>
                    </a:gridCol>
                    <a:gridCol w="104088">
                      <a:extLst>
                        <a:ext uri="{9D8B030D-6E8A-4147-A177-3AD203B41FA5}">
                          <a16:colId xmlns:a16="http://schemas.microsoft.com/office/drawing/2014/main" val="20001"/>
                        </a:ext>
                      </a:extLst>
                    </a:gridCol>
                    <a:gridCol w="8967067">
                      <a:extLst>
                        <a:ext uri="{9D8B030D-6E8A-4147-A177-3AD203B41FA5}">
                          <a16:colId xmlns:a16="http://schemas.microsoft.com/office/drawing/2014/main" val="20002"/>
                        </a:ext>
                      </a:extLst>
                    </a:gridCol>
                  </a:tblGrid>
                  <a:tr h="1176921">
                    <a:tc>
                      <a:txBody>
                        <a:bodyPr/>
                        <a:lstStyle/>
                        <a:p>
                          <a:pPr algn="ctr" rtl="0" fontAlgn="b"/>
                          <a:r>
                            <a:rPr lang="en-US" sz="2800" b="1" dirty="0">
                              <a:solidFill>
                                <a:schemeClr val="tx1"/>
                              </a:solidFill>
                              <a:effectLst/>
                              <a:latin typeface="Times New Roman" panose="02020603050405020304" pitchFamily="18" charset="0"/>
                              <a:cs typeface="Times New Roman" panose="02020603050405020304" pitchFamily="18" charset="0"/>
                            </a:rPr>
                            <a:t>Minimum</a:t>
                          </a:r>
                          <a:endParaRPr lang="en-GB" sz="2800" b="1"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tc>
                    <a:tc>
                      <a:txBody>
                        <a:bodyPr/>
                        <a:lstStyle/>
                        <a:p>
                          <a:pPr algn="ctr" rtl="0" fontAlgn="b"/>
                          <a:endParaRPr lang="en-GB" sz="2800"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lnR w="12700" cap="flat" cmpd="sng" algn="ctr">
                          <a:solidFill>
                            <a:schemeClr val="tx1">
                              <a:lumMod val="50000"/>
                              <a:lumOff val="50000"/>
                            </a:schemeClr>
                          </a:solidFill>
                          <a:prstDash val="solid"/>
                          <a:round/>
                          <a:headEnd type="none" w="med" len="med"/>
                          <a:tailEnd type="none" w="med" len="med"/>
                        </a:lnR>
                      </a:tcPr>
                    </a:tc>
                    <a:tc>
                      <a:txBody>
                        <a:bodyPr/>
                        <a:lstStyle/>
                        <a:p>
                          <a:pPr marL="342900" marR="0" lvl="0" indent="-34290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altLang="ja-JP" sz="2800" kern="1200" dirty="0">
                              <a:solidFill>
                                <a:schemeClr val="tx1"/>
                              </a:solidFill>
                              <a:effectLst/>
                              <a:latin typeface="Times New Roman" panose="02020603050405020304" pitchFamily="18" charset="0"/>
                              <a:ea typeface="+mn-ea"/>
                              <a:cs typeface="Times New Roman" panose="02020603050405020304" pitchFamily="18" charset="0"/>
                            </a:rPr>
                            <a:t>Satellite’s attitude can be determined with accuracy </a:t>
                          </a:r>
                          <a:r>
                            <a:rPr lang="en-US" sz="2800" b="0" dirty="0">
                              <a:solidFill>
                                <a:schemeClr val="tx1"/>
                              </a:solidFill>
                              <a:effectLst/>
                              <a:latin typeface="Times New Roman" panose="02020603050405020304" pitchFamily="18" charset="0"/>
                              <a:cs typeface="Times New Roman" panose="02020603050405020304" pitchFamily="18" charset="0"/>
                            </a:rPr>
                            <a:t>less than </a:t>
                          </a:r>
                          <a14:m>
                            <m:oMath xmlns:m="http://schemas.openxmlformats.org/officeDocument/2006/math">
                              <m:r>
                                <a:rPr lang="en-GB" altLang="ja-JP" sz="280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t>±</m:t>
                              </m:r>
                              <m:sSup>
                                <m:sSupPr>
                                  <m:ctrlPr>
                                    <a:rPr lang="en-US" altLang="ja-JP" sz="2800" b="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ja-JP" sz="2800" b="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t>15</m:t>
                                  </m:r>
                                </m:e>
                                <m:sup>
                                  <m:r>
                                    <a:rPr lang="en-US" altLang="ja-JP" sz="2800" b="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t>°</m:t>
                                  </m:r>
                                </m:sup>
                              </m:sSup>
                            </m:oMath>
                          </a14:m>
                          <a:r>
                            <a:rPr lang="en-US" sz="2800" b="0" dirty="0">
                              <a:solidFill>
                                <a:schemeClr val="tx1"/>
                              </a:solidFill>
                              <a:effectLst/>
                              <a:latin typeface="Times New Roman" panose="02020603050405020304" pitchFamily="18" charset="0"/>
                              <a:cs typeface="Times New Roman" panose="02020603050405020304" pitchFamily="18" charset="0"/>
                            </a:rPr>
                            <a:t> </a:t>
                          </a:r>
                          <a:endParaRPr lang="ja-JP" altLang="ja-JP" sz="28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6329" marR="16329" marT="10886" marB="10886"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tcPr>
                    </a:tc>
                    <a:extLst>
                      <a:ext uri="{0D108BD9-81ED-4DB2-BD59-A6C34878D82A}">
                        <a16:rowId xmlns:a16="http://schemas.microsoft.com/office/drawing/2014/main" val="10000"/>
                      </a:ext>
                    </a:extLst>
                  </a:tr>
                  <a:tr h="1176921">
                    <a:tc>
                      <a:txBody>
                        <a:bodyPr/>
                        <a:lstStyle/>
                        <a:p>
                          <a:pPr algn="ctr" rtl="0" fontAlgn="b"/>
                          <a:r>
                            <a:rPr lang="en-US" sz="2800" b="1" dirty="0">
                              <a:solidFill>
                                <a:schemeClr val="tx1"/>
                              </a:solidFill>
                              <a:effectLst/>
                              <a:latin typeface="Times New Roman" panose="02020603050405020304" pitchFamily="18" charset="0"/>
                              <a:cs typeface="Times New Roman" panose="02020603050405020304" pitchFamily="18" charset="0"/>
                            </a:rPr>
                            <a:t>Medium</a:t>
                          </a:r>
                          <a:endParaRPr lang="en-GB" sz="2800" b="1"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tc>
                    <a:tc>
                      <a:txBody>
                        <a:bodyPr/>
                        <a:lstStyle/>
                        <a:p>
                          <a:pPr algn="ctr" rtl="0" fontAlgn="b"/>
                          <a:endParaRPr lang="en-GB" sz="2800"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lnR w="12700" cap="flat" cmpd="sng" algn="ctr">
                          <a:solidFill>
                            <a:schemeClr val="tx1">
                              <a:lumMod val="50000"/>
                              <a:lumOff val="50000"/>
                            </a:schemeClr>
                          </a:solidFill>
                          <a:prstDash val="solid"/>
                          <a:round/>
                          <a:headEnd type="none" w="med" len="med"/>
                          <a:tailEnd type="none" w="med" len="med"/>
                        </a:lnR>
                      </a:tcPr>
                    </a:tc>
                    <a:tc>
                      <a:txBody>
                        <a:bodyPr/>
                        <a:lstStyle/>
                        <a:p>
                          <a:pPr marL="342900" marR="0" lvl="0" indent="-34290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altLang="ja-JP" sz="2800" dirty="0">
                              <a:solidFill>
                                <a:schemeClr val="tx1"/>
                              </a:solidFill>
                              <a:effectLst/>
                              <a:latin typeface="Times New Roman" panose="02020603050405020304" pitchFamily="18" charset="0"/>
                              <a:cs typeface="Times New Roman" panose="02020603050405020304" pitchFamily="18" charset="0"/>
                            </a:rPr>
                            <a:t>Attitude stabilization is successful in 3 months from launch and allows successful RGB and MULTI-SPEC data capture</a:t>
                          </a:r>
                        </a:p>
                      </a:txBody>
                      <a:tcPr marL="16329" marR="16329" marT="10886" marB="10886"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tcPr>
                    </a:tc>
                    <a:extLst>
                      <a:ext uri="{0D108BD9-81ED-4DB2-BD59-A6C34878D82A}">
                        <a16:rowId xmlns:a16="http://schemas.microsoft.com/office/drawing/2014/main" val="10001"/>
                      </a:ext>
                    </a:extLst>
                  </a:tr>
                  <a:tr h="2141957">
                    <a:tc>
                      <a:txBody>
                        <a:bodyPr/>
                        <a:lstStyle/>
                        <a:p>
                          <a:pPr algn="ctr" rtl="0" fontAlgn="b"/>
                          <a:r>
                            <a:rPr lang="en-US" sz="2800" b="1" dirty="0">
                              <a:solidFill>
                                <a:schemeClr val="tx1"/>
                              </a:solidFill>
                              <a:effectLst/>
                              <a:latin typeface="Times New Roman" panose="02020603050405020304" pitchFamily="18" charset="0"/>
                              <a:cs typeface="Times New Roman" panose="02020603050405020304" pitchFamily="18" charset="0"/>
                            </a:rPr>
                            <a:t>Full</a:t>
                          </a:r>
                          <a:endParaRPr lang="en-GB" sz="2800" b="1"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tc>
                    <a:tc>
                      <a:txBody>
                        <a:bodyPr/>
                        <a:lstStyle/>
                        <a:p>
                          <a:pPr algn="ctr" rtl="0" fontAlgn="b"/>
                          <a:endParaRPr lang="en-GB" sz="2800"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lnR w="12700" cap="flat" cmpd="sng" algn="ctr">
                          <a:solidFill>
                            <a:schemeClr val="tx1">
                              <a:lumMod val="50000"/>
                              <a:lumOff val="50000"/>
                            </a:schemeClr>
                          </a:solidFill>
                          <a:prstDash val="solid"/>
                          <a:round/>
                          <a:headEnd type="none" w="med" len="med"/>
                          <a:tailEnd type="none" w="med" len="med"/>
                        </a:lnR>
                      </a:tcPr>
                    </a:tc>
                    <a:tc>
                      <a:txBody>
                        <a:bodyPr/>
                        <a:lstStyle/>
                        <a:p>
                          <a:pPr marL="342900" marR="0" lvl="0" indent="-34290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GB" altLang="ja-JP" sz="2800" dirty="0">
                              <a:solidFill>
                                <a:schemeClr val="tx1"/>
                              </a:solidFill>
                              <a:effectLst/>
                              <a:latin typeface="Times New Roman" panose="02020603050405020304" pitchFamily="18" charset="0"/>
                              <a:cs typeface="Times New Roman" panose="02020603050405020304" pitchFamily="18" charset="0"/>
                            </a:rPr>
                            <a:t>Attitude stabilization is successful in 1 month from launch and allows successful RGB and MULTI-SPEC  data capture</a:t>
                          </a:r>
                        </a:p>
                        <a:p>
                          <a:pPr marL="342900" marR="0" lvl="0" indent="-34290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GB" altLang="ja-JP" sz="2800" dirty="0">
                              <a:solidFill>
                                <a:schemeClr val="tx1"/>
                              </a:solidFill>
                              <a:effectLst/>
                              <a:latin typeface="Times New Roman" panose="02020603050405020304" pitchFamily="18" charset="0"/>
                              <a:cs typeface="Times New Roman" panose="02020603050405020304" pitchFamily="18" charset="0"/>
                            </a:rPr>
                            <a:t>Satellite Attitude matches Attitude Visualization results within </a:t>
                          </a:r>
                          <a14:m>
                            <m:oMath xmlns:m="http://schemas.openxmlformats.org/officeDocument/2006/math">
                              <m:r>
                                <a:rPr lang="en-GB" altLang="ja-JP" sz="280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t>±</m:t>
                              </m:r>
                              <m:sSup>
                                <m:sSupPr>
                                  <m:ctrlPr>
                                    <a:rPr lang="en-US" altLang="ja-JP" sz="2800" b="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ctrlPr>
                                </m:sSupPr>
                                <m:e>
                                  <m:r>
                                    <a:rPr lang="en-US" altLang="ja-JP" sz="2800" b="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t>5</m:t>
                                  </m:r>
                                </m:e>
                                <m:sup>
                                  <m:r>
                                    <a:rPr lang="en-US" altLang="ja-JP" sz="2800" b="0" i="1" smtClean="0">
                                      <a:solidFill>
                                        <a:schemeClr val="tx1"/>
                                      </a:solidFill>
                                      <a:effectLst/>
                                      <a:latin typeface="Cambria Math" panose="02040503050406030204" pitchFamily="18" charset="0"/>
                                      <a:ea typeface="Cambria Math" panose="02040503050406030204" pitchFamily="18" charset="0"/>
                                      <a:cs typeface="Calibri" panose="020F0502020204030204" pitchFamily="34" charset="0"/>
                                    </a:rPr>
                                    <m:t>°</m:t>
                                  </m:r>
                                </m:sup>
                              </m:sSup>
                            </m:oMath>
                          </a14:m>
                          <a:r>
                            <a:rPr lang="en-GB" altLang="ja-JP" sz="2800" dirty="0">
                              <a:solidFill>
                                <a:schemeClr val="tx1"/>
                              </a:solidFill>
                              <a:effectLst/>
                              <a:latin typeface="Times New Roman" panose="02020603050405020304" pitchFamily="18" charset="0"/>
                              <a:cs typeface="Times New Roman" panose="02020603050405020304" pitchFamily="18" charset="0"/>
                            </a:rPr>
                            <a:t>accuracy</a:t>
                          </a:r>
                        </a:p>
                        <a:p>
                          <a:pPr marL="342900" marR="0" lvl="0" indent="-34290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GB" altLang="ja-JP" sz="2800" dirty="0">
                              <a:solidFill>
                                <a:schemeClr val="tx1"/>
                              </a:solidFill>
                              <a:effectLst/>
                              <a:latin typeface="Times New Roman" panose="02020603050405020304" pitchFamily="18" charset="0"/>
                              <a:cs typeface="Times New Roman" panose="02020603050405020304" pitchFamily="18" charset="0"/>
                            </a:rPr>
                            <a:t>Write a paper on results</a:t>
                          </a:r>
                        </a:p>
                        <a:p>
                          <a:pPr marL="342900" marR="0" lvl="0" indent="-34290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endParaRPr lang="en-GB" altLang="ja-JP" sz="2800"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tcPr>
                    </a:tc>
                    <a:extLst>
                      <a:ext uri="{0D108BD9-81ED-4DB2-BD59-A6C34878D82A}">
                        <a16:rowId xmlns:a16="http://schemas.microsoft.com/office/drawing/2014/main" val="10002"/>
                      </a:ext>
                    </a:extLst>
                  </a:tr>
                </a:tbl>
              </a:graphicData>
            </a:graphic>
          </p:graphicFrame>
        </mc:Choice>
        <mc:Fallback xmlns="">
          <p:graphicFrame>
            <p:nvGraphicFramePr>
              <p:cNvPr id="7" name="Table 6">
                <a:extLst>
                  <a:ext uri="{FF2B5EF4-FFF2-40B4-BE49-F238E27FC236}">
                    <a16:creationId xmlns:a16="http://schemas.microsoft.com/office/drawing/2014/main" id="{93A91143-C2E4-4CA8-93E6-A2A99ECC11CF}"/>
                  </a:ext>
                </a:extLst>
              </p:cNvPr>
              <p:cNvGraphicFramePr>
                <a:graphicFrameLocks noGrp="1"/>
              </p:cNvGraphicFramePr>
              <p:nvPr>
                <p:extLst>
                  <p:ext uri="{D42A27DB-BD31-4B8C-83A1-F6EECF244321}">
                    <p14:modId xmlns:p14="http://schemas.microsoft.com/office/powerpoint/2010/main" val="2931963076"/>
                  </p:ext>
                </p:extLst>
              </p:nvPr>
            </p:nvGraphicFramePr>
            <p:xfrm>
              <a:off x="605329" y="1143000"/>
              <a:ext cx="11129471" cy="4945586"/>
            </p:xfrm>
            <a:graphic>
              <a:graphicData uri="http://schemas.openxmlformats.org/drawingml/2006/table">
                <a:tbl>
                  <a:tblPr>
                    <a:tableStyleId>{793D81CF-94F2-401A-BA57-92F5A7B2D0C5}</a:tableStyleId>
                  </a:tblPr>
                  <a:tblGrid>
                    <a:gridCol w="2058316">
                      <a:extLst>
                        <a:ext uri="{9D8B030D-6E8A-4147-A177-3AD203B41FA5}">
                          <a16:colId xmlns:a16="http://schemas.microsoft.com/office/drawing/2014/main" val="20000"/>
                        </a:ext>
                      </a:extLst>
                    </a:gridCol>
                    <a:gridCol w="104088">
                      <a:extLst>
                        <a:ext uri="{9D8B030D-6E8A-4147-A177-3AD203B41FA5}">
                          <a16:colId xmlns:a16="http://schemas.microsoft.com/office/drawing/2014/main" val="20001"/>
                        </a:ext>
                      </a:extLst>
                    </a:gridCol>
                    <a:gridCol w="8967067">
                      <a:extLst>
                        <a:ext uri="{9D8B030D-6E8A-4147-A177-3AD203B41FA5}">
                          <a16:colId xmlns:a16="http://schemas.microsoft.com/office/drawing/2014/main" val="20002"/>
                        </a:ext>
                      </a:extLst>
                    </a:gridCol>
                  </a:tblGrid>
                  <a:tr h="1176921">
                    <a:tc>
                      <a:txBody>
                        <a:bodyPr/>
                        <a:lstStyle/>
                        <a:p>
                          <a:pPr algn="ctr" rtl="0" fontAlgn="b"/>
                          <a:r>
                            <a:rPr lang="en-US" sz="2800" b="1" dirty="0">
                              <a:solidFill>
                                <a:schemeClr val="tx1"/>
                              </a:solidFill>
                              <a:effectLst/>
                              <a:latin typeface="Times New Roman" panose="02020603050405020304" pitchFamily="18" charset="0"/>
                              <a:cs typeface="Times New Roman" panose="02020603050405020304" pitchFamily="18" charset="0"/>
                            </a:rPr>
                            <a:t>Minimum</a:t>
                          </a:r>
                          <a:endParaRPr lang="en-GB" sz="2800" b="1"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tc>
                    <a:tc>
                      <a:txBody>
                        <a:bodyPr/>
                        <a:lstStyle/>
                        <a:p>
                          <a:pPr algn="ctr" rtl="0" fontAlgn="b"/>
                          <a:endParaRPr lang="en-GB" sz="2800"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lnR w="12700" cap="flat" cmpd="sng" algn="ctr">
                          <a:solidFill>
                            <a:schemeClr val="tx1">
                              <a:lumMod val="50000"/>
                              <a:lumOff val="50000"/>
                            </a:schemeClr>
                          </a:solidFill>
                          <a:prstDash val="solid"/>
                          <a:round/>
                          <a:headEnd type="none" w="med" len="med"/>
                          <a:tailEnd type="none" w="med" len="med"/>
                        </a:lnR>
                      </a:tcPr>
                    </a:tc>
                    <a:tc>
                      <a:txBody>
                        <a:bodyPr/>
                        <a:lstStyle/>
                        <a:p>
                          <a:endParaRPr lang="en-US"/>
                        </a:p>
                      </a:txBody>
                      <a:tcPr marL="16329" marR="16329" marT="10886" marB="10886"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blipFill>
                          <a:blip r:embed="rId3"/>
                          <a:stretch>
                            <a:fillRect l="-24201" t="-518" r="-204" b="-321762"/>
                          </a:stretch>
                        </a:blipFill>
                      </a:tcPr>
                    </a:tc>
                    <a:extLst>
                      <a:ext uri="{0D108BD9-81ED-4DB2-BD59-A6C34878D82A}">
                        <a16:rowId xmlns:a16="http://schemas.microsoft.com/office/drawing/2014/main" val="10000"/>
                      </a:ext>
                    </a:extLst>
                  </a:tr>
                  <a:tr h="1176921">
                    <a:tc>
                      <a:txBody>
                        <a:bodyPr/>
                        <a:lstStyle/>
                        <a:p>
                          <a:pPr algn="ctr" rtl="0" fontAlgn="b"/>
                          <a:r>
                            <a:rPr lang="en-US" sz="2800" b="1" dirty="0">
                              <a:solidFill>
                                <a:schemeClr val="tx1"/>
                              </a:solidFill>
                              <a:effectLst/>
                              <a:latin typeface="Times New Roman" panose="02020603050405020304" pitchFamily="18" charset="0"/>
                              <a:cs typeface="Times New Roman" panose="02020603050405020304" pitchFamily="18" charset="0"/>
                            </a:rPr>
                            <a:t>Medium</a:t>
                          </a:r>
                          <a:endParaRPr lang="en-GB" sz="2800" b="1"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tc>
                    <a:tc>
                      <a:txBody>
                        <a:bodyPr/>
                        <a:lstStyle/>
                        <a:p>
                          <a:pPr algn="ctr" rtl="0" fontAlgn="b"/>
                          <a:endParaRPr lang="en-GB" sz="2800"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lnR w="12700" cap="flat" cmpd="sng" algn="ctr">
                          <a:solidFill>
                            <a:schemeClr val="tx1">
                              <a:lumMod val="50000"/>
                              <a:lumOff val="50000"/>
                            </a:schemeClr>
                          </a:solidFill>
                          <a:prstDash val="solid"/>
                          <a:round/>
                          <a:headEnd type="none" w="med" len="med"/>
                          <a:tailEnd type="none" w="med" len="med"/>
                        </a:lnR>
                      </a:tcPr>
                    </a:tc>
                    <a:tc>
                      <a:txBody>
                        <a:bodyPr/>
                        <a:lstStyle/>
                        <a:p>
                          <a:pPr marL="342900" marR="0" lvl="0" indent="-34290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altLang="ja-JP" sz="2800" dirty="0">
                              <a:solidFill>
                                <a:schemeClr val="tx1"/>
                              </a:solidFill>
                              <a:effectLst/>
                              <a:latin typeface="Times New Roman" panose="02020603050405020304" pitchFamily="18" charset="0"/>
                              <a:cs typeface="Times New Roman" panose="02020603050405020304" pitchFamily="18" charset="0"/>
                            </a:rPr>
                            <a:t>Attitude stabilization is successful in 3 months from launch and allows successful RGB and MULTI-SPEC data capture</a:t>
                          </a:r>
                        </a:p>
                      </a:txBody>
                      <a:tcPr marL="16329" marR="16329" marT="10886" marB="10886"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tcPr>
                    </a:tc>
                    <a:extLst>
                      <a:ext uri="{0D108BD9-81ED-4DB2-BD59-A6C34878D82A}">
                        <a16:rowId xmlns:a16="http://schemas.microsoft.com/office/drawing/2014/main" val="10001"/>
                      </a:ext>
                    </a:extLst>
                  </a:tr>
                  <a:tr h="2591744">
                    <a:tc>
                      <a:txBody>
                        <a:bodyPr/>
                        <a:lstStyle/>
                        <a:p>
                          <a:pPr algn="ctr" rtl="0" fontAlgn="b"/>
                          <a:r>
                            <a:rPr lang="en-US" sz="2800" b="1" dirty="0">
                              <a:solidFill>
                                <a:schemeClr val="tx1"/>
                              </a:solidFill>
                              <a:effectLst/>
                              <a:latin typeface="Times New Roman" panose="02020603050405020304" pitchFamily="18" charset="0"/>
                              <a:cs typeface="Times New Roman" panose="02020603050405020304" pitchFamily="18" charset="0"/>
                            </a:rPr>
                            <a:t>Full</a:t>
                          </a:r>
                          <a:endParaRPr lang="en-GB" sz="2800" b="1"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tc>
                    <a:tc>
                      <a:txBody>
                        <a:bodyPr/>
                        <a:lstStyle/>
                        <a:p>
                          <a:pPr algn="ctr" rtl="0" fontAlgn="b"/>
                          <a:endParaRPr lang="en-GB" sz="2800" dirty="0">
                            <a:solidFill>
                              <a:schemeClr val="tx1"/>
                            </a:solidFill>
                            <a:effectLst/>
                            <a:latin typeface="Times New Roman" panose="02020603050405020304" pitchFamily="18" charset="0"/>
                            <a:cs typeface="Times New Roman" panose="02020603050405020304" pitchFamily="18" charset="0"/>
                          </a:endParaRPr>
                        </a:p>
                      </a:txBody>
                      <a:tcPr marL="16329" marR="16329" marT="10886" marB="10886" anchor="ctr">
                        <a:lnR w="12700" cap="flat" cmpd="sng" algn="ctr">
                          <a:solidFill>
                            <a:schemeClr val="tx1">
                              <a:lumMod val="50000"/>
                              <a:lumOff val="50000"/>
                            </a:schemeClr>
                          </a:solidFill>
                          <a:prstDash val="solid"/>
                          <a:round/>
                          <a:headEnd type="none" w="med" len="med"/>
                          <a:tailEnd type="none" w="med" len="med"/>
                        </a:lnR>
                      </a:tcPr>
                    </a:tc>
                    <a:tc>
                      <a:txBody>
                        <a:bodyPr/>
                        <a:lstStyle/>
                        <a:p>
                          <a:endParaRPr lang="en-US"/>
                        </a:p>
                      </a:txBody>
                      <a:tcPr marL="16329" marR="16329" marT="10886" marB="10886"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blipFill>
                          <a:blip r:embed="rId3"/>
                          <a:stretch>
                            <a:fillRect l="-24201" t="-90845" r="-204" b="-469"/>
                          </a:stretch>
                        </a:blipFill>
                      </a:tcPr>
                    </a:tc>
                    <a:extLst>
                      <a:ext uri="{0D108BD9-81ED-4DB2-BD59-A6C34878D82A}">
                        <a16:rowId xmlns:a16="http://schemas.microsoft.com/office/drawing/2014/main" val="10002"/>
                      </a:ext>
                    </a:extLst>
                  </a:tr>
                </a:tbl>
              </a:graphicData>
            </a:graphic>
          </p:graphicFrame>
        </mc:Fallback>
      </mc:AlternateContent>
      <p:sp>
        <p:nvSpPr>
          <p:cNvPr id="3" name="Slide Number Placeholder 7">
            <a:extLst>
              <a:ext uri="{FF2B5EF4-FFF2-40B4-BE49-F238E27FC236}">
                <a16:creationId xmlns:a16="http://schemas.microsoft.com/office/drawing/2014/main" id="{683D4A3A-5E30-2B0A-0FD7-ABEAE09A692C}"/>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25</a:t>
            </a:fld>
            <a:endParaRPr lang="en-US" sz="4800" b="1" dirty="0">
              <a:solidFill>
                <a:srgbClr val="FF0000"/>
              </a:solidFill>
            </a:endParaRPr>
          </a:p>
        </p:txBody>
      </p:sp>
      <p:pic>
        <p:nvPicPr>
          <p:cNvPr id="4496" name="Space Faculty logo" descr="sf_logo.png"/>
          <p:cNvPicPr>
            <a:picLocks noChangeAspect="1"/>
          </p:cNvPicPr>
          <p:nvPr/>
        </p:nvPicPr>
        <p:blipFill>
          <a:blip r:embed="rId4"/>
          <a:stretch>
            <a:fillRect/>
          </a:stretch>
        </p:blipFill>
        <p:spPr>
          <a:xfrm>
            <a:off x="10318698" y="54863"/>
            <a:ext cx="1760526" cy="50030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E03BDB-6301-8ECB-6081-BDF98E2E1626}"/>
              </a:ext>
            </a:extLst>
          </p:cNvPr>
          <p:cNvSpPr>
            <a:spLocks noGrp="1"/>
          </p:cNvSpPr>
          <p:nvPr>
            <p:ph type="body" idx="1"/>
          </p:nvPr>
        </p:nvSpPr>
        <p:spPr/>
        <p:txBody>
          <a:bodyPr>
            <a:noAutofit/>
          </a:bodyPr>
          <a:lstStyle/>
          <a:p>
            <a:pPr>
              <a:lnSpc>
                <a:spcPct val="150000"/>
              </a:lnSpc>
              <a:defRPr>
                <a:latin typeface="Ubuntu"/>
                <a:ea typeface="Ubuntu"/>
                <a:cs typeface="Ubuntu"/>
              </a:defRPr>
            </a:pPr>
            <a:r>
              <a:rPr lang="en-US" sz="2000" dirty="0">
                <a:latin typeface="Ubuntu"/>
                <a:ea typeface="Ubuntu"/>
                <a:cs typeface="Ubuntu"/>
              </a:rPr>
              <a:t>Uses sensors + actuators actively controlled by on-board computers to determine and adjust orientation.</a:t>
            </a:r>
          </a:p>
          <a:p>
            <a:pPr>
              <a:lnSpc>
                <a:spcPct val="150000"/>
              </a:lnSpc>
              <a:defRPr>
                <a:latin typeface="Ubuntu"/>
                <a:ea typeface="Ubuntu"/>
                <a:cs typeface="Ubuntu"/>
              </a:defRPr>
            </a:pPr>
            <a:r>
              <a:rPr lang="en-US" sz="2000" b="1" dirty="0">
                <a:latin typeface="Ubuntu"/>
                <a:ea typeface="Ubuntu"/>
                <a:cs typeface="Ubuntu"/>
              </a:rPr>
              <a:t>Key Features:</a:t>
            </a:r>
            <a:endParaRPr lang="en-US" sz="2000" dirty="0"/>
          </a:p>
          <a:p>
            <a:pPr lvl="1">
              <a:lnSpc>
                <a:spcPct val="150000"/>
              </a:lnSpc>
              <a:defRPr>
                <a:latin typeface="Ubuntu"/>
                <a:ea typeface="Ubuntu"/>
                <a:cs typeface="Ubuntu"/>
              </a:defRPr>
            </a:pPr>
            <a:r>
              <a:rPr lang="en-US" sz="2000" dirty="0">
                <a:latin typeface="Ubuntu"/>
                <a:ea typeface="Ubuntu"/>
                <a:cs typeface="Ubuntu"/>
              </a:rPr>
              <a:t>Requires power and complex control algorithms.</a:t>
            </a:r>
          </a:p>
          <a:p>
            <a:pPr lvl="1">
              <a:lnSpc>
                <a:spcPct val="150000"/>
              </a:lnSpc>
              <a:defRPr>
                <a:latin typeface="Ubuntu"/>
                <a:ea typeface="Ubuntu"/>
                <a:cs typeface="Ubuntu"/>
              </a:defRPr>
            </a:pPr>
            <a:r>
              <a:rPr lang="en-US" sz="2000" dirty="0">
                <a:latin typeface="Ubuntu"/>
                <a:ea typeface="Ubuntu"/>
                <a:cs typeface="Ubuntu"/>
              </a:rPr>
              <a:t>Provides high precision and rapid adjustments.</a:t>
            </a:r>
          </a:p>
          <a:p>
            <a:pPr lvl="1">
              <a:lnSpc>
                <a:spcPct val="150000"/>
              </a:lnSpc>
              <a:defRPr>
                <a:latin typeface="Ubuntu"/>
                <a:ea typeface="Ubuntu"/>
                <a:cs typeface="Ubuntu"/>
              </a:defRPr>
            </a:pPr>
            <a:r>
              <a:rPr lang="en-US" sz="2000" dirty="0">
                <a:latin typeface="Ubuntu"/>
                <a:ea typeface="Ubuntu"/>
                <a:cs typeface="Ubuntu"/>
              </a:rPr>
              <a:t>Higher cost, weight, and system complexity.</a:t>
            </a:r>
          </a:p>
          <a:p>
            <a:pPr>
              <a:lnSpc>
                <a:spcPct val="150000"/>
              </a:lnSpc>
              <a:defRPr>
                <a:latin typeface="Ubuntu"/>
                <a:ea typeface="Ubuntu"/>
                <a:cs typeface="Ubuntu"/>
              </a:defRPr>
            </a:pPr>
            <a:r>
              <a:rPr lang="en-US" sz="2000" b="1" dirty="0">
                <a:latin typeface="Ubuntu"/>
                <a:ea typeface="Ubuntu"/>
                <a:cs typeface="Ubuntu"/>
              </a:rPr>
              <a:t>Examples:</a:t>
            </a:r>
            <a:endParaRPr lang="en-US" sz="2000" dirty="0"/>
          </a:p>
          <a:p>
            <a:pPr lvl="1">
              <a:lnSpc>
                <a:spcPct val="150000"/>
              </a:lnSpc>
              <a:defRPr>
                <a:latin typeface="Ubuntu"/>
                <a:ea typeface="Ubuntu"/>
                <a:cs typeface="Ubuntu"/>
              </a:defRPr>
            </a:pPr>
            <a:r>
              <a:rPr lang="en-US" sz="2000" b="1" dirty="0">
                <a:latin typeface="Ubuntu"/>
                <a:ea typeface="Ubuntu"/>
                <a:cs typeface="Ubuntu"/>
              </a:rPr>
              <a:t>Reaction wheels</a:t>
            </a:r>
            <a:r>
              <a:rPr lang="en-US" sz="2000" dirty="0">
                <a:latin typeface="Ubuntu"/>
                <a:ea typeface="Ubuntu"/>
                <a:cs typeface="Ubuntu"/>
              </a:rPr>
              <a:t> and </a:t>
            </a:r>
            <a:r>
              <a:rPr lang="en-US" sz="2000" b="1" dirty="0">
                <a:latin typeface="Ubuntu"/>
                <a:ea typeface="Ubuntu"/>
                <a:cs typeface="Ubuntu"/>
              </a:rPr>
              <a:t>control moment gyroscopes</a:t>
            </a:r>
            <a:r>
              <a:rPr lang="en-US" sz="2000" dirty="0">
                <a:latin typeface="Ubuntu"/>
                <a:ea typeface="Ubuntu"/>
                <a:cs typeface="Ubuntu"/>
              </a:rPr>
              <a:t> for fine pointing.</a:t>
            </a:r>
          </a:p>
          <a:p>
            <a:pPr lvl="1">
              <a:lnSpc>
                <a:spcPct val="150000"/>
              </a:lnSpc>
              <a:defRPr>
                <a:latin typeface="Ubuntu"/>
                <a:ea typeface="Ubuntu"/>
                <a:cs typeface="Ubuntu"/>
              </a:defRPr>
            </a:pPr>
            <a:r>
              <a:rPr lang="en-US" sz="2000" b="1" dirty="0">
                <a:latin typeface="Ubuntu"/>
                <a:ea typeface="Ubuntu"/>
                <a:cs typeface="Ubuntu"/>
              </a:rPr>
              <a:t>Thrusters</a:t>
            </a:r>
            <a:r>
              <a:rPr lang="en-US" sz="2000" dirty="0">
                <a:latin typeface="Ubuntu"/>
                <a:ea typeface="Ubuntu"/>
                <a:cs typeface="Ubuntu"/>
              </a:rPr>
              <a:t> for torque or momentum dumping.</a:t>
            </a:r>
          </a:p>
          <a:p>
            <a:pPr lvl="1">
              <a:lnSpc>
                <a:spcPct val="150000"/>
              </a:lnSpc>
              <a:defRPr>
                <a:latin typeface="Ubuntu"/>
                <a:ea typeface="Ubuntu"/>
                <a:cs typeface="Ubuntu"/>
              </a:defRPr>
            </a:pPr>
            <a:r>
              <a:rPr lang="en-US" sz="2000" b="1" dirty="0">
                <a:latin typeface="Ubuntu"/>
                <a:ea typeface="Ubuntu"/>
                <a:cs typeface="Ubuntu"/>
              </a:rPr>
              <a:t>Magnetorquers (active type):</a:t>
            </a:r>
            <a:r>
              <a:rPr lang="en-US" sz="2000" dirty="0">
                <a:latin typeface="Ubuntu"/>
                <a:ea typeface="Ubuntu"/>
                <a:cs typeface="Ubuntu"/>
              </a:rPr>
              <a:t> Actively generating magnetic dipoles to interact with Earth’s field.</a:t>
            </a:r>
          </a:p>
          <a:p>
            <a:pPr lvl="1">
              <a:lnSpc>
                <a:spcPct val="150000"/>
              </a:lnSpc>
              <a:defRPr>
                <a:latin typeface="Ubuntu"/>
                <a:ea typeface="Ubuntu"/>
                <a:cs typeface="Ubuntu"/>
              </a:defRPr>
            </a:pPr>
            <a:r>
              <a:rPr lang="en-US" sz="2000" b="1" dirty="0">
                <a:latin typeface="Ubuntu"/>
                <a:ea typeface="Ubuntu"/>
                <a:cs typeface="Ubuntu"/>
              </a:rPr>
              <a:t>Star trackers, gyros, sun sensors</a:t>
            </a:r>
            <a:r>
              <a:rPr lang="en-US" sz="2000" dirty="0">
                <a:latin typeface="Ubuntu"/>
                <a:ea typeface="Ubuntu"/>
                <a:cs typeface="Ubuntu"/>
              </a:rPr>
              <a:t> for attitude determination.</a:t>
            </a:r>
          </a:p>
          <a:p>
            <a:pPr>
              <a:lnSpc>
                <a:spcPct val="150000"/>
              </a:lnSpc>
              <a:defRPr>
                <a:latin typeface="Ubuntu"/>
                <a:ea typeface="Ubuntu"/>
                <a:cs typeface="Ubuntu"/>
              </a:defRPr>
            </a:pPr>
            <a:endParaRPr lang="en-US" sz="2000" dirty="0"/>
          </a:p>
        </p:txBody>
      </p:sp>
      <p:sp>
        <p:nvSpPr>
          <p:cNvPr id="3" name="Title 2">
            <a:extLst>
              <a:ext uri="{FF2B5EF4-FFF2-40B4-BE49-F238E27FC236}">
                <a16:creationId xmlns:a16="http://schemas.microsoft.com/office/drawing/2014/main" id="{025F967F-77F5-1AEA-81F1-F02D70EEECC8}"/>
              </a:ext>
            </a:extLst>
          </p:cNvPr>
          <p:cNvSpPr>
            <a:spLocks noGrp="1"/>
          </p:cNvSpPr>
          <p:nvPr>
            <p:ph type="title"/>
          </p:nvPr>
        </p:nvSpPr>
        <p:spPr>
          <a:xfrm>
            <a:off x="210053" y="647361"/>
            <a:ext cx="11441512" cy="828897"/>
          </a:xfrm>
        </p:spPr>
        <p:txBody>
          <a:bodyPr>
            <a:noAutofit/>
          </a:bodyPr>
          <a:lstStyle/>
          <a:p>
            <a:pPr>
              <a:defRPr>
                <a:latin typeface="House Movements Runway"/>
                <a:ea typeface="House Movements Runway"/>
                <a:cs typeface="House Movements Runway"/>
              </a:defRPr>
            </a:pPr>
            <a:r>
              <a:rPr lang="en-US" b="1" dirty="0">
                <a:latin typeface="House Movements Runway"/>
                <a:ea typeface="House Movements Runway"/>
                <a:cs typeface="House Movements Runway"/>
              </a:rPr>
              <a:t>Active Attitude Determination and Control</a:t>
            </a:r>
            <a:br>
              <a:rPr lang="en-US" b="1" dirty="0"/>
            </a:br>
            <a:endParaRPr lang="en-US" dirty="0"/>
          </a:p>
        </p:txBody>
      </p:sp>
      <p:sp>
        <p:nvSpPr>
          <p:cNvPr id="4" name="Slide Number Placeholder 7">
            <a:extLst>
              <a:ext uri="{FF2B5EF4-FFF2-40B4-BE49-F238E27FC236}">
                <a16:creationId xmlns:a16="http://schemas.microsoft.com/office/drawing/2014/main" id="{304783D5-4687-9E11-CC02-4B73005EEB7D}"/>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26</a:t>
            </a:fld>
            <a:endParaRPr lang="en-US" sz="4800" b="1" dirty="0">
              <a:solidFill>
                <a:srgbClr val="FF0000"/>
              </a:solidFill>
            </a:endParaRPr>
          </a:p>
        </p:txBody>
      </p:sp>
      <p:pic>
        <p:nvPicPr>
          <p:cNvPr id="6" name="Picture 5" descr="The image depicts a technical diagram illustrating various components of a satellite's attitude control system, including a momentum wheel, gyroscope, magnetometer, microcontroller, magnetorquer, and sun sensors, with their respective specifications.&#10;&#10;AI-generated content may be incorrect.">
            <a:extLst>
              <a:ext uri="{FF2B5EF4-FFF2-40B4-BE49-F238E27FC236}">
                <a16:creationId xmlns:a16="http://schemas.microsoft.com/office/drawing/2014/main" id="{9994AC92-1B12-833B-2598-3D71E193FC38}"/>
              </a:ext>
            </a:extLst>
          </p:cNvPr>
          <p:cNvPicPr>
            <a:picLocks noChangeAspect="1"/>
          </p:cNvPicPr>
          <p:nvPr/>
        </p:nvPicPr>
        <p:blipFill>
          <a:blip r:embed="rId2"/>
          <a:stretch>
            <a:fillRect/>
          </a:stretch>
        </p:blipFill>
        <p:spPr>
          <a:xfrm>
            <a:off x="7391023" y="2116512"/>
            <a:ext cx="4200843" cy="2374716"/>
          </a:xfrm>
          <a:prstGeom prst="rect">
            <a:avLst/>
          </a:prstGeom>
        </p:spPr>
      </p:pic>
      <p:pic>
        <p:nvPicPr>
          <p:cNvPr id="7" name="Space Faculty logo" descr="sf_logo.png"/>
          <p:cNvPicPr>
            <a:picLocks noChangeAspect="1"/>
          </p:cNvPicPr>
          <p:nvPr/>
        </p:nvPicPr>
        <p:blipFill>
          <a:blip r:embed="rId3"/>
          <a:stretch>
            <a:fillRect/>
          </a:stretch>
        </p:blipFill>
        <p:spPr>
          <a:xfrm>
            <a:off x="10625140" y="54864"/>
            <a:ext cx="1454084" cy="413222"/>
          </a:xfrm>
          <a:prstGeom prst="rect">
            <a:avLst/>
          </a:prstGeom>
        </p:spPr>
      </p:pic>
    </p:spTree>
    <p:extLst>
      <p:ext uri="{BB962C8B-B14F-4D97-AF65-F5344CB8AC3E}">
        <p14:creationId xmlns:p14="http://schemas.microsoft.com/office/powerpoint/2010/main" val="363550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30718-EFEA-CC3B-5221-6FAFCE332480}"/>
              </a:ext>
            </a:extLst>
          </p:cNvPr>
          <p:cNvSpPr>
            <a:spLocks noGrp="1"/>
          </p:cNvSpPr>
          <p:nvPr>
            <p:ph type="title"/>
          </p:nvPr>
        </p:nvSpPr>
        <p:spPr>
          <a:xfrm>
            <a:off x="2029414" y="134271"/>
            <a:ext cx="5050667" cy="677108"/>
          </a:xfrm>
        </p:spPr>
        <p:txBody>
          <a:bodyPr>
            <a:no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Active ADCS</a:t>
            </a:r>
          </a:p>
        </p:txBody>
      </p:sp>
      <p:grpSp>
        <p:nvGrpSpPr>
          <p:cNvPr id="12" name="Group 11">
            <a:extLst>
              <a:ext uri="{FF2B5EF4-FFF2-40B4-BE49-F238E27FC236}">
                <a16:creationId xmlns:a16="http://schemas.microsoft.com/office/drawing/2014/main" id="{F0AB6D3C-B999-B3CD-484C-64E3C1A69948}"/>
              </a:ext>
            </a:extLst>
          </p:cNvPr>
          <p:cNvGrpSpPr/>
          <p:nvPr/>
        </p:nvGrpSpPr>
        <p:grpSpPr>
          <a:xfrm>
            <a:off x="1" y="1199758"/>
            <a:ext cx="6815404" cy="5058515"/>
            <a:chOff x="0" y="1148643"/>
            <a:chExt cx="8111067" cy="5058515"/>
          </a:xfrm>
        </p:grpSpPr>
        <p:pic>
          <p:nvPicPr>
            <p:cNvPr id="4" name="図 3">
              <a:extLst>
                <a:ext uri="{FF2B5EF4-FFF2-40B4-BE49-F238E27FC236}">
                  <a16:creationId xmlns:a16="http://schemas.microsoft.com/office/drawing/2014/main" id="{77EDA4C0-BB4C-44C5-ADE3-F885C44ABE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48643"/>
              <a:ext cx="8111067" cy="5058515"/>
            </a:xfrm>
            <a:prstGeom prst="rect">
              <a:avLst/>
            </a:prstGeom>
          </p:spPr>
        </p:pic>
        <p:sp>
          <p:nvSpPr>
            <p:cNvPr id="11" name="TextBox 10">
              <a:extLst>
                <a:ext uri="{FF2B5EF4-FFF2-40B4-BE49-F238E27FC236}">
                  <a16:creationId xmlns:a16="http://schemas.microsoft.com/office/drawing/2014/main" id="{74442B5F-7FA0-B9DE-E7A5-1E714803D1AF}"/>
                </a:ext>
              </a:extLst>
            </p:cNvPr>
            <p:cNvSpPr txBox="1"/>
            <p:nvPr/>
          </p:nvSpPr>
          <p:spPr>
            <a:xfrm rot="16200000">
              <a:off x="3337269" y="2182331"/>
              <a:ext cx="466794" cy="369332"/>
            </a:xfrm>
            <a:prstGeom prst="rect">
              <a:avLst/>
            </a:prstGeom>
            <a:solidFill>
              <a:srgbClr val="FFFF66"/>
            </a:solidFill>
          </p:spPr>
          <p:txBody>
            <a:bodyPr wrap="none" rtlCol="0">
              <a:spAutoFit/>
            </a:bodyPr>
            <a:lstStyle/>
            <a:p>
              <a:pPr>
                <a:defRPr>
                  <a:latin typeface="Ubuntu"/>
                  <a:ea typeface="Ubuntu"/>
                  <a:cs typeface="Ubuntu"/>
                </a:defRPr>
              </a:pPr>
              <a:r>
                <a:rPr lang="en-US" dirty="0">
                  <a:solidFill>
                    <a:srgbClr val="FF0000"/>
                  </a:solidFill>
                  <a:latin typeface="Ubuntu"/>
                  <a:ea typeface="Ubuntu"/>
                  <a:cs typeface="Ubuntu"/>
                </a:rPr>
                <a:t>SPI</a:t>
              </a:r>
            </a:p>
          </p:txBody>
        </p:sp>
      </p:grpSp>
      <p:sp>
        <p:nvSpPr>
          <p:cNvPr id="5" name="Slide Number Placeholder 7">
            <a:extLst>
              <a:ext uri="{FF2B5EF4-FFF2-40B4-BE49-F238E27FC236}">
                <a16:creationId xmlns:a16="http://schemas.microsoft.com/office/drawing/2014/main" id="{0B300803-1D55-BFCA-B58E-5E14A9BB700E}"/>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27</a:t>
            </a:fld>
            <a:endParaRPr lang="en-US" sz="4800" b="1" dirty="0">
              <a:solidFill>
                <a:srgbClr val="FF0000"/>
              </a:solidFill>
            </a:endParaRPr>
          </a:p>
        </p:txBody>
      </p:sp>
      <p:pic>
        <p:nvPicPr>
          <p:cNvPr id="8" name="Picture 7" descr="The diagram illustrates an intricate arrangement of scientific instruments, including an Inertial Measurement Unit, Magnetorquer, Fine Sun Sensor, Reaction Wheel, and Magnetometer, depicted from various perspectives.&#10;&#10;AI-generated content may be incorrect.">
            <a:extLst>
              <a:ext uri="{FF2B5EF4-FFF2-40B4-BE49-F238E27FC236}">
                <a16:creationId xmlns:a16="http://schemas.microsoft.com/office/drawing/2014/main" id="{C5CD239E-9817-B228-0003-0F4F77A98083}"/>
              </a:ext>
            </a:extLst>
          </p:cNvPr>
          <p:cNvPicPr>
            <a:picLocks noChangeAspect="1"/>
          </p:cNvPicPr>
          <p:nvPr/>
        </p:nvPicPr>
        <p:blipFill>
          <a:blip r:embed="rId3"/>
          <a:stretch>
            <a:fillRect/>
          </a:stretch>
        </p:blipFill>
        <p:spPr>
          <a:xfrm>
            <a:off x="6815405" y="1823156"/>
            <a:ext cx="5213060" cy="3811717"/>
          </a:xfrm>
          <a:prstGeom prst="rect">
            <a:avLst/>
          </a:prstGeom>
        </p:spPr>
      </p:pic>
      <p:pic>
        <p:nvPicPr>
          <p:cNvPr id="13" name="Space Faculty logo" descr="sf_logo.png"/>
          <p:cNvPicPr>
            <a:picLocks noChangeAspect="1"/>
          </p:cNvPicPr>
          <p:nvPr/>
        </p:nvPicPr>
        <p:blipFill>
          <a:blip r:embed="rId4"/>
          <a:stretch>
            <a:fillRect/>
          </a:stretch>
        </p:blipFill>
        <p:spPr>
          <a:xfrm>
            <a:off x="10280390" y="54863"/>
            <a:ext cx="1798833" cy="511193"/>
          </a:xfrm>
          <a:prstGeom prst="rect">
            <a:avLst/>
          </a:prstGeom>
        </p:spPr>
      </p:pic>
    </p:spTree>
    <p:extLst>
      <p:ext uri="{BB962C8B-B14F-4D97-AF65-F5344CB8AC3E}">
        <p14:creationId xmlns:p14="http://schemas.microsoft.com/office/powerpoint/2010/main" val="3433148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F134-7127-D687-D090-F4C2F1E80482}"/>
              </a:ext>
            </a:extLst>
          </p:cNvPr>
          <p:cNvSpPr>
            <a:spLocks noGrp="1"/>
          </p:cNvSpPr>
          <p:nvPr>
            <p:ph type="title"/>
          </p:nvPr>
        </p:nvSpPr>
        <p:spPr>
          <a:xfrm>
            <a:off x="3570666" y="104632"/>
            <a:ext cx="5050667" cy="677108"/>
          </a:xfrm>
        </p:spPr>
        <p:txBody>
          <a:bodyPr>
            <a:noAutofit/>
          </a:bodyPr>
          <a:lstStyle/>
          <a:p>
            <a:pPr>
              <a:defRPr>
                <a:latin typeface="House Movements Runway"/>
                <a:ea typeface="House Movements Runway"/>
                <a:cs typeface="House Movements Runway"/>
              </a:defRPr>
            </a:pPr>
            <a:r>
              <a:rPr lang="en-US" b="1" dirty="0">
                <a:latin typeface="House Movements Runway" panose="02020603050405020304" pitchFamily="18" charset="0"/>
                <a:cs typeface="House Movements Runway" panose="02020603050405020304" pitchFamily="18" charset="0"/>
              </a:rPr>
              <a:t>Magnetic Field Test</a:t>
            </a:r>
          </a:p>
        </p:txBody>
      </p:sp>
      <p:sp>
        <p:nvSpPr>
          <p:cNvPr id="4" name="Content Placeholder 3">
            <a:extLst>
              <a:ext uri="{FF2B5EF4-FFF2-40B4-BE49-F238E27FC236}">
                <a16:creationId xmlns:a16="http://schemas.microsoft.com/office/drawing/2014/main" id="{CB2B1B34-D5F6-2551-A29C-500D618F8DAC}"/>
              </a:ext>
            </a:extLst>
          </p:cNvPr>
          <p:cNvSpPr txBox="1">
            <a:spLocks/>
          </p:cNvSpPr>
          <p:nvPr/>
        </p:nvSpPr>
        <p:spPr>
          <a:xfrm>
            <a:off x="130065" y="1466037"/>
            <a:ext cx="5378830" cy="830998"/>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61950" indent="-285750">
              <a:buFont typeface="Wingdings" panose="05000000000000000000" pitchFamily="2" charset="2"/>
              <a:buChar char="q"/>
              <a:defRPr>
                <a:latin typeface="Ubuntu"/>
                <a:ea typeface="Ubuntu"/>
                <a:cs typeface="Ubuntu"/>
              </a:defRPr>
            </a:pPr>
            <a:r>
              <a:rPr lang="en-US" altLang="ja-JP" sz="2000" kern="0" dirty="0">
                <a:solidFill>
                  <a:schemeClr val="tx1"/>
                </a:solidFill>
                <a:latin typeface="Ubuntu"/>
                <a:ea typeface="Ubuntu"/>
                <a:cs typeface="Ubuntu"/>
              </a:rPr>
              <a:t>Read magnetic field value via I2C </a:t>
            </a:r>
          </a:p>
          <a:p>
            <a:pPr marL="361950" indent="-285750">
              <a:buFont typeface="Wingdings" panose="05000000000000000000" pitchFamily="2" charset="2"/>
              <a:buChar char="q"/>
              <a:defRPr>
                <a:latin typeface="Ubuntu"/>
                <a:ea typeface="Ubuntu"/>
                <a:cs typeface="Ubuntu"/>
              </a:defRPr>
            </a:pPr>
            <a:r>
              <a:rPr lang="en-US" altLang="ja-JP" sz="2000" kern="0" dirty="0">
                <a:solidFill>
                  <a:schemeClr val="tx1"/>
                </a:solidFill>
                <a:latin typeface="Ubuntu"/>
                <a:ea typeface="Ubuntu"/>
                <a:cs typeface="Ubuntu"/>
              </a:rPr>
              <a:t>And show with UART</a:t>
            </a:r>
          </a:p>
        </p:txBody>
      </p:sp>
      <p:pic>
        <p:nvPicPr>
          <p:cNvPr id="6" name="図 4">
            <a:extLst>
              <a:ext uri="{FF2B5EF4-FFF2-40B4-BE49-F238E27FC236}">
                <a16:creationId xmlns:a16="http://schemas.microsoft.com/office/drawing/2014/main" id="{6D59C3FD-44AE-FB04-C0AA-83C299C0A2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21399" y="1411938"/>
            <a:ext cx="5737415" cy="4303062"/>
          </a:xfrm>
          <a:prstGeom prst="rect">
            <a:avLst/>
          </a:prstGeom>
        </p:spPr>
      </p:pic>
      <p:sp>
        <p:nvSpPr>
          <p:cNvPr id="8" name="TextBox 7">
            <a:extLst>
              <a:ext uri="{FF2B5EF4-FFF2-40B4-BE49-F238E27FC236}">
                <a16:creationId xmlns:a16="http://schemas.microsoft.com/office/drawing/2014/main" id="{24C5BE1C-3720-8551-09B3-57512FE17B00}"/>
              </a:ext>
            </a:extLst>
          </p:cNvPr>
          <p:cNvSpPr txBox="1"/>
          <p:nvPr/>
        </p:nvSpPr>
        <p:spPr>
          <a:xfrm>
            <a:off x="138531" y="2278520"/>
            <a:ext cx="2935195" cy="1631216"/>
          </a:xfrm>
          <a:prstGeom prst="rect">
            <a:avLst/>
          </a:prstGeom>
          <a:solidFill>
            <a:schemeClr val="bg2"/>
          </a:solidFill>
        </p:spPr>
        <p:txBody>
          <a:bodyPr wrap="square">
            <a:spAutoFit/>
          </a:bodyPr>
          <a:lstStyle/>
          <a:p>
            <a:pPr>
              <a:defRPr>
                <a:latin typeface="Ubuntu"/>
                <a:ea typeface="Ubuntu"/>
                <a:cs typeface="Ubuntu"/>
              </a:defRPr>
            </a:pPr>
            <a:r>
              <a:rPr lang="fr-FR" sz="2000" dirty="0" err="1">
                <a:latin typeface="Ubuntu"/>
                <a:ea typeface="Ubuntu"/>
                <a:cs typeface="Ubuntu"/>
              </a:rPr>
              <a:t>Magnetometer</a:t>
            </a:r>
            <a:r>
              <a:rPr lang="fr-FR" sz="2000" dirty="0">
                <a:latin typeface="Ubuntu"/>
                <a:ea typeface="Ubuntu"/>
                <a:cs typeface="Ubuntu"/>
              </a:rPr>
              <a:t> (µT):</a:t>
            </a:r>
          </a:p>
          <a:p>
            <a:pPr>
              <a:defRPr>
                <a:latin typeface="Ubuntu"/>
                <a:ea typeface="Ubuntu"/>
                <a:cs typeface="Ubuntu"/>
              </a:defRPr>
            </a:pPr>
            <a:r>
              <a:rPr lang="fr-FR" sz="2000" dirty="0">
                <a:latin typeface="Ubuntu"/>
                <a:ea typeface="Ubuntu"/>
                <a:cs typeface="Ubuntu"/>
              </a:rPr>
              <a:t>X:  12.1</a:t>
            </a:r>
          </a:p>
          <a:p>
            <a:pPr>
              <a:defRPr>
                <a:latin typeface="Ubuntu"/>
                <a:ea typeface="Ubuntu"/>
                <a:cs typeface="Ubuntu"/>
              </a:defRPr>
            </a:pPr>
            <a:r>
              <a:rPr lang="fr-FR" sz="2000" dirty="0">
                <a:latin typeface="Ubuntu"/>
                <a:ea typeface="Ubuntu"/>
                <a:cs typeface="Ubuntu"/>
              </a:rPr>
              <a:t>Y: -36.4</a:t>
            </a:r>
          </a:p>
          <a:p>
            <a:pPr>
              <a:defRPr>
                <a:latin typeface="Ubuntu"/>
                <a:ea typeface="Ubuntu"/>
                <a:cs typeface="Ubuntu"/>
              </a:defRPr>
            </a:pPr>
            <a:r>
              <a:rPr lang="fr-FR" sz="2000" dirty="0">
                <a:latin typeface="Ubuntu"/>
                <a:ea typeface="Ubuntu"/>
                <a:cs typeface="Ubuntu"/>
              </a:rPr>
              <a:t>Z:  28.7</a:t>
            </a:r>
          </a:p>
          <a:p>
            <a:pPr>
              <a:defRPr>
                <a:latin typeface="Ubuntu"/>
                <a:ea typeface="Ubuntu"/>
                <a:cs typeface="Ubuntu"/>
              </a:defRPr>
            </a:pPr>
            <a:r>
              <a:rPr lang="fr-FR" sz="2000" dirty="0">
                <a:latin typeface="Ubuntu"/>
                <a:ea typeface="Ubuntu"/>
                <a:cs typeface="Ubuntu"/>
              </a:rPr>
              <a:t>Total Field: 49.3 µT</a:t>
            </a:r>
          </a:p>
        </p:txBody>
      </p:sp>
      <p:graphicFrame>
        <p:nvGraphicFramePr>
          <p:cNvPr id="11" name="Table 10">
            <a:extLst>
              <a:ext uri="{FF2B5EF4-FFF2-40B4-BE49-F238E27FC236}">
                <a16:creationId xmlns:a16="http://schemas.microsoft.com/office/drawing/2014/main" id="{6BC3DB0E-9CBC-7FC6-085B-9AE8B7D27979}"/>
              </a:ext>
            </a:extLst>
          </p:cNvPr>
          <p:cNvGraphicFramePr>
            <a:graphicFrameLocks noGrp="1"/>
          </p:cNvGraphicFramePr>
          <p:nvPr/>
        </p:nvGraphicFramePr>
        <p:xfrm>
          <a:off x="25400" y="4707944"/>
          <a:ext cx="5376010" cy="2150056"/>
        </p:xfrm>
        <a:graphic>
          <a:graphicData uri="http://schemas.openxmlformats.org/drawingml/2006/table">
            <a:tbl>
              <a:tblPr>
                <a:tableStyleId>{35758FB7-9AC5-4552-8A53-C91805E547FA}</a:tableStyleId>
              </a:tblPr>
              <a:tblGrid>
                <a:gridCol w="2688005">
                  <a:extLst>
                    <a:ext uri="{9D8B030D-6E8A-4147-A177-3AD203B41FA5}">
                      <a16:colId xmlns:a16="http://schemas.microsoft.com/office/drawing/2014/main" val="772775009"/>
                    </a:ext>
                  </a:extLst>
                </a:gridCol>
                <a:gridCol w="2688005">
                  <a:extLst>
                    <a:ext uri="{9D8B030D-6E8A-4147-A177-3AD203B41FA5}">
                      <a16:colId xmlns:a16="http://schemas.microsoft.com/office/drawing/2014/main" val="355879566"/>
                    </a:ext>
                  </a:extLst>
                </a:gridCol>
              </a:tblGrid>
              <a:tr h="321252">
                <a:tc>
                  <a:txBody>
                    <a:bodyPr/>
                    <a:lstStyle/>
                    <a:p>
                      <a:pPr>
                        <a:defRPr>
                          <a:latin typeface="Ubuntu"/>
                          <a:ea typeface="Ubuntu"/>
                          <a:cs typeface="Ubuntu"/>
                        </a:defRPr>
                      </a:pPr>
                      <a:r>
                        <a:rPr lang="en-US" sz="2000">
                          <a:latin typeface="Ubuntu"/>
                          <a:ea typeface="Ubuntu"/>
                          <a:cs typeface="Ubuntu"/>
                        </a:rPr>
                        <a:t>Parameter</a:t>
                      </a:r>
                    </a:p>
                  </a:txBody>
                  <a:tcPr marL="80313" marR="80313" marT="40157" marB="40157" anchor="ctr"/>
                </a:tc>
                <a:tc>
                  <a:txBody>
                    <a:bodyPr/>
                    <a:lstStyle/>
                    <a:p>
                      <a:pPr>
                        <a:defRPr>
                          <a:latin typeface="Ubuntu"/>
                          <a:ea typeface="Ubuntu"/>
                          <a:cs typeface="Ubuntu"/>
                        </a:defRPr>
                      </a:pPr>
                      <a:r>
                        <a:rPr lang="en-US" sz="2000">
                          <a:latin typeface="Ubuntu"/>
                          <a:ea typeface="Ubuntu"/>
                          <a:cs typeface="Ubuntu"/>
                        </a:rPr>
                        <a:t>Expected Range</a:t>
                      </a:r>
                    </a:p>
                  </a:txBody>
                  <a:tcPr marL="80313" marR="80313" marT="40157" marB="40157" anchor="ctr"/>
                </a:tc>
                <a:extLst>
                  <a:ext uri="{0D108BD9-81ED-4DB2-BD59-A6C34878D82A}">
                    <a16:rowId xmlns:a16="http://schemas.microsoft.com/office/drawing/2014/main" val="1838367162"/>
                  </a:ext>
                </a:extLst>
              </a:tr>
              <a:tr h="562191">
                <a:tc>
                  <a:txBody>
                    <a:bodyPr/>
                    <a:lstStyle/>
                    <a:p>
                      <a:pPr>
                        <a:defRPr>
                          <a:latin typeface="Ubuntu"/>
                          <a:ea typeface="Ubuntu"/>
                          <a:cs typeface="Ubuntu"/>
                        </a:defRPr>
                      </a:pPr>
                      <a:r>
                        <a:rPr lang="en-US" sz="2000" b="1">
                          <a:latin typeface="Ubuntu"/>
                          <a:ea typeface="Ubuntu"/>
                          <a:cs typeface="Ubuntu"/>
                        </a:rPr>
                        <a:t>Magnetic Field (X, Y, Z)</a:t>
                      </a:r>
                      <a:endParaRPr lang="en-US" sz="2000"/>
                    </a:p>
                  </a:txBody>
                  <a:tcPr marL="80313" marR="80313" marT="40157" marB="40157" anchor="ctr"/>
                </a:tc>
                <a:tc>
                  <a:txBody>
                    <a:bodyPr/>
                    <a:lstStyle/>
                    <a:p>
                      <a:pPr>
                        <a:defRPr>
                          <a:latin typeface="Ubuntu"/>
                          <a:ea typeface="Ubuntu"/>
                          <a:cs typeface="Ubuntu"/>
                        </a:defRPr>
                      </a:pPr>
                      <a:r>
                        <a:rPr lang="fr-FR" sz="2000" dirty="0">
                          <a:latin typeface="Ubuntu"/>
                          <a:ea typeface="Ubuntu"/>
                          <a:cs typeface="Ubuntu"/>
                        </a:rPr>
                        <a:t>-60 µT to +60 µT (microtesla)</a:t>
                      </a:r>
                    </a:p>
                  </a:txBody>
                  <a:tcPr marL="80313" marR="80313" marT="40157" marB="40157" anchor="ctr"/>
                </a:tc>
                <a:extLst>
                  <a:ext uri="{0D108BD9-81ED-4DB2-BD59-A6C34878D82A}">
                    <a16:rowId xmlns:a16="http://schemas.microsoft.com/office/drawing/2014/main" val="2232057306"/>
                  </a:ext>
                </a:extLst>
              </a:tr>
              <a:tr h="321252">
                <a:tc>
                  <a:txBody>
                    <a:bodyPr/>
                    <a:lstStyle/>
                    <a:p>
                      <a:pPr>
                        <a:defRPr>
                          <a:latin typeface="Ubuntu"/>
                          <a:ea typeface="Ubuntu"/>
                          <a:cs typeface="Ubuntu"/>
                        </a:defRPr>
                      </a:pPr>
                      <a:r>
                        <a:rPr lang="en-US" sz="2000" b="1">
                          <a:latin typeface="Ubuntu"/>
                          <a:ea typeface="Ubuntu"/>
                          <a:cs typeface="Ubuntu"/>
                        </a:rPr>
                        <a:t>Total Field Strength</a:t>
                      </a:r>
                      <a:endParaRPr lang="en-US" sz="2000"/>
                    </a:p>
                  </a:txBody>
                  <a:tcPr marL="80313" marR="80313" marT="40157" marB="40157" anchor="ctr"/>
                </a:tc>
                <a:tc>
                  <a:txBody>
                    <a:bodyPr/>
                    <a:lstStyle/>
                    <a:p>
                      <a:pPr>
                        <a:defRPr>
                          <a:latin typeface="Ubuntu"/>
                          <a:ea typeface="Ubuntu"/>
                          <a:cs typeface="Ubuntu"/>
                        </a:defRPr>
                      </a:pPr>
                      <a:r>
                        <a:rPr lang="en-US" sz="2000">
                          <a:latin typeface="Ubuntu"/>
                          <a:ea typeface="Ubuntu"/>
                          <a:cs typeface="Ubuntu"/>
                        </a:rPr>
                        <a:t>~25 µT to 65 µT</a:t>
                      </a:r>
                    </a:p>
                  </a:txBody>
                  <a:tcPr marL="80313" marR="80313" marT="40157" marB="40157" anchor="ctr"/>
                </a:tc>
                <a:extLst>
                  <a:ext uri="{0D108BD9-81ED-4DB2-BD59-A6C34878D82A}">
                    <a16:rowId xmlns:a16="http://schemas.microsoft.com/office/drawing/2014/main" val="3072194058"/>
                  </a:ext>
                </a:extLst>
              </a:tr>
              <a:tr h="562191">
                <a:tc>
                  <a:txBody>
                    <a:bodyPr/>
                    <a:lstStyle/>
                    <a:p>
                      <a:pPr>
                        <a:defRPr>
                          <a:latin typeface="Ubuntu"/>
                          <a:ea typeface="Ubuntu"/>
                          <a:cs typeface="Ubuntu"/>
                        </a:defRPr>
                      </a:pPr>
                      <a:r>
                        <a:rPr lang="en-US" sz="2000" b="1">
                          <a:latin typeface="Ubuntu"/>
                          <a:ea typeface="Ubuntu"/>
                          <a:cs typeface="Ubuntu"/>
                        </a:rPr>
                        <a:t>Typical Average Value</a:t>
                      </a:r>
                      <a:endParaRPr lang="en-US" sz="2000"/>
                    </a:p>
                  </a:txBody>
                  <a:tcPr marL="80313" marR="80313" marT="40157" marB="40157" anchor="ctr"/>
                </a:tc>
                <a:tc>
                  <a:txBody>
                    <a:bodyPr/>
                    <a:lstStyle/>
                    <a:p>
                      <a:pPr>
                        <a:defRPr>
                          <a:latin typeface="Ubuntu"/>
                          <a:ea typeface="Ubuntu"/>
                          <a:cs typeface="Ubuntu"/>
                        </a:defRPr>
                      </a:pPr>
                      <a:r>
                        <a:rPr lang="fr-FR" sz="2000" dirty="0">
                          <a:latin typeface="Ubuntu"/>
                          <a:ea typeface="Ubuntu"/>
                          <a:cs typeface="Ubuntu"/>
                        </a:rPr>
                        <a:t>~45 µT (</a:t>
                      </a:r>
                      <a:r>
                        <a:rPr lang="fr-FR" sz="2000" dirty="0" err="1">
                          <a:latin typeface="Ubuntu"/>
                          <a:ea typeface="Ubuntu"/>
                          <a:cs typeface="Ubuntu"/>
                        </a:rPr>
                        <a:t>depends</a:t>
                      </a:r>
                      <a:r>
                        <a:rPr lang="fr-FR" sz="2000" dirty="0">
                          <a:latin typeface="Ubuntu"/>
                          <a:ea typeface="Ubuntu"/>
                          <a:cs typeface="Ubuntu"/>
                        </a:rPr>
                        <a:t> on orbital position)</a:t>
                      </a:r>
                    </a:p>
                  </a:txBody>
                  <a:tcPr marL="80313" marR="80313" marT="40157" marB="40157" anchor="ctr"/>
                </a:tc>
                <a:extLst>
                  <a:ext uri="{0D108BD9-81ED-4DB2-BD59-A6C34878D82A}">
                    <a16:rowId xmlns:a16="http://schemas.microsoft.com/office/drawing/2014/main" val="1434079195"/>
                  </a:ext>
                </a:extLst>
              </a:tr>
            </a:tbl>
          </a:graphicData>
        </a:graphic>
      </p:graphicFrame>
      <p:sp>
        <p:nvSpPr>
          <p:cNvPr id="13" name="Rectangle 1">
            <a:extLst>
              <a:ext uri="{FF2B5EF4-FFF2-40B4-BE49-F238E27FC236}">
                <a16:creationId xmlns:a16="http://schemas.microsoft.com/office/drawing/2014/main" id="{5E8FA053-74E6-9FE6-C5E9-706D3EAE2E25}"/>
              </a:ext>
            </a:extLst>
          </p:cNvPr>
          <p:cNvSpPr>
            <a:spLocks noChangeArrowheads="1"/>
          </p:cNvSpPr>
          <p:nvPr/>
        </p:nvSpPr>
        <p:spPr bwMode="auto">
          <a:xfrm>
            <a:off x="0" y="3961269"/>
            <a:ext cx="6096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latin typeface="Ubuntu"/>
                <a:ea typeface="Ubuntu"/>
                <a:cs typeface="Ubuntu"/>
              </a:defRPr>
            </a:pPr>
            <a:r>
              <a:rPr kumimoji="0" lang="en-US" altLang="en-US" sz="2000" b="1" i="0" u="none" strike="noStrike" cap="none" normalizeH="0" baseline="0" dirty="0">
                <a:ln>
                  <a:noFill/>
                </a:ln>
                <a:solidFill>
                  <a:schemeClr val="tx1"/>
                </a:solidFill>
                <a:effectLst/>
                <a:latin typeface="Ubuntu" panose="020B0604020202020204" pitchFamily="34" charset="0"/>
                <a:ea typeface="Ubuntu"/>
                <a:cs typeface="Ubuntu"/>
              </a:rPr>
              <a:t>Typical Magnetometer Readings for CubeSats in LEO (200–600 km):</a:t>
            </a:r>
          </a:p>
          <a:p>
            <a:pPr marL="0" marR="0" lvl="0" indent="0" algn="l" defTabSz="914400" rtl="0" eaLnBrk="0" fontAlgn="base" latinLnBrk="0" hangingPunct="0">
              <a:lnSpc>
                <a:spcPct val="100000"/>
              </a:lnSpc>
              <a:spcBef>
                <a:spcPct val="0"/>
              </a:spcBef>
              <a:spcAft>
                <a:spcPct val="0"/>
              </a:spcAft>
              <a:buClrTx/>
              <a:buSzTx/>
              <a:buFontTx/>
              <a:buNone/>
              <a:tabLst/>
              <a:defRPr>
                <a:latin typeface="Ubuntu"/>
                <a:ea typeface="Ubuntu"/>
                <a:cs typeface="Ubuntu"/>
              </a:defRPr>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7">
            <a:extLst>
              <a:ext uri="{FF2B5EF4-FFF2-40B4-BE49-F238E27FC236}">
                <a16:creationId xmlns:a16="http://schemas.microsoft.com/office/drawing/2014/main" id="{A9F986A3-EACE-FA31-1AD6-F35DAB027DCD}"/>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28</a:t>
            </a:fld>
            <a:endParaRPr lang="en-US" sz="4800" b="1" dirty="0">
              <a:solidFill>
                <a:srgbClr val="FF0000"/>
              </a:solidFill>
            </a:endParaRPr>
          </a:p>
        </p:txBody>
      </p:sp>
      <p:pic>
        <p:nvPicPr>
          <p:cNvPr id="14" name="Space Faculty logo" descr="sf_logo.png"/>
          <p:cNvPicPr>
            <a:picLocks noChangeAspect="1"/>
          </p:cNvPicPr>
          <p:nvPr/>
        </p:nvPicPr>
        <p:blipFill>
          <a:blip r:embed="rId3"/>
          <a:stretch>
            <a:fillRect/>
          </a:stretch>
        </p:blipFill>
        <p:spPr>
          <a:xfrm>
            <a:off x="10069662" y="54864"/>
            <a:ext cx="2009562" cy="571078"/>
          </a:xfrm>
          <a:prstGeom prst="rect">
            <a:avLst/>
          </a:prstGeom>
        </p:spPr>
      </p:pic>
    </p:spTree>
    <p:extLst>
      <p:ext uri="{BB962C8B-B14F-4D97-AF65-F5344CB8AC3E}">
        <p14:creationId xmlns:p14="http://schemas.microsoft.com/office/powerpoint/2010/main" val="1846474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D70E-F47E-0191-95E0-6099363EDC14}"/>
              </a:ext>
            </a:extLst>
          </p:cNvPr>
          <p:cNvSpPr>
            <a:spLocks noGrp="1"/>
          </p:cNvSpPr>
          <p:nvPr>
            <p:ph type="title"/>
          </p:nvPr>
        </p:nvSpPr>
        <p:spPr>
          <a:xfrm>
            <a:off x="2936721" y="60318"/>
            <a:ext cx="5050667" cy="677108"/>
          </a:xfrm>
        </p:spPr>
        <p:txBody>
          <a:bodyPr>
            <a:no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Gyroscope Tests</a:t>
            </a:r>
          </a:p>
        </p:txBody>
      </p:sp>
      <p:sp>
        <p:nvSpPr>
          <p:cNvPr id="4" name="Content Placeholder 3">
            <a:extLst>
              <a:ext uri="{FF2B5EF4-FFF2-40B4-BE49-F238E27FC236}">
                <a16:creationId xmlns:a16="http://schemas.microsoft.com/office/drawing/2014/main" id="{742700CC-ED6C-A44B-FEF0-77AAB1C3AC1C}"/>
              </a:ext>
            </a:extLst>
          </p:cNvPr>
          <p:cNvSpPr txBox="1">
            <a:spLocks/>
          </p:cNvSpPr>
          <p:nvPr/>
        </p:nvSpPr>
        <p:spPr>
          <a:xfrm>
            <a:off x="8467" y="1077301"/>
            <a:ext cx="8437563" cy="3567139"/>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33400" indent="-457200">
              <a:buFont typeface="Wingdings" panose="05000000000000000000" pitchFamily="2" charset="2"/>
              <a:buChar char="q"/>
              <a:defRPr>
                <a:latin typeface="Ubuntu"/>
                <a:ea typeface="Ubuntu"/>
                <a:cs typeface="Ubuntu"/>
              </a:defRPr>
            </a:pPr>
            <a:r>
              <a:rPr lang="en-US" altLang="ja-JP" sz="2000" kern="0" dirty="0">
                <a:solidFill>
                  <a:schemeClr val="tx1"/>
                </a:solidFill>
                <a:latin typeface="Ubuntu"/>
                <a:ea typeface="Ubuntu"/>
                <a:cs typeface="Ubuntu"/>
              </a:rPr>
              <a:t>Gyroscope function test</a:t>
            </a:r>
            <a:endParaRPr lang="en-GB" altLang="ja-JP" sz="2000" kern="0" dirty="0">
              <a:solidFill>
                <a:schemeClr val="tx1"/>
              </a:solidFill>
            </a:endParaRPr>
          </a:p>
          <a:p>
            <a:pPr marL="533400" indent="-457200">
              <a:buFont typeface="Wingdings" panose="05000000000000000000" pitchFamily="2" charset="2"/>
              <a:buChar char="q"/>
              <a:defRPr>
                <a:latin typeface="Ubuntu"/>
                <a:ea typeface="Ubuntu"/>
                <a:cs typeface="Ubuntu"/>
              </a:defRPr>
            </a:pPr>
            <a:r>
              <a:rPr lang="en-PH" sz="2000" kern="0" dirty="0">
                <a:solidFill>
                  <a:schemeClr val="tx1"/>
                </a:solidFill>
                <a:latin typeface="Ubuntu"/>
                <a:ea typeface="Ubuntu"/>
                <a:cs typeface="Ubuntu"/>
              </a:rPr>
              <a:t>Connect with SPI and Show via UART</a:t>
            </a:r>
          </a:p>
        </p:txBody>
      </p:sp>
      <p:pic>
        <p:nvPicPr>
          <p:cNvPr id="5" name="図 1">
            <a:extLst>
              <a:ext uri="{FF2B5EF4-FFF2-40B4-BE49-F238E27FC236}">
                <a16:creationId xmlns:a16="http://schemas.microsoft.com/office/drawing/2014/main" id="{7C46C365-C8B9-7E48-C703-15BE2A504F8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8161" r="13424"/>
          <a:stretch/>
        </p:blipFill>
        <p:spPr>
          <a:xfrm>
            <a:off x="7033194" y="1122832"/>
            <a:ext cx="4967260" cy="3521608"/>
          </a:xfrm>
          <a:prstGeom prst="rect">
            <a:avLst/>
          </a:prstGeom>
        </p:spPr>
      </p:pic>
      <p:pic>
        <p:nvPicPr>
          <p:cNvPr id="6" name="図 4">
            <a:extLst>
              <a:ext uri="{FF2B5EF4-FFF2-40B4-BE49-F238E27FC236}">
                <a16:creationId xmlns:a16="http://schemas.microsoft.com/office/drawing/2014/main" id="{09CE24E8-D554-8E12-5725-CFFEF5AA89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7421" y="4332068"/>
            <a:ext cx="4967260" cy="1566253"/>
          </a:xfrm>
          <a:prstGeom prst="rect">
            <a:avLst/>
          </a:prstGeom>
        </p:spPr>
      </p:pic>
      <p:graphicFrame>
        <p:nvGraphicFramePr>
          <p:cNvPr id="7" name="Table 6">
            <a:extLst>
              <a:ext uri="{FF2B5EF4-FFF2-40B4-BE49-F238E27FC236}">
                <a16:creationId xmlns:a16="http://schemas.microsoft.com/office/drawing/2014/main" id="{561102B3-54E2-B9FA-C992-C739D9F23B49}"/>
              </a:ext>
            </a:extLst>
          </p:cNvPr>
          <p:cNvGraphicFramePr>
            <a:graphicFrameLocks noGrp="1"/>
          </p:cNvGraphicFramePr>
          <p:nvPr/>
        </p:nvGraphicFramePr>
        <p:xfrm>
          <a:off x="179592" y="2158915"/>
          <a:ext cx="6406810" cy="4549752"/>
        </p:xfrm>
        <a:graphic>
          <a:graphicData uri="http://schemas.openxmlformats.org/drawingml/2006/table">
            <a:tbl>
              <a:tblPr>
                <a:tableStyleId>{616DA210-FB5B-4158-B5E0-FEB733F419BA}</a:tableStyleId>
              </a:tblPr>
              <a:tblGrid>
                <a:gridCol w="1983060">
                  <a:extLst>
                    <a:ext uri="{9D8B030D-6E8A-4147-A177-3AD203B41FA5}">
                      <a16:colId xmlns:a16="http://schemas.microsoft.com/office/drawing/2014/main" val="3525592276"/>
                    </a:ext>
                  </a:extLst>
                </a:gridCol>
                <a:gridCol w="1830517">
                  <a:extLst>
                    <a:ext uri="{9D8B030D-6E8A-4147-A177-3AD203B41FA5}">
                      <a16:colId xmlns:a16="http://schemas.microsoft.com/office/drawing/2014/main" val="3780763817"/>
                    </a:ext>
                  </a:extLst>
                </a:gridCol>
                <a:gridCol w="2593233">
                  <a:extLst>
                    <a:ext uri="{9D8B030D-6E8A-4147-A177-3AD203B41FA5}">
                      <a16:colId xmlns:a16="http://schemas.microsoft.com/office/drawing/2014/main" val="1943425411"/>
                    </a:ext>
                  </a:extLst>
                </a:gridCol>
              </a:tblGrid>
              <a:tr h="489494">
                <a:tc>
                  <a:txBody>
                    <a:bodyPr/>
                    <a:lstStyle/>
                    <a:p>
                      <a:pPr>
                        <a:defRPr>
                          <a:latin typeface="Ubuntu"/>
                          <a:ea typeface="Ubuntu"/>
                          <a:cs typeface="Ubuntu"/>
                        </a:defRPr>
                      </a:pPr>
                      <a:r>
                        <a:rPr lang="en-US" sz="1800" b="1">
                          <a:latin typeface="Ubuntu"/>
                          <a:ea typeface="Ubuntu"/>
                          <a:cs typeface="Ubuntu"/>
                        </a:rPr>
                        <a:t>Condition</a:t>
                      </a:r>
                      <a:endParaRPr lang="en-US" sz="1800"/>
                    </a:p>
                  </a:txBody>
                  <a:tcPr marL="26771" marR="26771" marT="13386" marB="13386" anchor="ctr"/>
                </a:tc>
                <a:tc>
                  <a:txBody>
                    <a:bodyPr/>
                    <a:lstStyle/>
                    <a:p>
                      <a:pPr>
                        <a:defRPr>
                          <a:latin typeface="Ubuntu"/>
                          <a:ea typeface="Ubuntu"/>
                          <a:cs typeface="Ubuntu"/>
                        </a:defRPr>
                      </a:pPr>
                      <a:r>
                        <a:rPr lang="en-US" sz="1800" b="1" dirty="0">
                          <a:latin typeface="Ubuntu"/>
                          <a:ea typeface="Ubuntu"/>
                          <a:cs typeface="Ubuntu"/>
                        </a:rPr>
                        <a:t>Expected Angular Velocity</a:t>
                      </a:r>
                      <a:endParaRPr lang="en-US" sz="1800" dirty="0"/>
                    </a:p>
                  </a:txBody>
                  <a:tcPr marL="26771" marR="26771" marT="13386" marB="13386" anchor="ctr"/>
                </a:tc>
                <a:tc>
                  <a:txBody>
                    <a:bodyPr/>
                    <a:lstStyle/>
                    <a:p>
                      <a:pPr>
                        <a:defRPr>
                          <a:latin typeface="Ubuntu"/>
                          <a:ea typeface="Ubuntu"/>
                          <a:cs typeface="Ubuntu"/>
                        </a:defRPr>
                      </a:pPr>
                      <a:r>
                        <a:rPr lang="en-US" sz="1800" b="1">
                          <a:latin typeface="Ubuntu"/>
                          <a:ea typeface="Ubuntu"/>
                          <a:cs typeface="Ubuntu"/>
                        </a:rPr>
                        <a:t>Description</a:t>
                      </a:r>
                      <a:endParaRPr lang="en-US" sz="1800"/>
                    </a:p>
                  </a:txBody>
                  <a:tcPr marL="26771" marR="26771" marT="13386" marB="13386" anchor="ctr"/>
                </a:tc>
                <a:extLst>
                  <a:ext uri="{0D108BD9-81ED-4DB2-BD59-A6C34878D82A}">
                    <a16:rowId xmlns:a16="http://schemas.microsoft.com/office/drawing/2014/main" val="2349400334"/>
                  </a:ext>
                </a:extLst>
              </a:tr>
              <a:tr h="722854">
                <a:tc>
                  <a:txBody>
                    <a:bodyPr/>
                    <a:lstStyle/>
                    <a:p>
                      <a:pPr>
                        <a:defRPr>
                          <a:latin typeface="Ubuntu"/>
                          <a:ea typeface="Ubuntu"/>
                          <a:cs typeface="Ubuntu"/>
                        </a:defRPr>
                      </a:pPr>
                      <a:r>
                        <a:rPr lang="en-US" sz="1800" b="1">
                          <a:latin typeface="Ubuntu"/>
                          <a:ea typeface="Ubuntu"/>
                          <a:cs typeface="Ubuntu"/>
                        </a:rPr>
                        <a:t>Post-deployment (tumbling)</a:t>
                      </a:r>
                      <a:endParaRPr lang="en-US" sz="1800"/>
                    </a:p>
                  </a:txBody>
                  <a:tcPr marL="26771" marR="26771" marT="13386" marB="13386" anchor="ctr"/>
                </a:tc>
                <a:tc>
                  <a:txBody>
                    <a:bodyPr/>
                    <a:lstStyle/>
                    <a:p>
                      <a:pPr>
                        <a:defRPr>
                          <a:latin typeface="Ubuntu"/>
                          <a:ea typeface="Ubuntu"/>
                          <a:cs typeface="Ubuntu"/>
                        </a:defRPr>
                      </a:pPr>
                      <a:r>
                        <a:rPr lang="en-US" sz="1800">
                          <a:latin typeface="Ubuntu"/>
                          <a:ea typeface="Ubuntu"/>
                          <a:cs typeface="Ubuntu"/>
                        </a:rPr>
                        <a:t>±2 to ±20 °/s</a:t>
                      </a:r>
                    </a:p>
                  </a:txBody>
                  <a:tcPr marL="26771" marR="26771" marT="13386" marB="13386" anchor="ctr"/>
                </a:tc>
                <a:tc>
                  <a:txBody>
                    <a:bodyPr/>
                    <a:lstStyle/>
                    <a:p>
                      <a:pPr>
                        <a:defRPr>
                          <a:latin typeface="Ubuntu"/>
                          <a:ea typeface="Ubuntu"/>
                          <a:cs typeface="Ubuntu"/>
                        </a:defRPr>
                      </a:pPr>
                      <a:r>
                        <a:rPr lang="en-US" sz="1800" dirty="0">
                          <a:latin typeface="Ubuntu"/>
                          <a:ea typeface="Ubuntu"/>
                          <a:cs typeface="Ubuntu"/>
                        </a:rPr>
                        <a:t>Immediately after release from the deployer; uncontrolled motion.</a:t>
                      </a:r>
                    </a:p>
                  </a:txBody>
                  <a:tcPr marL="26771" marR="26771" marT="13386" marB="13386" anchor="ctr"/>
                </a:tc>
                <a:extLst>
                  <a:ext uri="{0D108BD9-81ED-4DB2-BD59-A6C34878D82A}">
                    <a16:rowId xmlns:a16="http://schemas.microsoft.com/office/drawing/2014/main" val="802319384"/>
                  </a:ext>
                </a:extLst>
              </a:tr>
              <a:tr h="489494">
                <a:tc>
                  <a:txBody>
                    <a:bodyPr/>
                    <a:lstStyle/>
                    <a:p>
                      <a:pPr>
                        <a:defRPr>
                          <a:latin typeface="Ubuntu"/>
                          <a:ea typeface="Ubuntu"/>
                          <a:cs typeface="Ubuntu"/>
                        </a:defRPr>
                      </a:pPr>
                      <a:r>
                        <a:rPr lang="en-US" sz="1800" b="1">
                          <a:latin typeface="Ubuntu"/>
                          <a:ea typeface="Ubuntu"/>
                          <a:cs typeface="Ubuntu"/>
                        </a:rPr>
                        <a:t>During detumbling</a:t>
                      </a:r>
                      <a:endParaRPr lang="en-US" sz="1800"/>
                    </a:p>
                  </a:txBody>
                  <a:tcPr marL="26771" marR="26771" marT="13386" marB="13386" anchor="ctr"/>
                </a:tc>
                <a:tc>
                  <a:txBody>
                    <a:bodyPr/>
                    <a:lstStyle/>
                    <a:p>
                      <a:pPr>
                        <a:defRPr>
                          <a:latin typeface="Ubuntu"/>
                          <a:ea typeface="Ubuntu"/>
                          <a:cs typeface="Ubuntu"/>
                        </a:defRPr>
                      </a:pPr>
                      <a:r>
                        <a:rPr lang="en-US" sz="1800">
                          <a:latin typeface="Ubuntu"/>
                          <a:ea typeface="Ubuntu"/>
                          <a:cs typeface="Ubuntu"/>
                        </a:rPr>
                        <a:t>±0.5 to ±5 °/s</a:t>
                      </a:r>
                    </a:p>
                  </a:txBody>
                  <a:tcPr marL="26771" marR="26771" marT="13386" marB="13386" anchor="ctr"/>
                </a:tc>
                <a:tc>
                  <a:txBody>
                    <a:bodyPr/>
                    <a:lstStyle/>
                    <a:p>
                      <a:pPr>
                        <a:defRPr>
                          <a:latin typeface="Ubuntu"/>
                          <a:ea typeface="Ubuntu"/>
                          <a:cs typeface="Ubuntu"/>
                        </a:defRPr>
                      </a:pPr>
                      <a:r>
                        <a:rPr lang="en-US" sz="1800" dirty="0">
                          <a:latin typeface="Ubuntu"/>
                          <a:ea typeface="Ubuntu"/>
                          <a:cs typeface="Ubuntu"/>
                        </a:rPr>
                        <a:t>As ADCS tries to slow down rotation.</a:t>
                      </a:r>
                    </a:p>
                  </a:txBody>
                  <a:tcPr marL="26771" marR="26771" marT="13386" marB="13386" anchor="ctr"/>
                </a:tc>
                <a:extLst>
                  <a:ext uri="{0D108BD9-81ED-4DB2-BD59-A6C34878D82A}">
                    <a16:rowId xmlns:a16="http://schemas.microsoft.com/office/drawing/2014/main" val="1769687276"/>
                  </a:ext>
                </a:extLst>
              </a:tr>
              <a:tr h="722854">
                <a:tc>
                  <a:txBody>
                    <a:bodyPr/>
                    <a:lstStyle/>
                    <a:p>
                      <a:pPr>
                        <a:defRPr>
                          <a:latin typeface="Ubuntu"/>
                          <a:ea typeface="Ubuntu"/>
                          <a:cs typeface="Ubuntu"/>
                        </a:defRPr>
                      </a:pPr>
                      <a:r>
                        <a:rPr lang="en-US" sz="1800" b="1">
                          <a:latin typeface="Ubuntu"/>
                          <a:ea typeface="Ubuntu"/>
                          <a:cs typeface="Ubuntu"/>
                        </a:rPr>
                        <a:t>Nominal (stable pointing)</a:t>
                      </a:r>
                      <a:endParaRPr lang="en-US" sz="1800"/>
                    </a:p>
                  </a:txBody>
                  <a:tcPr marL="26771" marR="26771" marT="13386" marB="13386" anchor="ctr"/>
                </a:tc>
                <a:tc>
                  <a:txBody>
                    <a:bodyPr/>
                    <a:lstStyle/>
                    <a:p>
                      <a:pPr>
                        <a:defRPr>
                          <a:latin typeface="Ubuntu"/>
                          <a:ea typeface="Ubuntu"/>
                          <a:cs typeface="Ubuntu"/>
                        </a:defRPr>
                      </a:pPr>
                      <a:r>
                        <a:rPr lang="en-US" sz="1800" dirty="0">
                          <a:latin typeface="Ubuntu"/>
                          <a:ea typeface="Ubuntu"/>
                          <a:cs typeface="Ubuntu"/>
                        </a:rPr>
                        <a:t>±0.01 to ±0.5 °/s</a:t>
                      </a:r>
                    </a:p>
                  </a:txBody>
                  <a:tcPr marL="26771" marR="26771" marT="13386" marB="13386" anchor="ctr"/>
                </a:tc>
                <a:tc>
                  <a:txBody>
                    <a:bodyPr/>
                    <a:lstStyle/>
                    <a:p>
                      <a:pPr>
                        <a:defRPr>
                          <a:latin typeface="Ubuntu"/>
                          <a:ea typeface="Ubuntu"/>
                          <a:cs typeface="Ubuntu"/>
                        </a:defRPr>
                      </a:pPr>
                      <a:r>
                        <a:rPr lang="en-US" sz="1800">
                          <a:latin typeface="Ubuntu"/>
                          <a:ea typeface="Ubuntu"/>
                          <a:cs typeface="Ubuntu"/>
                        </a:rPr>
                        <a:t>Controlled, steady-state operation (e.g., for imaging, comms).</a:t>
                      </a:r>
                    </a:p>
                  </a:txBody>
                  <a:tcPr marL="26771" marR="26771" marT="13386" marB="13386" anchor="ctr"/>
                </a:tc>
                <a:extLst>
                  <a:ext uri="{0D108BD9-81ED-4DB2-BD59-A6C34878D82A}">
                    <a16:rowId xmlns:a16="http://schemas.microsoft.com/office/drawing/2014/main" val="42708128"/>
                  </a:ext>
                </a:extLst>
              </a:tr>
              <a:tr h="489494">
                <a:tc>
                  <a:txBody>
                    <a:bodyPr/>
                    <a:lstStyle/>
                    <a:p>
                      <a:pPr>
                        <a:defRPr>
                          <a:latin typeface="Ubuntu"/>
                          <a:ea typeface="Ubuntu"/>
                          <a:cs typeface="Ubuntu"/>
                        </a:defRPr>
                      </a:pPr>
                      <a:r>
                        <a:rPr lang="en-US" sz="1800" b="1">
                          <a:latin typeface="Ubuntu"/>
                          <a:ea typeface="Ubuntu"/>
                          <a:cs typeface="Ubuntu"/>
                        </a:rPr>
                        <a:t>Actuated maneuvering</a:t>
                      </a:r>
                      <a:endParaRPr lang="en-US" sz="1800"/>
                    </a:p>
                  </a:txBody>
                  <a:tcPr marL="26771" marR="26771" marT="13386" marB="13386" anchor="ctr"/>
                </a:tc>
                <a:tc>
                  <a:txBody>
                    <a:bodyPr/>
                    <a:lstStyle/>
                    <a:p>
                      <a:pPr>
                        <a:defRPr>
                          <a:latin typeface="Ubuntu"/>
                          <a:ea typeface="Ubuntu"/>
                          <a:cs typeface="Ubuntu"/>
                        </a:defRPr>
                      </a:pPr>
                      <a:r>
                        <a:rPr lang="en-US" sz="1800">
                          <a:latin typeface="Ubuntu"/>
                          <a:ea typeface="Ubuntu"/>
                          <a:cs typeface="Ubuntu"/>
                        </a:rPr>
                        <a:t>±0.5 to ±2 °/s</a:t>
                      </a:r>
                    </a:p>
                  </a:txBody>
                  <a:tcPr marL="26771" marR="26771" marT="13386" marB="13386" anchor="ctr"/>
                </a:tc>
                <a:tc>
                  <a:txBody>
                    <a:bodyPr/>
                    <a:lstStyle/>
                    <a:p>
                      <a:pPr>
                        <a:defRPr>
                          <a:latin typeface="Ubuntu"/>
                          <a:ea typeface="Ubuntu"/>
                          <a:cs typeface="Ubuntu"/>
                        </a:defRPr>
                      </a:pPr>
                      <a:r>
                        <a:rPr lang="en-US" sz="1800">
                          <a:latin typeface="Ubuntu"/>
                          <a:ea typeface="Ubuntu"/>
                          <a:cs typeface="Ubuntu"/>
                        </a:rPr>
                        <a:t>During intentional re-orientation.</a:t>
                      </a:r>
                    </a:p>
                  </a:txBody>
                  <a:tcPr marL="26771" marR="26771" marT="13386" marB="13386" anchor="ctr"/>
                </a:tc>
                <a:extLst>
                  <a:ext uri="{0D108BD9-81ED-4DB2-BD59-A6C34878D82A}">
                    <a16:rowId xmlns:a16="http://schemas.microsoft.com/office/drawing/2014/main" val="3149965378"/>
                  </a:ext>
                </a:extLst>
              </a:tr>
              <a:tr h="489494">
                <a:tc>
                  <a:txBody>
                    <a:bodyPr/>
                    <a:lstStyle/>
                    <a:p>
                      <a:pPr>
                        <a:defRPr>
                          <a:latin typeface="Ubuntu"/>
                          <a:ea typeface="Ubuntu"/>
                          <a:cs typeface="Ubuntu"/>
                        </a:defRPr>
                      </a:pPr>
                      <a:r>
                        <a:rPr lang="en-US" sz="1800" b="1">
                          <a:latin typeface="Ubuntu"/>
                          <a:ea typeface="Ubuntu"/>
                          <a:cs typeface="Ubuntu"/>
                        </a:rPr>
                        <a:t>Sensor noise floor</a:t>
                      </a:r>
                      <a:endParaRPr lang="en-US" sz="1800"/>
                    </a:p>
                  </a:txBody>
                  <a:tcPr marL="26771" marR="26771" marT="13386" marB="13386" anchor="ctr"/>
                </a:tc>
                <a:tc>
                  <a:txBody>
                    <a:bodyPr/>
                    <a:lstStyle/>
                    <a:p>
                      <a:pPr>
                        <a:defRPr>
                          <a:latin typeface="Ubuntu"/>
                          <a:ea typeface="Ubuntu"/>
                          <a:cs typeface="Ubuntu"/>
                        </a:defRPr>
                      </a:pPr>
                      <a:r>
                        <a:rPr lang="en-US" sz="1800">
                          <a:latin typeface="Ubuntu"/>
                          <a:ea typeface="Ubuntu"/>
                          <a:cs typeface="Ubuntu"/>
                        </a:rPr>
                        <a:t>±0.001 to ±0.01 °/s</a:t>
                      </a:r>
                    </a:p>
                  </a:txBody>
                  <a:tcPr marL="26771" marR="26771" marT="13386" marB="13386" anchor="ctr"/>
                </a:tc>
                <a:tc>
                  <a:txBody>
                    <a:bodyPr/>
                    <a:lstStyle/>
                    <a:p>
                      <a:pPr>
                        <a:defRPr>
                          <a:latin typeface="Ubuntu"/>
                          <a:ea typeface="Ubuntu"/>
                          <a:cs typeface="Ubuntu"/>
                        </a:defRPr>
                      </a:pPr>
                      <a:r>
                        <a:rPr lang="en-US" sz="1800" dirty="0">
                          <a:latin typeface="Ubuntu"/>
                          <a:ea typeface="Ubuntu"/>
                          <a:cs typeface="Ubuntu"/>
                        </a:rPr>
                        <a:t>Depends on sensor resolution and filtering.</a:t>
                      </a:r>
                    </a:p>
                  </a:txBody>
                  <a:tcPr marL="26771" marR="26771" marT="13386" marB="13386" anchor="ctr"/>
                </a:tc>
                <a:extLst>
                  <a:ext uri="{0D108BD9-81ED-4DB2-BD59-A6C34878D82A}">
                    <a16:rowId xmlns:a16="http://schemas.microsoft.com/office/drawing/2014/main" val="3149010558"/>
                  </a:ext>
                </a:extLst>
              </a:tr>
            </a:tbl>
          </a:graphicData>
        </a:graphic>
      </p:graphicFrame>
      <p:sp>
        <p:nvSpPr>
          <p:cNvPr id="8" name="Rectangle 1">
            <a:extLst>
              <a:ext uri="{FF2B5EF4-FFF2-40B4-BE49-F238E27FC236}">
                <a16:creationId xmlns:a16="http://schemas.microsoft.com/office/drawing/2014/main" id="{500F1304-94F5-4C5A-EA99-3353692F5A6E}"/>
              </a:ext>
            </a:extLst>
          </p:cNvPr>
          <p:cNvSpPr>
            <a:spLocks noChangeArrowheads="1"/>
          </p:cNvSpPr>
          <p:nvPr/>
        </p:nvSpPr>
        <p:spPr bwMode="auto">
          <a:xfrm>
            <a:off x="191546" y="1835750"/>
            <a:ext cx="27451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latin typeface="Ubuntu"/>
                <a:ea typeface="Ubuntu"/>
                <a:cs typeface="Ubuntu"/>
              </a:defRPr>
            </a:pPr>
            <a:r>
              <a:rPr kumimoji="0" lang="en-US" altLang="en-US" b="1" i="0" u="none" strike="noStrike" cap="none" normalizeH="0" baseline="0" dirty="0">
                <a:ln>
                  <a:noFill/>
                </a:ln>
                <a:solidFill>
                  <a:schemeClr val="tx1"/>
                </a:solidFill>
                <a:effectLst/>
                <a:latin typeface="Ubuntu" panose="020B0604020202020204" pitchFamily="34" charset="0"/>
                <a:ea typeface="Ubuntu"/>
                <a:cs typeface="Ubuntu"/>
              </a:rPr>
              <a:t>Typical Ranges in LEO:</a:t>
            </a:r>
          </a:p>
          <a:p>
            <a:pPr marL="0" marR="0" lvl="0" indent="0" algn="l" defTabSz="914400" rtl="0" eaLnBrk="0" fontAlgn="base" latinLnBrk="0" hangingPunct="0">
              <a:lnSpc>
                <a:spcPct val="100000"/>
              </a:lnSpc>
              <a:spcBef>
                <a:spcPct val="0"/>
              </a:spcBef>
              <a:spcAft>
                <a:spcPct val="0"/>
              </a:spcAft>
              <a:buClrTx/>
              <a:buSzTx/>
              <a:buFontTx/>
              <a:buNone/>
              <a:tabLst/>
              <a:defRPr>
                <a:latin typeface="Ubuntu"/>
                <a:ea typeface="Ubuntu"/>
                <a:cs typeface="Ubuntu"/>
              </a:defRPr>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C6A22A6B-7506-FAC7-AEC8-15BAEE10519E}"/>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latin typeface="Ubuntu"/>
                <a:ea typeface="Ubuntu"/>
                <a:cs typeface="Ubuntu"/>
              </a:defRPr>
            </a:pPr>
            <a:r>
              <a:rPr kumimoji="0" lang="en-US" altLang="en-US" sz="1800" b="0" i="0" u="none" strike="noStrike" cap="none" normalizeH="0" baseline="0" dirty="0">
                <a:ln>
                  <a:noFill/>
                </a:ln>
                <a:solidFill>
                  <a:schemeClr val="tx1"/>
                </a:solidFill>
                <a:effectLst/>
                <a:latin typeface="Ubuntu" panose="020B0604020202020204" pitchFamily="34" charset="0"/>
                <a:ea typeface="Ubuntu"/>
                <a:cs typeface="Ubuntu"/>
              </a:rPr>
              <a:t>.</a:t>
            </a:r>
          </a:p>
        </p:txBody>
      </p:sp>
      <p:sp>
        <p:nvSpPr>
          <p:cNvPr id="11" name="TextBox 10">
            <a:extLst>
              <a:ext uri="{FF2B5EF4-FFF2-40B4-BE49-F238E27FC236}">
                <a16:creationId xmlns:a16="http://schemas.microsoft.com/office/drawing/2014/main" id="{908F6C9D-4040-444C-ED90-EF61A301A620}"/>
              </a:ext>
            </a:extLst>
          </p:cNvPr>
          <p:cNvSpPr txBox="1"/>
          <p:nvPr/>
        </p:nvSpPr>
        <p:spPr>
          <a:xfrm>
            <a:off x="0" y="6245536"/>
            <a:ext cx="11658600" cy="646331"/>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latin typeface="Ubuntu"/>
                <a:ea typeface="Ubuntu"/>
                <a:cs typeface="Ubuntu"/>
              </a:defRPr>
            </a:pPr>
            <a:r>
              <a:rPr kumimoji="0" lang="en-US" altLang="en-US" sz="1800" b="1" i="0" u="none" strike="noStrike" cap="none" normalizeH="0" baseline="0" dirty="0">
                <a:ln>
                  <a:noFill/>
                </a:ln>
                <a:solidFill>
                  <a:schemeClr val="tx1"/>
                </a:solidFill>
                <a:effectLst/>
                <a:latin typeface="Ubuntu" panose="020B0604020202020204" pitchFamily="34" charset="0"/>
                <a:ea typeface="Ubuntu"/>
                <a:cs typeface="Ubuntu"/>
              </a:rPr>
              <a:t>Small values</a:t>
            </a:r>
            <a:r>
              <a:rPr kumimoji="0" lang="en-US" altLang="en-US" sz="1800" b="0" i="0" u="none" strike="noStrike" cap="none" normalizeH="0" baseline="0" dirty="0">
                <a:ln>
                  <a:noFill/>
                </a:ln>
                <a:solidFill>
                  <a:schemeClr val="tx1"/>
                </a:solidFill>
                <a:effectLst/>
                <a:latin typeface="Ubuntu" panose="020B0604020202020204" pitchFamily="34" charset="0"/>
                <a:ea typeface="Ubuntu"/>
                <a:cs typeface="Ubuntu"/>
              </a:rPr>
              <a:t> indicate slow, stable rotation (ideal for imaging, comms).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latin typeface="Ubuntu"/>
                <a:ea typeface="Ubuntu"/>
                <a:cs typeface="Ubuntu"/>
              </a:defRPr>
            </a:pPr>
            <a:r>
              <a:rPr kumimoji="0" lang="en-US" altLang="en-US" sz="1800" b="1" i="0" u="none" strike="noStrike" cap="none" normalizeH="0" baseline="0" dirty="0">
                <a:ln>
                  <a:noFill/>
                </a:ln>
                <a:solidFill>
                  <a:schemeClr val="tx1"/>
                </a:solidFill>
                <a:effectLst/>
                <a:latin typeface="Ubuntu" panose="020B0604020202020204" pitchFamily="34" charset="0"/>
                <a:ea typeface="Ubuntu"/>
                <a:cs typeface="Ubuntu"/>
              </a:rPr>
              <a:t>Large values</a:t>
            </a:r>
            <a:r>
              <a:rPr kumimoji="0" lang="en-US" altLang="en-US" sz="1800" b="0" i="0" u="none" strike="noStrike" cap="none" normalizeH="0" baseline="0" dirty="0">
                <a:ln>
                  <a:noFill/>
                </a:ln>
                <a:solidFill>
                  <a:schemeClr val="tx1"/>
                </a:solidFill>
                <a:effectLst/>
                <a:latin typeface="Ubuntu" panose="020B0604020202020204" pitchFamily="34" charset="0"/>
                <a:ea typeface="Ubuntu"/>
                <a:cs typeface="Ubuntu"/>
              </a:rPr>
              <a:t> (&gt; 1–2 °/s) suggest spinning/tumbling—often right after deployment</a:t>
            </a:r>
            <a:endParaRPr lang="en-US" dirty="0"/>
          </a:p>
        </p:txBody>
      </p:sp>
      <p:sp>
        <p:nvSpPr>
          <p:cNvPr id="13" name="TextBox 12">
            <a:extLst>
              <a:ext uri="{FF2B5EF4-FFF2-40B4-BE49-F238E27FC236}">
                <a16:creationId xmlns:a16="http://schemas.microsoft.com/office/drawing/2014/main" id="{D55AF3A1-75F8-5CBF-B2F2-28EFCDB393A3}"/>
              </a:ext>
            </a:extLst>
          </p:cNvPr>
          <p:cNvSpPr txBox="1"/>
          <p:nvPr/>
        </p:nvSpPr>
        <p:spPr>
          <a:xfrm>
            <a:off x="9834896" y="65032"/>
            <a:ext cx="2348637" cy="1200329"/>
          </a:xfrm>
          <a:prstGeom prst="rect">
            <a:avLst/>
          </a:prstGeom>
          <a:solidFill>
            <a:schemeClr val="bg2"/>
          </a:solidFill>
        </p:spPr>
        <p:txBody>
          <a:bodyPr wrap="square">
            <a:spAutoFit/>
          </a:bodyPr>
          <a:lstStyle/>
          <a:p>
            <a:pPr>
              <a:defRPr>
                <a:latin typeface="Ubuntu"/>
                <a:ea typeface="Ubuntu"/>
                <a:cs typeface="Ubuntu"/>
              </a:defRPr>
            </a:pPr>
            <a:r>
              <a:rPr lang="en-US" b="1" dirty="0">
                <a:latin typeface="Ubuntu"/>
                <a:ea typeface="Ubuntu"/>
                <a:cs typeface="Ubuntu"/>
              </a:rPr>
              <a:t>Gyroscope (°/s):</a:t>
            </a:r>
          </a:p>
          <a:p>
            <a:pPr>
              <a:defRPr>
                <a:latin typeface="Ubuntu"/>
                <a:ea typeface="Ubuntu"/>
                <a:cs typeface="Ubuntu"/>
              </a:defRPr>
            </a:pPr>
            <a:r>
              <a:rPr lang="en-US" b="1" dirty="0">
                <a:latin typeface="Ubuntu"/>
                <a:ea typeface="Ubuntu"/>
                <a:cs typeface="Ubuntu"/>
              </a:rPr>
              <a:t>X:  0.12</a:t>
            </a:r>
          </a:p>
          <a:p>
            <a:pPr>
              <a:defRPr>
                <a:latin typeface="Ubuntu"/>
                <a:ea typeface="Ubuntu"/>
                <a:cs typeface="Ubuntu"/>
              </a:defRPr>
            </a:pPr>
            <a:r>
              <a:rPr lang="en-US" b="1" dirty="0">
                <a:latin typeface="Ubuntu"/>
                <a:ea typeface="Ubuntu"/>
                <a:cs typeface="Ubuntu"/>
              </a:rPr>
              <a:t>Y: -0.03</a:t>
            </a:r>
          </a:p>
          <a:p>
            <a:pPr>
              <a:defRPr>
                <a:latin typeface="Ubuntu"/>
                <a:ea typeface="Ubuntu"/>
                <a:cs typeface="Ubuntu"/>
              </a:defRPr>
            </a:pPr>
            <a:r>
              <a:rPr lang="en-US" b="1" dirty="0">
                <a:latin typeface="Ubuntu"/>
                <a:ea typeface="Ubuntu"/>
                <a:cs typeface="Ubuntu"/>
              </a:rPr>
              <a:t>Z:  0.08</a:t>
            </a:r>
          </a:p>
        </p:txBody>
      </p:sp>
      <p:sp>
        <p:nvSpPr>
          <p:cNvPr id="10" name="Slide Number Placeholder 7">
            <a:extLst>
              <a:ext uri="{FF2B5EF4-FFF2-40B4-BE49-F238E27FC236}">
                <a16:creationId xmlns:a16="http://schemas.microsoft.com/office/drawing/2014/main" id="{D3F1747E-EF94-690C-DFA4-084FBABDFFF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29</a:t>
            </a:fld>
            <a:endParaRPr lang="en-US" sz="4800" b="1" dirty="0">
              <a:solidFill>
                <a:srgbClr val="FF0000"/>
              </a:solidFill>
            </a:endParaRPr>
          </a:p>
        </p:txBody>
      </p:sp>
      <p:pic>
        <p:nvPicPr>
          <p:cNvPr id="14" name="Space Faculty logo" descr="sf_logo.png"/>
          <p:cNvPicPr>
            <a:picLocks noChangeAspect="1"/>
          </p:cNvPicPr>
          <p:nvPr/>
        </p:nvPicPr>
        <p:blipFill>
          <a:blip r:embed="rId5"/>
          <a:stretch>
            <a:fillRect/>
          </a:stretch>
        </p:blipFill>
        <p:spPr>
          <a:xfrm>
            <a:off x="164468" y="142839"/>
            <a:ext cx="1757395" cy="499417"/>
          </a:xfrm>
          <a:prstGeom prst="rect">
            <a:avLst/>
          </a:prstGeom>
        </p:spPr>
      </p:pic>
    </p:spTree>
    <p:extLst>
      <p:ext uri="{BB962C8B-B14F-4D97-AF65-F5344CB8AC3E}">
        <p14:creationId xmlns:p14="http://schemas.microsoft.com/office/powerpoint/2010/main" val="2026114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C27B5-3809-6271-53D7-A1BFDE178C22}"/>
              </a:ext>
            </a:extLst>
          </p:cNvPr>
          <p:cNvSpPr>
            <a:spLocks noGrp="1"/>
          </p:cNvSpPr>
          <p:nvPr>
            <p:ph type="title"/>
          </p:nvPr>
        </p:nvSpPr>
        <p:spPr>
          <a:xfrm>
            <a:off x="2055963" y="158176"/>
            <a:ext cx="8229600" cy="821548"/>
          </a:xfrm>
        </p:spPr>
        <p:txBody>
          <a:bodyPr>
            <a:noAutofit/>
          </a:bodyPr>
          <a:lstStyle/>
          <a:p>
            <a:pPr>
              <a:defRPr>
                <a:latin typeface="House Movements Runway"/>
                <a:ea typeface="House Movements Runway"/>
                <a:cs typeface="House Movements Runway"/>
              </a:defRPr>
            </a:pPr>
            <a:r>
              <a:rPr lang="en-US" sz="4800" b="1" dirty="0">
                <a:latin typeface="House Movements Runway"/>
                <a:ea typeface="House Movements Runway"/>
                <a:cs typeface="House Movements Runway"/>
              </a:rPr>
              <a:t>Simulation Results </a:t>
            </a:r>
          </a:p>
        </p:txBody>
      </p:sp>
      <p:sp>
        <p:nvSpPr>
          <p:cNvPr id="4" name="Content Placeholder 3">
            <a:extLst>
              <a:ext uri="{FF2B5EF4-FFF2-40B4-BE49-F238E27FC236}">
                <a16:creationId xmlns:a16="http://schemas.microsoft.com/office/drawing/2014/main" id="{5EBD2665-0B12-556F-518A-71AFBAEC2B62}"/>
              </a:ext>
            </a:extLst>
          </p:cNvPr>
          <p:cNvSpPr txBox="1">
            <a:spLocks/>
          </p:cNvSpPr>
          <p:nvPr/>
        </p:nvSpPr>
        <p:spPr>
          <a:xfrm>
            <a:off x="221870" y="1190757"/>
            <a:ext cx="8437563" cy="3567139"/>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61950" indent="-285750">
              <a:buFont typeface="Wingdings" panose="05000000000000000000" pitchFamily="2" charset="2"/>
              <a:buChar char="q"/>
              <a:defRPr>
                <a:latin typeface="Ubuntu"/>
                <a:ea typeface="Ubuntu"/>
                <a:cs typeface="Ubuntu"/>
              </a:defRPr>
            </a:pPr>
            <a:r>
              <a:rPr lang="en-US" altLang="ja-JP" sz="2800" kern="0" dirty="0">
                <a:solidFill>
                  <a:sysClr val="windowText" lastClr="000000"/>
                </a:solidFill>
                <a:latin typeface="Ubuntu"/>
                <a:ea typeface="Ubuntu"/>
                <a:cs typeface="Ubuntu"/>
              </a:rPr>
              <a:t>Simulation Results[Angular Velocity]</a:t>
            </a:r>
            <a:endParaRPr lang="en-PH" sz="2800" kern="0" dirty="0">
              <a:solidFill>
                <a:sysClr val="windowText" lastClr="000000"/>
              </a:solidFill>
            </a:endParaRPr>
          </a:p>
        </p:txBody>
      </p:sp>
      <p:pic>
        <p:nvPicPr>
          <p:cNvPr id="5" name="図 4">
            <a:extLst>
              <a:ext uri="{FF2B5EF4-FFF2-40B4-BE49-F238E27FC236}">
                <a16:creationId xmlns:a16="http://schemas.microsoft.com/office/drawing/2014/main" id="{EF20F8DB-C0DB-55C3-E519-A4692EF1A4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8435" y="1915382"/>
            <a:ext cx="8888037" cy="4374581"/>
          </a:xfrm>
          <a:prstGeom prst="rect">
            <a:avLst/>
          </a:prstGeom>
        </p:spPr>
      </p:pic>
      <p:sp>
        <p:nvSpPr>
          <p:cNvPr id="6" name="テキスト ボックス 5">
            <a:extLst>
              <a:ext uri="{FF2B5EF4-FFF2-40B4-BE49-F238E27FC236}">
                <a16:creationId xmlns:a16="http://schemas.microsoft.com/office/drawing/2014/main" id="{729F51BB-8FF6-EF36-5318-922FD6956D25}"/>
              </a:ext>
            </a:extLst>
          </p:cNvPr>
          <p:cNvSpPr txBox="1"/>
          <p:nvPr/>
        </p:nvSpPr>
        <p:spPr>
          <a:xfrm rot="16200000">
            <a:off x="-579786" y="3997468"/>
            <a:ext cx="3430603" cy="461665"/>
          </a:xfrm>
          <a:prstGeom prst="rect">
            <a:avLst/>
          </a:prstGeom>
          <a:noFill/>
        </p:spPr>
        <p:txBody>
          <a:bodyPr wrap="square" rtlCol="0">
            <a:spAutoFit/>
          </a:bodyPr>
          <a:lstStyle/>
          <a:p>
            <a:pPr algn="ctr">
              <a:defRPr>
                <a:latin typeface="Ubuntu"/>
                <a:ea typeface="Ubuntu"/>
                <a:cs typeface="Ubuntu"/>
              </a:defRPr>
            </a:pPr>
            <a:r>
              <a:rPr kumimoji="1" lang="en-US" altLang="ja-JP" sz="2400" dirty="0">
                <a:latin typeface="Ubuntu"/>
                <a:ea typeface="Ubuntu"/>
                <a:cs typeface="Ubuntu"/>
              </a:rPr>
              <a:t>Angular velocity [</a:t>
            </a:r>
            <a:r>
              <a:rPr kumimoji="1" lang="en-US" altLang="ja-JP" sz="2400" dirty="0" err="1">
                <a:latin typeface="Ubuntu"/>
                <a:ea typeface="Ubuntu"/>
                <a:cs typeface="Ubuntu"/>
              </a:rPr>
              <a:t>deg</a:t>
            </a:r>
            <a:r>
              <a:rPr kumimoji="1" lang="en-US" altLang="ja-JP" sz="2400" dirty="0">
                <a:latin typeface="Ubuntu"/>
                <a:ea typeface="Ubuntu"/>
                <a:cs typeface="Ubuntu"/>
              </a:rPr>
              <a:t>/s]</a:t>
            </a:r>
            <a:endParaRPr kumimoji="1" lang="ja-JP" altLang="en-US" sz="2400" dirty="0"/>
          </a:p>
        </p:txBody>
      </p:sp>
      <p:sp>
        <p:nvSpPr>
          <p:cNvPr id="7" name="テキスト ボックス 1">
            <a:extLst>
              <a:ext uri="{FF2B5EF4-FFF2-40B4-BE49-F238E27FC236}">
                <a16:creationId xmlns:a16="http://schemas.microsoft.com/office/drawing/2014/main" id="{B23393D3-5E1C-E97D-9B34-A2334D3DE6CB}"/>
              </a:ext>
            </a:extLst>
          </p:cNvPr>
          <p:cNvSpPr txBox="1"/>
          <p:nvPr/>
        </p:nvSpPr>
        <p:spPr>
          <a:xfrm>
            <a:off x="3886200" y="6269747"/>
            <a:ext cx="2718170" cy="523220"/>
          </a:xfrm>
          <a:prstGeom prst="rect">
            <a:avLst/>
          </a:prstGeom>
          <a:noFill/>
        </p:spPr>
        <p:txBody>
          <a:bodyPr wrap="square" rtlCol="0">
            <a:spAutoFit/>
          </a:bodyPr>
          <a:lstStyle/>
          <a:p>
            <a:pPr algn="ctr">
              <a:defRPr>
                <a:latin typeface="Ubuntu"/>
                <a:ea typeface="Ubuntu"/>
                <a:cs typeface="Ubuntu"/>
              </a:defRPr>
            </a:pPr>
            <a:r>
              <a:rPr kumimoji="1" lang="en-US" altLang="ja-JP" sz="2800" dirty="0">
                <a:latin typeface="Ubuntu"/>
                <a:ea typeface="Ubuntu"/>
                <a:cs typeface="Ubuntu"/>
              </a:rPr>
              <a:t>Time [sec]</a:t>
            </a:r>
            <a:endParaRPr kumimoji="1" lang="ja-JP" altLang="en-US" sz="2800" dirty="0"/>
          </a:p>
        </p:txBody>
      </p:sp>
      <p:sp>
        <p:nvSpPr>
          <p:cNvPr id="9" name="Slide Number Placeholder 7">
            <a:extLst>
              <a:ext uri="{FF2B5EF4-FFF2-40B4-BE49-F238E27FC236}">
                <a16:creationId xmlns:a16="http://schemas.microsoft.com/office/drawing/2014/main" id="{11453D46-BF11-9C1E-550E-E7CE1A977D9F}"/>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30</a:t>
            </a:fld>
            <a:endParaRPr lang="en-US" sz="4800" b="1" dirty="0">
              <a:solidFill>
                <a:srgbClr val="FF0000"/>
              </a:solidFill>
            </a:endParaRPr>
          </a:p>
        </p:txBody>
      </p:sp>
      <p:pic>
        <p:nvPicPr>
          <p:cNvPr id="10" name="Space Faculty logo" descr="sf_logo.png"/>
          <p:cNvPicPr>
            <a:picLocks noChangeAspect="1"/>
          </p:cNvPicPr>
          <p:nvPr/>
        </p:nvPicPr>
        <p:blipFill>
          <a:blip r:embed="rId3"/>
          <a:stretch>
            <a:fillRect/>
          </a:stretch>
        </p:blipFill>
        <p:spPr>
          <a:xfrm>
            <a:off x="10273424" y="54863"/>
            <a:ext cx="1805800" cy="513173"/>
          </a:xfrm>
          <a:prstGeom prst="rect">
            <a:avLst/>
          </a:prstGeom>
        </p:spPr>
      </p:pic>
    </p:spTree>
    <p:extLst>
      <p:ext uri="{BB962C8B-B14F-4D97-AF65-F5344CB8AC3E}">
        <p14:creationId xmlns:p14="http://schemas.microsoft.com/office/powerpoint/2010/main" val="1063738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88"/>
        <p:cNvGrpSpPr/>
        <p:nvPr/>
      </p:nvGrpSpPr>
      <p:grpSpPr>
        <a:xfrm>
          <a:off x="0" y="0"/>
          <a:ext cx="0" cy="0"/>
          <a:chOff x="0" y="0"/>
          <a:chExt cx="0" cy="0"/>
        </a:xfrm>
      </p:grpSpPr>
      <p:sp>
        <p:nvSpPr>
          <p:cNvPr id="4489" name="Google Shape;4489;p256"/>
          <p:cNvSpPr txBox="1">
            <a:spLocks noGrp="1"/>
          </p:cNvSpPr>
          <p:nvPr>
            <p:ph type="title"/>
          </p:nvPr>
        </p:nvSpPr>
        <p:spPr>
          <a:xfrm>
            <a:off x="1766824" y="1"/>
            <a:ext cx="8581134" cy="828897"/>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ADCS MATLAB Simulations</a:t>
            </a:r>
            <a:endParaRPr sz="4400" b="1" dirty="0">
              <a:latin typeface="Times New Roman" panose="02020603050405020304" pitchFamily="18" charset="0"/>
              <a:cs typeface="Times New Roman" panose="02020603050405020304" pitchFamily="18" charset="0"/>
            </a:endParaRPr>
          </a:p>
        </p:txBody>
      </p:sp>
      <p:pic>
        <p:nvPicPr>
          <p:cNvPr id="4490" name="Google Shape;4490;p256"/>
          <p:cNvPicPr preferRelativeResize="0">
            <a:picLocks noGrp="1"/>
          </p:cNvPicPr>
          <p:nvPr>
            <p:ph type="body" idx="1"/>
          </p:nvPr>
        </p:nvPicPr>
        <p:blipFill rotWithShape="1">
          <a:blip r:embed="rId3">
            <a:alphaModFix/>
          </a:blip>
          <a:stretch/>
        </p:blipFill>
        <p:spPr>
          <a:xfrm>
            <a:off x="2443856" y="1143000"/>
            <a:ext cx="7304287" cy="5562600"/>
          </a:xfrm>
          <a:prstGeom prst="rect">
            <a:avLst/>
          </a:prstGeom>
          <a:noFill/>
          <a:ln>
            <a:noFill/>
          </a:ln>
        </p:spPr>
      </p:pic>
      <p:sp>
        <p:nvSpPr>
          <p:cNvPr id="3" name="Slide Number Placeholder 7">
            <a:extLst>
              <a:ext uri="{FF2B5EF4-FFF2-40B4-BE49-F238E27FC236}">
                <a16:creationId xmlns:a16="http://schemas.microsoft.com/office/drawing/2014/main" id="{B661E20E-7BA1-E0D5-8BF7-95E906D2E973}"/>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31</a:t>
            </a:fld>
            <a:endParaRPr lang="en-US" sz="4800" b="1" dirty="0">
              <a:solidFill>
                <a:srgbClr val="FF0000"/>
              </a:solidFill>
            </a:endParaRPr>
          </a:p>
        </p:txBody>
      </p:sp>
      <p:pic>
        <p:nvPicPr>
          <p:cNvPr id="4491" name="Space Faculty logo" descr="sf_logo.png"/>
          <p:cNvPicPr>
            <a:picLocks noChangeAspect="1"/>
          </p:cNvPicPr>
          <p:nvPr/>
        </p:nvPicPr>
        <p:blipFill>
          <a:blip r:embed="rId4"/>
          <a:stretch>
            <a:fillRect/>
          </a:stretch>
        </p:blipFill>
        <p:spPr>
          <a:xfrm>
            <a:off x="10395306" y="54864"/>
            <a:ext cx="1683917" cy="478536"/>
          </a:xfrm>
          <a:prstGeom prst="rect">
            <a:avLst/>
          </a:prstGeom>
        </p:spPr>
      </p:pic>
    </p:spTree>
    <p:extLst>
      <p:ext uri="{BB962C8B-B14F-4D97-AF65-F5344CB8AC3E}">
        <p14:creationId xmlns:p14="http://schemas.microsoft.com/office/powerpoint/2010/main" val="596536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82"/>
        <p:cNvGrpSpPr/>
        <p:nvPr/>
      </p:nvGrpSpPr>
      <p:grpSpPr>
        <a:xfrm>
          <a:off x="0" y="0"/>
          <a:ext cx="0" cy="0"/>
          <a:chOff x="0" y="0"/>
          <a:chExt cx="0" cy="0"/>
        </a:xfrm>
      </p:grpSpPr>
      <p:sp>
        <p:nvSpPr>
          <p:cNvPr id="4483" name="Google Shape;4483;p255"/>
          <p:cNvSpPr txBox="1">
            <a:spLocks noGrp="1"/>
          </p:cNvSpPr>
          <p:nvPr>
            <p:ph type="title"/>
          </p:nvPr>
        </p:nvSpPr>
        <p:spPr>
          <a:xfrm>
            <a:off x="1766824" y="1"/>
            <a:ext cx="8581134" cy="828897"/>
          </a:xfrm>
          <a:prstGeom prst="rect">
            <a:avLst/>
          </a:prstGeom>
          <a:noFill/>
          <a:ln>
            <a:noFill/>
          </a:ln>
        </p:spPr>
        <p:txBody>
          <a:bodyPr spcFirstLastPara="1" wrap="square" lIns="91425" tIns="45700" rIns="91425" bIns="45700" anchor="ctr" anchorCtr="0">
            <a:normAutofit/>
          </a:bodyPr>
          <a:lstStyle/>
          <a:p>
            <a:pPr rtl="0">
              <a:defRPr>
                <a:latin typeface="House Movements Runway"/>
                <a:ea typeface="House Movements Runway"/>
                <a:cs typeface="House Movements Runway"/>
              </a:defRPr>
            </a:pPr>
            <a:r>
              <a:rPr lang="en-US" b="1" dirty="0">
                <a:latin typeface="House Movements Runway" panose="02020603050405020304" pitchFamily="18" charset="0"/>
                <a:cs typeface="House Movements Runway" panose="02020603050405020304" pitchFamily="18" charset="0"/>
              </a:rPr>
              <a:t>ADCS MATLAB Simulations</a:t>
            </a:r>
            <a:endParaRPr b="1" dirty="0">
              <a:latin typeface="Times New Roman" panose="02020603050405020304" pitchFamily="18" charset="0"/>
              <a:cs typeface="Times New Roman" panose="02020603050405020304" pitchFamily="18" charset="0"/>
            </a:endParaRPr>
          </a:p>
        </p:txBody>
      </p:sp>
      <p:pic>
        <p:nvPicPr>
          <p:cNvPr id="4484" name="Google Shape;4484;p255"/>
          <p:cNvPicPr preferRelativeResize="0">
            <a:picLocks noGrp="1"/>
          </p:cNvPicPr>
          <p:nvPr>
            <p:ph type="body" idx="1"/>
          </p:nvPr>
        </p:nvPicPr>
        <p:blipFill rotWithShape="1">
          <a:blip r:embed="rId3">
            <a:alphaModFix/>
          </a:blip>
          <a:stretch/>
        </p:blipFill>
        <p:spPr>
          <a:xfrm>
            <a:off x="2477776" y="990600"/>
            <a:ext cx="7465047" cy="5715000"/>
          </a:xfrm>
          <a:prstGeom prst="rect">
            <a:avLst/>
          </a:prstGeom>
          <a:noFill/>
          <a:ln>
            <a:noFill/>
          </a:ln>
        </p:spPr>
      </p:pic>
      <p:sp>
        <p:nvSpPr>
          <p:cNvPr id="3" name="Slide Number Placeholder 7">
            <a:extLst>
              <a:ext uri="{FF2B5EF4-FFF2-40B4-BE49-F238E27FC236}">
                <a16:creationId xmlns:a16="http://schemas.microsoft.com/office/drawing/2014/main" id="{C0294A70-1A32-C1EB-4DBB-2AFCB07ABDF4}"/>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32</a:t>
            </a:fld>
            <a:endParaRPr lang="en-US" sz="4800" b="1" dirty="0">
              <a:solidFill>
                <a:srgbClr val="FF0000"/>
              </a:solidFill>
            </a:endParaRPr>
          </a:p>
        </p:txBody>
      </p:sp>
      <p:pic>
        <p:nvPicPr>
          <p:cNvPr id="4485" name="Space Faculty logo" descr="sf_logo.png"/>
          <p:cNvPicPr>
            <a:picLocks noChangeAspect="1"/>
          </p:cNvPicPr>
          <p:nvPr/>
        </p:nvPicPr>
        <p:blipFill>
          <a:blip r:embed="rId4"/>
          <a:stretch>
            <a:fillRect/>
          </a:stretch>
        </p:blipFill>
        <p:spPr>
          <a:xfrm>
            <a:off x="10433614" y="54864"/>
            <a:ext cx="1645610" cy="467650"/>
          </a:xfrm>
          <a:prstGeom prst="rect">
            <a:avLst/>
          </a:prstGeom>
        </p:spPr>
      </p:pic>
    </p:spTree>
    <p:extLst>
      <p:ext uri="{BB962C8B-B14F-4D97-AF65-F5344CB8AC3E}">
        <p14:creationId xmlns:p14="http://schemas.microsoft.com/office/powerpoint/2010/main" val="3316822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D5A8-AEB1-2FC4-3030-AF54BC39DDC7}"/>
              </a:ext>
            </a:extLst>
          </p:cNvPr>
          <p:cNvSpPr>
            <a:spLocks noGrp="1"/>
          </p:cNvSpPr>
          <p:nvPr>
            <p:ph type="title"/>
          </p:nvPr>
        </p:nvSpPr>
        <p:spPr>
          <a:xfrm>
            <a:off x="3429000" y="176315"/>
            <a:ext cx="6858000" cy="1354217"/>
          </a:xfrm>
        </p:spPr>
        <p:txBody>
          <a:bodyPr/>
          <a:lstStyle/>
          <a:p>
            <a:pPr>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Reaction Wheel Turn Test</a:t>
            </a:r>
          </a:p>
        </p:txBody>
      </p:sp>
      <p:sp>
        <p:nvSpPr>
          <p:cNvPr id="4" name="Content Placeholder 3">
            <a:extLst>
              <a:ext uri="{FF2B5EF4-FFF2-40B4-BE49-F238E27FC236}">
                <a16:creationId xmlns:a16="http://schemas.microsoft.com/office/drawing/2014/main" id="{D8DE330C-C3F7-CB0F-00BB-083099A6AC22}"/>
              </a:ext>
            </a:extLst>
          </p:cNvPr>
          <p:cNvSpPr txBox="1">
            <a:spLocks/>
          </p:cNvSpPr>
          <p:nvPr/>
        </p:nvSpPr>
        <p:spPr>
          <a:xfrm>
            <a:off x="0" y="813225"/>
            <a:ext cx="8437563" cy="1400437"/>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61950" indent="-285750">
              <a:buFont typeface="Wingdings" panose="05000000000000000000" pitchFamily="2" charset="2"/>
              <a:buChar char="q"/>
              <a:defRPr>
                <a:latin typeface="Ubuntu"/>
                <a:ea typeface="Ubuntu"/>
                <a:cs typeface="Ubuntu"/>
              </a:defRPr>
            </a:pPr>
            <a:r>
              <a:rPr lang="en-PH" kern="0" dirty="0">
                <a:solidFill>
                  <a:schemeClr val="tx1"/>
                </a:solidFill>
                <a:latin typeface="Ubuntu"/>
                <a:ea typeface="Ubuntu"/>
                <a:cs typeface="Ubuntu"/>
              </a:rPr>
              <a:t>Reaction Wheels turn test</a:t>
            </a:r>
          </a:p>
          <a:p>
            <a:pPr marL="361950" indent="-285750">
              <a:buFont typeface="Wingdings" panose="05000000000000000000" pitchFamily="2" charset="2"/>
              <a:buChar char="q"/>
              <a:defRPr>
                <a:latin typeface="Ubuntu"/>
                <a:ea typeface="Ubuntu"/>
                <a:cs typeface="Ubuntu"/>
              </a:defRPr>
            </a:pPr>
            <a:r>
              <a:rPr lang="en-US" altLang="ja-JP" dirty="0">
                <a:latin typeface="Ubuntu"/>
                <a:ea typeface="Ubuntu"/>
                <a:cs typeface="Ubuntu"/>
              </a:rPr>
              <a:t>5V 6000rpm</a:t>
            </a:r>
          </a:p>
          <a:p>
            <a:pPr marL="361950" indent="-285750">
              <a:buFont typeface="Wingdings" panose="05000000000000000000" pitchFamily="2" charset="2"/>
              <a:buChar char="q"/>
              <a:defRPr>
                <a:latin typeface="Ubuntu"/>
                <a:ea typeface="Ubuntu"/>
                <a:cs typeface="Ubuntu"/>
              </a:defRPr>
            </a:pPr>
            <a:r>
              <a:rPr lang="en-US" altLang="ja-JP" dirty="0">
                <a:latin typeface="Ubuntu"/>
                <a:ea typeface="Ubuntu"/>
                <a:cs typeface="Ubuntu"/>
              </a:rPr>
              <a:t>Turn speed control function checked.</a:t>
            </a:r>
          </a:p>
          <a:p>
            <a:pPr marL="361950" indent="-285750">
              <a:buFont typeface="Wingdings" panose="05000000000000000000" pitchFamily="2" charset="2"/>
              <a:buChar char="q"/>
              <a:defRPr>
                <a:latin typeface="Ubuntu"/>
                <a:ea typeface="Ubuntu"/>
                <a:cs typeface="Ubuntu"/>
              </a:defRPr>
            </a:pPr>
            <a:endParaRPr lang="en-PH" kern="0" dirty="0">
              <a:solidFill>
                <a:schemeClr val="tx1"/>
              </a:solidFill>
            </a:endParaRPr>
          </a:p>
        </p:txBody>
      </p:sp>
      <p:pic>
        <p:nvPicPr>
          <p:cNvPr id="5" name="図 4">
            <a:extLst>
              <a:ext uri="{FF2B5EF4-FFF2-40B4-BE49-F238E27FC236}">
                <a16:creationId xmlns:a16="http://schemas.microsoft.com/office/drawing/2014/main" id="{B8A02669-8D82-A254-3414-00DF8B620D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1250" y="1530532"/>
            <a:ext cx="5508918" cy="4642932"/>
          </a:xfrm>
          <a:prstGeom prst="rect">
            <a:avLst/>
          </a:prstGeom>
        </p:spPr>
      </p:pic>
      <p:pic>
        <p:nvPicPr>
          <p:cNvPr id="7" name="図 5">
            <a:extLst>
              <a:ext uri="{FF2B5EF4-FFF2-40B4-BE49-F238E27FC236}">
                <a16:creationId xmlns:a16="http://schemas.microsoft.com/office/drawing/2014/main" id="{2ACDCEAF-24C3-1D09-B465-9D2BC58719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82096" y="1689925"/>
            <a:ext cx="3419434" cy="2097041"/>
          </a:xfrm>
          <a:prstGeom prst="rect">
            <a:avLst/>
          </a:prstGeom>
        </p:spPr>
      </p:pic>
      <p:pic>
        <p:nvPicPr>
          <p:cNvPr id="8" name="図 6">
            <a:extLst>
              <a:ext uri="{FF2B5EF4-FFF2-40B4-BE49-F238E27FC236}">
                <a16:creationId xmlns:a16="http://schemas.microsoft.com/office/drawing/2014/main" id="{2C9B04A5-2BCD-87DC-A67E-7DFA10BD95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950" y="1689925"/>
            <a:ext cx="2648647" cy="2057400"/>
          </a:xfrm>
          <a:prstGeom prst="rect">
            <a:avLst/>
          </a:prstGeom>
        </p:spPr>
      </p:pic>
      <p:graphicFrame>
        <p:nvGraphicFramePr>
          <p:cNvPr id="10" name="Table 9">
            <a:extLst>
              <a:ext uri="{FF2B5EF4-FFF2-40B4-BE49-F238E27FC236}">
                <a16:creationId xmlns:a16="http://schemas.microsoft.com/office/drawing/2014/main" id="{DDEBD093-6970-80BC-4CEF-893D9DF86C1C}"/>
              </a:ext>
            </a:extLst>
          </p:cNvPr>
          <p:cNvGraphicFramePr>
            <a:graphicFrameLocks noGrp="1"/>
          </p:cNvGraphicFramePr>
          <p:nvPr>
            <p:extLst>
              <p:ext uri="{D42A27DB-BD31-4B8C-83A1-F6EECF244321}">
                <p14:modId xmlns:p14="http://schemas.microsoft.com/office/powerpoint/2010/main" val="2579844547"/>
              </p:ext>
            </p:extLst>
          </p:nvPr>
        </p:nvGraphicFramePr>
        <p:xfrm>
          <a:off x="56528" y="4065317"/>
          <a:ext cx="6761739" cy="2806670"/>
        </p:xfrm>
        <a:graphic>
          <a:graphicData uri="http://schemas.openxmlformats.org/drawingml/2006/table">
            <a:tbl>
              <a:tblPr>
                <a:tableStyleId>{3C2FFA5D-87B4-456A-9821-1D502468CF0F}</a:tableStyleId>
              </a:tblPr>
              <a:tblGrid>
                <a:gridCol w="990477">
                  <a:extLst>
                    <a:ext uri="{9D8B030D-6E8A-4147-A177-3AD203B41FA5}">
                      <a16:colId xmlns:a16="http://schemas.microsoft.com/office/drawing/2014/main" val="2318471030"/>
                    </a:ext>
                  </a:extLst>
                </a:gridCol>
                <a:gridCol w="718950">
                  <a:extLst>
                    <a:ext uri="{9D8B030D-6E8A-4147-A177-3AD203B41FA5}">
                      <a16:colId xmlns:a16="http://schemas.microsoft.com/office/drawing/2014/main" val="1845264828"/>
                    </a:ext>
                  </a:extLst>
                </a:gridCol>
                <a:gridCol w="1272798">
                  <a:extLst>
                    <a:ext uri="{9D8B030D-6E8A-4147-A177-3AD203B41FA5}">
                      <a16:colId xmlns:a16="http://schemas.microsoft.com/office/drawing/2014/main" val="241347317"/>
                    </a:ext>
                  </a:extLst>
                </a:gridCol>
                <a:gridCol w="2147847">
                  <a:extLst>
                    <a:ext uri="{9D8B030D-6E8A-4147-A177-3AD203B41FA5}">
                      <a16:colId xmlns:a16="http://schemas.microsoft.com/office/drawing/2014/main" val="3724071828"/>
                    </a:ext>
                  </a:extLst>
                </a:gridCol>
                <a:gridCol w="1631667">
                  <a:extLst>
                    <a:ext uri="{9D8B030D-6E8A-4147-A177-3AD203B41FA5}">
                      <a16:colId xmlns:a16="http://schemas.microsoft.com/office/drawing/2014/main" val="653313063"/>
                    </a:ext>
                  </a:extLst>
                </a:gridCol>
              </a:tblGrid>
              <a:tr h="421678">
                <a:tc>
                  <a:txBody>
                    <a:bodyPr/>
                    <a:lstStyle/>
                    <a:p>
                      <a:pPr>
                        <a:defRPr>
                          <a:latin typeface="Ubuntu"/>
                          <a:ea typeface="Ubuntu"/>
                          <a:cs typeface="Ubuntu"/>
                        </a:defRPr>
                      </a:pPr>
                      <a:r>
                        <a:rPr lang="en-US" sz="1600" dirty="0">
                          <a:latin typeface="Ubuntu"/>
                          <a:ea typeface="Ubuntu"/>
                          <a:cs typeface="Ubuntu"/>
                        </a:rPr>
                        <a:t>Parameter</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Symbol</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Unit</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Expected Trend vs Torque</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Typical Values (CubeSat 3U–6U class)</a:t>
                      </a:r>
                    </a:p>
                  </a:txBody>
                  <a:tcPr marL="24886" marR="24886" marT="12443" marB="12443" anchor="ctr"/>
                </a:tc>
                <a:extLst>
                  <a:ext uri="{0D108BD9-81ED-4DB2-BD59-A6C34878D82A}">
                    <a16:rowId xmlns:a16="http://schemas.microsoft.com/office/drawing/2014/main" val="21025687"/>
                  </a:ext>
                </a:extLst>
              </a:tr>
              <a:tr h="342513">
                <a:tc>
                  <a:txBody>
                    <a:bodyPr/>
                    <a:lstStyle/>
                    <a:p>
                      <a:pPr>
                        <a:defRPr>
                          <a:latin typeface="Ubuntu"/>
                          <a:ea typeface="Ubuntu"/>
                          <a:cs typeface="Ubuntu"/>
                        </a:defRPr>
                      </a:pPr>
                      <a:r>
                        <a:rPr lang="en-US" sz="1600" b="1" dirty="0">
                          <a:latin typeface="Ubuntu"/>
                          <a:ea typeface="Ubuntu"/>
                          <a:cs typeface="Ubuntu"/>
                        </a:rPr>
                        <a:t>Speed</a:t>
                      </a:r>
                      <a:endParaRPr lang="en-US" sz="1600" dirty="0"/>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N</a:t>
                      </a:r>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RPM (rev/min)</a:t>
                      </a:r>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decreases linearly with torque</a:t>
                      </a:r>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1000–6000 RPM</a:t>
                      </a:r>
                    </a:p>
                  </a:txBody>
                  <a:tcPr marL="24886" marR="24886" marT="12443" marB="12443" anchor="ctr"/>
                </a:tc>
                <a:extLst>
                  <a:ext uri="{0D108BD9-81ED-4DB2-BD59-A6C34878D82A}">
                    <a16:rowId xmlns:a16="http://schemas.microsoft.com/office/drawing/2014/main" val="1799056269"/>
                  </a:ext>
                </a:extLst>
              </a:tr>
              <a:tr h="421678">
                <a:tc>
                  <a:txBody>
                    <a:bodyPr/>
                    <a:lstStyle/>
                    <a:p>
                      <a:pPr>
                        <a:defRPr>
                          <a:latin typeface="Ubuntu"/>
                          <a:ea typeface="Ubuntu"/>
                          <a:cs typeface="Ubuntu"/>
                        </a:defRPr>
                      </a:pPr>
                      <a:r>
                        <a:rPr lang="en-US" sz="1600" b="1">
                          <a:latin typeface="Ubuntu"/>
                          <a:ea typeface="Ubuntu"/>
                          <a:cs typeface="Ubuntu"/>
                        </a:rPr>
                        <a:t>Current</a:t>
                      </a:r>
                      <a:endParaRPr lang="en-US" sz="1600"/>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I</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mA</a:t>
                      </a:r>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Linearly increases with torque</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50–300 mA</a:t>
                      </a:r>
                    </a:p>
                  </a:txBody>
                  <a:tcPr marL="24886" marR="24886" marT="12443" marB="12443" anchor="ctr"/>
                </a:tc>
                <a:extLst>
                  <a:ext uri="{0D108BD9-81ED-4DB2-BD59-A6C34878D82A}">
                    <a16:rowId xmlns:a16="http://schemas.microsoft.com/office/drawing/2014/main" val="3133643407"/>
                  </a:ext>
                </a:extLst>
              </a:tr>
              <a:tr h="263348">
                <a:tc>
                  <a:txBody>
                    <a:bodyPr/>
                    <a:lstStyle/>
                    <a:p>
                      <a:pPr>
                        <a:defRPr>
                          <a:latin typeface="Ubuntu"/>
                          <a:ea typeface="Ubuntu"/>
                          <a:cs typeface="Ubuntu"/>
                        </a:defRPr>
                      </a:pPr>
                      <a:r>
                        <a:rPr lang="en-US" sz="1600" b="1">
                          <a:latin typeface="Ubuntu"/>
                          <a:ea typeface="Ubuntu"/>
                          <a:cs typeface="Ubuntu"/>
                        </a:rPr>
                        <a:t>Power</a:t>
                      </a:r>
                      <a:endParaRPr lang="en-US" sz="1600"/>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P</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mW</a:t>
                      </a:r>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Increases (P = V × I)</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200–1500 mW</a:t>
                      </a:r>
                    </a:p>
                  </a:txBody>
                  <a:tcPr marL="24886" marR="24886" marT="12443" marB="12443" anchor="ctr"/>
                </a:tc>
                <a:extLst>
                  <a:ext uri="{0D108BD9-81ED-4DB2-BD59-A6C34878D82A}">
                    <a16:rowId xmlns:a16="http://schemas.microsoft.com/office/drawing/2014/main" val="3083700907"/>
                  </a:ext>
                </a:extLst>
              </a:tr>
              <a:tr h="421678">
                <a:tc>
                  <a:txBody>
                    <a:bodyPr/>
                    <a:lstStyle/>
                    <a:p>
                      <a:pPr>
                        <a:defRPr>
                          <a:latin typeface="Ubuntu"/>
                          <a:ea typeface="Ubuntu"/>
                          <a:cs typeface="Ubuntu"/>
                        </a:defRPr>
                      </a:pPr>
                      <a:r>
                        <a:rPr lang="en-US" sz="1600" b="1">
                          <a:latin typeface="Ubuntu"/>
                          <a:ea typeface="Ubuntu"/>
                          <a:cs typeface="Ubuntu"/>
                        </a:rPr>
                        <a:t>Efficiency</a:t>
                      </a:r>
                      <a:endParaRPr lang="en-US" sz="1600"/>
                    </a:p>
                  </a:txBody>
                  <a:tcPr marL="24886" marR="24886" marT="12443" marB="12443" anchor="ctr"/>
                </a:tc>
                <a:tc>
                  <a:txBody>
                    <a:bodyPr/>
                    <a:lstStyle/>
                    <a:p>
                      <a:pPr>
                        <a:defRPr>
                          <a:latin typeface="Ubuntu"/>
                          <a:ea typeface="Ubuntu"/>
                          <a:cs typeface="Ubuntu"/>
                        </a:defRPr>
                      </a:pPr>
                      <a:r>
                        <a:rPr lang="el-GR" sz="1600">
                          <a:latin typeface="Ubuntu"/>
                          <a:ea typeface="Ubuntu"/>
                          <a:cs typeface="Ubuntu"/>
                        </a:rPr>
                        <a:t>η</a:t>
                      </a:r>
                      <a:r>
                        <a:rPr lang="en-US" sz="1600">
                          <a:latin typeface="Ubuntu"/>
                          <a:ea typeface="Ubuntu"/>
                          <a:cs typeface="Ubuntu"/>
                        </a:rPr>
                        <a:t>ₙ</a:t>
                      </a:r>
                    </a:p>
                  </a:txBody>
                  <a:tcPr marL="24886" marR="24886" marT="12443" marB="12443" anchor="ctr"/>
                </a:tc>
                <a:tc>
                  <a:txBody>
                    <a:bodyPr/>
                    <a:lstStyle/>
                    <a:p>
                      <a:pPr>
                        <a:defRPr>
                          <a:latin typeface="Ubuntu"/>
                          <a:ea typeface="Ubuntu"/>
                          <a:cs typeface="Ubuntu"/>
                        </a:defRPr>
                      </a:pPr>
                      <a:r>
                        <a:rPr lang="en-US" sz="1600">
                          <a:latin typeface="Ubuntu"/>
                          <a:ea typeface="Ubuntu"/>
                          <a:cs typeface="Ubuntu"/>
                        </a:rPr>
                        <a:t>% (mechanical)</a:t>
                      </a:r>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Non-linear, peaks at optimal low to mid torque</a:t>
                      </a:r>
                    </a:p>
                  </a:txBody>
                  <a:tcPr marL="24886" marR="24886" marT="12443" marB="12443" anchor="ctr"/>
                </a:tc>
                <a:tc>
                  <a:txBody>
                    <a:bodyPr/>
                    <a:lstStyle/>
                    <a:p>
                      <a:pPr>
                        <a:defRPr>
                          <a:latin typeface="Ubuntu"/>
                          <a:ea typeface="Ubuntu"/>
                          <a:cs typeface="Ubuntu"/>
                        </a:defRPr>
                      </a:pPr>
                      <a:r>
                        <a:rPr lang="en-US" sz="1600" dirty="0">
                          <a:latin typeface="Ubuntu"/>
                          <a:ea typeface="Ubuntu"/>
                          <a:cs typeface="Ubuntu"/>
                        </a:rPr>
                        <a:t>20%–70%</a:t>
                      </a:r>
                    </a:p>
                  </a:txBody>
                  <a:tcPr marL="24886" marR="24886" marT="12443" marB="12443" anchor="ctr"/>
                </a:tc>
                <a:extLst>
                  <a:ext uri="{0D108BD9-81ED-4DB2-BD59-A6C34878D82A}">
                    <a16:rowId xmlns:a16="http://schemas.microsoft.com/office/drawing/2014/main" val="3263715806"/>
                  </a:ext>
                </a:extLst>
              </a:tr>
            </a:tbl>
          </a:graphicData>
        </a:graphic>
      </p:graphicFrame>
      <p:sp>
        <p:nvSpPr>
          <p:cNvPr id="11" name="Rectangle 1">
            <a:extLst>
              <a:ext uri="{FF2B5EF4-FFF2-40B4-BE49-F238E27FC236}">
                <a16:creationId xmlns:a16="http://schemas.microsoft.com/office/drawing/2014/main" id="{71FB108F-178B-7052-B082-34CC7E64AF7B}"/>
              </a:ext>
            </a:extLst>
          </p:cNvPr>
          <p:cNvSpPr>
            <a:spLocks noChangeArrowheads="1"/>
          </p:cNvSpPr>
          <p:nvPr/>
        </p:nvSpPr>
        <p:spPr bwMode="auto">
          <a:xfrm>
            <a:off x="840908" y="3747325"/>
            <a:ext cx="49594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latin typeface="Ubuntu"/>
                <a:ea typeface="Ubuntu"/>
                <a:cs typeface="Ubuntu"/>
              </a:defRPr>
            </a:pPr>
            <a:r>
              <a:rPr kumimoji="0" lang="en-US" altLang="en-US" b="1" i="0" u="none" strike="noStrike" cap="none" normalizeH="0" baseline="0" dirty="0">
                <a:ln>
                  <a:noFill/>
                </a:ln>
                <a:solidFill>
                  <a:schemeClr val="tx1"/>
                </a:solidFill>
                <a:effectLst/>
                <a:latin typeface="Ubuntu" panose="020B0604020202020204" pitchFamily="34" charset="0"/>
                <a:ea typeface="Ubuntu"/>
                <a:cs typeface="Ubuntu"/>
              </a:rPr>
              <a:t> Reaction Wheel Test Parameters vs Torque</a:t>
            </a:r>
          </a:p>
          <a:p>
            <a:pPr marL="0" marR="0" lvl="0" indent="0" algn="l" defTabSz="914400" rtl="0" eaLnBrk="0" fontAlgn="base" latinLnBrk="0" hangingPunct="0">
              <a:lnSpc>
                <a:spcPct val="100000"/>
              </a:lnSpc>
              <a:spcBef>
                <a:spcPct val="0"/>
              </a:spcBef>
              <a:spcAft>
                <a:spcPct val="0"/>
              </a:spcAft>
              <a:buClrTx/>
              <a:buSzTx/>
              <a:buFontTx/>
              <a:buNone/>
              <a:tabLst/>
              <a:defRPr>
                <a:latin typeface="Ubuntu"/>
                <a:ea typeface="Ubuntu"/>
                <a:cs typeface="Ubuntu"/>
              </a:defRPr>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7">
            <a:extLst>
              <a:ext uri="{FF2B5EF4-FFF2-40B4-BE49-F238E27FC236}">
                <a16:creationId xmlns:a16="http://schemas.microsoft.com/office/drawing/2014/main" id="{4C8DCD62-31CD-3D87-2AD9-6A20DA6428B1}"/>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33</a:t>
            </a:fld>
            <a:endParaRPr lang="en-US" sz="4800" b="1" dirty="0">
              <a:solidFill>
                <a:srgbClr val="FF0000"/>
              </a:solidFill>
            </a:endParaRPr>
          </a:p>
        </p:txBody>
      </p:sp>
      <p:pic>
        <p:nvPicPr>
          <p:cNvPr id="12" name="Space Faculty logo" descr="sf_logo.png"/>
          <p:cNvPicPr>
            <a:picLocks noChangeAspect="1"/>
          </p:cNvPicPr>
          <p:nvPr/>
        </p:nvPicPr>
        <p:blipFill>
          <a:blip r:embed="rId5"/>
          <a:stretch>
            <a:fillRect/>
          </a:stretch>
        </p:blipFill>
        <p:spPr>
          <a:xfrm>
            <a:off x="10548530" y="54863"/>
            <a:ext cx="1530693" cy="434993"/>
          </a:xfrm>
          <a:prstGeom prst="rect">
            <a:avLst/>
          </a:prstGeom>
        </p:spPr>
      </p:pic>
    </p:spTree>
    <p:extLst>
      <p:ext uri="{BB962C8B-B14F-4D97-AF65-F5344CB8AC3E}">
        <p14:creationId xmlns:p14="http://schemas.microsoft.com/office/powerpoint/2010/main" val="4070579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D370-6B72-9582-85E1-DB1ED8E065A3}"/>
              </a:ext>
            </a:extLst>
          </p:cNvPr>
          <p:cNvSpPr>
            <a:spLocks noGrp="1"/>
          </p:cNvSpPr>
          <p:nvPr>
            <p:ph type="title"/>
          </p:nvPr>
        </p:nvSpPr>
        <p:spPr>
          <a:xfrm>
            <a:off x="3117012" y="165617"/>
            <a:ext cx="5504322" cy="677108"/>
          </a:xfrm>
        </p:spPr>
        <p:txBody>
          <a:bodyPr>
            <a:no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Reaction Wheel Test</a:t>
            </a:r>
          </a:p>
        </p:txBody>
      </p:sp>
      <p:sp>
        <p:nvSpPr>
          <p:cNvPr id="4" name="Content Placeholder 3">
            <a:extLst>
              <a:ext uri="{FF2B5EF4-FFF2-40B4-BE49-F238E27FC236}">
                <a16:creationId xmlns:a16="http://schemas.microsoft.com/office/drawing/2014/main" id="{84C4EB74-31DE-EBD6-7ADA-B1F3654A6BDA}"/>
              </a:ext>
            </a:extLst>
          </p:cNvPr>
          <p:cNvSpPr txBox="1">
            <a:spLocks/>
          </p:cNvSpPr>
          <p:nvPr/>
        </p:nvSpPr>
        <p:spPr>
          <a:xfrm>
            <a:off x="182215" y="2133600"/>
            <a:ext cx="4846985" cy="3810000"/>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61950" indent="-285750">
              <a:buFont typeface="Wingdings" panose="05000000000000000000" pitchFamily="2" charset="2"/>
              <a:buChar char="q"/>
              <a:defRPr>
                <a:latin typeface="Ubuntu"/>
                <a:ea typeface="Ubuntu"/>
                <a:cs typeface="Ubuntu"/>
              </a:defRPr>
            </a:pPr>
            <a:r>
              <a:rPr lang="en-PH" sz="2800" kern="0" dirty="0">
                <a:solidFill>
                  <a:schemeClr val="tx1"/>
                </a:solidFill>
                <a:latin typeface="Ubuntu"/>
                <a:ea typeface="Ubuntu"/>
                <a:cs typeface="Ubuntu"/>
              </a:rPr>
              <a:t>Reaction Wheels vacuum environment test</a:t>
            </a:r>
          </a:p>
        </p:txBody>
      </p:sp>
      <p:pic>
        <p:nvPicPr>
          <p:cNvPr id="5" name="図 4">
            <a:extLst>
              <a:ext uri="{FF2B5EF4-FFF2-40B4-BE49-F238E27FC236}">
                <a16:creationId xmlns:a16="http://schemas.microsoft.com/office/drawing/2014/main" id="{ACED3D42-A87B-FB44-D72F-F04FE244FB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5719144" y="1056701"/>
            <a:ext cx="5412975" cy="5421264"/>
          </a:xfrm>
          <a:prstGeom prst="rect">
            <a:avLst/>
          </a:prstGeom>
        </p:spPr>
      </p:pic>
      <p:sp>
        <p:nvSpPr>
          <p:cNvPr id="7" name="Slide Number Placeholder 7">
            <a:extLst>
              <a:ext uri="{FF2B5EF4-FFF2-40B4-BE49-F238E27FC236}">
                <a16:creationId xmlns:a16="http://schemas.microsoft.com/office/drawing/2014/main" id="{C40628F1-C66F-ACA6-42B5-BD1D8732352B}"/>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34</a:t>
            </a:fld>
            <a:endParaRPr lang="en-US" sz="4800" b="1" dirty="0">
              <a:solidFill>
                <a:srgbClr val="FF0000"/>
              </a:solidFill>
            </a:endParaRPr>
          </a:p>
        </p:txBody>
      </p:sp>
      <p:pic>
        <p:nvPicPr>
          <p:cNvPr id="8" name="Space Faculty logo" descr="sf_logo.png"/>
          <p:cNvPicPr>
            <a:picLocks noChangeAspect="1"/>
          </p:cNvPicPr>
          <p:nvPr/>
        </p:nvPicPr>
        <p:blipFill>
          <a:blip r:embed="rId3"/>
          <a:stretch>
            <a:fillRect/>
          </a:stretch>
        </p:blipFill>
        <p:spPr>
          <a:xfrm>
            <a:off x="10433614" y="54864"/>
            <a:ext cx="1645610" cy="467650"/>
          </a:xfrm>
          <a:prstGeom prst="rect">
            <a:avLst/>
          </a:prstGeom>
        </p:spPr>
      </p:pic>
    </p:spTree>
    <p:extLst>
      <p:ext uri="{BB962C8B-B14F-4D97-AF65-F5344CB8AC3E}">
        <p14:creationId xmlns:p14="http://schemas.microsoft.com/office/powerpoint/2010/main" val="1574820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1B331-051B-589A-F3B9-1C5177B5EF4E}"/>
              </a:ext>
            </a:extLst>
          </p:cNvPr>
          <p:cNvSpPr>
            <a:spLocks noGrp="1"/>
          </p:cNvSpPr>
          <p:nvPr>
            <p:ph type="title"/>
          </p:nvPr>
        </p:nvSpPr>
        <p:spPr>
          <a:xfrm>
            <a:off x="3646098" y="152400"/>
            <a:ext cx="5366969" cy="677108"/>
          </a:xfrm>
        </p:spPr>
        <p:txBody>
          <a:bodyPr>
            <a:noAutofit/>
          </a:bodyPr>
          <a:lstStyle/>
          <a:p>
            <a:pPr>
              <a:defRPr>
                <a:latin typeface="House Movements Runway"/>
                <a:ea typeface="House Movements Runway"/>
                <a:cs typeface="House Movements Runway"/>
              </a:defRPr>
            </a:pPr>
            <a:r>
              <a:rPr lang="en-PH" sz="4800" b="1" dirty="0">
                <a:latin typeface="House Movements Runway" panose="02020603050405020304" pitchFamily="18" charset="0"/>
                <a:cs typeface="House Movements Runway" panose="02020603050405020304" pitchFamily="18" charset="0"/>
              </a:rPr>
              <a:t>Simulation Results</a:t>
            </a:r>
            <a:endParaRPr lang="en-US" sz="48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6CBF5EB-15B4-E046-377C-545C06134168}"/>
              </a:ext>
            </a:extLst>
          </p:cNvPr>
          <p:cNvSpPr txBox="1">
            <a:spLocks/>
          </p:cNvSpPr>
          <p:nvPr/>
        </p:nvSpPr>
        <p:spPr>
          <a:xfrm>
            <a:off x="381000" y="1219200"/>
            <a:ext cx="8437563" cy="3567139"/>
          </a:xfrm>
          <a:prstGeom prst="rect">
            <a:avLst/>
          </a:prstGeom>
        </p:spPr>
        <p:txBody>
          <a:bodyPr anchor="t"/>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533400" indent="-457200">
              <a:buFont typeface="Wingdings" panose="05000000000000000000" pitchFamily="2" charset="2"/>
              <a:buChar char="q"/>
              <a:defRPr>
                <a:latin typeface="Ubuntu"/>
                <a:ea typeface="Ubuntu"/>
                <a:cs typeface="Ubuntu"/>
              </a:defRPr>
            </a:pPr>
            <a:r>
              <a:rPr lang="en-US" altLang="ja-JP" sz="2800" b="1" kern="0" dirty="0">
                <a:solidFill>
                  <a:sysClr val="windowText" lastClr="000000"/>
                </a:solidFill>
                <a:latin typeface="Ubuntu"/>
                <a:ea typeface="Ubuntu"/>
                <a:cs typeface="Ubuntu"/>
              </a:rPr>
              <a:t>Simulation Results [Generated Torque]</a:t>
            </a:r>
            <a:endParaRPr lang="en-PH" sz="2800" b="1" kern="0" dirty="0">
              <a:solidFill>
                <a:sysClr val="windowText" lastClr="000000"/>
              </a:solidFill>
            </a:endParaRPr>
          </a:p>
        </p:txBody>
      </p:sp>
      <p:pic>
        <p:nvPicPr>
          <p:cNvPr id="5" name="図 1">
            <a:extLst>
              <a:ext uri="{FF2B5EF4-FFF2-40B4-BE49-F238E27FC236}">
                <a16:creationId xmlns:a16="http://schemas.microsoft.com/office/drawing/2014/main" id="{62DFA255-DD23-8A9A-3316-392CFEC21F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8129" y="1770151"/>
            <a:ext cx="9327413" cy="4609054"/>
          </a:xfrm>
          <a:prstGeom prst="rect">
            <a:avLst/>
          </a:prstGeom>
        </p:spPr>
      </p:pic>
      <p:sp>
        <p:nvSpPr>
          <p:cNvPr id="6" name="テキスト ボックス 4">
            <a:extLst>
              <a:ext uri="{FF2B5EF4-FFF2-40B4-BE49-F238E27FC236}">
                <a16:creationId xmlns:a16="http://schemas.microsoft.com/office/drawing/2014/main" id="{292E7C00-48F2-18FA-3005-D7107CE7F2C8}"/>
              </a:ext>
            </a:extLst>
          </p:cNvPr>
          <p:cNvSpPr txBox="1"/>
          <p:nvPr/>
        </p:nvSpPr>
        <p:spPr>
          <a:xfrm rot="16200000">
            <a:off x="-43970" y="2891915"/>
            <a:ext cx="849940" cy="400110"/>
          </a:xfrm>
          <a:prstGeom prst="rect">
            <a:avLst/>
          </a:prstGeom>
          <a:noFill/>
        </p:spPr>
        <p:txBody>
          <a:bodyPr wrap="square" rtlCol="0">
            <a:spAutoFit/>
          </a:bodyPr>
          <a:lstStyle/>
          <a:p>
            <a:pPr>
              <a:defRPr>
                <a:latin typeface="Ubuntu"/>
                <a:ea typeface="Ubuntu"/>
                <a:cs typeface="Ubuntu"/>
              </a:defRPr>
            </a:pPr>
            <a:r>
              <a:rPr kumimoji="1" lang="en-US" altLang="ja-JP" sz="2000" b="1" dirty="0">
                <a:solidFill>
                  <a:schemeClr val="tx1"/>
                </a:solidFill>
                <a:latin typeface="Ubuntu"/>
                <a:ea typeface="Ubuntu"/>
                <a:cs typeface="Ubuntu"/>
              </a:rPr>
              <a:t>[Nm]</a:t>
            </a:r>
            <a:endParaRPr kumimoji="1" lang="ja-JP" altLang="en-US" sz="2000" b="1" dirty="0">
              <a:solidFill>
                <a:schemeClr val="tx1"/>
              </a:solidFill>
            </a:endParaRPr>
          </a:p>
        </p:txBody>
      </p:sp>
      <p:sp>
        <p:nvSpPr>
          <p:cNvPr id="7" name="テキスト ボックス 5">
            <a:extLst>
              <a:ext uri="{FF2B5EF4-FFF2-40B4-BE49-F238E27FC236}">
                <a16:creationId xmlns:a16="http://schemas.microsoft.com/office/drawing/2014/main" id="{64BE4B6C-36DB-A279-61E6-64DD2E72120B}"/>
              </a:ext>
            </a:extLst>
          </p:cNvPr>
          <p:cNvSpPr txBox="1"/>
          <p:nvPr/>
        </p:nvSpPr>
        <p:spPr>
          <a:xfrm>
            <a:off x="4931452" y="6248400"/>
            <a:ext cx="1545547" cy="400110"/>
          </a:xfrm>
          <a:prstGeom prst="rect">
            <a:avLst/>
          </a:prstGeom>
          <a:noFill/>
        </p:spPr>
        <p:txBody>
          <a:bodyPr wrap="square" rtlCol="0">
            <a:spAutoFit/>
          </a:bodyPr>
          <a:lstStyle/>
          <a:p>
            <a:pPr algn="ctr">
              <a:defRPr>
                <a:latin typeface="Ubuntu"/>
                <a:ea typeface="Ubuntu"/>
                <a:cs typeface="Ubuntu"/>
              </a:defRPr>
            </a:pPr>
            <a:r>
              <a:rPr kumimoji="1" lang="en-US" altLang="ja-JP" sz="2000" b="1" dirty="0">
                <a:latin typeface="Ubuntu"/>
                <a:ea typeface="Ubuntu"/>
                <a:cs typeface="Ubuntu"/>
              </a:rPr>
              <a:t>Time [sec]</a:t>
            </a:r>
            <a:endParaRPr kumimoji="1" lang="ja-JP" altLang="en-US" sz="2000" b="1" dirty="0"/>
          </a:p>
        </p:txBody>
      </p:sp>
      <p:sp>
        <p:nvSpPr>
          <p:cNvPr id="9" name="Slide Number Placeholder 7">
            <a:extLst>
              <a:ext uri="{FF2B5EF4-FFF2-40B4-BE49-F238E27FC236}">
                <a16:creationId xmlns:a16="http://schemas.microsoft.com/office/drawing/2014/main" id="{136116B5-A9C1-46A8-C5E1-64397D9BD05A}"/>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35</a:t>
            </a:fld>
            <a:endParaRPr lang="en-US" sz="4800" b="1" dirty="0">
              <a:solidFill>
                <a:srgbClr val="FF0000"/>
              </a:solidFill>
            </a:endParaRPr>
          </a:p>
        </p:txBody>
      </p:sp>
      <p:pic>
        <p:nvPicPr>
          <p:cNvPr id="10" name="Space Faculty logo" descr="sf_logo.png"/>
          <p:cNvPicPr>
            <a:picLocks noChangeAspect="1"/>
          </p:cNvPicPr>
          <p:nvPr/>
        </p:nvPicPr>
        <p:blipFill>
          <a:blip r:embed="rId3"/>
          <a:stretch>
            <a:fillRect/>
          </a:stretch>
        </p:blipFill>
        <p:spPr>
          <a:xfrm>
            <a:off x="10587456" y="54863"/>
            <a:ext cx="1491767" cy="423931"/>
          </a:xfrm>
          <a:prstGeom prst="rect">
            <a:avLst/>
          </a:prstGeom>
        </p:spPr>
      </p:pic>
    </p:spTree>
    <p:extLst>
      <p:ext uri="{BB962C8B-B14F-4D97-AF65-F5344CB8AC3E}">
        <p14:creationId xmlns:p14="http://schemas.microsoft.com/office/powerpoint/2010/main" val="3682398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87B768-E31E-B42F-31D9-A7E723530B11}"/>
              </a:ext>
            </a:extLst>
          </p:cNvPr>
          <p:cNvSpPr>
            <a:spLocks noGrp="1"/>
          </p:cNvSpPr>
          <p:nvPr>
            <p:ph type="title"/>
          </p:nvPr>
        </p:nvSpPr>
        <p:spPr/>
        <p:txBody>
          <a:bodyPr>
            <a:normAutofit/>
          </a:bodyPr>
          <a:lstStyle/>
          <a:p>
            <a:pPr>
              <a:defRPr>
                <a:latin typeface="House Movements Runway"/>
                <a:ea typeface="House Movements Runway"/>
                <a:cs typeface="House Movements Runway"/>
              </a:defRPr>
            </a:pPr>
            <a:r>
              <a:rPr lang="en-US" altLang="ja-JP" sz="4800" b="1" dirty="0">
                <a:latin typeface="House Movements Runway"/>
                <a:ea typeface="House Movements Runway"/>
                <a:cs typeface="House Movements Runway"/>
              </a:rPr>
              <a:t>Fault Mode Effect Analysis</a:t>
            </a:r>
            <a:endParaRPr lang="en-US" sz="4800" b="1" dirty="0"/>
          </a:p>
        </p:txBody>
      </p:sp>
      <p:graphicFrame>
        <p:nvGraphicFramePr>
          <p:cNvPr id="4" name="Table 6">
            <a:extLst>
              <a:ext uri="{FF2B5EF4-FFF2-40B4-BE49-F238E27FC236}">
                <a16:creationId xmlns:a16="http://schemas.microsoft.com/office/drawing/2014/main" id="{DB9CA4DB-E4AB-5DC5-07E0-2EA4F51BF87B}"/>
              </a:ext>
            </a:extLst>
          </p:cNvPr>
          <p:cNvGraphicFramePr>
            <a:graphicFrameLocks noGrp="1"/>
          </p:cNvGraphicFramePr>
          <p:nvPr>
            <p:extLst>
              <p:ext uri="{D42A27DB-BD31-4B8C-83A1-F6EECF244321}">
                <p14:modId xmlns:p14="http://schemas.microsoft.com/office/powerpoint/2010/main" val="2525624264"/>
              </p:ext>
            </p:extLst>
          </p:nvPr>
        </p:nvGraphicFramePr>
        <p:xfrm>
          <a:off x="609600" y="1295400"/>
          <a:ext cx="10524585" cy="5312903"/>
        </p:xfrm>
        <a:graphic>
          <a:graphicData uri="http://schemas.openxmlformats.org/drawingml/2006/table">
            <a:tbl>
              <a:tblPr firstRow="1" bandRow="1">
                <a:tableStyleId>{073A0DAA-6AF3-43AB-8588-CEC1D06C72B9}</a:tableStyleId>
              </a:tblPr>
              <a:tblGrid>
                <a:gridCol w="3508195">
                  <a:extLst>
                    <a:ext uri="{9D8B030D-6E8A-4147-A177-3AD203B41FA5}">
                      <a16:colId xmlns:a16="http://schemas.microsoft.com/office/drawing/2014/main" val="20000"/>
                    </a:ext>
                  </a:extLst>
                </a:gridCol>
                <a:gridCol w="3508195">
                  <a:extLst>
                    <a:ext uri="{9D8B030D-6E8A-4147-A177-3AD203B41FA5}">
                      <a16:colId xmlns:a16="http://schemas.microsoft.com/office/drawing/2014/main" val="20001"/>
                    </a:ext>
                  </a:extLst>
                </a:gridCol>
                <a:gridCol w="3508195">
                  <a:extLst>
                    <a:ext uri="{9D8B030D-6E8A-4147-A177-3AD203B41FA5}">
                      <a16:colId xmlns:a16="http://schemas.microsoft.com/office/drawing/2014/main" val="20002"/>
                    </a:ext>
                  </a:extLst>
                </a:gridCol>
              </a:tblGrid>
              <a:tr h="365660">
                <a:tc>
                  <a:txBody>
                    <a:bodyPr/>
                    <a:lstStyle/>
                    <a:p>
                      <a:pPr>
                        <a:defRPr>
                          <a:latin typeface="Ubuntu"/>
                          <a:ea typeface="Ubuntu"/>
                          <a:cs typeface="Ubuntu"/>
                        </a:defRPr>
                      </a:pPr>
                      <a:r>
                        <a:rPr lang="en-US" dirty="0">
                          <a:latin typeface="Ubuntu"/>
                          <a:ea typeface="Ubuntu"/>
                          <a:cs typeface="Ubuntu"/>
                        </a:rPr>
                        <a:t>Fault</a:t>
                      </a:r>
                      <a:endParaRPr lang="en-GB" dirty="0"/>
                    </a:p>
                  </a:txBody>
                  <a:tcPr/>
                </a:tc>
                <a:tc>
                  <a:txBody>
                    <a:bodyPr/>
                    <a:lstStyle/>
                    <a:p>
                      <a:pPr>
                        <a:defRPr>
                          <a:latin typeface="Ubuntu"/>
                          <a:ea typeface="Ubuntu"/>
                          <a:cs typeface="Ubuntu"/>
                        </a:defRPr>
                      </a:pPr>
                      <a:r>
                        <a:rPr lang="en-US" dirty="0">
                          <a:latin typeface="Ubuntu"/>
                          <a:ea typeface="Ubuntu"/>
                          <a:cs typeface="Ubuntu"/>
                        </a:rPr>
                        <a:t>Effect</a:t>
                      </a:r>
                      <a:endParaRPr lang="en-GB" dirty="0"/>
                    </a:p>
                  </a:txBody>
                  <a:tcPr/>
                </a:tc>
                <a:tc>
                  <a:txBody>
                    <a:bodyPr/>
                    <a:lstStyle/>
                    <a:p>
                      <a:pPr>
                        <a:defRPr>
                          <a:latin typeface="Ubuntu"/>
                          <a:ea typeface="Ubuntu"/>
                          <a:cs typeface="Ubuntu"/>
                        </a:defRPr>
                      </a:pPr>
                      <a:r>
                        <a:rPr lang="en-US" dirty="0">
                          <a:latin typeface="Ubuntu"/>
                          <a:ea typeface="Ubuntu"/>
                          <a:cs typeface="Ubuntu"/>
                        </a:rPr>
                        <a:t>Solution</a:t>
                      </a:r>
                      <a:endParaRPr lang="en-GB" dirty="0"/>
                    </a:p>
                  </a:txBody>
                  <a:tcPr/>
                </a:tc>
                <a:extLst>
                  <a:ext uri="{0D108BD9-81ED-4DB2-BD59-A6C34878D82A}">
                    <a16:rowId xmlns:a16="http://schemas.microsoft.com/office/drawing/2014/main" val="10000"/>
                  </a:ext>
                </a:extLst>
              </a:tr>
              <a:tr h="901628">
                <a:tc>
                  <a:txBody>
                    <a:bodyPr/>
                    <a:lstStyle/>
                    <a:p>
                      <a:pPr>
                        <a:defRPr>
                          <a:latin typeface="Ubuntu"/>
                          <a:ea typeface="Ubuntu"/>
                          <a:cs typeface="Ubuntu"/>
                        </a:defRPr>
                      </a:pPr>
                      <a:r>
                        <a:rPr lang="en-US" dirty="0">
                          <a:latin typeface="Ubuntu"/>
                          <a:ea typeface="Ubuntu"/>
                          <a:cs typeface="Ubuntu"/>
                        </a:rPr>
                        <a:t>GPS</a:t>
                      </a:r>
                      <a:r>
                        <a:rPr lang="en-US" baseline="0" dirty="0">
                          <a:latin typeface="Ubuntu"/>
                          <a:ea typeface="Ubuntu"/>
                          <a:cs typeface="Ubuntu"/>
                        </a:rPr>
                        <a:t> failure</a:t>
                      </a:r>
                      <a:endParaRPr lang="en-GB" dirty="0"/>
                    </a:p>
                  </a:txBody>
                  <a:tcPr/>
                </a:tc>
                <a:tc>
                  <a:txBody>
                    <a:bodyPr/>
                    <a:lstStyle/>
                    <a:p>
                      <a:pPr>
                        <a:defRPr>
                          <a:latin typeface="Ubuntu"/>
                          <a:ea typeface="Ubuntu"/>
                          <a:cs typeface="Ubuntu"/>
                        </a:defRPr>
                      </a:pPr>
                      <a:r>
                        <a:rPr lang="en-US" baseline="0" dirty="0">
                          <a:latin typeface="Ubuntu"/>
                          <a:ea typeface="Ubuntu"/>
                          <a:cs typeface="Ubuntu"/>
                        </a:rPr>
                        <a:t>Location data is not available</a:t>
                      </a:r>
                    </a:p>
                    <a:p>
                      <a:pPr>
                        <a:defRPr>
                          <a:latin typeface="Ubuntu"/>
                          <a:ea typeface="Ubuntu"/>
                          <a:cs typeface="Ubuntu"/>
                        </a:defRPr>
                      </a:pPr>
                      <a:endParaRPr lang="en-GB" dirty="0"/>
                    </a:p>
                  </a:txBody>
                  <a:tcPr/>
                </a:tc>
                <a:tc>
                  <a:txBody>
                    <a:bodyPr/>
                    <a:lstStyle/>
                    <a:p>
                      <a:pPr>
                        <a:defRPr>
                          <a:latin typeface="Ubuntu"/>
                          <a:ea typeface="Ubuntu"/>
                          <a:cs typeface="Ubuntu"/>
                        </a:defRPr>
                      </a:pPr>
                      <a:r>
                        <a:rPr lang="en-US" dirty="0">
                          <a:latin typeface="Ubuntu"/>
                          <a:ea typeface="Ubuntu"/>
                          <a:cs typeface="Ubuntu"/>
                        </a:rPr>
                        <a:t>Get</a:t>
                      </a:r>
                      <a:r>
                        <a:rPr lang="en-US" baseline="0" dirty="0">
                          <a:latin typeface="Ubuntu"/>
                          <a:ea typeface="Ubuntu"/>
                          <a:cs typeface="Ubuntu"/>
                        </a:rPr>
                        <a:t> the position using TLE data</a:t>
                      </a:r>
                      <a:endParaRPr lang="en-GB" dirty="0"/>
                    </a:p>
                  </a:txBody>
                  <a:tcPr/>
                </a:tc>
                <a:extLst>
                  <a:ext uri="{0D108BD9-81ED-4DB2-BD59-A6C34878D82A}">
                    <a16:rowId xmlns:a16="http://schemas.microsoft.com/office/drawing/2014/main" val="10001"/>
                  </a:ext>
                </a:extLst>
              </a:tr>
              <a:tr h="862997">
                <a:tc>
                  <a:txBody>
                    <a:bodyPr/>
                    <a:lstStyle/>
                    <a:p>
                      <a:pPr>
                        <a:defRPr>
                          <a:latin typeface="Ubuntu"/>
                          <a:ea typeface="Ubuntu"/>
                          <a:cs typeface="Ubuntu"/>
                        </a:defRPr>
                      </a:pPr>
                      <a:r>
                        <a:rPr lang="en-US" dirty="0">
                          <a:latin typeface="Ubuntu"/>
                          <a:ea typeface="Ubuntu"/>
                          <a:cs typeface="Ubuntu"/>
                        </a:rPr>
                        <a:t>MTQ</a:t>
                      </a:r>
                      <a:r>
                        <a:rPr lang="en-US" baseline="0" dirty="0">
                          <a:latin typeface="Ubuntu"/>
                          <a:ea typeface="Ubuntu"/>
                          <a:cs typeface="Ubuntu"/>
                        </a:rPr>
                        <a:t> driver IC failure </a:t>
                      </a:r>
                      <a:endParaRPr lang="en-GB" dirty="0"/>
                    </a:p>
                  </a:txBody>
                  <a:tcPr/>
                </a:tc>
                <a:tc>
                  <a:txBody>
                    <a:bodyPr/>
                    <a:lstStyle/>
                    <a:p>
                      <a:pPr>
                        <a:defRPr>
                          <a:latin typeface="Ubuntu"/>
                          <a:ea typeface="Ubuntu"/>
                          <a:cs typeface="Ubuntu"/>
                        </a:defRPr>
                      </a:pPr>
                      <a:r>
                        <a:rPr lang="en-US" dirty="0">
                          <a:latin typeface="Ubuntu"/>
                          <a:ea typeface="Ubuntu"/>
                          <a:cs typeface="Ubuntu"/>
                        </a:rPr>
                        <a:t>One MTQ failure</a:t>
                      </a:r>
                      <a:endParaRPr lang="en-GB" dirty="0"/>
                    </a:p>
                  </a:txBody>
                  <a:tcPr/>
                </a:tc>
                <a:tc>
                  <a:txBody>
                    <a:bodyPr/>
                    <a:lstStyle/>
                    <a:p>
                      <a:pPr>
                        <a:defRPr>
                          <a:latin typeface="Ubuntu"/>
                          <a:ea typeface="Ubuntu"/>
                          <a:cs typeface="Ubuntu"/>
                        </a:defRPr>
                      </a:pPr>
                      <a:r>
                        <a:rPr lang="en-US" dirty="0">
                          <a:latin typeface="Ubuntu"/>
                          <a:ea typeface="Ubuntu"/>
                          <a:cs typeface="Ubuntu"/>
                        </a:rPr>
                        <a:t>Stabilize by other</a:t>
                      </a:r>
                      <a:r>
                        <a:rPr lang="en-US" baseline="0" dirty="0">
                          <a:latin typeface="Ubuntu"/>
                          <a:ea typeface="Ubuntu"/>
                          <a:cs typeface="Ubuntu"/>
                        </a:rPr>
                        <a:t> two MTQs</a:t>
                      </a:r>
                      <a:endParaRPr lang="en-GB" dirty="0"/>
                    </a:p>
                  </a:txBody>
                  <a:tcPr/>
                </a:tc>
                <a:extLst>
                  <a:ext uri="{0D108BD9-81ED-4DB2-BD59-A6C34878D82A}">
                    <a16:rowId xmlns:a16="http://schemas.microsoft.com/office/drawing/2014/main" val="10002"/>
                  </a:ext>
                </a:extLst>
              </a:tr>
              <a:tr h="365660">
                <a:tc>
                  <a:txBody>
                    <a:bodyPr/>
                    <a:lstStyle/>
                    <a:p>
                      <a:pPr>
                        <a:defRPr>
                          <a:latin typeface="Ubuntu"/>
                          <a:ea typeface="Ubuntu"/>
                          <a:cs typeface="Ubuntu"/>
                        </a:defRPr>
                      </a:pPr>
                      <a:r>
                        <a:rPr lang="en-US" dirty="0">
                          <a:latin typeface="Ubuntu"/>
                          <a:ea typeface="Ubuntu"/>
                          <a:cs typeface="Ubuntu"/>
                        </a:rPr>
                        <a:t>Two Driver ICs</a:t>
                      </a:r>
                      <a:r>
                        <a:rPr lang="en-US" baseline="0" dirty="0">
                          <a:latin typeface="Ubuntu"/>
                          <a:ea typeface="Ubuntu"/>
                          <a:cs typeface="Ubuntu"/>
                        </a:rPr>
                        <a:t> failure</a:t>
                      </a:r>
                      <a:endParaRPr lang="en-GB" dirty="0"/>
                    </a:p>
                  </a:txBody>
                  <a:tcPr/>
                </a:tc>
                <a:tc>
                  <a:txBody>
                    <a:bodyPr/>
                    <a:lstStyle/>
                    <a:p>
                      <a:pPr>
                        <a:defRPr>
                          <a:latin typeface="Ubuntu"/>
                          <a:ea typeface="Ubuntu"/>
                          <a:cs typeface="Ubuntu"/>
                        </a:defRPr>
                      </a:pPr>
                      <a:r>
                        <a:rPr lang="en-US" dirty="0">
                          <a:latin typeface="Ubuntu"/>
                          <a:ea typeface="Ubuntu"/>
                          <a:cs typeface="Ubuntu"/>
                        </a:rPr>
                        <a:t>Two MTQs failure</a:t>
                      </a:r>
                      <a:endParaRPr lang="en-GB" dirty="0"/>
                    </a:p>
                  </a:txBody>
                  <a:tcPr/>
                </a:tc>
                <a:tc>
                  <a:txBody>
                    <a:bodyPr/>
                    <a:lstStyle/>
                    <a:p>
                      <a:pPr>
                        <a:defRPr>
                          <a:latin typeface="Ubuntu"/>
                          <a:ea typeface="Ubuntu"/>
                          <a:cs typeface="Ubuntu"/>
                        </a:defRPr>
                      </a:pPr>
                      <a:r>
                        <a:rPr lang="en-US" dirty="0">
                          <a:latin typeface="Ubuntu"/>
                          <a:ea typeface="Ubuntu"/>
                          <a:cs typeface="Ubuntu"/>
                        </a:rPr>
                        <a:t>Stabilize by one MTQ</a:t>
                      </a:r>
                      <a:endParaRPr lang="en-GB" dirty="0"/>
                    </a:p>
                  </a:txBody>
                  <a:tcPr/>
                </a:tc>
                <a:extLst>
                  <a:ext uri="{0D108BD9-81ED-4DB2-BD59-A6C34878D82A}">
                    <a16:rowId xmlns:a16="http://schemas.microsoft.com/office/drawing/2014/main" val="10003"/>
                  </a:ext>
                </a:extLst>
              </a:tr>
              <a:tr h="631139">
                <a:tc>
                  <a:txBody>
                    <a:bodyPr/>
                    <a:lstStyle/>
                    <a:p>
                      <a:pPr>
                        <a:defRPr>
                          <a:latin typeface="Ubuntu"/>
                          <a:ea typeface="Ubuntu"/>
                          <a:cs typeface="Ubuntu"/>
                        </a:defRPr>
                      </a:pPr>
                      <a:r>
                        <a:rPr lang="en-US" dirty="0">
                          <a:latin typeface="Ubuntu"/>
                          <a:ea typeface="Ubuntu"/>
                          <a:cs typeface="Ubuntu"/>
                        </a:rPr>
                        <a:t>All(three) Driver ICs</a:t>
                      </a:r>
                      <a:r>
                        <a:rPr lang="en-US" baseline="0" dirty="0">
                          <a:latin typeface="Ubuntu"/>
                          <a:ea typeface="Ubuntu"/>
                          <a:cs typeface="Ubuntu"/>
                        </a:rPr>
                        <a:t> failure</a:t>
                      </a:r>
                      <a:endParaRPr lang="en-GB" dirty="0"/>
                    </a:p>
                  </a:txBody>
                  <a:tcPr/>
                </a:tc>
                <a:tc>
                  <a:txBody>
                    <a:bodyPr/>
                    <a:lstStyle/>
                    <a:p>
                      <a:pPr>
                        <a:defRPr>
                          <a:latin typeface="Ubuntu"/>
                          <a:ea typeface="Ubuntu"/>
                          <a:cs typeface="Ubuntu"/>
                        </a:defRPr>
                      </a:pPr>
                      <a:r>
                        <a:rPr lang="en-US" dirty="0">
                          <a:latin typeface="Ubuntu"/>
                          <a:ea typeface="Ubuntu"/>
                          <a:cs typeface="Ubuntu"/>
                        </a:rPr>
                        <a:t>Three MTQs failure</a:t>
                      </a:r>
                      <a:endParaRPr lang="en-GB" dirty="0"/>
                    </a:p>
                  </a:txBody>
                  <a:tcPr/>
                </a:tc>
                <a:tc>
                  <a:txBody>
                    <a:bodyPr/>
                    <a:lstStyle/>
                    <a:p>
                      <a:pPr>
                        <a:defRPr>
                          <a:latin typeface="Ubuntu"/>
                          <a:ea typeface="Ubuntu"/>
                          <a:cs typeface="Ubuntu"/>
                        </a:defRPr>
                      </a:pPr>
                      <a:r>
                        <a:rPr lang="en-US" dirty="0">
                          <a:latin typeface="Ubuntu"/>
                          <a:ea typeface="Ubuntu"/>
                          <a:cs typeface="Ubuntu"/>
                        </a:rPr>
                        <a:t>Switch to alternative actuators (e.g., reaction wheels) or enter safe hold mode</a:t>
                      </a:r>
                      <a:endParaRPr lang="en-GB" dirty="0"/>
                    </a:p>
                  </a:txBody>
                  <a:tcPr/>
                </a:tc>
                <a:extLst>
                  <a:ext uri="{0D108BD9-81ED-4DB2-BD59-A6C34878D82A}">
                    <a16:rowId xmlns:a16="http://schemas.microsoft.com/office/drawing/2014/main" val="10004"/>
                  </a:ext>
                </a:extLst>
              </a:tr>
              <a:tr h="631139">
                <a:tc>
                  <a:txBody>
                    <a:bodyPr/>
                    <a:lstStyle/>
                    <a:p>
                      <a:pPr>
                        <a:defRPr>
                          <a:latin typeface="Ubuntu"/>
                          <a:ea typeface="Ubuntu"/>
                          <a:cs typeface="Ubuntu"/>
                        </a:defRPr>
                      </a:pPr>
                      <a:r>
                        <a:rPr lang="en-US" dirty="0">
                          <a:latin typeface="Ubuntu"/>
                          <a:ea typeface="Ubuntu"/>
                          <a:cs typeface="Ubuntu"/>
                        </a:rPr>
                        <a:t>Solar</a:t>
                      </a:r>
                      <a:r>
                        <a:rPr lang="en-US" baseline="0" dirty="0">
                          <a:latin typeface="Ubuntu"/>
                          <a:ea typeface="Ubuntu"/>
                          <a:cs typeface="Ubuntu"/>
                        </a:rPr>
                        <a:t> cell information failure</a:t>
                      </a:r>
                      <a:endParaRPr lang="en-GB" dirty="0"/>
                    </a:p>
                  </a:txBody>
                  <a:tcPr/>
                </a:tc>
                <a:tc>
                  <a:txBody>
                    <a:bodyPr/>
                    <a:lstStyle/>
                    <a:p>
                      <a:pPr>
                        <a:defRPr>
                          <a:latin typeface="Ubuntu"/>
                          <a:ea typeface="Ubuntu"/>
                          <a:cs typeface="Ubuntu"/>
                        </a:defRPr>
                      </a:pPr>
                      <a:r>
                        <a:rPr lang="en-US" dirty="0">
                          <a:latin typeface="Ubuntu"/>
                          <a:ea typeface="Ubuntu"/>
                          <a:cs typeface="Ubuntu"/>
                        </a:rPr>
                        <a:t>Attitude determination error</a:t>
                      </a:r>
                      <a:endParaRPr lang="en-GB" dirty="0"/>
                    </a:p>
                  </a:txBody>
                  <a:tcPr/>
                </a:tc>
                <a:tc>
                  <a:txBody>
                    <a:bodyPr/>
                    <a:lstStyle/>
                    <a:p>
                      <a:pPr>
                        <a:defRPr>
                          <a:latin typeface="Ubuntu"/>
                          <a:ea typeface="Ubuntu"/>
                          <a:cs typeface="Ubuntu"/>
                        </a:defRPr>
                      </a:pPr>
                      <a:r>
                        <a:rPr lang="en-US" dirty="0">
                          <a:latin typeface="Ubuntu"/>
                          <a:ea typeface="Ubuntu"/>
                          <a:cs typeface="Ubuntu"/>
                        </a:rPr>
                        <a:t>Fall back to magnetometer-only or star tracker data (if available)</a:t>
                      </a:r>
                      <a:endParaRPr lang="en-GB" dirty="0"/>
                    </a:p>
                  </a:txBody>
                  <a:tcPr/>
                </a:tc>
                <a:extLst>
                  <a:ext uri="{0D108BD9-81ED-4DB2-BD59-A6C34878D82A}">
                    <a16:rowId xmlns:a16="http://schemas.microsoft.com/office/drawing/2014/main" val="10005"/>
                  </a:ext>
                </a:extLst>
              </a:tr>
              <a:tr h="631139">
                <a:tc>
                  <a:txBody>
                    <a:bodyPr/>
                    <a:lstStyle/>
                    <a:p>
                      <a:pPr>
                        <a:defRPr>
                          <a:latin typeface="Ubuntu"/>
                          <a:ea typeface="Ubuntu"/>
                          <a:cs typeface="Ubuntu"/>
                        </a:defRPr>
                      </a:pPr>
                      <a:r>
                        <a:rPr lang="en-US" dirty="0">
                          <a:latin typeface="Ubuntu"/>
                          <a:ea typeface="Ubuntu"/>
                          <a:cs typeface="Ubuntu"/>
                        </a:rPr>
                        <a:t>ADCS MCU</a:t>
                      </a:r>
                      <a:r>
                        <a:rPr lang="en-US" baseline="0" dirty="0">
                          <a:latin typeface="Ubuntu"/>
                          <a:ea typeface="Ubuntu"/>
                          <a:cs typeface="Ubuntu"/>
                        </a:rPr>
                        <a:t> failure</a:t>
                      </a:r>
                      <a:endParaRPr lang="en-GB" dirty="0"/>
                    </a:p>
                  </a:txBody>
                  <a:tcPr/>
                </a:tc>
                <a:tc>
                  <a:txBody>
                    <a:bodyPr/>
                    <a:lstStyle/>
                    <a:p>
                      <a:pPr>
                        <a:defRPr>
                          <a:latin typeface="Ubuntu"/>
                          <a:ea typeface="Ubuntu"/>
                          <a:cs typeface="Ubuntu"/>
                        </a:defRPr>
                      </a:pPr>
                      <a:r>
                        <a:rPr lang="en-US" dirty="0">
                          <a:latin typeface="Ubuntu"/>
                          <a:ea typeface="Ubuntu"/>
                          <a:cs typeface="Ubuntu"/>
                        </a:rPr>
                        <a:t>ADCS mission</a:t>
                      </a:r>
                      <a:r>
                        <a:rPr lang="en-US" baseline="0" dirty="0">
                          <a:latin typeface="Ubuntu"/>
                          <a:ea typeface="Ubuntu"/>
                          <a:cs typeface="Ubuntu"/>
                        </a:rPr>
                        <a:t> fails</a:t>
                      </a:r>
                      <a:endParaRPr lang="en-GB" dirty="0"/>
                    </a:p>
                  </a:txBody>
                  <a:tcPr/>
                </a:tc>
                <a:tc>
                  <a:txBody>
                    <a:bodyPr/>
                    <a:lstStyle/>
                    <a:p>
                      <a:pPr>
                        <a:defRPr>
                          <a:latin typeface="Ubuntu"/>
                          <a:ea typeface="Ubuntu"/>
                          <a:cs typeface="Ubuntu"/>
                        </a:defRPr>
                      </a:pPr>
                      <a:r>
                        <a:rPr lang="en-US" dirty="0">
                          <a:latin typeface="Ubuntu"/>
                          <a:ea typeface="Ubuntu"/>
                          <a:cs typeface="Ubuntu"/>
                        </a:rPr>
                        <a:t>Reset</a:t>
                      </a:r>
                      <a:r>
                        <a:rPr lang="en-US" baseline="0" dirty="0">
                          <a:latin typeface="Ubuntu"/>
                          <a:ea typeface="Ubuntu"/>
                          <a:cs typeface="Ubuntu"/>
                        </a:rPr>
                        <a:t> the power of ADCS MCU</a:t>
                      </a:r>
                    </a:p>
                  </a:txBody>
                  <a:tcPr/>
                </a:tc>
                <a:extLst>
                  <a:ext uri="{0D108BD9-81ED-4DB2-BD59-A6C34878D82A}">
                    <a16:rowId xmlns:a16="http://schemas.microsoft.com/office/drawing/2014/main" val="10006"/>
                  </a:ext>
                </a:extLst>
              </a:tr>
              <a:tr h="631139">
                <a:tc>
                  <a:txBody>
                    <a:bodyPr/>
                    <a:lstStyle/>
                    <a:p>
                      <a:pPr>
                        <a:defRPr>
                          <a:latin typeface="Ubuntu"/>
                          <a:ea typeface="Ubuntu"/>
                          <a:cs typeface="Ubuntu"/>
                        </a:defRPr>
                      </a:pPr>
                      <a:r>
                        <a:rPr lang="en-GB" dirty="0">
                          <a:latin typeface="Ubuntu"/>
                          <a:ea typeface="Ubuntu"/>
                          <a:cs typeface="Ubuntu"/>
                        </a:rPr>
                        <a:t>Reaction</a:t>
                      </a:r>
                      <a:r>
                        <a:rPr lang="en-GB" baseline="0" dirty="0">
                          <a:latin typeface="Ubuntu"/>
                          <a:ea typeface="Ubuntu"/>
                          <a:cs typeface="Ubuntu"/>
                        </a:rPr>
                        <a:t> Wheels failure</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Ubuntu"/>
                          <a:ea typeface="Ubuntu"/>
                          <a:cs typeface="Ubuntu"/>
                        </a:defRPr>
                      </a:pPr>
                      <a:r>
                        <a:rPr lang="en-US" altLang="ja-JP" dirty="0">
                          <a:latin typeface="Ubuntu"/>
                          <a:ea typeface="Ubuntu"/>
                          <a:cs typeface="Ubuntu"/>
                        </a:rPr>
                        <a:t>Pointing mission</a:t>
                      </a:r>
                      <a:r>
                        <a:rPr lang="en-US" altLang="ja-JP" baseline="0" dirty="0">
                          <a:latin typeface="Ubuntu"/>
                          <a:ea typeface="Ubuntu"/>
                          <a:cs typeface="Ubuntu"/>
                        </a:rPr>
                        <a:t> fails</a:t>
                      </a:r>
                      <a:endParaRPr lang="en-GB" altLang="ja-JP" dirty="0"/>
                    </a:p>
                  </a:txBody>
                  <a:tcPr/>
                </a:tc>
                <a:tc>
                  <a:txBody>
                    <a:bodyPr/>
                    <a:lstStyle/>
                    <a:p>
                      <a:pPr>
                        <a:defRPr>
                          <a:latin typeface="Ubuntu"/>
                          <a:ea typeface="Ubuntu"/>
                          <a:cs typeface="Ubuntu"/>
                        </a:defRPr>
                      </a:pPr>
                      <a:r>
                        <a:rPr lang="en-US" baseline="0" dirty="0">
                          <a:latin typeface="Ubuntu"/>
                          <a:ea typeface="Ubuntu"/>
                          <a:cs typeface="Ubuntu"/>
                        </a:rPr>
                        <a:t>Stop it and </a:t>
                      </a:r>
                      <a:r>
                        <a:rPr lang="en-US" altLang="ja-JP" dirty="0">
                          <a:latin typeface="Ubuntu"/>
                          <a:ea typeface="Ubuntu"/>
                          <a:cs typeface="Ubuntu"/>
                        </a:rPr>
                        <a:t>Stabilize by MTQ</a:t>
                      </a:r>
                      <a:endParaRPr lang="en-US" baseline="0" dirty="0"/>
                    </a:p>
                  </a:txBody>
                  <a:tcPr/>
                </a:tc>
                <a:extLst>
                  <a:ext uri="{0D108BD9-81ED-4DB2-BD59-A6C34878D82A}">
                    <a16:rowId xmlns:a16="http://schemas.microsoft.com/office/drawing/2014/main" val="3529674535"/>
                  </a:ext>
                </a:extLst>
              </a:tr>
            </a:tbl>
          </a:graphicData>
        </a:graphic>
      </p:graphicFrame>
      <p:sp>
        <p:nvSpPr>
          <p:cNvPr id="5" name="Slide Number Placeholder 7">
            <a:extLst>
              <a:ext uri="{FF2B5EF4-FFF2-40B4-BE49-F238E27FC236}">
                <a16:creationId xmlns:a16="http://schemas.microsoft.com/office/drawing/2014/main" id="{9ECD9914-1BB7-4040-10EA-6BDC897E0C71}"/>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36</a:t>
            </a:fld>
            <a:endParaRPr lang="en-US" sz="4800" b="1" dirty="0">
              <a:solidFill>
                <a:srgbClr val="FF0000"/>
              </a:solidFill>
            </a:endParaRPr>
          </a:p>
        </p:txBody>
      </p:sp>
      <p:pic>
        <p:nvPicPr>
          <p:cNvPr id="6" name="Space Faculty logo" descr="sf_logo.png"/>
          <p:cNvPicPr>
            <a:picLocks noChangeAspect="1"/>
          </p:cNvPicPr>
          <p:nvPr/>
        </p:nvPicPr>
        <p:blipFill>
          <a:blip r:embed="rId2"/>
          <a:stretch>
            <a:fillRect/>
          </a:stretch>
        </p:blipFill>
        <p:spPr>
          <a:xfrm>
            <a:off x="10625140" y="54864"/>
            <a:ext cx="1454084" cy="413222"/>
          </a:xfrm>
          <a:prstGeom prst="rect">
            <a:avLst/>
          </a:prstGeom>
        </p:spPr>
      </p:pic>
    </p:spTree>
    <p:extLst>
      <p:ext uri="{BB962C8B-B14F-4D97-AF65-F5344CB8AC3E}">
        <p14:creationId xmlns:p14="http://schemas.microsoft.com/office/powerpoint/2010/main" val="2052605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070" y="48195"/>
            <a:ext cx="6086681" cy="867377"/>
          </a:xfrm>
        </p:spPr>
        <p:txBody>
          <a:bodyPr/>
          <a:lstStyle/>
          <a:p>
            <a:pPr>
              <a:defRPr>
                <a:latin typeface="House Movements Runway"/>
                <a:ea typeface="House Movements Runway"/>
                <a:cs typeface="House Movements Runway"/>
              </a:defRPr>
            </a:pPr>
            <a:r>
              <a:rPr lang="en-US" sz="4400" b="1" dirty="0">
                <a:latin typeface="House Movements Runway" panose="02020603050405020304" pitchFamily="18" charset="0"/>
                <a:cs typeface="House Movements Runway" panose="02020603050405020304" pitchFamily="18" charset="0"/>
              </a:rPr>
              <a:t>Air Bearing Table Test </a:t>
            </a:r>
          </a:p>
        </p:txBody>
      </p:sp>
      <p:grpSp>
        <p:nvGrpSpPr>
          <p:cNvPr id="4" name="Group 3">
            <a:extLst>
              <a:ext uri="{FF2B5EF4-FFF2-40B4-BE49-F238E27FC236}">
                <a16:creationId xmlns:a16="http://schemas.microsoft.com/office/drawing/2014/main" id="{F35000CB-42F2-4FC5-557B-851AEA3A41DF}"/>
              </a:ext>
            </a:extLst>
          </p:cNvPr>
          <p:cNvGrpSpPr/>
          <p:nvPr/>
        </p:nvGrpSpPr>
        <p:grpSpPr>
          <a:xfrm>
            <a:off x="73758" y="1343495"/>
            <a:ext cx="7317642" cy="4247317"/>
            <a:chOff x="1941442" y="1774589"/>
            <a:chExt cx="8332946" cy="4555417"/>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10152" r="16661"/>
            <a:stretch/>
          </p:blipFill>
          <p:spPr>
            <a:xfrm>
              <a:off x="6878053" y="1784138"/>
              <a:ext cx="2842964" cy="2916000"/>
            </a:xfrm>
            <a:prstGeom prst="rect">
              <a:avLst/>
            </a:prstGeom>
          </p:spPr>
        </p:pic>
        <p:sp>
          <p:nvSpPr>
            <p:cNvPr id="11" name="Rounded Rectangle 10"/>
            <p:cNvSpPr/>
            <p:nvPr/>
          </p:nvSpPr>
          <p:spPr>
            <a:xfrm>
              <a:off x="5050825" y="5470504"/>
              <a:ext cx="5151230" cy="422031"/>
            </a:xfrm>
            <a:prstGeom prst="roundRect">
              <a:avLst/>
            </a:prstGeom>
            <a:solidFill>
              <a:schemeClr val="accent1">
                <a:alpha val="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latin typeface="Ubuntu"/>
                  <a:ea typeface="Ubuntu"/>
                  <a:cs typeface="Ubuntu"/>
                </a:defRPr>
              </a:pPr>
              <a:r>
                <a:rPr lang="en-US" sz="2000" b="1" dirty="0">
                  <a:solidFill>
                    <a:prstClr val="black"/>
                  </a:solidFill>
                  <a:latin typeface="Ubuntu"/>
                  <a:ea typeface="Ubuntu"/>
                  <a:cs typeface="Ubuntu"/>
                </a:rPr>
                <a:t>Satellite stopped with pointing the </a:t>
              </a:r>
            </a:p>
            <a:p>
              <a:pPr algn="ctr" defTabSz="457200">
                <a:defRPr>
                  <a:latin typeface="Ubuntu"/>
                  <a:ea typeface="Ubuntu"/>
                  <a:cs typeface="Ubuntu"/>
                </a:defRPr>
              </a:pPr>
              <a:r>
                <a:rPr lang="en-US" sz="2000" b="1" dirty="0">
                  <a:solidFill>
                    <a:prstClr val="black"/>
                  </a:solidFill>
                  <a:latin typeface="Ubuntu"/>
                  <a:ea typeface="Ubuntu"/>
                  <a:cs typeface="Ubuntu"/>
                </a:rPr>
                <a:t>direction we expected </a:t>
              </a:r>
            </a:p>
          </p:txBody>
        </p:sp>
        <p:pic>
          <p:nvPicPr>
            <p:cNvPr id="8" name="図 7" descr="屋内, 座る, キッチン, 小さい が含まれている画像&#10;&#10;自動的に生成された説明">
              <a:extLst>
                <a:ext uri="{FF2B5EF4-FFF2-40B4-BE49-F238E27FC236}">
                  <a16:creationId xmlns:a16="http://schemas.microsoft.com/office/drawing/2014/main" id="{ACF1718D-2AA6-4209-8F00-643BCC46BAB6}"/>
                </a:ext>
              </a:extLst>
            </p:cNvPr>
            <p:cNvPicPr>
              <a:picLocks noChangeAspect="1"/>
            </p:cNvPicPr>
            <p:nvPr/>
          </p:nvPicPr>
          <p:blipFill>
            <a:blip r:embed="rId3"/>
            <a:stretch>
              <a:fillRect/>
            </a:stretch>
          </p:blipFill>
          <p:spPr>
            <a:xfrm>
              <a:off x="2470983" y="1774589"/>
              <a:ext cx="2985578" cy="2935098"/>
            </a:xfrm>
            <a:prstGeom prst="rect">
              <a:avLst/>
            </a:prstGeom>
          </p:spPr>
        </p:pic>
        <p:sp>
          <p:nvSpPr>
            <p:cNvPr id="14" name="矢印: 左カーブ 13">
              <a:extLst>
                <a:ext uri="{FF2B5EF4-FFF2-40B4-BE49-F238E27FC236}">
                  <a16:creationId xmlns:a16="http://schemas.microsoft.com/office/drawing/2014/main" id="{238C3F28-9C44-4744-B3D2-BEDA59B19CC1}"/>
                </a:ext>
              </a:extLst>
            </p:cNvPr>
            <p:cNvSpPr/>
            <p:nvPr/>
          </p:nvSpPr>
          <p:spPr>
            <a:xfrm>
              <a:off x="3956744" y="2087091"/>
              <a:ext cx="1013159" cy="1684376"/>
            </a:xfrm>
            <a:prstGeom prst="curvedLef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latin typeface="Ubuntu"/>
                  <a:ea typeface="Ubuntu"/>
                  <a:cs typeface="Ubuntu"/>
                </a:defRPr>
              </a:pPr>
              <a:endParaRPr kumimoji="1" lang="ja-JP" altLang="en-US">
                <a:solidFill>
                  <a:prstClr val="black"/>
                </a:solidFill>
                <a:latin typeface="Times New Roman"/>
                <a:ea typeface="ＭＳ ゴシック"/>
              </a:endParaRPr>
            </a:p>
          </p:txBody>
        </p:sp>
        <p:cxnSp>
          <p:nvCxnSpPr>
            <p:cNvPr id="18" name="直線矢印コネクタ 17">
              <a:extLst>
                <a:ext uri="{FF2B5EF4-FFF2-40B4-BE49-F238E27FC236}">
                  <a16:creationId xmlns:a16="http://schemas.microsoft.com/office/drawing/2014/main" id="{7E72B7E2-7853-4269-A1A2-DBD524190BE6}"/>
                </a:ext>
              </a:extLst>
            </p:cNvPr>
            <p:cNvCxnSpPr>
              <a:cxnSpLocks/>
            </p:cNvCxnSpPr>
            <p:nvPr/>
          </p:nvCxnSpPr>
          <p:spPr>
            <a:xfrm flipV="1">
              <a:off x="3059827" y="4062564"/>
              <a:ext cx="719014" cy="967627"/>
            </a:xfrm>
            <a:prstGeom prst="straightConnector1">
              <a:avLst/>
            </a:prstGeom>
            <a:ln w="3810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BC49DF1B-5630-450B-97B4-7D17F9B03175}"/>
                </a:ext>
              </a:extLst>
            </p:cNvPr>
            <p:cNvSpPr txBox="1"/>
            <p:nvPr/>
          </p:nvSpPr>
          <p:spPr>
            <a:xfrm>
              <a:off x="2193864" y="5123392"/>
              <a:ext cx="2641021" cy="396123"/>
            </a:xfrm>
            <a:prstGeom prst="rect">
              <a:avLst/>
            </a:prstGeom>
            <a:noFill/>
          </p:spPr>
          <p:txBody>
            <a:bodyPr wrap="square" rtlCol="0">
              <a:spAutoFit/>
            </a:bodyPr>
            <a:lstStyle/>
            <a:p>
              <a:pPr defTabSz="457200">
                <a:defRPr>
                  <a:latin typeface="Ubuntu"/>
                  <a:ea typeface="Ubuntu"/>
                  <a:cs typeface="Ubuntu"/>
                </a:defRPr>
              </a:pPr>
              <a:r>
                <a:rPr kumimoji="1" lang="en-US" altLang="ja-JP" b="1" dirty="0">
                  <a:solidFill>
                    <a:prstClr val="black"/>
                  </a:solidFill>
                  <a:latin typeface="Ubuntu"/>
                  <a:ea typeface="Ubuntu"/>
                  <a:cs typeface="Ubuntu"/>
                </a:rPr>
                <a:t>Air bearing table</a:t>
              </a:r>
              <a:endParaRPr kumimoji="1" lang="ja-JP" altLang="en-US" b="1" dirty="0">
                <a:solidFill>
                  <a:prstClr val="black"/>
                </a:solidFill>
                <a:latin typeface="Times New Roman"/>
                <a:ea typeface="ＭＳ ゴシック"/>
              </a:endParaRPr>
            </a:p>
          </p:txBody>
        </p:sp>
        <p:sp>
          <p:nvSpPr>
            <p:cNvPr id="20" name="四角形: 角を丸くする 19">
              <a:extLst>
                <a:ext uri="{FF2B5EF4-FFF2-40B4-BE49-F238E27FC236}">
                  <a16:creationId xmlns:a16="http://schemas.microsoft.com/office/drawing/2014/main" id="{F330A758-6EF6-424B-A6F5-0766B025B4D0}"/>
                </a:ext>
              </a:extLst>
            </p:cNvPr>
            <p:cNvSpPr/>
            <p:nvPr/>
          </p:nvSpPr>
          <p:spPr>
            <a:xfrm>
              <a:off x="1941442" y="5080047"/>
              <a:ext cx="2985578" cy="1249959"/>
            </a:xfrm>
            <a:prstGeom prst="roundRect">
              <a:avLst/>
            </a:prstGeom>
            <a:no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latin typeface="Ubuntu"/>
                  <a:ea typeface="Ubuntu"/>
                  <a:cs typeface="Ubuntu"/>
                </a:defRPr>
              </a:pPr>
              <a:endParaRPr kumimoji="1" lang="ja-JP" altLang="en-US">
                <a:solidFill>
                  <a:prstClr val="white"/>
                </a:solidFill>
                <a:latin typeface="Times New Roman"/>
                <a:ea typeface="ＭＳ ゴシック"/>
              </a:endParaRPr>
            </a:p>
          </p:txBody>
        </p:sp>
        <p:sp>
          <p:nvSpPr>
            <p:cNvPr id="21" name="四角形: 角を丸くする 20">
              <a:extLst>
                <a:ext uri="{FF2B5EF4-FFF2-40B4-BE49-F238E27FC236}">
                  <a16:creationId xmlns:a16="http://schemas.microsoft.com/office/drawing/2014/main" id="{02B46B96-CA17-4B38-88B6-49EB6C361077}"/>
                </a:ext>
              </a:extLst>
            </p:cNvPr>
            <p:cNvSpPr/>
            <p:nvPr/>
          </p:nvSpPr>
          <p:spPr>
            <a:xfrm>
              <a:off x="5003713" y="5030191"/>
              <a:ext cx="5270675" cy="1249959"/>
            </a:xfrm>
            <a:prstGeom prst="roundRect">
              <a:avLst/>
            </a:prstGeom>
            <a:noFill/>
            <a:ln w="57150">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latin typeface="Ubuntu"/>
                  <a:ea typeface="Ubuntu"/>
                  <a:cs typeface="Ubuntu"/>
                </a:defRPr>
              </a:pPr>
              <a:endParaRPr kumimoji="1" lang="ja-JP" altLang="en-US">
                <a:solidFill>
                  <a:prstClr val="white"/>
                </a:solidFill>
                <a:latin typeface="Times New Roman"/>
                <a:ea typeface="ＭＳ ゴシック"/>
              </a:endParaRPr>
            </a:p>
          </p:txBody>
        </p:sp>
        <p:sp>
          <p:nvSpPr>
            <p:cNvPr id="7" name="テキスト ボックス 6">
              <a:extLst>
                <a:ext uri="{FF2B5EF4-FFF2-40B4-BE49-F238E27FC236}">
                  <a16:creationId xmlns:a16="http://schemas.microsoft.com/office/drawing/2014/main" id="{120A5456-F94B-4E24-86B5-989328D376C5}"/>
                </a:ext>
              </a:extLst>
            </p:cNvPr>
            <p:cNvSpPr txBox="1"/>
            <p:nvPr/>
          </p:nvSpPr>
          <p:spPr>
            <a:xfrm>
              <a:off x="2368106" y="5569370"/>
              <a:ext cx="2536489" cy="646331"/>
            </a:xfrm>
            <a:prstGeom prst="rect">
              <a:avLst/>
            </a:prstGeom>
            <a:noFill/>
          </p:spPr>
          <p:txBody>
            <a:bodyPr wrap="square" rtlCol="0">
              <a:spAutoFit/>
            </a:bodyPr>
            <a:lstStyle/>
            <a:p>
              <a:pPr defTabSz="457200">
                <a:defRPr>
                  <a:latin typeface="Ubuntu"/>
                  <a:ea typeface="Ubuntu"/>
                  <a:cs typeface="Ubuntu"/>
                </a:defRPr>
              </a:pPr>
              <a:r>
                <a:rPr kumimoji="1" lang="en-US" altLang="ja-JP" dirty="0">
                  <a:solidFill>
                    <a:prstClr val="black"/>
                  </a:solidFill>
                  <a:latin typeface="Ubuntu"/>
                  <a:ea typeface="Ubuntu"/>
                  <a:cs typeface="Ubuntu"/>
                </a:rPr>
                <a:t>This table rotate with very few friction</a:t>
              </a:r>
              <a:endParaRPr kumimoji="1" lang="ja-JP" altLang="en-US" dirty="0">
                <a:solidFill>
                  <a:prstClr val="black"/>
                </a:solidFill>
                <a:latin typeface="Times New Roman"/>
                <a:ea typeface="ＭＳ ゴシック"/>
              </a:endParaRPr>
            </a:p>
          </p:txBody>
        </p:sp>
      </p:grpSp>
      <p:sp>
        <p:nvSpPr>
          <p:cNvPr id="6" name="TextBox 5">
            <a:extLst>
              <a:ext uri="{FF2B5EF4-FFF2-40B4-BE49-F238E27FC236}">
                <a16:creationId xmlns:a16="http://schemas.microsoft.com/office/drawing/2014/main" id="{BEC4886D-F7E0-58C3-0807-A259B62BB68D}"/>
              </a:ext>
            </a:extLst>
          </p:cNvPr>
          <p:cNvSpPr txBox="1"/>
          <p:nvPr/>
        </p:nvSpPr>
        <p:spPr>
          <a:xfrm>
            <a:off x="7415666" y="847960"/>
            <a:ext cx="4664507" cy="5755422"/>
          </a:xfrm>
          <a:prstGeom prst="rect">
            <a:avLst/>
          </a:prstGeom>
          <a:noFill/>
        </p:spPr>
        <p:txBody>
          <a:bodyPr wrap="square">
            <a:spAutoFit/>
          </a:bodyPr>
          <a:lstStyle/>
          <a:p>
            <a:pPr marL="285750" indent="-285750" algn="just">
              <a:buFont typeface="Wingdings" panose="05000000000000000000" pitchFamily="2" charset="2"/>
              <a:buChar char="q"/>
              <a:defRPr>
                <a:latin typeface="Ubuntu"/>
                <a:ea typeface="Ubuntu"/>
                <a:cs typeface="Ubuntu"/>
              </a:defRPr>
            </a:pPr>
            <a:r>
              <a:rPr lang="en-US" sz="2300" dirty="0">
                <a:latin typeface="Ubuntu"/>
                <a:ea typeface="Ubuntu"/>
                <a:cs typeface="Ubuntu"/>
              </a:rPr>
              <a:t>An air-bearing table simulates the microgravity and free-floating environment of space on the ground.</a:t>
            </a:r>
          </a:p>
          <a:p>
            <a:pPr marL="285750" indent="-285750" algn="just">
              <a:buFont typeface="Wingdings" panose="05000000000000000000" pitchFamily="2" charset="2"/>
              <a:buChar char="q"/>
              <a:defRPr>
                <a:latin typeface="Ubuntu"/>
                <a:ea typeface="Ubuntu"/>
                <a:cs typeface="Ubuntu"/>
              </a:defRPr>
            </a:pPr>
            <a:r>
              <a:rPr lang="en-US" sz="2300" dirty="0">
                <a:latin typeface="Ubuntu"/>
                <a:ea typeface="Ubuntu"/>
                <a:cs typeface="Ubuntu"/>
              </a:rPr>
              <a:t>It allows a satellite or its mock-up to rotate freely with minimal friction in 2 or 3 axes.</a:t>
            </a:r>
          </a:p>
          <a:p>
            <a:pPr marL="285750" indent="-285750" algn="just">
              <a:buFont typeface="Wingdings" panose="05000000000000000000" pitchFamily="2" charset="2"/>
              <a:buChar char="q"/>
              <a:defRPr>
                <a:latin typeface="Ubuntu"/>
                <a:ea typeface="Ubuntu"/>
                <a:cs typeface="Ubuntu"/>
              </a:defRPr>
            </a:pPr>
            <a:r>
              <a:rPr lang="en-US" sz="2300" dirty="0">
                <a:latin typeface="Ubuntu"/>
                <a:ea typeface="Ubuntu"/>
                <a:cs typeface="Ubuntu"/>
              </a:rPr>
              <a:t>This setup is used to test and validate ADCS algorithms and hardware in a realistic, frictionless rotational environment before launch.</a:t>
            </a:r>
          </a:p>
          <a:p>
            <a:pPr marL="285750" indent="-285750" algn="just">
              <a:buFont typeface="Wingdings" panose="05000000000000000000" pitchFamily="2" charset="2"/>
              <a:buChar char="q"/>
              <a:defRPr>
                <a:latin typeface="Ubuntu"/>
                <a:ea typeface="Ubuntu"/>
                <a:cs typeface="Ubuntu"/>
              </a:defRPr>
            </a:pPr>
            <a:r>
              <a:rPr lang="en-US" sz="2300" dirty="0">
                <a:latin typeface="Ubuntu"/>
                <a:ea typeface="Ubuntu"/>
                <a:cs typeface="Ubuntu"/>
              </a:rPr>
              <a:t>Helps observe satellite behavior during detumbling, pointing, or maneuvers in a controlled lab setup.</a:t>
            </a:r>
          </a:p>
        </p:txBody>
      </p:sp>
      <p:sp>
        <p:nvSpPr>
          <p:cNvPr id="9" name="Slide Number Placeholder 7">
            <a:extLst>
              <a:ext uri="{FF2B5EF4-FFF2-40B4-BE49-F238E27FC236}">
                <a16:creationId xmlns:a16="http://schemas.microsoft.com/office/drawing/2014/main" id="{667CED86-5D6E-2ADF-C1C0-76B5BD123D9A}"/>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37</a:t>
            </a:fld>
            <a:endParaRPr lang="en-US" sz="4800" b="1" dirty="0">
              <a:solidFill>
                <a:srgbClr val="FF0000"/>
              </a:solidFill>
            </a:endParaRPr>
          </a:p>
        </p:txBody>
      </p:sp>
      <p:pic>
        <p:nvPicPr>
          <p:cNvPr id="22" name="Space Faculty logo" descr="sf_logo.png"/>
          <p:cNvPicPr>
            <a:picLocks noChangeAspect="1"/>
          </p:cNvPicPr>
          <p:nvPr/>
        </p:nvPicPr>
        <p:blipFill>
          <a:blip r:embed="rId4"/>
          <a:stretch>
            <a:fillRect/>
          </a:stretch>
        </p:blipFill>
        <p:spPr>
          <a:xfrm>
            <a:off x="10471916" y="54863"/>
            <a:ext cx="1607307" cy="456765"/>
          </a:xfrm>
          <a:prstGeom prst="rect">
            <a:avLst/>
          </a:prstGeom>
        </p:spPr>
      </p:pic>
    </p:spTree>
    <p:extLst>
      <p:ext uri="{BB962C8B-B14F-4D97-AF65-F5344CB8AC3E}">
        <p14:creationId xmlns:p14="http://schemas.microsoft.com/office/powerpoint/2010/main" val="485242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1667580" y="293830"/>
            <a:ext cx="10041341" cy="566928"/>
          </a:xfrm>
          <a:prstGeom prst="rect">
            <a:avLst/>
          </a:prstGeom>
          <a:noFill/>
          <a:ln/>
        </p:spPr>
        <p:txBody>
          <a:bodyPr wrap="square" lIns="0" tIns="0" rIns="0" bIns="0" rtlCol="0" anchor="ctr"/>
          <a:lstStyle/>
          <a:p>
            <a:pPr marL="0" indent="0">
              <a:buNone/>
              <a:defRPr>
                <a:latin typeface="Ubuntu"/>
                <a:ea typeface="Ubuntu"/>
                <a:cs typeface="Ubuntu"/>
              </a:defRPr>
            </a:pPr>
            <a:r>
              <a:rPr lang="en-US" sz="4800" b="1" dirty="0">
                <a:solidFill>
                  <a:srgbClr val="1E2761"/>
                </a:solidFill>
                <a:latin typeface="Ubuntu" pitchFamily="34" charset="0"/>
                <a:ea typeface="Ubuntu" pitchFamily="34" charset="-122"/>
                <a:cs typeface="Ubuntu" pitchFamily="34" charset="-120"/>
              </a:rPr>
              <a:t>Attitude System Testing</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2000" dirty="0">
                <a:solidFill>
                  <a:srgbClr val="5F6B8C"/>
                </a:solidFill>
                <a:latin typeface="Ubuntu" pitchFamily="34" charset="0"/>
                <a:ea typeface="Ubuntu" pitchFamily="34" charset="-122"/>
                <a:cs typeface="Ubuntu" pitchFamily="34" charset="-120"/>
              </a:rPr>
              <a:t>Once the ADCS is designed and the control method and algorithms are coded, it is necessary to test the correct functioning of the system. </a:t>
            </a:r>
            <a:endParaRPr lang="en-US" sz="2000" dirty="0"/>
          </a:p>
        </p:txBody>
      </p:sp>
      <p:sp>
        <p:nvSpPr>
          <p:cNvPr id="6" name="Shape 4"/>
          <p:cNvSpPr/>
          <p:nvPr/>
        </p:nvSpPr>
        <p:spPr>
          <a:xfrm>
            <a:off x="658368" y="1828800"/>
            <a:ext cx="5303520" cy="3657600"/>
          </a:xfrm>
          <a:prstGeom prst="roundRect">
            <a:avLst>
              <a:gd name="adj" fmla="val 1250"/>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pic>
        <p:nvPicPr>
          <p:cNvPr id="7" name="Image 0" descr="/home/claude/adcs/L8p29-003.jpg"/>
          <p:cNvPicPr>
            <a:picLocks noChangeAspect="1"/>
          </p:cNvPicPr>
          <p:nvPr/>
        </p:nvPicPr>
        <p:blipFill>
          <a:blip r:embed="rId3"/>
          <a:stretch>
            <a:fillRect/>
          </a:stretch>
        </p:blipFill>
        <p:spPr>
          <a:xfrm>
            <a:off x="1444378" y="1938528"/>
            <a:ext cx="3731501" cy="3438144"/>
          </a:xfrm>
          <a:prstGeom prst="rect">
            <a:avLst/>
          </a:prstGeom>
        </p:spPr>
      </p:pic>
      <p:sp>
        <p:nvSpPr>
          <p:cNvPr id="8" name="Text 5"/>
          <p:cNvSpPr txBox="1"/>
          <p:nvPr/>
        </p:nvSpPr>
        <p:spPr>
          <a:xfrm>
            <a:off x="658368" y="5541264"/>
            <a:ext cx="5303520" cy="29260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050" i="1" dirty="0">
                <a:solidFill>
                  <a:srgbClr val="5F6B8C"/>
                </a:solidFill>
                <a:latin typeface="Ubuntu" pitchFamily="34" charset="0"/>
                <a:ea typeface="Ubuntu" pitchFamily="34" charset="-122"/>
                <a:cs typeface="Ubuntu" pitchFamily="34" charset="-120"/>
              </a:rPr>
              <a:t>An attitude control test facility</a:t>
            </a:r>
            <a:endParaRPr lang="en-US" sz="1050" dirty="0"/>
          </a:p>
        </p:txBody>
      </p:sp>
      <p:sp>
        <p:nvSpPr>
          <p:cNvPr id="9" name="Shape 6"/>
          <p:cNvSpPr/>
          <p:nvPr/>
        </p:nvSpPr>
        <p:spPr>
          <a:xfrm>
            <a:off x="6309360" y="1865376"/>
            <a:ext cx="5212080" cy="1225296"/>
          </a:xfrm>
          <a:prstGeom prst="roundRect">
            <a:avLst>
              <a:gd name="adj" fmla="val 3731"/>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0" name="Shape 7"/>
          <p:cNvSpPr/>
          <p:nvPr/>
        </p:nvSpPr>
        <p:spPr>
          <a:xfrm>
            <a:off x="6309360" y="1865376"/>
            <a:ext cx="50292" cy="1225296"/>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1" name="Text 8"/>
          <p:cNvSpPr txBox="1"/>
          <p:nvPr/>
        </p:nvSpPr>
        <p:spPr>
          <a:xfrm>
            <a:off x="6565392" y="2011680"/>
            <a:ext cx="475488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600" b="1" dirty="0">
                <a:solidFill>
                  <a:srgbClr val="1E2761"/>
                </a:solidFill>
                <a:latin typeface="Ubuntu" pitchFamily="34" charset="0"/>
                <a:ea typeface="Ubuntu" pitchFamily="34" charset="-122"/>
                <a:cs typeface="Ubuntu" pitchFamily="34" charset="-120"/>
              </a:rPr>
              <a:t>Spherical air bearing</a:t>
            </a:r>
            <a:endParaRPr lang="en-US" sz="1600" dirty="0"/>
          </a:p>
        </p:txBody>
      </p:sp>
      <p:sp>
        <p:nvSpPr>
          <p:cNvPr id="12" name="Text 9"/>
          <p:cNvSpPr txBox="1"/>
          <p:nvPr/>
        </p:nvSpPr>
        <p:spPr>
          <a:xfrm>
            <a:off x="6565392" y="2340864"/>
            <a:ext cx="4754880" cy="658368"/>
          </a:xfrm>
          <a:prstGeom prst="rect">
            <a:avLst/>
          </a:prstGeom>
          <a:noFill/>
          <a:ln/>
        </p:spPr>
        <p:txBody>
          <a:bodyPr wrap="square" lIns="0" tIns="0" rIns="0" bIns="0" rtlCol="0" anchor="ctr"/>
          <a:lstStyle/>
          <a:p>
            <a:pPr marL="0" indent="0">
              <a:lnSpc>
                <a:spcPct val="120000"/>
              </a:lnSpc>
              <a:buNone/>
              <a:defRPr>
                <a:latin typeface="Ubuntu"/>
                <a:ea typeface="Ubuntu"/>
                <a:cs typeface="Ubuntu"/>
              </a:defRPr>
            </a:pPr>
            <a:r>
              <a:rPr lang="en-US" sz="1200" dirty="0">
                <a:solidFill>
                  <a:srgbClr val="3C4657"/>
                </a:solidFill>
                <a:latin typeface="Ubuntu" pitchFamily="34" charset="0"/>
                <a:ea typeface="Ubuntu" pitchFamily="34" charset="-122"/>
                <a:cs typeface="Ubuntu" pitchFamily="34" charset="-120"/>
              </a:rPr>
              <a:t>Responsible to generate a frictionless movement, to simulate the orbit conditions.</a:t>
            </a:r>
            <a:endParaRPr lang="en-US" sz="1200" dirty="0"/>
          </a:p>
        </p:txBody>
      </p:sp>
      <p:sp>
        <p:nvSpPr>
          <p:cNvPr id="13" name="Shape 10"/>
          <p:cNvSpPr/>
          <p:nvPr/>
        </p:nvSpPr>
        <p:spPr>
          <a:xfrm>
            <a:off x="6309360" y="3236976"/>
            <a:ext cx="5212080" cy="1225296"/>
          </a:xfrm>
          <a:prstGeom prst="roundRect">
            <a:avLst>
              <a:gd name="adj" fmla="val 3731"/>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4" name="Shape 11"/>
          <p:cNvSpPr/>
          <p:nvPr/>
        </p:nvSpPr>
        <p:spPr>
          <a:xfrm>
            <a:off x="6309360" y="3236976"/>
            <a:ext cx="50292" cy="1225296"/>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5" name="Text 12"/>
          <p:cNvSpPr txBox="1"/>
          <p:nvPr/>
        </p:nvSpPr>
        <p:spPr>
          <a:xfrm>
            <a:off x="6565392" y="3383280"/>
            <a:ext cx="475488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600" b="1" dirty="0">
                <a:solidFill>
                  <a:srgbClr val="1E2761"/>
                </a:solidFill>
                <a:latin typeface="Ubuntu" pitchFamily="34" charset="0"/>
                <a:ea typeface="Ubuntu" pitchFamily="34" charset="-122"/>
                <a:cs typeface="Ubuntu" pitchFamily="34" charset="-120"/>
              </a:rPr>
              <a:t>Magnetic coils</a:t>
            </a:r>
            <a:endParaRPr lang="en-US" sz="1600" dirty="0"/>
          </a:p>
        </p:txBody>
      </p:sp>
      <p:sp>
        <p:nvSpPr>
          <p:cNvPr id="16" name="Text 13"/>
          <p:cNvSpPr txBox="1"/>
          <p:nvPr/>
        </p:nvSpPr>
        <p:spPr>
          <a:xfrm>
            <a:off x="6565392" y="3712464"/>
            <a:ext cx="4754880" cy="658368"/>
          </a:xfrm>
          <a:prstGeom prst="rect">
            <a:avLst/>
          </a:prstGeom>
          <a:noFill/>
          <a:ln/>
        </p:spPr>
        <p:txBody>
          <a:bodyPr wrap="square" lIns="0" tIns="0" rIns="0" bIns="0" rtlCol="0" anchor="ctr"/>
          <a:lstStyle/>
          <a:p>
            <a:pPr marL="0" indent="0">
              <a:lnSpc>
                <a:spcPct val="120000"/>
              </a:lnSpc>
              <a:buNone/>
              <a:defRPr>
                <a:latin typeface="Ubuntu"/>
                <a:ea typeface="Ubuntu"/>
                <a:cs typeface="Ubuntu"/>
              </a:defRPr>
            </a:pPr>
            <a:r>
              <a:rPr lang="en-US" sz="1200" dirty="0">
                <a:solidFill>
                  <a:srgbClr val="3C4657"/>
                </a:solidFill>
                <a:latin typeface="Ubuntu" pitchFamily="34" charset="0"/>
                <a:ea typeface="Ubuntu" pitchFamily="34" charset="-122"/>
                <a:cs typeface="Ubuntu" pitchFamily="34" charset="-120"/>
              </a:rPr>
              <a:t>The magnetic field of the Earth is simulated by magnetic coils.</a:t>
            </a:r>
            <a:endParaRPr lang="en-US" sz="1200" dirty="0"/>
          </a:p>
        </p:txBody>
      </p:sp>
      <p:sp>
        <p:nvSpPr>
          <p:cNvPr id="17" name="Shape 14"/>
          <p:cNvSpPr/>
          <p:nvPr/>
        </p:nvSpPr>
        <p:spPr>
          <a:xfrm>
            <a:off x="6309360" y="4608576"/>
            <a:ext cx="5212080" cy="1225296"/>
          </a:xfrm>
          <a:prstGeom prst="roundRect">
            <a:avLst>
              <a:gd name="adj" fmla="val 3731"/>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8" name="Shape 15"/>
          <p:cNvSpPr/>
          <p:nvPr/>
        </p:nvSpPr>
        <p:spPr>
          <a:xfrm>
            <a:off x="6309360" y="4608576"/>
            <a:ext cx="50292" cy="1225296"/>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9" name="Text 16"/>
          <p:cNvSpPr txBox="1"/>
          <p:nvPr/>
        </p:nvSpPr>
        <p:spPr>
          <a:xfrm>
            <a:off x="6565392" y="4754880"/>
            <a:ext cx="475488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600" b="1" dirty="0">
                <a:solidFill>
                  <a:srgbClr val="1E2761"/>
                </a:solidFill>
                <a:latin typeface="Ubuntu" pitchFamily="34" charset="0"/>
                <a:ea typeface="Ubuntu" pitchFamily="34" charset="-122"/>
                <a:cs typeface="Ubuntu" pitchFamily="34" charset="-120"/>
              </a:rPr>
              <a:t>Sun simulator</a:t>
            </a:r>
            <a:endParaRPr lang="en-US" sz="1600" dirty="0"/>
          </a:p>
        </p:txBody>
      </p:sp>
      <p:sp>
        <p:nvSpPr>
          <p:cNvPr id="20" name="Text 17"/>
          <p:cNvSpPr txBox="1"/>
          <p:nvPr/>
        </p:nvSpPr>
        <p:spPr>
          <a:xfrm>
            <a:off x="6565392" y="5084064"/>
            <a:ext cx="4754880" cy="658368"/>
          </a:xfrm>
          <a:prstGeom prst="rect">
            <a:avLst/>
          </a:prstGeom>
          <a:noFill/>
          <a:ln/>
        </p:spPr>
        <p:txBody>
          <a:bodyPr wrap="square" lIns="0" tIns="0" rIns="0" bIns="0" rtlCol="0" anchor="ctr"/>
          <a:lstStyle/>
          <a:p>
            <a:pPr marL="0" indent="0">
              <a:lnSpc>
                <a:spcPct val="120000"/>
              </a:lnSpc>
              <a:buNone/>
              <a:defRPr>
                <a:latin typeface="Ubuntu"/>
                <a:ea typeface="Ubuntu"/>
                <a:cs typeface="Ubuntu"/>
              </a:defRPr>
            </a:pPr>
            <a:r>
              <a:rPr lang="en-US" sz="1200" dirty="0">
                <a:solidFill>
                  <a:srgbClr val="3C4657"/>
                </a:solidFill>
                <a:latin typeface="Ubuntu" pitchFamily="34" charset="0"/>
                <a:ea typeface="Ubuntu" pitchFamily="34" charset="-122"/>
                <a:cs typeface="Ubuntu" pitchFamily="34" charset="-120"/>
              </a:rPr>
              <a:t>A Sun simulator is put in place, so the Sun sensors have a real source to measure.</a:t>
            </a:r>
            <a:endParaRPr lang="en-US" sz="1200" dirty="0"/>
          </a:p>
        </p:txBody>
      </p:sp>
      <p:sp>
        <p:nvSpPr>
          <p:cNvPr id="21" name="Text 18"/>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Pointing and Attitude Control</a:t>
            </a:r>
            <a:endParaRPr lang="en-US" sz="950" dirty="0"/>
          </a:p>
        </p:txBody>
      </p:sp>
      <p:sp>
        <p:nvSpPr>
          <p:cNvPr id="24" name="Slide Number Placeholder 7">
            <a:extLst>
              <a:ext uri="{FF2B5EF4-FFF2-40B4-BE49-F238E27FC236}">
                <a16:creationId xmlns:a16="http://schemas.microsoft.com/office/drawing/2014/main" id="{7C7BAC6E-4574-FA44-849C-A3C4811F6B44}"/>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38</a:t>
            </a:fld>
            <a:endParaRPr lang="en-US" sz="4800" b="1" dirty="0">
              <a:solidFill>
                <a:srgbClr val="FF0000"/>
              </a:solidFill>
            </a:endParaRPr>
          </a:p>
        </p:txBody>
      </p:sp>
      <p:pic>
        <p:nvPicPr>
          <p:cNvPr id="25" name="Space Faculty logo" descr="sf_logo.png"/>
          <p:cNvPicPr>
            <a:picLocks noChangeAspect="1"/>
          </p:cNvPicPr>
          <p:nvPr/>
        </p:nvPicPr>
        <p:blipFill>
          <a:blip r:embed="rId4"/>
          <a:stretch>
            <a:fillRect/>
          </a:stretch>
        </p:blipFill>
        <p:spPr>
          <a:xfrm>
            <a:off x="10557046" y="54863"/>
            <a:ext cx="1522178" cy="43257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1998338" y="338328"/>
            <a:ext cx="8540611" cy="566928"/>
          </a:xfrm>
          <a:prstGeom prst="rect">
            <a:avLst/>
          </a:prstGeom>
          <a:noFill/>
          <a:ln/>
        </p:spPr>
        <p:txBody>
          <a:bodyPr wrap="square" lIns="0" tIns="0" rIns="0" bIns="0" rtlCol="0" anchor="ctr"/>
          <a:lstStyle/>
          <a:p>
            <a:pPr marL="0" indent="0">
              <a:buNone/>
              <a:defRPr>
                <a:latin typeface="Ubuntu"/>
                <a:ea typeface="Ubuntu"/>
                <a:cs typeface="Ubuntu"/>
              </a:defRPr>
            </a:pPr>
            <a:r>
              <a:rPr lang="en-US" sz="4800" b="1" dirty="0">
                <a:solidFill>
                  <a:srgbClr val="1E2761"/>
                </a:solidFill>
                <a:latin typeface="Ubuntu" pitchFamily="34" charset="0"/>
                <a:ea typeface="Ubuntu" pitchFamily="34" charset="-122"/>
                <a:cs typeface="Ubuntu" pitchFamily="34" charset="-120"/>
              </a:rPr>
              <a:t>A CubeSat Attitude Board</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1450" dirty="0">
                <a:solidFill>
                  <a:srgbClr val="5F6B8C"/>
                </a:solidFill>
                <a:latin typeface="Ubuntu" pitchFamily="34" charset="0"/>
                <a:ea typeface="Ubuntu" pitchFamily="34" charset="-122"/>
                <a:cs typeface="Ubuntu" pitchFamily="34" charset="-120"/>
              </a:rPr>
              <a:t>Determination and control on a single PC-104 board, at the smallest practical scale.</a:t>
            </a:r>
            <a:endParaRPr lang="en-US" sz="1450" dirty="0"/>
          </a:p>
        </p:txBody>
      </p:sp>
      <p:sp>
        <p:nvSpPr>
          <p:cNvPr id="6" name="Shape 4"/>
          <p:cNvSpPr/>
          <p:nvPr/>
        </p:nvSpPr>
        <p:spPr>
          <a:xfrm>
            <a:off x="658368" y="1828800"/>
            <a:ext cx="6675120" cy="3840480"/>
          </a:xfrm>
          <a:prstGeom prst="roundRect">
            <a:avLst>
              <a:gd name="adj" fmla="val 1190"/>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pic>
        <p:nvPicPr>
          <p:cNvPr id="7" name="Image 0" descr="/home/claude/plat/p4c.jpg"/>
          <p:cNvPicPr>
            <a:picLocks noChangeAspect="1"/>
          </p:cNvPicPr>
          <p:nvPr/>
        </p:nvPicPr>
        <p:blipFill>
          <a:blip r:embed="rId3"/>
          <a:stretch>
            <a:fillRect/>
          </a:stretch>
        </p:blipFill>
        <p:spPr>
          <a:xfrm>
            <a:off x="841248" y="2113008"/>
            <a:ext cx="6309360" cy="3272063"/>
          </a:xfrm>
          <a:prstGeom prst="rect">
            <a:avLst/>
          </a:prstGeom>
        </p:spPr>
      </p:pic>
      <p:sp>
        <p:nvSpPr>
          <p:cNvPr id="8" name="Text 5"/>
          <p:cNvSpPr txBox="1"/>
          <p:nvPr/>
        </p:nvSpPr>
        <p:spPr>
          <a:xfrm>
            <a:off x="658368" y="5724144"/>
            <a:ext cx="6675120" cy="292608"/>
          </a:xfrm>
          <a:prstGeom prst="rect">
            <a:avLst/>
          </a:prstGeom>
          <a:noFill/>
          <a:ln/>
        </p:spPr>
        <p:txBody>
          <a:bodyPr wrap="square" lIns="0" tIns="0" rIns="0" bIns="0" rtlCol="0" anchor="ctr"/>
          <a:lstStyle/>
          <a:p>
            <a:pPr marL="0" indent="0" algn="ctr">
              <a:buNone/>
              <a:defRPr>
                <a:latin typeface="Ubuntu"/>
                <a:ea typeface="Ubuntu"/>
                <a:cs typeface="Ubuntu"/>
              </a:defRPr>
            </a:pPr>
            <a:r>
              <a:rPr lang="en-US" sz="1050" i="1" dirty="0">
                <a:solidFill>
                  <a:srgbClr val="5F6B8C"/>
                </a:solidFill>
                <a:latin typeface="Ubuntu" pitchFamily="34" charset="0"/>
                <a:ea typeface="Ubuntu" pitchFamily="34" charset="-122"/>
                <a:cs typeface="Ubuntu" pitchFamily="34" charset="-120"/>
              </a:rPr>
              <a:t>Attitude determination and control board layout</a:t>
            </a:r>
            <a:endParaRPr lang="en-US" sz="1050" dirty="0"/>
          </a:p>
        </p:txBody>
      </p:sp>
      <p:sp>
        <p:nvSpPr>
          <p:cNvPr id="9" name="Shape 6"/>
          <p:cNvSpPr/>
          <p:nvPr/>
        </p:nvSpPr>
        <p:spPr>
          <a:xfrm>
            <a:off x="7482429" y="1649526"/>
            <a:ext cx="3977640" cy="640080"/>
          </a:xfrm>
          <a:prstGeom prst="roundRect">
            <a:avLst>
              <a:gd name="adj" fmla="val 7143"/>
            </a:avLst>
          </a:prstGeom>
          <a:solidFill>
            <a:srgbClr val="E3EBFB"/>
          </a:solidFill>
          <a:ln w="12700">
            <a:solidFill>
              <a:srgbClr val="E3EBFB"/>
            </a:solidFill>
            <a:prstDash val="solid"/>
          </a:ln>
        </p:spPr>
        <p:txBody>
          <a:bodyPr/>
          <a:lstStyle/>
          <a:p>
            <a:pPr>
              <a:defRPr>
                <a:latin typeface="Ubuntu"/>
                <a:ea typeface="Ubuntu"/>
                <a:cs typeface="Ubuntu"/>
              </a:defRPr>
            </a:pPr>
            <a:endParaRPr lang="en-US"/>
          </a:p>
        </p:txBody>
      </p:sp>
      <p:sp>
        <p:nvSpPr>
          <p:cNvPr id="10" name="Text 7"/>
          <p:cNvSpPr txBox="1"/>
          <p:nvPr/>
        </p:nvSpPr>
        <p:spPr>
          <a:xfrm>
            <a:off x="7692741" y="1722678"/>
            <a:ext cx="36576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Inertial measurement unit</a:t>
            </a:r>
            <a:endParaRPr lang="en-US" sz="1250" dirty="0"/>
          </a:p>
        </p:txBody>
      </p:sp>
      <p:sp>
        <p:nvSpPr>
          <p:cNvPr id="11" name="Text 8"/>
          <p:cNvSpPr txBox="1"/>
          <p:nvPr/>
        </p:nvSpPr>
        <p:spPr>
          <a:xfrm>
            <a:off x="7692741" y="1978710"/>
            <a:ext cx="365760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100" dirty="0">
                <a:solidFill>
                  <a:srgbClr val="3C4657"/>
                </a:solidFill>
                <a:latin typeface="Ubuntu" pitchFamily="34" charset="0"/>
                <a:ea typeface="Ubuntu" pitchFamily="34" charset="-122"/>
                <a:cs typeface="Ubuntu" pitchFamily="34" charset="-120"/>
              </a:rPr>
              <a:t>Rotation rates about each axis</a:t>
            </a:r>
            <a:endParaRPr lang="en-US" sz="1100" dirty="0"/>
          </a:p>
        </p:txBody>
      </p:sp>
      <p:sp>
        <p:nvSpPr>
          <p:cNvPr id="12" name="Shape 9"/>
          <p:cNvSpPr/>
          <p:nvPr/>
        </p:nvSpPr>
        <p:spPr>
          <a:xfrm>
            <a:off x="7516368" y="2740559"/>
            <a:ext cx="3977640" cy="640080"/>
          </a:xfrm>
          <a:prstGeom prst="roundRect">
            <a:avLst>
              <a:gd name="adj" fmla="val 7143"/>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3" name="Text 10"/>
          <p:cNvSpPr txBox="1"/>
          <p:nvPr/>
        </p:nvSpPr>
        <p:spPr>
          <a:xfrm>
            <a:off x="7692741" y="2813711"/>
            <a:ext cx="36576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Sun sensors</a:t>
            </a:r>
            <a:endParaRPr lang="en-US" sz="1250" dirty="0"/>
          </a:p>
        </p:txBody>
      </p:sp>
      <p:sp>
        <p:nvSpPr>
          <p:cNvPr id="14" name="Text 11"/>
          <p:cNvSpPr txBox="1"/>
          <p:nvPr/>
        </p:nvSpPr>
        <p:spPr>
          <a:xfrm>
            <a:off x="7692741" y="3069743"/>
            <a:ext cx="365760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100" dirty="0">
                <a:solidFill>
                  <a:srgbClr val="3C4657"/>
                </a:solidFill>
                <a:latin typeface="Ubuntu" pitchFamily="34" charset="0"/>
                <a:ea typeface="Ubuntu" pitchFamily="34" charset="-122"/>
                <a:cs typeface="Ubuntu" pitchFamily="34" charset="-120"/>
              </a:rPr>
              <a:t>One per side, giving direction to the light source</a:t>
            </a:r>
            <a:endParaRPr lang="en-US" sz="1100" dirty="0"/>
          </a:p>
        </p:txBody>
      </p:sp>
      <p:sp>
        <p:nvSpPr>
          <p:cNvPr id="15" name="Shape 12"/>
          <p:cNvSpPr/>
          <p:nvPr/>
        </p:nvSpPr>
        <p:spPr>
          <a:xfrm>
            <a:off x="7482429" y="3648456"/>
            <a:ext cx="3977640" cy="640080"/>
          </a:xfrm>
          <a:prstGeom prst="roundRect">
            <a:avLst>
              <a:gd name="adj" fmla="val 7143"/>
            </a:avLst>
          </a:prstGeom>
          <a:solidFill>
            <a:srgbClr val="E3EBFB"/>
          </a:solidFill>
          <a:ln w="12700">
            <a:solidFill>
              <a:srgbClr val="E3EBFB"/>
            </a:solidFill>
            <a:prstDash val="solid"/>
          </a:ln>
        </p:spPr>
        <p:txBody>
          <a:bodyPr/>
          <a:lstStyle/>
          <a:p>
            <a:pPr>
              <a:defRPr>
                <a:latin typeface="Ubuntu"/>
                <a:ea typeface="Ubuntu"/>
                <a:cs typeface="Ubuntu"/>
              </a:defRPr>
            </a:pPr>
            <a:endParaRPr lang="en-US"/>
          </a:p>
        </p:txBody>
      </p:sp>
      <p:sp>
        <p:nvSpPr>
          <p:cNvPr id="16" name="Text 13"/>
          <p:cNvSpPr txBox="1"/>
          <p:nvPr/>
        </p:nvSpPr>
        <p:spPr>
          <a:xfrm>
            <a:off x="7692741" y="3721608"/>
            <a:ext cx="36576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Navigation module</a:t>
            </a:r>
            <a:endParaRPr lang="en-US" sz="1250" dirty="0"/>
          </a:p>
        </p:txBody>
      </p:sp>
      <p:sp>
        <p:nvSpPr>
          <p:cNvPr id="17" name="Text 14"/>
          <p:cNvSpPr txBox="1"/>
          <p:nvPr/>
        </p:nvSpPr>
        <p:spPr>
          <a:xfrm>
            <a:off x="7692741" y="3977640"/>
            <a:ext cx="365760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100" dirty="0">
                <a:solidFill>
                  <a:srgbClr val="3C4657"/>
                </a:solidFill>
                <a:latin typeface="Ubuntu" pitchFamily="34" charset="0"/>
                <a:ea typeface="Ubuntu" pitchFamily="34" charset="-122"/>
                <a:cs typeface="Ubuntu" pitchFamily="34" charset="-120"/>
              </a:rPr>
              <a:t>Position, used during ground testing</a:t>
            </a:r>
            <a:endParaRPr lang="en-US" sz="1100" dirty="0"/>
          </a:p>
        </p:txBody>
      </p:sp>
      <p:sp>
        <p:nvSpPr>
          <p:cNvPr id="18" name="Shape 15"/>
          <p:cNvSpPr/>
          <p:nvPr/>
        </p:nvSpPr>
        <p:spPr>
          <a:xfrm>
            <a:off x="7543800" y="4424901"/>
            <a:ext cx="3977640" cy="640080"/>
          </a:xfrm>
          <a:prstGeom prst="roundRect">
            <a:avLst>
              <a:gd name="adj" fmla="val 7143"/>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9" name="Text 16"/>
          <p:cNvSpPr txBox="1"/>
          <p:nvPr/>
        </p:nvSpPr>
        <p:spPr>
          <a:xfrm>
            <a:off x="7555992" y="4552917"/>
            <a:ext cx="36576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Reaction wheel and motor</a:t>
            </a:r>
            <a:endParaRPr lang="en-US" sz="1250" dirty="0"/>
          </a:p>
        </p:txBody>
      </p:sp>
      <p:sp>
        <p:nvSpPr>
          <p:cNvPr id="20" name="Text 17"/>
          <p:cNvSpPr txBox="1"/>
          <p:nvPr/>
        </p:nvSpPr>
        <p:spPr>
          <a:xfrm>
            <a:off x="7555992" y="4808949"/>
            <a:ext cx="365760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100" dirty="0">
                <a:solidFill>
                  <a:srgbClr val="3C4657"/>
                </a:solidFill>
                <a:latin typeface="Ubuntu" pitchFamily="34" charset="0"/>
                <a:ea typeface="Ubuntu" pitchFamily="34" charset="-122"/>
                <a:cs typeface="Ubuntu" pitchFamily="34" charset="-120"/>
              </a:rPr>
              <a:t>The actuator on the board</a:t>
            </a:r>
            <a:endParaRPr lang="en-US" sz="1100" dirty="0"/>
          </a:p>
        </p:txBody>
      </p:sp>
      <p:sp>
        <p:nvSpPr>
          <p:cNvPr id="21" name="Shape 18"/>
          <p:cNvSpPr/>
          <p:nvPr/>
        </p:nvSpPr>
        <p:spPr>
          <a:xfrm>
            <a:off x="7555992" y="5412453"/>
            <a:ext cx="3977640" cy="640080"/>
          </a:xfrm>
          <a:prstGeom prst="roundRect">
            <a:avLst>
              <a:gd name="adj" fmla="val 7143"/>
            </a:avLst>
          </a:prstGeom>
          <a:solidFill>
            <a:srgbClr val="E3EBFB"/>
          </a:solidFill>
          <a:ln w="12700">
            <a:solidFill>
              <a:srgbClr val="E3EBFB"/>
            </a:solidFill>
            <a:prstDash val="solid"/>
          </a:ln>
        </p:spPr>
        <p:txBody>
          <a:bodyPr/>
          <a:lstStyle/>
          <a:p>
            <a:pPr>
              <a:defRPr>
                <a:latin typeface="Ubuntu"/>
                <a:ea typeface="Ubuntu"/>
                <a:cs typeface="Ubuntu"/>
              </a:defRPr>
            </a:pPr>
            <a:endParaRPr lang="en-US"/>
          </a:p>
        </p:txBody>
      </p:sp>
      <p:sp>
        <p:nvSpPr>
          <p:cNvPr id="22" name="Text 19"/>
          <p:cNvSpPr txBox="1"/>
          <p:nvPr/>
        </p:nvSpPr>
        <p:spPr>
          <a:xfrm>
            <a:off x="7766304" y="5485605"/>
            <a:ext cx="36576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1250" b="1" dirty="0">
                <a:solidFill>
                  <a:srgbClr val="1E2761"/>
                </a:solidFill>
                <a:latin typeface="Ubuntu" pitchFamily="34" charset="0"/>
                <a:ea typeface="Ubuntu" pitchFamily="34" charset="-122"/>
                <a:cs typeface="Ubuntu" pitchFamily="34" charset="-120"/>
              </a:rPr>
              <a:t>Dedicated processor</a:t>
            </a:r>
            <a:endParaRPr lang="en-US" sz="1250" dirty="0"/>
          </a:p>
        </p:txBody>
      </p:sp>
      <p:sp>
        <p:nvSpPr>
          <p:cNvPr id="23" name="Text 20"/>
          <p:cNvSpPr txBox="1"/>
          <p:nvPr/>
        </p:nvSpPr>
        <p:spPr>
          <a:xfrm>
            <a:off x="7766304" y="5741637"/>
            <a:ext cx="3657600" cy="310896"/>
          </a:xfrm>
          <a:prstGeom prst="rect">
            <a:avLst/>
          </a:prstGeom>
          <a:noFill/>
          <a:ln/>
        </p:spPr>
        <p:txBody>
          <a:bodyPr wrap="square" lIns="0" tIns="0" rIns="0" bIns="0" rtlCol="0" anchor="ctr"/>
          <a:lstStyle/>
          <a:p>
            <a:pPr marL="0" indent="0">
              <a:buNone/>
              <a:defRPr>
                <a:latin typeface="Ubuntu"/>
                <a:ea typeface="Ubuntu"/>
                <a:cs typeface="Ubuntu"/>
              </a:defRPr>
            </a:pPr>
            <a:r>
              <a:rPr lang="en-US" sz="1100" dirty="0">
                <a:solidFill>
                  <a:srgbClr val="3C4657"/>
                </a:solidFill>
                <a:latin typeface="Ubuntu" pitchFamily="34" charset="0"/>
                <a:ea typeface="Ubuntu" pitchFamily="34" charset="-122"/>
                <a:cs typeface="Ubuntu" pitchFamily="34" charset="-120"/>
              </a:rPr>
              <a:t>Runs the control loop, and reports to the onboard computer</a:t>
            </a:r>
            <a:endParaRPr lang="en-US" sz="1100" dirty="0"/>
          </a:p>
        </p:txBody>
      </p:sp>
      <p:sp>
        <p:nvSpPr>
          <p:cNvPr id="24" name="Text 21"/>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Pointing and Attitude Control</a:t>
            </a:r>
            <a:endParaRPr lang="en-US" sz="950" dirty="0"/>
          </a:p>
        </p:txBody>
      </p:sp>
      <p:sp>
        <p:nvSpPr>
          <p:cNvPr id="27" name="Slide Number Placeholder 7">
            <a:extLst>
              <a:ext uri="{FF2B5EF4-FFF2-40B4-BE49-F238E27FC236}">
                <a16:creationId xmlns:a16="http://schemas.microsoft.com/office/drawing/2014/main" id="{16913245-6088-92A2-7FAA-752EEAF1ED36}"/>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39</a:t>
            </a:fld>
            <a:endParaRPr lang="en-US" sz="4800" b="1" dirty="0">
              <a:solidFill>
                <a:srgbClr val="FF0000"/>
              </a:solidFill>
            </a:endParaRPr>
          </a:p>
        </p:txBody>
      </p:sp>
      <p:pic>
        <p:nvPicPr>
          <p:cNvPr id="28" name="Space Faculty logo" descr="sf_logo.png"/>
          <p:cNvPicPr>
            <a:picLocks noChangeAspect="1"/>
          </p:cNvPicPr>
          <p:nvPr/>
        </p:nvPicPr>
        <p:blipFill>
          <a:blip r:embed="rId4"/>
          <a:stretch>
            <a:fillRect/>
          </a:stretch>
        </p:blipFill>
        <p:spPr>
          <a:xfrm>
            <a:off x="10510224" y="54863"/>
            <a:ext cx="1569000" cy="44587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6D502A-2403-5A83-9850-6EEEFE50E6B3}"/>
              </a:ext>
            </a:extLst>
          </p:cNvPr>
          <p:cNvSpPr>
            <a:spLocks noGrp="1"/>
          </p:cNvSpPr>
          <p:nvPr>
            <p:ph type="body" idx="1"/>
          </p:nvPr>
        </p:nvSpPr>
        <p:spPr>
          <a:xfrm>
            <a:off x="25216" y="980321"/>
            <a:ext cx="11441512" cy="5877678"/>
          </a:xfrm>
        </p:spPr>
        <p:txBody>
          <a:bodyPr>
            <a:noAutofit/>
          </a:bodyPr>
          <a:lstStyle/>
          <a:p>
            <a:pPr>
              <a:buFont typeface="Wingdings" panose="05000000000000000000" pitchFamily="2" charset="2"/>
              <a:buChar char="q"/>
              <a:defRPr>
                <a:latin typeface="Ubuntu"/>
                <a:ea typeface="Ubuntu"/>
                <a:cs typeface="Ubuntu"/>
              </a:defRPr>
            </a:pPr>
            <a:r>
              <a:rPr lang="en-US" sz="2700" dirty="0">
                <a:latin typeface="Ubuntu" panose="020B0604020202020204" pitchFamily="34" charset="0"/>
                <a:cs typeface="Ubuntu" panose="020B0604020202020204" pitchFamily="34" charset="0"/>
              </a:rPr>
              <a:t>Propulsion systems are required for all transportation needs: </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Attitude control </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Landing / ascent</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Orbit transfer </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Orbit control</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Orbit injection</a:t>
            </a:r>
          </a:p>
          <a:p>
            <a:pPr lvl="1">
              <a:buFont typeface="Wingdings" panose="05000000000000000000" pitchFamily="2" charset="2"/>
              <a:buChar char="q"/>
              <a:defRPr>
                <a:latin typeface="Ubuntu"/>
                <a:ea typeface="Ubuntu"/>
                <a:cs typeface="Ubuntu"/>
              </a:defRPr>
            </a:pPr>
            <a:endParaRPr lang="en-US" sz="2700" dirty="0">
              <a:latin typeface="Arial" panose="020B0604020202020204" pitchFamily="34" charset="0"/>
              <a:cs typeface="Arial" panose="020B0604020202020204" pitchFamily="34" charset="0"/>
            </a:endParaRPr>
          </a:p>
          <a:p>
            <a:pPr lvl="1">
              <a:buFont typeface="Wingdings" panose="05000000000000000000" pitchFamily="2" charset="2"/>
              <a:buChar char="q"/>
              <a:defRPr>
                <a:latin typeface="Ubuntu"/>
                <a:ea typeface="Ubuntu"/>
                <a:cs typeface="Ubuntu"/>
              </a:defRPr>
            </a:pPr>
            <a:endParaRPr lang="en-US" sz="2700" dirty="0">
              <a:latin typeface="Arial" panose="020B0604020202020204" pitchFamily="34" charset="0"/>
              <a:cs typeface="Arial" panose="020B0604020202020204" pitchFamily="34" charset="0"/>
            </a:endParaRPr>
          </a:p>
          <a:p>
            <a:pPr marL="419100" indent="-342900">
              <a:buFont typeface="Wingdings" panose="05000000000000000000" pitchFamily="2" charset="2"/>
              <a:buChar char="q"/>
              <a:defRPr>
                <a:latin typeface="Ubuntu"/>
                <a:ea typeface="Ubuntu"/>
                <a:cs typeface="Ubuntu"/>
              </a:defRPr>
            </a:pPr>
            <a:r>
              <a:rPr lang="en-US" sz="2700" dirty="0">
                <a:latin typeface="Ubuntu" panose="020B0604020202020204" pitchFamily="34" charset="0"/>
                <a:cs typeface="Ubuntu" panose="020B0604020202020204" pitchFamily="34" charset="0"/>
              </a:rPr>
              <a:t>Types of Propulsion Systems</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Chemical</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Electrical</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Photonic</a:t>
            </a:r>
          </a:p>
          <a:p>
            <a:pPr lvl="1">
              <a:buFont typeface="Wingdings" panose="05000000000000000000" pitchFamily="2" charset="2"/>
              <a:buChar char="Ø"/>
              <a:defRPr>
                <a:latin typeface="Ubuntu"/>
                <a:ea typeface="Ubuntu"/>
                <a:cs typeface="Ubuntu"/>
              </a:defRPr>
            </a:pPr>
            <a:r>
              <a:rPr lang="en-US" sz="2700" dirty="0">
                <a:latin typeface="Ubuntu" panose="020B0604020202020204" pitchFamily="34" charset="0"/>
                <a:cs typeface="Ubuntu" panose="020B0604020202020204" pitchFamily="34" charset="0"/>
              </a:rPr>
              <a:t>Nuclear</a:t>
            </a:r>
          </a:p>
        </p:txBody>
      </p:sp>
      <p:sp>
        <p:nvSpPr>
          <p:cNvPr id="3" name="Title 2">
            <a:extLst>
              <a:ext uri="{FF2B5EF4-FFF2-40B4-BE49-F238E27FC236}">
                <a16:creationId xmlns:a16="http://schemas.microsoft.com/office/drawing/2014/main" id="{63FA100A-ACB0-94F4-D19C-830FEE425D48}"/>
              </a:ext>
            </a:extLst>
          </p:cNvPr>
          <p:cNvSpPr>
            <a:spLocks noGrp="1"/>
          </p:cNvSpPr>
          <p:nvPr>
            <p:ph type="title"/>
          </p:nvPr>
        </p:nvSpPr>
        <p:spPr/>
        <p:txBody>
          <a:bodyPr>
            <a:normAutofit/>
          </a:bodyPr>
          <a:lstStyle/>
          <a:p>
            <a:pPr>
              <a:defRPr>
                <a:latin typeface="House Movements Runway"/>
                <a:ea typeface="House Movements Runway"/>
                <a:cs typeface="House Movements Runway"/>
              </a:defRPr>
            </a:pPr>
            <a:r>
              <a:rPr lang="en-US" sz="4800" b="1" dirty="0">
                <a:latin typeface="House Movements Runway" panose="02020603050405020304" pitchFamily="18" charset="0"/>
                <a:cs typeface="House Movements Runway" panose="02020603050405020304" pitchFamily="18" charset="0"/>
              </a:rPr>
              <a:t>Propulsion</a:t>
            </a:r>
          </a:p>
        </p:txBody>
      </p:sp>
      <p:pic>
        <p:nvPicPr>
          <p:cNvPr id="4" name="Picture 3">
            <a:extLst>
              <a:ext uri="{FF2B5EF4-FFF2-40B4-BE49-F238E27FC236}">
                <a16:creationId xmlns:a16="http://schemas.microsoft.com/office/drawing/2014/main" id="{5BD77B9C-F198-DB0D-D9DB-E9DFC0E7E4F7}"/>
              </a:ext>
            </a:extLst>
          </p:cNvPr>
          <p:cNvPicPr>
            <a:picLocks noChangeAspect="1"/>
          </p:cNvPicPr>
          <p:nvPr/>
        </p:nvPicPr>
        <p:blipFill>
          <a:blip r:embed="rId2"/>
          <a:stretch>
            <a:fillRect/>
          </a:stretch>
        </p:blipFill>
        <p:spPr>
          <a:xfrm>
            <a:off x="3729946" y="1769256"/>
            <a:ext cx="2880404" cy="2497944"/>
          </a:xfrm>
          <a:prstGeom prst="rect">
            <a:avLst/>
          </a:prstGeom>
        </p:spPr>
      </p:pic>
      <p:pic>
        <p:nvPicPr>
          <p:cNvPr id="5" name="Picture 4">
            <a:extLst>
              <a:ext uri="{FF2B5EF4-FFF2-40B4-BE49-F238E27FC236}">
                <a16:creationId xmlns:a16="http://schemas.microsoft.com/office/drawing/2014/main" id="{ECD8D1B4-8479-2501-5D04-53D8294E2883}"/>
              </a:ext>
            </a:extLst>
          </p:cNvPr>
          <p:cNvPicPr>
            <a:picLocks noChangeAspect="1"/>
          </p:cNvPicPr>
          <p:nvPr/>
        </p:nvPicPr>
        <p:blipFill>
          <a:blip r:embed="rId3"/>
          <a:stretch>
            <a:fillRect/>
          </a:stretch>
        </p:blipFill>
        <p:spPr>
          <a:xfrm>
            <a:off x="6753225" y="2218128"/>
            <a:ext cx="2857500" cy="1600200"/>
          </a:xfrm>
          <a:prstGeom prst="rect">
            <a:avLst/>
          </a:prstGeom>
        </p:spPr>
      </p:pic>
      <p:pic>
        <p:nvPicPr>
          <p:cNvPr id="2050" name="Picture 2" descr="How rockets work: A complete guide | Space">
            <a:extLst>
              <a:ext uri="{FF2B5EF4-FFF2-40B4-BE49-F238E27FC236}">
                <a16:creationId xmlns:a16="http://schemas.microsoft.com/office/drawing/2014/main" id="{146B6583-E88A-6023-228E-AB0EA1F838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000" r="4356"/>
          <a:stretch>
            <a:fillRect/>
          </a:stretch>
        </p:blipFill>
        <p:spPr bwMode="auto">
          <a:xfrm>
            <a:off x="9635009" y="1954675"/>
            <a:ext cx="2438400" cy="22982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346BE47-84E5-87C6-77AB-9234F29AEB3C}"/>
              </a:ext>
            </a:extLst>
          </p:cNvPr>
          <p:cNvPicPr>
            <a:picLocks noChangeAspect="1"/>
          </p:cNvPicPr>
          <p:nvPr/>
        </p:nvPicPr>
        <p:blipFill>
          <a:blip r:embed="rId5"/>
          <a:stretch>
            <a:fillRect/>
          </a:stretch>
        </p:blipFill>
        <p:spPr>
          <a:xfrm>
            <a:off x="6446029" y="4794035"/>
            <a:ext cx="3471891" cy="1822743"/>
          </a:xfrm>
          <a:prstGeom prst="rect">
            <a:avLst/>
          </a:prstGeom>
        </p:spPr>
      </p:pic>
      <p:sp>
        <p:nvSpPr>
          <p:cNvPr id="7" name="TextBox 6">
            <a:extLst>
              <a:ext uri="{FF2B5EF4-FFF2-40B4-BE49-F238E27FC236}">
                <a16:creationId xmlns:a16="http://schemas.microsoft.com/office/drawing/2014/main" id="{4F7A5A82-B7D8-E109-0F0E-20D2907F10BB}"/>
              </a:ext>
            </a:extLst>
          </p:cNvPr>
          <p:cNvSpPr txBox="1"/>
          <p:nvPr/>
        </p:nvSpPr>
        <p:spPr>
          <a:xfrm>
            <a:off x="6763273" y="4405275"/>
            <a:ext cx="2940998" cy="461665"/>
          </a:xfrm>
          <a:prstGeom prst="rect">
            <a:avLst/>
          </a:prstGeom>
          <a:noFill/>
        </p:spPr>
        <p:txBody>
          <a:bodyPr wrap="none" rtlCol="0">
            <a:spAutoFit/>
          </a:bodyPr>
          <a:lstStyle/>
          <a:p>
            <a:pPr>
              <a:defRPr>
                <a:latin typeface="Ubuntu"/>
                <a:ea typeface="Ubuntu"/>
                <a:cs typeface="Ubuntu"/>
              </a:defRPr>
            </a:pPr>
            <a:r>
              <a:rPr lang="en-US" sz="2400" b="1" dirty="0">
                <a:highlight>
                  <a:srgbClr val="FFFF00"/>
                </a:highlight>
                <a:latin typeface="Ubuntu"/>
                <a:ea typeface="Ubuntu"/>
                <a:cs typeface="Ubuntu"/>
              </a:rPr>
              <a:t>Thruster Mechanisms</a:t>
            </a:r>
          </a:p>
        </p:txBody>
      </p:sp>
      <p:sp>
        <p:nvSpPr>
          <p:cNvPr id="8" name="TextBox 7">
            <a:extLst>
              <a:ext uri="{FF2B5EF4-FFF2-40B4-BE49-F238E27FC236}">
                <a16:creationId xmlns:a16="http://schemas.microsoft.com/office/drawing/2014/main" id="{D2ED932B-384C-7C8D-86FE-96B27AF1AA0D}"/>
              </a:ext>
            </a:extLst>
          </p:cNvPr>
          <p:cNvSpPr txBox="1"/>
          <p:nvPr/>
        </p:nvSpPr>
        <p:spPr>
          <a:xfrm>
            <a:off x="4234065" y="1538423"/>
            <a:ext cx="1895071" cy="461665"/>
          </a:xfrm>
          <a:prstGeom prst="rect">
            <a:avLst/>
          </a:prstGeom>
          <a:noFill/>
        </p:spPr>
        <p:txBody>
          <a:bodyPr wrap="none" rtlCol="0">
            <a:spAutoFit/>
          </a:bodyPr>
          <a:lstStyle/>
          <a:p>
            <a:pPr>
              <a:defRPr>
                <a:latin typeface="Ubuntu"/>
                <a:ea typeface="Ubuntu"/>
                <a:cs typeface="Ubuntu"/>
              </a:defRPr>
            </a:pPr>
            <a:r>
              <a:rPr lang="en-US" sz="2400" b="1" dirty="0">
                <a:highlight>
                  <a:srgbClr val="FFFF00"/>
                </a:highlight>
                <a:latin typeface="Ubuntu"/>
                <a:ea typeface="Ubuntu"/>
                <a:cs typeface="Ubuntu"/>
              </a:rPr>
              <a:t>Moon Lander</a:t>
            </a:r>
          </a:p>
        </p:txBody>
      </p:sp>
      <p:sp>
        <p:nvSpPr>
          <p:cNvPr id="9" name="TextBox 8">
            <a:extLst>
              <a:ext uri="{FF2B5EF4-FFF2-40B4-BE49-F238E27FC236}">
                <a16:creationId xmlns:a16="http://schemas.microsoft.com/office/drawing/2014/main" id="{1CBA3493-404B-4F29-C32A-C844C80CB6D9}"/>
              </a:ext>
            </a:extLst>
          </p:cNvPr>
          <p:cNvSpPr txBox="1"/>
          <p:nvPr/>
        </p:nvSpPr>
        <p:spPr>
          <a:xfrm>
            <a:off x="10388620" y="1571532"/>
            <a:ext cx="1169038" cy="461665"/>
          </a:xfrm>
          <a:prstGeom prst="rect">
            <a:avLst/>
          </a:prstGeom>
          <a:noFill/>
        </p:spPr>
        <p:txBody>
          <a:bodyPr wrap="none" rtlCol="0">
            <a:spAutoFit/>
          </a:bodyPr>
          <a:lstStyle/>
          <a:p>
            <a:pPr>
              <a:defRPr>
                <a:latin typeface="Ubuntu"/>
                <a:ea typeface="Ubuntu"/>
                <a:cs typeface="Ubuntu"/>
              </a:defRPr>
            </a:pPr>
            <a:r>
              <a:rPr lang="en-US" sz="2400" b="1" dirty="0">
                <a:highlight>
                  <a:srgbClr val="FFFF00"/>
                </a:highlight>
                <a:latin typeface="Ubuntu"/>
                <a:ea typeface="Ubuntu"/>
                <a:cs typeface="Ubuntu"/>
              </a:rPr>
              <a:t>Rockets</a:t>
            </a:r>
          </a:p>
        </p:txBody>
      </p:sp>
      <p:sp>
        <p:nvSpPr>
          <p:cNvPr id="10" name="TextBox 9">
            <a:extLst>
              <a:ext uri="{FF2B5EF4-FFF2-40B4-BE49-F238E27FC236}">
                <a16:creationId xmlns:a16="http://schemas.microsoft.com/office/drawing/2014/main" id="{CA38C04B-1D37-FCEB-DE6D-E37F9E54185B}"/>
              </a:ext>
            </a:extLst>
          </p:cNvPr>
          <p:cNvSpPr txBox="1"/>
          <p:nvPr/>
        </p:nvSpPr>
        <p:spPr>
          <a:xfrm>
            <a:off x="6728941" y="1552464"/>
            <a:ext cx="3052118" cy="461665"/>
          </a:xfrm>
          <a:prstGeom prst="rect">
            <a:avLst/>
          </a:prstGeom>
          <a:noFill/>
        </p:spPr>
        <p:txBody>
          <a:bodyPr wrap="none" rtlCol="0">
            <a:spAutoFit/>
          </a:bodyPr>
          <a:lstStyle/>
          <a:p>
            <a:pPr>
              <a:defRPr>
                <a:latin typeface="Ubuntu"/>
                <a:ea typeface="Ubuntu"/>
                <a:cs typeface="Ubuntu"/>
              </a:defRPr>
            </a:pPr>
            <a:r>
              <a:rPr lang="en-US" sz="2400" b="1" dirty="0">
                <a:highlight>
                  <a:srgbClr val="FFFF00"/>
                </a:highlight>
                <a:latin typeface="Ubuntu"/>
                <a:ea typeface="Ubuntu"/>
                <a:cs typeface="Ubuntu"/>
              </a:rPr>
              <a:t>Mars Transfer Vehicles</a:t>
            </a:r>
          </a:p>
        </p:txBody>
      </p:sp>
      <p:sp>
        <p:nvSpPr>
          <p:cNvPr id="13" name="Slide Number Placeholder 7">
            <a:extLst>
              <a:ext uri="{FF2B5EF4-FFF2-40B4-BE49-F238E27FC236}">
                <a16:creationId xmlns:a16="http://schemas.microsoft.com/office/drawing/2014/main" id="{05F265A6-A99C-D1DB-C3F5-A73D666F5EBF}"/>
              </a:ext>
            </a:extLst>
          </p:cNvPr>
          <p:cNvSpPr txBox="1">
            <a:spLocks/>
          </p:cNvSpPr>
          <p:nvPr/>
        </p:nvSpPr>
        <p:spPr>
          <a:xfrm>
            <a:off x="11103511" y="6500996"/>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40</a:t>
            </a:fld>
            <a:endParaRPr lang="en-US" sz="4800" b="1" dirty="0">
              <a:solidFill>
                <a:srgbClr val="FF0000"/>
              </a:solidFill>
            </a:endParaRPr>
          </a:p>
        </p:txBody>
      </p:sp>
      <p:pic>
        <p:nvPicPr>
          <p:cNvPr id="2051" name="Space Faculty logo" descr="sf_logo.png"/>
          <p:cNvPicPr>
            <a:picLocks noChangeAspect="1"/>
          </p:cNvPicPr>
          <p:nvPr/>
        </p:nvPicPr>
        <p:blipFill>
          <a:blip r:embed="rId6"/>
          <a:stretch>
            <a:fillRect/>
          </a:stretch>
        </p:blipFill>
        <p:spPr>
          <a:xfrm>
            <a:off x="10395306" y="54864"/>
            <a:ext cx="1683917" cy="478536"/>
          </a:xfrm>
          <a:prstGeom prst="rect">
            <a:avLst/>
          </a:prstGeom>
        </p:spPr>
      </p:pic>
    </p:spTree>
    <p:extLst>
      <p:ext uri="{BB962C8B-B14F-4D97-AF65-F5344CB8AC3E}">
        <p14:creationId xmlns:p14="http://schemas.microsoft.com/office/powerpoint/2010/main" val="290759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767636" y="518922"/>
            <a:ext cx="10984687" cy="566928"/>
          </a:xfrm>
          <a:prstGeom prst="rect">
            <a:avLst/>
          </a:prstGeom>
          <a:noFill/>
          <a:ln/>
        </p:spPr>
        <p:txBody>
          <a:bodyPr wrap="square" lIns="0" tIns="0" rIns="0" bIns="0" rtlCol="0" anchor="ctr"/>
          <a:lstStyle/>
          <a:p>
            <a:pPr marL="0" indent="0">
              <a:buNone/>
              <a:defRPr>
                <a:latin typeface="Ubuntu"/>
                <a:ea typeface="Ubuntu"/>
                <a:cs typeface="Ubuntu"/>
              </a:defRPr>
            </a:pPr>
            <a:r>
              <a:rPr lang="en-US" sz="4800" b="1" dirty="0">
                <a:solidFill>
                  <a:srgbClr val="1E2761"/>
                </a:solidFill>
                <a:latin typeface="Ubuntu" pitchFamily="34" charset="0"/>
                <a:ea typeface="Ubuntu" pitchFamily="34" charset="-122"/>
                <a:cs typeface="Ubuntu" pitchFamily="34" charset="-120"/>
              </a:rPr>
              <a:t>References and Further Reading</a:t>
            </a:r>
            <a:endParaRPr lang="en-US" sz="48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1450" dirty="0">
                <a:solidFill>
                  <a:srgbClr val="5F6B8C"/>
                </a:solidFill>
                <a:latin typeface="Ubuntu" pitchFamily="34" charset="0"/>
                <a:ea typeface="Ubuntu" pitchFamily="34" charset="-122"/>
                <a:cs typeface="Ubuntu" pitchFamily="34" charset="-120"/>
              </a:rPr>
              <a:t>Open sources used in this session. Worth returning to after the course.</a:t>
            </a:r>
            <a:endParaRPr lang="en-US" sz="1450" dirty="0"/>
          </a:p>
        </p:txBody>
      </p:sp>
      <p:sp>
        <p:nvSpPr>
          <p:cNvPr id="6" name="Shape 4"/>
          <p:cNvSpPr/>
          <p:nvPr/>
        </p:nvSpPr>
        <p:spPr>
          <a:xfrm>
            <a:off x="658368" y="182880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7" name="Shape 5"/>
          <p:cNvSpPr/>
          <p:nvPr/>
        </p:nvSpPr>
        <p:spPr>
          <a:xfrm>
            <a:off x="658368" y="182880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8" name="Text 6"/>
          <p:cNvSpPr txBox="1"/>
          <p:nvPr/>
        </p:nvSpPr>
        <p:spPr>
          <a:xfrm>
            <a:off x="932688" y="189280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NASA State-of-the-Art report</a:t>
            </a:r>
            <a:endParaRPr lang="en-US" sz="1300" dirty="0"/>
          </a:p>
        </p:txBody>
      </p:sp>
      <p:sp>
        <p:nvSpPr>
          <p:cNvPr id="9" name="Text 7"/>
          <p:cNvSpPr txBox="1"/>
          <p:nvPr/>
        </p:nvSpPr>
        <p:spPr>
          <a:xfrm>
            <a:off x="932688" y="216712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Guidance, navigation and control chapter</a:t>
            </a:r>
            <a:endParaRPr lang="en-US" sz="1050" dirty="0"/>
          </a:p>
        </p:txBody>
      </p:sp>
      <p:sp>
        <p:nvSpPr>
          <p:cNvPr id="10" name="Text 8">
            <a:hlinkClick r:id="rId3"/>
          </p:cNvPr>
          <p:cNvSpPr txBox="1"/>
          <p:nvPr/>
        </p:nvSpPr>
        <p:spPr>
          <a:xfrm>
            <a:off x="5138928" y="182880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3">
                  <a:extLst>
                    <a:ext uri="{A12FA001-AC4F-418D-AE19-62706E023703}">
                      <ahyp:hlinkClr xmlns:ahyp="http://schemas.microsoft.com/office/drawing/2018/hyperlinkcolor" val="tx"/>
                    </a:ext>
                  </a:extLst>
                </a:hlinkClick>
              </a:rPr>
              <a:t>https://www.nasa.gov/smallsat-institute/sst-soa</a:t>
            </a:r>
            <a:endParaRPr lang="en-US" sz="850" dirty="0"/>
          </a:p>
        </p:txBody>
      </p:sp>
      <p:sp>
        <p:nvSpPr>
          <p:cNvPr id="11" name="Shape 9"/>
          <p:cNvSpPr/>
          <p:nvPr/>
        </p:nvSpPr>
        <p:spPr>
          <a:xfrm>
            <a:off x="658368" y="2651760"/>
            <a:ext cx="10881360" cy="731520"/>
          </a:xfrm>
          <a:prstGeom prst="roundRect">
            <a:avLst>
              <a:gd name="adj" fmla="val 6250"/>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2" name="Shape 10"/>
          <p:cNvSpPr/>
          <p:nvPr/>
        </p:nvSpPr>
        <p:spPr>
          <a:xfrm>
            <a:off x="658368" y="265176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3" name="Text 11"/>
          <p:cNvSpPr txBox="1"/>
          <p:nvPr/>
        </p:nvSpPr>
        <p:spPr>
          <a:xfrm>
            <a:off x="932688" y="271576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ESA Web TV — CubeSats</a:t>
            </a:r>
            <a:endParaRPr lang="en-US" sz="1300" dirty="0"/>
          </a:p>
        </p:txBody>
      </p:sp>
      <p:sp>
        <p:nvSpPr>
          <p:cNvPr id="14" name="Text 12"/>
          <p:cNvSpPr txBox="1"/>
          <p:nvPr/>
        </p:nvSpPr>
        <p:spPr>
          <a:xfrm>
            <a:off x="932688" y="299008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Mission and deployment footage, over fifty videos</a:t>
            </a:r>
            <a:endParaRPr lang="en-US" sz="1050" dirty="0"/>
          </a:p>
        </p:txBody>
      </p:sp>
      <p:sp>
        <p:nvSpPr>
          <p:cNvPr id="15" name="Text 13">
            <a:hlinkClick r:id="rId4"/>
          </p:cNvPr>
          <p:cNvSpPr txBox="1"/>
          <p:nvPr/>
        </p:nvSpPr>
        <p:spPr>
          <a:xfrm>
            <a:off x="5138928" y="265176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4">
                  <a:extLst>
                    <a:ext uri="{A12FA001-AC4F-418D-AE19-62706E023703}">
                      <ahyp:hlinkClr xmlns:ahyp="http://schemas.microsoft.com/office/drawing/2018/hyperlinkcolor" val="tx"/>
                    </a:ext>
                  </a:extLst>
                </a:hlinkClick>
              </a:rPr>
              <a:t>https://www.esa.int/ESA_Multimedia/Keywords/System/CubeSats/(result_type)/videos</a:t>
            </a:r>
            <a:endParaRPr lang="en-US" sz="850" dirty="0"/>
          </a:p>
        </p:txBody>
      </p:sp>
      <p:sp>
        <p:nvSpPr>
          <p:cNvPr id="16" name="Shape 14"/>
          <p:cNvSpPr/>
          <p:nvPr/>
        </p:nvSpPr>
        <p:spPr>
          <a:xfrm>
            <a:off x="658368" y="3474720"/>
            <a:ext cx="10881360" cy="731520"/>
          </a:xfrm>
          <a:prstGeom prst="roundRect">
            <a:avLst>
              <a:gd name="adj" fmla="val 6250"/>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7" name="Shape 15"/>
          <p:cNvSpPr/>
          <p:nvPr/>
        </p:nvSpPr>
        <p:spPr>
          <a:xfrm>
            <a:off x="658368" y="347472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8" name="Text 16"/>
          <p:cNvSpPr txBox="1"/>
          <p:nvPr/>
        </p:nvSpPr>
        <p:spPr>
          <a:xfrm>
            <a:off x="932688" y="353872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CubeSat integrated ADCS units</a:t>
            </a:r>
            <a:endParaRPr lang="en-US" sz="1300" dirty="0"/>
          </a:p>
        </p:txBody>
      </p:sp>
      <p:sp>
        <p:nvSpPr>
          <p:cNvPr id="19" name="Text 17"/>
          <p:cNvSpPr txBox="1"/>
          <p:nvPr/>
        </p:nvSpPr>
        <p:spPr>
          <a:xfrm>
            <a:off x="932688" y="381304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What a complete commercial ADCS looks like, and what it costs</a:t>
            </a:r>
            <a:endParaRPr lang="en-US" sz="1050" dirty="0"/>
          </a:p>
        </p:txBody>
      </p:sp>
      <p:sp>
        <p:nvSpPr>
          <p:cNvPr id="20" name="Text 18">
            <a:hlinkClick r:id="rId5"/>
          </p:cNvPr>
          <p:cNvSpPr txBox="1"/>
          <p:nvPr/>
        </p:nvSpPr>
        <p:spPr>
          <a:xfrm>
            <a:off x="5138928" y="347472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5">
                  <a:extLst>
                    <a:ext uri="{A12FA001-AC4F-418D-AE19-62706E023703}">
                      <ahyp:hlinkClr xmlns:ahyp="http://schemas.microsoft.com/office/drawing/2018/hyperlinkcolor" val="tx"/>
                    </a:ext>
                  </a:extLst>
                </a:hlinkClick>
              </a:rPr>
              <a:t>https://www.cubesatshop.com/product-category/integrated-adcs/</a:t>
            </a:r>
            <a:endParaRPr lang="en-US" sz="850" dirty="0"/>
          </a:p>
        </p:txBody>
      </p:sp>
      <p:sp>
        <p:nvSpPr>
          <p:cNvPr id="21" name="Shape 19"/>
          <p:cNvSpPr/>
          <p:nvPr/>
        </p:nvSpPr>
        <p:spPr>
          <a:xfrm>
            <a:off x="658368" y="4297680"/>
            <a:ext cx="10881360" cy="731520"/>
          </a:xfrm>
          <a:prstGeom prst="roundRect">
            <a:avLst>
              <a:gd name="adj" fmla="val 6250"/>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22" name="Shape 20"/>
          <p:cNvSpPr/>
          <p:nvPr/>
        </p:nvSpPr>
        <p:spPr>
          <a:xfrm>
            <a:off x="658368" y="4297680"/>
            <a:ext cx="50292" cy="73152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23" name="Text 21"/>
          <p:cNvSpPr txBox="1"/>
          <p:nvPr/>
        </p:nvSpPr>
        <p:spPr>
          <a:xfrm>
            <a:off x="932688" y="4361688"/>
            <a:ext cx="3931920" cy="274320"/>
          </a:xfrm>
          <a:prstGeom prst="rect">
            <a:avLst/>
          </a:prstGeom>
          <a:noFill/>
          <a:ln/>
        </p:spPr>
        <p:txBody>
          <a:bodyPr wrap="square" lIns="0" tIns="0" rIns="0" bIns="0" rtlCol="0" anchor="ctr"/>
          <a:lstStyle/>
          <a:p>
            <a:pPr marL="0" indent="0">
              <a:buNone/>
              <a:defRPr>
                <a:latin typeface="Ubuntu"/>
                <a:ea typeface="Ubuntu"/>
                <a:cs typeface="Ubuntu"/>
              </a:defRPr>
            </a:pPr>
            <a:r>
              <a:rPr lang="en-US" sz="1300" b="1" dirty="0">
                <a:solidFill>
                  <a:srgbClr val="1E2761"/>
                </a:solidFill>
                <a:latin typeface="Ubuntu" pitchFamily="34" charset="0"/>
                <a:ea typeface="Ubuntu" pitchFamily="34" charset="-122"/>
                <a:cs typeface="Ubuntu" pitchFamily="34" charset="-120"/>
              </a:rPr>
              <a:t>ECSS</a:t>
            </a:r>
            <a:endParaRPr lang="en-US" sz="1300" dirty="0"/>
          </a:p>
        </p:txBody>
      </p:sp>
      <p:sp>
        <p:nvSpPr>
          <p:cNvPr id="24" name="Text 22"/>
          <p:cNvSpPr txBox="1"/>
          <p:nvPr/>
        </p:nvSpPr>
        <p:spPr>
          <a:xfrm>
            <a:off x="932688" y="4636008"/>
            <a:ext cx="4023360" cy="292608"/>
          </a:xfrm>
          <a:prstGeom prst="rect">
            <a:avLst/>
          </a:prstGeom>
          <a:noFill/>
          <a:ln/>
        </p:spPr>
        <p:txBody>
          <a:bodyPr wrap="square" lIns="0" tIns="0" rIns="0" bIns="0" rtlCol="0" anchor="ctr"/>
          <a:lstStyle/>
          <a:p>
            <a:pPr marL="0" indent="0">
              <a:buNone/>
              <a:defRPr>
                <a:latin typeface="Ubuntu"/>
                <a:ea typeface="Ubuntu"/>
                <a:cs typeface="Ubuntu"/>
              </a:defRPr>
            </a:pPr>
            <a:r>
              <a:rPr lang="en-US" sz="1050" dirty="0">
                <a:solidFill>
                  <a:srgbClr val="5F6B8C"/>
                </a:solidFill>
                <a:latin typeface="Ubuntu" pitchFamily="34" charset="0"/>
                <a:ea typeface="Ubuntu" pitchFamily="34" charset="-122"/>
                <a:cs typeface="Ubuntu" pitchFamily="34" charset="-120"/>
              </a:rPr>
              <a:t>Control engineering and pointing standards</a:t>
            </a:r>
            <a:endParaRPr lang="en-US" sz="1050" dirty="0"/>
          </a:p>
        </p:txBody>
      </p:sp>
      <p:sp>
        <p:nvSpPr>
          <p:cNvPr id="25" name="Text 23">
            <a:hlinkClick r:id="rId6"/>
          </p:cNvPr>
          <p:cNvSpPr txBox="1"/>
          <p:nvPr/>
        </p:nvSpPr>
        <p:spPr>
          <a:xfrm>
            <a:off x="5138928" y="4297680"/>
            <a:ext cx="6263640" cy="731520"/>
          </a:xfrm>
          <a:prstGeom prst="rect">
            <a:avLst/>
          </a:prstGeom>
          <a:noFill/>
          <a:ln/>
        </p:spPr>
        <p:txBody>
          <a:bodyPr wrap="square" lIns="0" tIns="0" rIns="0" bIns="0" rtlCol="0" anchor="ctr"/>
          <a:lstStyle/>
          <a:p>
            <a:pPr marL="0" indent="0">
              <a:buNone/>
              <a:defRPr>
                <a:latin typeface="Ubuntu"/>
                <a:ea typeface="Ubuntu"/>
                <a:cs typeface="Ubuntu"/>
              </a:defRPr>
            </a:pPr>
            <a:r>
              <a:rPr lang="en-US" sz="850" u="sng" dirty="0">
                <a:solidFill>
                  <a:srgbClr val="2C63B8"/>
                </a:solidFill>
                <a:latin typeface="Ubuntu" pitchFamily="34" charset="0"/>
                <a:ea typeface="Ubuntu" pitchFamily="34" charset="-122"/>
                <a:cs typeface="Ubuntu" pitchFamily="34" charset="-120"/>
                <a:hlinkClick r:id="rId6">
                  <a:extLst>
                    <a:ext uri="{A12FA001-AC4F-418D-AE19-62706E023703}">
                      <ahyp:hlinkClr xmlns:ahyp="http://schemas.microsoft.com/office/drawing/2018/hyperlinkcolor" val="tx"/>
                    </a:ext>
                  </a:extLst>
                </a:hlinkClick>
              </a:rPr>
              <a:t>https://ecss.nl/</a:t>
            </a:r>
            <a:endParaRPr lang="en-US" sz="850" dirty="0"/>
          </a:p>
        </p:txBody>
      </p:sp>
      <p:sp>
        <p:nvSpPr>
          <p:cNvPr id="26" name="Text 24"/>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Pointing and Attitude Control</a:t>
            </a:r>
            <a:endParaRPr lang="en-US" sz="950" dirty="0"/>
          </a:p>
        </p:txBody>
      </p:sp>
      <p:sp>
        <p:nvSpPr>
          <p:cNvPr id="29" name="Slide Number Placeholder 7">
            <a:extLst>
              <a:ext uri="{FF2B5EF4-FFF2-40B4-BE49-F238E27FC236}">
                <a16:creationId xmlns:a16="http://schemas.microsoft.com/office/drawing/2014/main" id="{FC45ACA0-9A70-84BC-262E-B83800B28D14}"/>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41</a:t>
            </a:fld>
            <a:endParaRPr lang="en-US" sz="4800" b="1" dirty="0">
              <a:solidFill>
                <a:srgbClr val="FF0000"/>
              </a:solidFill>
            </a:endParaRPr>
          </a:p>
        </p:txBody>
      </p:sp>
      <p:pic>
        <p:nvPicPr>
          <p:cNvPr id="30" name="Space Faculty logo" descr="sf_logo.png"/>
          <p:cNvPicPr>
            <a:picLocks noChangeAspect="1"/>
          </p:cNvPicPr>
          <p:nvPr/>
        </p:nvPicPr>
        <p:blipFill>
          <a:blip r:embed="rId7"/>
          <a:stretch>
            <a:fillRect/>
          </a:stretch>
        </p:blipFill>
        <p:spPr>
          <a:xfrm>
            <a:off x="10534740" y="54864"/>
            <a:ext cx="1544484" cy="43891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841248" y="435589"/>
            <a:ext cx="10984687" cy="566928"/>
          </a:xfrm>
          <a:prstGeom prst="rect">
            <a:avLst/>
          </a:prstGeom>
          <a:noFill/>
          <a:ln/>
        </p:spPr>
        <p:txBody>
          <a:bodyPr wrap="square" lIns="0" tIns="0" rIns="0" bIns="0" rtlCol="0" anchor="ctr"/>
          <a:lstStyle/>
          <a:p>
            <a:pPr marL="0" indent="0">
              <a:buNone/>
              <a:defRPr>
                <a:latin typeface="Ubuntu"/>
                <a:ea typeface="Ubuntu"/>
                <a:cs typeface="Ubuntu"/>
              </a:defRPr>
            </a:pPr>
            <a:r>
              <a:rPr lang="en-US" sz="4000" b="1" dirty="0">
                <a:solidFill>
                  <a:srgbClr val="1E2761"/>
                </a:solidFill>
                <a:latin typeface="Ubuntu" pitchFamily="34" charset="0"/>
                <a:ea typeface="Ubuntu" pitchFamily="34" charset="-122"/>
                <a:cs typeface="Ubuntu" pitchFamily="34" charset="-120"/>
              </a:rPr>
              <a:t>Control Methods &amp; Pointing Accuracy</a:t>
            </a:r>
            <a:endParaRPr lang="en-US" sz="40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2000" b="1" dirty="0">
                <a:solidFill>
                  <a:srgbClr val="5F6B8C"/>
                </a:solidFill>
                <a:latin typeface="Ubuntu" pitchFamily="34" charset="0"/>
                <a:ea typeface="Ubuntu" pitchFamily="34" charset="-122"/>
                <a:cs typeface="Ubuntu" pitchFamily="34" charset="-120"/>
              </a:rPr>
              <a:t>Control techniques can be divided into passive methods, if they do not require power, and active methods.</a:t>
            </a:r>
            <a:endParaRPr lang="en-US" sz="2000" b="1" dirty="0"/>
          </a:p>
        </p:txBody>
      </p:sp>
      <p:sp>
        <p:nvSpPr>
          <p:cNvPr id="6" name="Shape 4"/>
          <p:cNvSpPr/>
          <p:nvPr/>
        </p:nvSpPr>
        <p:spPr>
          <a:xfrm>
            <a:off x="371650" y="2042435"/>
            <a:ext cx="2587752" cy="420624"/>
          </a:xfrm>
          <a:prstGeom prst="rect">
            <a:avLst/>
          </a:prstGeom>
          <a:solidFill>
            <a:srgbClr val="1E2761"/>
          </a:solidFill>
          <a:ln w="12700">
            <a:solidFill>
              <a:srgbClr val="FFFFFF"/>
            </a:solidFill>
            <a:prstDash val="solid"/>
          </a:ln>
        </p:spPr>
        <p:txBody>
          <a:bodyPr/>
          <a:lstStyle/>
          <a:p>
            <a:pPr>
              <a:defRPr>
                <a:latin typeface="Ubuntu"/>
                <a:ea typeface="Ubuntu"/>
                <a:cs typeface="Ubuntu"/>
              </a:defRPr>
            </a:pPr>
            <a:endParaRPr lang="en-US"/>
          </a:p>
        </p:txBody>
      </p:sp>
      <p:sp>
        <p:nvSpPr>
          <p:cNvPr id="7" name="Text 5"/>
          <p:cNvSpPr txBox="1"/>
          <p:nvPr/>
        </p:nvSpPr>
        <p:spPr>
          <a:xfrm>
            <a:off x="554530" y="2042435"/>
            <a:ext cx="2313432" cy="420624"/>
          </a:xfrm>
          <a:prstGeom prst="rect">
            <a:avLst/>
          </a:prstGeom>
          <a:noFill/>
          <a:ln/>
        </p:spPr>
        <p:txBody>
          <a:bodyPr wrap="square" lIns="0" tIns="0" rIns="0" bIns="0" rtlCol="0" anchor="ctr"/>
          <a:lstStyle/>
          <a:p>
            <a:pPr marL="0" indent="0">
              <a:buNone/>
              <a:defRPr>
                <a:latin typeface="Ubuntu"/>
                <a:ea typeface="Ubuntu"/>
                <a:cs typeface="Ubuntu"/>
              </a:defRPr>
            </a:pPr>
            <a:r>
              <a:rPr lang="en-US" sz="950" b="1" kern="0" spc="120" dirty="0">
                <a:solidFill>
                  <a:srgbClr val="FFFFFF"/>
                </a:solidFill>
                <a:latin typeface="Ubuntu" pitchFamily="34" charset="0"/>
                <a:ea typeface="Ubuntu" pitchFamily="34" charset="-122"/>
                <a:cs typeface="Ubuntu" pitchFamily="34" charset="-120"/>
              </a:rPr>
              <a:t>APPROACH</a:t>
            </a:r>
            <a:endParaRPr lang="en-US" sz="950" dirty="0"/>
          </a:p>
        </p:txBody>
      </p:sp>
      <p:sp>
        <p:nvSpPr>
          <p:cNvPr id="8" name="Shape 6"/>
          <p:cNvSpPr/>
          <p:nvPr/>
        </p:nvSpPr>
        <p:spPr>
          <a:xfrm>
            <a:off x="2959402" y="2042435"/>
            <a:ext cx="1463040" cy="420624"/>
          </a:xfrm>
          <a:prstGeom prst="rect">
            <a:avLst/>
          </a:prstGeom>
          <a:solidFill>
            <a:srgbClr val="1E2761"/>
          </a:solidFill>
          <a:ln w="12700">
            <a:solidFill>
              <a:srgbClr val="FFFFFF"/>
            </a:solidFill>
            <a:prstDash val="solid"/>
          </a:ln>
        </p:spPr>
        <p:txBody>
          <a:bodyPr/>
          <a:lstStyle/>
          <a:p>
            <a:pPr>
              <a:defRPr>
                <a:latin typeface="Ubuntu"/>
                <a:ea typeface="Ubuntu"/>
                <a:cs typeface="Ubuntu"/>
              </a:defRPr>
            </a:pPr>
            <a:endParaRPr lang="en-US"/>
          </a:p>
        </p:txBody>
      </p:sp>
      <p:sp>
        <p:nvSpPr>
          <p:cNvPr id="9" name="Text 7"/>
          <p:cNvSpPr txBox="1"/>
          <p:nvPr/>
        </p:nvSpPr>
        <p:spPr>
          <a:xfrm>
            <a:off x="3142282" y="2042435"/>
            <a:ext cx="1188720" cy="420624"/>
          </a:xfrm>
          <a:prstGeom prst="rect">
            <a:avLst/>
          </a:prstGeom>
          <a:noFill/>
          <a:ln/>
        </p:spPr>
        <p:txBody>
          <a:bodyPr wrap="square" lIns="0" tIns="0" rIns="0" bIns="0" rtlCol="0" anchor="ctr"/>
          <a:lstStyle/>
          <a:p>
            <a:pPr marL="0" indent="0">
              <a:buNone/>
              <a:defRPr>
                <a:latin typeface="Ubuntu"/>
                <a:ea typeface="Ubuntu"/>
                <a:cs typeface="Ubuntu"/>
              </a:defRPr>
            </a:pPr>
            <a:r>
              <a:rPr lang="en-US" sz="950" b="1" kern="0" spc="120" dirty="0">
                <a:solidFill>
                  <a:srgbClr val="FFFFFF"/>
                </a:solidFill>
                <a:latin typeface="Ubuntu" pitchFamily="34" charset="0"/>
                <a:ea typeface="Ubuntu" pitchFamily="34" charset="-122"/>
                <a:cs typeface="Ubuntu" pitchFamily="34" charset="-120"/>
              </a:rPr>
              <a:t>TYPE</a:t>
            </a:r>
            <a:endParaRPr lang="en-US" sz="950" dirty="0"/>
          </a:p>
        </p:txBody>
      </p:sp>
      <p:sp>
        <p:nvSpPr>
          <p:cNvPr id="10" name="Shape 8"/>
          <p:cNvSpPr/>
          <p:nvPr/>
        </p:nvSpPr>
        <p:spPr>
          <a:xfrm>
            <a:off x="4422442" y="2042435"/>
            <a:ext cx="2011680" cy="420624"/>
          </a:xfrm>
          <a:prstGeom prst="rect">
            <a:avLst/>
          </a:prstGeom>
          <a:solidFill>
            <a:srgbClr val="D85A30"/>
          </a:solidFill>
          <a:ln w="12700">
            <a:solidFill>
              <a:srgbClr val="FFFFFF"/>
            </a:solidFill>
            <a:prstDash val="solid"/>
          </a:ln>
        </p:spPr>
        <p:txBody>
          <a:bodyPr/>
          <a:lstStyle/>
          <a:p>
            <a:pPr>
              <a:defRPr>
                <a:latin typeface="Ubuntu"/>
                <a:ea typeface="Ubuntu"/>
                <a:cs typeface="Ubuntu"/>
              </a:defRPr>
            </a:pPr>
            <a:endParaRPr lang="en-US"/>
          </a:p>
        </p:txBody>
      </p:sp>
      <p:sp>
        <p:nvSpPr>
          <p:cNvPr id="11" name="Text 9"/>
          <p:cNvSpPr txBox="1"/>
          <p:nvPr/>
        </p:nvSpPr>
        <p:spPr>
          <a:xfrm>
            <a:off x="4605322" y="2042435"/>
            <a:ext cx="1737360" cy="420624"/>
          </a:xfrm>
          <a:prstGeom prst="rect">
            <a:avLst/>
          </a:prstGeom>
          <a:noFill/>
          <a:ln/>
        </p:spPr>
        <p:txBody>
          <a:bodyPr wrap="square" lIns="0" tIns="0" rIns="0" bIns="0" rtlCol="0" anchor="ctr"/>
          <a:lstStyle/>
          <a:p>
            <a:pPr marL="0" indent="0">
              <a:buNone/>
              <a:defRPr>
                <a:latin typeface="Ubuntu"/>
                <a:ea typeface="Ubuntu"/>
                <a:cs typeface="Ubuntu"/>
              </a:defRPr>
            </a:pPr>
            <a:r>
              <a:rPr lang="en-US" sz="950" b="1" kern="0" spc="120" dirty="0">
                <a:solidFill>
                  <a:srgbClr val="FFFFFF"/>
                </a:solidFill>
                <a:latin typeface="Ubuntu" pitchFamily="34" charset="0"/>
                <a:ea typeface="Ubuntu" pitchFamily="34" charset="-122"/>
                <a:cs typeface="Ubuntu" pitchFamily="34" charset="-120"/>
              </a:rPr>
              <a:t>POINTING ACCURACY</a:t>
            </a:r>
            <a:endParaRPr lang="en-US" sz="950" dirty="0"/>
          </a:p>
        </p:txBody>
      </p:sp>
      <p:sp>
        <p:nvSpPr>
          <p:cNvPr id="12" name="Shape 10"/>
          <p:cNvSpPr/>
          <p:nvPr/>
        </p:nvSpPr>
        <p:spPr>
          <a:xfrm>
            <a:off x="6434122" y="2042435"/>
            <a:ext cx="4800600" cy="420624"/>
          </a:xfrm>
          <a:prstGeom prst="rect">
            <a:avLst/>
          </a:prstGeom>
          <a:solidFill>
            <a:srgbClr val="1E2761"/>
          </a:solidFill>
          <a:ln w="12700">
            <a:solidFill>
              <a:srgbClr val="FFFFFF"/>
            </a:solidFill>
            <a:prstDash val="solid"/>
          </a:ln>
        </p:spPr>
        <p:txBody>
          <a:bodyPr/>
          <a:lstStyle/>
          <a:p>
            <a:pPr>
              <a:defRPr>
                <a:latin typeface="Ubuntu"/>
                <a:ea typeface="Ubuntu"/>
                <a:cs typeface="Ubuntu"/>
              </a:defRPr>
            </a:pPr>
            <a:endParaRPr lang="en-US"/>
          </a:p>
        </p:txBody>
      </p:sp>
      <p:sp>
        <p:nvSpPr>
          <p:cNvPr id="13" name="Text 11"/>
          <p:cNvSpPr txBox="1"/>
          <p:nvPr/>
        </p:nvSpPr>
        <p:spPr>
          <a:xfrm>
            <a:off x="6617002" y="2042435"/>
            <a:ext cx="4526280" cy="420624"/>
          </a:xfrm>
          <a:prstGeom prst="rect">
            <a:avLst/>
          </a:prstGeom>
          <a:noFill/>
          <a:ln/>
        </p:spPr>
        <p:txBody>
          <a:bodyPr wrap="square" lIns="0" tIns="0" rIns="0" bIns="0" rtlCol="0" anchor="ctr"/>
          <a:lstStyle/>
          <a:p>
            <a:pPr marL="0" indent="0">
              <a:buNone/>
              <a:defRPr>
                <a:latin typeface="Ubuntu"/>
                <a:ea typeface="Ubuntu"/>
                <a:cs typeface="Ubuntu"/>
              </a:defRPr>
            </a:pPr>
            <a:r>
              <a:rPr lang="en-US" sz="950" b="1" kern="0" spc="120" dirty="0">
                <a:solidFill>
                  <a:srgbClr val="FFFFFF"/>
                </a:solidFill>
                <a:latin typeface="Ubuntu" pitchFamily="34" charset="0"/>
                <a:ea typeface="Ubuntu" pitchFamily="34" charset="-122"/>
                <a:cs typeface="Ubuntu" pitchFamily="34" charset="-120"/>
              </a:rPr>
              <a:t>HOW IT WORKS</a:t>
            </a:r>
            <a:endParaRPr lang="en-US" sz="950" dirty="0"/>
          </a:p>
        </p:txBody>
      </p:sp>
      <p:sp>
        <p:nvSpPr>
          <p:cNvPr id="14" name="Shape 12"/>
          <p:cNvSpPr/>
          <p:nvPr/>
        </p:nvSpPr>
        <p:spPr>
          <a:xfrm>
            <a:off x="371650" y="2463059"/>
            <a:ext cx="2587752"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15" name="Text 13"/>
          <p:cNvSpPr txBox="1"/>
          <p:nvPr/>
        </p:nvSpPr>
        <p:spPr>
          <a:xfrm>
            <a:off x="554530" y="2463059"/>
            <a:ext cx="2295144"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b="1" dirty="0">
                <a:solidFill>
                  <a:srgbClr val="1E2761"/>
                </a:solidFill>
                <a:latin typeface="Ubuntu" pitchFamily="34" charset="0"/>
                <a:ea typeface="Ubuntu" pitchFamily="34" charset="-122"/>
                <a:cs typeface="Ubuntu" pitchFamily="34" charset="-120"/>
              </a:rPr>
              <a:t>Gravity gradient</a:t>
            </a:r>
            <a:endParaRPr lang="en-US" sz="1150" dirty="0"/>
          </a:p>
        </p:txBody>
      </p:sp>
      <p:sp>
        <p:nvSpPr>
          <p:cNvPr id="16" name="Shape 14"/>
          <p:cNvSpPr/>
          <p:nvPr/>
        </p:nvSpPr>
        <p:spPr>
          <a:xfrm>
            <a:off x="2959402" y="2463059"/>
            <a:ext cx="1463040"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17" name="Text 15"/>
          <p:cNvSpPr txBox="1"/>
          <p:nvPr/>
        </p:nvSpPr>
        <p:spPr>
          <a:xfrm>
            <a:off x="3142282" y="2463059"/>
            <a:ext cx="117043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Passive</a:t>
            </a:r>
            <a:endParaRPr lang="en-US" sz="1150" dirty="0"/>
          </a:p>
        </p:txBody>
      </p:sp>
      <p:sp>
        <p:nvSpPr>
          <p:cNvPr id="18" name="Shape 16"/>
          <p:cNvSpPr/>
          <p:nvPr/>
        </p:nvSpPr>
        <p:spPr>
          <a:xfrm>
            <a:off x="4422442" y="2463059"/>
            <a:ext cx="2011680" cy="658368"/>
          </a:xfrm>
          <a:prstGeom prst="rect">
            <a:avLst/>
          </a:prstGeom>
          <a:solidFill>
            <a:srgbClr val="FBEDE7"/>
          </a:solidFill>
          <a:ln w="12700">
            <a:solidFill>
              <a:srgbClr val="DFE5F0"/>
            </a:solidFill>
            <a:prstDash val="solid"/>
          </a:ln>
        </p:spPr>
        <p:txBody>
          <a:bodyPr/>
          <a:lstStyle/>
          <a:p>
            <a:pPr>
              <a:defRPr>
                <a:latin typeface="Ubuntu"/>
                <a:ea typeface="Ubuntu"/>
                <a:cs typeface="Ubuntu"/>
              </a:defRPr>
            </a:pPr>
            <a:endParaRPr lang="en-US"/>
          </a:p>
        </p:txBody>
      </p:sp>
      <p:sp>
        <p:nvSpPr>
          <p:cNvPr id="19" name="Text 17"/>
          <p:cNvSpPr txBox="1"/>
          <p:nvPr/>
        </p:nvSpPr>
        <p:spPr>
          <a:xfrm>
            <a:off x="4605322" y="2463059"/>
            <a:ext cx="171907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350" b="1" dirty="0">
                <a:solidFill>
                  <a:srgbClr val="1E2761"/>
                </a:solidFill>
                <a:latin typeface="Ubuntu" pitchFamily="34" charset="0"/>
                <a:ea typeface="Ubuntu" pitchFamily="34" charset="-122"/>
                <a:cs typeface="Ubuntu" pitchFamily="34" charset="-120"/>
              </a:rPr>
              <a:t>± 5°</a:t>
            </a:r>
            <a:endParaRPr lang="en-US" sz="1350" dirty="0"/>
          </a:p>
        </p:txBody>
      </p:sp>
      <p:sp>
        <p:nvSpPr>
          <p:cNvPr id="20" name="Shape 18"/>
          <p:cNvSpPr/>
          <p:nvPr/>
        </p:nvSpPr>
        <p:spPr>
          <a:xfrm>
            <a:off x="6434122" y="2463059"/>
            <a:ext cx="4800600"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21" name="Text 19"/>
          <p:cNvSpPr txBox="1"/>
          <p:nvPr/>
        </p:nvSpPr>
        <p:spPr>
          <a:xfrm>
            <a:off x="6617002" y="2463059"/>
            <a:ext cx="450799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Useful for low altitude satellites; it makes use of the gravity gradient perturbation to remain in a stable configuration.</a:t>
            </a:r>
            <a:endParaRPr lang="en-US" sz="1150" dirty="0"/>
          </a:p>
        </p:txBody>
      </p:sp>
      <p:sp>
        <p:nvSpPr>
          <p:cNvPr id="22" name="Shape 20"/>
          <p:cNvSpPr/>
          <p:nvPr/>
        </p:nvSpPr>
        <p:spPr>
          <a:xfrm>
            <a:off x="371650" y="3121427"/>
            <a:ext cx="2587752"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23" name="Text 21"/>
          <p:cNvSpPr txBox="1"/>
          <p:nvPr/>
        </p:nvSpPr>
        <p:spPr>
          <a:xfrm>
            <a:off x="554530" y="3121427"/>
            <a:ext cx="2295144"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b="1" dirty="0">
                <a:solidFill>
                  <a:srgbClr val="1E2761"/>
                </a:solidFill>
                <a:latin typeface="Ubuntu" pitchFamily="34" charset="0"/>
                <a:ea typeface="Ubuntu" pitchFamily="34" charset="-122"/>
                <a:cs typeface="Ubuntu" pitchFamily="34" charset="-120"/>
              </a:rPr>
              <a:t>Magnetic passive</a:t>
            </a:r>
            <a:endParaRPr lang="en-US" sz="1150" dirty="0"/>
          </a:p>
        </p:txBody>
      </p:sp>
      <p:sp>
        <p:nvSpPr>
          <p:cNvPr id="24" name="Shape 22"/>
          <p:cNvSpPr/>
          <p:nvPr/>
        </p:nvSpPr>
        <p:spPr>
          <a:xfrm>
            <a:off x="2959402" y="3121427"/>
            <a:ext cx="1463040"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25" name="Text 23"/>
          <p:cNvSpPr txBox="1"/>
          <p:nvPr/>
        </p:nvSpPr>
        <p:spPr>
          <a:xfrm>
            <a:off x="3142282" y="3121427"/>
            <a:ext cx="117043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Passive</a:t>
            </a:r>
            <a:endParaRPr lang="en-US" sz="1150" dirty="0"/>
          </a:p>
        </p:txBody>
      </p:sp>
      <p:sp>
        <p:nvSpPr>
          <p:cNvPr id="26" name="Shape 24"/>
          <p:cNvSpPr/>
          <p:nvPr/>
        </p:nvSpPr>
        <p:spPr>
          <a:xfrm>
            <a:off x="4422442" y="3121427"/>
            <a:ext cx="2011680"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27" name="Text 25"/>
          <p:cNvSpPr txBox="1"/>
          <p:nvPr/>
        </p:nvSpPr>
        <p:spPr>
          <a:xfrm>
            <a:off x="4605322" y="3121427"/>
            <a:ext cx="171907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350" b="1" dirty="0">
                <a:solidFill>
                  <a:srgbClr val="1E2761"/>
                </a:solidFill>
                <a:latin typeface="Ubuntu" pitchFamily="34" charset="0"/>
                <a:ea typeface="Ubuntu" pitchFamily="34" charset="-122"/>
                <a:cs typeface="Ubuntu" pitchFamily="34" charset="-120"/>
              </a:rPr>
              <a:t>± 5°</a:t>
            </a:r>
            <a:endParaRPr lang="en-US" sz="1350" dirty="0"/>
          </a:p>
        </p:txBody>
      </p:sp>
      <p:sp>
        <p:nvSpPr>
          <p:cNvPr id="28" name="Shape 26"/>
          <p:cNvSpPr/>
          <p:nvPr/>
        </p:nvSpPr>
        <p:spPr>
          <a:xfrm>
            <a:off x="6434122" y="3121427"/>
            <a:ext cx="4800600"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29" name="Text 27"/>
          <p:cNvSpPr txBox="1"/>
          <p:nvPr/>
        </p:nvSpPr>
        <p:spPr>
          <a:xfrm>
            <a:off x="6617002" y="3121427"/>
            <a:ext cx="450799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Useful for simple satellites in equatorial orbits; permanent magnets on board align the spacecraft with the Earth magnetic field.</a:t>
            </a:r>
            <a:endParaRPr lang="en-US" sz="1150" dirty="0"/>
          </a:p>
        </p:txBody>
      </p:sp>
      <p:sp>
        <p:nvSpPr>
          <p:cNvPr id="30" name="Shape 28"/>
          <p:cNvSpPr/>
          <p:nvPr/>
        </p:nvSpPr>
        <p:spPr>
          <a:xfrm>
            <a:off x="371650" y="3779795"/>
            <a:ext cx="2587752"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31" name="Text 29"/>
          <p:cNvSpPr txBox="1"/>
          <p:nvPr/>
        </p:nvSpPr>
        <p:spPr>
          <a:xfrm>
            <a:off x="554530" y="3779795"/>
            <a:ext cx="2295144"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b="1" dirty="0">
                <a:solidFill>
                  <a:srgbClr val="1E2761"/>
                </a:solidFill>
                <a:latin typeface="Ubuntu" pitchFamily="34" charset="0"/>
                <a:ea typeface="Ubuntu" pitchFamily="34" charset="-122"/>
                <a:cs typeface="Ubuntu" pitchFamily="34" charset="-120"/>
              </a:rPr>
              <a:t>Spin stabilization</a:t>
            </a:r>
            <a:endParaRPr lang="en-US" sz="1150" dirty="0"/>
          </a:p>
        </p:txBody>
      </p:sp>
      <p:sp>
        <p:nvSpPr>
          <p:cNvPr id="32" name="Shape 30"/>
          <p:cNvSpPr/>
          <p:nvPr/>
        </p:nvSpPr>
        <p:spPr>
          <a:xfrm>
            <a:off x="2959402" y="3779795"/>
            <a:ext cx="1463040"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33" name="Text 31"/>
          <p:cNvSpPr txBox="1"/>
          <p:nvPr/>
        </p:nvSpPr>
        <p:spPr>
          <a:xfrm>
            <a:off x="3142282" y="3779795"/>
            <a:ext cx="117043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Hybrid</a:t>
            </a:r>
            <a:endParaRPr lang="en-US" sz="1150" dirty="0"/>
          </a:p>
        </p:txBody>
      </p:sp>
      <p:sp>
        <p:nvSpPr>
          <p:cNvPr id="34" name="Shape 32"/>
          <p:cNvSpPr/>
          <p:nvPr/>
        </p:nvSpPr>
        <p:spPr>
          <a:xfrm>
            <a:off x="4422442" y="3779795"/>
            <a:ext cx="2011680" cy="658368"/>
          </a:xfrm>
          <a:prstGeom prst="rect">
            <a:avLst/>
          </a:prstGeom>
          <a:solidFill>
            <a:srgbClr val="FBEDE7"/>
          </a:solidFill>
          <a:ln w="12700">
            <a:solidFill>
              <a:srgbClr val="DFE5F0"/>
            </a:solidFill>
            <a:prstDash val="solid"/>
          </a:ln>
        </p:spPr>
        <p:txBody>
          <a:bodyPr/>
          <a:lstStyle/>
          <a:p>
            <a:pPr>
              <a:defRPr>
                <a:latin typeface="Ubuntu"/>
                <a:ea typeface="Ubuntu"/>
                <a:cs typeface="Ubuntu"/>
              </a:defRPr>
            </a:pPr>
            <a:endParaRPr lang="en-US"/>
          </a:p>
        </p:txBody>
      </p:sp>
      <p:sp>
        <p:nvSpPr>
          <p:cNvPr id="35" name="Text 33"/>
          <p:cNvSpPr txBox="1"/>
          <p:nvPr/>
        </p:nvSpPr>
        <p:spPr>
          <a:xfrm>
            <a:off x="4605322" y="3779795"/>
            <a:ext cx="171907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350" b="1" dirty="0">
                <a:solidFill>
                  <a:srgbClr val="1E2761"/>
                </a:solidFill>
                <a:latin typeface="Ubuntu" pitchFamily="34" charset="0"/>
                <a:ea typeface="Ubuntu" pitchFamily="34" charset="-122"/>
                <a:cs typeface="Ubuntu" pitchFamily="34" charset="-120"/>
              </a:rPr>
              <a:t>± 1° to ± 0.1°</a:t>
            </a:r>
            <a:endParaRPr lang="en-US" sz="1350" dirty="0"/>
          </a:p>
        </p:txBody>
      </p:sp>
      <p:sp>
        <p:nvSpPr>
          <p:cNvPr id="36" name="Shape 34"/>
          <p:cNvSpPr/>
          <p:nvPr/>
        </p:nvSpPr>
        <p:spPr>
          <a:xfrm>
            <a:off x="6434122" y="3779795"/>
            <a:ext cx="4800600"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37" name="Text 35"/>
          <p:cNvSpPr txBox="1"/>
          <p:nvPr/>
        </p:nvSpPr>
        <p:spPr>
          <a:xfrm>
            <a:off x="6617002" y="3779795"/>
            <a:ext cx="450799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Used for cylindrical satellites; the satellite is slowly spinning, 20 to 90 rpm, gaining thus gyroscopic stiffness.</a:t>
            </a:r>
            <a:endParaRPr lang="en-US" sz="1150" dirty="0"/>
          </a:p>
        </p:txBody>
      </p:sp>
      <p:sp>
        <p:nvSpPr>
          <p:cNvPr id="38" name="Shape 36"/>
          <p:cNvSpPr/>
          <p:nvPr/>
        </p:nvSpPr>
        <p:spPr>
          <a:xfrm>
            <a:off x="371650" y="4438163"/>
            <a:ext cx="2587752"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39" name="Text 37"/>
          <p:cNvSpPr txBox="1"/>
          <p:nvPr/>
        </p:nvSpPr>
        <p:spPr>
          <a:xfrm>
            <a:off x="554530" y="4438163"/>
            <a:ext cx="2295144"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b="1" dirty="0">
                <a:solidFill>
                  <a:srgbClr val="1E2761"/>
                </a:solidFill>
                <a:latin typeface="Ubuntu" pitchFamily="34" charset="0"/>
                <a:ea typeface="Ubuntu" pitchFamily="34" charset="-122"/>
                <a:cs typeface="Ubuntu" pitchFamily="34" charset="-120"/>
              </a:rPr>
              <a:t>Momentum bias</a:t>
            </a:r>
            <a:endParaRPr lang="en-US" sz="1150" dirty="0"/>
          </a:p>
        </p:txBody>
      </p:sp>
      <p:sp>
        <p:nvSpPr>
          <p:cNvPr id="40" name="Shape 38"/>
          <p:cNvSpPr/>
          <p:nvPr/>
        </p:nvSpPr>
        <p:spPr>
          <a:xfrm>
            <a:off x="2959402" y="4438163"/>
            <a:ext cx="1463040"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41" name="Text 39"/>
          <p:cNvSpPr txBox="1"/>
          <p:nvPr/>
        </p:nvSpPr>
        <p:spPr>
          <a:xfrm>
            <a:off x="3142282" y="4438163"/>
            <a:ext cx="117043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Active</a:t>
            </a:r>
            <a:endParaRPr lang="en-US" sz="1150" dirty="0"/>
          </a:p>
        </p:txBody>
      </p:sp>
      <p:sp>
        <p:nvSpPr>
          <p:cNvPr id="42" name="Shape 40"/>
          <p:cNvSpPr/>
          <p:nvPr/>
        </p:nvSpPr>
        <p:spPr>
          <a:xfrm>
            <a:off x="4422442" y="4438163"/>
            <a:ext cx="2011680"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43" name="Text 41"/>
          <p:cNvSpPr txBox="1"/>
          <p:nvPr/>
        </p:nvSpPr>
        <p:spPr>
          <a:xfrm>
            <a:off x="4605322" y="4438163"/>
            <a:ext cx="171907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350" b="1" dirty="0">
                <a:solidFill>
                  <a:srgbClr val="1E2761"/>
                </a:solidFill>
                <a:latin typeface="Ubuntu" pitchFamily="34" charset="0"/>
                <a:ea typeface="Ubuntu" pitchFamily="34" charset="-122"/>
                <a:cs typeface="Ubuntu" pitchFamily="34" charset="-120"/>
              </a:rPr>
              <a:t>± 0.15° to ± 0.05°</a:t>
            </a:r>
            <a:endParaRPr lang="en-US" sz="1350" dirty="0"/>
          </a:p>
        </p:txBody>
      </p:sp>
      <p:sp>
        <p:nvSpPr>
          <p:cNvPr id="44" name="Shape 42"/>
          <p:cNvSpPr/>
          <p:nvPr/>
        </p:nvSpPr>
        <p:spPr>
          <a:xfrm>
            <a:off x="6434122" y="4438163"/>
            <a:ext cx="4800600" cy="658368"/>
          </a:xfrm>
          <a:prstGeom prst="rect">
            <a:avLst/>
          </a:prstGeom>
          <a:solidFill>
            <a:srgbClr val="FFFFFF"/>
          </a:solidFill>
          <a:ln w="12700">
            <a:solidFill>
              <a:srgbClr val="DFE5F0"/>
            </a:solidFill>
            <a:prstDash val="solid"/>
          </a:ln>
        </p:spPr>
        <p:txBody>
          <a:bodyPr/>
          <a:lstStyle/>
          <a:p>
            <a:pPr>
              <a:defRPr>
                <a:latin typeface="Ubuntu"/>
                <a:ea typeface="Ubuntu"/>
                <a:cs typeface="Ubuntu"/>
              </a:defRPr>
            </a:pPr>
            <a:endParaRPr lang="en-US"/>
          </a:p>
        </p:txBody>
      </p:sp>
      <p:sp>
        <p:nvSpPr>
          <p:cNvPr id="45" name="Text 43"/>
          <p:cNvSpPr txBox="1"/>
          <p:nvPr/>
        </p:nvSpPr>
        <p:spPr>
          <a:xfrm>
            <a:off x="6617002" y="4438163"/>
            <a:ext cx="450799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Only one momentum wheel, rotating at high velocity. Similar to a spin satellite, but in this case only the wheel is spinning.</a:t>
            </a:r>
            <a:endParaRPr lang="en-US" sz="1150" dirty="0"/>
          </a:p>
        </p:txBody>
      </p:sp>
      <p:sp>
        <p:nvSpPr>
          <p:cNvPr id="46" name="Shape 44"/>
          <p:cNvSpPr/>
          <p:nvPr/>
        </p:nvSpPr>
        <p:spPr>
          <a:xfrm>
            <a:off x="371650" y="5096531"/>
            <a:ext cx="2587752"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47" name="Text 45"/>
          <p:cNvSpPr txBox="1"/>
          <p:nvPr/>
        </p:nvSpPr>
        <p:spPr>
          <a:xfrm>
            <a:off x="554530" y="5096531"/>
            <a:ext cx="2295144"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b="1" dirty="0">
                <a:solidFill>
                  <a:srgbClr val="1E2761"/>
                </a:solidFill>
                <a:latin typeface="Ubuntu" pitchFamily="34" charset="0"/>
                <a:ea typeface="Ubuntu" pitchFamily="34" charset="-122"/>
                <a:cs typeface="Ubuntu" pitchFamily="34" charset="-120"/>
              </a:rPr>
              <a:t>Zero momentum</a:t>
            </a:r>
            <a:endParaRPr lang="en-US" sz="1150" dirty="0"/>
          </a:p>
        </p:txBody>
      </p:sp>
      <p:sp>
        <p:nvSpPr>
          <p:cNvPr id="48" name="Shape 46"/>
          <p:cNvSpPr/>
          <p:nvPr/>
        </p:nvSpPr>
        <p:spPr>
          <a:xfrm>
            <a:off x="2959402" y="5096531"/>
            <a:ext cx="1463040"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49" name="Text 47"/>
          <p:cNvSpPr txBox="1"/>
          <p:nvPr/>
        </p:nvSpPr>
        <p:spPr>
          <a:xfrm>
            <a:off x="3142282" y="5096531"/>
            <a:ext cx="117043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Active</a:t>
            </a:r>
            <a:endParaRPr lang="en-US" sz="1150" dirty="0"/>
          </a:p>
        </p:txBody>
      </p:sp>
      <p:sp>
        <p:nvSpPr>
          <p:cNvPr id="50" name="Shape 48"/>
          <p:cNvSpPr/>
          <p:nvPr/>
        </p:nvSpPr>
        <p:spPr>
          <a:xfrm>
            <a:off x="4422442" y="5096531"/>
            <a:ext cx="2011680" cy="658368"/>
          </a:xfrm>
          <a:prstGeom prst="rect">
            <a:avLst/>
          </a:prstGeom>
          <a:solidFill>
            <a:srgbClr val="FBEDE7"/>
          </a:solidFill>
          <a:ln w="12700">
            <a:solidFill>
              <a:srgbClr val="DFE5F0"/>
            </a:solidFill>
            <a:prstDash val="solid"/>
          </a:ln>
        </p:spPr>
        <p:txBody>
          <a:bodyPr/>
          <a:lstStyle/>
          <a:p>
            <a:pPr>
              <a:defRPr>
                <a:latin typeface="Ubuntu"/>
                <a:ea typeface="Ubuntu"/>
                <a:cs typeface="Ubuntu"/>
              </a:defRPr>
            </a:pPr>
            <a:endParaRPr lang="en-US"/>
          </a:p>
        </p:txBody>
      </p:sp>
      <p:sp>
        <p:nvSpPr>
          <p:cNvPr id="51" name="Text 49"/>
          <p:cNvSpPr txBox="1"/>
          <p:nvPr/>
        </p:nvSpPr>
        <p:spPr>
          <a:xfrm>
            <a:off x="4605322" y="5096531"/>
            <a:ext cx="171907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350" b="1" dirty="0">
                <a:solidFill>
                  <a:srgbClr val="1E2761"/>
                </a:solidFill>
                <a:latin typeface="Ubuntu" pitchFamily="34" charset="0"/>
                <a:ea typeface="Ubuntu" pitchFamily="34" charset="-122"/>
                <a:cs typeface="Ubuntu" pitchFamily="34" charset="-120"/>
              </a:rPr>
              <a:t>± 0.15° to ± 0.05°</a:t>
            </a:r>
            <a:endParaRPr lang="en-US" sz="1350" dirty="0"/>
          </a:p>
        </p:txBody>
      </p:sp>
      <p:sp>
        <p:nvSpPr>
          <p:cNvPr id="52" name="Shape 50"/>
          <p:cNvSpPr/>
          <p:nvPr/>
        </p:nvSpPr>
        <p:spPr>
          <a:xfrm>
            <a:off x="6434122" y="5096531"/>
            <a:ext cx="4800600" cy="658368"/>
          </a:xfrm>
          <a:prstGeom prst="rect">
            <a:avLst/>
          </a:prstGeom>
          <a:solidFill>
            <a:srgbClr val="F4F6FB"/>
          </a:solidFill>
          <a:ln w="12700">
            <a:solidFill>
              <a:srgbClr val="DFE5F0"/>
            </a:solidFill>
            <a:prstDash val="solid"/>
          </a:ln>
        </p:spPr>
        <p:txBody>
          <a:bodyPr/>
          <a:lstStyle/>
          <a:p>
            <a:pPr>
              <a:defRPr>
                <a:latin typeface="Ubuntu"/>
                <a:ea typeface="Ubuntu"/>
                <a:cs typeface="Ubuntu"/>
              </a:defRPr>
            </a:pPr>
            <a:endParaRPr lang="en-US"/>
          </a:p>
        </p:txBody>
      </p:sp>
      <p:sp>
        <p:nvSpPr>
          <p:cNvPr id="53" name="Text 51"/>
          <p:cNvSpPr txBox="1"/>
          <p:nvPr/>
        </p:nvSpPr>
        <p:spPr>
          <a:xfrm>
            <a:off x="6617002" y="5096531"/>
            <a:ext cx="4507992" cy="658368"/>
          </a:xfrm>
          <a:prstGeom prst="rect">
            <a:avLst/>
          </a:prstGeom>
          <a:noFill/>
          <a:ln/>
        </p:spPr>
        <p:txBody>
          <a:bodyPr wrap="square" lIns="0" tIns="0" rIns="0" bIns="0" rtlCol="0" anchor="ctr"/>
          <a:lstStyle/>
          <a:p>
            <a:pPr marL="0" indent="0">
              <a:lnSpc>
                <a:spcPct val="105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Three reaction wheels counteract the external torques by varying their velocity, one for each satellite axis. Usually four are used, to increase redundancy.</a:t>
            </a:r>
            <a:endParaRPr lang="en-US" sz="1150" dirty="0"/>
          </a:p>
        </p:txBody>
      </p:sp>
      <p:sp>
        <p:nvSpPr>
          <p:cNvPr id="57" name="Text 55"/>
          <p:cNvSpPr txBox="1"/>
          <p:nvPr/>
        </p:nvSpPr>
        <p:spPr>
          <a:xfrm>
            <a:off x="658368" y="6163056"/>
            <a:ext cx="10881360" cy="219456"/>
          </a:xfrm>
          <a:prstGeom prst="rect">
            <a:avLst/>
          </a:prstGeom>
          <a:noFill/>
          <a:ln/>
        </p:spPr>
        <p:txBody>
          <a:bodyPr wrap="square" lIns="0" tIns="0" rIns="0" bIns="0" rtlCol="0" anchor="ctr"/>
          <a:lstStyle/>
          <a:p>
            <a:pPr marL="0" indent="0">
              <a:buNone/>
              <a:defRPr>
                <a:latin typeface="Ubuntu"/>
                <a:ea typeface="Ubuntu"/>
                <a:cs typeface="Ubuntu"/>
              </a:defRPr>
            </a:pPr>
            <a:r>
              <a:rPr lang="en-US" sz="900" i="1" dirty="0">
                <a:solidFill>
                  <a:srgbClr val="5F6B8C"/>
                </a:solidFill>
                <a:latin typeface="Ubuntu" pitchFamily="34" charset="0"/>
                <a:ea typeface="Ubuntu" pitchFamily="34" charset="-122"/>
                <a:cs typeface="Ubuntu" pitchFamily="34" charset="-120"/>
              </a:rPr>
              <a:t>Quoted sentence: NASA SSRI Knowledge Base, A Brief Survey of Attitude Control Systems for Small Satellites — s3vi.ndc.nasa.gov/ssri-kb</a:t>
            </a:r>
            <a:endParaRPr lang="en-US" sz="900" dirty="0"/>
          </a:p>
        </p:txBody>
      </p:sp>
      <p:sp>
        <p:nvSpPr>
          <p:cNvPr id="58" name="Text 56"/>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Pointing and Attitude Control</a:t>
            </a:r>
            <a:endParaRPr lang="en-US" sz="950" dirty="0"/>
          </a:p>
        </p:txBody>
      </p:sp>
      <p:sp>
        <p:nvSpPr>
          <p:cNvPr id="61" name="Slide Number Placeholder 7">
            <a:extLst>
              <a:ext uri="{FF2B5EF4-FFF2-40B4-BE49-F238E27FC236}">
                <a16:creationId xmlns:a16="http://schemas.microsoft.com/office/drawing/2014/main" id="{33653D83-8F6F-C4FE-7A86-053E9B67A242}"/>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42</a:t>
            </a:fld>
            <a:endParaRPr lang="en-US" sz="4800" b="1" dirty="0">
              <a:solidFill>
                <a:srgbClr val="FF0000"/>
              </a:solidFill>
            </a:endParaRPr>
          </a:p>
        </p:txBody>
      </p:sp>
      <p:pic>
        <p:nvPicPr>
          <p:cNvPr id="62" name="Space Faculty logo" descr="sf_logo.png"/>
          <p:cNvPicPr>
            <a:picLocks noChangeAspect="1"/>
          </p:cNvPicPr>
          <p:nvPr/>
        </p:nvPicPr>
        <p:blipFill>
          <a:blip r:embed="rId3"/>
          <a:stretch>
            <a:fillRect/>
          </a:stretch>
        </p:blipFill>
        <p:spPr>
          <a:xfrm>
            <a:off x="10406032" y="54864"/>
            <a:ext cx="1673191" cy="47548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658368" y="905256"/>
            <a:ext cx="10984687" cy="566928"/>
          </a:xfrm>
          <a:prstGeom prst="rect">
            <a:avLst/>
          </a:prstGeom>
          <a:noFill/>
          <a:ln/>
        </p:spPr>
        <p:txBody>
          <a:bodyPr wrap="square" lIns="0" tIns="0" rIns="0" bIns="0" rtlCol="0" anchor="ctr"/>
          <a:lstStyle/>
          <a:p>
            <a:pPr marL="0" indent="0">
              <a:buNone/>
              <a:defRPr>
                <a:latin typeface="Ubuntu"/>
                <a:ea typeface="Ubuntu"/>
                <a:cs typeface="Ubuntu"/>
              </a:defRPr>
            </a:pPr>
            <a:r>
              <a:rPr lang="en-US" sz="4800" b="1" dirty="0">
                <a:solidFill>
                  <a:srgbClr val="1E2761"/>
                </a:solidFill>
                <a:latin typeface="Ubuntu" pitchFamily="34" charset="0"/>
                <a:ea typeface="Ubuntu" pitchFamily="34" charset="-122"/>
                <a:cs typeface="Ubuntu" pitchFamily="34" charset="-120"/>
              </a:rPr>
              <a:t>Selecting an ADCS: a worked example</a:t>
            </a:r>
            <a:endParaRPr lang="en-US" sz="4800" dirty="0"/>
          </a:p>
        </p:txBody>
      </p:sp>
      <p:sp>
        <p:nvSpPr>
          <p:cNvPr id="4" name="Shape 2"/>
          <p:cNvSpPr/>
          <p:nvPr/>
        </p:nvSpPr>
        <p:spPr>
          <a:xfrm>
            <a:off x="658368" y="1545336"/>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673352"/>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1450" dirty="0">
                <a:solidFill>
                  <a:srgbClr val="5F6B8C"/>
                </a:solidFill>
                <a:latin typeface="Ubuntu" pitchFamily="34" charset="0"/>
                <a:ea typeface="Ubuntu" pitchFamily="34" charset="-122"/>
                <a:cs typeface="Ubuntu" pitchFamily="34" charset="-120"/>
              </a:rPr>
              <a:t>We want to design an ADCS subsystem for a CubeSat, around 20 x 20 x 30 cm. The scope of the mission is to use an optical payload to obtain images of the stars and distant galaxies.</a:t>
            </a:r>
            <a:endParaRPr lang="en-US" sz="1450" dirty="0"/>
          </a:p>
        </p:txBody>
      </p:sp>
      <p:sp>
        <p:nvSpPr>
          <p:cNvPr id="6" name="Shape 4"/>
          <p:cNvSpPr/>
          <p:nvPr/>
        </p:nvSpPr>
        <p:spPr>
          <a:xfrm>
            <a:off x="658368" y="2313432"/>
            <a:ext cx="5029200" cy="2286000"/>
          </a:xfrm>
          <a:prstGeom prst="roundRect">
            <a:avLst>
              <a:gd name="adj" fmla="val 2000"/>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7" name="Text 5"/>
          <p:cNvSpPr txBox="1"/>
          <p:nvPr/>
        </p:nvSpPr>
        <p:spPr>
          <a:xfrm>
            <a:off x="950976" y="2514600"/>
            <a:ext cx="448056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40" dirty="0">
                <a:solidFill>
                  <a:srgbClr val="D85A30"/>
                </a:solidFill>
                <a:latin typeface="Ubuntu" pitchFamily="34" charset="0"/>
                <a:ea typeface="Ubuntu" pitchFamily="34" charset="-122"/>
                <a:cs typeface="Ubuntu" pitchFamily="34" charset="-120"/>
              </a:rPr>
              <a:t>THE REQUIREMENT</a:t>
            </a:r>
            <a:endParaRPr lang="en-US" sz="1000" dirty="0"/>
          </a:p>
        </p:txBody>
      </p:sp>
      <p:sp>
        <p:nvSpPr>
          <p:cNvPr id="8" name="Text 6"/>
          <p:cNvSpPr txBox="1"/>
          <p:nvPr/>
        </p:nvSpPr>
        <p:spPr>
          <a:xfrm>
            <a:off x="950976" y="2788920"/>
            <a:ext cx="4480560" cy="621792"/>
          </a:xfrm>
          <a:prstGeom prst="rect">
            <a:avLst/>
          </a:prstGeom>
          <a:noFill/>
          <a:ln/>
        </p:spPr>
        <p:txBody>
          <a:bodyPr wrap="square" lIns="0" tIns="0" rIns="0" bIns="0" rtlCol="0" anchor="ctr"/>
          <a:lstStyle/>
          <a:p>
            <a:pPr marL="0" indent="0">
              <a:buNone/>
              <a:defRPr>
                <a:latin typeface="Ubuntu"/>
                <a:ea typeface="Ubuntu"/>
                <a:cs typeface="Ubuntu"/>
              </a:defRPr>
            </a:pPr>
            <a:r>
              <a:rPr lang="en-US" sz="3600" b="1" dirty="0">
                <a:solidFill>
                  <a:srgbClr val="FFFFFF"/>
                </a:solidFill>
                <a:latin typeface="Ubuntu" pitchFamily="34" charset="0"/>
                <a:ea typeface="Ubuntu" pitchFamily="34" charset="-122"/>
                <a:cs typeface="Ubuntu" pitchFamily="34" charset="-120"/>
              </a:rPr>
              <a:t>0.1°</a:t>
            </a:r>
            <a:endParaRPr lang="en-US" sz="3600" dirty="0"/>
          </a:p>
        </p:txBody>
      </p:sp>
      <p:sp>
        <p:nvSpPr>
          <p:cNvPr id="9" name="Text 7"/>
          <p:cNvSpPr txBox="1"/>
          <p:nvPr/>
        </p:nvSpPr>
        <p:spPr>
          <a:xfrm>
            <a:off x="950976" y="3447288"/>
            <a:ext cx="4434840" cy="1005840"/>
          </a:xfrm>
          <a:prstGeom prst="rect">
            <a:avLst/>
          </a:prstGeom>
          <a:noFill/>
          <a:ln/>
        </p:spPr>
        <p:txBody>
          <a:bodyPr wrap="square" lIns="0" tIns="0" rIns="0" bIns="0" rtlCol="0" anchor="ctr"/>
          <a:lstStyle/>
          <a:p>
            <a:pPr marL="0" indent="0">
              <a:lnSpc>
                <a:spcPct val="120000"/>
              </a:lnSpc>
              <a:buNone/>
              <a:defRPr>
                <a:latin typeface="Ubuntu"/>
                <a:ea typeface="Ubuntu"/>
                <a:cs typeface="Ubuntu"/>
              </a:defRPr>
            </a:pPr>
            <a:r>
              <a:rPr lang="en-US" sz="1250" dirty="0">
                <a:solidFill>
                  <a:srgbClr val="CADCFC"/>
                </a:solidFill>
                <a:latin typeface="Ubuntu" pitchFamily="34" charset="0"/>
                <a:ea typeface="Ubuntu" pitchFamily="34" charset="-122"/>
                <a:cs typeface="Ubuntu" pitchFamily="34" charset="-120"/>
              </a:rPr>
              <a:t>The required pointing accuracy is around 0.1 degrees. The orbit will be at 550 km altitude.</a:t>
            </a:r>
            <a:endParaRPr lang="en-US" sz="1250" dirty="0"/>
          </a:p>
        </p:txBody>
      </p:sp>
      <p:sp>
        <p:nvSpPr>
          <p:cNvPr id="10" name="Shape 8"/>
          <p:cNvSpPr/>
          <p:nvPr/>
        </p:nvSpPr>
        <p:spPr>
          <a:xfrm>
            <a:off x="6035040" y="2313432"/>
            <a:ext cx="5486400" cy="1325880"/>
          </a:xfrm>
          <a:prstGeom prst="roundRect">
            <a:avLst>
              <a:gd name="adj" fmla="val 3448"/>
            </a:avLst>
          </a:prstGeom>
          <a:solidFill>
            <a:srgbClr val="FBEDE7"/>
          </a:solidFill>
          <a:ln w="12700">
            <a:solidFill>
              <a:srgbClr val="FBEDE7"/>
            </a:solidFill>
            <a:prstDash val="solid"/>
          </a:ln>
        </p:spPr>
        <p:txBody>
          <a:bodyPr/>
          <a:lstStyle/>
          <a:p>
            <a:pPr>
              <a:defRPr>
                <a:latin typeface="Ubuntu"/>
                <a:ea typeface="Ubuntu"/>
                <a:cs typeface="Ubuntu"/>
              </a:defRPr>
            </a:pPr>
            <a:endParaRPr lang="en-US"/>
          </a:p>
        </p:txBody>
      </p:sp>
      <p:sp>
        <p:nvSpPr>
          <p:cNvPr id="11" name="Shape 9"/>
          <p:cNvSpPr/>
          <p:nvPr/>
        </p:nvSpPr>
        <p:spPr>
          <a:xfrm>
            <a:off x="6035040" y="2313432"/>
            <a:ext cx="50292" cy="1325880"/>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12" name="Text 10"/>
          <p:cNvSpPr txBox="1"/>
          <p:nvPr/>
        </p:nvSpPr>
        <p:spPr>
          <a:xfrm>
            <a:off x="6291072" y="2432304"/>
            <a:ext cx="502920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20" dirty="0">
                <a:solidFill>
                  <a:srgbClr val="5F6B8C"/>
                </a:solidFill>
                <a:latin typeface="Ubuntu" pitchFamily="34" charset="0"/>
                <a:ea typeface="Ubuntu" pitchFamily="34" charset="-122"/>
                <a:cs typeface="Ubuntu" pitchFamily="34" charset="-120"/>
              </a:rPr>
              <a:t>Control technique</a:t>
            </a:r>
            <a:endParaRPr lang="en-US" sz="1000" dirty="0"/>
          </a:p>
        </p:txBody>
      </p:sp>
      <p:sp>
        <p:nvSpPr>
          <p:cNvPr id="13" name="Text 11"/>
          <p:cNvSpPr txBox="1"/>
          <p:nvPr/>
        </p:nvSpPr>
        <p:spPr>
          <a:xfrm>
            <a:off x="6291072" y="2679192"/>
            <a:ext cx="5029200" cy="384048"/>
          </a:xfrm>
          <a:prstGeom prst="rect">
            <a:avLst/>
          </a:prstGeom>
          <a:noFill/>
          <a:ln/>
        </p:spPr>
        <p:txBody>
          <a:bodyPr wrap="square" lIns="0" tIns="0" rIns="0" bIns="0" rtlCol="0" anchor="ctr"/>
          <a:lstStyle/>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Zero momentum with reaction wheels and magnetorquers</a:t>
            </a:r>
            <a:endParaRPr lang="en-US" sz="1550" dirty="0"/>
          </a:p>
        </p:txBody>
      </p:sp>
      <p:sp>
        <p:nvSpPr>
          <p:cNvPr id="14" name="Text 12"/>
          <p:cNvSpPr txBox="1"/>
          <p:nvPr/>
        </p:nvSpPr>
        <p:spPr>
          <a:xfrm>
            <a:off x="6291072" y="3099816"/>
            <a:ext cx="5029200" cy="45720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Passive methods reach only ± 5°, and every type of wheel needs to be desaturated.</a:t>
            </a:r>
            <a:endParaRPr lang="en-US" sz="1150" dirty="0"/>
          </a:p>
        </p:txBody>
      </p:sp>
      <p:sp>
        <p:nvSpPr>
          <p:cNvPr id="15" name="Shape 13"/>
          <p:cNvSpPr/>
          <p:nvPr/>
        </p:nvSpPr>
        <p:spPr>
          <a:xfrm>
            <a:off x="6035040" y="3794760"/>
            <a:ext cx="5486400" cy="1325880"/>
          </a:xfrm>
          <a:prstGeom prst="roundRect">
            <a:avLst>
              <a:gd name="adj" fmla="val 3448"/>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6" name="Shape 14"/>
          <p:cNvSpPr/>
          <p:nvPr/>
        </p:nvSpPr>
        <p:spPr>
          <a:xfrm>
            <a:off x="6035040" y="3794760"/>
            <a:ext cx="50292" cy="132588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7" name="Text 15"/>
          <p:cNvSpPr txBox="1"/>
          <p:nvPr/>
        </p:nvSpPr>
        <p:spPr>
          <a:xfrm>
            <a:off x="6291072" y="3913632"/>
            <a:ext cx="502920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20" dirty="0">
                <a:solidFill>
                  <a:srgbClr val="5F6B8C"/>
                </a:solidFill>
                <a:latin typeface="Ubuntu" pitchFamily="34" charset="0"/>
                <a:ea typeface="Ubuntu" pitchFamily="34" charset="-122"/>
                <a:cs typeface="Ubuntu" pitchFamily="34" charset="-120"/>
              </a:rPr>
              <a:t>Sensors</a:t>
            </a:r>
            <a:endParaRPr lang="en-US" sz="1000" dirty="0"/>
          </a:p>
        </p:txBody>
      </p:sp>
      <p:sp>
        <p:nvSpPr>
          <p:cNvPr id="18" name="Text 16"/>
          <p:cNvSpPr txBox="1"/>
          <p:nvPr/>
        </p:nvSpPr>
        <p:spPr>
          <a:xfrm>
            <a:off x="6291072" y="4160520"/>
            <a:ext cx="5029200" cy="384048"/>
          </a:xfrm>
          <a:prstGeom prst="rect">
            <a:avLst/>
          </a:prstGeom>
          <a:noFill/>
          <a:ln/>
        </p:spPr>
        <p:txBody>
          <a:bodyPr wrap="square" lIns="0" tIns="0" rIns="0" bIns="0" rtlCol="0" anchor="ctr"/>
          <a:lstStyle/>
          <a:p>
            <a:pPr marL="0" indent="0">
              <a:buNone/>
              <a:defRPr>
                <a:latin typeface="Ubuntu"/>
                <a:ea typeface="Ubuntu"/>
                <a:cs typeface="Ubuntu"/>
              </a:defRPr>
            </a:pPr>
            <a:r>
              <a:rPr lang="en-US" sz="1550" b="1" dirty="0">
                <a:solidFill>
                  <a:srgbClr val="1E2761"/>
                </a:solidFill>
                <a:latin typeface="Ubuntu" pitchFamily="34" charset="0"/>
                <a:ea typeface="Ubuntu" pitchFamily="34" charset="-122"/>
                <a:cs typeface="Ubuntu" pitchFamily="34" charset="-120"/>
              </a:rPr>
              <a:t>Star tracker and magnetometer</a:t>
            </a:r>
            <a:endParaRPr lang="en-US" sz="1550" dirty="0"/>
          </a:p>
        </p:txBody>
      </p:sp>
      <p:sp>
        <p:nvSpPr>
          <p:cNvPr id="19" name="Text 17"/>
          <p:cNvSpPr txBox="1"/>
          <p:nvPr/>
        </p:nvSpPr>
        <p:spPr>
          <a:xfrm>
            <a:off x="6291072" y="4581144"/>
            <a:ext cx="5029200" cy="45720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Star sensors are the most precise; magnetometers are usually used with magnetorquers.</a:t>
            </a:r>
            <a:endParaRPr lang="en-US" sz="1150" dirty="0"/>
          </a:p>
        </p:txBody>
      </p:sp>
      <p:sp>
        <p:nvSpPr>
          <p:cNvPr id="20" name="Shape 18"/>
          <p:cNvSpPr/>
          <p:nvPr/>
        </p:nvSpPr>
        <p:spPr>
          <a:xfrm>
            <a:off x="658368" y="4764024"/>
            <a:ext cx="5029200" cy="877824"/>
          </a:xfrm>
          <a:prstGeom prst="roundRect">
            <a:avLst>
              <a:gd name="adj" fmla="val 6250"/>
            </a:avLst>
          </a:prstGeom>
          <a:solidFill>
            <a:srgbClr val="FBEDE7"/>
          </a:solidFill>
          <a:ln w="12700">
            <a:solidFill>
              <a:srgbClr val="F0D3C7"/>
            </a:solidFill>
            <a:prstDash val="solid"/>
          </a:ln>
        </p:spPr>
        <p:txBody>
          <a:bodyPr/>
          <a:lstStyle/>
          <a:p>
            <a:pPr>
              <a:defRPr>
                <a:latin typeface="Ubuntu"/>
                <a:ea typeface="Ubuntu"/>
                <a:cs typeface="Ubuntu"/>
              </a:defRPr>
            </a:pPr>
            <a:endParaRPr lang="en-US"/>
          </a:p>
        </p:txBody>
      </p:sp>
      <p:sp>
        <p:nvSpPr>
          <p:cNvPr id="21" name="Shape 19"/>
          <p:cNvSpPr/>
          <p:nvPr/>
        </p:nvSpPr>
        <p:spPr>
          <a:xfrm>
            <a:off x="658368" y="4764024"/>
            <a:ext cx="50292" cy="877824"/>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22" name="Text 20"/>
          <p:cNvSpPr txBox="1"/>
          <p:nvPr/>
        </p:nvSpPr>
        <p:spPr>
          <a:xfrm>
            <a:off x="877824" y="4864608"/>
            <a:ext cx="4663440" cy="201168"/>
          </a:xfrm>
          <a:prstGeom prst="rect">
            <a:avLst/>
          </a:prstGeom>
          <a:noFill/>
          <a:ln/>
        </p:spPr>
        <p:txBody>
          <a:bodyPr wrap="square" lIns="0" tIns="0" rIns="0" bIns="0" rtlCol="0" anchor="ctr"/>
          <a:lstStyle/>
          <a:p>
            <a:pPr marL="0" indent="0">
              <a:buNone/>
              <a:defRPr>
                <a:latin typeface="Ubuntu"/>
                <a:ea typeface="Ubuntu"/>
                <a:cs typeface="Ubuntu"/>
              </a:defRPr>
            </a:pPr>
            <a:r>
              <a:rPr lang="en-US" sz="950" b="1" kern="0" spc="120" dirty="0">
                <a:solidFill>
                  <a:srgbClr val="D85A30"/>
                </a:solidFill>
                <a:latin typeface="Ubuntu" pitchFamily="34" charset="0"/>
                <a:ea typeface="Ubuntu" pitchFamily="34" charset="-122"/>
                <a:cs typeface="Ubuntu" pitchFamily="34" charset="-120"/>
              </a:rPr>
              <a:t>QUESTION</a:t>
            </a:r>
            <a:endParaRPr lang="en-US" sz="950" dirty="0"/>
          </a:p>
        </p:txBody>
      </p:sp>
      <p:sp>
        <p:nvSpPr>
          <p:cNvPr id="23" name="Text 21"/>
          <p:cNvSpPr txBox="1"/>
          <p:nvPr/>
        </p:nvSpPr>
        <p:spPr>
          <a:xfrm>
            <a:off x="877824" y="5074920"/>
            <a:ext cx="4617720" cy="493776"/>
          </a:xfrm>
          <a:prstGeom prst="rect">
            <a:avLst/>
          </a:prstGeom>
          <a:noFill/>
          <a:ln/>
        </p:spPr>
        <p:txBody>
          <a:bodyPr wrap="square" lIns="0" tIns="0" rIns="0" bIns="0" rtlCol="0" anchor="ctr"/>
          <a:lstStyle/>
          <a:p>
            <a:pPr marL="0" indent="0">
              <a:buNone/>
              <a:defRPr>
                <a:latin typeface="Ubuntu"/>
                <a:ea typeface="Ubuntu"/>
                <a:cs typeface="Ubuntu"/>
              </a:defRPr>
            </a:pPr>
            <a:r>
              <a:rPr lang="en-US" sz="1350" i="1" dirty="0">
                <a:solidFill>
                  <a:srgbClr val="1E2761"/>
                </a:solidFill>
                <a:latin typeface="Ubuntu" pitchFamily="34" charset="0"/>
                <a:ea typeface="Ubuntu" pitchFamily="34" charset="-122"/>
                <a:cs typeface="Ubuntu" pitchFamily="34" charset="-120"/>
              </a:rPr>
              <a:t>Considering the external torques, which maximum actuator torque do you choose: 3 x 10⁻⁴, 3.53 x 10⁻⁴, 5.3 x 10⁻⁴ or 4 x 10⁻¹ Nm?</a:t>
            </a:r>
            <a:endParaRPr lang="en-US" sz="1350" dirty="0"/>
          </a:p>
        </p:txBody>
      </p:sp>
      <p:sp>
        <p:nvSpPr>
          <p:cNvPr id="24" name="Text 22"/>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Pointing and Attitude Control</a:t>
            </a:r>
            <a:endParaRPr lang="en-US" sz="950" dirty="0"/>
          </a:p>
        </p:txBody>
      </p:sp>
      <p:sp>
        <p:nvSpPr>
          <p:cNvPr id="27" name="Slide Number Placeholder 7">
            <a:extLst>
              <a:ext uri="{FF2B5EF4-FFF2-40B4-BE49-F238E27FC236}">
                <a16:creationId xmlns:a16="http://schemas.microsoft.com/office/drawing/2014/main" id="{6B3F6BC5-AB32-33E7-84F8-19F78B54F2B7}"/>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43</a:t>
            </a:fld>
            <a:endParaRPr lang="en-US" sz="4800" b="1" dirty="0">
              <a:solidFill>
                <a:srgbClr val="FF0000"/>
              </a:solidFill>
            </a:endParaRPr>
          </a:p>
        </p:txBody>
      </p:sp>
      <p:pic>
        <p:nvPicPr>
          <p:cNvPr id="28" name="Space Faculty logo" descr="sf_logo.png"/>
          <p:cNvPicPr>
            <a:picLocks noChangeAspect="1"/>
          </p:cNvPicPr>
          <p:nvPr/>
        </p:nvPicPr>
        <p:blipFill>
          <a:blip r:embed="rId3"/>
          <a:stretch>
            <a:fillRect/>
          </a:stretch>
        </p:blipFill>
        <p:spPr>
          <a:xfrm>
            <a:off x="10116442" y="54864"/>
            <a:ext cx="1962782" cy="55778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3" name="Text 1"/>
          <p:cNvSpPr txBox="1"/>
          <p:nvPr/>
        </p:nvSpPr>
        <p:spPr>
          <a:xfrm>
            <a:off x="658368" y="508441"/>
            <a:ext cx="10984687" cy="566928"/>
          </a:xfrm>
          <a:prstGeom prst="rect">
            <a:avLst/>
          </a:prstGeom>
          <a:noFill/>
          <a:ln/>
        </p:spPr>
        <p:txBody>
          <a:bodyPr wrap="square" lIns="0" tIns="0" rIns="0" bIns="0" rtlCol="0" anchor="ctr"/>
          <a:lstStyle/>
          <a:p>
            <a:pPr marL="0" indent="0">
              <a:buNone/>
              <a:defRPr>
                <a:latin typeface="Ubuntu"/>
                <a:ea typeface="Ubuntu"/>
                <a:cs typeface="Ubuntu"/>
              </a:defRPr>
            </a:pPr>
            <a:r>
              <a:rPr lang="en-US" sz="4000" b="1" dirty="0">
                <a:solidFill>
                  <a:srgbClr val="1E2761"/>
                </a:solidFill>
                <a:latin typeface="Ubuntu" pitchFamily="34" charset="0"/>
                <a:ea typeface="Ubuntu" pitchFamily="34" charset="-122"/>
                <a:cs typeface="Ubuntu" pitchFamily="34" charset="-120"/>
              </a:rPr>
              <a:t>Exercise 4 — Attitude Control Selection</a:t>
            </a:r>
            <a:endParaRPr lang="en-US" sz="4000" dirty="0"/>
          </a:p>
        </p:txBody>
      </p:sp>
      <p:sp>
        <p:nvSpPr>
          <p:cNvPr id="4" name="Shape 2"/>
          <p:cNvSpPr/>
          <p:nvPr/>
        </p:nvSpPr>
        <p:spPr>
          <a:xfrm>
            <a:off x="658368" y="1060704"/>
            <a:ext cx="502920" cy="50292"/>
          </a:xfrm>
          <a:prstGeom prst="rect">
            <a:avLst/>
          </a:prstGeom>
          <a:solidFill>
            <a:srgbClr val="D85A30"/>
          </a:solidFill>
          <a:ln w="12700">
            <a:solidFill>
              <a:srgbClr val="D85A30"/>
            </a:solidFill>
            <a:prstDash val="solid"/>
          </a:ln>
        </p:spPr>
        <p:txBody>
          <a:bodyPr/>
          <a:lstStyle/>
          <a:p>
            <a:pPr>
              <a:defRPr>
                <a:latin typeface="Ubuntu"/>
                <a:ea typeface="Ubuntu"/>
                <a:cs typeface="Ubuntu"/>
              </a:defRPr>
            </a:pPr>
            <a:endParaRPr lang="en-US"/>
          </a:p>
        </p:txBody>
      </p:sp>
      <p:sp>
        <p:nvSpPr>
          <p:cNvPr id="5" name="Text 3"/>
          <p:cNvSpPr txBox="1"/>
          <p:nvPr/>
        </p:nvSpPr>
        <p:spPr>
          <a:xfrm>
            <a:off x="658368" y="1188720"/>
            <a:ext cx="10710367" cy="347472"/>
          </a:xfrm>
          <a:prstGeom prst="rect">
            <a:avLst/>
          </a:prstGeom>
          <a:noFill/>
          <a:ln/>
        </p:spPr>
        <p:txBody>
          <a:bodyPr wrap="square" lIns="0" tIns="0" rIns="0" bIns="0" rtlCol="0" anchor="t"/>
          <a:lstStyle/>
          <a:p>
            <a:pPr marL="0" indent="0">
              <a:buNone/>
              <a:defRPr>
                <a:latin typeface="Ubuntu"/>
                <a:ea typeface="Ubuntu"/>
                <a:cs typeface="Ubuntu"/>
              </a:defRPr>
            </a:pPr>
            <a:r>
              <a:rPr lang="en-US" sz="1450" dirty="0">
                <a:solidFill>
                  <a:srgbClr val="5F6B8C"/>
                </a:solidFill>
                <a:latin typeface="Ubuntu" pitchFamily="34" charset="0"/>
                <a:ea typeface="Ubuntu" pitchFamily="34" charset="-122"/>
                <a:cs typeface="Ubuntu" pitchFamily="34" charset="-120"/>
              </a:rPr>
              <a:t>Fifteen minutes, in your team, on the design sheet.</a:t>
            </a:r>
            <a:endParaRPr lang="en-US" sz="1450" dirty="0"/>
          </a:p>
        </p:txBody>
      </p:sp>
      <p:sp>
        <p:nvSpPr>
          <p:cNvPr id="6" name="Shape 4"/>
          <p:cNvSpPr/>
          <p:nvPr/>
        </p:nvSpPr>
        <p:spPr>
          <a:xfrm>
            <a:off x="10545775" y="1197864"/>
            <a:ext cx="1097280" cy="420624"/>
          </a:xfrm>
          <a:prstGeom prst="roundRect">
            <a:avLst>
              <a:gd name="adj" fmla="val 21739"/>
            </a:avLst>
          </a:prstGeom>
          <a:solidFill>
            <a:srgbClr val="FBEDE7"/>
          </a:solidFill>
          <a:ln w="12700">
            <a:solidFill>
              <a:srgbClr val="FBEDE7"/>
            </a:solidFill>
            <a:prstDash val="solid"/>
          </a:ln>
        </p:spPr>
        <p:txBody>
          <a:bodyPr/>
          <a:lstStyle/>
          <a:p>
            <a:pPr>
              <a:defRPr>
                <a:latin typeface="Ubuntu"/>
                <a:ea typeface="Ubuntu"/>
                <a:cs typeface="Ubuntu"/>
              </a:defRPr>
            </a:pPr>
            <a:endParaRPr lang="en-US"/>
          </a:p>
        </p:txBody>
      </p:sp>
      <p:sp>
        <p:nvSpPr>
          <p:cNvPr id="7" name="Text 5"/>
          <p:cNvSpPr txBox="1"/>
          <p:nvPr/>
        </p:nvSpPr>
        <p:spPr>
          <a:xfrm>
            <a:off x="10620727" y="1207008"/>
            <a:ext cx="1097280" cy="420624"/>
          </a:xfrm>
          <a:prstGeom prst="rect">
            <a:avLst/>
          </a:prstGeom>
          <a:noFill/>
          <a:ln/>
        </p:spPr>
        <p:txBody>
          <a:bodyPr wrap="square" lIns="0" tIns="0" rIns="0" bIns="0" rtlCol="0" anchor="ctr"/>
          <a:lstStyle/>
          <a:p>
            <a:pPr marL="0" indent="0" algn="ctr">
              <a:buNone/>
              <a:defRPr>
                <a:latin typeface="Ubuntu"/>
                <a:ea typeface="Ubuntu"/>
                <a:cs typeface="Ubuntu"/>
              </a:defRPr>
            </a:pPr>
            <a:r>
              <a:rPr lang="en-US" sz="1200" b="1" dirty="0">
                <a:solidFill>
                  <a:srgbClr val="D85A30"/>
                </a:solidFill>
                <a:latin typeface="Ubuntu" pitchFamily="34" charset="0"/>
                <a:ea typeface="Ubuntu" pitchFamily="34" charset="-122"/>
                <a:cs typeface="Ubuntu" pitchFamily="34" charset="-120"/>
              </a:rPr>
              <a:t>10 min</a:t>
            </a:r>
            <a:endParaRPr lang="en-US" sz="1200" dirty="0"/>
          </a:p>
        </p:txBody>
      </p:sp>
      <p:sp>
        <p:nvSpPr>
          <p:cNvPr id="8" name="Text 6"/>
          <p:cNvSpPr txBox="1"/>
          <p:nvPr/>
        </p:nvSpPr>
        <p:spPr>
          <a:xfrm>
            <a:off x="658368" y="1810512"/>
            <a:ext cx="694944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30" dirty="0">
                <a:solidFill>
                  <a:srgbClr val="D85A30"/>
                </a:solidFill>
                <a:latin typeface="Ubuntu" pitchFamily="34" charset="0"/>
                <a:ea typeface="Ubuntu" pitchFamily="34" charset="-122"/>
                <a:cs typeface="Ubuntu" pitchFamily="34" charset="-120"/>
              </a:rPr>
              <a:t>THE TASK</a:t>
            </a:r>
            <a:endParaRPr lang="en-US" sz="1000" dirty="0"/>
          </a:p>
        </p:txBody>
      </p:sp>
      <p:sp>
        <p:nvSpPr>
          <p:cNvPr id="9" name="Shape 7"/>
          <p:cNvSpPr/>
          <p:nvPr/>
        </p:nvSpPr>
        <p:spPr>
          <a:xfrm>
            <a:off x="658368" y="2103120"/>
            <a:ext cx="6949440" cy="786384"/>
          </a:xfrm>
          <a:prstGeom prst="roundRect">
            <a:avLst>
              <a:gd name="adj" fmla="val 5814"/>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0" name="Shape 8"/>
          <p:cNvSpPr/>
          <p:nvPr/>
        </p:nvSpPr>
        <p:spPr>
          <a:xfrm>
            <a:off x="896112" y="2322576"/>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1" name="Text 9"/>
          <p:cNvSpPr txBox="1"/>
          <p:nvPr/>
        </p:nvSpPr>
        <p:spPr>
          <a:xfrm>
            <a:off x="896112" y="2322576"/>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1100" b="1" dirty="0">
                <a:solidFill>
                  <a:srgbClr val="FFFFFF"/>
                </a:solidFill>
                <a:latin typeface="Ubuntu" pitchFamily="34" charset="0"/>
                <a:ea typeface="Ubuntu" pitchFamily="34" charset="-122"/>
                <a:cs typeface="Ubuntu" pitchFamily="34" charset="-120"/>
              </a:rPr>
              <a:t>1</a:t>
            </a:r>
            <a:endParaRPr lang="en-US" sz="1100" dirty="0"/>
          </a:p>
        </p:txBody>
      </p:sp>
      <p:sp>
        <p:nvSpPr>
          <p:cNvPr id="12" name="Text 10"/>
          <p:cNvSpPr txBox="1"/>
          <p:nvPr/>
        </p:nvSpPr>
        <p:spPr>
          <a:xfrm>
            <a:off x="1408176" y="2103120"/>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1200" dirty="0">
                <a:solidFill>
                  <a:srgbClr val="3C4657"/>
                </a:solidFill>
                <a:latin typeface="Ubuntu" pitchFamily="34" charset="0"/>
                <a:ea typeface="Ubuntu" pitchFamily="34" charset="-122"/>
                <a:cs typeface="Ubuntu" pitchFamily="34" charset="-120"/>
              </a:rPr>
              <a:t>State the pointing accuracy your imaging payload requires, and where that number comes from.</a:t>
            </a:r>
            <a:endParaRPr lang="en-US" sz="1200" dirty="0"/>
          </a:p>
        </p:txBody>
      </p:sp>
      <p:sp>
        <p:nvSpPr>
          <p:cNvPr id="13" name="Shape 11"/>
          <p:cNvSpPr/>
          <p:nvPr/>
        </p:nvSpPr>
        <p:spPr>
          <a:xfrm>
            <a:off x="658368" y="2980944"/>
            <a:ext cx="6949440" cy="786384"/>
          </a:xfrm>
          <a:prstGeom prst="roundRect">
            <a:avLst>
              <a:gd name="adj" fmla="val 5814"/>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14" name="Shape 12"/>
          <p:cNvSpPr/>
          <p:nvPr/>
        </p:nvSpPr>
        <p:spPr>
          <a:xfrm>
            <a:off x="896112" y="3200400"/>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5" name="Text 13"/>
          <p:cNvSpPr txBox="1"/>
          <p:nvPr/>
        </p:nvSpPr>
        <p:spPr>
          <a:xfrm>
            <a:off x="896112" y="3200400"/>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1100" b="1" dirty="0">
                <a:solidFill>
                  <a:srgbClr val="FFFFFF"/>
                </a:solidFill>
                <a:latin typeface="Ubuntu" pitchFamily="34" charset="0"/>
                <a:ea typeface="Ubuntu" pitchFamily="34" charset="-122"/>
                <a:cs typeface="Ubuntu" pitchFamily="34" charset="-120"/>
              </a:rPr>
              <a:t>2</a:t>
            </a:r>
            <a:endParaRPr lang="en-US" sz="1100" dirty="0"/>
          </a:p>
        </p:txBody>
      </p:sp>
      <p:sp>
        <p:nvSpPr>
          <p:cNvPr id="16" name="Text 14"/>
          <p:cNvSpPr txBox="1"/>
          <p:nvPr/>
        </p:nvSpPr>
        <p:spPr>
          <a:xfrm>
            <a:off x="1408176" y="2980944"/>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1200" dirty="0">
                <a:solidFill>
                  <a:srgbClr val="3C4657"/>
                </a:solidFill>
                <a:latin typeface="Ubuntu" pitchFamily="34" charset="0"/>
                <a:ea typeface="Ubuntu" pitchFamily="34" charset="-122"/>
                <a:cs typeface="Ubuntu" pitchFamily="34" charset="-120"/>
              </a:rPr>
              <a:t>Choose the control technique that meets it, from the five listed, and give the reason.</a:t>
            </a:r>
            <a:endParaRPr lang="en-US" sz="1200" dirty="0"/>
          </a:p>
        </p:txBody>
      </p:sp>
      <p:sp>
        <p:nvSpPr>
          <p:cNvPr id="17" name="Shape 15"/>
          <p:cNvSpPr/>
          <p:nvPr/>
        </p:nvSpPr>
        <p:spPr>
          <a:xfrm>
            <a:off x="658368" y="3858768"/>
            <a:ext cx="6949440" cy="786384"/>
          </a:xfrm>
          <a:prstGeom prst="roundRect">
            <a:avLst>
              <a:gd name="adj" fmla="val 5814"/>
            </a:avLst>
          </a:prstGeom>
          <a:solidFill>
            <a:srgbClr val="F4F6FB"/>
          </a:solidFill>
          <a:ln w="12700">
            <a:solidFill>
              <a:srgbClr val="F4F6FB"/>
            </a:solidFill>
            <a:prstDash val="solid"/>
          </a:ln>
        </p:spPr>
        <p:txBody>
          <a:bodyPr/>
          <a:lstStyle/>
          <a:p>
            <a:pPr>
              <a:defRPr>
                <a:latin typeface="Ubuntu"/>
                <a:ea typeface="Ubuntu"/>
                <a:cs typeface="Ubuntu"/>
              </a:defRPr>
            </a:pPr>
            <a:endParaRPr lang="en-US"/>
          </a:p>
        </p:txBody>
      </p:sp>
      <p:sp>
        <p:nvSpPr>
          <p:cNvPr id="18" name="Shape 16"/>
          <p:cNvSpPr/>
          <p:nvPr/>
        </p:nvSpPr>
        <p:spPr>
          <a:xfrm>
            <a:off x="896112" y="4078224"/>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19" name="Text 17"/>
          <p:cNvSpPr txBox="1"/>
          <p:nvPr/>
        </p:nvSpPr>
        <p:spPr>
          <a:xfrm>
            <a:off x="896112" y="4078224"/>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1100" b="1" dirty="0">
                <a:solidFill>
                  <a:srgbClr val="FFFFFF"/>
                </a:solidFill>
                <a:latin typeface="Ubuntu" pitchFamily="34" charset="0"/>
                <a:ea typeface="Ubuntu" pitchFamily="34" charset="-122"/>
                <a:cs typeface="Ubuntu" pitchFamily="34" charset="-120"/>
              </a:rPr>
              <a:t>3</a:t>
            </a:r>
            <a:endParaRPr lang="en-US" sz="1100" dirty="0"/>
          </a:p>
        </p:txBody>
      </p:sp>
      <p:sp>
        <p:nvSpPr>
          <p:cNvPr id="20" name="Text 18"/>
          <p:cNvSpPr txBox="1"/>
          <p:nvPr/>
        </p:nvSpPr>
        <p:spPr>
          <a:xfrm>
            <a:off x="1408176" y="3858768"/>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1200" dirty="0">
                <a:solidFill>
                  <a:srgbClr val="3C4657"/>
                </a:solidFill>
                <a:latin typeface="Ubuntu" pitchFamily="34" charset="0"/>
                <a:ea typeface="Ubuntu" pitchFamily="34" charset="-122"/>
                <a:cs typeface="Ubuntu" pitchFamily="34" charset="-120"/>
              </a:rPr>
              <a:t>Choose the sensors that support it, and give the reason.</a:t>
            </a:r>
            <a:endParaRPr lang="en-US" sz="1200" dirty="0"/>
          </a:p>
        </p:txBody>
      </p:sp>
      <p:sp>
        <p:nvSpPr>
          <p:cNvPr id="21" name="Shape 19"/>
          <p:cNvSpPr/>
          <p:nvPr/>
        </p:nvSpPr>
        <p:spPr>
          <a:xfrm>
            <a:off x="658368" y="4736592"/>
            <a:ext cx="6949440" cy="786384"/>
          </a:xfrm>
          <a:prstGeom prst="roundRect">
            <a:avLst>
              <a:gd name="adj" fmla="val 5814"/>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22" name="Shape 20"/>
          <p:cNvSpPr/>
          <p:nvPr/>
        </p:nvSpPr>
        <p:spPr>
          <a:xfrm>
            <a:off x="896112" y="4956048"/>
            <a:ext cx="347472" cy="347472"/>
          </a:xfrm>
          <a:prstGeom prst="ellipse">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23" name="Text 21"/>
          <p:cNvSpPr txBox="1"/>
          <p:nvPr/>
        </p:nvSpPr>
        <p:spPr>
          <a:xfrm>
            <a:off x="896112" y="4956048"/>
            <a:ext cx="347472" cy="347472"/>
          </a:xfrm>
          <a:prstGeom prst="rect">
            <a:avLst/>
          </a:prstGeom>
          <a:noFill/>
          <a:ln/>
        </p:spPr>
        <p:txBody>
          <a:bodyPr wrap="square" lIns="0" tIns="0" rIns="0" bIns="0" rtlCol="0" anchor="ctr"/>
          <a:lstStyle/>
          <a:p>
            <a:pPr marL="0" indent="0" algn="ctr">
              <a:buNone/>
              <a:defRPr>
                <a:latin typeface="Ubuntu"/>
                <a:ea typeface="Ubuntu"/>
                <a:cs typeface="Ubuntu"/>
              </a:defRPr>
            </a:pPr>
            <a:r>
              <a:rPr lang="en-US" sz="1100" b="1" dirty="0">
                <a:solidFill>
                  <a:srgbClr val="FFFFFF"/>
                </a:solidFill>
                <a:latin typeface="Ubuntu" pitchFamily="34" charset="0"/>
                <a:ea typeface="Ubuntu" pitchFamily="34" charset="-122"/>
                <a:cs typeface="Ubuntu" pitchFamily="34" charset="-120"/>
              </a:rPr>
              <a:t>4</a:t>
            </a:r>
            <a:endParaRPr lang="en-US" sz="1100" dirty="0"/>
          </a:p>
        </p:txBody>
      </p:sp>
      <p:sp>
        <p:nvSpPr>
          <p:cNvPr id="24" name="Text 22"/>
          <p:cNvSpPr txBox="1"/>
          <p:nvPr/>
        </p:nvSpPr>
        <p:spPr>
          <a:xfrm>
            <a:off x="1408176" y="4736592"/>
            <a:ext cx="5943600" cy="786384"/>
          </a:xfrm>
          <a:prstGeom prst="rect">
            <a:avLst/>
          </a:prstGeom>
          <a:noFill/>
          <a:ln/>
        </p:spPr>
        <p:txBody>
          <a:bodyPr wrap="square" lIns="0" tIns="0" rIns="0" bIns="0" rtlCol="0" anchor="ctr"/>
          <a:lstStyle/>
          <a:p>
            <a:pPr marL="0" indent="0">
              <a:lnSpc>
                <a:spcPct val="112000"/>
              </a:lnSpc>
              <a:buNone/>
              <a:defRPr>
                <a:latin typeface="Ubuntu"/>
                <a:ea typeface="Ubuntu"/>
                <a:cs typeface="Ubuntu"/>
              </a:defRPr>
            </a:pPr>
            <a:r>
              <a:rPr lang="en-US" sz="1200" dirty="0">
                <a:solidFill>
                  <a:srgbClr val="3C4657"/>
                </a:solidFill>
                <a:latin typeface="Ubuntu" pitchFamily="34" charset="0"/>
                <a:ea typeface="Ubuntu" pitchFamily="34" charset="-122"/>
                <a:cs typeface="Ubuntu" pitchFamily="34" charset="-120"/>
              </a:rPr>
              <a:t>Reaction wheels saturate. Say what desaturates them on your satellite, and what that costs you in mass, power or volume.</a:t>
            </a:r>
            <a:endParaRPr lang="en-US" sz="1200" dirty="0"/>
          </a:p>
        </p:txBody>
      </p:sp>
      <p:sp>
        <p:nvSpPr>
          <p:cNvPr id="25" name="Text 23"/>
          <p:cNvSpPr txBox="1"/>
          <p:nvPr/>
        </p:nvSpPr>
        <p:spPr>
          <a:xfrm>
            <a:off x="7818120" y="1810512"/>
            <a:ext cx="3703320" cy="237744"/>
          </a:xfrm>
          <a:prstGeom prst="rect">
            <a:avLst/>
          </a:prstGeom>
          <a:noFill/>
          <a:ln/>
        </p:spPr>
        <p:txBody>
          <a:bodyPr wrap="square" lIns="0" tIns="0" rIns="0" bIns="0" rtlCol="0" anchor="ctr"/>
          <a:lstStyle/>
          <a:p>
            <a:pPr marL="0" indent="0">
              <a:buNone/>
              <a:defRPr>
                <a:latin typeface="Ubuntu"/>
                <a:ea typeface="Ubuntu"/>
                <a:cs typeface="Ubuntu"/>
              </a:defRPr>
            </a:pPr>
            <a:r>
              <a:rPr lang="en-US" sz="1000" b="1" kern="0" spc="130" dirty="0">
                <a:solidFill>
                  <a:srgbClr val="1E2761"/>
                </a:solidFill>
                <a:latin typeface="Ubuntu" pitchFamily="34" charset="0"/>
                <a:ea typeface="Ubuntu" pitchFamily="34" charset="-122"/>
                <a:cs typeface="Ubuntu" pitchFamily="34" charset="-120"/>
              </a:rPr>
              <a:t>POINTING ACCURACY BY METHOD</a:t>
            </a:r>
            <a:endParaRPr lang="en-US" sz="1000" dirty="0"/>
          </a:p>
        </p:txBody>
      </p:sp>
      <p:sp>
        <p:nvSpPr>
          <p:cNvPr id="26" name="Shape 24"/>
          <p:cNvSpPr/>
          <p:nvPr/>
        </p:nvSpPr>
        <p:spPr>
          <a:xfrm>
            <a:off x="7818120" y="2103120"/>
            <a:ext cx="3703320" cy="603504"/>
          </a:xfrm>
          <a:prstGeom prst="roundRect">
            <a:avLst>
              <a:gd name="adj" fmla="val 7576"/>
            </a:avLst>
          </a:prstGeom>
          <a:solidFill>
            <a:srgbClr val="FBEDE7"/>
          </a:solidFill>
          <a:ln w="12700">
            <a:solidFill>
              <a:srgbClr val="FBEDE7"/>
            </a:solidFill>
            <a:prstDash val="solid"/>
          </a:ln>
        </p:spPr>
        <p:txBody>
          <a:bodyPr/>
          <a:lstStyle/>
          <a:p>
            <a:pPr>
              <a:defRPr>
                <a:latin typeface="Ubuntu"/>
                <a:ea typeface="Ubuntu"/>
                <a:cs typeface="Ubuntu"/>
              </a:defRPr>
            </a:pPr>
            <a:endParaRPr lang="en-US"/>
          </a:p>
        </p:txBody>
      </p:sp>
      <p:sp>
        <p:nvSpPr>
          <p:cNvPr id="27" name="Text 25"/>
          <p:cNvSpPr txBox="1"/>
          <p:nvPr/>
        </p:nvSpPr>
        <p:spPr>
          <a:xfrm>
            <a:off x="8055864" y="2103120"/>
            <a:ext cx="155448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Gravity gradient</a:t>
            </a:r>
            <a:endParaRPr lang="en-US" sz="1150" dirty="0"/>
          </a:p>
        </p:txBody>
      </p:sp>
      <p:sp>
        <p:nvSpPr>
          <p:cNvPr id="28" name="Text 26"/>
          <p:cNvSpPr txBox="1"/>
          <p:nvPr/>
        </p:nvSpPr>
        <p:spPr>
          <a:xfrm>
            <a:off x="9610344" y="2103120"/>
            <a:ext cx="169164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1200" b="1" dirty="0">
                <a:solidFill>
                  <a:srgbClr val="1E2761"/>
                </a:solidFill>
                <a:latin typeface="Ubuntu" pitchFamily="34" charset="0"/>
                <a:ea typeface="Ubuntu" pitchFamily="34" charset="-122"/>
                <a:cs typeface="Ubuntu" pitchFamily="34" charset="-120"/>
              </a:rPr>
              <a:t>± 5°</a:t>
            </a:r>
            <a:endParaRPr lang="en-US" sz="1200" dirty="0"/>
          </a:p>
        </p:txBody>
      </p:sp>
      <p:sp>
        <p:nvSpPr>
          <p:cNvPr id="29" name="Shape 27"/>
          <p:cNvSpPr/>
          <p:nvPr/>
        </p:nvSpPr>
        <p:spPr>
          <a:xfrm>
            <a:off x="7818120" y="2779776"/>
            <a:ext cx="3703320" cy="603504"/>
          </a:xfrm>
          <a:prstGeom prst="roundRect">
            <a:avLst>
              <a:gd name="adj" fmla="val 7576"/>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30" name="Text 28"/>
          <p:cNvSpPr txBox="1"/>
          <p:nvPr/>
        </p:nvSpPr>
        <p:spPr>
          <a:xfrm>
            <a:off x="8055864" y="2779776"/>
            <a:ext cx="155448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Magnetic passive</a:t>
            </a:r>
            <a:endParaRPr lang="en-US" sz="1150" dirty="0"/>
          </a:p>
        </p:txBody>
      </p:sp>
      <p:sp>
        <p:nvSpPr>
          <p:cNvPr id="31" name="Text 29"/>
          <p:cNvSpPr txBox="1"/>
          <p:nvPr/>
        </p:nvSpPr>
        <p:spPr>
          <a:xfrm>
            <a:off x="9610344" y="2779776"/>
            <a:ext cx="169164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1200" b="1" dirty="0">
                <a:solidFill>
                  <a:srgbClr val="1E2761"/>
                </a:solidFill>
                <a:latin typeface="Ubuntu" pitchFamily="34" charset="0"/>
                <a:ea typeface="Ubuntu" pitchFamily="34" charset="-122"/>
                <a:cs typeface="Ubuntu" pitchFamily="34" charset="-120"/>
              </a:rPr>
              <a:t>± 5°</a:t>
            </a:r>
            <a:endParaRPr lang="en-US" sz="1200" dirty="0"/>
          </a:p>
        </p:txBody>
      </p:sp>
      <p:sp>
        <p:nvSpPr>
          <p:cNvPr id="32" name="Shape 30"/>
          <p:cNvSpPr/>
          <p:nvPr/>
        </p:nvSpPr>
        <p:spPr>
          <a:xfrm>
            <a:off x="7818120" y="3456432"/>
            <a:ext cx="3703320" cy="603504"/>
          </a:xfrm>
          <a:prstGeom prst="roundRect">
            <a:avLst>
              <a:gd name="adj" fmla="val 7576"/>
            </a:avLst>
          </a:prstGeom>
          <a:solidFill>
            <a:srgbClr val="FBEDE7"/>
          </a:solidFill>
          <a:ln w="12700">
            <a:solidFill>
              <a:srgbClr val="FBEDE7"/>
            </a:solidFill>
            <a:prstDash val="solid"/>
          </a:ln>
        </p:spPr>
        <p:txBody>
          <a:bodyPr/>
          <a:lstStyle/>
          <a:p>
            <a:pPr>
              <a:defRPr>
                <a:latin typeface="Ubuntu"/>
                <a:ea typeface="Ubuntu"/>
                <a:cs typeface="Ubuntu"/>
              </a:defRPr>
            </a:pPr>
            <a:endParaRPr lang="en-US"/>
          </a:p>
        </p:txBody>
      </p:sp>
      <p:sp>
        <p:nvSpPr>
          <p:cNvPr id="33" name="Text 31"/>
          <p:cNvSpPr txBox="1"/>
          <p:nvPr/>
        </p:nvSpPr>
        <p:spPr>
          <a:xfrm>
            <a:off x="8055864" y="3456432"/>
            <a:ext cx="155448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Spin stabilization</a:t>
            </a:r>
            <a:endParaRPr lang="en-US" sz="1150" dirty="0"/>
          </a:p>
        </p:txBody>
      </p:sp>
      <p:sp>
        <p:nvSpPr>
          <p:cNvPr id="34" name="Text 32"/>
          <p:cNvSpPr txBox="1"/>
          <p:nvPr/>
        </p:nvSpPr>
        <p:spPr>
          <a:xfrm>
            <a:off x="9610344" y="3456432"/>
            <a:ext cx="169164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1200" b="1" dirty="0">
                <a:solidFill>
                  <a:srgbClr val="1E2761"/>
                </a:solidFill>
                <a:latin typeface="Ubuntu" pitchFamily="34" charset="0"/>
                <a:ea typeface="Ubuntu" pitchFamily="34" charset="-122"/>
                <a:cs typeface="Ubuntu" pitchFamily="34" charset="-120"/>
              </a:rPr>
              <a:t>± 1° to ± 0.1°</a:t>
            </a:r>
            <a:endParaRPr lang="en-US" sz="1200" dirty="0"/>
          </a:p>
        </p:txBody>
      </p:sp>
      <p:sp>
        <p:nvSpPr>
          <p:cNvPr id="35" name="Shape 33"/>
          <p:cNvSpPr/>
          <p:nvPr/>
        </p:nvSpPr>
        <p:spPr>
          <a:xfrm>
            <a:off x="7818120" y="4133088"/>
            <a:ext cx="3703320" cy="603504"/>
          </a:xfrm>
          <a:prstGeom prst="roundRect">
            <a:avLst>
              <a:gd name="adj" fmla="val 7576"/>
            </a:avLst>
          </a:prstGeom>
          <a:solidFill>
            <a:srgbClr val="FFFFFF"/>
          </a:solidFill>
          <a:ln w="12700">
            <a:solidFill>
              <a:srgbClr val="FFFFFF"/>
            </a:solidFill>
            <a:prstDash val="solid"/>
          </a:ln>
        </p:spPr>
        <p:txBody>
          <a:bodyPr/>
          <a:lstStyle/>
          <a:p>
            <a:pPr>
              <a:defRPr>
                <a:latin typeface="Ubuntu"/>
                <a:ea typeface="Ubuntu"/>
                <a:cs typeface="Ubuntu"/>
              </a:defRPr>
            </a:pPr>
            <a:endParaRPr lang="en-US"/>
          </a:p>
        </p:txBody>
      </p:sp>
      <p:sp>
        <p:nvSpPr>
          <p:cNvPr id="36" name="Text 34"/>
          <p:cNvSpPr txBox="1"/>
          <p:nvPr/>
        </p:nvSpPr>
        <p:spPr>
          <a:xfrm>
            <a:off x="8055864" y="4133088"/>
            <a:ext cx="155448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Momentum bias</a:t>
            </a:r>
            <a:endParaRPr lang="en-US" sz="1150" dirty="0"/>
          </a:p>
        </p:txBody>
      </p:sp>
      <p:sp>
        <p:nvSpPr>
          <p:cNvPr id="37" name="Text 35"/>
          <p:cNvSpPr txBox="1"/>
          <p:nvPr/>
        </p:nvSpPr>
        <p:spPr>
          <a:xfrm>
            <a:off x="9610344" y="4133088"/>
            <a:ext cx="169164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1200" b="1" dirty="0">
                <a:solidFill>
                  <a:srgbClr val="1E2761"/>
                </a:solidFill>
                <a:latin typeface="Ubuntu" pitchFamily="34" charset="0"/>
                <a:ea typeface="Ubuntu" pitchFamily="34" charset="-122"/>
                <a:cs typeface="Ubuntu" pitchFamily="34" charset="-120"/>
              </a:rPr>
              <a:t>± 0.15° to ± 0.05°</a:t>
            </a:r>
            <a:endParaRPr lang="en-US" sz="1200" dirty="0"/>
          </a:p>
        </p:txBody>
      </p:sp>
      <p:sp>
        <p:nvSpPr>
          <p:cNvPr id="38" name="Shape 36"/>
          <p:cNvSpPr/>
          <p:nvPr/>
        </p:nvSpPr>
        <p:spPr>
          <a:xfrm>
            <a:off x="7818120" y="4809744"/>
            <a:ext cx="3703320" cy="603504"/>
          </a:xfrm>
          <a:prstGeom prst="roundRect">
            <a:avLst>
              <a:gd name="adj" fmla="val 7576"/>
            </a:avLst>
          </a:prstGeom>
          <a:solidFill>
            <a:srgbClr val="FBEDE7"/>
          </a:solidFill>
          <a:ln w="12700">
            <a:solidFill>
              <a:srgbClr val="FBEDE7"/>
            </a:solidFill>
            <a:prstDash val="solid"/>
          </a:ln>
        </p:spPr>
        <p:txBody>
          <a:bodyPr/>
          <a:lstStyle/>
          <a:p>
            <a:pPr>
              <a:defRPr>
                <a:latin typeface="Ubuntu"/>
                <a:ea typeface="Ubuntu"/>
                <a:cs typeface="Ubuntu"/>
              </a:defRPr>
            </a:pPr>
            <a:endParaRPr lang="en-US"/>
          </a:p>
        </p:txBody>
      </p:sp>
      <p:sp>
        <p:nvSpPr>
          <p:cNvPr id="39" name="Text 37"/>
          <p:cNvSpPr txBox="1"/>
          <p:nvPr/>
        </p:nvSpPr>
        <p:spPr>
          <a:xfrm>
            <a:off x="8055864" y="4809744"/>
            <a:ext cx="1554480" cy="603504"/>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150" dirty="0">
                <a:solidFill>
                  <a:srgbClr val="3C4657"/>
                </a:solidFill>
                <a:latin typeface="Ubuntu" pitchFamily="34" charset="0"/>
                <a:ea typeface="Ubuntu" pitchFamily="34" charset="-122"/>
                <a:cs typeface="Ubuntu" pitchFamily="34" charset="-120"/>
              </a:rPr>
              <a:t>Zero momentum</a:t>
            </a:r>
            <a:endParaRPr lang="en-US" sz="1150" dirty="0"/>
          </a:p>
        </p:txBody>
      </p:sp>
      <p:sp>
        <p:nvSpPr>
          <p:cNvPr id="40" name="Text 38"/>
          <p:cNvSpPr txBox="1"/>
          <p:nvPr/>
        </p:nvSpPr>
        <p:spPr>
          <a:xfrm>
            <a:off x="9610344" y="4809744"/>
            <a:ext cx="1691640" cy="603504"/>
          </a:xfrm>
          <a:prstGeom prst="rect">
            <a:avLst/>
          </a:prstGeom>
          <a:noFill/>
          <a:ln/>
        </p:spPr>
        <p:txBody>
          <a:bodyPr wrap="square" lIns="0" tIns="0" rIns="0" bIns="0" rtlCol="0" anchor="ctr"/>
          <a:lstStyle/>
          <a:p>
            <a:pPr marL="0" indent="0" algn="r">
              <a:buNone/>
              <a:defRPr>
                <a:latin typeface="Ubuntu"/>
                <a:ea typeface="Ubuntu"/>
                <a:cs typeface="Ubuntu"/>
              </a:defRPr>
            </a:pPr>
            <a:r>
              <a:rPr lang="en-US" sz="1200" b="1" dirty="0">
                <a:solidFill>
                  <a:srgbClr val="1E2761"/>
                </a:solidFill>
                <a:latin typeface="Ubuntu" pitchFamily="34" charset="0"/>
                <a:ea typeface="Ubuntu" pitchFamily="34" charset="-122"/>
                <a:cs typeface="Ubuntu" pitchFamily="34" charset="-120"/>
              </a:rPr>
              <a:t>± 0.15° to ± 0.05°</a:t>
            </a:r>
            <a:endParaRPr lang="en-US" sz="1200" dirty="0"/>
          </a:p>
        </p:txBody>
      </p:sp>
      <p:sp>
        <p:nvSpPr>
          <p:cNvPr id="41" name="Shape 39"/>
          <p:cNvSpPr/>
          <p:nvPr/>
        </p:nvSpPr>
        <p:spPr>
          <a:xfrm>
            <a:off x="658368" y="5614416"/>
            <a:ext cx="10881360" cy="640080"/>
          </a:xfrm>
          <a:prstGeom prst="roundRect">
            <a:avLst>
              <a:gd name="adj" fmla="val 7143"/>
            </a:avLst>
          </a:prstGeom>
          <a:solidFill>
            <a:srgbClr val="E3EBFB"/>
          </a:solidFill>
          <a:ln w="12700">
            <a:solidFill>
              <a:srgbClr val="E3EBFB"/>
            </a:solidFill>
            <a:prstDash val="solid"/>
          </a:ln>
        </p:spPr>
        <p:txBody>
          <a:bodyPr/>
          <a:lstStyle/>
          <a:p>
            <a:pPr>
              <a:defRPr>
                <a:latin typeface="Ubuntu"/>
                <a:ea typeface="Ubuntu"/>
                <a:cs typeface="Ubuntu"/>
              </a:defRPr>
            </a:pPr>
            <a:endParaRPr lang="en-US"/>
          </a:p>
        </p:txBody>
      </p:sp>
      <p:sp>
        <p:nvSpPr>
          <p:cNvPr id="42" name="Shape 40"/>
          <p:cNvSpPr/>
          <p:nvPr/>
        </p:nvSpPr>
        <p:spPr>
          <a:xfrm>
            <a:off x="658368" y="5614416"/>
            <a:ext cx="50292" cy="640080"/>
          </a:xfrm>
          <a:prstGeom prst="rect">
            <a:avLst/>
          </a:prstGeom>
          <a:solidFill>
            <a:srgbClr val="1E2761"/>
          </a:solidFill>
          <a:ln w="12700">
            <a:solidFill>
              <a:srgbClr val="1E2761"/>
            </a:solidFill>
            <a:prstDash val="solid"/>
          </a:ln>
        </p:spPr>
        <p:txBody>
          <a:bodyPr/>
          <a:lstStyle/>
          <a:p>
            <a:pPr>
              <a:defRPr>
                <a:latin typeface="Ubuntu"/>
                <a:ea typeface="Ubuntu"/>
                <a:cs typeface="Ubuntu"/>
              </a:defRPr>
            </a:pPr>
            <a:endParaRPr lang="en-US"/>
          </a:p>
        </p:txBody>
      </p:sp>
      <p:sp>
        <p:nvSpPr>
          <p:cNvPr id="43" name="Text 41"/>
          <p:cNvSpPr txBox="1"/>
          <p:nvPr/>
        </p:nvSpPr>
        <p:spPr>
          <a:xfrm>
            <a:off x="950976" y="5614416"/>
            <a:ext cx="10332720" cy="640080"/>
          </a:xfrm>
          <a:prstGeom prst="rect">
            <a:avLst/>
          </a:prstGeom>
          <a:noFill/>
          <a:ln/>
        </p:spPr>
        <p:txBody>
          <a:bodyPr wrap="square" lIns="0" tIns="0" rIns="0" bIns="0" rtlCol="0" anchor="ctr"/>
          <a:lstStyle/>
          <a:p>
            <a:pPr marL="0" indent="0">
              <a:lnSpc>
                <a:spcPct val="110000"/>
              </a:lnSpc>
              <a:buNone/>
              <a:defRPr>
                <a:latin typeface="Ubuntu"/>
                <a:ea typeface="Ubuntu"/>
                <a:cs typeface="Ubuntu"/>
              </a:defRPr>
            </a:pPr>
            <a:r>
              <a:rPr lang="en-US" sz="1200" b="1" dirty="0">
                <a:solidFill>
                  <a:srgbClr val="1E2761"/>
                </a:solidFill>
                <a:latin typeface="Ubuntu" pitchFamily="34" charset="0"/>
                <a:ea typeface="Ubuntu" pitchFamily="34" charset="-122"/>
                <a:cs typeface="Ubuntu" pitchFamily="34" charset="-120"/>
              </a:rPr>
              <a:t>Hand back   </a:t>
            </a:r>
            <a:r>
              <a:rPr lang="en-US" sz="1200" dirty="0">
                <a:solidFill>
                  <a:srgbClr val="3C4657"/>
                </a:solidFill>
                <a:latin typeface="Ubuntu" pitchFamily="34" charset="0"/>
                <a:ea typeface="Ubuntu" pitchFamily="34" charset="-122"/>
                <a:cs typeface="Ubuntu" pitchFamily="34" charset="-120"/>
              </a:rPr>
              <a:t>the required pointing accuracy, the control technique and sensor set with reasons, and the desaturation method with its cost.</a:t>
            </a:r>
            <a:endParaRPr lang="en-US" sz="1200" dirty="0"/>
          </a:p>
        </p:txBody>
      </p:sp>
      <p:sp>
        <p:nvSpPr>
          <p:cNvPr id="44" name="Text 42"/>
          <p:cNvSpPr txBox="1"/>
          <p:nvPr/>
        </p:nvSpPr>
        <p:spPr>
          <a:xfrm>
            <a:off x="658368" y="6382512"/>
            <a:ext cx="7315200" cy="256032"/>
          </a:xfrm>
          <a:prstGeom prst="rect">
            <a:avLst/>
          </a:prstGeom>
          <a:noFill/>
          <a:ln/>
        </p:spPr>
        <p:txBody>
          <a:bodyPr wrap="square" lIns="0" tIns="0" rIns="0" bIns="0" rtlCol="0" anchor="ctr"/>
          <a:lstStyle/>
          <a:p>
            <a:pPr marL="0" indent="0">
              <a:buNone/>
              <a:defRPr>
                <a:latin typeface="Ubuntu"/>
                <a:ea typeface="Ubuntu"/>
                <a:cs typeface="Ubuntu"/>
              </a:defRPr>
            </a:pPr>
            <a:r>
              <a:rPr lang="en-US" sz="950" dirty="0">
                <a:solidFill>
                  <a:srgbClr val="A6B0C4"/>
                </a:solidFill>
                <a:latin typeface="Ubuntu" pitchFamily="34" charset="0"/>
                <a:ea typeface="Ubuntu" pitchFamily="34" charset="-122"/>
                <a:cs typeface="Ubuntu" pitchFamily="34" charset="-120"/>
              </a:rPr>
              <a:t>Pointing and Attitude Control</a:t>
            </a:r>
            <a:endParaRPr lang="en-US" sz="950" dirty="0"/>
          </a:p>
        </p:txBody>
      </p:sp>
      <p:sp>
        <p:nvSpPr>
          <p:cNvPr id="47" name="Slide Number Placeholder 7">
            <a:extLst>
              <a:ext uri="{FF2B5EF4-FFF2-40B4-BE49-F238E27FC236}">
                <a16:creationId xmlns:a16="http://schemas.microsoft.com/office/drawing/2014/main" id="{DFBD3A5A-3B4F-E432-4968-D78EC057F12B}"/>
              </a:ext>
            </a:extLst>
          </p:cNvPr>
          <p:cNvSpPr txBox="1">
            <a:spLocks/>
          </p:cNvSpPr>
          <p:nvPr/>
        </p:nvSpPr>
        <p:spPr>
          <a:xfrm>
            <a:off x="11460069" y="6535155"/>
            <a:ext cx="1096109" cy="322845"/>
          </a:xfrm>
          <a:prstGeom prst="rect">
            <a:avLst/>
          </a:prstGeom>
        </p:spPr>
        <p:txBody>
          <a:bodyPr wrap="square" lIns="0" tIns="0" rIns="0" bIns="0">
            <a:spAutoFit/>
          </a:bodyPr>
          <a:lstStyle>
            <a:defPPr>
              <a:defRPr lang="en-US"/>
            </a:defPPr>
            <a:lvl1pPr marL="0" algn="l" defTabSz="914400" rtl="0" eaLnBrk="1" latinLnBrk="0" hangingPunct="1">
              <a:defRPr sz="1600" b="0" i="0" kern="1200">
                <a:solidFill>
                  <a:srgbClr val="051C4B"/>
                </a:solidFill>
                <a:latin typeface="Arial MT"/>
                <a:ea typeface="+mn-ea"/>
                <a:cs typeface="Arial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7465">
              <a:lnSpc>
                <a:spcPts val="1870"/>
              </a:lnSpc>
              <a:defRPr>
                <a:latin typeface="Ubuntu"/>
                <a:ea typeface="Ubuntu"/>
                <a:cs typeface="Ubuntu"/>
              </a:defRPr>
            </a:pPr>
            <a:fld id="{81D60167-4931-47E6-BA6A-407CBD079E47}" type="slidenum">
              <a:rPr lang="en-US" sz="4800" b="1" smtClean="0">
                <a:solidFill>
                  <a:srgbClr val="FF0000"/>
                </a:solidFill>
              </a:rPr>
              <a:pPr marL="37465">
                <a:lnSpc>
                  <a:spcPts val="1870"/>
                </a:lnSpc>
              </a:pPr>
              <a:t>44</a:t>
            </a:fld>
            <a:endParaRPr lang="en-US" sz="4800" b="1" dirty="0">
              <a:solidFill>
                <a:srgbClr val="FF0000"/>
              </a:solidFill>
            </a:endParaRPr>
          </a:p>
        </p:txBody>
      </p:sp>
      <p:pic>
        <p:nvPicPr>
          <p:cNvPr id="48" name="Space Faculty logo" descr="sf_logo.png"/>
          <p:cNvPicPr>
            <a:picLocks noChangeAspect="1"/>
          </p:cNvPicPr>
          <p:nvPr/>
        </p:nvPicPr>
        <p:blipFill>
          <a:blip r:embed="rId3"/>
          <a:stretch>
            <a:fillRect/>
          </a:stretch>
        </p:blipFill>
        <p:spPr>
          <a:xfrm>
            <a:off x="10515312" y="54863"/>
            <a:ext cx="1563912" cy="4444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533</TotalTime>
  <Words>3665</Words>
  <Application>Microsoft Office PowerPoint</Application>
  <PresentationFormat>Widescreen</PresentationFormat>
  <Paragraphs>532</Paragraphs>
  <Slides>44</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Cambria Math</vt:lpstr>
      <vt:lpstr>House Movements Runway</vt:lpstr>
      <vt:lpstr>Space Mono</vt:lpstr>
      <vt:lpstr>Times New Roman</vt:lpstr>
      <vt:lpstr>Ubuntu</vt:lpstr>
      <vt:lpstr>Wingdings</vt:lpstr>
      <vt:lpstr>Office Theme</vt:lpstr>
      <vt:lpstr>Attitude and Orbit Control System</vt:lpstr>
      <vt:lpstr>Lecture Outline</vt:lpstr>
      <vt:lpstr>Learning Outcomes </vt:lpstr>
      <vt:lpstr>Two modes of Spacecraft Control</vt:lpstr>
      <vt:lpstr>PowerPoint Presentation</vt:lpstr>
      <vt:lpstr>Attitude vs Altitude</vt:lpstr>
      <vt:lpstr>Common Acronyms</vt:lpstr>
      <vt:lpstr>PowerPoint Presentation</vt:lpstr>
      <vt:lpstr>Key Control Terms</vt:lpstr>
      <vt:lpstr>Sensors (Attitude Determination) </vt:lpstr>
      <vt:lpstr>PowerPoint Presentation</vt:lpstr>
      <vt:lpstr>Actuators (Attitude Control)</vt:lpstr>
      <vt:lpstr>PowerPoint Presentation</vt:lpstr>
      <vt:lpstr>Two Basic Methods of Control</vt:lpstr>
      <vt:lpstr>PowerPoint Presentation</vt:lpstr>
      <vt:lpstr>ADCS Modes</vt:lpstr>
      <vt:lpstr>ADCS Modes</vt:lpstr>
      <vt:lpstr>Passive Attitude Determination and Control</vt:lpstr>
      <vt:lpstr>Example of ADCS PBS</vt:lpstr>
      <vt:lpstr>Passive ADCS Components</vt:lpstr>
      <vt:lpstr>Block Configuration (e.g. Passive System)</vt:lpstr>
      <vt:lpstr>ADCS BBM Schematic </vt:lpstr>
      <vt:lpstr>Passive Attitude Control</vt:lpstr>
      <vt:lpstr>Hysteris Damper Test Results </vt:lpstr>
      <vt:lpstr>Success Levels</vt:lpstr>
      <vt:lpstr>Active Attitude Determination and Control </vt:lpstr>
      <vt:lpstr>Active ADCS</vt:lpstr>
      <vt:lpstr>Magnetic Field Test</vt:lpstr>
      <vt:lpstr>Gyroscope Tests</vt:lpstr>
      <vt:lpstr>Simulation Results </vt:lpstr>
      <vt:lpstr>ADCS MATLAB Simulations</vt:lpstr>
      <vt:lpstr>ADCS MATLAB Simulations</vt:lpstr>
      <vt:lpstr>Reaction Wheel Turn Test</vt:lpstr>
      <vt:lpstr>Reaction Wheel Test</vt:lpstr>
      <vt:lpstr>Simulation Results</vt:lpstr>
      <vt:lpstr>Fault Mode Effect Analysis</vt:lpstr>
      <vt:lpstr>Air Bearing Table Test </vt:lpstr>
      <vt:lpstr>PowerPoint Presentation</vt:lpstr>
      <vt:lpstr>PowerPoint Presentation</vt:lpstr>
      <vt:lpstr>Propulsion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Ramson Nyamukondiwa</dc:creator>
  <cp:keywords/>
  <dc:description>generated using python-pptx</dc:description>
  <cp:lastModifiedBy>Rohini Parthasarathy</cp:lastModifiedBy>
  <cp:revision>15</cp:revision>
  <dcterms:created xsi:type="dcterms:W3CDTF">2013-01-27T09:14:16Z</dcterms:created>
  <dcterms:modified xsi:type="dcterms:W3CDTF">2026-10-15T14:47:00Z</dcterms:modified>
  <cp:category/>
</cp:coreProperties>
</file>