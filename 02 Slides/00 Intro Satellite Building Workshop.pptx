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77" r:id="rId5"/>
  </p:sldMasterIdLst>
  <p:notesMasterIdLst>
    <p:notesMasterId r:id="rId25"/>
  </p:notesMasterIdLst>
  <p:sldIdLst>
    <p:sldId id="269" r:id="rId6"/>
    <p:sldId id="299" r:id="rId7"/>
    <p:sldId id="270" r:id="rId8"/>
    <p:sldId id="289" r:id="rId9"/>
    <p:sldId id="294" r:id="rId10"/>
    <p:sldId id="256" r:id="rId11"/>
    <p:sldId id="304" r:id="rId12"/>
    <p:sldId id="292" r:id="rId13"/>
    <p:sldId id="271" r:id="rId14"/>
    <p:sldId id="300" r:id="rId15"/>
    <p:sldId id="301" r:id="rId16"/>
    <p:sldId id="306" r:id="rId17"/>
    <p:sldId id="297" r:id="rId18"/>
    <p:sldId id="295" r:id="rId19"/>
    <p:sldId id="296" r:id="rId20"/>
    <p:sldId id="298" r:id="rId21"/>
    <p:sldId id="307" r:id="rId22"/>
    <p:sldId id="303" r:id="rId23"/>
    <p:sldId id="302" r:id="rId24"/>
  </p:sldIdLst>
  <p:sldSz cx="12192000" cy="6858000"/>
  <p:notesSz cx="8229600" cy="14630400"/>
  <p:embeddedFontLst>
    <p:embeddedFont>
      <p:font typeface="Barlow Bold" panose="020B0604020202020204" charset="0"/>
      <p:bold r:id="rId26"/>
    </p:embeddedFont>
    <p:embeddedFont>
      <p:font typeface="Nunito" pitchFamily="2" charset="0"/>
      <p:regular r:id="rId27"/>
      <p:bold r:id="rId28"/>
      <p:italic r:id="rId29"/>
      <p:boldItalic r:id="rId30"/>
    </p:embeddedFont>
    <p:embeddedFont>
      <p:font typeface="Raleway" pitchFamily="2" charset="0"/>
      <p:regular r:id="rId31"/>
    </p:embeddedFont>
    <p:embeddedFont>
      <p:font typeface="Roboto" panose="02000000000000000000" pitchFamily="2" charset="0"/>
      <p:regular r:id="rId32"/>
      <p:bold r:id="rId33"/>
      <p:italic r:id="rId34"/>
      <p:boldItalic r:id="rId35"/>
    </p:embeddedFont>
  </p:embeddedFontLst>
  <p:defaultTex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1ADE03D-168F-4666-82EC-B0331CBD4495}">
          <p14:sldIdLst>
            <p14:sldId id="269"/>
            <p14:sldId id="299"/>
            <p14:sldId id="270"/>
            <p14:sldId id="289"/>
            <p14:sldId id="294"/>
            <p14:sldId id="256"/>
            <p14:sldId id="304"/>
            <p14:sldId id="292"/>
            <p14:sldId id="271"/>
            <p14:sldId id="300"/>
            <p14:sldId id="301"/>
            <p14:sldId id="306"/>
            <p14:sldId id="297"/>
            <p14:sldId id="295"/>
            <p14:sldId id="296"/>
            <p14:sldId id="298"/>
            <p14:sldId id="307"/>
            <p14:sldId id="303"/>
          </p14:sldIdLst>
        </p14:section>
        <p14:section name="archive" id="{DD717796-7E9A-4F2E-BB36-A8738E90C0A5}">
          <p14:sldIdLst>
            <p14:sldId id="30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74D"/>
    <a:srgbClr val="DFE7EC"/>
    <a:srgbClr val="435F73"/>
    <a:srgbClr val="FFCD00"/>
    <a:srgbClr val="FFCE00"/>
    <a:srgbClr val="00264D"/>
    <a:srgbClr val="435E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466" autoAdjust="0"/>
    <p:restoredTop sz="94660"/>
  </p:normalViewPr>
  <p:slideViewPr>
    <p:cSldViewPr snapToGrid="0">
      <p:cViewPr>
        <p:scale>
          <a:sx n="54" d="100"/>
          <a:sy n="54" d="100"/>
        </p:scale>
        <p:origin x="1456" y="1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font" Target="fonts/font1.fntdata"/><Relationship Id="rId39" Type="http://schemas.openxmlformats.org/officeDocument/2006/relationships/tableStyles" Target="tableStyles.xml"/><Relationship Id="rId21" Type="http://schemas.openxmlformats.org/officeDocument/2006/relationships/slide" Target="slides/slide16.xml"/><Relationship Id="rId34" Type="http://schemas.openxmlformats.org/officeDocument/2006/relationships/font" Target="fonts/font9.fntdata"/><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font" Target="fonts/font4.fntdata"/><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font" Target="fonts/font7.fntdata"/><Relationship Id="rId37" Type="http://schemas.openxmlformats.org/officeDocument/2006/relationships/viewProps" Target="viewProps.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font" Target="fonts/font3.fntdata"/><Relationship Id="rId36"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font" Target="fonts/font6.fntdata"/><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8" Type="http://schemas.openxmlformats.org/officeDocument/2006/relationships/slide" Target="slides/slide3.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65929821"/>
      </p:ext>
    </p:extLst>
  </p:cSld>
  <p:clrMap bg1="lt1" tx1="dk1" bg2="lt2" tx2="dk2" accent1="accent1" accent2="accent2" accent3="accent3" accent4="accent4" accent5="accent5" accent6="accent6" hlink="hlink" folHlink="folHlink"/>
  <p:notesStyle>
    <a:lvl1pPr marL="0" algn="l" defTabSz="761970" rtl="0" eaLnBrk="1" latinLnBrk="0" hangingPunct="1">
      <a:defRPr sz="1000" kern="1200">
        <a:solidFill>
          <a:schemeClr val="tx1"/>
        </a:solidFill>
        <a:latin typeface="+mn-lt"/>
        <a:ea typeface="+mn-ea"/>
        <a:cs typeface="+mn-cs"/>
      </a:defRPr>
    </a:lvl1pPr>
    <a:lvl2pPr marL="380985" algn="l" defTabSz="761970" rtl="0" eaLnBrk="1" latinLnBrk="0" hangingPunct="1">
      <a:defRPr sz="1000" kern="1200">
        <a:solidFill>
          <a:schemeClr val="tx1"/>
        </a:solidFill>
        <a:latin typeface="+mn-lt"/>
        <a:ea typeface="+mn-ea"/>
        <a:cs typeface="+mn-cs"/>
      </a:defRPr>
    </a:lvl2pPr>
    <a:lvl3pPr marL="761970" algn="l" defTabSz="761970" rtl="0" eaLnBrk="1" latinLnBrk="0" hangingPunct="1">
      <a:defRPr sz="1000" kern="1200">
        <a:solidFill>
          <a:schemeClr val="tx1"/>
        </a:solidFill>
        <a:latin typeface="+mn-lt"/>
        <a:ea typeface="+mn-ea"/>
        <a:cs typeface="+mn-cs"/>
      </a:defRPr>
    </a:lvl3pPr>
    <a:lvl4pPr marL="1142954" algn="l" defTabSz="761970" rtl="0" eaLnBrk="1" latinLnBrk="0" hangingPunct="1">
      <a:defRPr sz="1000" kern="1200">
        <a:solidFill>
          <a:schemeClr val="tx1"/>
        </a:solidFill>
        <a:latin typeface="+mn-lt"/>
        <a:ea typeface="+mn-ea"/>
        <a:cs typeface="+mn-cs"/>
      </a:defRPr>
    </a:lvl4pPr>
    <a:lvl5pPr marL="1523939" algn="l" defTabSz="761970" rtl="0" eaLnBrk="1" latinLnBrk="0" hangingPunct="1">
      <a:defRPr sz="1000" kern="1200">
        <a:solidFill>
          <a:schemeClr val="tx1"/>
        </a:solidFill>
        <a:latin typeface="+mn-lt"/>
        <a:ea typeface="+mn-ea"/>
        <a:cs typeface="+mn-cs"/>
      </a:defRPr>
    </a:lvl5pPr>
    <a:lvl6pPr marL="1904924" algn="l" defTabSz="761970" rtl="0" eaLnBrk="1" latinLnBrk="0" hangingPunct="1">
      <a:defRPr sz="1000" kern="1200">
        <a:solidFill>
          <a:schemeClr val="tx1"/>
        </a:solidFill>
        <a:latin typeface="+mn-lt"/>
        <a:ea typeface="+mn-ea"/>
        <a:cs typeface="+mn-cs"/>
      </a:defRPr>
    </a:lvl6pPr>
    <a:lvl7pPr marL="2285909" algn="l" defTabSz="761970" rtl="0" eaLnBrk="1" latinLnBrk="0" hangingPunct="1">
      <a:defRPr sz="1000" kern="1200">
        <a:solidFill>
          <a:schemeClr val="tx1"/>
        </a:solidFill>
        <a:latin typeface="+mn-lt"/>
        <a:ea typeface="+mn-ea"/>
        <a:cs typeface="+mn-cs"/>
      </a:defRPr>
    </a:lvl7pPr>
    <a:lvl8pPr marL="2666893" algn="l" defTabSz="761970" rtl="0" eaLnBrk="1" latinLnBrk="0" hangingPunct="1">
      <a:defRPr sz="1000" kern="1200">
        <a:solidFill>
          <a:schemeClr val="tx1"/>
        </a:solidFill>
        <a:latin typeface="+mn-lt"/>
        <a:ea typeface="+mn-ea"/>
        <a:cs typeface="+mn-cs"/>
      </a:defRPr>
    </a:lvl8pPr>
    <a:lvl9pPr marL="3047878" algn="l" defTabSz="761970" rtl="0" eaLnBrk="1" latinLnBrk="0" hangingPunct="1">
      <a:defRPr sz="10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5"/>
          </p:nvPr>
        </p:nvSpPr>
        <p:spPr/>
        <p:txBody>
          <a:bodyPr/>
          <a:lstStyle/>
          <a:p>
            <a:fld id="{D57F60AB-D0C1-4DAD-A16C-E6F7749926D0}" type="slidenum">
              <a:rPr lang="en-SG" smtClean="0"/>
              <a:t>1</a:t>
            </a:fld>
            <a:endParaRPr lang="en-SG"/>
          </a:p>
        </p:txBody>
      </p:sp>
    </p:spTree>
    <p:extLst>
      <p:ext uri="{BB962C8B-B14F-4D97-AF65-F5344CB8AC3E}">
        <p14:creationId xmlns:p14="http://schemas.microsoft.com/office/powerpoint/2010/main" val="23837795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7859B91-C5AF-A16E-8DDA-38AB5EF4EB10}"/>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 name="Title 1"/>
          <p:cNvSpPr>
            <a:spLocks noGrp="1"/>
          </p:cNvSpPr>
          <p:nvPr>
            <p:ph type="ctrTitle"/>
          </p:nvPr>
        </p:nvSpPr>
        <p:spPr>
          <a:xfrm>
            <a:off x="601134" y="2887135"/>
            <a:ext cx="5418666" cy="1384827"/>
          </a:xfrm>
        </p:spPr>
        <p:txBody>
          <a:bodyPr anchor="ctr">
            <a:normAutofit/>
          </a:bodyPr>
          <a:lstStyle>
            <a:lvl1pPr algn="l">
              <a:defRPr sz="4400" b="1">
                <a:solidFill>
                  <a:srgbClr val="435F73"/>
                </a:solidFill>
              </a:defRPr>
            </a:lvl1pPr>
          </a:lstStyle>
          <a:p>
            <a:r>
              <a:rPr lang="en-GB"/>
              <a:t>Click to edit Master title style</a:t>
            </a:r>
            <a:endParaRPr lang="en-US"/>
          </a:p>
        </p:txBody>
      </p:sp>
      <p:sp>
        <p:nvSpPr>
          <p:cNvPr id="3" name="Subtitle 2"/>
          <p:cNvSpPr>
            <a:spLocks noGrp="1"/>
          </p:cNvSpPr>
          <p:nvPr>
            <p:ph type="subTitle" idx="1"/>
          </p:nvPr>
        </p:nvSpPr>
        <p:spPr>
          <a:xfrm>
            <a:off x="601135" y="4389440"/>
            <a:ext cx="5418666" cy="1384828"/>
          </a:xfrm>
        </p:spPr>
        <p:txBody>
          <a:bodyPr>
            <a:normAutofit/>
          </a:bodyPr>
          <a:lstStyle>
            <a:lvl1pPr marL="0" indent="0" algn="l">
              <a:buNone/>
              <a:defRPr sz="1800">
                <a:solidFill>
                  <a:srgbClr val="00274D"/>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pic>
        <p:nvPicPr>
          <p:cNvPr id="8" name="Image 0" descr="preencoded.png">
            <a:extLst>
              <a:ext uri="{FF2B5EF4-FFF2-40B4-BE49-F238E27FC236}">
                <a16:creationId xmlns:a16="http://schemas.microsoft.com/office/drawing/2014/main" id="{5A589FBF-1620-7814-E91B-F4DEB55E4965}"/>
              </a:ext>
            </a:extLst>
          </p:cNvPr>
          <p:cNvPicPr>
            <a:picLocks noChangeAspect="1"/>
          </p:cNvPicPr>
          <p:nvPr userDrawn="1"/>
        </p:nvPicPr>
        <p:blipFill>
          <a:blip r:embed="rId2"/>
          <a:stretch>
            <a:fillRect/>
          </a:stretch>
        </p:blipFill>
        <p:spPr>
          <a:xfrm>
            <a:off x="6434667" y="1"/>
            <a:ext cx="5757332" cy="6854060"/>
          </a:xfrm>
          <a:prstGeom prst="rect">
            <a:avLst/>
          </a:prstGeom>
        </p:spPr>
      </p:pic>
      <p:pic>
        <p:nvPicPr>
          <p:cNvPr id="11" name="Picture 10" descr="A logo with a triangle and a yellow triangle&#10;&#10;AI-generated content may be incorrect.">
            <a:extLst>
              <a:ext uri="{FF2B5EF4-FFF2-40B4-BE49-F238E27FC236}">
                <a16:creationId xmlns:a16="http://schemas.microsoft.com/office/drawing/2014/main" id="{90A8EC71-AE57-FBCA-3161-16899DEED095}"/>
              </a:ext>
            </a:extLst>
          </p:cNvPr>
          <p:cNvPicPr>
            <a:picLocks noChangeAspect="1"/>
          </p:cNvPicPr>
          <p:nvPr userDrawn="1"/>
        </p:nvPicPr>
        <p:blipFill>
          <a:blip r:embed="rId3"/>
          <a:stretch>
            <a:fillRect/>
          </a:stretch>
        </p:blipFill>
        <p:spPr>
          <a:xfrm>
            <a:off x="683685" y="6056914"/>
            <a:ext cx="1820332" cy="607020"/>
          </a:xfrm>
          <a:prstGeom prst="rect">
            <a:avLst/>
          </a:prstGeom>
        </p:spPr>
      </p:pic>
    </p:spTree>
    <p:extLst>
      <p:ext uri="{BB962C8B-B14F-4D97-AF65-F5344CB8AC3E}">
        <p14:creationId xmlns:p14="http://schemas.microsoft.com/office/powerpoint/2010/main" val="26653526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784A433E-0447-472E-B36A-9EDF8610B5E7}" type="datetimeFigureOut">
              <a:rPr lang="en-SG" smtClean="0"/>
              <a:t>14/10/2026</a:t>
            </a:fld>
            <a:endParaRPr lang="en-SG"/>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SG"/>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D052043-7109-4658-838B-B3BF197D87E3}" type="slidenum">
              <a:rPr lang="en-SG" smtClean="0"/>
              <a:t>‹#›</a:t>
            </a:fld>
            <a:endParaRPr lang="en-SG"/>
          </a:p>
        </p:txBody>
      </p:sp>
    </p:spTree>
    <p:extLst>
      <p:ext uri="{BB962C8B-B14F-4D97-AF65-F5344CB8AC3E}">
        <p14:creationId xmlns:p14="http://schemas.microsoft.com/office/powerpoint/2010/main" val="8470676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784A433E-0447-472E-B36A-9EDF8610B5E7}" type="datetimeFigureOut">
              <a:rPr lang="en-SG" smtClean="0"/>
              <a:t>14/10/2026</a:t>
            </a:fld>
            <a:endParaRPr lang="en-SG"/>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SG"/>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D052043-7109-4658-838B-B3BF197D87E3}" type="slidenum">
              <a:rPr lang="en-SG" smtClean="0"/>
              <a:t>‹#›</a:t>
            </a:fld>
            <a:endParaRPr lang="en-SG"/>
          </a:p>
        </p:txBody>
      </p:sp>
    </p:spTree>
    <p:extLst>
      <p:ext uri="{BB962C8B-B14F-4D97-AF65-F5344CB8AC3E}">
        <p14:creationId xmlns:p14="http://schemas.microsoft.com/office/powerpoint/2010/main" val="39077463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784A433E-0447-472E-B36A-9EDF8610B5E7}" type="datetimeFigureOut">
              <a:rPr lang="en-SG" smtClean="0"/>
              <a:t>14/10/2026</a:t>
            </a:fld>
            <a:endParaRPr lang="en-SG"/>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SG"/>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D052043-7109-4658-838B-B3BF197D87E3}" type="slidenum">
              <a:rPr lang="en-SG" smtClean="0"/>
              <a:t>‹#›</a:t>
            </a:fld>
            <a:endParaRPr lang="en-SG"/>
          </a:p>
        </p:txBody>
      </p:sp>
    </p:spTree>
    <p:extLst>
      <p:ext uri="{BB962C8B-B14F-4D97-AF65-F5344CB8AC3E}">
        <p14:creationId xmlns:p14="http://schemas.microsoft.com/office/powerpoint/2010/main" val="9893829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784A433E-0447-472E-B36A-9EDF8610B5E7}" type="datetimeFigureOut">
              <a:rPr lang="en-SG" smtClean="0"/>
              <a:t>14/10/2026</a:t>
            </a:fld>
            <a:endParaRPr lang="en-SG"/>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SG"/>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D052043-7109-4658-838B-B3BF197D87E3}" type="slidenum">
              <a:rPr lang="en-SG" smtClean="0"/>
              <a:t>‹#›</a:t>
            </a:fld>
            <a:endParaRPr lang="en-SG"/>
          </a:p>
        </p:txBody>
      </p:sp>
    </p:spTree>
    <p:extLst>
      <p:ext uri="{BB962C8B-B14F-4D97-AF65-F5344CB8AC3E}">
        <p14:creationId xmlns:p14="http://schemas.microsoft.com/office/powerpoint/2010/main" val="38608285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784A433E-0447-472E-B36A-9EDF8610B5E7}" type="datetimeFigureOut">
              <a:rPr lang="en-SG" smtClean="0"/>
              <a:t>14/10/2026</a:t>
            </a:fld>
            <a:endParaRPr lang="en-SG"/>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SG"/>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D052043-7109-4658-838B-B3BF197D87E3}" type="slidenum">
              <a:rPr lang="en-SG" smtClean="0"/>
              <a:t>‹#›</a:t>
            </a:fld>
            <a:endParaRPr lang="en-SG"/>
          </a:p>
        </p:txBody>
      </p:sp>
    </p:spTree>
    <p:extLst>
      <p:ext uri="{BB962C8B-B14F-4D97-AF65-F5344CB8AC3E}">
        <p14:creationId xmlns:p14="http://schemas.microsoft.com/office/powerpoint/2010/main" val="10838638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784A433E-0447-472E-B36A-9EDF8610B5E7}" type="datetimeFigureOut">
              <a:rPr lang="en-SG" smtClean="0"/>
              <a:t>14/10/2026</a:t>
            </a:fld>
            <a:endParaRPr lang="en-SG"/>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SG"/>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D052043-7109-4658-838B-B3BF197D87E3}" type="slidenum">
              <a:rPr lang="en-SG" smtClean="0"/>
              <a:t>‹#›</a:t>
            </a:fld>
            <a:endParaRPr lang="en-SG"/>
          </a:p>
        </p:txBody>
      </p:sp>
    </p:spTree>
    <p:extLst>
      <p:ext uri="{BB962C8B-B14F-4D97-AF65-F5344CB8AC3E}">
        <p14:creationId xmlns:p14="http://schemas.microsoft.com/office/powerpoint/2010/main" val="5463441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784A433E-0447-472E-B36A-9EDF8610B5E7}" type="datetimeFigureOut">
              <a:rPr lang="en-SG" smtClean="0"/>
              <a:t>14/10/2026</a:t>
            </a:fld>
            <a:endParaRPr lang="en-SG"/>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SG"/>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D052043-7109-4658-838B-B3BF197D87E3}" type="slidenum">
              <a:rPr lang="en-SG" smtClean="0"/>
              <a:t>‹#›</a:t>
            </a:fld>
            <a:endParaRPr lang="en-SG"/>
          </a:p>
        </p:txBody>
      </p:sp>
    </p:spTree>
    <p:extLst>
      <p:ext uri="{BB962C8B-B14F-4D97-AF65-F5344CB8AC3E}">
        <p14:creationId xmlns:p14="http://schemas.microsoft.com/office/powerpoint/2010/main" val="3767048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784A433E-0447-472E-B36A-9EDF8610B5E7}" type="datetimeFigureOut">
              <a:rPr lang="en-SG" smtClean="0"/>
              <a:t>14/10/2026</a:t>
            </a:fld>
            <a:endParaRPr lang="en-SG"/>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SG"/>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D052043-7109-4658-838B-B3BF197D87E3}" type="slidenum">
              <a:rPr lang="en-SG" smtClean="0"/>
              <a:t>‹#›</a:t>
            </a:fld>
            <a:endParaRPr lang="en-SG"/>
          </a:p>
        </p:txBody>
      </p:sp>
    </p:spTree>
    <p:extLst>
      <p:ext uri="{BB962C8B-B14F-4D97-AF65-F5344CB8AC3E}">
        <p14:creationId xmlns:p14="http://schemas.microsoft.com/office/powerpoint/2010/main" val="23035424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784A433E-0447-472E-B36A-9EDF8610B5E7}" type="datetimeFigureOut">
              <a:rPr lang="en-SG" smtClean="0"/>
              <a:t>14/10/2026</a:t>
            </a:fld>
            <a:endParaRPr lang="en-SG"/>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SG"/>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D052043-7109-4658-838B-B3BF197D87E3}" type="slidenum">
              <a:rPr lang="en-SG" smtClean="0"/>
              <a:t>‹#›</a:t>
            </a:fld>
            <a:endParaRPr lang="en-SG"/>
          </a:p>
        </p:txBody>
      </p:sp>
    </p:spTree>
    <p:extLst>
      <p:ext uri="{BB962C8B-B14F-4D97-AF65-F5344CB8AC3E}">
        <p14:creationId xmlns:p14="http://schemas.microsoft.com/office/powerpoint/2010/main" val="40853958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784A433E-0447-472E-B36A-9EDF8610B5E7}" type="datetimeFigureOut">
              <a:rPr lang="en-SG" smtClean="0"/>
              <a:t>14/10/2026</a:t>
            </a:fld>
            <a:endParaRPr lang="en-SG"/>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SG"/>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D052043-7109-4658-838B-B3BF197D87E3}" type="slidenum">
              <a:rPr lang="en-SG" smtClean="0"/>
              <a:t>‹#›</a:t>
            </a:fld>
            <a:endParaRPr lang="en-SG"/>
          </a:p>
        </p:txBody>
      </p:sp>
    </p:spTree>
    <p:extLst>
      <p:ext uri="{BB962C8B-B14F-4D97-AF65-F5344CB8AC3E}">
        <p14:creationId xmlns:p14="http://schemas.microsoft.com/office/powerpoint/2010/main" val="37987949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1" name="Google Shape;16;p78">
            <a:extLst>
              <a:ext uri="{FF2B5EF4-FFF2-40B4-BE49-F238E27FC236}">
                <a16:creationId xmlns:a16="http://schemas.microsoft.com/office/drawing/2014/main" id="{9B55EBE4-0DF4-8BF2-EC22-B2A206344A32}"/>
              </a:ext>
            </a:extLst>
          </p:cNvPr>
          <p:cNvSpPr/>
          <p:nvPr userDrawn="1"/>
        </p:nvSpPr>
        <p:spPr>
          <a:xfrm>
            <a:off x="0" y="6410547"/>
            <a:ext cx="12192000" cy="447453"/>
          </a:xfrm>
          <a:prstGeom prst="rect">
            <a:avLst/>
          </a:prstGeom>
          <a:solidFill>
            <a:srgbClr val="000000"/>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800"/>
              <a:buFont typeface="Raleway"/>
              <a:buNone/>
            </a:pPr>
            <a:endParaRPr sz="1800" b="0" i="0" u="none" strike="noStrike" cap="none">
              <a:solidFill>
                <a:schemeClr val="dk1"/>
              </a:solidFill>
              <a:latin typeface="Raleway"/>
              <a:ea typeface="Raleway"/>
              <a:cs typeface="Raleway"/>
              <a:sym typeface="Raleway"/>
            </a:endParaRPr>
          </a:p>
        </p:txBody>
      </p:sp>
      <p:sp>
        <p:nvSpPr>
          <p:cNvPr id="12" name="Google Shape;18;p78">
            <a:extLst>
              <a:ext uri="{FF2B5EF4-FFF2-40B4-BE49-F238E27FC236}">
                <a16:creationId xmlns:a16="http://schemas.microsoft.com/office/drawing/2014/main" id="{B2CFD044-F2C2-7540-E9B1-6E9E61EA9FCC}"/>
              </a:ext>
            </a:extLst>
          </p:cNvPr>
          <p:cNvSpPr/>
          <p:nvPr userDrawn="1"/>
        </p:nvSpPr>
        <p:spPr>
          <a:xfrm rot="10800000">
            <a:off x="0" y="6408643"/>
            <a:ext cx="721162" cy="451259"/>
          </a:xfrm>
          <a:custGeom>
            <a:avLst/>
            <a:gdLst/>
            <a:ahLst/>
            <a:cxnLst/>
            <a:rect l="l" t="t" r="r" b="b"/>
            <a:pathLst>
              <a:path w="10025" h="10085" extrusionOk="0">
                <a:moveTo>
                  <a:pt x="0" y="10085"/>
                </a:moveTo>
                <a:lnTo>
                  <a:pt x="2562" y="0"/>
                </a:lnTo>
                <a:lnTo>
                  <a:pt x="10025" y="0"/>
                </a:lnTo>
                <a:cubicBezTo>
                  <a:pt x="10024" y="3333"/>
                  <a:pt x="10002" y="6752"/>
                  <a:pt x="10000" y="10085"/>
                </a:cubicBezTo>
                <a:lnTo>
                  <a:pt x="0" y="10085"/>
                </a:lnTo>
                <a:close/>
              </a:path>
            </a:pathLst>
          </a:custGeom>
          <a:solidFill>
            <a:srgbClr val="FFCD0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Raleway"/>
              <a:buNone/>
            </a:pPr>
            <a:endParaRPr sz="1800" b="0" i="0" u="none" strike="noStrike" cap="none">
              <a:solidFill>
                <a:srgbClr val="262626"/>
              </a:solidFill>
              <a:latin typeface="Roboto"/>
              <a:ea typeface="Roboto"/>
              <a:cs typeface="Roboto"/>
              <a:sym typeface="Roboto"/>
            </a:endParaRPr>
          </a:p>
        </p:txBody>
      </p:sp>
      <p:sp>
        <p:nvSpPr>
          <p:cNvPr id="13" name="Google Shape;19;p78">
            <a:extLst>
              <a:ext uri="{FF2B5EF4-FFF2-40B4-BE49-F238E27FC236}">
                <a16:creationId xmlns:a16="http://schemas.microsoft.com/office/drawing/2014/main" id="{A08FC0AA-39A1-685C-4FB8-3EB03697951C}"/>
              </a:ext>
            </a:extLst>
          </p:cNvPr>
          <p:cNvSpPr txBox="1"/>
          <p:nvPr userDrawn="1"/>
        </p:nvSpPr>
        <p:spPr>
          <a:xfrm>
            <a:off x="798060" y="6440474"/>
            <a:ext cx="4114800" cy="36512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 b="0" i="0" u="none" strike="noStrike" cap="none">
                <a:solidFill>
                  <a:srgbClr val="FFFFFF"/>
                </a:solidFill>
                <a:latin typeface="Raleway"/>
                <a:ea typeface="Raleway"/>
                <a:cs typeface="Raleway"/>
                <a:sym typeface="Raleway"/>
              </a:rPr>
              <a:t>Property of Space Faculty Pte Ltd, not to be used without written permission</a:t>
            </a:r>
            <a:endParaRPr sz="1200" b="0" i="0" u="none" strike="noStrike" cap="none">
              <a:solidFill>
                <a:srgbClr val="757575"/>
              </a:solidFill>
              <a:latin typeface="Raleway"/>
              <a:ea typeface="Raleway"/>
              <a:cs typeface="Raleway"/>
              <a:sym typeface="Raleway"/>
            </a:endParaRPr>
          </a:p>
        </p:txBody>
      </p:sp>
      <p:sp>
        <p:nvSpPr>
          <p:cNvPr id="14" name="Google Shape;20;p78">
            <a:extLst>
              <a:ext uri="{FF2B5EF4-FFF2-40B4-BE49-F238E27FC236}">
                <a16:creationId xmlns:a16="http://schemas.microsoft.com/office/drawing/2014/main" id="{C8EA82A1-719E-C24D-8195-FF11698A1DAE}"/>
              </a:ext>
            </a:extLst>
          </p:cNvPr>
          <p:cNvSpPr txBox="1"/>
          <p:nvPr userDrawn="1"/>
        </p:nvSpPr>
        <p:spPr>
          <a:xfrm>
            <a:off x="12218" y="6455437"/>
            <a:ext cx="619794" cy="33519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100" b="0" i="0" u="none" strike="noStrike" cap="none">
                <a:solidFill>
                  <a:schemeClr val="dk1"/>
                </a:solidFill>
                <a:latin typeface="Raleway"/>
                <a:ea typeface="Raleway"/>
                <a:cs typeface="Raleway"/>
                <a:sym typeface="Raleway"/>
              </a:rPr>
              <a:t>‹#›</a:t>
            </a:fld>
            <a:endParaRPr sz="1100" b="0" i="0" u="none" strike="noStrike" cap="none">
              <a:solidFill>
                <a:schemeClr val="dk1"/>
              </a:solidFill>
              <a:latin typeface="Raleway"/>
              <a:ea typeface="Raleway"/>
              <a:cs typeface="Raleway"/>
              <a:sym typeface="Raleway"/>
            </a:endParaRPr>
          </a:p>
        </p:txBody>
      </p:sp>
      <p:pic>
        <p:nvPicPr>
          <p:cNvPr id="16" name="Picture 15" descr="A white and yellow logo&#10;&#10;AI-generated content may be incorrect.">
            <a:extLst>
              <a:ext uri="{FF2B5EF4-FFF2-40B4-BE49-F238E27FC236}">
                <a16:creationId xmlns:a16="http://schemas.microsoft.com/office/drawing/2014/main" id="{A7540A5A-B009-6E18-1097-4BC7D29DF6AF}"/>
              </a:ext>
            </a:extLst>
          </p:cNvPr>
          <p:cNvPicPr>
            <a:picLocks noChangeAspect="1"/>
          </p:cNvPicPr>
          <p:nvPr userDrawn="1"/>
        </p:nvPicPr>
        <p:blipFill>
          <a:blip r:embed="rId13"/>
          <a:stretch>
            <a:fillRect/>
          </a:stretch>
        </p:blipFill>
        <p:spPr>
          <a:xfrm>
            <a:off x="10994387" y="6448275"/>
            <a:ext cx="1115542" cy="371996"/>
          </a:xfrm>
          <a:prstGeom prst="rect">
            <a:avLst/>
          </a:prstGeom>
        </p:spPr>
      </p:pic>
    </p:spTree>
    <p:extLst>
      <p:ext uri="{BB962C8B-B14F-4D97-AF65-F5344CB8AC3E}">
        <p14:creationId xmlns:p14="http://schemas.microsoft.com/office/powerpoint/2010/main" val="1987863656"/>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90000"/>
        </a:lnSpc>
        <a:spcBef>
          <a:spcPct val="0"/>
        </a:spcBef>
        <a:buNone/>
        <a:defRPr sz="4400" kern="1200">
          <a:solidFill>
            <a:srgbClr val="00274D"/>
          </a:solidFill>
          <a:latin typeface="Barlow Bold" panose="020B060402020202020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74D"/>
          </a:solidFill>
          <a:latin typeface="Nunito"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74D"/>
          </a:solidFill>
          <a:latin typeface="Nunito"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74D"/>
          </a:solidFill>
          <a:latin typeface="Nunito"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74D"/>
          </a:solidFill>
          <a:latin typeface="Nunito"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74D"/>
          </a:solidFill>
          <a:latin typeface="Nunito"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hyperlink" Target="https://www.linkedin.com/in/srinagrag/" TargetMode="Externa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luma.com/tz2solmo" TargetMode="External"/><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mailto:learn@spacefaculty.asia" TargetMode="Externa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FDBD0-FFB7-D73E-4537-7115DA282D50}"/>
              </a:ext>
            </a:extLst>
          </p:cNvPr>
          <p:cNvSpPr>
            <a:spLocks noGrp="1"/>
          </p:cNvSpPr>
          <p:nvPr>
            <p:ph type="ctrTitle"/>
          </p:nvPr>
        </p:nvSpPr>
        <p:spPr>
          <a:xfrm>
            <a:off x="601132" y="526308"/>
            <a:ext cx="8422098" cy="1744132"/>
          </a:xfrm>
        </p:spPr>
        <p:txBody>
          <a:bodyPr>
            <a:normAutofit/>
          </a:bodyPr>
          <a:lstStyle/>
          <a:p>
            <a:r>
              <a:rPr lang="en-SG" dirty="0"/>
              <a:t>Satellite Building Workshop</a:t>
            </a:r>
          </a:p>
        </p:txBody>
      </p:sp>
      <p:sp>
        <p:nvSpPr>
          <p:cNvPr id="3" name="Subtitle 2">
            <a:extLst>
              <a:ext uri="{FF2B5EF4-FFF2-40B4-BE49-F238E27FC236}">
                <a16:creationId xmlns:a16="http://schemas.microsoft.com/office/drawing/2014/main" id="{3FC75D96-23B1-6655-12CB-94210D43D240}"/>
              </a:ext>
            </a:extLst>
          </p:cNvPr>
          <p:cNvSpPr>
            <a:spLocks noGrp="1"/>
          </p:cNvSpPr>
          <p:nvPr>
            <p:ph type="subTitle" idx="1"/>
          </p:nvPr>
        </p:nvSpPr>
        <p:spPr>
          <a:xfrm>
            <a:off x="601135" y="4125119"/>
            <a:ext cx="5418666" cy="1776148"/>
          </a:xfrm>
        </p:spPr>
        <p:txBody>
          <a:bodyPr>
            <a:normAutofit/>
          </a:bodyPr>
          <a:lstStyle/>
          <a:p>
            <a:r>
              <a:rPr lang="en-US" dirty="0">
                <a:solidFill>
                  <a:srgbClr val="00274D"/>
                </a:solidFill>
              </a:rPr>
              <a:t>Introduction</a:t>
            </a:r>
          </a:p>
        </p:txBody>
      </p:sp>
      <p:pic>
        <p:nvPicPr>
          <p:cNvPr id="5" name="Content Placeholder 4">
            <a:extLst>
              <a:ext uri="{FF2B5EF4-FFF2-40B4-BE49-F238E27FC236}">
                <a16:creationId xmlns:a16="http://schemas.microsoft.com/office/drawing/2014/main" id="{3ABF35E2-93EE-8FD7-997B-C23A5437373D}"/>
              </a:ext>
            </a:extLst>
          </p:cNvPr>
          <p:cNvPicPr>
            <a:picLocks noChangeAspect="1"/>
          </p:cNvPicPr>
          <p:nvPr/>
        </p:nvPicPr>
        <p:blipFill>
          <a:blip r:embed="rId3"/>
          <a:stretch>
            <a:fillRect/>
          </a:stretch>
        </p:blipFill>
        <p:spPr>
          <a:xfrm>
            <a:off x="0" y="1966823"/>
            <a:ext cx="6444098" cy="4891177"/>
          </a:xfrm>
          <a:prstGeom prst="rect">
            <a:avLst/>
          </a:prstGeom>
        </p:spPr>
      </p:pic>
      <p:pic>
        <p:nvPicPr>
          <p:cNvPr id="8" name="Picture 7">
            <a:extLst>
              <a:ext uri="{FF2B5EF4-FFF2-40B4-BE49-F238E27FC236}">
                <a16:creationId xmlns:a16="http://schemas.microsoft.com/office/drawing/2014/main" id="{94CCB9EC-0BB5-B49F-6184-B8BE5C7C1955}"/>
              </a:ext>
            </a:extLst>
          </p:cNvPr>
          <p:cNvPicPr>
            <a:picLocks noChangeAspect="1"/>
          </p:cNvPicPr>
          <p:nvPr/>
        </p:nvPicPr>
        <p:blipFill>
          <a:blip r:embed="rId4"/>
          <a:stretch>
            <a:fillRect/>
          </a:stretch>
        </p:blipFill>
        <p:spPr>
          <a:xfrm>
            <a:off x="7609821" y="3134112"/>
            <a:ext cx="3690784" cy="3539108"/>
          </a:xfrm>
          <a:prstGeom prst="rect">
            <a:avLst/>
          </a:prstGeom>
        </p:spPr>
      </p:pic>
    </p:spTree>
    <p:extLst>
      <p:ext uri="{BB962C8B-B14F-4D97-AF65-F5344CB8AC3E}">
        <p14:creationId xmlns:p14="http://schemas.microsoft.com/office/powerpoint/2010/main" val="23798758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9F6E-B60E-A1B6-8B5C-AAFDC61CED41}"/>
              </a:ext>
            </a:extLst>
          </p:cNvPr>
          <p:cNvSpPr>
            <a:spLocks noGrp="1"/>
          </p:cNvSpPr>
          <p:nvPr>
            <p:ph type="title"/>
          </p:nvPr>
        </p:nvSpPr>
        <p:spPr/>
        <p:txBody>
          <a:bodyPr/>
          <a:lstStyle/>
          <a:p>
            <a:r>
              <a:rPr lang="en-SG" dirty="0"/>
              <a:t>About Space Faculty Pte Ltd</a:t>
            </a:r>
          </a:p>
        </p:txBody>
      </p:sp>
      <p:sp>
        <p:nvSpPr>
          <p:cNvPr id="10" name="Content Placeholder 9">
            <a:extLst>
              <a:ext uri="{FF2B5EF4-FFF2-40B4-BE49-F238E27FC236}">
                <a16:creationId xmlns:a16="http://schemas.microsoft.com/office/drawing/2014/main" id="{C1B9F11E-FF0B-6D1C-5534-EF09188F7FDE}"/>
              </a:ext>
            </a:extLst>
          </p:cNvPr>
          <p:cNvSpPr>
            <a:spLocks noGrp="1"/>
          </p:cNvSpPr>
          <p:nvPr>
            <p:ph idx="1"/>
          </p:nvPr>
        </p:nvSpPr>
        <p:spPr/>
        <p:txBody>
          <a:bodyPr>
            <a:normAutofit lnSpcReduction="10000"/>
          </a:bodyPr>
          <a:lstStyle/>
          <a:p>
            <a:pPr marL="0" indent="0">
              <a:buNone/>
            </a:pPr>
            <a:r>
              <a:rPr lang="en-SG" sz="1600" dirty="0"/>
              <a:t>Our expertise spans several key areas:</a:t>
            </a:r>
          </a:p>
          <a:p>
            <a:pPr marL="0" indent="0">
              <a:buNone/>
            </a:pPr>
            <a:r>
              <a:rPr lang="en-SG" sz="1600" b="1" dirty="0"/>
              <a:t>1. Satellite Development:</a:t>
            </a:r>
            <a:r>
              <a:rPr lang="en-SG" sz="1600" dirty="0"/>
              <a:t> From satellite building and launching to providing hands-on training in satellite development.</a:t>
            </a:r>
          </a:p>
          <a:p>
            <a:pPr marL="0" indent="0">
              <a:buNone/>
            </a:pPr>
            <a:r>
              <a:rPr lang="en-SG" sz="1600" b="1" dirty="0"/>
              <a:t>2. Scientific Advancement:</a:t>
            </a:r>
            <a:r>
              <a:rPr lang="en-SG" sz="1600" dirty="0"/>
              <a:t> Facilitating cutting-edge space experiments for the scientific community.</a:t>
            </a:r>
          </a:p>
          <a:p>
            <a:pPr marL="0" indent="0">
              <a:buNone/>
            </a:pPr>
            <a:r>
              <a:rPr lang="en-SG" sz="1600" b="1" dirty="0"/>
              <a:t>3. Workforce Development and Executive Programmes:</a:t>
            </a:r>
            <a:r>
              <a:rPr lang="en-SG" sz="1600" dirty="0"/>
              <a:t> Specialized Executive courses, training, workshops and hackathons to understand how space technologies can future proof your organization and your career</a:t>
            </a:r>
          </a:p>
          <a:p>
            <a:pPr marL="0" indent="0">
              <a:buNone/>
            </a:pPr>
            <a:r>
              <a:rPr lang="en-SG" sz="1600" b="1" dirty="0"/>
              <a:t>4. National-level Space and STEM 2.0 Roadmap Development:</a:t>
            </a:r>
            <a:r>
              <a:rPr lang="en-SG" sz="1600" dirty="0"/>
              <a:t> Executing impactful, roadmaps through training, "galaxy-class" competitions and hackathons with global experts to ignite youth interest in space and STEM fields.</a:t>
            </a:r>
          </a:p>
          <a:p>
            <a:pPr marL="0" indent="0">
              <a:buNone/>
            </a:pPr>
            <a:endParaRPr lang="en-SG" sz="1600" dirty="0"/>
          </a:p>
          <a:p>
            <a:pPr marL="0" indent="0">
              <a:buNone/>
            </a:pPr>
            <a:r>
              <a:rPr lang="en-SG" sz="1600" dirty="0"/>
              <a:t>HONORARY ADVISORS</a:t>
            </a:r>
          </a:p>
          <a:p>
            <a:r>
              <a:rPr lang="en-SG" sz="1600" dirty="0"/>
              <a:t>Prof Lui Pao Chuen, Mr Atsushi Taira, Mrs Koh Soo Boon, Mr Seah Moon Ming, Dr Victoria Coleman</a:t>
            </a:r>
          </a:p>
          <a:p>
            <a:pPr marL="0" indent="0">
              <a:buNone/>
            </a:pPr>
            <a:endParaRPr lang="en-SG" sz="1600" dirty="0"/>
          </a:p>
          <a:p>
            <a:pPr marL="0" indent="0">
              <a:buNone/>
            </a:pPr>
            <a:r>
              <a:rPr lang="en-SG" sz="1600" dirty="0"/>
              <a:t>CEO</a:t>
            </a:r>
          </a:p>
          <a:p>
            <a:r>
              <a:rPr lang="en-SG" sz="1600" dirty="0"/>
              <a:t>Ms Lynette Tan</a:t>
            </a:r>
          </a:p>
        </p:txBody>
      </p:sp>
    </p:spTree>
    <p:extLst>
      <p:ext uri="{BB962C8B-B14F-4D97-AF65-F5344CB8AC3E}">
        <p14:creationId xmlns:p14="http://schemas.microsoft.com/office/powerpoint/2010/main" val="41926689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DAF15-D725-A68A-0DDB-0260940FCD4B}"/>
              </a:ext>
            </a:extLst>
          </p:cNvPr>
          <p:cNvSpPr>
            <a:spLocks noGrp="1"/>
          </p:cNvSpPr>
          <p:nvPr>
            <p:ph type="title"/>
          </p:nvPr>
        </p:nvSpPr>
        <p:spPr/>
        <p:txBody>
          <a:bodyPr/>
          <a:lstStyle/>
          <a:p>
            <a:r>
              <a:rPr lang="en-SG" dirty="0"/>
              <a:t>Ang Eng Hian</a:t>
            </a:r>
          </a:p>
        </p:txBody>
      </p:sp>
      <p:sp>
        <p:nvSpPr>
          <p:cNvPr id="3" name="Content Placeholder 2">
            <a:extLst>
              <a:ext uri="{FF2B5EF4-FFF2-40B4-BE49-F238E27FC236}">
                <a16:creationId xmlns:a16="http://schemas.microsoft.com/office/drawing/2014/main" id="{A46FB22D-C4B3-FD3A-6389-7DFE26DAE45C}"/>
              </a:ext>
            </a:extLst>
          </p:cNvPr>
          <p:cNvSpPr>
            <a:spLocks noGrp="1"/>
          </p:cNvSpPr>
          <p:nvPr>
            <p:ph idx="1"/>
          </p:nvPr>
        </p:nvSpPr>
        <p:spPr/>
        <p:txBody>
          <a:bodyPr>
            <a:normAutofit lnSpcReduction="10000"/>
          </a:bodyPr>
          <a:lstStyle/>
          <a:p>
            <a:r>
              <a:rPr lang="en-SG" sz="3200" dirty="0"/>
              <a:t>Education:</a:t>
            </a:r>
          </a:p>
          <a:p>
            <a:pPr lvl="1"/>
            <a:r>
              <a:rPr lang="en-SG" sz="2800" dirty="0"/>
              <a:t>NUS BEng (EE)</a:t>
            </a:r>
          </a:p>
          <a:p>
            <a:pPr lvl="1"/>
            <a:r>
              <a:rPr lang="en-SG" sz="2800" dirty="0"/>
              <a:t>NUS MSc (EE)</a:t>
            </a:r>
          </a:p>
          <a:p>
            <a:pPr lvl="1"/>
            <a:r>
              <a:rPr lang="en-SG" sz="2800" dirty="0"/>
              <a:t>NUS MTech (SE)</a:t>
            </a:r>
          </a:p>
          <a:p>
            <a:r>
              <a:rPr lang="en-SG" sz="3200" dirty="0"/>
              <a:t>Space Faculty</a:t>
            </a:r>
          </a:p>
          <a:p>
            <a:pPr lvl="1"/>
            <a:r>
              <a:rPr lang="en-SG" sz="2400" dirty="0"/>
              <a:t>Technical Consultant</a:t>
            </a:r>
          </a:p>
          <a:p>
            <a:r>
              <a:rPr lang="en-SG" sz="3200" dirty="0"/>
              <a:t>DSO National Laboratories</a:t>
            </a:r>
          </a:p>
          <a:p>
            <a:pPr lvl="1"/>
            <a:r>
              <a:rPr lang="en-SG" sz="2000" dirty="0"/>
              <a:t>2007 to 2025</a:t>
            </a:r>
          </a:p>
          <a:p>
            <a:pPr lvl="1"/>
            <a:r>
              <a:rPr lang="en-SG" sz="2000" dirty="0"/>
              <a:t>Principal Engineer (Radar System Engineer, Satellite Payload System Engineer)</a:t>
            </a:r>
          </a:p>
          <a:p>
            <a:pPr lvl="1"/>
            <a:r>
              <a:rPr lang="en-SG" sz="2000" dirty="0"/>
              <a:t>RF system, Electronic, Software, FPGA, Signal Processing</a:t>
            </a:r>
            <a:endParaRPr lang="en-SG" sz="1600" dirty="0"/>
          </a:p>
          <a:p>
            <a:endParaRPr lang="en-SG" sz="4000" dirty="0"/>
          </a:p>
          <a:p>
            <a:pPr lvl="2"/>
            <a:endParaRPr lang="en-SG" sz="3200" dirty="0"/>
          </a:p>
        </p:txBody>
      </p:sp>
    </p:spTree>
    <p:extLst>
      <p:ext uri="{BB962C8B-B14F-4D97-AF65-F5344CB8AC3E}">
        <p14:creationId xmlns:p14="http://schemas.microsoft.com/office/powerpoint/2010/main" val="4638489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7EE7A-2673-1A38-23CD-5CA12D5FD8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E95ECB-7090-A2D6-A163-8E10101C687A}"/>
              </a:ext>
            </a:extLst>
          </p:cNvPr>
          <p:cNvSpPr>
            <a:spLocks noGrp="1"/>
          </p:cNvSpPr>
          <p:nvPr>
            <p:ph type="title"/>
          </p:nvPr>
        </p:nvSpPr>
        <p:spPr>
          <a:xfrm>
            <a:off x="838200" y="365125"/>
            <a:ext cx="10515600" cy="1325563"/>
          </a:xfrm>
        </p:spPr>
        <p:txBody>
          <a:bodyPr anchor="ctr">
            <a:normAutofit/>
          </a:bodyPr>
          <a:lstStyle/>
          <a:p>
            <a:r>
              <a:rPr lang="en-SG" dirty="0"/>
              <a:t>Nelson Tan</a:t>
            </a:r>
          </a:p>
        </p:txBody>
      </p:sp>
      <p:sp>
        <p:nvSpPr>
          <p:cNvPr id="18" name="Content Placeholder 2">
            <a:extLst>
              <a:ext uri="{FF2B5EF4-FFF2-40B4-BE49-F238E27FC236}">
                <a16:creationId xmlns:a16="http://schemas.microsoft.com/office/drawing/2014/main" id="{3A69C3DC-35A6-5D54-6C44-C3814E998EC4}"/>
              </a:ext>
            </a:extLst>
          </p:cNvPr>
          <p:cNvSpPr>
            <a:spLocks noGrp="1"/>
          </p:cNvSpPr>
          <p:nvPr>
            <p:ph sz="half" idx="1"/>
          </p:nvPr>
        </p:nvSpPr>
        <p:spPr>
          <a:xfrm>
            <a:off x="838200" y="1825625"/>
            <a:ext cx="5181600" cy="4351338"/>
          </a:xfrm>
        </p:spPr>
        <p:txBody>
          <a:bodyPr/>
          <a:lstStyle/>
          <a:p>
            <a:r>
              <a:rPr lang="en-US" dirty="0"/>
              <a:t>Education:</a:t>
            </a:r>
          </a:p>
          <a:p>
            <a:pPr lvl="1"/>
            <a:r>
              <a:rPr lang="en-US" sz="2800" dirty="0"/>
              <a:t>NTU BEng (ME)</a:t>
            </a:r>
          </a:p>
          <a:p>
            <a:r>
              <a:rPr lang="en-SG" sz="3200" dirty="0"/>
              <a:t>Space Faculty</a:t>
            </a:r>
          </a:p>
          <a:p>
            <a:pPr lvl="1"/>
            <a:r>
              <a:rPr lang="en-SG" sz="2800" dirty="0"/>
              <a:t>Satellite Engineer</a:t>
            </a:r>
          </a:p>
        </p:txBody>
      </p:sp>
      <p:pic>
        <p:nvPicPr>
          <p:cNvPr id="8" name="Picture 7">
            <a:extLst>
              <a:ext uri="{FF2B5EF4-FFF2-40B4-BE49-F238E27FC236}">
                <a16:creationId xmlns:a16="http://schemas.microsoft.com/office/drawing/2014/main" id="{6500C50D-56BC-9D8D-FA78-2CAFE93B9996}"/>
              </a:ext>
            </a:extLst>
          </p:cNvPr>
          <p:cNvPicPr>
            <a:picLocks noChangeAspect="1"/>
          </p:cNvPicPr>
          <p:nvPr/>
        </p:nvPicPr>
        <p:blipFill>
          <a:blip r:embed="rId2"/>
          <a:srcRect b="22274"/>
          <a:stretch>
            <a:fillRect/>
          </a:stretch>
        </p:blipFill>
        <p:spPr>
          <a:xfrm>
            <a:off x="6110298" y="100628"/>
            <a:ext cx="5699264" cy="6261169"/>
          </a:xfrm>
          <a:prstGeom prst="rect">
            <a:avLst/>
          </a:prstGeom>
          <a:noFill/>
        </p:spPr>
      </p:pic>
    </p:spTree>
    <p:extLst>
      <p:ext uri="{BB962C8B-B14F-4D97-AF65-F5344CB8AC3E}">
        <p14:creationId xmlns:p14="http://schemas.microsoft.com/office/powerpoint/2010/main" val="34055721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DC442F-BDBE-F120-CFE5-BC5D7ED4FE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E0E23C-7D66-0D2A-B661-4E4DFAF0AB01}"/>
              </a:ext>
            </a:extLst>
          </p:cNvPr>
          <p:cNvSpPr>
            <a:spLocks noGrp="1"/>
          </p:cNvSpPr>
          <p:nvPr>
            <p:ph type="title"/>
          </p:nvPr>
        </p:nvSpPr>
        <p:spPr/>
        <p:txBody>
          <a:bodyPr/>
          <a:lstStyle/>
          <a:p>
            <a:r>
              <a:rPr lang="en-SG" dirty="0"/>
              <a:t>Lam Lap</a:t>
            </a:r>
          </a:p>
        </p:txBody>
      </p:sp>
      <p:sp>
        <p:nvSpPr>
          <p:cNvPr id="3" name="Content Placeholder 2">
            <a:extLst>
              <a:ext uri="{FF2B5EF4-FFF2-40B4-BE49-F238E27FC236}">
                <a16:creationId xmlns:a16="http://schemas.microsoft.com/office/drawing/2014/main" id="{97F76091-BB0F-297A-E3CF-3FC3864C7DAA}"/>
              </a:ext>
            </a:extLst>
          </p:cNvPr>
          <p:cNvSpPr>
            <a:spLocks noGrp="1"/>
          </p:cNvSpPr>
          <p:nvPr>
            <p:ph idx="1"/>
          </p:nvPr>
        </p:nvSpPr>
        <p:spPr/>
        <p:txBody>
          <a:bodyPr>
            <a:normAutofit/>
          </a:bodyPr>
          <a:lstStyle/>
          <a:p>
            <a:r>
              <a:rPr lang="en-SG" sz="3200" dirty="0"/>
              <a:t>Education:</a:t>
            </a:r>
          </a:p>
          <a:p>
            <a:pPr lvl="1"/>
            <a:r>
              <a:rPr lang="en-SG" sz="2800" dirty="0"/>
              <a:t>MSc in Electrical Engineering (UIUC, USA)</a:t>
            </a:r>
          </a:p>
          <a:p>
            <a:r>
              <a:rPr lang="en-SG" sz="3200" dirty="0"/>
              <a:t>Space Faculty</a:t>
            </a:r>
          </a:p>
          <a:p>
            <a:pPr lvl="1"/>
            <a:r>
              <a:rPr lang="en-SG" sz="2400" dirty="0"/>
              <a:t>Technical Director</a:t>
            </a:r>
          </a:p>
          <a:p>
            <a:r>
              <a:rPr lang="en-SG" sz="3200" dirty="0"/>
              <a:t>DSO National Laboratories</a:t>
            </a:r>
          </a:p>
          <a:p>
            <a:pPr lvl="1"/>
            <a:r>
              <a:rPr lang="en-SG" dirty="0"/>
              <a:t>2003 to 2024</a:t>
            </a:r>
          </a:p>
          <a:p>
            <a:pPr lvl="1"/>
            <a:r>
              <a:rPr lang="en-SG" dirty="0"/>
              <a:t>Programme Director</a:t>
            </a:r>
          </a:p>
          <a:p>
            <a:pPr lvl="2"/>
            <a:endParaRPr lang="en-SG" sz="3200" dirty="0"/>
          </a:p>
        </p:txBody>
      </p:sp>
    </p:spTree>
    <p:extLst>
      <p:ext uri="{BB962C8B-B14F-4D97-AF65-F5344CB8AC3E}">
        <p14:creationId xmlns:p14="http://schemas.microsoft.com/office/powerpoint/2010/main" val="26719506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0220203_152802.jpg"/>
          <p:cNvPicPr>
            <a:picLocks noChangeAspect="1"/>
          </p:cNvPicPr>
          <p:nvPr/>
        </p:nvPicPr>
        <p:blipFill>
          <a:blip r:embed="rId2"/>
          <a:stretch>
            <a:fillRect/>
          </a:stretch>
        </p:blipFill>
        <p:spPr>
          <a:xfrm>
            <a:off x="7909560" y="594360"/>
            <a:ext cx="3657600" cy="5166360"/>
          </a:xfrm>
          <a:prstGeom prst="rect">
            <a:avLst/>
          </a:prstGeom>
        </p:spPr>
      </p:pic>
      <p:sp>
        <p:nvSpPr>
          <p:cNvPr id="3" name="Rectangle 2"/>
          <p:cNvSpPr/>
          <p:nvPr/>
        </p:nvSpPr>
        <p:spPr>
          <a:xfrm>
            <a:off x="7909560" y="594360"/>
            <a:ext cx="3657600" cy="5166360"/>
          </a:xfrm>
          <a:prstGeom prst="rect">
            <a:avLst/>
          </a:prstGeom>
          <a:noFill/>
          <a:ln w="20320">
            <a:solidFill>
              <a:srgbClr val="39D5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endParaRPr>
          </a:p>
        </p:txBody>
      </p:sp>
      <p:sp>
        <p:nvSpPr>
          <p:cNvPr id="4" name="TextBox 3"/>
          <p:cNvSpPr txBox="1"/>
          <p:nvPr/>
        </p:nvSpPr>
        <p:spPr>
          <a:xfrm>
            <a:off x="658368" y="438912"/>
            <a:ext cx="6675120" cy="169277"/>
          </a:xfrm>
          <a:prstGeom prst="rect">
            <a:avLst/>
          </a:prstGeom>
          <a:noFill/>
        </p:spPr>
        <p:txBody>
          <a:bodyPr wrap="square" lIns="0" tIns="0" rIns="0" bIns="0">
            <a:spAutoFit/>
          </a:bodyPr>
          <a:lstStyle/>
          <a:p>
            <a:pPr algn="l"/>
            <a:r>
              <a:rPr lang="en-US" sz="1100" b="1" dirty="0">
                <a:latin typeface="Aptos"/>
              </a:rPr>
              <a:t>KEYNOTE </a:t>
            </a:r>
            <a:r>
              <a:rPr sz="1100" b="1" dirty="0">
                <a:latin typeface="Aptos"/>
              </a:rPr>
              <a:t> </a:t>
            </a:r>
            <a:r>
              <a:rPr lang="en-US" sz="1100" b="1" dirty="0">
                <a:latin typeface="Aptos"/>
              </a:rPr>
              <a:t>TRAINER </a:t>
            </a:r>
            <a:r>
              <a:rPr sz="1100" b="1" dirty="0">
                <a:latin typeface="Aptos"/>
              </a:rPr>
              <a:t>/  SPACECRAFT DESIGN WORKSHOP</a:t>
            </a:r>
          </a:p>
        </p:txBody>
      </p:sp>
      <p:sp>
        <p:nvSpPr>
          <p:cNvPr id="5" name="Rectangle 4"/>
          <p:cNvSpPr/>
          <p:nvPr/>
        </p:nvSpPr>
        <p:spPr>
          <a:xfrm>
            <a:off x="658368" y="832104"/>
            <a:ext cx="713232" cy="41148"/>
          </a:xfrm>
          <a:prstGeom prst="rect">
            <a:avLst/>
          </a:prstGeom>
          <a:solidFill>
            <a:srgbClr val="F5B4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endParaRPr>
          </a:p>
        </p:txBody>
      </p:sp>
      <p:sp>
        <p:nvSpPr>
          <p:cNvPr id="6" name="TextBox 5"/>
          <p:cNvSpPr txBox="1"/>
          <p:nvPr/>
        </p:nvSpPr>
        <p:spPr>
          <a:xfrm>
            <a:off x="658368" y="1051560"/>
            <a:ext cx="7040880" cy="384721"/>
          </a:xfrm>
          <a:prstGeom prst="rect">
            <a:avLst/>
          </a:prstGeom>
          <a:noFill/>
        </p:spPr>
        <p:txBody>
          <a:bodyPr wrap="square" lIns="0" tIns="0" rIns="0" bIns="0">
            <a:spAutoFit/>
          </a:bodyPr>
          <a:lstStyle/>
          <a:p>
            <a:pPr algn="l"/>
            <a:r>
              <a:rPr sz="2500" b="1" dirty="0">
                <a:latin typeface="Aptos"/>
              </a:rPr>
              <a:t>Dr Ramson Munyaradzi Nyamukondiwa</a:t>
            </a:r>
          </a:p>
        </p:txBody>
      </p:sp>
      <p:sp>
        <p:nvSpPr>
          <p:cNvPr id="7" name="TextBox 6"/>
          <p:cNvSpPr txBox="1"/>
          <p:nvPr/>
        </p:nvSpPr>
        <p:spPr>
          <a:xfrm>
            <a:off x="676656" y="1719072"/>
            <a:ext cx="6903720" cy="230832"/>
          </a:xfrm>
          <a:prstGeom prst="rect">
            <a:avLst/>
          </a:prstGeom>
          <a:noFill/>
        </p:spPr>
        <p:txBody>
          <a:bodyPr wrap="square" lIns="0" tIns="0" rIns="0" bIns="0">
            <a:spAutoFit/>
          </a:bodyPr>
          <a:lstStyle/>
          <a:p>
            <a:pPr algn="l"/>
            <a:r>
              <a:rPr b="1" dirty="0">
                <a:latin typeface="Aptos"/>
              </a:rPr>
              <a:t>Incoming Head of Space Activities  |  Space Faculty</a:t>
            </a:r>
          </a:p>
        </p:txBody>
      </p:sp>
      <p:sp>
        <p:nvSpPr>
          <p:cNvPr id="8" name="TextBox 7"/>
          <p:cNvSpPr txBox="1"/>
          <p:nvPr/>
        </p:nvSpPr>
        <p:spPr>
          <a:xfrm>
            <a:off x="676656" y="2267712"/>
            <a:ext cx="6629400" cy="430887"/>
          </a:xfrm>
          <a:prstGeom prst="rect">
            <a:avLst/>
          </a:prstGeom>
          <a:noFill/>
        </p:spPr>
        <p:txBody>
          <a:bodyPr wrap="square" lIns="0" tIns="0" rIns="0" bIns="0">
            <a:spAutoFit/>
          </a:bodyPr>
          <a:lstStyle/>
          <a:p>
            <a:pPr algn="l"/>
            <a:r>
              <a:rPr sz="1400" b="0" dirty="0">
                <a:latin typeface="Aptos"/>
              </a:rPr>
              <a:t>Space systems engineer and educator bridging spacecraft design, hands-on engineering, integration, testing and mission operations.</a:t>
            </a:r>
          </a:p>
        </p:txBody>
      </p:sp>
      <p:sp>
        <p:nvSpPr>
          <p:cNvPr id="9" name="Rectangle 8"/>
          <p:cNvSpPr/>
          <p:nvPr/>
        </p:nvSpPr>
        <p:spPr>
          <a:xfrm>
            <a:off x="676656" y="3063240"/>
            <a:ext cx="6720840" cy="10972"/>
          </a:xfrm>
          <a:prstGeom prst="rect">
            <a:avLst/>
          </a:prstGeom>
          <a:solidFill>
            <a:srgbClr val="2B45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b="1">
              <a:solidFill>
                <a:schemeClr val="tx1"/>
              </a:solidFill>
            </a:endParaRPr>
          </a:p>
        </p:txBody>
      </p:sp>
      <p:sp>
        <p:nvSpPr>
          <p:cNvPr id="10" name="TextBox 9"/>
          <p:cNvSpPr txBox="1"/>
          <p:nvPr/>
        </p:nvSpPr>
        <p:spPr>
          <a:xfrm>
            <a:off x="676656" y="3255264"/>
            <a:ext cx="3154680" cy="215444"/>
          </a:xfrm>
          <a:prstGeom prst="rect">
            <a:avLst/>
          </a:prstGeom>
          <a:noFill/>
        </p:spPr>
        <p:txBody>
          <a:bodyPr wrap="square" lIns="0" tIns="0" rIns="0" bIns="0">
            <a:spAutoFit/>
          </a:bodyPr>
          <a:lstStyle/>
          <a:p>
            <a:pPr algn="l"/>
            <a:r>
              <a:rPr sz="1400" b="1" dirty="0">
                <a:latin typeface="Aptos"/>
              </a:rPr>
              <a:t>LEADERSHIP &amp; ENGINEERING</a:t>
            </a:r>
          </a:p>
        </p:txBody>
      </p:sp>
      <p:sp>
        <p:nvSpPr>
          <p:cNvPr id="11" name="TextBox 10"/>
          <p:cNvSpPr txBox="1"/>
          <p:nvPr/>
        </p:nvSpPr>
        <p:spPr>
          <a:xfrm>
            <a:off x="676656" y="3566160"/>
            <a:ext cx="3200400" cy="1280160"/>
          </a:xfrm>
          <a:prstGeom prst="rect">
            <a:avLst/>
          </a:prstGeom>
          <a:noFill/>
        </p:spPr>
        <p:txBody>
          <a:bodyPr wrap="square" lIns="0" tIns="0" rIns="0" bIns="0">
            <a:spAutoFit/>
          </a:bodyPr>
          <a:lstStyle/>
          <a:p>
            <a:pPr algn="l"/>
            <a:r>
              <a:rPr sz="1200" b="0" dirty="0">
                <a:latin typeface="Aptos"/>
              </a:rPr>
              <a:t>Former Faculty Lead &amp; Assistant Professor
Space Engineering, International Space University (ISU)
Former Acting Director, Administration &amp; Finance; Chief / Principal / Senior Systems Engineer, ZINGSA</a:t>
            </a:r>
          </a:p>
        </p:txBody>
      </p:sp>
      <p:sp>
        <p:nvSpPr>
          <p:cNvPr id="12" name="TextBox 11"/>
          <p:cNvSpPr txBox="1"/>
          <p:nvPr/>
        </p:nvSpPr>
        <p:spPr>
          <a:xfrm>
            <a:off x="4160520" y="3255264"/>
            <a:ext cx="3200400" cy="215444"/>
          </a:xfrm>
          <a:prstGeom prst="rect">
            <a:avLst/>
          </a:prstGeom>
          <a:noFill/>
        </p:spPr>
        <p:txBody>
          <a:bodyPr wrap="square" lIns="0" tIns="0" rIns="0" bIns="0">
            <a:spAutoFit/>
          </a:bodyPr>
          <a:lstStyle/>
          <a:p>
            <a:pPr algn="l"/>
            <a:r>
              <a:rPr sz="1400" b="1">
                <a:latin typeface="Aptos"/>
              </a:rPr>
              <a:t>TRAINING &amp; CERTIFICATIONS</a:t>
            </a:r>
          </a:p>
        </p:txBody>
      </p:sp>
      <p:sp>
        <p:nvSpPr>
          <p:cNvPr id="13" name="TextBox 12"/>
          <p:cNvSpPr txBox="1"/>
          <p:nvPr/>
        </p:nvSpPr>
        <p:spPr>
          <a:xfrm>
            <a:off x="4160520" y="3566160"/>
            <a:ext cx="3246120" cy="1477328"/>
          </a:xfrm>
          <a:prstGeom prst="rect">
            <a:avLst/>
          </a:prstGeom>
          <a:noFill/>
        </p:spPr>
        <p:txBody>
          <a:bodyPr wrap="square" lIns="0" tIns="0" rIns="0" bIns="0">
            <a:spAutoFit/>
          </a:bodyPr>
          <a:lstStyle/>
          <a:p>
            <a:pPr algn="l"/>
            <a:r>
              <a:rPr sz="1200" b="0" dirty="0" err="1">
                <a:latin typeface="Aptos"/>
              </a:rPr>
              <a:t>CanSat</a:t>
            </a:r>
            <a:r>
              <a:rPr sz="1200" b="0" dirty="0">
                <a:latin typeface="Aptos"/>
              </a:rPr>
              <a:t> / CubeSat Trainer — UNISEC Global, Japan</a:t>
            </a:r>
            <a:endParaRPr lang="en-US" sz="1200" b="0" dirty="0">
              <a:latin typeface="Aptos"/>
            </a:endParaRPr>
          </a:p>
          <a:p>
            <a:pPr algn="l"/>
            <a:r>
              <a:rPr sz="1200" b="0" dirty="0">
                <a:latin typeface="Aptos"/>
              </a:rPr>
              <a:t>
Space Engineering Teaching Methods — AOTS, Japan</a:t>
            </a:r>
            <a:endParaRPr lang="en-US" sz="1200" b="0" dirty="0">
              <a:latin typeface="Aptos"/>
            </a:endParaRPr>
          </a:p>
          <a:p>
            <a:pPr algn="l"/>
            <a:r>
              <a:rPr sz="1200" b="0" dirty="0">
                <a:latin typeface="Aptos"/>
              </a:rPr>
              <a:t>
Certified Satellite Operator — USFCC
Amateur Radio: Extra Class </a:t>
            </a:r>
            <a:r>
              <a:rPr sz="1200" b="0" dirty="0" err="1">
                <a:latin typeface="Aptos"/>
              </a:rPr>
              <a:t>licence</a:t>
            </a:r>
            <a:endParaRPr sz="1200" b="0" dirty="0">
              <a:latin typeface="Aptos"/>
            </a:endParaRPr>
          </a:p>
        </p:txBody>
      </p:sp>
      <p:sp>
        <p:nvSpPr>
          <p:cNvPr id="14" name="Rectangle 13"/>
          <p:cNvSpPr/>
          <p:nvPr/>
        </p:nvSpPr>
        <p:spPr>
          <a:xfrm>
            <a:off x="0" y="5138928"/>
            <a:ext cx="12191695" cy="1719072"/>
          </a:xfrm>
          <a:prstGeom prst="rect">
            <a:avLst/>
          </a:prstGeom>
          <a:solidFill>
            <a:srgbClr val="0C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solidFill>
                <a:schemeClr val="bg1"/>
              </a:solidFill>
            </a:endParaRPr>
          </a:p>
        </p:txBody>
      </p:sp>
      <p:sp>
        <p:nvSpPr>
          <p:cNvPr id="15" name="TextBox 14"/>
          <p:cNvSpPr txBox="1"/>
          <p:nvPr/>
        </p:nvSpPr>
        <p:spPr>
          <a:xfrm>
            <a:off x="676655" y="5394960"/>
            <a:ext cx="2768159" cy="215444"/>
          </a:xfrm>
          <a:prstGeom prst="rect">
            <a:avLst/>
          </a:prstGeom>
          <a:noFill/>
        </p:spPr>
        <p:txBody>
          <a:bodyPr wrap="square" lIns="0" tIns="0" rIns="0" bIns="0">
            <a:spAutoFit/>
          </a:bodyPr>
          <a:lstStyle/>
          <a:p>
            <a:pPr algn="l"/>
            <a:r>
              <a:rPr sz="1400" b="1" dirty="0">
                <a:solidFill>
                  <a:schemeClr val="bg1"/>
                </a:solidFill>
                <a:latin typeface="Aptos"/>
              </a:rPr>
              <a:t>ACADEMIC BACKGROUND</a:t>
            </a:r>
          </a:p>
        </p:txBody>
      </p:sp>
      <p:sp>
        <p:nvSpPr>
          <p:cNvPr id="16" name="TextBox 15"/>
          <p:cNvSpPr txBox="1"/>
          <p:nvPr/>
        </p:nvSpPr>
        <p:spPr>
          <a:xfrm>
            <a:off x="676656" y="5742432"/>
            <a:ext cx="3337560" cy="369332"/>
          </a:xfrm>
          <a:prstGeom prst="rect">
            <a:avLst/>
          </a:prstGeom>
          <a:noFill/>
        </p:spPr>
        <p:txBody>
          <a:bodyPr wrap="square" lIns="0" tIns="0" rIns="0" bIns="0">
            <a:spAutoFit/>
          </a:bodyPr>
          <a:lstStyle/>
          <a:p>
            <a:pPr algn="l"/>
            <a:r>
              <a:rPr sz="1200" b="1" dirty="0">
                <a:solidFill>
                  <a:schemeClr val="bg1"/>
                </a:solidFill>
                <a:latin typeface="Aptos"/>
              </a:rPr>
              <a:t>PhD  |  Electrical &amp; Space Systems Engineering
Kyushu Institute of Technology, Japan</a:t>
            </a:r>
          </a:p>
        </p:txBody>
      </p:sp>
      <p:sp>
        <p:nvSpPr>
          <p:cNvPr id="17" name="Rectangle 16"/>
          <p:cNvSpPr/>
          <p:nvPr/>
        </p:nvSpPr>
        <p:spPr>
          <a:xfrm>
            <a:off x="4160520" y="5687568"/>
            <a:ext cx="10972" cy="658368"/>
          </a:xfrm>
          <a:prstGeom prst="rect">
            <a:avLst/>
          </a:prstGeom>
          <a:solidFill>
            <a:srgbClr val="2B45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solidFill>
                <a:schemeClr val="tx1"/>
              </a:solidFill>
            </a:endParaRPr>
          </a:p>
        </p:txBody>
      </p:sp>
      <p:sp>
        <p:nvSpPr>
          <p:cNvPr id="18" name="Rectangle 17"/>
          <p:cNvSpPr/>
          <p:nvPr/>
        </p:nvSpPr>
        <p:spPr>
          <a:xfrm>
            <a:off x="7909560" y="5687568"/>
            <a:ext cx="10972" cy="658368"/>
          </a:xfrm>
          <a:prstGeom prst="rect">
            <a:avLst/>
          </a:prstGeom>
          <a:solidFill>
            <a:srgbClr val="2B45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solidFill>
                <a:schemeClr val="tx1"/>
              </a:solidFill>
            </a:endParaRPr>
          </a:p>
        </p:txBody>
      </p:sp>
      <p:sp>
        <p:nvSpPr>
          <p:cNvPr id="19" name="TextBox 18"/>
          <p:cNvSpPr txBox="1"/>
          <p:nvPr/>
        </p:nvSpPr>
        <p:spPr>
          <a:xfrm>
            <a:off x="4462272" y="5742432"/>
            <a:ext cx="3154680" cy="553998"/>
          </a:xfrm>
          <a:prstGeom prst="rect">
            <a:avLst/>
          </a:prstGeom>
          <a:noFill/>
        </p:spPr>
        <p:txBody>
          <a:bodyPr wrap="square" lIns="0" tIns="0" rIns="0" bIns="0">
            <a:spAutoFit/>
          </a:bodyPr>
          <a:lstStyle/>
          <a:p>
            <a:pPr algn="l"/>
            <a:r>
              <a:rPr sz="1200" b="1" dirty="0">
                <a:solidFill>
                  <a:schemeClr val="bg1"/>
                </a:solidFill>
                <a:latin typeface="Aptos"/>
              </a:rPr>
              <a:t>MEng  |  Electronics &amp; Information Engineering
</a:t>
            </a:r>
            <a:r>
              <a:rPr sz="1200" b="1" dirty="0" err="1">
                <a:solidFill>
                  <a:schemeClr val="bg1"/>
                </a:solidFill>
                <a:latin typeface="Aptos"/>
              </a:rPr>
              <a:t>Chonbuk</a:t>
            </a:r>
            <a:r>
              <a:rPr sz="1200" b="1" dirty="0">
                <a:solidFill>
                  <a:schemeClr val="bg1"/>
                </a:solidFill>
                <a:latin typeface="Aptos"/>
              </a:rPr>
              <a:t> National University, South Korea</a:t>
            </a:r>
          </a:p>
        </p:txBody>
      </p:sp>
      <p:sp>
        <p:nvSpPr>
          <p:cNvPr id="20" name="TextBox 19"/>
          <p:cNvSpPr txBox="1"/>
          <p:nvPr/>
        </p:nvSpPr>
        <p:spPr>
          <a:xfrm>
            <a:off x="8211312" y="5742432"/>
            <a:ext cx="3383280" cy="369332"/>
          </a:xfrm>
          <a:prstGeom prst="rect">
            <a:avLst/>
          </a:prstGeom>
          <a:noFill/>
        </p:spPr>
        <p:txBody>
          <a:bodyPr wrap="square" lIns="0" tIns="0" rIns="0" bIns="0">
            <a:spAutoFit/>
          </a:bodyPr>
          <a:lstStyle/>
          <a:p>
            <a:pPr algn="l"/>
            <a:r>
              <a:rPr sz="1200" b="1" dirty="0">
                <a:solidFill>
                  <a:schemeClr val="bg1"/>
                </a:solidFill>
                <a:latin typeface="Aptos"/>
              </a:rPr>
              <a:t>BSc  |  Electronics Engineering
University of </a:t>
            </a:r>
            <a:r>
              <a:rPr sz="1200" b="1" dirty="0" err="1">
                <a:solidFill>
                  <a:schemeClr val="bg1"/>
                </a:solidFill>
                <a:latin typeface="Aptos"/>
              </a:rPr>
              <a:t>Tlemcen</a:t>
            </a:r>
            <a:r>
              <a:rPr sz="1200" b="1" dirty="0">
                <a:solidFill>
                  <a:schemeClr val="bg1"/>
                </a:solidFill>
                <a:latin typeface="Aptos"/>
              </a:rPr>
              <a:t>, Algeria</a:t>
            </a:r>
          </a:p>
        </p:txBody>
      </p:sp>
      <p:sp>
        <p:nvSpPr>
          <p:cNvPr id="21" name="TextBox 20"/>
          <p:cNvSpPr txBox="1"/>
          <p:nvPr/>
        </p:nvSpPr>
        <p:spPr>
          <a:xfrm>
            <a:off x="676656" y="6565392"/>
            <a:ext cx="10789920" cy="130805"/>
          </a:xfrm>
          <a:prstGeom prst="rect">
            <a:avLst/>
          </a:prstGeom>
          <a:noFill/>
        </p:spPr>
        <p:txBody>
          <a:bodyPr wrap="square" lIns="0" tIns="0" rIns="0" bIns="0">
            <a:spAutoFit/>
          </a:bodyPr>
          <a:lstStyle/>
          <a:p>
            <a:pPr algn="l"/>
            <a:r>
              <a:rPr sz="850" b="1">
                <a:latin typeface="Aptos"/>
              </a:rPr>
              <a:t>SPACECRAFT DESIGN  •  FROM CONCEPT &amp; SUBSYSTEMS TO INTEGRATION, TESTING AND OPERATIONS</a:t>
            </a:r>
          </a:p>
        </p:txBody>
      </p:sp>
    </p:spTree>
    <p:extLst>
      <p:ext uri="{BB962C8B-B14F-4D97-AF65-F5344CB8AC3E}">
        <p14:creationId xmlns:p14="http://schemas.microsoft.com/office/powerpoint/2010/main" val="29003636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4BC31E7-76DB-DDD8-7AC9-A8FDE13C68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B3359D-EC12-4EDE-2744-1FE82BE09550}"/>
              </a:ext>
            </a:extLst>
          </p:cNvPr>
          <p:cNvSpPr>
            <a:spLocks noGrp="1"/>
          </p:cNvSpPr>
          <p:nvPr>
            <p:ph type="title"/>
          </p:nvPr>
        </p:nvSpPr>
        <p:spPr>
          <a:xfrm>
            <a:off x="838200" y="365125"/>
            <a:ext cx="10515600" cy="1325563"/>
          </a:xfrm>
        </p:spPr>
        <p:txBody>
          <a:bodyPr anchor="ctr">
            <a:normAutofit/>
          </a:bodyPr>
          <a:lstStyle/>
          <a:p>
            <a:r>
              <a:rPr lang="en-SG" dirty="0"/>
              <a:t>Rohini Parthasarathy</a:t>
            </a:r>
          </a:p>
        </p:txBody>
      </p:sp>
      <p:sp>
        <p:nvSpPr>
          <p:cNvPr id="18" name="Content Placeholder 2">
            <a:extLst>
              <a:ext uri="{FF2B5EF4-FFF2-40B4-BE49-F238E27FC236}">
                <a16:creationId xmlns:a16="http://schemas.microsoft.com/office/drawing/2014/main" id="{A0A39328-12BE-0CBB-38B5-1D48733D925E}"/>
              </a:ext>
            </a:extLst>
          </p:cNvPr>
          <p:cNvSpPr>
            <a:spLocks noGrp="1"/>
          </p:cNvSpPr>
          <p:nvPr>
            <p:ph sz="half" idx="1"/>
          </p:nvPr>
        </p:nvSpPr>
        <p:spPr>
          <a:xfrm>
            <a:off x="838200" y="1825625"/>
            <a:ext cx="10515600" cy="4351338"/>
          </a:xfrm>
        </p:spPr>
        <p:txBody>
          <a:bodyPr>
            <a:normAutofit/>
          </a:bodyPr>
          <a:lstStyle/>
          <a:p>
            <a:r>
              <a:rPr lang="en-US" dirty="0"/>
              <a:t>Education:</a:t>
            </a:r>
          </a:p>
          <a:p>
            <a:pPr lvl="1"/>
            <a:r>
              <a:rPr lang="en-US" dirty="0"/>
              <a:t>Master of Space Studies, International Space University</a:t>
            </a:r>
          </a:p>
          <a:p>
            <a:pPr lvl="1"/>
            <a:r>
              <a:rPr lang="en-US" dirty="0"/>
              <a:t>B.E. (EEE), Chennai Institute of Technology</a:t>
            </a:r>
          </a:p>
          <a:p>
            <a:r>
              <a:rPr lang="en-US" dirty="0"/>
              <a:t>Experience:</a:t>
            </a:r>
          </a:p>
          <a:p>
            <a:pPr lvl="1"/>
            <a:r>
              <a:rPr lang="en-US" dirty="0"/>
              <a:t>Space Faculty Pte Ltd : 2026 - present</a:t>
            </a:r>
          </a:p>
        </p:txBody>
      </p:sp>
    </p:spTree>
    <p:extLst>
      <p:ext uri="{BB962C8B-B14F-4D97-AF65-F5344CB8AC3E}">
        <p14:creationId xmlns:p14="http://schemas.microsoft.com/office/powerpoint/2010/main" val="26382812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EAB9455-8E12-724D-C473-91BC1F18C0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58475B-15AD-5E94-1252-1244DE267F41}"/>
              </a:ext>
            </a:extLst>
          </p:cNvPr>
          <p:cNvSpPr>
            <a:spLocks noGrp="1"/>
          </p:cNvSpPr>
          <p:nvPr>
            <p:ph type="title"/>
          </p:nvPr>
        </p:nvSpPr>
        <p:spPr>
          <a:xfrm>
            <a:off x="838200" y="365125"/>
            <a:ext cx="10515600" cy="1325563"/>
          </a:xfrm>
        </p:spPr>
        <p:txBody>
          <a:bodyPr anchor="ctr">
            <a:normAutofit/>
          </a:bodyPr>
          <a:lstStyle/>
          <a:p>
            <a:r>
              <a:rPr lang="en-SG" dirty="0"/>
              <a:t>Dr </a:t>
            </a:r>
            <a:r>
              <a:rPr lang="en-SG" b="1" dirty="0">
                <a:hlinkClick r:id="rId2"/>
              </a:rPr>
              <a:t>NARAYANASWAMY (Nagarajan) NAGARAJAN</a:t>
            </a:r>
            <a:endParaRPr lang="en-SG" dirty="0"/>
          </a:p>
        </p:txBody>
      </p:sp>
      <p:sp>
        <p:nvSpPr>
          <p:cNvPr id="18" name="Content Placeholder 2">
            <a:extLst>
              <a:ext uri="{FF2B5EF4-FFF2-40B4-BE49-F238E27FC236}">
                <a16:creationId xmlns:a16="http://schemas.microsoft.com/office/drawing/2014/main" id="{42D907EF-E64B-6E80-4EB7-7113BCC34CC8}"/>
              </a:ext>
            </a:extLst>
          </p:cNvPr>
          <p:cNvSpPr>
            <a:spLocks noGrp="1"/>
          </p:cNvSpPr>
          <p:nvPr>
            <p:ph sz="half" idx="1"/>
          </p:nvPr>
        </p:nvSpPr>
        <p:spPr>
          <a:xfrm>
            <a:off x="838200" y="1825625"/>
            <a:ext cx="10515600" cy="4351338"/>
          </a:xfrm>
        </p:spPr>
        <p:txBody>
          <a:bodyPr>
            <a:normAutofit/>
          </a:bodyPr>
          <a:lstStyle/>
          <a:p>
            <a:r>
              <a:rPr lang="en-US" dirty="0"/>
              <a:t>Education:</a:t>
            </a:r>
          </a:p>
          <a:p>
            <a:pPr lvl="1"/>
            <a:r>
              <a:rPr lang="en-US" dirty="0"/>
              <a:t>PhD Aerospace, Indian Institute of Science</a:t>
            </a:r>
          </a:p>
          <a:p>
            <a:r>
              <a:rPr lang="en-US" dirty="0"/>
              <a:t>Experience:</a:t>
            </a:r>
          </a:p>
          <a:p>
            <a:pPr lvl="1"/>
            <a:r>
              <a:rPr lang="en-US" dirty="0"/>
              <a:t>Aerospace Engineer and Consultant</a:t>
            </a:r>
          </a:p>
          <a:p>
            <a:pPr lvl="1"/>
            <a:r>
              <a:rPr lang="en-US" dirty="0"/>
              <a:t>2010 – 2016: ST Engineering (Satellite Systems). Satellites: TeLEOS-1, TeLEOS-2</a:t>
            </a:r>
          </a:p>
          <a:p>
            <a:pPr lvl="1"/>
            <a:r>
              <a:rPr lang="en-US" dirty="0"/>
              <a:t>1999 – 2008: NTU Asst Professor; Satellite XSAT team</a:t>
            </a:r>
          </a:p>
          <a:p>
            <a:pPr lvl="1"/>
            <a:r>
              <a:rPr lang="en-US" dirty="0"/>
              <a:t>1977 – 1997: ISRO Satellite Centre</a:t>
            </a:r>
          </a:p>
        </p:txBody>
      </p:sp>
    </p:spTree>
    <p:extLst>
      <p:ext uri="{BB962C8B-B14F-4D97-AF65-F5344CB8AC3E}">
        <p14:creationId xmlns:p14="http://schemas.microsoft.com/office/powerpoint/2010/main" val="34313119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E08984-C72B-AA18-ABD0-88099601BF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EE467C-99A6-BD78-9F3E-6356D72E5E93}"/>
              </a:ext>
            </a:extLst>
          </p:cNvPr>
          <p:cNvSpPr>
            <a:spLocks noGrp="1"/>
          </p:cNvSpPr>
          <p:nvPr>
            <p:ph type="title"/>
          </p:nvPr>
        </p:nvSpPr>
        <p:spPr/>
        <p:txBody>
          <a:bodyPr/>
          <a:lstStyle/>
          <a:p>
            <a:r>
              <a:rPr lang="en-SG" dirty="0"/>
              <a:t>Agenda</a:t>
            </a:r>
          </a:p>
        </p:txBody>
      </p:sp>
      <p:graphicFrame>
        <p:nvGraphicFramePr>
          <p:cNvPr id="15" name="Content Placeholder 14">
            <a:extLst>
              <a:ext uri="{FF2B5EF4-FFF2-40B4-BE49-F238E27FC236}">
                <a16:creationId xmlns:a16="http://schemas.microsoft.com/office/drawing/2014/main" id="{A4675D92-B334-27D1-D42C-FE4C732776D5}"/>
              </a:ext>
            </a:extLst>
          </p:cNvPr>
          <p:cNvGraphicFramePr>
            <a:graphicFrameLocks noGrp="1"/>
          </p:cNvGraphicFramePr>
          <p:nvPr>
            <p:ph idx="1"/>
            <p:extLst>
              <p:ext uri="{D42A27DB-BD31-4B8C-83A1-F6EECF244321}">
                <p14:modId xmlns:p14="http://schemas.microsoft.com/office/powerpoint/2010/main" val="3359632915"/>
              </p:ext>
            </p:extLst>
          </p:nvPr>
        </p:nvGraphicFramePr>
        <p:xfrm>
          <a:off x="838200" y="1911896"/>
          <a:ext cx="9956470" cy="4097020"/>
        </p:xfrm>
        <a:graphic>
          <a:graphicData uri="http://schemas.openxmlformats.org/drawingml/2006/table">
            <a:tbl>
              <a:tblPr firstRow="1" firstCol="1" bandRow="1">
                <a:tableStyleId>{5C22544A-7EE6-4342-B048-85BDC9FD1C3A}</a:tableStyleId>
              </a:tblPr>
              <a:tblGrid>
                <a:gridCol w="1878447">
                  <a:extLst>
                    <a:ext uri="{9D8B030D-6E8A-4147-A177-3AD203B41FA5}">
                      <a16:colId xmlns:a16="http://schemas.microsoft.com/office/drawing/2014/main" val="3384396076"/>
                    </a:ext>
                  </a:extLst>
                </a:gridCol>
                <a:gridCol w="1430283">
                  <a:extLst>
                    <a:ext uri="{9D8B030D-6E8A-4147-A177-3AD203B41FA5}">
                      <a16:colId xmlns:a16="http://schemas.microsoft.com/office/drawing/2014/main" val="3276534998"/>
                    </a:ext>
                  </a:extLst>
                </a:gridCol>
                <a:gridCol w="6647740">
                  <a:extLst>
                    <a:ext uri="{9D8B030D-6E8A-4147-A177-3AD203B41FA5}">
                      <a16:colId xmlns:a16="http://schemas.microsoft.com/office/drawing/2014/main" val="1303861775"/>
                    </a:ext>
                  </a:extLst>
                </a:gridCol>
              </a:tblGrid>
              <a:tr h="409702">
                <a:tc>
                  <a:txBody>
                    <a:bodyPr/>
                    <a:lstStyle/>
                    <a:p>
                      <a:pPr marL="101600" indent="-6350">
                        <a:lnSpc>
                          <a:spcPct val="107000"/>
                        </a:lnSpc>
                        <a:spcAft>
                          <a:spcPts val="610"/>
                        </a:spcAft>
                        <a:buNone/>
                      </a:pPr>
                      <a:r>
                        <a:rPr lang="en-SG" sz="1400" kern="100">
                          <a:effectLst/>
                        </a:rPr>
                        <a:t>Time</a:t>
                      </a:r>
                      <a:endParaRPr lang="en-SG" sz="1400" kern="100">
                        <a:solidFill>
                          <a:srgbClr val="00274D"/>
                        </a:solidFill>
                        <a:effectLst/>
                        <a:latin typeface="Calibri" panose="020F0502020204030204" pitchFamily="34" charset="0"/>
                        <a:ea typeface="Calibri" panose="020F0502020204030204" pitchFamily="34" charset="0"/>
                      </a:endParaRPr>
                    </a:p>
                  </a:txBody>
                  <a:tcPr marL="0" marR="73025" marT="73025" marB="0"/>
                </a:tc>
                <a:tc>
                  <a:txBody>
                    <a:bodyPr/>
                    <a:lstStyle/>
                    <a:p>
                      <a:pPr marL="6350" indent="-6350">
                        <a:lnSpc>
                          <a:spcPct val="107000"/>
                        </a:lnSpc>
                        <a:spcAft>
                          <a:spcPts val="610"/>
                        </a:spcAft>
                        <a:buNone/>
                      </a:pPr>
                      <a:r>
                        <a:rPr lang="en-SG" sz="1400" kern="100">
                          <a:effectLst/>
                        </a:rPr>
                        <a:t>Duration</a:t>
                      </a:r>
                      <a:endParaRPr lang="en-SG" sz="1400" kern="100">
                        <a:solidFill>
                          <a:srgbClr val="00274D"/>
                        </a:solidFill>
                        <a:effectLst/>
                        <a:latin typeface="Calibri" panose="020F0502020204030204" pitchFamily="34" charset="0"/>
                        <a:ea typeface="Calibri" panose="020F0502020204030204" pitchFamily="34" charset="0"/>
                      </a:endParaRPr>
                    </a:p>
                  </a:txBody>
                  <a:tcPr marL="0" marR="73025" marT="73025" marB="0"/>
                </a:tc>
                <a:tc>
                  <a:txBody>
                    <a:bodyPr/>
                    <a:lstStyle/>
                    <a:p>
                      <a:pPr marL="6350" indent="-6350">
                        <a:lnSpc>
                          <a:spcPct val="107000"/>
                        </a:lnSpc>
                        <a:spcAft>
                          <a:spcPts val="610"/>
                        </a:spcAft>
                        <a:buNone/>
                      </a:pPr>
                      <a:r>
                        <a:rPr lang="en-SG" sz="1400" kern="100">
                          <a:effectLst/>
                        </a:rPr>
                        <a:t>Session</a:t>
                      </a:r>
                      <a:endParaRPr lang="en-SG" sz="1400" kern="100">
                        <a:solidFill>
                          <a:srgbClr val="00274D"/>
                        </a:solidFill>
                        <a:effectLst/>
                        <a:latin typeface="Calibri" panose="020F0502020204030204" pitchFamily="34" charset="0"/>
                        <a:ea typeface="Calibri" panose="020F0502020204030204" pitchFamily="34" charset="0"/>
                      </a:endParaRPr>
                    </a:p>
                  </a:txBody>
                  <a:tcPr marL="0" marR="73025" marT="73025" marB="0"/>
                </a:tc>
                <a:extLst>
                  <a:ext uri="{0D108BD9-81ED-4DB2-BD59-A6C34878D82A}">
                    <a16:rowId xmlns:a16="http://schemas.microsoft.com/office/drawing/2014/main" val="3892401983"/>
                  </a:ext>
                </a:extLst>
              </a:tr>
              <a:tr h="409702">
                <a:tc>
                  <a:txBody>
                    <a:bodyPr/>
                    <a:lstStyle/>
                    <a:p>
                      <a:pPr marL="101600" indent="-6350">
                        <a:lnSpc>
                          <a:spcPct val="107000"/>
                        </a:lnSpc>
                        <a:spcAft>
                          <a:spcPts val="610"/>
                        </a:spcAft>
                        <a:buNone/>
                      </a:pPr>
                      <a:r>
                        <a:rPr lang="en-SG" sz="1400" kern="100">
                          <a:effectLst/>
                        </a:rPr>
                        <a:t>09:00 – 09:30</a:t>
                      </a:r>
                      <a:endParaRPr lang="en-SG" sz="1400" kern="100">
                        <a:solidFill>
                          <a:srgbClr val="00274D"/>
                        </a:solidFill>
                        <a:effectLst/>
                        <a:latin typeface="Calibri" panose="020F0502020204030204" pitchFamily="34" charset="0"/>
                        <a:ea typeface="Calibri" panose="020F0502020204030204" pitchFamily="34" charset="0"/>
                      </a:endParaRPr>
                    </a:p>
                  </a:txBody>
                  <a:tcPr marL="0" marR="73025" marT="73025" marB="0"/>
                </a:tc>
                <a:tc>
                  <a:txBody>
                    <a:bodyPr/>
                    <a:lstStyle/>
                    <a:p>
                      <a:pPr marL="6350" indent="-6350">
                        <a:lnSpc>
                          <a:spcPct val="107000"/>
                        </a:lnSpc>
                        <a:spcAft>
                          <a:spcPts val="610"/>
                        </a:spcAft>
                        <a:buNone/>
                      </a:pPr>
                      <a:r>
                        <a:rPr lang="en-SG" sz="1400" kern="100">
                          <a:effectLst/>
                        </a:rPr>
                        <a:t>30 min</a:t>
                      </a:r>
                      <a:endParaRPr lang="en-SG" sz="1400" kern="100">
                        <a:solidFill>
                          <a:srgbClr val="00274D"/>
                        </a:solidFill>
                        <a:effectLst/>
                        <a:latin typeface="Calibri" panose="020F0502020204030204" pitchFamily="34" charset="0"/>
                        <a:ea typeface="Calibri" panose="020F0502020204030204" pitchFamily="34" charset="0"/>
                      </a:endParaRPr>
                    </a:p>
                  </a:txBody>
                  <a:tcPr marL="0" marR="73025" marT="73025" marB="0"/>
                </a:tc>
                <a:tc>
                  <a:txBody>
                    <a:bodyPr/>
                    <a:lstStyle/>
                    <a:p>
                      <a:pPr marL="6350" indent="-6350">
                        <a:lnSpc>
                          <a:spcPct val="107000"/>
                        </a:lnSpc>
                        <a:spcAft>
                          <a:spcPts val="610"/>
                        </a:spcAft>
                        <a:buNone/>
                      </a:pPr>
                      <a:r>
                        <a:rPr lang="en-SG" sz="1400" kern="100">
                          <a:effectLst/>
                        </a:rPr>
                        <a:t>Morning tea and coffee with light refreshments</a:t>
                      </a:r>
                      <a:endParaRPr lang="en-SG" sz="1400" kern="100">
                        <a:solidFill>
                          <a:srgbClr val="00274D"/>
                        </a:solidFill>
                        <a:effectLst/>
                        <a:latin typeface="Calibri" panose="020F0502020204030204" pitchFamily="34" charset="0"/>
                        <a:ea typeface="Calibri" panose="020F0502020204030204" pitchFamily="34" charset="0"/>
                      </a:endParaRPr>
                    </a:p>
                  </a:txBody>
                  <a:tcPr marL="0" marR="73025" marT="73025" marB="0"/>
                </a:tc>
                <a:extLst>
                  <a:ext uri="{0D108BD9-81ED-4DB2-BD59-A6C34878D82A}">
                    <a16:rowId xmlns:a16="http://schemas.microsoft.com/office/drawing/2014/main" val="3535478986"/>
                  </a:ext>
                </a:extLst>
              </a:tr>
              <a:tr h="409702">
                <a:tc>
                  <a:txBody>
                    <a:bodyPr/>
                    <a:lstStyle/>
                    <a:p>
                      <a:pPr marL="101600" indent="-6350">
                        <a:lnSpc>
                          <a:spcPct val="107000"/>
                        </a:lnSpc>
                        <a:spcAft>
                          <a:spcPts val="610"/>
                        </a:spcAft>
                        <a:buNone/>
                      </a:pPr>
                      <a:r>
                        <a:rPr lang="en-SG" sz="1400" kern="100">
                          <a:effectLst/>
                        </a:rPr>
                        <a:t>09:30 – 10:00</a:t>
                      </a:r>
                      <a:endParaRPr lang="en-SG" sz="1400" kern="100">
                        <a:solidFill>
                          <a:srgbClr val="00274D"/>
                        </a:solidFill>
                        <a:effectLst/>
                        <a:latin typeface="Calibri" panose="020F0502020204030204" pitchFamily="34" charset="0"/>
                        <a:ea typeface="Calibri" panose="020F0502020204030204" pitchFamily="34" charset="0"/>
                      </a:endParaRPr>
                    </a:p>
                  </a:txBody>
                  <a:tcPr marL="0" marR="73025" marT="73025" marB="0"/>
                </a:tc>
                <a:tc>
                  <a:txBody>
                    <a:bodyPr/>
                    <a:lstStyle/>
                    <a:p>
                      <a:pPr marL="6350" indent="-6350">
                        <a:lnSpc>
                          <a:spcPct val="107000"/>
                        </a:lnSpc>
                        <a:spcAft>
                          <a:spcPts val="610"/>
                        </a:spcAft>
                        <a:buNone/>
                      </a:pPr>
                      <a:r>
                        <a:rPr lang="en-SG" sz="1400" kern="100">
                          <a:effectLst/>
                        </a:rPr>
                        <a:t>30 min</a:t>
                      </a:r>
                      <a:endParaRPr lang="en-SG" sz="1400" kern="100">
                        <a:solidFill>
                          <a:srgbClr val="00274D"/>
                        </a:solidFill>
                        <a:effectLst/>
                        <a:latin typeface="Calibri" panose="020F0502020204030204" pitchFamily="34" charset="0"/>
                        <a:ea typeface="Calibri" panose="020F0502020204030204" pitchFamily="34" charset="0"/>
                      </a:endParaRPr>
                    </a:p>
                  </a:txBody>
                  <a:tcPr marL="0" marR="73025" marT="73025" marB="0"/>
                </a:tc>
                <a:tc>
                  <a:txBody>
                    <a:bodyPr/>
                    <a:lstStyle/>
                    <a:p>
                      <a:pPr marL="6350" indent="-6350">
                        <a:lnSpc>
                          <a:spcPct val="107000"/>
                        </a:lnSpc>
                        <a:spcAft>
                          <a:spcPts val="610"/>
                        </a:spcAft>
                        <a:buNone/>
                      </a:pPr>
                      <a:r>
                        <a:rPr lang="en-SG" sz="1400" kern="100">
                          <a:effectLst/>
                        </a:rPr>
                        <a:t>Introduction and mission brief</a:t>
                      </a:r>
                      <a:endParaRPr lang="en-SG" sz="1400" kern="100">
                        <a:solidFill>
                          <a:srgbClr val="00274D"/>
                        </a:solidFill>
                        <a:effectLst/>
                        <a:latin typeface="Calibri" panose="020F0502020204030204" pitchFamily="34" charset="0"/>
                        <a:ea typeface="Calibri" panose="020F0502020204030204" pitchFamily="34" charset="0"/>
                      </a:endParaRPr>
                    </a:p>
                  </a:txBody>
                  <a:tcPr marL="0" marR="73025" marT="73025" marB="0"/>
                </a:tc>
                <a:extLst>
                  <a:ext uri="{0D108BD9-81ED-4DB2-BD59-A6C34878D82A}">
                    <a16:rowId xmlns:a16="http://schemas.microsoft.com/office/drawing/2014/main" val="2879093415"/>
                  </a:ext>
                </a:extLst>
              </a:tr>
              <a:tr h="409702">
                <a:tc>
                  <a:txBody>
                    <a:bodyPr/>
                    <a:lstStyle/>
                    <a:p>
                      <a:pPr marL="101600" indent="-6350">
                        <a:lnSpc>
                          <a:spcPct val="107000"/>
                        </a:lnSpc>
                        <a:spcAft>
                          <a:spcPts val="610"/>
                        </a:spcAft>
                        <a:buNone/>
                      </a:pPr>
                      <a:r>
                        <a:rPr lang="en-SG" sz="1400" kern="100">
                          <a:effectLst/>
                        </a:rPr>
                        <a:t>10:00 – 11:00</a:t>
                      </a:r>
                      <a:endParaRPr lang="en-SG" sz="1400" kern="100">
                        <a:solidFill>
                          <a:srgbClr val="00274D"/>
                        </a:solidFill>
                        <a:effectLst/>
                        <a:latin typeface="Calibri" panose="020F0502020204030204" pitchFamily="34" charset="0"/>
                        <a:ea typeface="Calibri" panose="020F0502020204030204" pitchFamily="34" charset="0"/>
                      </a:endParaRPr>
                    </a:p>
                  </a:txBody>
                  <a:tcPr marL="0" marR="73025" marT="73025" marB="0"/>
                </a:tc>
                <a:tc>
                  <a:txBody>
                    <a:bodyPr/>
                    <a:lstStyle/>
                    <a:p>
                      <a:pPr marL="6350" indent="-6350">
                        <a:lnSpc>
                          <a:spcPct val="107000"/>
                        </a:lnSpc>
                        <a:spcAft>
                          <a:spcPts val="610"/>
                        </a:spcAft>
                        <a:buNone/>
                      </a:pPr>
                      <a:r>
                        <a:rPr lang="en-SG" sz="1400" kern="100">
                          <a:effectLst/>
                        </a:rPr>
                        <a:t>1 h</a:t>
                      </a:r>
                      <a:endParaRPr lang="en-SG" sz="1400" kern="100">
                        <a:solidFill>
                          <a:srgbClr val="00274D"/>
                        </a:solidFill>
                        <a:effectLst/>
                        <a:latin typeface="Calibri" panose="020F0502020204030204" pitchFamily="34" charset="0"/>
                        <a:ea typeface="Calibri" panose="020F0502020204030204" pitchFamily="34" charset="0"/>
                      </a:endParaRPr>
                    </a:p>
                  </a:txBody>
                  <a:tcPr marL="0" marR="73025" marT="73025" marB="0"/>
                </a:tc>
                <a:tc>
                  <a:txBody>
                    <a:bodyPr/>
                    <a:lstStyle/>
                    <a:p>
                      <a:pPr marL="6350" indent="-6350">
                        <a:lnSpc>
                          <a:spcPct val="107000"/>
                        </a:lnSpc>
                        <a:spcAft>
                          <a:spcPts val="610"/>
                        </a:spcAft>
                        <a:buNone/>
                      </a:pPr>
                      <a:r>
                        <a:rPr lang="en-SG" sz="1400" kern="100">
                          <a:effectLst/>
                        </a:rPr>
                        <a:t>Lecture 1: From mission model to hardware</a:t>
                      </a:r>
                      <a:endParaRPr lang="en-SG" sz="1400" kern="100">
                        <a:solidFill>
                          <a:srgbClr val="00274D"/>
                        </a:solidFill>
                        <a:effectLst/>
                        <a:latin typeface="Calibri" panose="020F0502020204030204" pitchFamily="34" charset="0"/>
                        <a:ea typeface="Calibri" panose="020F0502020204030204" pitchFamily="34" charset="0"/>
                      </a:endParaRPr>
                    </a:p>
                  </a:txBody>
                  <a:tcPr marL="0" marR="73025" marT="73025" marB="0"/>
                </a:tc>
                <a:extLst>
                  <a:ext uri="{0D108BD9-81ED-4DB2-BD59-A6C34878D82A}">
                    <a16:rowId xmlns:a16="http://schemas.microsoft.com/office/drawing/2014/main" val="4026721273"/>
                  </a:ext>
                </a:extLst>
              </a:tr>
              <a:tr h="409702">
                <a:tc>
                  <a:txBody>
                    <a:bodyPr/>
                    <a:lstStyle/>
                    <a:p>
                      <a:pPr marL="101600" indent="-6350">
                        <a:lnSpc>
                          <a:spcPct val="107000"/>
                        </a:lnSpc>
                        <a:spcAft>
                          <a:spcPts val="610"/>
                        </a:spcAft>
                        <a:buNone/>
                      </a:pPr>
                      <a:r>
                        <a:rPr lang="en-SG" sz="1400" kern="100">
                          <a:effectLst/>
                        </a:rPr>
                        <a:t>11:00 – 12:00</a:t>
                      </a:r>
                      <a:endParaRPr lang="en-SG" sz="1400" kern="100">
                        <a:solidFill>
                          <a:srgbClr val="00274D"/>
                        </a:solidFill>
                        <a:effectLst/>
                        <a:latin typeface="Calibri" panose="020F0502020204030204" pitchFamily="34" charset="0"/>
                        <a:ea typeface="Calibri" panose="020F0502020204030204" pitchFamily="34" charset="0"/>
                      </a:endParaRPr>
                    </a:p>
                  </a:txBody>
                  <a:tcPr marL="0" marR="73025" marT="73025" marB="0"/>
                </a:tc>
                <a:tc>
                  <a:txBody>
                    <a:bodyPr/>
                    <a:lstStyle/>
                    <a:p>
                      <a:pPr marL="6350" indent="-6350">
                        <a:lnSpc>
                          <a:spcPct val="107000"/>
                        </a:lnSpc>
                        <a:spcAft>
                          <a:spcPts val="610"/>
                        </a:spcAft>
                        <a:buNone/>
                      </a:pPr>
                      <a:r>
                        <a:rPr lang="en-SG" sz="1400" kern="100">
                          <a:effectLst/>
                        </a:rPr>
                        <a:t>1 h</a:t>
                      </a:r>
                      <a:endParaRPr lang="en-SG" sz="1400" kern="100">
                        <a:solidFill>
                          <a:srgbClr val="00274D"/>
                        </a:solidFill>
                        <a:effectLst/>
                        <a:latin typeface="Calibri" panose="020F0502020204030204" pitchFamily="34" charset="0"/>
                        <a:ea typeface="Calibri" panose="020F0502020204030204" pitchFamily="34" charset="0"/>
                      </a:endParaRPr>
                    </a:p>
                  </a:txBody>
                  <a:tcPr marL="0" marR="73025" marT="73025" marB="0"/>
                </a:tc>
                <a:tc>
                  <a:txBody>
                    <a:bodyPr/>
                    <a:lstStyle/>
                    <a:p>
                      <a:pPr marL="6350" indent="-6350">
                        <a:lnSpc>
                          <a:spcPct val="107000"/>
                        </a:lnSpc>
                        <a:spcAft>
                          <a:spcPts val="610"/>
                        </a:spcAft>
                        <a:buNone/>
                      </a:pPr>
                      <a:r>
                        <a:rPr lang="en-SG" sz="1400" kern="100">
                          <a:effectLst/>
                        </a:rPr>
                        <a:t>Build Session 1: Structure, avionics and C&amp;DH bring-up</a:t>
                      </a:r>
                      <a:endParaRPr lang="en-SG" sz="1400" kern="100">
                        <a:solidFill>
                          <a:srgbClr val="00274D"/>
                        </a:solidFill>
                        <a:effectLst/>
                        <a:latin typeface="Calibri" panose="020F0502020204030204" pitchFamily="34" charset="0"/>
                        <a:ea typeface="Calibri" panose="020F0502020204030204" pitchFamily="34" charset="0"/>
                      </a:endParaRPr>
                    </a:p>
                  </a:txBody>
                  <a:tcPr marL="0" marR="73025" marT="73025" marB="0"/>
                </a:tc>
                <a:extLst>
                  <a:ext uri="{0D108BD9-81ED-4DB2-BD59-A6C34878D82A}">
                    <a16:rowId xmlns:a16="http://schemas.microsoft.com/office/drawing/2014/main" val="2836123310"/>
                  </a:ext>
                </a:extLst>
              </a:tr>
              <a:tr h="409702">
                <a:tc>
                  <a:txBody>
                    <a:bodyPr/>
                    <a:lstStyle/>
                    <a:p>
                      <a:pPr marL="101600" indent="-6350">
                        <a:lnSpc>
                          <a:spcPct val="107000"/>
                        </a:lnSpc>
                        <a:spcAft>
                          <a:spcPts val="610"/>
                        </a:spcAft>
                        <a:buNone/>
                      </a:pPr>
                      <a:r>
                        <a:rPr lang="en-SG" sz="1400" kern="100">
                          <a:effectLst/>
                        </a:rPr>
                        <a:t>12:00 – 13:00</a:t>
                      </a:r>
                      <a:endParaRPr lang="en-SG" sz="1400" kern="100">
                        <a:solidFill>
                          <a:srgbClr val="00274D"/>
                        </a:solidFill>
                        <a:effectLst/>
                        <a:latin typeface="Calibri" panose="020F0502020204030204" pitchFamily="34" charset="0"/>
                        <a:ea typeface="Calibri" panose="020F0502020204030204" pitchFamily="34" charset="0"/>
                      </a:endParaRPr>
                    </a:p>
                  </a:txBody>
                  <a:tcPr marL="0" marR="73025" marT="73025" marB="0"/>
                </a:tc>
                <a:tc>
                  <a:txBody>
                    <a:bodyPr/>
                    <a:lstStyle/>
                    <a:p>
                      <a:pPr marL="6350" indent="-6350">
                        <a:lnSpc>
                          <a:spcPct val="107000"/>
                        </a:lnSpc>
                        <a:spcAft>
                          <a:spcPts val="610"/>
                        </a:spcAft>
                        <a:buNone/>
                      </a:pPr>
                      <a:r>
                        <a:rPr lang="en-SG" sz="1400" kern="100">
                          <a:effectLst/>
                        </a:rPr>
                        <a:t>1 h</a:t>
                      </a:r>
                      <a:endParaRPr lang="en-SG" sz="1400" kern="100">
                        <a:solidFill>
                          <a:srgbClr val="00274D"/>
                        </a:solidFill>
                        <a:effectLst/>
                        <a:latin typeface="Calibri" panose="020F0502020204030204" pitchFamily="34" charset="0"/>
                        <a:ea typeface="Calibri" panose="020F0502020204030204" pitchFamily="34" charset="0"/>
                      </a:endParaRPr>
                    </a:p>
                  </a:txBody>
                  <a:tcPr marL="0" marR="73025" marT="73025" marB="0"/>
                </a:tc>
                <a:tc>
                  <a:txBody>
                    <a:bodyPr/>
                    <a:lstStyle/>
                    <a:p>
                      <a:pPr marL="6350" indent="-6350">
                        <a:lnSpc>
                          <a:spcPct val="107000"/>
                        </a:lnSpc>
                        <a:spcAft>
                          <a:spcPts val="610"/>
                        </a:spcAft>
                        <a:buNone/>
                      </a:pPr>
                      <a:r>
                        <a:rPr lang="en-SG" sz="1400" kern="100" dirty="0">
                          <a:effectLst/>
                        </a:rPr>
                        <a:t>Lunch</a:t>
                      </a:r>
                      <a:endParaRPr lang="en-SG" sz="1400" kern="100" dirty="0">
                        <a:solidFill>
                          <a:srgbClr val="00274D"/>
                        </a:solidFill>
                        <a:effectLst/>
                        <a:latin typeface="Calibri" panose="020F0502020204030204" pitchFamily="34" charset="0"/>
                        <a:ea typeface="Calibri" panose="020F0502020204030204" pitchFamily="34" charset="0"/>
                      </a:endParaRPr>
                    </a:p>
                  </a:txBody>
                  <a:tcPr marL="0" marR="73025" marT="73025" marB="0"/>
                </a:tc>
                <a:extLst>
                  <a:ext uri="{0D108BD9-81ED-4DB2-BD59-A6C34878D82A}">
                    <a16:rowId xmlns:a16="http://schemas.microsoft.com/office/drawing/2014/main" val="3157728871"/>
                  </a:ext>
                </a:extLst>
              </a:tr>
              <a:tr h="409702">
                <a:tc>
                  <a:txBody>
                    <a:bodyPr/>
                    <a:lstStyle/>
                    <a:p>
                      <a:pPr marL="101600" indent="-6350">
                        <a:lnSpc>
                          <a:spcPct val="107000"/>
                        </a:lnSpc>
                        <a:spcAft>
                          <a:spcPts val="610"/>
                        </a:spcAft>
                        <a:buNone/>
                      </a:pPr>
                      <a:r>
                        <a:rPr lang="en-SG" sz="1400" kern="100">
                          <a:effectLst/>
                        </a:rPr>
                        <a:t>13:00 – 13:45</a:t>
                      </a:r>
                      <a:endParaRPr lang="en-SG" sz="1400" kern="100">
                        <a:solidFill>
                          <a:srgbClr val="00274D"/>
                        </a:solidFill>
                        <a:effectLst/>
                        <a:latin typeface="Calibri" panose="020F0502020204030204" pitchFamily="34" charset="0"/>
                        <a:ea typeface="Calibri" panose="020F0502020204030204" pitchFamily="34" charset="0"/>
                      </a:endParaRPr>
                    </a:p>
                  </a:txBody>
                  <a:tcPr marL="0" marR="73025" marT="73025" marB="0"/>
                </a:tc>
                <a:tc>
                  <a:txBody>
                    <a:bodyPr/>
                    <a:lstStyle/>
                    <a:p>
                      <a:pPr marL="6350" indent="-6350">
                        <a:lnSpc>
                          <a:spcPct val="107000"/>
                        </a:lnSpc>
                        <a:spcAft>
                          <a:spcPts val="610"/>
                        </a:spcAft>
                        <a:buNone/>
                      </a:pPr>
                      <a:r>
                        <a:rPr lang="en-SG" sz="1400" kern="100">
                          <a:effectLst/>
                        </a:rPr>
                        <a:t>45 min</a:t>
                      </a:r>
                      <a:endParaRPr lang="en-SG" sz="1400" kern="100">
                        <a:solidFill>
                          <a:srgbClr val="00274D"/>
                        </a:solidFill>
                        <a:effectLst/>
                        <a:latin typeface="Calibri" panose="020F0502020204030204" pitchFamily="34" charset="0"/>
                        <a:ea typeface="Calibri" panose="020F0502020204030204" pitchFamily="34" charset="0"/>
                      </a:endParaRPr>
                    </a:p>
                  </a:txBody>
                  <a:tcPr marL="0" marR="73025" marT="73025" marB="0"/>
                </a:tc>
                <a:tc>
                  <a:txBody>
                    <a:bodyPr/>
                    <a:lstStyle/>
                    <a:p>
                      <a:pPr marL="6350" indent="-6350">
                        <a:lnSpc>
                          <a:spcPct val="107000"/>
                        </a:lnSpc>
                        <a:spcAft>
                          <a:spcPts val="610"/>
                        </a:spcAft>
                        <a:buNone/>
                      </a:pPr>
                      <a:r>
                        <a:rPr lang="en-SG" sz="1400" kern="100">
                          <a:effectLst/>
                        </a:rPr>
                        <a:t>Build Session 1 (continued)</a:t>
                      </a:r>
                      <a:endParaRPr lang="en-SG" sz="1400" kern="100">
                        <a:solidFill>
                          <a:srgbClr val="00274D"/>
                        </a:solidFill>
                        <a:effectLst/>
                        <a:latin typeface="Calibri" panose="020F0502020204030204" pitchFamily="34" charset="0"/>
                        <a:ea typeface="Calibri" panose="020F0502020204030204" pitchFamily="34" charset="0"/>
                      </a:endParaRPr>
                    </a:p>
                  </a:txBody>
                  <a:tcPr marL="0" marR="73025" marT="73025" marB="0"/>
                </a:tc>
                <a:extLst>
                  <a:ext uri="{0D108BD9-81ED-4DB2-BD59-A6C34878D82A}">
                    <a16:rowId xmlns:a16="http://schemas.microsoft.com/office/drawing/2014/main" val="3975218744"/>
                  </a:ext>
                </a:extLst>
              </a:tr>
              <a:tr h="409702">
                <a:tc>
                  <a:txBody>
                    <a:bodyPr/>
                    <a:lstStyle/>
                    <a:p>
                      <a:pPr marL="101600" indent="-6350">
                        <a:lnSpc>
                          <a:spcPct val="107000"/>
                        </a:lnSpc>
                        <a:spcAft>
                          <a:spcPts val="610"/>
                        </a:spcAft>
                        <a:buNone/>
                      </a:pPr>
                      <a:r>
                        <a:rPr lang="en-SG" sz="1400" kern="100">
                          <a:effectLst/>
                        </a:rPr>
                        <a:t>13:45 – 14:45</a:t>
                      </a:r>
                      <a:endParaRPr lang="en-SG" sz="1400" kern="100">
                        <a:solidFill>
                          <a:srgbClr val="00274D"/>
                        </a:solidFill>
                        <a:effectLst/>
                        <a:latin typeface="Calibri" panose="020F0502020204030204" pitchFamily="34" charset="0"/>
                        <a:ea typeface="Calibri" panose="020F0502020204030204" pitchFamily="34" charset="0"/>
                      </a:endParaRPr>
                    </a:p>
                  </a:txBody>
                  <a:tcPr marL="0" marR="73025" marT="73025" marB="0"/>
                </a:tc>
                <a:tc>
                  <a:txBody>
                    <a:bodyPr/>
                    <a:lstStyle/>
                    <a:p>
                      <a:pPr marL="6350" indent="-6350">
                        <a:lnSpc>
                          <a:spcPct val="107000"/>
                        </a:lnSpc>
                        <a:spcAft>
                          <a:spcPts val="610"/>
                        </a:spcAft>
                        <a:buNone/>
                      </a:pPr>
                      <a:r>
                        <a:rPr lang="en-SG" sz="1400" kern="100">
                          <a:effectLst/>
                        </a:rPr>
                        <a:t>1 h</a:t>
                      </a:r>
                      <a:endParaRPr lang="en-SG" sz="1400" kern="100">
                        <a:solidFill>
                          <a:srgbClr val="00274D"/>
                        </a:solidFill>
                        <a:effectLst/>
                        <a:latin typeface="Calibri" panose="020F0502020204030204" pitchFamily="34" charset="0"/>
                        <a:ea typeface="Calibri" panose="020F0502020204030204" pitchFamily="34" charset="0"/>
                      </a:endParaRPr>
                    </a:p>
                  </a:txBody>
                  <a:tcPr marL="0" marR="73025" marT="73025" marB="0"/>
                </a:tc>
                <a:tc>
                  <a:txBody>
                    <a:bodyPr/>
                    <a:lstStyle/>
                    <a:p>
                      <a:pPr marL="6350" indent="-6350">
                        <a:lnSpc>
                          <a:spcPct val="107000"/>
                        </a:lnSpc>
                        <a:spcAft>
                          <a:spcPts val="610"/>
                        </a:spcAft>
                        <a:buNone/>
                      </a:pPr>
                      <a:r>
                        <a:rPr lang="en-SG" sz="1400" kern="100">
                          <a:effectLst/>
                        </a:rPr>
                        <a:t>Lecture 2: Power and thermal</a:t>
                      </a:r>
                      <a:endParaRPr lang="en-SG" sz="1400" kern="100">
                        <a:solidFill>
                          <a:srgbClr val="00274D"/>
                        </a:solidFill>
                        <a:effectLst/>
                        <a:latin typeface="Calibri" panose="020F0502020204030204" pitchFamily="34" charset="0"/>
                        <a:ea typeface="Calibri" panose="020F0502020204030204" pitchFamily="34" charset="0"/>
                      </a:endParaRPr>
                    </a:p>
                  </a:txBody>
                  <a:tcPr marL="0" marR="73025" marT="73025" marB="0"/>
                </a:tc>
                <a:extLst>
                  <a:ext uri="{0D108BD9-81ED-4DB2-BD59-A6C34878D82A}">
                    <a16:rowId xmlns:a16="http://schemas.microsoft.com/office/drawing/2014/main" val="2784664354"/>
                  </a:ext>
                </a:extLst>
              </a:tr>
              <a:tr h="409702">
                <a:tc>
                  <a:txBody>
                    <a:bodyPr/>
                    <a:lstStyle/>
                    <a:p>
                      <a:pPr marL="101600" indent="-6350">
                        <a:lnSpc>
                          <a:spcPct val="107000"/>
                        </a:lnSpc>
                        <a:spcAft>
                          <a:spcPts val="610"/>
                        </a:spcAft>
                        <a:buNone/>
                      </a:pPr>
                      <a:r>
                        <a:rPr lang="en-SG" sz="1400" kern="100">
                          <a:effectLst/>
                        </a:rPr>
                        <a:t>14:45 – 15:15</a:t>
                      </a:r>
                      <a:endParaRPr lang="en-SG" sz="1400" kern="100">
                        <a:solidFill>
                          <a:srgbClr val="00274D"/>
                        </a:solidFill>
                        <a:effectLst/>
                        <a:latin typeface="Calibri" panose="020F0502020204030204" pitchFamily="34" charset="0"/>
                        <a:ea typeface="Calibri" panose="020F0502020204030204" pitchFamily="34" charset="0"/>
                      </a:endParaRPr>
                    </a:p>
                  </a:txBody>
                  <a:tcPr marL="0" marR="73025" marT="73025" marB="0"/>
                </a:tc>
                <a:tc>
                  <a:txBody>
                    <a:bodyPr/>
                    <a:lstStyle/>
                    <a:p>
                      <a:pPr marL="6350" indent="-6350">
                        <a:lnSpc>
                          <a:spcPct val="107000"/>
                        </a:lnSpc>
                        <a:spcAft>
                          <a:spcPts val="610"/>
                        </a:spcAft>
                        <a:buNone/>
                      </a:pPr>
                      <a:r>
                        <a:rPr lang="en-SG" sz="1400" kern="100">
                          <a:effectLst/>
                        </a:rPr>
                        <a:t>30 min</a:t>
                      </a:r>
                      <a:endParaRPr lang="en-SG" sz="1400" kern="100">
                        <a:solidFill>
                          <a:srgbClr val="00274D"/>
                        </a:solidFill>
                        <a:effectLst/>
                        <a:latin typeface="Calibri" panose="020F0502020204030204" pitchFamily="34" charset="0"/>
                        <a:ea typeface="Calibri" panose="020F0502020204030204" pitchFamily="34" charset="0"/>
                      </a:endParaRPr>
                    </a:p>
                  </a:txBody>
                  <a:tcPr marL="0" marR="73025" marT="73025" marB="0"/>
                </a:tc>
                <a:tc>
                  <a:txBody>
                    <a:bodyPr/>
                    <a:lstStyle/>
                    <a:p>
                      <a:pPr marL="6350" indent="-6350">
                        <a:lnSpc>
                          <a:spcPct val="107000"/>
                        </a:lnSpc>
                        <a:spcAft>
                          <a:spcPts val="610"/>
                        </a:spcAft>
                        <a:buNone/>
                      </a:pPr>
                      <a:r>
                        <a:rPr lang="en-SG" sz="1400" kern="100">
                          <a:effectLst/>
                        </a:rPr>
                        <a:t>Afternoon tea break</a:t>
                      </a:r>
                      <a:endParaRPr lang="en-SG" sz="1400" kern="100">
                        <a:solidFill>
                          <a:srgbClr val="00274D"/>
                        </a:solidFill>
                        <a:effectLst/>
                        <a:latin typeface="Calibri" panose="020F0502020204030204" pitchFamily="34" charset="0"/>
                        <a:ea typeface="Calibri" panose="020F0502020204030204" pitchFamily="34" charset="0"/>
                      </a:endParaRPr>
                    </a:p>
                  </a:txBody>
                  <a:tcPr marL="0" marR="73025" marT="73025" marB="0"/>
                </a:tc>
                <a:extLst>
                  <a:ext uri="{0D108BD9-81ED-4DB2-BD59-A6C34878D82A}">
                    <a16:rowId xmlns:a16="http://schemas.microsoft.com/office/drawing/2014/main" val="2595006792"/>
                  </a:ext>
                </a:extLst>
              </a:tr>
              <a:tr h="409702">
                <a:tc>
                  <a:txBody>
                    <a:bodyPr/>
                    <a:lstStyle/>
                    <a:p>
                      <a:pPr marL="101600" indent="-6350">
                        <a:lnSpc>
                          <a:spcPct val="107000"/>
                        </a:lnSpc>
                        <a:spcAft>
                          <a:spcPts val="610"/>
                        </a:spcAft>
                        <a:buNone/>
                      </a:pPr>
                      <a:r>
                        <a:rPr lang="en-SG" sz="1400" kern="100">
                          <a:effectLst/>
                        </a:rPr>
                        <a:t>15:15 – 17:00</a:t>
                      </a:r>
                      <a:endParaRPr lang="en-SG" sz="1400" kern="100">
                        <a:solidFill>
                          <a:srgbClr val="00274D"/>
                        </a:solidFill>
                        <a:effectLst/>
                        <a:latin typeface="Calibri" panose="020F0502020204030204" pitchFamily="34" charset="0"/>
                        <a:ea typeface="Calibri" panose="020F0502020204030204" pitchFamily="34" charset="0"/>
                      </a:endParaRPr>
                    </a:p>
                  </a:txBody>
                  <a:tcPr marL="0" marR="73025" marT="73025" marB="0"/>
                </a:tc>
                <a:tc>
                  <a:txBody>
                    <a:bodyPr/>
                    <a:lstStyle/>
                    <a:p>
                      <a:pPr marL="6350" indent="-6350">
                        <a:lnSpc>
                          <a:spcPct val="107000"/>
                        </a:lnSpc>
                        <a:spcAft>
                          <a:spcPts val="610"/>
                        </a:spcAft>
                        <a:buNone/>
                      </a:pPr>
                      <a:r>
                        <a:rPr lang="en-SG" sz="1400" kern="100">
                          <a:effectLst/>
                        </a:rPr>
                        <a:t>1 h 45 min</a:t>
                      </a:r>
                      <a:endParaRPr lang="en-SG" sz="1400" kern="100">
                        <a:solidFill>
                          <a:srgbClr val="00274D"/>
                        </a:solidFill>
                        <a:effectLst/>
                        <a:latin typeface="Calibri" panose="020F0502020204030204" pitchFamily="34" charset="0"/>
                        <a:ea typeface="Calibri" panose="020F0502020204030204" pitchFamily="34" charset="0"/>
                      </a:endParaRPr>
                    </a:p>
                  </a:txBody>
                  <a:tcPr marL="0" marR="73025" marT="73025" marB="0"/>
                </a:tc>
                <a:tc>
                  <a:txBody>
                    <a:bodyPr/>
                    <a:lstStyle/>
                    <a:p>
                      <a:pPr marL="6350" indent="-6350">
                        <a:lnSpc>
                          <a:spcPct val="107000"/>
                        </a:lnSpc>
                        <a:spcAft>
                          <a:spcPts val="610"/>
                        </a:spcAft>
                        <a:buNone/>
                      </a:pPr>
                      <a:r>
                        <a:rPr lang="en-SG" sz="1400" kern="100" dirty="0">
                          <a:effectLst/>
                        </a:rPr>
                        <a:t>Build Session 2: Power integration and telemetry</a:t>
                      </a:r>
                      <a:endParaRPr lang="en-SG" sz="1400" kern="100" dirty="0">
                        <a:solidFill>
                          <a:srgbClr val="00274D"/>
                        </a:solidFill>
                        <a:effectLst/>
                        <a:latin typeface="Calibri" panose="020F0502020204030204" pitchFamily="34" charset="0"/>
                        <a:ea typeface="Calibri" panose="020F0502020204030204" pitchFamily="34" charset="0"/>
                      </a:endParaRPr>
                    </a:p>
                  </a:txBody>
                  <a:tcPr marL="0" marR="73025" marT="73025" marB="0"/>
                </a:tc>
                <a:extLst>
                  <a:ext uri="{0D108BD9-81ED-4DB2-BD59-A6C34878D82A}">
                    <a16:rowId xmlns:a16="http://schemas.microsoft.com/office/drawing/2014/main" val="3413959262"/>
                  </a:ext>
                </a:extLst>
              </a:tr>
            </a:tbl>
          </a:graphicData>
        </a:graphic>
      </p:graphicFrame>
      <p:sp>
        <p:nvSpPr>
          <p:cNvPr id="18" name="TextBox 17">
            <a:extLst>
              <a:ext uri="{FF2B5EF4-FFF2-40B4-BE49-F238E27FC236}">
                <a16:creationId xmlns:a16="http://schemas.microsoft.com/office/drawing/2014/main" id="{853D1CE0-1DD8-6136-A1E6-877E3EBA61BC}"/>
              </a:ext>
            </a:extLst>
          </p:cNvPr>
          <p:cNvSpPr txBox="1"/>
          <p:nvPr/>
        </p:nvSpPr>
        <p:spPr>
          <a:xfrm>
            <a:off x="838200" y="1414671"/>
            <a:ext cx="6097978" cy="344069"/>
          </a:xfrm>
          <a:prstGeom prst="rect">
            <a:avLst/>
          </a:prstGeom>
          <a:noFill/>
        </p:spPr>
        <p:txBody>
          <a:bodyPr wrap="square">
            <a:spAutoFit/>
          </a:bodyPr>
          <a:lstStyle/>
          <a:p>
            <a:pPr marL="6350" indent="-6350">
              <a:lnSpc>
                <a:spcPct val="100000"/>
              </a:lnSpc>
              <a:spcAft>
                <a:spcPts val="610"/>
              </a:spcAft>
              <a:buNone/>
            </a:pPr>
            <a:r>
              <a:rPr lang="en-SG" sz="1500" b="1" kern="100" dirty="0">
                <a:solidFill>
                  <a:schemeClr val="tx1"/>
                </a:solidFill>
                <a:effectLst/>
                <a:latin typeface="+mn-lt"/>
                <a:ea typeface="Calibri" panose="020F0502020204030204" pitchFamily="34" charset="0"/>
              </a:rPr>
              <a:t>Day 3 | Thursday 15 October 2026</a:t>
            </a:r>
            <a:endParaRPr lang="en-SG" sz="1600" kern="100" dirty="0">
              <a:solidFill>
                <a:srgbClr val="00274D"/>
              </a:solidFill>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21541392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BB5972-0A22-6C88-0999-EA9EB4E2F6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266A26-2FE9-A5CD-792F-4B16655C4EDF}"/>
              </a:ext>
            </a:extLst>
          </p:cNvPr>
          <p:cNvSpPr>
            <a:spLocks noGrp="1"/>
          </p:cNvSpPr>
          <p:nvPr>
            <p:ph type="title"/>
          </p:nvPr>
        </p:nvSpPr>
        <p:spPr>
          <a:xfrm>
            <a:off x="185057" y="184261"/>
            <a:ext cx="10515600" cy="546163"/>
          </a:xfrm>
        </p:spPr>
        <p:txBody>
          <a:bodyPr>
            <a:normAutofit fontScale="90000"/>
          </a:bodyPr>
          <a:lstStyle/>
          <a:p>
            <a:r>
              <a:rPr lang="en-SG" dirty="0"/>
              <a:t>Agenda</a:t>
            </a:r>
          </a:p>
        </p:txBody>
      </p:sp>
      <p:graphicFrame>
        <p:nvGraphicFramePr>
          <p:cNvPr id="5" name="Content Placeholder 4">
            <a:extLst>
              <a:ext uri="{FF2B5EF4-FFF2-40B4-BE49-F238E27FC236}">
                <a16:creationId xmlns:a16="http://schemas.microsoft.com/office/drawing/2014/main" id="{75E35B11-4C4F-905F-D35B-0E6C5C37679E}"/>
              </a:ext>
            </a:extLst>
          </p:cNvPr>
          <p:cNvGraphicFramePr>
            <a:graphicFrameLocks noGrp="1"/>
          </p:cNvGraphicFramePr>
          <p:nvPr>
            <p:ph idx="1"/>
            <p:extLst>
              <p:ext uri="{D42A27DB-BD31-4B8C-83A1-F6EECF244321}">
                <p14:modId xmlns:p14="http://schemas.microsoft.com/office/powerpoint/2010/main" val="4036055082"/>
              </p:ext>
            </p:extLst>
          </p:nvPr>
        </p:nvGraphicFramePr>
        <p:xfrm>
          <a:off x="185057" y="873266"/>
          <a:ext cx="11583391" cy="5004131"/>
        </p:xfrm>
        <a:graphic>
          <a:graphicData uri="http://schemas.openxmlformats.org/drawingml/2006/table">
            <a:tbl>
              <a:tblPr firstRow="1" firstCol="1" bandRow="1">
                <a:tableStyleId>{5C22544A-7EE6-4342-B048-85BDC9FD1C3A}</a:tableStyleId>
              </a:tblPr>
              <a:tblGrid>
                <a:gridCol w="2185391">
                  <a:extLst>
                    <a:ext uri="{9D8B030D-6E8A-4147-A177-3AD203B41FA5}">
                      <a16:colId xmlns:a16="http://schemas.microsoft.com/office/drawing/2014/main" val="4139288422"/>
                    </a:ext>
                  </a:extLst>
                </a:gridCol>
                <a:gridCol w="1663996">
                  <a:extLst>
                    <a:ext uri="{9D8B030D-6E8A-4147-A177-3AD203B41FA5}">
                      <a16:colId xmlns:a16="http://schemas.microsoft.com/office/drawing/2014/main" val="462334208"/>
                    </a:ext>
                  </a:extLst>
                </a:gridCol>
                <a:gridCol w="7734004">
                  <a:extLst>
                    <a:ext uri="{9D8B030D-6E8A-4147-A177-3AD203B41FA5}">
                      <a16:colId xmlns:a16="http://schemas.microsoft.com/office/drawing/2014/main" val="3698445991"/>
                    </a:ext>
                  </a:extLst>
                </a:gridCol>
              </a:tblGrid>
              <a:tr h="454921">
                <a:tc>
                  <a:txBody>
                    <a:bodyPr/>
                    <a:lstStyle/>
                    <a:p>
                      <a:pPr marL="101600" indent="-6350">
                        <a:lnSpc>
                          <a:spcPct val="107000"/>
                        </a:lnSpc>
                        <a:spcAft>
                          <a:spcPts val="610"/>
                        </a:spcAft>
                        <a:buNone/>
                      </a:pPr>
                      <a:r>
                        <a:rPr lang="en-SG" sz="1400" kern="100" dirty="0">
                          <a:effectLst/>
                        </a:rPr>
                        <a:t>Time</a:t>
                      </a:r>
                      <a:endParaRPr lang="en-SG" sz="1400" kern="100" dirty="0">
                        <a:solidFill>
                          <a:srgbClr val="00274D"/>
                        </a:solidFill>
                        <a:effectLst/>
                        <a:latin typeface="Calibri" panose="020F0502020204030204" pitchFamily="34" charset="0"/>
                        <a:ea typeface="Calibri" panose="020F0502020204030204" pitchFamily="34" charset="0"/>
                      </a:endParaRPr>
                    </a:p>
                  </a:txBody>
                  <a:tcPr marL="0" marR="73025" marT="73025" marB="0"/>
                </a:tc>
                <a:tc>
                  <a:txBody>
                    <a:bodyPr/>
                    <a:lstStyle/>
                    <a:p>
                      <a:pPr marL="6350" indent="-6350">
                        <a:lnSpc>
                          <a:spcPct val="107000"/>
                        </a:lnSpc>
                        <a:spcAft>
                          <a:spcPts val="610"/>
                        </a:spcAft>
                        <a:buNone/>
                      </a:pPr>
                      <a:r>
                        <a:rPr lang="en-SG" sz="1400" kern="100">
                          <a:effectLst/>
                        </a:rPr>
                        <a:t>Duration</a:t>
                      </a:r>
                      <a:endParaRPr lang="en-SG" sz="1400" kern="100">
                        <a:solidFill>
                          <a:srgbClr val="00274D"/>
                        </a:solidFill>
                        <a:effectLst/>
                        <a:latin typeface="Calibri" panose="020F0502020204030204" pitchFamily="34" charset="0"/>
                        <a:ea typeface="Calibri" panose="020F0502020204030204" pitchFamily="34" charset="0"/>
                      </a:endParaRPr>
                    </a:p>
                  </a:txBody>
                  <a:tcPr marL="0" marR="73025" marT="73025" marB="0"/>
                </a:tc>
                <a:tc>
                  <a:txBody>
                    <a:bodyPr/>
                    <a:lstStyle/>
                    <a:p>
                      <a:pPr marL="6350" indent="-6350">
                        <a:lnSpc>
                          <a:spcPct val="107000"/>
                        </a:lnSpc>
                        <a:spcAft>
                          <a:spcPts val="610"/>
                        </a:spcAft>
                        <a:buNone/>
                      </a:pPr>
                      <a:r>
                        <a:rPr lang="en-SG" sz="1400" kern="100">
                          <a:effectLst/>
                        </a:rPr>
                        <a:t>Session</a:t>
                      </a:r>
                      <a:endParaRPr lang="en-SG" sz="1400" kern="100">
                        <a:solidFill>
                          <a:srgbClr val="00274D"/>
                        </a:solidFill>
                        <a:effectLst/>
                        <a:latin typeface="Calibri" panose="020F0502020204030204" pitchFamily="34" charset="0"/>
                        <a:ea typeface="Calibri" panose="020F0502020204030204" pitchFamily="34" charset="0"/>
                      </a:endParaRPr>
                    </a:p>
                  </a:txBody>
                  <a:tcPr marL="0" marR="73025" marT="73025" marB="0"/>
                </a:tc>
                <a:extLst>
                  <a:ext uri="{0D108BD9-81ED-4DB2-BD59-A6C34878D82A}">
                    <a16:rowId xmlns:a16="http://schemas.microsoft.com/office/drawing/2014/main" val="2195043859"/>
                  </a:ext>
                </a:extLst>
              </a:tr>
              <a:tr h="454921">
                <a:tc>
                  <a:txBody>
                    <a:bodyPr/>
                    <a:lstStyle/>
                    <a:p>
                      <a:pPr marL="101600" indent="-6350">
                        <a:lnSpc>
                          <a:spcPct val="107000"/>
                        </a:lnSpc>
                        <a:spcAft>
                          <a:spcPts val="610"/>
                        </a:spcAft>
                        <a:buNone/>
                      </a:pPr>
                      <a:r>
                        <a:rPr lang="en-SG" sz="1400" kern="100">
                          <a:effectLst/>
                        </a:rPr>
                        <a:t>09:00 – 09:30</a:t>
                      </a:r>
                      <a:endParaRPr lang="en-SG" sz="1400" kern="100">
                        <a:solidFill>
                          <a:srgbClr val="00274D"/>
                        </a:solidFill>
                        <a:effectLst/>
                        <a:latin typeface="Calibri" panose="020F0502020204030204" pitchFamily="34" charset="0"/>
                        <a:ea typeface="Calibri" panose="020F0502020204030204" pitchFamily="34" charset="0"/>
                      </a:endParaRPr>
                    </a:p>
                  </a:txBody>
                  <a:tcPr marL="0" marR="73025" marT="73025" marB="0"/>
                </a:tc>
                <a:tc>
                  <a:txBody>
                    <a:bodyPr/>
                    <a:lstStyle/>
                    <a:p>
                      <a:pPr marL="6350" indent="-6350">
                        <a:lnSpc>
                          <a:spcPct val="107000"/>
                        </a:lnSpc>
                        <a:spcAft>
                          <a:spcPts val="610"/>
                        </a:spcAft>
                        <a:buNone/>
                      </a:pPr>
                      <a:r>
                        <a:rPr lang="en-SG" sz="1400" kern="100">
                          <a:effectLst/>
                        </a:rPr>
                        <a:t>30 min</a:t>
                      </a:r>
                      <a:endParaRPr lang="en-SG" sz="1400" kern="100">
                        <a:solidFill>
                          <a:srgbClr val="00274D"/>
                        </a:solidFill>
                        <a:effectLst/>
                        <a:latin typeface="Calibri" panose="020F0502020204030204" pitchFamily="34" charset="0"/>
                        <a:ea typeface="Calibri" panose="020F0502020204030204" pitchFamily="34" charset="0"/>
                      </a:endParaRPr>
                    </a:p>
                  </a:txBody>
                  <a:tcPr marL="0" marR="73025" marT="73025" marB="0"/>
                </a:tc>
                <a:tc>
                  <a:txBody>
                    <a:bodyPr/>
                    <a:lstStyle/>
                    <a:p>
                      <a:pPr marL="6350" indent="-6350">
                        <a:lnSpc>
                          <a:spcPct val="107000"/>
                        </a:lnSpc>
                        <a:spcAft>
                          <a:spcPts val="610"/>
                        </a:spcAft>
                        <a:buNone/>
                      </a:pPr>
                      <a:r>
                        <a:rPr lang="en-SG" sz="1400" kern="100">
                          <a:effectLst/>
                        </a:rPr>
                        <a:t>Morning tea and coffee with light refreshments</a:t>
                      </a:r>
                      <a:endParaRPr lang="en-SG" sz="1400" kern="100">
                        <a:solidFill>
                          <a:srgbClr val="00274D"/>
                        </a:solidFill>
                        <a:effectLst/>
                        <a:latin typeface="Calibri" panose="020F0502020204030204" pitchFamily="34" charset="0"/>
                        <a:ea typeface="Calibri" panose="020F0502020204030204" pitchFamily="34" charset="0"/>
                      </a:endParaRPr>
                    </a:p>
                  </a:txBody>
                  <a:tcPr marL="0" marR="73025" marT="73025" marB="0"/>
                </a:tc>
                <a:extLst>
                  <a:ext uri="{0D108BD9-81ED-4DB2-BD59-A6C34878D82A}">
                    <a16:rowId xmlns:a16="http://schemas.microsoft.com/office/drawing/2014/main" val="601367470"/>
                  </a:ext>
                </a:extLst>
              </a:tr>
              <a:tr h="454921">
                <a:tc>
                  <a:txBody>
                    <a:bodyPr/>
                    <a:lstStyle/>
                    <a:p>
                      <a:pPr marL="101600" indent="-6350">
                        <a:lnSpc>
                          <a:spcPct val="107000"/>
                        </a:lnSpc>
                        <a:spcAft>
                          <a:spcPts val="610"/>
                        </a:spcAft>
                        <a:buNone/>
                      </a:pPr>
                      <a:r>
                        <a:rPr lang="en-SG" sz="1400" kern="100">
                          <a:effectLst/>
                        </a:rPr>
                        <a:t>09:30 – 10:15</a:t>
                      </a:r>
                      <a:endParaRPr lang="en-SG" sz="1400" kern="100">
                        <a:solidFill>
                          <a:srgbClr val="00274D"/>
                        </a:solidFill>
                        <a:effectLst/>
                        <a:latin typeface="Calibri" panose="020F0502020204030204" pitchFamily="34" charset="0"/>
                        <a:ea typeface="Calibri" panose="020F0502020204030204" pitchFamily="34" charset="0"/>
                      </a:endParaRPr>
                    </a:p>
                  </a:txBody>
                  <a:tcPr marL="0" marR="73025" marT="73025" marB="0"/>
                </a:tc>
                <a:tc>
                  <a:txBody>
                    <a:bodyPr/>
                    <a:lstStyle/>
                    <a:p>
                      <a:pPr marL="6350" indent="-6350">
                        <a:lnSpc>
                          <a:spcPct val="107000"/>
                        </a:lnSpc>
                        <a:spcAft>
                          <a:spcPts val="610"/>
                        </a:spcAft>
                        <a:buNone/>
                      </a:pPr>
                      <a:r>
                        <a:rPr lang="en-SG" sz="1400" kern="100">
                          <a:effectLst/>
                        </a:rPr>
                        <a:t>45 min</a:t>
                      </a:r>
                      <a:endParaRPr lang="en-SG" sz="1400" kern="100">
                        <a:solidFill>
                          <a:srgbClr val="00274D"/>
                        </a:solidFill>
                        <a:effectLst/>
                        <a:latin typeface="Calibri" panose="020F0502020204030204" pitchFamily="34" charset="0"/>
                        <a:ea typeface="Calibri" panose="020F0502020204030204" pitchFamily="34" charset="0"/>
                      </a:endParaRPr>
                    </a:p>
                  </a:txBody>
                  <a:tcPr marL="0" marR="73025" marT="73025" marB="0"/>
                </a:tc>
                <a:tc>
                  <a:txBody>
                    <a:bodyPr/>
                    <a:lstStyle/>
                    <a:p>
                      <a:pPr marL="6350" indent="-6350">
                        <a:lnSpc>
                          <a:spcPct val="107000"/>
                        </a:lnSpc>
                        <a:spcAft>
                          <a:spcPts val="610"/>
                        </a:spcAft>
                        <a:buNone/>
                      </a:pPr>
                      <a:r>
                        <a:rPr lang="en-SG" sz="1400" kern="100">
                          <a:effectLst/>
                        </a:rPr>
                        <a:t>Lecture 3: Pointing and attitude control</a:t>
                      </a:r>
                      <a:endParaRPr lang="en-SG" sz="1400" kern="100">
                        <a:solidFill>
                          <a:srgbClr val="00274D"/>
                        </a:solidFill>
                        <a:effectLst/>
                        <a:latin typeface="Calibri" panose="020F0502020204030204" pitchFamily="34" charset="0"/>
                        <a:ea typeface="Calibri" panose="020F0502020204030204" pitchFamily="34" charset="0"/>
                      </a:endParaRPr>
                    </a:p>
                  </a:txBody>
                  <a:tcPr marL="0" marR="73025" marT="73025" marB="0"/>
                </a:tc>
                <a:extLst>
                  <a:ext uri="{0D108BD9-81ED-4DB2-BD59-A6C34878D82A}">
                    <a16:rowId xmlns:a16="http://schemas.microsoft.com/office/drawing/2014/main" val="3848492644"/>
                  </a:ext>
                </a:extLst>
              </a:tr>
              <a:tr h="454921">
                <a:tc>
                  <a:txBody>
                    <a:bodyPr/>
                    <a:lstStyle/>
                    <a:p>
                      <a:pPr marL="101600" indent="-6350">
                        <a:lnSpc>
                          <a:spcPct val="107000"/>
                        </a:lnSpc>
                        <a:spcAft>
                          <a:spcPts val="610"/>
                        </a:spcAft>
                        <a:buNone/>
                      </a:pPr>
                      <a:r>
                        <a:rPr lang="en-SG" sz="1400" kern="100">
                          <a:effectLst/>
                        </a:rPr>
                        <a:t>10:15 – 11:15</a:t>
                      </a:r>
                      <a:endParaRPr lang="en-SG" sz="1400" kern="100">
                        <a:solidFill>
                          <a:srgbClr val="00274D"/>
                        </a:solidFill>
                        <a:effectLst/>
                        <a:latin typeface="Calibri" panose="020F0502020204030204" pitchFamily="34" charset="0"/>
                        <a:ea typeface="Calibri" panose="020F0502020204030204" pitchFamily="34" charset="0"/>
                      </a:endParaRPr>
                    </a:p>
                  </a:txBody>
                  <a:tcPr marL="0" marR="73025" marT="73025" marB="0"/>
                </a:tc>
                <a:tc>
                  <a:txBody>
                    <a:bodyPr/>
                    <a:lstStyle/>
                    <a:p>
                      <a:pPr marL="6350" indent="-6350">
                        <a:lnSpc>
                          <a:spcPct val="107000"/>
                        </a:lnSpc>
                        <a:spcAft>
                          <a:spcPts val="610"/>
                        </a:spcAft>
                        <a:buNone/>
                      </a:pPr>
                      <a:r>
                        <a:rPr lang="en-SG" sz="1400" kern="100">
                          <a:effectLst/>
                        </a:rPr>
                        <a:t>1 h</a:t>
                      </a:r>
                      <a:endParaRPr lang="en-SG" sz="1400" kern="100">
                        <a:solidFill>
                          <a:srgbClr val="00274D"/>
                        </a:solidFill>
                        <a:effectLst/>
                        <a:latin typeface="Calibri" panose="020F0502020204030204" pitchFamily="34" charset="0"/>
                        <a:ea typeface="Calibri" panose="020F0502020204030204" pitchFamily="34" charset="0"/>
                      </a:endParaRPr>
                    </a:p>
                  </a:txBody>
                  <a:tcPr marL="0" marR="73025" marT="73025" marB="0"/>
                </a:tc>
                <a:tc>
                  <a:txBody>
                    <a:bodyPr/>
                    <a:lstStyle/>
                    <a:p>
                      <a:pPr marL="6350" indent="-6350">
                        <a:lnSpc>
                          <a:spcPct val="107000"/>
                        </a:lnSpc>
                        <a:spcAft>
                          <a:spcPts val="610"/>
                        </a:spcAft>
                        <a:buNone/>
                      </a:pPr>
                      <a:r>
                        <a:rPr lang="en-SG" sz="1400" kern="100">
                          <a:effectLst/>
                        </a:rPr>
                        <a:t>Build Session 3: ADCS configuration and test</a:t>
                      </a:r>
                      <a:endParaRPr lang="en-SG" sz="1400" kern="100">
                        <a:solidFill>
                          <a:srgbClr val="00274D"/>
                        </a:solidFill>
                        <a:effectLst/>
                        <a:latin typeface="Calibri" panose="020F0502020204030204" pitchFamily="34" charset="0"/>
                        <a:ea typeface="Calibri" panose="020F0502020204030204" pitchFamily="34" charset="0"/>
                      </a:endParaRPr>
                    </a:p>
                  </a:txBody>
                  <a:tcPr marL="0" marR="73025" marT="73025" marB="0"/>
                </a:tc>
                <a:extLst>
                  <a:ext uri="{0D108BD9-81ED-4DB2-BD59-A6C34878D82A}">
                    <a16:rowId xmlns:a16="http://schemas.microsoft.com/office/drawing/2014/main" val="1247379977"/>
                  </a:ext>
                </a:extLst>
              </a:tr>
              <a:tr h="454921">
                <a:tc>
                  <a:txBody>
                    <a:bodyPr/>
                    <a:lstStyle/>
                    <a:p>
                      <a:pPr marL="101600" indent="-6350">
                        <a:lnSpc>
                          <a:spcPct val="107000"/>
                        </a:lnSpc>
                        <a:spcAft>
                          <a:spcPts val="610"/>
                        </a:spcAft>
                        <a:buNone/>
                      </a:pPr>
                      <a:r>
                        <a:rPr lang="en-SG" sz="1400" kern="100" dirty="0">
                          <a:effectLst/>
                        </a:rPr>
                        <a:t>11:15 – 12:00</a:t>
                      </a:r>
                      <a:endParaRPr lang="en-SG" sz="1400" kern="100" dirty="0">
                        <a:solidFill>
                          <a:srgbClr val="00274D"/>
                        </a:solidFill>
                        <a:effectLst/>
                        <a:latin typeface="Calibri" panose="020F0502020204030204" pitchFamily="34" charset="0"/>
                        <a:ea typeface="Calibri" panose="020F0502020204030204" pitchFamily="34" charset="0"/>
                      </a:endParaRPr>
                    </a:p>
                  </a:txBody>
                  <a:tcPr marL="0" marR="73025" marT="73025" marB="0"/>
                </a:tc>
                <a:tc>
                  <a:txBody>
                    <a:bodyPr/>
                    <a:lstStyle/>
                    <a:p>
                      <a:pPr marL="6350" indent="-6350">
                        <a:lnSpc>
                          <a:spcPct val="107000"/>
                        </a:lnSpc>
                        <a:spcAft>
                          <a:spcPts val="610"/>
                        </a:spcAft>
                        <a:buNone/>
                      </a:pPr>
                      <a:r>
                        <a:rPr lang="en-SG" sz="1400" kern="100">
                          <a:effectLst/>
                        </a:rPr>
                        <a:t>45 min</a:t>
                      </a:r>
                      <a:endParaRPr lang="en-SG" sz="1400" kern="100">
                        <a:solidFill>
                          <a:srgbClr val="00274D"/>
                        </a:solidFill>
                        <a:effectLst/>
                        <a:latin typeface="Calibri" panose="020F0502020204030204" pitchFamily="34" charset="0"/>
                        <a:ea typeface="Calibri" panose="020F0502020204030204" pitchFamily="34" charset="0"/>
                      </a:endParaRPr>
                    </a:p>
                  </a:txBody>
                  <a:tcPr marL="0" marR="73025" marT="73025" marB="0"/>
                </a:tc>
                <a:tc>
                  <a:txBody>
                    <a:bodyPr/>
                    <a:lstStyle/>
                    <a:p>
                      <a:pPr marL="6350" indent="-6350">
                        <a:lnSpc>
                          <a:spcPct val="107000"/>
                        </a:lnSpc>
                        <a:spcAft>
                          <a:spcPts val="610"/>
                        </a:spcAft>
                        <a:buNone/>
                      </a:pPr>
                      <a:r>
                        <a:rPr lang="en-SG" sz="1400" kern="100">
                          <a:effectLst/>
                        </a:rPr>
                        <a:t>Lecture 4: Payload and the link to the ground</a:t>
                      </a:r>
                      <a:endParaRPr lang="en-SG" sz="1400" kern="100">
                        <a:solidFill>
                          <a:srgbClr val="00274D"/>
                        </a:solidFill>
                        <a:effectLst/>
                        <a:latin typeface="Calibri" panose="020F0502020204030204" pitchFamily="34" charset="0"/>
                        <a:ea typeface="Calibri" panose="020F0502020204030204" pitchFamily="34" charset="0"/>
                      </a:endParaRPr>
                    </a:p>
                  </a:txBody>
                  <a:tcPr marL="0" marR="73025" marT="73025" marB="0"/>
                </a:tc>
                <a:extLst>
                  <a:ext uri="{0D108BD9-81ED-4DB2-BD59-A6C34878D82A}">
                    <a16:rowId xmlns:a16="http://schemas.microsoft.com/office/drawing/2014/main" val="974333222"/>
                  </a:ext>
                </a:extLst>
              </a:tr>
              <a:tr h="454921">
                <a:tc>
                  <a:txBody>
                    <a:bodyPr/>
                    <a:lstStyle/>
                    <a:p>
                      <a:pPr marL="101600" indent="-6350">
                        <a:lnSpc>
                          <a:spcPct val="107000"/>
                        </a:lnSpc>
                        <a:spcAft>
                          <a:spcPts val="610"/>
                        </a:spcAft>
                        <a:buNone/>
                      </a:pPr>
                      <a:r>
                        <a:rPr lang="en-SG" sz="1400" kern="100">
                          <a:effectLst/>
                        </a:rPr>
                        <a:t>12:00 – 12:45</a:t>
                      </a:r>
                      <a:endParaRPr lang="en-SG" sz="1400" kern="100">
                        <a:solidFill>
                          <a:srgbClr val="00274D"/>
                        </a:solidFill>
                        <a:effectLst/>
                        <a:latin typeface="Calibri" panose="020F0502020204030204" pitchFamily="34" charset="0"/>
                        <a:ea typeface="Calibri" panose="020F0502020204030204" pitchFamily="34" charset="0"/>
                      </a:endParaRPr>
                    </a:p>
                  </a:txBody>
                  <a:tcPr marL="0" marR="73025" marT="73025" marB="0"/>
                </a:tc>
                <a:tc>
                  <a:txBody>
                    <a:bodyPr/>
                    <a:lstStyle/>
                    <a:p>
                      <a:pPr marL="6350" indent="-6350">
                        <a:lnSpc>
                          <a:spcPct val="107000"/>
                        </a:lnSpc>
                        <a:spcAft>
                          <a:spcPts val="610"/>
                        </a:spcAft>
                        <a:buNone/>
                      </a:pPr>
                      <a:r>
                        <a:rPr lang="en-SG" sz="1400" kern="100">
                          <a:effectLst/>
                        </a:rPr>
                        <a:t>45 min</a:t>
                      </a:r>
                      <a:endParaRPr lang="en-SG" sz="1400" kern="100">
                        <a:solidFill>
                          <a:srgbClr val="00274D"/>
                        </a:solidFill>
                        <a:effectLst/>
                        <a:latin typeface="Calibri" panose="020F0502020204030204" pitchFamily="34" charset="0"/>
                        <a:ea typeface="Calibri" panose="020F0502020204030204" pitchFamily="34" charset="0"/>
                      </a:endParaRPr>
                    </a:p>
                  </a:txBody>
                  <a:tcPr marL="0" marR="73025" marT="73025" marB="0"/>
                </a:tc>
                <a:tc>
                  <a:txBody>
                    <a:bodyPr/>
                    <a:lstStyle/>
                    <a:p>
                      <a:pPr marL="6350" indent="-6350">
                        <a:lnSpc>
                          <a:spcPct val="107000"/>
                        </a:lnSpc>
                        <a:spcAft>
                          <a:spcPts val="610"/>
                        </a:spcAft>
                        <a:buNone/>
                      </a:pPr>
                      <a:r>
                        <a:rPr lang="en-SG" sz="1400" kern="100">
                          <a:effectLst/>
                        </a:rPr>
                        <a:t>Build Session 4: Payload integration and downlink check</a:t>
                      </a:r>
                      <a:endParaRPr lang="en-SG" sz="1400" kern="100">
                        <a:solidFill>
                          <a:srgbClr val="00274D"/>
                        </a:solidFill>
                        <a:effectLst/>
                        <a:latin typeface="Calibri" panose="020F0502020204030204" pitchFamily="34" charset="0"/>
                        <a:ea typeface="Calibri" panose="020F0502020204030204" pitchFamily="34" charset="0"/>
                      </a:endParaRPr>
                    </a:p>
                  </a:txBody>
                  <a:tcPr marL="0" marR="73025" marT="73025" marB="0"/>
                </a:tc>
                <a:extLst>
                  <a:ext uri="{0D108BD9-81ED-4DB2-BD59-A6C34878D82A}">
                    <a16:rowId xmlns:a16="http://schemas.microsoft.com/office/drawing/2014/main" val="1690171064"/>
                  </a:ext>
                </a:extLst>
              </a:tr>
              <a:tr h="454921">
                <a:tc>
                  <a:txBody>
                    <a:bodyPr/>
                    <a:lstStyle/>
                    <a:p>
                      <a:pPr marL="101600" indent="-6350">
                        <a:lnSpc>
                          <a:spcPct val="107000"/>
                        </a:lnSpc>
                        <a:spcAft>
                          <a:spcPts val="610"/>
                        </a:spcAft>
                        <a:buNone/>
                      </a:pPr>
                      <a:r>
                        <a:rPr lang="en-SG" sz="1400" kern="100">
                          <a:effectLst/>
                        </a:rPr>
                        <a:t>12:45 – 13:45</a:t>
                      </a:r>
                      <a:endParaRPr lang="en-SG" sz="1400" kern="100">
                        <a:solidFill>
                          <a:srgbClr val="00274D"/>
                        </a:solidFill>
                        <a:effectLst/>
                        <a:latin typeface="Calibri" panose="020F0502020204030204" pitchFamily="34" charset="0"/>
                        <a:ea typeface="Calibri" panose="020F0502020204030204" pitchFamily="34" charset="0"/>
                      </a:endParaRPr>
                    </a:p>
                  </a:txBody>
                  <a:tcPr marL="0" marR="73025" marT="73025" marB="0"/>
                </a:tc>
                <a:tc>
                  <a:txBody>
                    <a:bodyPr/>
                    <a:lstStyle/>
                    <a:p>
                      <a:pPr marL="6350" indent="-6350">
                        <a:lnSpc>
                          <a:spcPct val="107000"/>
                        </a:lnSpc>
                        <a:spcAft>
                          <a:spcPts val="610"/>
                        </a:spcAft>
                        <a:buNone/>
                      </a:pPr>
                      <a:r>
                        <a:rPr lang="en-SG" sz="1400" kern="100">
                          <a:effectLst/>
                        </a:rPr>
                        <a:t>1 h</a:t>
                      </a:r>
                      <a:endParaRPr lang="en-SG" sz="1400" kern="100">
                        <a:solidFill>
                          <a:srgbClr val="00274D"/>
                        </a:solidFill>
                        <a:effectLst/>
                        <a:latin typeface="Calibri" panose="020F0502020204030204" pitchFamily="34" charset="0"/>
                        <a:ea typeface="Calibri" panose="020F0502020204030204" pitchFamily="34" charset="0"/>
                      </a:endParaRPr>
                    </a:p>
                  </a:txBody>
                  <a:tcPr marL="0" marR="73025" marT="73025" marB="0"/>
                </a:tc>
                <a:tc>
                  <a:txBody>
                    <a:bodyPr/>
                    <a:lstStyle/>
                    <a:p>
                      <a:pPr marL="6350" indent="-6350">
                        <a:lnSpc>
                          <a:spcPct val="107000"/>
                        </a:lnSpc>
                        <a:spcAft>
                          <a:spcPts val="610"/>
                        </a:spcAft>
                        <a:buNone/>
                      </a:pPr>
                      <a:r>
                        <a:rPr lang="en-SG" sz="1400" kern="100">
                          <a:effectLst/>
                        </a:rPr>
                        <a:t>Lunch</a:t>
                      </a:r>
                      <a:endParaRPr lang="en-SG" sz="1400" kern="100">
                        <a:solidFill>
                          <a:srgbClr val="00274D"/>
                        </a:solidFill>
                        <a:effectLst/>
                        <a:latin typeface="Calibri" panose="020F0502020204030204" pitchFamily="34" charset="0"/>
                        <a:ea typeface="Calibri" panose="020F0502020204030204" pitchFamily="34" charset="0"/>
                      </a:endParaRPr>
                    </a:p>
                  </a:txBody>
                  <a:tcPr marL="0" marR="73025" marT="73025" marB="0"/>
                </a:tc>
                <a:extLst>
                  <a:ext uri="{0D108BD9-81ED-4DB2-BD59-A6C34878D82A}">
                    <a16:rowId xmlns:a16="http://schemas.microsoft.com/office/drawing/2014/main" val="1563886821"/>
                  </a:ext>
                </a:extLst>
              </a:tr>
              <a:tr h="454921">
                <a:tc>
                  <a:txBody>
                    <a:bodyPr/>
                    <a:lstStyle/>
                    <a:p>
                      <a:pPr marL="101600" indent="-6350">
                        <a:lnSpc>
                          <a:spcPct val="107000"/>
                        </a:lnSpc>
                        <a:spcAft>
                          <a:spcPts val="610"/>
                        </a:spcAft>
                        <a:buNone/>
                      </a:pPr>
                      <a:r>
                        <a:rPr lang="en-SG" sz="1400" kern="100">
                          <a:effectLst/>
                        </a:rPr>
                        <a:t>13:45 – 14:45</a:t>
                      </a:r>
                      <a:endParaRPr lang="en-SG" sz="1400" kern="100">
                        <a:solidFill>
                          <a:srgbClr val="00274D"/>
                        </a:solidFill>
                        <a:effectLst/>
                        <a:latin typeface="Calibri" panose="020F0502020204030204" pitchFamily="34" charset="0"/>
                        <a:ea typeface="Calibri" panose="020F0502020204030204" pitchFamily="34" charset="0"/>
                      </a:endParaRPr>
                    </a:p>
                  </a:txBody>
                  <a:tcPr marL="0" marR="73025" marT="73025" marB="0"/>
                </a:tc>
                <a:tc>
                  <a:txBody>
                    <a:bodyPr/>
                    <a:lstStyle/>
                    <a:p>
                      <a:pPr marL="6350" indent="-6350">
                        <a:lnSpc>
                          <a:spcPct val="107000"/>
                        </a:lnSpc>
                        <a:spcAft>
                          <a:spcPts val="610"/>
                        </a:spcAft>
                        <a:buNone/>
                      </a:pPr>
                      <a:r>
                        <a:rPr lang="en-SG" sz="1400" kern="100">
                          <a:effectLst/>
                        </a:rPr>
                        <a:t>1 h</a:t>
                      </a:r>
                      <a:endParaRPr lang="en-SG" sz="1400" kern="100">
                        <a:solidFill>
                          <a:srgbClr val="00274D"/>
                        </a:solidFill>
                        <a:effectLst/>
                        <a:latin typeface="Calibri" panose="020F0502020204030204" pitchFamily="34" charset="0"/>
                        <a:ea typeface="Calibri" panose="020F0502020204030204" pitchFamily="34" charset="0"/>
                      </a:endParaRPr>
                    </a:p>
                  </a:txBody>
                  <a:tcPr marL="0" marR="73025" marT="73025" marB="0"/>
                </a:tc>
                <a:tc>
                  <a:txBody>
                    <a:bodyPr/>
                    <a:lstStyle/>
                    <a:p>
                      <a:pPr marL="6350" indent="-6350">
                        <a:lnSpc>
                          <a:spcPct val="107000"/>
                        </a:lnSpc>
                        <a:spcAft>
                          <a:spcPts val="610"/>
                        </a:spcAft>
                        <a:buNone/>
                      </a:pPr>
                      <a:r>
                        <a:rPr lang="en-SG" sz="1400" kern="100">
                          <a:effectLst/>
                        </a:rPr>
                        <a:t>Build Session 4 (continued)</a:t>
                      </a:r>
                      <a:endParaRPr lang="en-SG" sz="1400" kern="100">
                        <a:solidFill>
                          <a:srgbClr val="00274D"/>
                        </a:solidFill>
                        <a:effectLst/>
                        <a:latin typeface="Calibri" panose="020F0502020204030204" pitchFamily="34" charset="0"/>
                        <a:ea typeface="Calibri" panose="020F0502020204030204" pitchFamily="34" charset="0"/>
                      </a:endParaRPr>
                    </a:p>
                  </a:txBody>
                  <a:tcPr marL="0" marR="73025" marT="73025" marB="0"/>
                </a:tc>
                <a:extLst>
                  <a:ext uri="{0D108BD9-81ED-4DB2-BD59-A6C34878D82A}">
                    <a16:rowId xmlns:a16="http://schemas.microsoft.com/office/drawing/2014/main" val="2374038546"/>
                  </a:ext>
                </a:extLst>
              </a:tr>
              <a:tr h="454921">
                <a:tc>
                  <a:txBody>
                    <a:bodyPr/>
                    <a:lstStyle/>
                    <a:p>
                      <a:pPr marL="101600" indent="-6350">
                        <a:lnSpc>
                          <a:spcPct val="107000"/>
                        </a:lnSpc>
                        <a:spcAft>
                          <a:spcPts val="610"/>
                        </a:spcAft>
                        <a:buNone/>
                      </a:pPr>
                      <a:r>
                        <a:rPr lang="en-SG" sz="1400" kern="100">
                          <a:effectLst/>
                        </a:rPr>
                        <a:t>14:45 – 16:00</a:t>
                      </a:r>
                      <a:endParaRPr lang="en-SG" sz="1400" kern="100">
                        <a:solidFill>
                          <a:srgbClr val="00274D"/>
                        </a:solidFill>
                        <a:effectLst/>
                        <a:latin typeface="Calibri" panose="020F0502020204030204" pitchFamily="34" charset="0"/>
                        <a:ea typeface="Calibri" panose="020F0502020204030204" pitchFamily="34" charset="0"/>
                      </a:endParaRPr>
                    </a:p>
                  </a:txBody>
                  <a:tcPr marL="0" marR="73025" marT="73025" marB="0"/>
                </a:tc>
                <a:tc>
                  <a:txBody>
                    <a:bodyPr/>
                    <a:lstStyle/>
                    <a:p>
                      <a:pPr marL="6350" indent="-6350">
                        <a:lnSpc>
                          <a:spcPct val="107000"/>
                        </a:lnSpc>
                        <a:spcAft>
                          <a:spcPts val="610"/>
                        </a:spcAft>
                        <a:buNone/>
                      </a:pPr>
                      <a:r>
                        <a:rPr lang="en-SG" sz="1400" kern="100">
                          <a:effectLst/>
                        </a:rPr>
                        <a:t>1 h 15 min</a:t>
                      </a:r>
                      <a:endParaRPr lang="en-SG" sz="1400" kern="100">
                        <a:solidFill>
                          <a:srgbClr val="00274D"/>
                        </a:solidFill>
                        <a:effectLst/>
                        <a:latin typeface="Calibri" panose="020F0502020204030204" pitchFamily="34" charset="0"/>
                        <a:ea typeface="Calibri" panose="020F0502020204030204" pitchFamily="34" charset="0"/>
                      </a:endParaRPr>
                    </a:p>
                  </a:txBody>
                  <a:tcPr marL="0" marR="73025" marT="73025" marB="0"/>
                </a:tc>
                <a:tc>
                  <a:txBody>
                    <a:bodyPr/>
                    <a:lstStyle/>
                    <a:p>
                      <a:pPr marL="6350" indent="-6350">
                        <a:lnSpc>
                          <a:spcPct val="107000"/>
                        </a:lnSpc>
                        <a:spcAft>
                          <a:spcPts val="610"/>
                        </a:spcAft>
                        <a:buNone/>
                      </a:pPr>
                      <a:r>
                        <a:rPr lang="en-SG" sz="1400" kern="100">
                          <a:effectLst/>
                        </a:rPr>
                        <a:t>Design reviews (short lecture); Mission review session</a:t>
                      </a:r>
                      <a:endParaRPr lang="en-SG" sz="1400" kern="100">
                        <a:solidFill>
                          <a:srgbClr val="00274D"/>
                        </a:solidFill>
                        <a:effectLst/>
                        <a:latin typeface="Calibri" panose="020F0502020204030204" pitchFamily="34" charset="0"/>
                        <a:ea typeface="Calibri" panose="020F0502020204030204" pitchFamily="34" charset="0"/>
                      </a:endParaRPr>
                    </a:p>
                  </a:txBody>
                  <a:tcPr marL="0" marR="73025" marT="73025" marB="0"/>
                </a:tc>
                <a:extLst>
                  <a:ext uri="{0D108BD9-81ED-4DB2-BD59-A6C34878D82A}">
                    <a16:rowId xmlns:a16="http://schemas.microsoft.com/office/drawing/2014/main" val="2642806473"/>
                  </a:ext>
                </a:extLst>
              </a:tr>
              <a:tr h="454921">
                <a:tc>
                  <a:txBody>
                    <a:bodyPr/>
                    <a:lstStyle/>
                    <a:p>
                      <a:pPr marL="101600" indent="-6350">
                        <a:lnSpc>
                          <a:spcPct val="107000"/>
                        </a:lnSpc>
                        <a:spcAft>
                          <a:spcPts val="610"/>
                        </a:spcAft>
                        <a:buNone/>
                      </a:pPr>
                      <a:r>
                        <a:rPr lang="en-SG" sz="1400" kern="100">
                          <a:effectLst/>
                        </a:rPr>
                        <a:t>16:00 – 16:30</a:t>
                      </a:r>
                      <a:endParaRPr lang="en-SG" sz="1400" kern="100">
                        <a:solidFill>
                          <a:srgbClr val="00274D"/>
                        </a:solidFill>
                        <a:effectLst/>
                        <a:latin typeface="Calibri" panose="020F0502020204030204" pitchFamily="34" charset="0"/>
                        <a:ea typeface="Calibri" panose="020F0502020204030204" pitchFamily="34" charset="0"/>
                      </a:endParaRPr>
                    </a:p>
                  </a:txBody>
                  <a:tcPr marL="0" marR="73025" marT="73025" marB="0"/>
                </a:tc>
                <a:tc>
                  <a:txBody>
                    <a:bodyPr/>
                    <a:lstStyle/>
                    <a:p>
                      <a:pPr marL="6350" indent="-6350">
                        <a:lnSpc>
                          <a:spcPct val="107000"/>
                        </a:lnSpc>
                        <a:spcAft>
                          <a:spcPts val="610"/>
                        </a:spcAft>
                        <a:buNone/>
                      </a:pPr>
                      <a:r>
                        <a:rPr lang="en-SG" sz="1400" kern="100">
                          <a:effectLst/>
                        </a:rPr>
                        <a:t>30 min</a:t>
                      </a:r>
                      <a:endParaRPr lang="en-SG" sz="1400" kern="100">
                        <a:solidFill>
                          <a:srgbClr val="00274D"/>
                        </a:solidFill>
                        <a:effectLst/>
                        <a:latin typeface="Calibri" panose="020F0502020204030204" pitchFamily="34" charset="0"/>
                        <a:ea typeface="Calibri" panose="020F0502020204030204" pitchFamily="34" charset="0"/>
                      </a:endParaRPr>
                    </a:p>
                  </a:txBody>
                  <a:tcPr marL="0" marR="73025" marT="73025" marB="0"/>
                </a:tc>
                <a:tc>
                  <a:txBody>
                    <a:bodyPr/>
                    <a:lstStyle/>
                    <a:p>
                      <a:pPr marL="6350" indent="-6350">
                        <a:lnSpc>
                          <a:spcPct val="107000"/>
                        </a:lnSpc>
                        <a:spcAft>
                          <a:spcPts val="610"/>
                        </a:spcAft>
                        <a:buNone/>
                      </a:pPr>
                      <a:r>
                        <a:rPr lang="en-SG" sz="1400" kern="100">
                          <a:effectLst/>
                        </a:rPr>
                        <a:t>Certificate presentation (with refreshments)</a:t>
                      </a:r>
                      <a:endParaRPr lang="en-SG" sz="1400" kern="100">
                        <a:solidFill>
                          <a:srgbClr val="00274D"/>
                        </a:solidFill>
                        <a:effectLst/>
                        <a:latin typeface="Calibri" panose="020F0502020204030204" pitchFamily="34" charset="0"/>
                        <a:ea typeface="Calibri" panose="020F0502020204030204" pitchFamily="34" charset="0"/>
                      </a:endParaRPr>
                    </a:p>
                  </a:txBody>
                  <a:tcPr marL="0" marR="73025" marT="73025" marB="0"/>
                </a:tc>
                <a:extLst>
                  <a:ext uri="{0D108BD9-81ED-4DB2-BD59-A6C34878D82A}">
                    <a16:rowId xmlns:a16="http://schemas.microsoft.com/office/drawing/2014/main" val="1686074324"/>
                  </a:ext>
                </a:extLst>
              </a:tr>
              <a:tr h="454921">
                <a:tc>
                  <a:txBody>
                    <a:bodyPr/>
                    <a:lstStyle/>
                    <a:p>
                      <a:pPr marL="101600" indent="-6350">
                        <a:lnSpc>
                          <a:spcPct val="107000"/>
                        </a:lnSpc>
                        <a:spcAft>
                          <a:spcPts val="610"/>
                        </a:spcAft>
                        <a:buNone/>
                      </a:pPr>
                      <a:r>
                        <a:rPr lang="en-SG" sz="1400" kern="100" dirty="0">
                          <a:effectLst/>
                        </a:rPr>
                        <a:t>16:30 onwards</a:t>
                      </a:r>
                      <a:endParaRPr lang="en-SG" sz="1400" kern="100" dirty="0">
                        <a:solidFill>
                          <a:srgbClr val="00274D"/>
                        </a:solidFill>
                        <a:effectLst/>
                        <a:latin typeface="Calibri" panose="020F0502020204030204" pitchFamily="34" charset="0"/>
                        <a:ea typeface="Calibri" panose="020F0502020204030204" pitchFamily="34" charset="0"/>
                      </a:endParaRPr>
                    </a:p>
                  </a:txBody>
                  <a:tcPr marL="0" marR="73025" marT="73025" marB="0"/>
                </a:tc>
                <a:tc>
                  <a:txBody>
                    <a:bodyPr/>
                    <a:lstStyle/>
                    <a:p>
                      <a:pPr marL="6350" indent="-6350">
                        <a:lnSpc>
                          <a:spcPct val="107000"/>
                        </a:lnSpc>
                        <a:spcAft>
                          <a:spcPts val="610"/>
                        </a:spcAft>
                        <a:buNone/>
                      </a:pPr>
                      <a:r>
                        <a:rPr lang="en-SG" sz="1400" kern="100">
                          <a:effectLst/>
                        </a:rPr>
                        <a:t>–</a:t>
                      </a:r>
                      <a:endParaRPr lang="en-SG" sz="1400" kern="100">
                        <a:solidFill>
                          <a:srgbClr val="00274D"/>
                        </a:solidFill>
                        <a:effectLst/>
                        <a:latin typeface="Calibri" panose="020F0502020204030204" pitchFamily="34" charset="0"/>
                        <a:ea typeface="Calibri" panose="020F0502020204030204" pitchFamily="34" charset="0"/>
                      </a:endParaRPr>
                    </a:p>
                  </a:txBody>
                  <a:tcPr marL="0" marR="73025" marT="73025" marB="0"/>
                </a:tc>
                <a:tc>
                  <a:txBody>
                    <a:bodyPr/>
                    <a:lstStyle/>
                    <a:p>
                      <a:pPr marL="6350" indent="-6350">
                        <a:lnSpc>
                          <a:spcPct val="107000"/>
                        </a:lnSpc>
                        <a:spcAft>
                          <a:spcPts val="610"/>
                        </a:spcAft>
                        <a:buNone/>
                      </a:pPr>
                      <a:r>
                        <a:rPr lang="en-SG" sz="1400" kern="100" dirty="0">
                          <a:effectLst/>
                        </a:rPr>
                        <a:t>Networking reception (with refreshments)</a:t>
                      </a:r>
                      <a:endParaRPr lang="en-SG" sz="1400" kern="100" dirty="0">
                        <a:solidFill>
                          <a:srgbClr val="00274D"/>
                        </a:solidFill>
                        <a:effectLst/>
                        <a:latin typeface="Calibri" panose="020F0502020204030204" pitchFamily="34" charset="0"/>
                        <a:ea typeface="Calibri" panose="020F0502020204030204" pitchFamily="34" charset="0"/>
                      </a:endParaRPr>
                    </a:p>
                  </a:txBody>
                  <a:tcPr marL="0" marR="73025" marT="73025" marB="0"/>
                </a:tc>
                <a:extLst>
                  <a:ext uri="{0D108BD9-81ED-4DB2-BD59-A6C34878D82A}">
                    <a16:rowId xmlns:a16="http://schemas.microsoft.com/office/drawing/2014/main" val="2432695464"/>
                  </a:ext>
                </a:extLst>
              </a:tr>
            </a:tbl>
          </a:graphicData>
        </a:graphic>
      </p:graphicFrame>
      <p:sp>
        <p:nvSpPr>
          <p:cNvPr id="7" name="Rectangle 5">
            <a:extLst>
              <a:ext uri="{FF2B5EF4-FFF2-40B4-BE49-F238E27FC236}">
                <a16:creationId xmlns:a16="http://schemas.microsoft.com/office/drawing/2014/main" id="{BB091031-70F4-A999-DB56-ED1C69CE87E2}"/>
              </a:ext>
            </a:extLst>
          </p:cNvPr>
          <p:cNvSpPr>
            <a:spLocks noChangeArrowheads="1"/>
          </p:cNvSpPr>
          <p:nvPr/>
        </p:nvSpPr>
        <p:spPr bwMode="auto">
          <a:xfrm>
            <a:off x="956932" y="4955360"/>
            <a:ext cx="89193" cy="9220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174" tIns="45720" rIns="91440" bIns="44436" numCol="1" anchor="ctr" anchorCtr="0" compatLnSpc="1">
            <a:prstTxWarp prst="textNoShape">
              <a:avLst/>
            </a:prstTxWarp>
            <a:spAutoFit/>
          </a:bodyPr>
          <a:lstStyle>
            <a:lvl1pPr eaLnBrk="0" fontAlgn="base" hangingPunct="0">
              <a:spcBef>
                <a:spcPct val="0"/>
              </a:spcBef>
              <a:spcAft>
                <a:spcPct val="0"/>
              </a:spcAft>
              <a:tabLst>
                <a:tab pos="1377950" algn="ctr"/>
                <a:tab pos="4510088" algn="ctr"/>
              </a:tabLst>
              <a:defRPr>
                <a:solidFill>
                  <a:schemeClr val="tx1"/>
                </a:solidFill>
                <a:latin typeface="Arial" panose="020B0604020202020204" pitchFamily="34" charset="0"/>
              </a:defRPr>
            </a:lvl1pPr>
            <a:lvl2pPr marL="457200" eaLnBrk="0" fontAlgn="base" hangingPunct="0">
              <a:spcBef>
                <a:spcPct val="0"/>
              </a:spcBef>
              <a:spcAft>
                <a:spcPct val="0"/>
              </a:spcAft>
              <a:tabLst>
                <a:tab pos="1377950" algn="ctr"/>
                <a:tab pos="4510088" algn="ctr"/>
              </a:tabLst>
              <a:defRPr>
                <a:solidFill>
                  <a:schemeClr val="tx1"/>
                </a:solidFill>
                <a:latin typeface="Arial" panose="020B0604020202020204" pitchFamily="34" charset="0"/>
              </a:defRPr>
            </a:lvl2pPr>
            <a:lvl3pPr marL="914400" eaLnBrk="0" fontAlgn="base" hangingPunct="0">
              <a:spcBef>
                <a:spcPct val="0"/>
              </a:spcBef>
              <a:spcAft>
                <a:spcPct val="0"/>
              </a:spcAft>
              <a:tabLst>
                <a:tab pos="1377950" algn="ctr"/>
                <a:tab pos="4510088" algn="ctr"/>
              </a:tabLst>
              <a:defRPr>
                <a:solidFill>
                  <a:schemeClr val="tx1"/>
                </a:solidFill>
                <a:latin typeface="Arial" panose="020B0604020202020204" pitchFamily="34" charset="0"/>
              </a:defRPr>
            </a:lvl3pPr>
            <a:lvl4pPr marL="1371600" eaLnBrk="0" fontAlgn="base" hangingPunct="0">
              <a:spcBef>
                <a:spcPct val="0"/>
              </a:spcBef>
              <a:spcAft>
                <a:spcPct val="0"/>
              </a:spcAft>
              <a:tabLst>
                <a:tab pos="1377950" algn="ctr"/>
                <a:tab pos="4510088" algn="ctr"/>
              </a:tabLst>
              <a:defRPr>
                <a:solidFill>
                  <a:schemeClr val="tx1"/>
                </a:solidFill>
                <a:latin typeface="Arial" panose="020B0604020202020204" pitchFamily="34" charset="0"/>
              </a:defRPr>
            </a:lvl4pPr>
            <a:lvl5pPr marL="1828800" eaLnBrk="0" fontAlgn="base" hangingPunct="0">
              <a:spcBef>
                <a:spcPct val="0"/>
              </a:spcBef>
              <a:spcAft>
                <a:spcPct val="0"/>
              </a:spcAft>
              <a:tabLst>
                <a:tab pos="1377950" algn="ctr"/>
                <a:tab pos="4510088" algn="ctr"/>
              </a:tabLst>
              <a:defRPr>
                <a:solidFill>
                  <a:schemeClr val="tx1"/>
                </a:solidFill>
                <a:latin typeface="Arial" panose="020B0604020202020204" pitchFamily="34" charset="0"/>
              </a:defRPr>
            </a:lvl5pPr>
            <a:lvl6pPr marL="2286000" eaLnBrk="0" fontAlgn="base" hangingPunct="0">
              <a:spcBef>
                <a:spcPct val="0"/>
              </a:spcBef>
              <a:spcAft>
                <a:spcPct val="0"/>
              </a:spcAft>
              <a:tabLst>
                <a:tab pos="1377950" algn="ctr"/>
                <a:tab pos="4510088" algn="ctr"/>
              </a:tabLst>
              <a:defRPr>
                <a:solidFill>
                  <a:schemeClr val="tx1"/>
                </a:solidFill>
                <a:latin typeface="Arial" panose="020B0604020202020204" pitchFamily="34" charset="0"/>
              </a:defRPr>
            </a:lvl6pPr>
            <a:lvl7pPr marL="2743200" eaLnBrk="0" fontAlgn="base" hangingPunct="0">
              <a:spcBef>
                <a:spcPct val="0"/>
              </a:spcBef>
              <a:spcAft>
                <a:spcPct val="0"/>
              </a:spcAft>
              <a:tabLst>
                <a:tab pos="1377950" algn="ctr"/>
                <a:tab pos="4510088" algn="ctr"/>
              </a:tabLst>
              <a:defRPr>
                <a:solidFill>
                  <a:schemeClr val="tx1"/>
                </a:solidFill>
                <a:latin typeface="Arial" panose="020B0604020202020204" pitchFamily="34" charset="0"/>
              </a:defRPr>
            </a:lvl7pPr>
            <a:lvl8pPr marL="3200400" eaLnBrk="0" fontAlgn="base" hangingPunct="0">
              <a:spcBef>
                <a:spcPct val="0"/>
              </a:spcBef>
              <a:spcAft>
                <a:spcPct val="0"/>
              </a:spcAft>
              <a:tabLst>
                <a:tab pos="1377950" algn="ctr"/>
                <a:tab pos="4510088" algn="ctr"/>
              </a:tabLst>
              <a:defRPr>
                <a:solidFill>
                  <a:schemeClr val="tx1"/>
                </a:solidFill>
                <a:latin typeface="Arial" panose="020B0604020202020204" pitchFamily="34" charset="0"/>
              </a:defRPr>
            </a:lvl8pPr>
            <a:lvl9pPr marL="3657600" eaLnBrk="0" fontAlgn="base" hangingPunct="0">
              <a:spcBef>
                <a:spcPct val="0"/>
              </a:spcBef>
              <a:spcAft>
                <a:spcPct val="0"/>
              </a:spcAft>
              <a:tabLst>
                <a:tab pos="1377950" algn="ctr"/>
                <a:tab pos="4510088" algn="ctr"/>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1377950" algn="ctr"/>
                <a:tab pos="4510088" algn="ctr"/>
              </a:tabLst>
            </a:pPr>
            <a:endParaRPr kumimoji="0" lang="en-US" altLang="en-US" sz="1200" b="1" i="0" u="none" strike="noStrike" cap="none" normalizeH="0" baseline="0" dirty="0">
              <a:ln>
                <a:noFill/>
              </a:ln>
              <a:solidFill>
                <a:srgbClr val="435F73"/>
              </a:solidFill>
              <a:effectLst/>
              <a:latin typeface="Arial" panose="020B0604020202020204" pitchFamily="34" charset="0"/>
              <a:ea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1377950" algn="ctr"/>
                <a:tab pos="4510088" algn="ctr"/>
              </a:tabLst>
            </a:pPr>
            <a:endParaRPr lang="en-US" altLang="en-US" sz="1200" b="1" dirty="0">
              <a:solidFill>
                <a:srgbClr val="435F73"/>
              </a:solidFill>
              <a:ea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1377950" algn="ctr"/>
                <a:tab pos="4510088" algn="ctr"/>
              </a:tabLst>
            </a:pPr>
            <a:endParaRPr kumimoji="0" lang="en-US" altLang="en-US" sz="1200" b="1" i="0" u="none" strike="noStrike" cap="none" normalizeH="0" baseline="0" dirty="0">
              <a:ln>
                <a:noFill/>
              </a:ln>
              <a:solidFill>
                <a:srgbClr val="435F73"/>
              </a:solidFill>
              <a:effectLst/>
              <a:latin typeface="Arial" panose="020B0604020202020204" pitchFamily="34" charset="0"/>
              <a:ea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1377950" algn="ctr"/>
                <a:tab pos="4510088" algn="ct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997182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9335B-C48B-A2A3-1BEE-D51053E3F1F5}"/>
              </a:ext>
            </a:extLst>
          </p:cNvPr>
          <p:cNvSpPr>
            <a:spLocks noGrp="1"/>
          </p:cNvSpPr>
          <p:nvPr>
            <p:ph type="title"/>
          </p:nvPr>
        </p:nvSpPr>
        <p:spPr/>
        <p:txBody>
          <a:bodyPr/>
          <a:lstStyle/>
          <a:p>
            <a:r>
              <a:rPr lang="en-SG" dirty="0"/>
              <a:t>Agenda</a:t>
            </a:r>
          </a:p>
        </p:txBody>
      </p:sp>
      <p:pic>
        <p:nvPicPr>
          <p:cNvPr id="15" name="Content Placeholder 14">
            <a:extLst>
              <a:ext uri="{FF2B5EF4-FFF2-40B4-BE49-F238E27FC236}">
                <a16:creationId xmlns:a16="http://schemas.microsoft.com/office/drawing/2014/main" id="{8801F99F-C230-E801-950D-C5EA7E2DAB28}"/>
              </a:ext>
            </a:extLst>
          </p:cNvPr>
          <p:cNvPicPr>
            <a:picLocks noGrp="1" noChangeAspect="1"/>
          </p:cNvPicPr>
          <p:nvPr>
            <p:ph idx="1"/>
          </p:nvPr>
        </p:nvPicPr>
        <p:blipFill>
          <a:blip r:embed="rId2"/>
          <a:stretch>
            <a:fillRect/>
          </a:stretch>
        </p:blipFill>
        <p:spPr>
          <a:xfrm>
            <a:off x="664593" y="1353565"/>
            <a:ext cx="10690779" cy="4085334"/>
          </a:xfrm>
          <a:prstGeom prst="rect">
            <a:avLst/>
          </a:prstGeom>
        </p:spPr>
      </p:pic>
    </p:spTree>
    <p:extLst>
      <p:ext uri="{BB962C8B-B14F-4D97-AF65-F5344CB8AC3E}">
        <p14:creationId xmlns:p14="http://schemas.microsoft.com/office/powerpoint/2010/main" val="9672759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020C120-9B4C-2EBC-344F-6E0091D3530C}"/>
              </a:ext>
            </a:extLst>
          </p:cNvPr>
          <p:cNvSpPr txBox="1"/>
          <p:nvPr/>
        </p:nvSpPr>
        <p:spPr>
          <a:xfrm>
            <a:off x="424543" y="197171"/>
            <a:ext cx="6097978" cy="769441"/>
          </a:xfrm>
          <a:prstGeom prst="rect">
            <a:avLst/>
          </a:prstGeom>
          <a:noFill/>
        </p:spPr>
        <p:txBody>
          <a:bodyPr wrap="square">
            <a:spAutoFit/>
          </a:bodyPr>
          <a:lstStyle/>
          <a:p>
            <a:r>
              <a:rPr lang="en-SG" sz="4400" dirty="0"/>
              <a:t>Agenda</a:t>
            </a:r>
            <a:endParaRPr lang="en-SG" dirty="0"/>
          </a:p>
        </p:txBody>
      </p:sp>
      <p:sp>
        <p:nvSpPr>
          <p:cNvPr id="4" name="Rectangle 2">
            <a:extLst>
              <a:ext uri="{FF2B5EF4-FFF2-40B4-BE49-F238E27FC236}">
                <a16:creationId xmlns:a16="http://schemas.microsoft.com/office/drawing/2014/main" id="{407E4C79-2D83-FCD8-DCA1-4A6FDCFD2280}"/>
              </a:ext>
            </a:extLst>
          </p:cNvPr>
          <p:cNvSpPr>
            <a:spLocks noChangeArrowheads="1"/>
          </p:cNvSpPr>
          <p:nvPr/>
        </p:nvSpPr>
        <p:spPr bwMode="auto">
          <a:xfrm>
            <a:off x="424543" y="1279496"/>
            <a:ext cx="10390909" cy="17530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174" tIns="45720" rIns="91440" bIns="44436"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00274D"/>
                </a:solidFill>
                <a:effectLst/>
                <a:latin typeface="Arial" panose="020B0604020202020204" pitchFamily="34" charset="0"/>
                <a:ea typeface="Calibri" panose="020F0502020204030204" pitchFamily="34" charset="0"/>
              </a:rPr>
              <a:t>Networking reception – 16:30</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274D"/>
                </a:solidFill>
                <a:effectLst/>
                <a:latin typeface="Arial" panose="020B0604020202020204" pitchFamily="34" charset="0"/>
                <a:ea typeface="Calibri" panose="020F0502020204030204" pitchFamily="34" charset="0"/>
              </a:rPr>
              <a:t>Following the certificate presentation, you and your guest are invited to join the networking reception with other industry guests. Your guest is welcome to attend the reception even if they do not attend the presentation.</a:t>
            </a:r>
            <a:endParaRPr kumimoji="0" lang="en-US" altLang="en-US" sz="1800" b="1" i="0" u="none" strike="noStrike" cap="none" normalizeH="0" baseline="0" dirty="0">
              <a:ln>
                <a:noFill/>
              </a:ln>
              <a:solidFill>
                <a:srgbClr val="00274D"/>
              </a:solidFill>
              <a:effectLst/>
              <a:latin typeface="Arial" panose="020B0604020202020204" pitchFamily="34" charset="0"/>
              <a:ea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00274D"/>
                </a:solidFill>
                <a:effectLst/>
                <a:latin typeface="Arial" panose="020B0604020202020204" pitchFamily="34" charset="0"/>
                <a:ea typeface="Calibri" panose="020F0502020204030204" pitchFamily="34" charset="0"/>
              </a:rPr>
              <a:t>Guest registration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7169" name="Picture 7540">
            <a:extLst>
              <a:ext uri="{FF2B5EF4-FFF2-40B4-BE49-F238E27FC236}">
                <a16:creationId xmlns:a16="http://schemas.microsoft.com/office/drawing/2014/main" id="{DB7B308A-D330-3861-9F4B-2B50C2775D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28485" y="4131910"/>
            <a:ext cx="1935029" cy="191794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a:extLst>
              <a:ext uri="{FF2B5EF4-FFF2-40B4-BE49-F238E27FC236}">
                <a16:creationId xmlns:a16="http://schemas.microsoft.com/office/drawing/2014/main" id="{C77AC5D1-1911-18B7-AF51-D0F1FB7FC838}"/>
              </a:ext>
            </a:extLst>
          </p:cNvPr>
          <p:cNvSpPr>
            <a:spLocks noChangeArrowheads="1"/>
          </p:cNvSpPr>
          <p:nvPr/>
        </p:nvSpPr>
        <p:spPr bwMode="auto">
          <a:xfrm>
            <a:off x="424542" y="3024969"/>
            <a:ext cx="10390909"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00274D"/>
                </a:solidFill>
                <a:effectLst/>
                <a:latin typeface="Arial" panose="020B0604020202020204" pitchFamily="34" charset="0"/>
                <a:ea typeface="Calibri" panose="020F0502020204030204" pitchFamily="34" charset="0"/>
              </a:rPr>
              <a:t>Participants do not need to register.</a:t>
            </a:r>
            <a:r>
              <a:rPr kumimoji="0" lang="en-US" altLang="en-US" sz="1800" b="0" i="0" u="none" strike="noStrike" cap="none" normalizeH="0" baseline="0" dirty="0">
                <a:ln>
                  <a:noFill/>
                </a:ln>
                <a:solidFill>
                  <a:srgbClr val="00274D"/>
                </a:solidFill>
                <a:effectLst/>
                <a:latin typeface="Arial" panose="020B0604020202020204" pitchFamily="34" charset="0"/>
                <a:ea typeface="Calibri" panose="020F0502020204030204" pitchFamily="34" charset="0"/>
              </a:rPr>
              <a:t> Guests attending the certificate presentation, the networking reception, or both must register by </a:t>
            </a:r>
            <a:r>
              <a:rPr kumimoji="0" lang="en-US" altLang="en-US" sz="1800" b="1" i="0" u="none" strike="noStrike" cap="none" normalizeH="0" baseline="0" dirty="0">
                <a:ln>
                  <a:noFill/>
                </a:ln>
                <a:solidFill>
                  <a:srgbClr val="00274D"/>
                </a:solidFill>
                <a:effectLst/>
                <a:latin typeface="Arial" panose="020B0604020202020204" pitchFamily="34" charset="0"/>
                <a:ea typeface="Calibri" panose="020F0502020204030204" pitchFamily="34" charset="0"/>
              </a:rPr>
              <a:t>Wednesday 14 October 2026</a:t>
            </a:r>
            <a:r>
              <a:rPr kumimoji="0" lang="en-US" altLang="en-US" sz="1800" b="0" i="0" u="none" strike="noStrike" cap="none" normalizeH="0" baseline="0" dirty="0">
                <a:ln>
                  <a:noFill/>
                </a:ln>
                <a:solidFill>
                  <a:srgbClr val="00274D"/>
                </a:solidFill>
                <a:effectLst/>
                <a:latin typeface="Arial" panose="020B0604020202020204" pitchFamily="34" charset="0"/>
                <a:ea typeface="Calibri" panose="020F0502020204030204" pitchFamily="34" charset="0"/>
              </a:rPr>
              <a:t>. Please share this link with your guest: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435F73"/>
                </a:solidFill>
                <a:effectLst/>
                <a:latin typeface="Arial" panose="020B0604020202020204" pitchFamily="34" charset="0"/>
                <a:ea typeface="Calibri" panose="020F0502020204030204" pitchFamily="34" charset="0"/>
                <a:hlinkClick r:id="rId3"/>
              </a:rPr>
              <a:t>luma.com/tz2solmo</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843278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784D0-3144-85F2-183B-5CD101B2667B}"/>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SG" dirty="0"/>
              <a:t>Course Materials</a:t>
            </a:r>
          </a:p>
        </p:txBody>
      </p:sp>
      <p:sp>
        <p:nvSpPr>
          <p:cNvPr id="7" name="TextBox 6">
            <a:extLst>
              <a:ext uri="{FF2B5EF4-FFF2-40B4-BE49-F238E27FC236}">
                <a16:creationId xmlns:a16="http://schemas.microsoft.com/office/drawing/2014/main" id="{B5E08A16-D806-B244-87D5-B418BFCE2DAD}"/>
              </a:ext>
            </a:extLst>
          </p:cNvPr>
          <p:cNvSpPr txBox="1"/>
          <p:nvPr/>
        </p:nvSpPr>
        <p:spPr>
          <a:xfrm>
            <a:off x="838200" y="1359754"/>
            <a:ext cx="10376140" cy="796805"/>
          </a:xfrm>
          <a:prstGeom prst="rect">
            <a:avLst/>
          </a:prstGeom>
        </p:spPr>
        <p:txBody>
          <a:bodyPr vert="horz" lIns="91440" tIns="45720" rIns="91440" bIns="45720" rtlCol="0">
            <a:normAutofit lnSpcReduction="10000"/>
          </a:bodyPr>
          <a:lstStyle/>
          <a:p>
            <a:pPr defTabSz="914400">
              <a:lnSpc>
                <a:spcPct val="90000"/>
              </a:lnSpc>
              <a:spcBef>
                <a:spcPts val="1000"/>
              </a:spcBef>
            </a:pPr>
            <a:r>
              <a:rPr lang="en-US" sz="2800" b="1" dirty="0">
                <a:solidFill>
                  <a:srgbClr val="00274D"/>
                </a:solidFill>
                <a:latin typeface="Nunito" pitchFamily="2" charset="0"/>
              </a:rPr>
              <a:t>https://github.com/learnspacefaculty-bit/Spacecraft-design-course</a:t>
            </a:r>
          </a:p>
        </p:txBody>
      </p:sp>
    </p:spTree>
    <p:extLst>
      <p:ext uri="{BB962C8B-B14F-4D97-AF65-F5344CB8AC3E}">
        <p14:creationId xmlns:p14="http://schemas.microsoft.com/office/powerpoint/2010/main" val="23199620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4EBD0-20DE-A79B-31C5-B399DAC5BB1F}"/>
              </a:ext>
            </a:extLst>
          </p:cNvPr>
          <p:cNvSpPr>
            <a:spLocks noGrp="1"/>
          </p:cNvSpPr>
          <p:nvPr>
            <p:ph type="title"/>
          </p:nvPr>
        </p:nvSpPr>
        <p:spPr/>
        <p:txBody>
          <a:bodyPr/>
          <a:lstStyle/>
          <a:p>
            <a:r>
              <a:rPr lang="en-US">
                <a:latin typeface="Barlow Bold"/>
              </a:rPr>
              <a:t>Notes</a:t>
            </a:r>
            <a:endParaRPr lang="en-US"/>
          </a:p>
        </p:txBody>
      </p:sp>
      <p:sp>
        <p:nvSpPr>
          <p:cNvPr id="3" name="Content Placeholder 2">
            <a:extLst>
              <a:ext uri="{FF2B5EF4-FFF2-40B4-BE49-F238E27FC236}">
                <a16:creationId xmlns:a16="http://schemas.microsoft.com/office/drawing/2014/main" id="{C38DC7DC-CE37-B552-2DC2-899E7789EED1}"/>
              </a:ext>
            </a:extLst>
          </p:cNvPr>
          <p:cNvSpPr>
            <a:spLocks noGrp="1"/>
          </p:cNvSpPr>
          <p:nvPr>
            <p:ph idx="1"/>
          </p:nvPr>
        </p:nvSpPr>
        <p:spPr/>
        <p:txBody>
          <a:bodyPr vert="horz" lIns="91440" tIns="45720" rIns="91440" bIns="45720" rtlCol="0" anchor="t">
            <a:normAutofit/>
          </a:bodyPr>
          <a:lstStyle/>
          <a:p>
            <a:pPr marL="342900" indent="-342900">
              <a:buAutoNum type="arabicPeriod"/>
            </a:pPr>
            <a:r>
              <a:rPr lang="en-US" dirty="0">
                <a:latin typeface="Nunito"/>
              </a:rPr>
              <a:t>Handling of soldered cables, solar panels</a:t>
            </a:r>
          </a:p>
          <a:p>
            <a:pPr marL="342900" indent="-342900">
              <a:buAutoNum type="arabicPeriod"/>
            </a:pPr>
            <a:r>
              <a:rPr lang="en-US" dirty="0">
                <a:latin typeface="Nunito"/>
              </a:rPr>
              <a:t>Explain the circuit of RBF</a:t>
            </a:r>
          </a:p>
          <a:p>
            <a:pPr marL="342900" indent="-342900">
              <a:buAutoNum type="arabicPeriod"/>
            </a:pPr>
            <a:r>
              <a:rPr lang="en-US" dirty="0">
                <a:latin typeface="Nunito"/>
              </a:rPr>
              <a:t>Explain the need to be careful in flashing correct code</a:t>
            </a:r>
          </a:p>
          <a:p>
            <a:pPr marL="342900" indent="-342900">
              <a:buAutoNum type="arabicPeriod"/>
            </a:pPr>
            <a:r>
              <a:rPr lang="en-US" dirty="0">
                <a:latin typeface="Nunito"/>
              </a:rPr>
              <a:t>No sticker/tape on solar panels</a:t>
            </a:r>
          </a:p>
          <a:p>
            <a:pPr marL="342900" indent="-342900">
              <a:buAutoNum type="arabicPeriod"/>
            </a:pPr>
            <a:r>
              <a:rPr lang="en-US" dirty="0">
                <a:latin typeface="Nunito"/>
              </a:rPr>
              <a:t>Follow the Arduino installation instruction correctly</a:t>
            </a:r>
          </a:p>
          <a:p>
            <a:pPr marL="342900" indent="-342900">
              <a:buAutoNum type="arabicPeriod"/>
            </a:pPr>
            <a:r>
              <a:rPr lang="en-US" dirty="0">
                <a:latin typeface="Nunito"/>
              </a:rPr>
              <a:t>Follow the assembly </a:t>
            </a:r>
            <a:r>
              <a:rPr lang="en-US">
                <a:latin typeface="Nunito"/>
              </a:rPr>
              <a:t>slides correctly</a:t>
            </a:r>
            <a:endParaRPr lang="en-US" dirty="0">
              <a:latin typeface="Nunito"/>
            </a:endParaRPr>
          </a:p>
        </p:txBody>
      </p:sp>
    </p:spTree>
    <p:extLst>
      <p:ext uri="{BB962C8B-B14F-4D97-AF65-F5344CB8AC3E}">
        <p14:creationId xmlns:p14="http://schemas.microsoft.com/office/powerpoint/2010/main" val="7876042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06E78-68B3-5F5C-7968-19D204C47397}"/>
              </a:ext>
            </a:extLst>
          </p:cNvPr>
          <p:cNvSpPr>
            <a:spLocks noGrp="1"/>
          </p:cNvSpPr>
          <p:nvPr>
            <p:ph type="title"/>
          </p:nvPr>
        </p:nvSpPr>
        <p:spPr>
          <a:xfrm>
            <a:off x="838200" y="365125"/>
            <a:ext cx="10515600" cy="1325563"/>
          </a:xfrm>
        </p:spPr>
        <p:txBody>
          <a:bodyPr anchor="ctr">
            <a:normAutofit/>
          </a:bodyPr>
          <a:lstStyle/>
          <a:p>
            <a:r>
              <a:rPr lang="en-US" err="1"/>
              <a:t>Misc</a:t>
            </a:r>
            <a:endParaRPr lang="en-US" dirty="0" err="1"/>
          </a:p>
        </p:txBody>
      </p:sp>
      <p:sp>
        <p:nvSpPr>
          <p:cNvPr id="3" name="Content Placeholder 2">
            <a:extLst>
              <a:ext uri="{FF2B5EF4-FFF2-40B4-BE49-F238E27FC236}">
                <a16:creationId xmlns:a16="http://schemas.microsoft.com/office/drawing/2014/main" id="{BB86E947-0812-45A7-3C90-113AF576726C}"/>
              </a:ext>
            </a:extLst>
          </p:cNvPr>
          <p:cNvSpPr>
            <a:spLocks noGrp="1"/>
          </p:cNvSpPr>
          <p:nvPr>
            <p:ph sz="half" idx="1"/>
          </p:nvPr>
        </p:nvSpPr>
        <p:spPr>
          <a:xfrm>
            <a:off x="838200" y="1825625"/>
            <a:ext cx="5181600" cy="4351338"/>
          </a:xfrm>
        </p:spPr>
        <p:txBody>
          <a:bodyPr vert="horz" lIns="91440" tIns="45720" rIns="91440" bIns="45720" rtlCol="0">
            <a:normAutofit/>
          </a:bodyPr>
          <a:lstStyle/>
          <a:p>
            <a:r>
              <a:rPr lang="en-US" sz="2400" dirty="0"/>
              <a:t>75% attendance for Certificate of Completion</a:t>
            </a:r>
          </a:p>
          <a:p>
            <a:r>
              <a:rPr lang="en-US" sz="2400" dirty="0"/>
              <a:t>Final Mission Exercise Report (to submit within 2 weeks)</a:t>
            </a:r>
          </a:p>
          <a:p>
            <a:pPr lvl="1"/>
            <a:r>
              <a:rPr lang="en-US" dirty="0"/>
              <a:t>Email to : </a:t>
            </a:r>
            <a:r>
              <a:rPr lang="en-US" dirty="0">
                <a:hlinkClick r:id="rId2"/>
              </a:rPr>
              <a:t>learn@spacefaculty.asia</a:t>
            </a:r>
            <a:endParaRPr lang="en-US" dirty="0"/>
          </a:p>
          <a:p>
            <a:r>
              <a:rPr lang="en-US" sz="2400" dirty="0"/>
              <a:t>Apply for participation in Satellite Building Project:</a:t>
            </a:r>
          </a:p>
          <a:p>
            <a:pPr lvl="1"/>
            <a:r>
              <a:rPr lang="en-US" dirty="0"/>
              <a:t>Email with resume: </a:t>
            </a:r>
            <a:r>
              <a:rPr lang="en-US" dirty="0">
                <a:hlinkClick r:id="rId2"/>
              </a:rPr>
              <a:t>learn@spacefaculty.asia</a:t>
            </a:r>
            <a:endParaRPr lang="en-US" dirty="0"/>
          </a:p>
          <a:p>
            <a:pPr lvl="1"/>
            <a:r>
              <a:rPr lang="en-US" dirty="0"/>
              <a:t>State the period of availability</a:t>
            </a:r>
          </a:p>
          <a:p>
            <a:endParaRPr lang="en-US" sz="2400" dirty="0"/>
          </a:p>
          <a:p>
            <a:endParaRPr lang="en-US" sz="2400" dirty="0"/>
          </a:p>
        </p:txBody>
      </p:sp>
    </p:spTree>
    <p:extLst>
      <p:ext uri="{BB962C8B-B14F-4D97-AF65-F5344CB8AC3E}">
        <p14:creationId xmlns:p14="http://schemas.microsoft.com/office/powerpoint/2010/main" val="5284172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0AC30-495D-8DF7-344C-87FCC0038F33}"/>
              </a:ext>
            </a:extLst>
          </p:cNvPr>
          <p:cNvSpPr>
            <a:spLocks noGrp="1"/>
          </p:cNvSpPr>
          <p:nvPr>
            <p:ph type="title"/>
          </p:nvPr>
        </p:nvSpPr>
        <p:spPr/>
        <p:txBody>
          <a:bodyPr/>
          <a:lstStyle/>
          <a:p>
            <a:r>
              <a:rPr lang="en-SG" dirty="0"/>
              <a:t>Workshop Survey</a:t>
            </a:r>
          </a:p>
        </p:txBody>
      </p:sp>
      <p:pic>
        <p:nvPicPr>
          <p:cNvPr id="6" name="Content Placeholder 5">
            <a:extLst>
              <a:ext uri="{FF2B5EF4-FFF2-40B4-BE49-F238E27FC236}">
                <a16:creationId xmlns:a16="http://schemas.microsoft.com/office/drawing/2014/main" id="{DA4EF4A4-DC60-2EF0-B6E1-8CD80547D6E8}"/>
              </a:ext>
            </a:extLst>
          </p:cNvPr>
          <p:cNvPicPr>
            <a:picLocks noGrp="1" noChangeAspect="1"/>
          </p:cNvPicPr>
          <p:nvPr>
            <p:ph sz="half" idx="2"/>
          </p:nvPr>
        </p:nvPicPr>
        <p:blipFill>
          <a:blip r:embed="rId2"/>
          <a:stretch>
            <a:fillRect/>
          </a:stretch>
        </p:blipFill>
        <p:spPr>
          <a:xfrm>
            <a:off x="3829044" y="1825625"/>
            <a:ext cx="4533911" cy="4351338"/>
          </a:xfrm>
          <a:prstGeom prst="rect">
            <a:avLst/>
          </a:prstGeom>
        </p:spPr>
      </p:pic>
    </p:spTree>
    <p:extLst>
      <p:ext uri="{BB962C8B-B14F-4D97-AF65-F5344CB8AC3E}">
        <p14:creationId xmlns:p14="http://schemas.microsoft.com/office/powerpoint/2010/main" val="26246756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96EA8A3-E7F1-7D46-77E5-42A8D7CC8F0A}"/>
              </a:ext>
            </a:extLst>
          </p:cNvPr>
          <p:cNvPicPr>
            <a:picLocks noChangeAspect="1"/>
          </p:cNvPicPr>
          <p:nvPr/>
        </p:nvPicPr>
        <p:blipFill>
          <a:blip r:embed="rId2"/>
          <a:stretch>
            <a:fillRect/>
          </a:stretch>
        </p:blipFill>
        <p:spPr>
          <a:xfrm>
            <a:off x="1680919" y="97601"/>
            <a:ext cx="8638737" cy="5836985"/>
          </a:xfrm>
          <a:prstGeom prst="rect">
            <a:avLst/>
          </a:prstGeom>
        </p:spPr>
      </p:pic>
    </p:spTree>
    <p:extLst>
      <p:ext uri="{BB962C8B-B14F-4D97-AF65-F5344CB8AC3E}">
        <p14:creationId xmlns:p14="http://schemas.microsoft.com/office/powerpoint/2010/main" val="1606126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13F98-C7EC-31B5-67B2-23B961478223}"/>
              </a:ext>
            </a:extLst>
          </p:cNvPr>
          <p:cNvSpPr>
            <a:spLocks noGrp="1"/>
          </p:cNvSpPr>
          <p:nvPr>
            <p:ph type="title"/>
          </p:nvPr>
        </p:nvSpPr>
        <p:spPr/>
        <p:txBody>
          <a:bodyPr/>
          <a:lstStyle/>
          <a:p>
            <a:r>
              <a:rPr lang="en-SG" dirty="0"/>
              <a:t>EPS Architecture and RBF</a:t>
            </a:r>
          </a:p>
        </p:txBody>
      </p:sp>
      <p:pic>
        <p:nvPicPr>
          <p:cNvPr id="6" name="Content Placeholder 5">
            <a:extLst>
              <a:ext uri="{FF2B5EF4-FFF2-40B4-BE49-F238E27FC236}">
                <a16:creationId xmlns:a16="http://schemas.microsoft.com/office/drawing/2014/main" id="{128327CF-8AEC-ACDC-5E92-BDB709F86A76}"/>
              </a:ext>
            </a:extLst>
          </p:cNvPr>
          <p:cNvPicPr>
            <a:picLocks noGrp="1" noChangeAspect="1"/>
          </p:cNvPicPr>
          <p:nvPr>
            <p:ph sz="half" idx="1"/>
          </p:nvPr>
        </p:nvPicPr>
        <p:blipFill>
          <a:blip r:embed="rId2"/>
          <a:stretch>
            <a:fillRect/>
          </a:stretch>
        </p:blipFill>
        <p:spPr>
          <a:xfrm>
            <a:off x="1125181" y="1825625"/>
            <a:ext cx="4607637" cy="4351338"/>
          </a:xfrm>
          <a:prstGeom prst="rect">
            <a:avLst/>
          </a:prstGeom>
        </p:spPr>
      </p:pic>
      <p:pic>
        <p:nvPicPr>
          <p:cNvPr id="8" name="Content Placeholder 7">
            <a:extLst>
              <a:ext uri="{FF2B5EF4-FFF2-40B4-BE49-F238E27FC236}">
                <a16:creationId xmlns:a16="http://schemas.microsoft.com/office/drawing/2014/main" id="{A2311FB7-2AAE-70C1-081B-F2A1BA068F7D}"/>
              </a:ext>
            </a:extLst>
          </p:cNvPr>
          <p:cNvPicPr>
            <a:picLocks noGrp="1" noChangeAspect="1"/>
          </p:cNvPicPr>
          <p:nvPr>
            <p:ph sz="half" idx="2"/>
          </p:nvPr>
        </p:nvPicPr>
        <p:blipFill>
          <a:blip r:embed="rId3"/>
          <a:stretch>
            <a:fillRect/>
          </a:stretch>
        </p:blipFill>
        <p:spPr>
          <a:xfrm>
            <a:off x="6172200" y="2435759"/>
            <a:ext cx="5181600" cy="3131069"/>
          </a:xfrm>
          <a:prstGeom prst="rect">
            <a:avLst/>
          </a:prstGeom>
        </p:spPr>
      </p:pic>
    </p:spTree>
    <p:extLst>
      <p:ext uri="{BB962C8B-B14F-4D97-AF65-F5344CB8AC3E}">
        <p14:creationId xmlns:p14="http://schemas.microsoft.com/office/powerpoint/2010/main" val="6266310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08C0C-9DC9-41E5-AC6C-8ABBD5758347}"/>
              </a:ext>
            </a:extLst>
          </p:cNvPr>
          <p:cNvSpPr>
            <a:spLocks noGrp="1"/>
          </p:cNvSpPr>
          <p:nvPr>
            <p:ph type="title"/>
          </p:nvPr>
        </p:nvSpPr>
        <p:spPr/>
        <p:txBody>
          <a:bodyPr/>
          <a:lstStyle/>
          <a:p>
            <a:r>
              <a:rPr lang="en-SG" dirty="0"/>
              <a:t>Space Inventor: Nuno Andrada</a:t>
            </a:r>
          </a:p>
        </p:txBody>
      </p:sp>
      <p:pic>
        <p:nvPicPr>
          <p:cNvPr id="8" name="Content Placeholder 7">
            <a:extLst>
              <a:ext uri="{FF2B5EF4-FFF2-40B4-BE49-F238E27FC236}">
                <a16:creationId xmlns:a16="http://schemas.microsoft.com/office/drawing/2014/main" id="{CE9E6F04-ADFE-14DB-872A-ABD45EE8A09B}"/>
              </a:ext>
            </a:extLst>
          </p:cNvPr>
          <p:cNvPicPr>
            <a:picLocks noGrp="1" noChangeAspect="1"/>
          </p:cNvPicPr>
          <p:nvPr>
            <p:ph sz="half" idx="1"/>
          </p:nvPr>
        </p:nvPicPr>
        <p:blipFill>
          <a:blip r:embed="rId2"/>
          <a:stretch>
            <a:fillRect/>
          </a:stretch>
        </p:blipFill>
        <p:spPr>
          <a:xfrm>
            <a:off x="10492254" y="365125"/>
            <a:ext cx="1543265" cy="1886213"/>
          </a:xfrm>
          <a:prstGeom prst="rect">
            <a:avLst/>
          </a:prstGeom>
        </p:spPr>
      </p:pic>
      <p:pic>
        <p:nvPicPr>
          <p:cNvPr id="6" name="Content Placeholder 5">
            <a:extLst>
              <a:ext uri="{FF2B5EF4-FFF2-40B4-BE49-F238E27FC236}">
                <a16:creationId xmlns:a16="http://schemas.microsoft.com/office/drawing/2014/main" id="{30E4A94C-EE1C-F313-0786-043E6130FD3F}"/>
              </a:ext>
            </a:extLst>
          </p:cNvPr>
          <p:cNvPicPr>
            <a:picLocks noGrp="1" noChangeAspect="1"/>
          </p:cNvPicPr>
          <p:nvPr>
            <p:ph sz="half" idx="2"/>
          </p:nvPr>
        </p:nvPicPr>
        <p:blipFill>
          <a:blip r:embed="rId3"/>
          <a:stretch>
            <a:fillRect/>
          </a:stretch>
        </p:blipFill>
        <p:spPr>
          <a:xfrm>
            <a:off x="7480838" y="1825625"/>
            <a:ext cx="2564324" cy="4351338"/>
          </a:xfrm>
          <a:prstGeom prst="rect">
            <a:avLst/>
          </a:prstGeom>
        </p:spPr>
      </p:pic>
      <p:pic>
        <p:nvPicPr>
          <p:cNvPr id="10" name="Picture 9">
            <a:extLst>
              <a:ext uri="{FF2B5EF4-FFF2-40B4-BE49-F238E27FC236}">
                <a16:creationId xmlns:a16="http://schemas.microsoft.com/office/drawing/2014/main" id="{E0526C4E-2631-4CB5-202A-078E2A6969F2}"/>
              </a:ext>
            </a:extLst>
          </p:cNvPr>
          <p:cNvPicPr>
            <a:picLocks noChangeAspect="1"/>
          </p:cNvPicPr>
          <p:nvPr/>
        </p:nvPicPr>
        <p:blipFill>
          <a:blip r:embed="rId4"/>
          <a:stretch>
            <a:fillRect/>
          </a:stretch>
        </p:blipFill>
        <p:spPr>
          <a:xfrm>
            <a:off x="1881798" y="1825625"/>
            <a:ext cx="3317121" cy="4351339"/>
          </a:xfrm>
          <a:prstGeom prst="rect">
            <a:avLst/>
          </a:prstGeom>
        </p:spPr>
      </p:pic>
    </p:spTree>
    <p:extLst>
      <p:ext uri="{BB962C8B-B14F-4D97-AF65-F5344CB8AC3E}">
        <p14:creationId xmlns:p14="http://schemas.microsoft.com/office/powerpoint/2010/main" val="1455464699"/>
      </p:ext>
    </p:extLst>
  </p:cSld>
  <p:clrMapOvr>
    <a:masterClrMapping/>
  </p:clrMapOvr>
</p:sld>
</file>

<file path=ppt/theme/theme1.xml><?xml version="1.0" encoding="utf-8"?>
<a:theme xmlns:a="http://schemas.openxmlformats.org/drawingml/2006/main" name="1_Custom Design">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FDA2A4E3E24884FBF8D86E80EDEE418" ma:contentTypeVersion="18" ma:contentTypeDescription="Create a new document." ma:contentTypeScope="" ma:versionID="72c99756f47266f129ff3fdfbe78cbc1">
  <xsd:schema xmlns:xsd="http://www.w3.org/2001/XMLSchema" xmlns:xs="http://www.w3.org/2001/XMLSchema" xmlns:p="http://schemas.microsoft.com/office/2006/metadata/properties" xmlns:ns2="4bae808c-c7c7-462a-8f11-42d17f08011f" xmlns:ns3="0864b5ad-5179-411d-83ff-2b42c960e700" targetNamespace="http://schemas.microsoft.com/office/2006/metadata/properties" ma:root="true" ma:fieldsID="7ea14b31d73042bbb7607aa151d3356f" ns2:_="" ns3:_="">
    <xsd:import namespace="4bae808c-c7c7-462a-8f11-42d17f08011f"/>
    <xsd:import namespace="0864b5ad-5179-411d-83ff-2b42c960e70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3:SharedWithUsers" minOccurs="0"/>
                <xsd:element ref="ns3:SharedWithDetails" minOccurs="0"/>
                <xsd:element ref="ns2:MediaServiceLocation" minOccurs="0"/>
                <xsd:element ref="ns2:MediaServiceObjectDetectorVersions" minOccurs="0"/>
                <xsd:element ref="ns2:MediaServiceSearchProperties" minOccurs="0"/>
                <xsd:element ref="ns3:_dlc_DocId" minOccurs="0"/>
                <xsd:element ref="ns3:_dlc_DocIdUrl" minOccurs="0"/>
                <xsd:element ref="ns3:_dlc_DocIdPersistId"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bae808c-c7c7-462a-8f11-42d17f08011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969a0abb-c72f-49bc-9a93-3a7f88dd36ff"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2" nillable="true" ma:displayName="Location" ma:internalName="MediaServiceLocation" ma:readOnly="true">
      <xsd:simpleType>
        <xsd:restriction base="dms:Text"/>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0864b5ad-5179-411d-83ff-2b42c960e700"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2829137c-4016-45b1-82d5-028f5138b056}" ma:internalName="TaxCatchAll" ma:showField="CatchAllData" ma:web="0864b5ad-5179-411d-83ff-2b42c960e700">
      <xsd:complexType>
        <xsd:complexContent>
          <xsd:extension base="dms:MultiChoiceLookup">
            <xsd:sequence>
              <xsd:element name="Value" type="dms:Lookup" maxOccurs="unbounded" minOccurs="0" nillable="true"/>
            </xsd:sequence>
          </xsd:extension>
        </xsd:complexContent>
      </xsd:complexType>
    </xsd:element>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element name="_dlc_DocId" ma:index="25" nillable="true" ma:displayName="Document ID Value" ma:description="The value of the document ID assigned to this item." ma:indexed="true" ma:internalName="_dlc_DocId" ma:readOnly="true">
      <xsd:simpleType>
        <xsd:restriction base="dms:Text"/>
      </xsd:simpleType>
    </xsd:element>
    <xsd:element name="_dlc_DocIdUrl" ma:index="26"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27"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0864b5ad-5179-411d-83ff-2b42c960e700" xsi:nil="true"/>
    <lcf76f155ced4ddcb4097134ff3c332f xmlns="4bae808c-c7c7-462a-8f11-42d17f08011f">
      <Terms xmlns="http://schemas.microsoft.com/office/infopath/2007/PartnerControls"/>
    </lcf76f155ced4ddcb4097134ff3c332f>
    <_dlc_DocId xmlns="0864b5ad-5179-411d-83ff-2b42c960e700">4RQYTM3TFP2F-1212208645-72142</_dlc_DocId>
    <_dlc_DocIdUrl xmlns="0864b5ad-5179-411d-83ff-2b42c960e700">
      <Url>https://spacefacultyasia.sharepoint.com/sites/EducationTeam/_layouts/15/DocIdRedir.aspx?ID=4RQYTM3TFP2F-1212208645-72142</Url>
      <Description>4RQYTM3TFP2F-1212208645-72142</Description>
    </_dlc_DocIdUrl>
  </documentManagement>
</p:properties>
</file>

<file path=customXml/item3.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65A98EA-A429-4921-A973-DCA2AECFF1EE}">
  <ds:schemaRefs>
    <ds:schemaRef ds:uri="0864b5ad-5179-411d-83ff-2b42c960e700"/>
    <ds:schemaRef ds:uri="4bae808c-c7c7-462a-8f11-42d17f08011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C5659D0-D891-4260-86C2-B3031C94157E}">
  <ds:schemaRefs>
    <ds:schemaRef ds:uri="http://purl.org/dc/terms/"/>
    <ds:schemaRef ds:uri="http://purl.org/dc/elements/1.1/"/>
    <ds:schemaRef ds:uri="http://schemas.microsoft.com/office/infopath/2007/PartnerControls"/>
    <ds:schemaRef ds:uri="http://schemas.microsoft.com/office/2006/documentManagement/types"/>
    <ds:schemaRef ds:uri="http://purl.org/dc/dcmitype/"/>
    <ds:schemaRef ds:uri="http://schemas.openxmlformats.org/package/2006/metadata/core-properties"/>
    <ds:schemaRef ds:uri="4bae808c-c7c7-462a-8f11-42d17f08011f"/>
    <ds:schemaRef ds:uri="0864b5ad-5179-411d-83ff-2b42c960e700"/>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83A15366-3CD7-4AF6-872D-4B0CD0AD9DE1}">
  <ds:schemaRefs>
    <ds:schemaRef ds:uri="http://schemas.microsoft.com/sharepoint/events"/>
  </ds:schemaRefs>
</ds:datastoreItem>
</file>

<file path=customXml/itemProps4.xml><?xml version="1.0" encoding="utf-8"?>
<ds:datastoreItem xmlns:ds="http://schemas.openxmlformats.org/officeDocument/2006/customXml" ds:itemID="{AA2F5581-85CE-4303-B218-7AF17F16146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6061</TotalTime>
  <Words>916</Words>
  <Application>Microsoft Office PowerPoint</Application>
  <PresentationFormat>Widescreen</PresentationFormat>
  <Paragraphs>162</Paragraphs>
  <Slides>19</Slides>
  <Notes>1</Notes>
  <HiddenSlides>4</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Nunito</vt:lpstr>
      <vt:lpstr>Barlow Bold</vt:lpstr>
      <vt:lpstr>Aptos</vt:lpstr>
      <vt:lpstr>Arial</vt:lpstr>
      <vt:lpstr>Roboto</vt:lpstr>
      <vt:lpstr>Calibri</vt:lpstr>
      <vt:lpstr>Raleway</vt:lpstr>
      <vt:lpstr>1_Custom Design</vt:lpstr>
      <vt:lpstr>Satellite Building Workshop</vt:lpstr>
      <vt:lpstr>About Space Faculty Pte Ltd</vt:lpstr>
      <vt:lpstr>Ang Eng Hian</vt:lpstr>
      <vt:lpstr>Nelson Tan</vt:lpstr>
      <vt:lpstr>Lam Lap</vt:lpstr>
      <vt:lpstr>PowerPoint Presentation</vt:lpstr>
      <vt:lpstr>Rohini Parthasarathy</vt:lpstr>
      <vt:lpstr>Dr NARAYANASWAMY (Nagarajan) NAGARAJAN</vt:lpstr>
      <vt:lpstr>Agenda</vt:lpstr>
      <vt:lpstr>Agenda</vt:lpstr>
      <vt:lpstr>Agenda</vt:lpstr>
      <vt:lpstr>PowerPoint Presentation</vt:lpstr>
      <vt:lpstr>Course Materials</vt:lpstr>
      <vt:lpstr>Notes</vt:lpstr>
      <vt:lpstr>Misc</vt:lpstr>
      <vt:lpstr>Workshop Survey</vt:lpstr>
      <vt:lpstr>PowerPoint Presentation</vt:lpstr>
      <vt:lpstr>EPS Architecture and RBF</vt:lpstr>
      <vt:lpstr>Space Inventor: Nuno Andrada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Lam Lap</dc:creator>
  <cp:lastModifiedBy>Rohini Parthasarathy</cp:lastModifiedBy>
  <cp:revision>84</cp:revision>
  <dcterms:created xsi:type="dcterms:W3CDTF">2025-10-07T02:59:10Z</dcterms:created>
  <dcterms:modified xsi:type="dcterms:W3CDTF">2026-10-14T16:05:08Z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0x0101006FDA2A4E3E24884FBF8D86E80EDEE418</vt:lpwstr>
  </property>
  <property fmtid="{D5CDD505-2E9C-101B-9397-08002B2CF9AE}" pid="3" name="_dlc_DocIdItemGuid">
    <vt:lpwstr>ae4d6146-24a2-4d6b-aac7-9a9552e38a48</vt:lpwstr>
  </property>
  <property fmtid="{D5CDD505-2E9C-101B-9397-08002B2CF9AE}" pid="4" name="MediaServiceImageTags">
    <vt:lpwstr/>
  </property>
</Properties>
</file>